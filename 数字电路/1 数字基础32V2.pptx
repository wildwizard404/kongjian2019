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31"/>
  </p:notesMasterIdLst>
  <p:sldIdLst>
    <p:sldId id="353" r:id="rId2"/>
    <p:sldId id="382" r:id="rId3"/>
    <p:sldId id="354" r:id="rId4"/>
    <p:sldId id="355" r:id="rId5"/>
    <p:sldId id="356" r:id="rId6"/>
    <p:sldId id="357" r:id="rId7"/>
    <p:sldId id="383" r:id="rId8"/>
    <p:sldId id="384" r:id="rId9"/>
    <p:sldId id="358" r:id="rId10"/>
    <p:sldId id="359" r:id="rId11"/>
    <p:sldId id="360" r:id="rId12"/>
    <p:sldId id="387" r:id="rId13"/>
    <p:sldId id="361" r:id="rId14"/>
    <p:sldId id="362" r:id="rId15"/>
    <p:sldId id="363" r:id="rId16"/>
    <p:sldId id="364" r:id="rId17"/>
    <p:sldId id="365" r:id="rId18"/>
    <p:sldId id="366" r:id="rId19"/>
    <p:sldId id="513" r:id="rId20"/>
    <p:sldId id="514" r:id="rId21"/>
    <p:sldId id="485" r:id="rId22"/>
    <p:sldId id="515" r:id="rId23"/>
    <p:sldId id="516" r:id="rId24"/>
    <p:sldId id="370" r:id="rId25"/>
    <p:sldId id="528" r:id="rId26"/>
    <p:sldId id="534" r:id="rId27"/>
    <p:sldId id="535" r:id="rId28"/>
    <p:sldId id="380" r:id="rId29"/>
    <p:sldId id="397" r:id="rId3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08F8"/>
    <a:srgbClr val="9090F4"/>
    <a:srgbClr val="FFFF00"/>
    <a:srgbClr val="F6F000"/>
    <a:srgbClr val="CC9900"/>
    <a:srgbClr val="FF33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89638" autoAdjust="0"/>
  </p:normalViewPr>
  <p:slideViewPr>
    <p:cSldViewPr snapToGrid="0">
      <p:cViewPr varScale="1">
        <p:scale>
          <a:sx n="77" d="100"/>
          <a:sy n="77" d="100"/>
        </p:scale>
        <p:origin x="160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3D59459-3A90-4E50-935D-8A047B3B10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576579-CAA5-408C-8B0E-042381D41AD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AF0DD12-6D0B-434E-AEAE-27A0808CBFDE}" type="datetimeFigureOut">
              <a:rPr lang="zh-CN" altLang="en-US"/>
              <a:pPr>
                <a:defRPr/>
              </a:pPr>
              <a:t>2019/9/5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228F404-B07E-4F48-B153-584E72C0D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0201B93C-7BC2-434C-968A-AAA6D646C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6A6D66-E3AC-4DFF-9499-3E7591069F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3A8B5-1BE7-4E34-8BB4-5D8175BB7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B33CE97-CE35-493D-9476-D12D3F712B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5718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359301.htm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baike.baidu.com/view/18536.htm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亚里士多德称人类普遍使用十进制，只不过是绝大多数人生来就有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根手指这样一个解剖学事实的结果。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550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、十进制</a:t>
            </a:r>
            <a:r>
              <a:rPr lang="en-US" altLang="zh-CN" dirty="0"/>
              <a:t>18</a:t>
            </a:r>
            <a:r>
              <a:rPr lang="zh-CN" altLang="en-US" dirty="0"/>
              <a:t>的对比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、同样的形式，表示不同的数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168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zh-CN" dirty="0"/>
              <a:t>十进制整数转换为二进制整数采用</a:t>
            </a:r>
            <a:r>
              <a:rPr lang="en-US" altLang="zh-CN" b="1" dirty="0"/>
              <a:t>"</a:t>
            </a:r>
            <a:r>
              <a:rPr lang="zh-CN" altLang="zh-CN" b="1" dirty="0"/>
              <a:t>除</a:t>
            </a:r>
            <a:r>
              <a:rPr lang="en-US" altLang="zh-CN" b="1" dirty="0"/>
              <a:t>2</a:t>
            </a:r>
            <a:r>
              <a:rPr lang="zh-CN" altLang="zh-CN" b="1" dirty="0"/>
              <a:t>取余，逆序排列</a:t>
            </a:r>
            <a:r>
              <a:rPr lang="en-US" altLang="zh-CN" b="1" dirty="0"/>
              <a:t>"</a:t>
            </a:r>
            <a:r>
              <a:rPr lang="zh-CN" altLang="zh-CN" dirty="0"/>
              <a:t>法。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u="sng" dirty="0" err="1">
                <a:hlinkClick r:id="rId3"/>
              </a:rPr>
              <a:t>十进制</a:t>
            </a:r>
            <a:r>
              <a:rPr lang="zh-CN" altLang="zh-CN" dirty="0"/>
              <a:t>小数转换成</a:t>
            </a:r>
            <a:r>
              <a:rPr lang="en-US" altLang="zh-CN" u="sng" dirty="0" err="1">
                <a:hlinkClick r:id="rId4"/>
              </a:rPr>
              <a:t>二进制</a:t>
            </a:r>
            <a:r>
              <a:rPr lang="zh-CN" altLang="zh-CN" dirty="0"/>
              <a:t>小数采用</a:t>
            </a:r>
            <a:r>
              <a:rPr lang="en-US" altLang="zh-CN" b="1" dirty="0"/>
              <a:t>"</a:t>
            </a:r>
            <a:r>
              <a:rPr lang="zh-CN" altLang="zh-CN" b="1" dirty="0"/>
              <a:t>乘</a:t>
            </a:r>
            <a:r>
              <a:rPr lang="en-US" altLang="zh-CN" b="1" dirty="0"/>
              <a:t>2</a:t>
            </a:r>
            <a:r>
              <a:rPr lang="zh-CN" altLang="zh-CN" b="1" dirty="0"/>
              <a:t>取整，顺序排列</a:t>
            </a:r>
            <a:r>
              <a:rPr lang="en-US" altLang="zh-CN" b="1" dirty="0"/>
              <a:t>"</a:t>
            </a:r>
            <a:r>
              <a:rPr lang="zh-CN" altLang="zh-CN" dirty="0"/>
              <a:t>法。</a:t>
            </a:r>
            <a:endParaRPr lang="zh-CN" altLang="en-US" dirty="0"/>
          </a:p>
          <a:p>
            <a:r>
              <a:rPr lang="zh-CN" altLang="en-US" dirty="0"/>
              <a:t>以二进制为例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03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523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位，表示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0—255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个数。注意，计算如果超出范围，错误处理：进位、借位错误。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006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符号数，涉及正数和负数，怎么处理？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769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反码，负数按位取反，是 </a:t>
            </a:r>
            <a:r>
              <a:rPr lang="en-US" altLang="zh-CN" dirty="0"/>
              <a:t>1111111-N</a:t>
            </a:r>
          </a:p>
          <a:p>
            <a:r>
              <a:rPr lang="zh-CN" altLang="en-US" dirty="0"/>
              <a:t>补码，负数，是反码</a:t>
            </a:r>
            <a:r>
              <a:rPr lang="en-US" altLang="zh-CN" dirty="0"/>
              <a:t>+1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063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思考：如果原码怎么实现减法运算？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493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分析补码的公式  和 前边 取反 </a:t>
            </a:r>
            <a:r>
              <a:rPr lang="en-US" altLang="zh-CN" dirty="0"/>
              <a:t>+1 </a:t>
            </a:r>
            <a:r>
              <a:rPr lang="zh-CN" altLang="en-US" dirty="0"/>
              <a:t>的对应关系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8219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0718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8421</a:t>
            </a:r>
            <a:r>
              <a:rPr lang="zh-CN" altLang="en-US" dirty="0"/>
              <a:t>码怎么转化为</a:t>
            </a:r>
            <a:r>
              <a:rPr lang="en-US" altLang="zh-CN" dirty="0"/>
              <a:t>2421</a:t>
            </a:r>
            <a:r>
              <a:rPr lang="zh-CN" altLang="en-US" dirty="0"/>
              <a:t>码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2421</a:t>
            </a:r>
            <a:r>
              <a:rPr lang="zh-CN" altLang="en-US" dirty="0"/>
              <a:t>码的特点：反码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、余三码的特点：和为</a:t>
            </a:r>
            <a:r>
              <a:rPr lang="en-US" altLang="zh-CN" dirty="0"/>
              <a:t>10</a:t>
            </a:r>
            <a:r>
              <a:rPr lang="zh-CN" altLang="en-US" dirty="0"/>
              <a:t>则进位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、格雷码：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939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8193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6442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BCD</a:t>
            </a:r>
            <a:r>
              <a:rPr lang="zh-CN" altLang="en-US" dirty="0"/>
              <a:t>码的使用：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十进制数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18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对应的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8421BCD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码就是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0001  1000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3279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美国标准信息交换代码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是由美国国家标准学会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(American National Standard Institute , ANSI )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制定的，标准的单字节字符编码方案，用于基于文本的数据。</a:t>
            </a:r>
            <a:endParaRPr lang="en-US" altLang="zh-CN" dirty="0"/>
          </a:p>
          <a:p>
            <a:r>
              <a:rPr lang="zh-CN" altLang="en-US" dirty="0"/>
              <a:t>汉字：输入码</a:t>
            </a:r>
            <a:r>
              <a:rPr lang="en-US" altLang="zh-CN" dirty="0"/>
              <a:t>-----</a:t>
            </a:r>
            <a:r>
              <a:rPr lang="zh-CN" altLang="en-US" dirty="0"/>
              <a:t>内码</a:t>
            </a:r>
            <a:r>
              <a:rPr lang="en-US" altLang="zh-CN" dirty="0"/>
              <a:t>-----</a:t>
            </a:r>
            <a:r>
              <a:rPr lang="zh-CN" altLang="en-US" dirty="0"/>
              <a:t>字形码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27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E64B3B62-5DCE-4A42-A0FB-B7FAF054806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3045" y="3174576"/>
            <a:ext cx="8446717" cy="45719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58715" y="2466906"/>
            <a:ext cx="7426569" cy="69536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63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219994" y="3445937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DD6750F8-FE5B-4AAF-AB86-B6AAAC40B4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640" y="937607"/>
            <a:ext cx="3571387" cy="45719"/>
          </a:xfrm>
          <a:prstGeom prst="rect">
            <a:avLst/>
          </a:prstGeom>
          <a:gradFill rotWithShape="0">
            <a:gsLst>
              <a:gs pos="87000">
                <a:schemeClr val="bg2"/>
              </a:gs>
              <a:gs pos="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pic>
        <p:nvPicPr>
          <p:cNvPr id="2050" name="Picture 2" descr="https://timgsa.baidu.com/timg?image&amp;quality=80&amp;size=b9999_10000&amp;sec=1513061652214&amp;di=0dbe8ba562ebf8b0aac6fc468b7851b5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2DA67216-37D7-4C69-A2CE-B9CD4F7AB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92" b="35641"/>
          <a:stretch/>
        </p:blipFill>
        <p:spPr bwMode="auto">
          <a:xfrm>
            <a:off x="372005" y="275048"/>
            <a:ext cx="3389022" cy="67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410093"/>
      </p:ext>
    </p:extLst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7161" y="309671"/>
            <a:ext cx="6954715" cy="588136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6523" y="984738"/>
            <a:ext cx="8563708" cy="5375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C01E0D4-4280-4C64-8793-7E6B1B7F2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3273F16-BE22-4912-8CC3-17915B73E1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222737" y="6478561"/>
            <a:ext cx="902677" cy="338407"/>
          </a:xfrm>
          <a:prstGeom prst="rect">
            <a:avLst/>
          </a:prstGeom>
          <a:ln/>
        </p:spPr>
        <p:txBody>
          <a:bodyPr/>
          <a:lstStyle>
            <a:lvl1pPr>
              <a:defRPr sz="1800" b="1">
                <a:solidFill>
                  <a:srgbClr val="1F08F8"/>
                </a:solidFill>
              </a:defRPr>
            </a:lvl1pPr>
          </a:lstStyle>
          <a:p>
            <a:pPr>
              <a:defRPr/>
            </a:pPr>
            <a:fld id="{D786AB32-464C-401F-BFCA-223EB6557C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3014591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12F6F2E6-03C8-4A9F-B35A-01BD986C35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3770" y="6459605"/>
            <a:ext cx="518747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pic>
        <p:nvPicPr>
          <p:cNvPr id="12" name="Picture 4" descr="https://timgsa.baidu.com/timg?image&amp;quality=80&amp;size=b9999_10000&amp;sec=1513060306437&amp;di=30658f392e20939a542ddf602e2badff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AFC2CF9D-AB67-4B63-9B45-B7CE43C6A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40974" b="38513"/>
          <a:stretch/>
        </p:blipFill>
        <p:spPr bwMode="auto">
          <a:xfrm>
            <a:off x="7640514" y="95243"/>
            <a:ext cx="1415562" cy="2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52725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9788" y="1455006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40642" y="1432904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AD8B827-6413-4C25-8DA1-80CBDD262C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70B3030-B043-4F47-9B26-F954C99460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A423450-2CBE-4B62-AE41-DD58522F5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fld id="{F4C1C56C-149B-47FD-93E1-25EA40A550F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7768073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6104" y="265475"/>
            <a:ext cx="6961256" cy="8239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3523" y="127671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523" y="2100631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32435" y="127671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32435" y="2100631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E1F2607-B43C-46D6-B2B2-7FD0BB3715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4067993-EC72-4429-BEFF-EBBFBC8EC6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47310DB-F0C8-4363-B0B3-A32B28E66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513AF2-E6BE-46BF-BE60-AE5395E88CA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276436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1125414"/>
            <a:ext cx="2949575" cy="931985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1283677"/>
            <a:ext cx="4629150" cy="457737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4267126-A643-4066-8088-A43B304221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88BCFC2-534C-41E8-811C-18B0F5FAF9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EAC1D16-6221-440A-B52D-08EEFAE6C8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B9687-43AD-48E3-B967-34003FFE165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B1102C7-0F18-4D91-A4A7-17569BAF03D1}"/>
              </a:ext>
            </a:extLst>
          </p:cNvPr>
          <p:cNvSpPr txBox="1">
            <a:spLocks/>
          </p:cNvSpPr>
          <p:nvPr/>
        </p:nvSpPr>
        <p:spPr bwMode="auto">
          <a:xfrm>
            <a:off x="1306104" y="265475"/>
            <a:ext cx="6961256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75007693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A6C1A6F-CA45-4ED4-8D74-4DB3EA4119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E8E0055-8C08-48AE-A614-0621C3AAAC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7AB1BBF-1B54-4936-89F0-D7134E96DF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3AD361-67D9-49AA-9A53-38CF28EEA58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8693808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00100" y="1661550"/>
            <a:ext cx="7772400" cy="46630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503D8EB-F24A-4CC2-A452-D605652469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055C235-C6C7-4F8E-BEA1-B254A0E7B0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E7095AB-979D-4545-9D7B-BDA09C0C72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643A4-3E26-45D1-96DF-2F67516788A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646212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4D4DC8-598E-4C1C-8C7D-D0DB235173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49145F-D98D-4B52-A0C3-CC0F1041CC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5EB162E-2B07-43A3-969A-1620367E15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FF35C-FDA9-4B3C-A051-F6FCDC8E36D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5817280"/>
      </p:ext>
    </p:extLst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1A76E789-61A0-4AFA-B3BC-259A3C7F7B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63770" y="6459605"/>
            <a:ext cx="518747" cy="33840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A1CC195-5B08-4B0E-B09D-6E94148033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069748" y="6465656"/>
            <a:ext cx="2895600" cy="33840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FBE691B-861D-4F3C-B305-328137BAFB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A1464-762F-4552-B7E8-4A34BFE4AB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3394811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9">
            <a:extLst>
              <a:ext uri="{FF2B5EF4-FFF2-40B4-BE49-F238E27FC236}">
                <a16:creationId xmlns:a16="http://schemas.microsoft.com/office/drawing/2014/main" id="{33707532-3883-41BD-9420-919E4556F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24769" y="320113"/>
            <a:ext cx="7305992" cy="575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5371" name="Rectangle 11">
            <a:extLst>
              <a:ext uri="{FF2B5EF4-FFF2-40B4-BE49-F238E27FC236}">
                <a16:creationId xmlns:a16="http://schemas.microsoft.com/office/drawing/2014/main" id="{B2AD3E2D-3A3D-4B5E-9FF0-A1F7C6A7EB9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3770" y="6459605"/>
            <a:ext cx="518747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72" name="Rectangle 12">
            <a:extLst>
              <a:ext uri="{FF2B5EF4-FFF2-40B4-BE49-F238E27FC236}">
                <a16:creationId xmlns:a16="http://schemas.microsoft.com/office/drawing/2014/main" id="{251BD657-367E-42D1-AD22-5D841EBD793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69748" y="6465656"/>
            <a:ext cx="2895600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97F5FEE0-C94D-4C86-98BD-A08461FDF14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2818" y="6380642"/>
            <a:ext cx="8226425" cy="31750"/>
          </a:xfrm>
          <a:prstGeom prst="rect">
            <a:avLst/>
          </a:prstGeom>
          <a:gradFill rotWithShape="0">
            <a:gsLst>
              <a:gs pos="87000">
                <a:schemeClr val="bg2"/>
              </a:gs>
              <a:gs pos="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pic>
        <p:nvPicPr>
          <p:cNvPr id="2050" name="Picture 2" descr="https://timgsa.baidu.com/timg?image&amp;quality=80&amp;size=b9999_10000&amp;sec=1513057428162&amp;di=37860fdf3c4871460953786bbfa26622&amp;imgtype=0&amp;src=http%3A%2F%2Fpic.baike.soso.com%2Fp%2F20111015%2F20111015115227-260268041.jpg">
            <a:extLst>
              <a:ext uri="{FF2B5EF4-FFF2-40B4-BE49-F238E27FC236}">
                <a16:creationId xmlns:a16="http://schemas.microsoft.com/office/drawing/2014/main" id="{2318C2BE-15EA-4A82-8C68-EB4236E68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4" t="12080" r="11532" b="12880"/>
          <a:stretch/>
        </p:blipFill>
        <p:spPr bwMode="auto">
          <a:xfrm>
            <a:off x="428827" y="248004"/>
            <a:ext cx="677490" cy="66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s://timgsa.baidu.com/timg?image&amp;quality=80&amp;size=b9999_10000&amp;sec=1513060306437&amp;di=30658f392e20939a542ddf602e2badff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7A33D88C-FAA7-4E46-8DD1-45BB3E8CD8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40974" b="38513"/>
          <a:stretch/>
        </p:blipFill>
        <p:spPr bwMode="auto">
          <a:xfrm>
            <a:off x="7464668" y="6446811"/>
            <a:ext cx="1415562" cy="2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Rectangle 8">
            <a:extLst>
              <a:ext uri="{FF2B5EF4-FFF2-40B4-BE49-F238E27FC236}">
                <a16:creationId xmlns:a16="http://schemas.microsoft.com/office/drawing/2014/main" id="{B0A16393-7427-4CCB-805E-364FBB0B1A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4336" y="918967"/>
            <a:ext cx="8226425" cy="31750"/>
          </a:xfrm>
          <a:prstGeom prst="rect">
            <a:avLst/>
          </a:prstGeom>
          <a:gradFill rotWithShape="0">
            <a:gsLst>
              <a:gs pos="1600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E2F7D08-FD33-484E-9182-6B281FB7CB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07784" y="248004"/>
            <a:ext cx="31750" cy="1052513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25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</p:sldLayoutIdLst>
  <p:transition>
    <p:blinds dir="vert"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E95780C-4E97-456C-99FA-6811B5BEA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2088" y="2487687"/>
            <a:ext cx="5396612" cy="695360"/>
          </a:xfrm>
        </p:spPr>
        <p:txBody>
          <a:bodyPr/>
          <a:lstStyle/>
          <a:p>
            <a:r>
              <a:rPr lang="zh-CN" altLang="en-US" sz="4400" b="1" dirty="0">
                <a:solidFill>
                  <a:schemeClr val="tx1"/>
                </a:solidFill>
              </a:rPr>
              <a:t> 第一部分 数字基础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2B470C5C-4DE7-48E7-9C1B-E95C176EDE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数制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编码</a:t>
            </a:r>
          </a:p>
        </p:txBody>
      </p:sp>
    </p:spTree>
    <p:extLst>
      <p:ext uri="{BB962C8B-B14F-4D97-AF65-F5344CB8AC3E}">
        <p14:creationId xmlns:p14="http://schemas.microsoft.com/office/powerpoint/2010/main" val="3461048249"/>
      </p:ext>
    </p:extLst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814F049-7A31-4EB6-9E44-BDA28F8D5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959" y="135082"/>
            <a:ext cx="4511386" cy="720581"/>
          </a:xfrm>
          <a:noFill/>
          <a:ln/>
        </p:spPr>
        <p:txBody>
          <a:bodyPr/>
          <a:lstStyle/>
          <a:p>
            <a:r>
              <a:rPr lang="zh-CN" altLang="en-US" sz="3600" b="1" dirty="0">
                <a:ea typeface="楷体_GB2312" pitchFamily="49" charset="-122"/>
              </a:rPr>
              <a:t>常用的数制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F0CB2AF-3A02-4086-8556-D693E545CF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7038" y="1700213"/>
            <a:ext cx="8137525" cy="4105275"/>
          </a:xfrm>
          <a:noFill/>
          <a:ln/>
        </p:spPr>
        <p:txBody>
          <a:bodyPr/>
          <a:lstStyle/>
          <a:p>
            <a:r>
              <a:rPr lang="zh-CN" altLang="en-US" b="1" dirty="0">
                <a:ea typeface="楷体_GB2312" pitchFamily="49" charset="-122"/>
              </a:rPr>
              <a:t>数制：</a:t>
            </a:r>
          </a:p>
          <a:p>
            <a:pPr>
              <a:buFontTx/>
              <a:buNone/>
            </a:pPr>
            <a:r>
              <a:rPr lang="zh-CN" altLang="en-US" b="1" dirty="0">
                <a:ea typeface="楷体_GB2312" pitchFamily="49" charset="-122"/>
              </a:rPr>
              <a:t>	</a:t>
            </a:r>
            <a:r>
              <a:rPr lang="zh-CN" altLang="en-US" sz="2800" b="1" dirty="0">
                <a:ea typeface="楷体_GB2312" pitchFamily="49" charset="-122"/>
              </a:rPr>
              <a:t>①每一位的构成</a:t>
            </a:r>
          </a:p>
          <a:p>
            <a:pPr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	②从低位向高位的进位规则</a:t>
            </a:r>
          </a:p>
          <a:p>
            <a:pPr>
              <a:buFontTx/>
              <a:buNone/>
            </a:pPr>
            <a:endParaRPr lang="zh-CN" altLang="en-US" sz="2800" b="1" dirty="0">
              <a:ea typeface="楷体_GB2312" pitchFamily="49" charset="-122"/>
            </a:endParaRPr>
          </a:p>
          <a:p>
            <a:pPr>
              <a:buFontTx/>
              <a:buNone/>
            </a:pPr>
            <a:r>
              <a:rPr lang="zh-CN" altLang="en-US" b="1" dirty="0">
                <a:ea typeface="楷体_GB2312" pitchFamily="49" charset="-122"/>
              </a:rPr>
              <a:t>常用的进制：</a:t>
            </a:r>
          </a:p>
          <a:p>
            <a:pPr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十进制，二进制，八进制，十六进制</a:t>
            </a:r>
          </a:p>
          <a:p>
            <a:pPr>
              <a:buFontTx/>
              <a:buNone/>
            </a:pPr>
            <a:endParaRPr lang="en-US" altLang="zh-CN" sz="2800" b="1" dirty="0">
              <a:ea typeface="楷体_GB2312" pitchFamily="49" charset="-122"/>
            </a:endParaRP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2F66EA25-E760-42A9-A851-E2263F110C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8" t="-9809" r="298" b="9809"/>
          <a:stretch/>
        </p:blipFill>
        <p:spPr bwMode="auto">
          <a:xfrm>
            <a:off x="5654111" y="998681"/>
            <a:ext cx="3489889" cy="2754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9516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34CED5-20C7-4977-8DCD-DB72751D7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一 </a:t>
            </a:r>
            <a:r>
              <a:rPr lang="zh-CN" altLang="zh-CN" dirty="0">
                <a:solidFill>
                  <a:schemeClr val="tx1"/>
                </a:solidFill>
              </a:rPr>
              <a:t>数制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A1303119-EC1E-41C7-AB0C-24CF4D5E6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1039236"/>
            <a:ext cx="5791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1.</a:t>
            </a:r>
            <a:r>
              <a:rPr lang="zh-CN" altLang="en-US" sz="2800" dirty="0">
                <a:latin typeface="宋体" panose="02010600030101010101" pitchFamily="2" charset="-122"/>
              </a:rPr>
              <a:t>十进制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5B4809-D870-4256-A3AB-16AE27934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1562456"/>
            <a:ext cx="8763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  </a:t>
            </a:r>
            <a:r>
              <a:rPr lang="en-US" altLang="zh-CN" sz="2800" dirty="0">
                <a:latin typeface="宋体" panose="02010600030101010101" pitchFamily="2" charset="-122"/>
              </a:rPr>
              <a:t>   </a:t>
            </a:r>
            <a:r>
              <a:rPr lang="zh-CN" altLang="en-US" sz="2800" dirty="0">
                <a:latin typeface="宋体" panose="02010600030101010101" pitchFamily="2" charset="-122"/>
              </a:rPr>
              <a:t>在</a:t>
            </a:r>
            <a:r>
              <a:rPr lang="zh-CN" altLang="en-US" sz="2800" dirty="0">
                <a:latin typeface="Times New Roman" panose="02020603050405020304" pitchFamily="18" charset="0"/>
              </a:rPr>
              <a:t> </a:t>
            </a:r>
            <a:r>
              <a:rPr lang="zh-CN" altLang="en-US" sz="2800" dirty="0">
                <a:latin typeface="宋体" panose="02010600030101010101" pitchFamily="2" charset="-122"/>
              </a:rPr>
              <a:t>十进制数中，每一位有</a:t>
            </a:r>
            <a:r>
              <a:rPr lang="en-US" altLang="zh-CN" sz="2800" dirty="0">
                <a:latin typeface="Times New Roman" panose="02020603050405020304" pitchFamily="18" charset="0"/>
              </a:rPr>
              <a:t>0—9</a:t>
            </a:r>
            <a:r>
              <a:rPr lang="zh-CN" altLang="en-US" sz="2800" dirty="0">
                <a:latin typeface="宋体" panose="02010600030101010101" pitchFamily="2" charset="-122"/>
              </a:rPr>
              <a:t>十个数码。计数规律：逢十进一。 任意一个十进制数</a:t>
            </a:r>
            <a:r>
              <a:rPr lang="en-US" altLang="zh-CN" sz="2800" dirty="0">
                <a:latin typeface="宋体" panose="02010600030101010101" pitchFamily="2" charset="-122"/>
              </a:rPr>
              <a:t>(S)</a:t>
            </a:r>
            <a:r>
              <a:rPr lang="en-US" altLang="zh-CN" sz="2800" baseline="-30000" dirty="0">
                <a:latin typeface="宋体" panose="02010600030101010101" pitchFamily="2" charset="-122"/>
              </a:rPr>
              <a:t>10</a:t>
            </a:r>
            <a:r>
              <a:rPr lang="zh-CN" altLang="en-US" sz="2800" dirty="0">
                <a:latin typeface="宋体" panose="02010600030101010101" pitchFamily="2" charset="-122"/>
              </a:rPr>
              <a:t>可以表示为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B288BD-2B32-46DB-9ED5-A0BB049CA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2553056"/>
            <a:ext cx="8382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(S)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=k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</a:rPr>
              <a:t>10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</a:rPr>
              <a:t>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n-2</a:t>
            </a:r>
            <a:r>
              <a:rPr lang="en-US" altLang="zh-CN" sz="2800" dirty="0">
                <a:latin typeface="Times New Roman" panose="02020603050405020304" pitchFamily="18" charset="0"/>
              </a:rPr>
              <a:t>10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n-2</a:t>
            </a:r>
            <a:r>
              <a:rPr lang="en-US" altLang="zh-CN" sz="2800" dirty="0">
                <a:latin typeface="Times New Roman" panose="02020603050405020304" pitchFamily="18" charset="0"/>
              </a:rPr>
              <a:t>+...+k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10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</a:rPr>
              <a:t>10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</a:rPr>
              <a:t>+...+k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-m</a:t>
            </a:r>
            <a:r>
              <a:rPr lang="en-US" altLang="zh-CN" sz="2800" dirty="0">
                <a:latin typeface="Times New Roman" panose="02020603050405020304" pitchFamily="18" charset="0"/>
              </a:rPr>
              <a:t>10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-m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81EA7C-C7CD-4988-879C-3768BB2F0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4000856"/>
            <a:ext cx="8458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其中，</a:t>
            </a:r>
            <a:r>
              <a:rPr lang="en-US" altLang="zh-CN" sz="2800">
                <a:latin typeface="Times New Roman" panose="02020603050405020304" pitchFamily="18" charset="0"/>
              </a:rPr>
              <a:t>k</a:t>
            </a:r>
            <a:r>
              <a:rPr lang="en-US" altLang="zh-CN" sz="2800" i="1" baseline="-30000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  <a:r>
              <a:rPr lang="en-US" altLang="zh-CN" sz="2800">
                <a:latin typeface="Times New Roman" panose="02020603050405020304" pitchFamily="18" charset="0"/>
              </a:rPr>
              <a:t>0~9</a:t>
            </a:r>
            <a:r>
              <a:rPr lang="zh-CN" altLang="en-US" sz="2800">
                <a:latin typeface="Times New Roman" panose="02020603050405020304" pitchFamily="18" charset="0"/>
              </a:rPr>
              <a:t>十个数码中的任意一个，系数</a:t>
            </a:r>
            <a:br>
              <a:rPr lang="zh-CN" altLang="en-US" sz="2800">
                <a:latin typeface="Times New Roman" panose="02020603050405020304" pitchFamily="18" charset="0"/>
              </a:rPr>
            </a:br>
            <a:r>
              <a:rPr lang="zh-CN" altLang="en-US" sz="2800">
                <a:latin typeface="Times New Roman" panose="02020603050405020304" pitchFamily="18" charset="0"/>
              </a:rPr>
              <a:t>            </a:t>
            </a:r>
            <a:r>
              <a:rPr lang="en-US" altLang="zh-CN" sz="2800">
                <a:latin typeface="Times New Roman" panose="02020603050405020304" pitchFamily="18" charset="0"/>
              </a:rPr>
              <a:t>m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：正整数，</a:t>
            </a:r>
            <a:r>
              <a:rPr lang="en-US" altLang="zh-CN" sz="28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为整数位数，</a:t>
            </a:r>
            <a:r>
              <a:rPr lang="en-US" altLang="zh-CN" sz="2800">
                <a:latin typeface="Times New Roman" panose="02020603050405020304" pitchFamily="18" charset="0"/>
              </a:rPr>
              <a:t>m</a:t>
            </a:r>
            <a:r>
              <a:rPr lang="zh-CN" altLang="en-US" sz="2800">
                <a:latin typeface="Times New Roman" panose="02020603050405020304" pitchFamily="18" charset="0"/>
              </a:rPr>
              <a:t>为小数位数</a:t>
            </a:r>
            <a:br>
              <a:rPr lang="zh-CN" altLang="en-US" sz="2800">
                <a:latin typeface="Times New Roman" panose="02020603050405020304" pitchFamily="18" charset="0"/>
              </a:rPr>
            </a:br>
            <a:r>
              <a:rPr lang="zh-CN" altLang="en-US" sz="2800">
                <a:latin typeface="Times New Roman" panose="02020603050405020304" pitchFamily="18" charset="0"/>
              </a:rPr>
              <a:t>            </a:t>
            </a:r>
            <a:r>
              <a:rPr lang="en-US" altLang="zh-CN" sz="2800">
                <a:latin typeface="Times New Roman" panose="02020603050405020304" pitchFamily="18" charset="0"/>
              </a:rPr>
              <a:t>10</a:t>
            </a:r>
            <a:r>
              <a:rPr lang="zh-CN" altLang="en-US" sz="2800">
                <a:latin typeface="Times New Roman" panose="02020603050405020304" pitchFamily="18" charset="0"/>
              </a:rPr>
              <a:t>：十进制的基数          </a:t>
            </a:r>
            <a:r>
              <a:rPr lang="en-US" altLang="zh-CN" sz="2800">
                <a:latin typeface="Times New Roman" panose="02020603050405020304" pitchFamily="18" charset="0"/>
              </a:rPr>
              <a:t>10</a:t>
            </a:r>
            <a:r>
              <a:rPr lang="en-US" altLang="zh-CN" sz="2800" i="1" baseline="30000">
                <a:latin typeface="Times New Roman" panose="02020603050405020304" pitchFamily="18" charset="0"/>
              </a:rPr>
              <a:t>i</a:t>
            </a:r>
            <a:r>
              <a:rPr lang="en-US" altLang="zh-CN" sz="2800">
                <a:latin typeface="Times New Roman" panose="02020603050405020304" pitchFamily="18" charset="0"/>
              </a:rPr>
              <a:t>: </a:t>
            </a:r>
            <a:r>
              <a:rPr lang="zh-CN" altLang="en-US" sz="2800">
                <a:latin typeface="Times New Roman" panose="02020603050405020304" pitchFamily="18" charset="0"/>
              </a:rPr>
              <a:t>称为第</a:t>
            </a:r>
            <a:r>
              <a:rPr lang="en-US" altLang="zh-CN" sz="2800" i="1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Times New Roman" panose="02020603050405020304" pitchFamily="18" charset="0"/>
              </a:rPr>
              <a:t>位的权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813E80C-BC20-4164-9266-A4DC64ADF376}"/>
              </a:ext>
            </a:extLst>
          </p:cNvPr>
          <p:cNvGrpSpPr>
            <a:grpSpLocks/>
          </p:cNvGrpSpPr>
          <p:nvPr/>
        </p:nvGrpSpPr>
        <p:grpSpPr bwMode="auto">
          <a:xfrm>
            <a:off x="1216025" y="3026131"/>
            <a:ext cx="2362200" cy="930275"/>
            <a:chOff x="2352" y="2352"/>
            <a:chExt cx="1488" cy="586"/>
          </a:xfrm>
        </p:grpSpPr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76908663-4E18-4426-9F7C-A59AE1411C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448"/>
              <a:ext cx="14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=</a:t>
              </a:r>
              <a:r>
                <a:rPr lang="en-US" altLang="zh-CN" sz="3600">
                  <a:latin typeface="Times New Roman" panose="02020603050405020304" pitchFamily="18" charset="0"/>
                  <a:sym typeface="Symbol" panose="05050102010706020507" pitchFamily="18" charset="2"/>
                </a:rPr>
                <a:t>  </a:t>
              </a: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en-US" altLang="zh-CN" sz="2800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10</a:t>
              </a:r>
              <a:r>
                <a:rPr lang="en-US" altLang="zh-CN" sz="2800" i="1" baseline="30000"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endParaRPr lang="en-US" altLang="zh-CN" sz="2800" i="1" baseline="30000"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EC3F9E33-7D62-486F-805B-6E84644A7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688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</a:rPr>
                <a:t>i</a:t>
              </a:r>
              <a:r>
                <a:rPr lang="en-US" altLang="zh-CN" sz="2000">
                  <a:latin typeface="Times New Roman" panose="02020603050405020304" pitchFamily="18" charset="0"/>
                </a:rPr>
                <a:t>=n</a:t>
              </a: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AABDF970-F7C7-4522-B7C8-EEF4E53AF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352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–m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Text Box 12">
            <a:extLst>
              <a:ext uri="{FF2B5EF4-FFF2-40B4-BE49-F238E27FC236}">
                <a16:creationId xmlns:a16="http://schemas.microsoft.com/office/drawing/2014/main" id="{C0A5A23C-01A8-4A39-8AF4-E39B474A3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" y="5172431"/>
            <a:ext cx="177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【</a:t>
            </a:r>
            <a:r>
              <a:rPr lang="zh-CN" altLang="en-US" sz="2800">
                <a:latin typeface="Times New Roman" panose="02020603050405020304" pitchFamily="18" charset="0"/>
              </a:rPr>
              <a:t>例如</a:t>
            </a:r>
            <a:r>
              <a:rPr lang="en-US" altLang="zh-CN" sz="2800">
                <a:latin typeface="Times New Roman" panose="02020603050405020304" pitchFamily="18" charset="0"/>
              </a:rPr>
              <a:t>】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91E4A853-97AD-4762-9834-1DEFBD79B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" y="5629631"/>
            <a:ext cx="868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(2001.9)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zh-CN" altLang="en-US" sz="2800" dirty="0"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latin typeface="Times New Roman" panose="02020603050405020304" pitchFamily="18" charset="0"/>
              </a:rPr>
              <a:t>2×10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0×10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0×10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1×10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9×10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9605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12" grpId="0" autoUpdateAnimBg="0"/>
      <p:bldP spid="1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7">
            <a:extLst>
              <a:ext uri="{FF2B5EF4-FFF2-40B4-BE49-F238E27FC236}">
                <a16:creationId xmlns:a16="http://schemas.microsoft.com/office/drawing/2014/main" id="{6E5D929D-F27E-4A5E-84A3-4A7FD18C4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90901"/>
            <a:ext cx="8915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</a:rPr>
              <a:t>       </a:t>
            </a:r>
            <a:r>
              <a:rPr lang="zh-CN" altLang="en-US" sz="2800" dirty="0">
                <a:latin typeface="宋体" panose="02010600030101010101" pitchFamily="2" charset="-122"/>
              </a:rPr>
              <a:t>在</a:t>
            </a:r>
            <a:r>
              <a:rPr lang="zh-CN" altLang="en-US" sz="2800" b="0" dirty="0">
                <a:latin typeface="Times New Roman" panose="02020603050405020304" pitchFamily="18" charset="0"/>
              </a:rPr>
              <a:t> </a:t>
            </a:r>
            <a:r>
              <a:rPr lang="zh-CN" altLang="en-US" sz="2800" dirty="0">
                <a:latin typeface="宋体" panose="02010600030101010101" pitchFamily="2" charset="-122"/>
              </a:rPr>
              <a:t>二进制数中，每一位仅有</a:t>
            </a:r>
            <a:r>
              <a:rPr lang="en-US" altLang="zh-CN" sz="2800" dirty="0">
                <a:latin typeface="宋体" panose="02010600030101010101" pitchFamily="2" charset="-122"/>
              </a:rPr>
              <a:t>0</a:t>
            </a:r>
            <a:r>
              <a:rPr lang="zh-CN" altLang="en-US" sz="2800" dirty="0">
                <a:latin typeface="宋体" panose="02010600030101010101" pitchFamily="2" charset="-122"/>
              </a:rPr>
              <a:t>、</a:t>
            </a:r>
            <a:r>
              <a:rPr lang="en-US" altLang="zh-CN" sz="2800" dirty="0"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两个数码。计数规律：逢二进一。任意一个二进制数可以表示为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461DDD03-6FFB-4B58-8B01-4663855DE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78351"/>
            <a:ext cx="8382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(S)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=k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</a:rPr>
              <a:t>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n-2</a:t>
            </a: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n-2</a:t>
            </a:r>
            <a:r>
              <a:rPr lang="en-US" altLang="zh-CN" sz="2800" dirty="0">
                <a:latin typeface="Times New Roman" panose="02020603050405020304" pitchFamily="18" charset="0"/>
              </a:rPr>
              <a:t>+...+k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</a:rPr>
              <a:t>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-2</a:t>
            </a: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-2</a:t>
            </a:r>
            <a:r>
              <a:rPr lang="en-US" altLang="zh-CN" sz="2800" dirty="0">
                <a:latin typeface="Times New Roman" panose="02020603050405020304" pitchFamily="18" charset="0"/>
              </a:rPr>
              <a:t>+...+k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-m</a:t>
            </a: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-m</a:t>
            </a:r>
            <a:r>
              <a:rPr lang="en-US" altLang="zh-CN" sz="2800" b="0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8" name="Group 32">
            <a:extLst>
              <a:ext uri="{FF2B5EF4-FFF2-40B4-BE49-F238E27FC236}">
                <a16:creationId xmlns:a16="http://schemas.microsoft.com/office/drawing/2014/main" id="{8A0A5F44-506E-40A9-997F-22865985BEFC}"/>
              </a:ext>
            </a:extLst>
          </p:cNvPr>
          <p:cNvGrpSpPr>
            <a:grpSpLocks/>
          </p:cNvGrpSpPr>
          <p:nvPr/>
        </p:nvGrpSpPr>
        <p:grpSpPr bwMode="auto">
          <a:xfrm>
            <a:off x="1025237" y="2931106"/>
            <a:ext cx="2362200" cy="930275"/>
            <a:chOff x="2352" y="2352"/>
            <a:chExt cx="1488" cy="586"/>
          </a:xfrm>
        </p:grpSpPr>
        <p:sp>
          <p:nvSpPr>
            <p:cNvPr id="9" name="Text Box 33">
              <a:extLst>
                <a:ext uri="{FF2B5EF4-FFF2-40B4-BE49-F238E27FC236}">
                  <a16:creationId xmlns:a16="http://schemas.microsoft.com/office/drawing/2014/main" id="{9770A12E-2823-495C-88AA-B7EA8448D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448"/>
              <a:ext cx="14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=</a:t>
              </a:r>
              <a:r>
                <a:rPr lang="en-US" altLang="zh-CN" sz="36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  </a:t>
              </a:r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en-US" altLang="zh-CN" sz="2800" i="1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i </a:t>
              </a:r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2 </a:t>
              </a:r>
              <a:r>
                <a:rPr lang="en-US" altLang="zh-CN" sz="2800" i="1" baseline="300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endParaRPr lang="en-US" altLang="zh-CN" sz="2800" i="1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34">
              <a:extLst>
                <a:ext uri="{FF2B5EF4-FFF2-40B4-BE49-F238E27FC236}">
                  <a16:creationId xmlns:a16="http://schemas.microsoft.com/office/drawing/2014/main" id="{C2730C0A-ADE9-4698-9810-A8D8D68C2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688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</a:rPr>
                <a:t>i</a:t>
              </a:r>
              <a:r>
                <a:rPr lang="en-US" altLang="zh-CN" sz="2000">
                  <a:latin typeface="Times New Roman" panose="02020603050405020304" pitchFamily="18" charset="0"/>
                </a:rPr>
                <a:t>=n</a:t>
              </a: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35">
              <a:extLst>
                <a:ext uri="{FF2B5EF4-FFF2-40B4-BE49-F238E27FC236}">
                  <a16:creationId xmlns:a16="http://schemas.microsoft.com/office/drawing/2014/main" id="{F0085D76-CC22-4AC7-86DF-12DF125EB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352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–m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Rectangle 37">
            <a:extLst>
              <a:ext uri="{FF2B5EF4-FFF2-40B4-BE49-F238E27FC236}">
                <a16:creationId xmlns:a16="http://schemas.microsoft.com/office/drawing/2014/main" id="{BA4EB083-4217-41E2-97AA-AB39E1AED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161" y="309671"/>
            <a:ext cx="6954715" cy="588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二进制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数字电路的数制基础</a:t>
            </a:r>
            <a:endParaRPr lang="en-US" altLang="zh-CN" sz="28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38">
            <a:extLst>
              <a:ext uri="{FF2B5EF4-FFF2-40B4-BE49-F238E27FC236}">
                <a16:creationId xmlns:a16="http://schemas.microsoft.com/office/drawing/2014/main" id="{3FD10868-6AE6-4D04-ABA6-4A3F74542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82" y="3931225"/>
            <a:ext cx="85344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其中，</a:t>
            </a:r>
            <a:r>
              <a:rPr lang="en-US" altLang="zh-CN" sz="28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i="1" baseline="-30000" dirty="0" err="1">
                <a:latin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</a:rPr>
              <a:t>：只能取</a:t>
            </a:r>
            <a:r>
              <a:rPr lang="en-US" altLang="zh-CN" sz="28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或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br>
              <a:rPr lang="en-US" altLang="zh-CN" sz="2800" dirty="0">
                <a:latin typeface="Times New Roman" panose="02020603050405020304" pitchFamily="18" charset="0"/>
              </a:rPr>
            </a:br>
            <a:r>
              <a:rPr lang="en-US" altLang="zh-CN" sz="2800" dirty="0">
                <a:latin typeface="Times New Roman" panose="02020603050405020304" pitchFamily="18" charset="0"/>
              </a:rPr>
              <a:t>            m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</a:rPr>
              <a:t>：正整数，</a:t>
            </a:r>
            <a:r>
              <a:rPr lang="en-US" altLang="zh-CN" sz="2800" dirty="0"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</a:rPr>
              <a:t>为整数位数，</a:t>
            </a:r>
            <a:r>
              <a:rPr lang="en-US" altLang="zh-CN" sz="2800" dirty="0">
                <a:latin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</a:rPr>
              <a:t>为小数位数</a:t>
            </a:r>
            <a:br>
              <a:rPr lang="zh-CN" altLang="en-US" sz="2800" dirty="0">
                <a:latin typeface="Times New Roman" panose="02020603050405020304" pitchFamily="18" charset="0"/>
              </a:rPr>
            </a:br>
            <a:r>
              <a:rPr lang="zh-CN" altLang="en-US" sz="2800" dirty="0">
                <a:latin typeface="Times New Roman" panose="02020603050405020304" pitchFamily="18" charset="0"/>
              </a:rPr>
              <a:t>            </a:t>
            </a: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：二进制的基数      </a:t>
            </a: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</a:rPr>
              <a:t>: </a:t>
            </a:r>
            <a:r>
              <a:rPr lang="zh-CN" altLang="en-US" sz="2800" dirty="0">
                <a:latin typeface="Times New Roman" panose="02020603050405020304" pitchFamily="18" charset="0"/>
              </a:rPr>
              <a:t>称为第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</a:rPr>
              <a:t>位的权</a:t>
            </a:r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24D3810C-8C9F-4A19-9609-A1ACF6C5C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2" y="5455225"/>
            <a:ext cx="9144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【</a:t>
            </a:r>
            <a:r>
              <a:rPr lang="zh-CN" altLang="en-US" sz="2800" dirty="0">
                <a:latin typeface="Times New Roman" panose="02020603050405020304" pitchFamily="18" charset="0"/>
              </a:rPr>
              <a:t>例如</a:t>
            </a:r>
            <a:r>
              <a:rPr lang="en-US" altLang="zh-CN" sz="2800" dirty="0">
                <a:latin typeface="Times New Roman" panose="02020603050405020304" pitchFamily="18" charset="0"/>
              </a:rPr>
              <a:t>】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(101.101)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=1×2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0×2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0×2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-2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-3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10245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2E8E6C4-544B-446C-AD96-EEF825B2E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955" y="292532"/>
            <a:ext cx="23622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八进制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F62236-0B4F-4A2F-BD69-5AC654913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686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    </a:t>
            </a:r>
            <a:r>
              <a:rPr lang="zh-CN" altLang="en-US" sz="2800" dirty="0">
                <a:latin typeface="宋体" panose="02010600030101010101" pitchFamily="2" charset="-122"/>
              </a:rPr>
              <a:t>在</a:t>
            </a:r>
            <a:r>
              <a:rPr lang="zh-CN" altLang="en-US" sz="2800" b="0" dirty="0">
                <a:latin typeface="Times New Roman" panose="02020603050405020304" pitchFamily="18" charset="0"/>
              </a:rPr>
              <a:t> </a:t>
            </a:r>
            <a:r>
              <a:rPr lang="zh-CN" altLang="en-US" sz="2800" dirty="0">
                <a:latin typeface="宋体" panose="02010600030101010101" pitchFamily="2" charset="-122"/>
              </a:rPr>
              <a:t>八进制数中，每一位有</a:t>
            </a:r>
            <a:r>
              <a:rPr lang="en-US" altLang="zh-CN" sz="2800" dirty="0"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~</a:t>
            </a:r>
            <a:r>
              <a:rPr lang="en-US" altLang="zh-CN" sz="2800" dirty="0">
                <a:latin typeface="宋体" panose="02010600030101010101" pitchFamily="2" charset="-122"/>
              </a:rPr>
              <a:t>7</a:t>
            </a:r>
            <a:r>
              <a:rPr lang="zh-CN" altLang="en-US" sz="2800" dirty="0">
                <a:latin typeface="宋体" panose="02010600030101010101" pitchFamily="2" charset="-122"/>
              </a:rPr>
              <a:t>八个数码。计数规律：逢八进一。</a:t>
            </a:r>
            <a:r>
              <a:rPr lang="zh-CN" altLang="en-US" sz="2800" dirty="0">
                <a:latin typeface="Times New Roman" panose="02020603050405020304" pitchFamily="18" charset="0"/>
              </a:rPr>
              <a:t> </a:t>
            </a:r>
            <a:r>
              <a:rPr lang="zh-CN" altLang="en-US" sz="2800" dirty="0">
                <a:latin typeface="宋体" panose="02010600030101010101" pitchFamily="2" charset="-122"/>
              </a:rPr>
              <a:t>任意一个八进制数可以表示为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9922A-0637-4409-B58E-1069B57C9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33600"/>
            <a:ext cx="8153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(S)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8</a:t>
            </a:r>
            <a:r>
              <a:rPr lang="en-US" altLang="zh-CN" sz="2800" dirty="0">
                <a:latin typeface="Times New Roman" panose="02020603050405020304" pitchFamily="18" charset="0"/>
              </a:rPr>
              <a:t>=k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</a:rPr>
              <a:t>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</a:rPr>
              <a:t>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n-2</a:t>
            </a:r>
            <a:r>
              <a:rPr lang="en-US" altLang="zh-CN" sz="2800" dirty="0">
                <a:latin typeface="Times New Roman" panose="02020603050405020304" pitchFamily="18" charset="0"/>
              </a:rPr>
              <a:t>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n-2</a:t>
            </a:r>
            <a:r>
              <a:rPr lang="en-US" altLang="zh-CN" sz="2800" dirty="0">
                <a:latin typeface="Times New Roman" panose="02020603050405020304" pitchFamily="18" charset="0"/>
              </a:rPr>
              <a:t>+...+k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</a:rPr>
              <a:t>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</a:rPr>
              <a:t>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-2</a:t>
            </a:r>
            <a:r>
              <a:rPr lang="en-US" altLang="zh-CN" sz="2800" dirty="0">
                <a:latin typeface="Times New Roman" panose="02020603050405020304" pitchFamily="18" charset="0"/>
              </a:rPr>
              <a:t>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-2</a:t>
            </a:r>
            <a:r>
              <a:rPr lang="en-US" altLang="zh-CN" sz="2800" dirty="0">
                <a:latin typeface="Times New Roman" panose="02020603050405020304" pitchFamily="18" charset="0"/>
              </a:rPr>
              <a:t>+...+k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-m</a:t>
            </a:r>
            <a:r>
              <a:rPr lang="en-US" altLang="zh-CN" sz="2800" dirty="0">
                <a:latin typeface="Times New Roman" panose="02020603050405020304" pitchFamily="18" charset="0"/>
              </a:rPr>
              <a:t>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-m</a:t>
            </a:r>
            <a:r>
              <a:rPr lang="en-US" altLang="zh-CN" sz="2800" b="0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93AD23F-FC64-436D-844E-140FA32BE985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743200"/>
            <a:ext cx="2362200" cy="930275"/>
            <a:chOff x="2352" y="2352"/>
            <a:chExt cx="1488" cy="586"/>
          </a:xfrm>
        </p:grpSpPr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4389CCBE-9159-420C-89A7-7CA2914C75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448"/>
              <a:ext cx="14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=</a:t>
              </a:r>
              <a:r>
                <a:rPr lang="en-US" altLang="zh-CN" sz="3600">
                  <a:latin typeface="Times New Roman" panose="02020603050405020304" pitchFamily="18" charset="0"/>
                  <a:sym typeface="Symbol" panose="05050102010706020507" pitchFamily="18" charset="2"/>
                </a:rPr>
                <a:t>  </a:t>
              </a: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en-US" altLang="zh-CN" sz="2800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8</a:t>
              </a:r>
              <a:r>
                <a:rPr lang="en-US" altLang="zh-CN" sz="2800" i="1" baseline="30000"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endParaRPr lang="en-US" altLang="zh-CN" sz="2800" i="1" baseline="30000">
                <a:latin typeface="Times New Roman" panose="02020603050405020304" pitchFamily="18" charset="0"/>
              </a:endParaRP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D9EF0ADF-078A-49FF-8E17-D9DFE0F00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688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</a:rPr>
                <a:t>i</a:t>
              </a:r>
              <a:r>
                <a:rPr lang="en-US" altLang="zh-CN" sz="2000">
                  <a:latin typeface="Times New Roman" panose="02020603050405020304" pitchFamily="18" charset="0"/>
                </a:rPr>
                <a:t>=n</a:t>
              </a: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985AD711-D7A6-4A1E-AFC9-B74A99BCB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352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–m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EB890F7-5644-48F2-ABA4-CFBAA5C32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3810000"/>
            <a:ext cx="839364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其中，</a:t>
            </a:r>
            <a:r>
              <a:rPr lang="en-US" altLang="zh-CN" sz="2800">
                <a:latin typeface="Times New Roman" panose="02020603050405020304" pitchFamily="18" charset="0"/>
              </a:rPr>
              <a:t>k</a:t>
            </a:r>
            <a:r>
              <a:rPr lang="en-US" altLang="zh-CN" sz="2800" i="1" baseline="-30000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  <a:r>
              <a:rPr lang="en-US" altLang="zh-CN" sz="2800">
                <a:latin typeface="Times New Roman" panose="02020603050405020304" pitchFamily="18" charset="0"/>
              </a:rPr>
              <a:t>0~7</a:t>
            </a:r>
            <a:r>
              <a:rPr lang="zh-CN" altLang="en-US" sz="2800">
                <a:latin typeface="Times New Roman" panose="02020603050405020304" pitchFamily="18" charset="0"/>
              </a:rPr>
              <a:t>八个数码中的任意一个        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        </a:t>
            </a:r>
            <a:r>
              <a:rPr lang="en-US" altLang="zh-CN" sz="2800">
                <a:latin typeface="Times New Roman" panose="02020603050405020304" pitchFamily="18" charset="0"/>
              </a:rPr>
              <a:t>m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：正整数，</a:t>
            </a:r>
            <a:r>
              <a:rPr lang="en-US" altLang="zh-CN" sz="28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为整数位数，</a:t>
            </a:r>
            <a:r>
              <a:rPr lang="en-US" altLang="zh-CN" sz="2800">
                <a:latin typeface="Times New Roman" panose="02020603050405020304" pitchFamily="18" charset="0"/>
              </a:rPr>
              <a:t>m</a:t>
            </a:r>
            <a:r>
              <a:rPr lang="zh-CN" altLang="en-US" sz="2800">
                <a:latin typeface="Times New Roman" panose="02020603050405020304" pitchFamily="18" charset="0"/>
              </a:rPr>
              <a:t>为小数位数</a:t>
            </a:r>
            <a:br>
              <a:rPr lang="zh-CN" altLang="en-US" sz="2800">
                <a:latin typeface="Times New Roman" panose="02020603050405020304" pitchFamily="18" charset="0"/>
              </a:rPr>
            </a:br>
            <a:r>
              <a:rPr lang="zh-CN" altLang="en-US" sz="2800">
                <a:latin typeface="Times New Roman" panose="02020603050405020304" pitchFamily="18" charset="0"/>
              </a:rPr>
              <a:t>            </a:t>
            </a:r>
            <a:r>
              <a:rPr lang="en-US" altLang="zh-CN" sz="2800">
                <a:latin typeface="Times New Roman" panose="02020603050405020304" pitchFamily="18" charset="0"/>
              </a:rPr>
              <a:t>8</a:t>
            </a:r>
            <a:r>
              <a:rPr lang="zh-CN" altLang="en-US" sz="2800">
                <a:latin typeface="Times New Roman" panose="02020603050405020304" pitchFamily="18" charset="0"/>
              </a:rPr>
              <a:t>：八进制的基数</a:t>
            </a:r>
            <a:br>
              <a:rPr lang="zh-CN" altLang="en-US" sz="2800">
                <a:latin typeface="Times New Roman" panose="02020603050405020304" pitchFamily="18" charset="0"/>
              </a:rPr>
            </a:br>
            <a:r>
              <a:rPr lang="zh-CN" altLang="en-US" sz="2800">
                <a:latin typeface="Times New Roman" panose="02020603050405020304" pitchFamily="18" charset="0"/>
              </a:rPr>
              <a:t>            </a:t>
            </a:r>
            <a:r>
              <a:rPr lang="en-US" altLang="zh-CN" sz="2800">
                <a:latin typeface="Times New Roman" panose="02020603050405020304" pitchFamily="18" charset="0"/>
              </a:rPr>
              <a:t>8</a:t>
            </a:r>
            <a:r>
              <a:rPr lang="en-US" altLang="zh-CN" sz="2800" i="1" baseline="30000">
                <a:latin typeface="Times New Roman" panose="02020603050405020304" pitchFamily="18" charset="0"/>
              </a:rPr>
              <a:t>i</a:t>
            </a:r>
            <a:r>
              <a:rPr lang="en-US" altLang="zh-CN" sz="2800">
                <a:latin typeface="Times New Roman" panose="02020603050405020304" pitchFamily="18" charset="0"/>
              </a:rPr>
              <a:t>: </a:t>
            </a:r>
            <a:r>
              <a:rPr lang="zh-CN" altLang="en-US" sz="2800">
                <a:latin typeface="Times New Roman" panose="02020603050405020304" pitchFamily="18" charset="0"/>
              </a:rPr>
              <a:t>称为第</a:t>
            </a:r>
            <a:r>
              <a:rPr lang="en-US" altLang="zh-CN" sz="2800" i="1">
                <a:latin typeface="Times New Roman" panose="02020603050405020304" pitchFamily="18" charset="0"/>
              </a:rPr>
              <a:t>i </a:t>
            </a:r>
            <a:r>
              <a:rPr lang="zh-CN" altLang="en-US" sz="2800">
                <a:latin typeface="Times New Roman" panose="02020603050405020304" pitchFamily="18" charset="0"/>
              </a:rPr>
              <a:t>位的权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0F3914-D3BF-4705-9FA5-0BC42C82B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625882"/>
            <a:ext cx="8153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【</a:t>
            </a:r>
            <a:r>
              <a:rPr lang="zh-CN" altLang="en-US" sz="2800" dirty="0">
                <a:latin typeface="Times New Roman" panose="02020603050405020304" pitchFamily="18" charset="0"/>
              </a:rPr>
              <a:t>例如</a:t>
            </a:r>
            <a:r>
              <a:rPr lang="en-US" altLang="zh-CN" sz="2800" dirty="0">
                <a:latin typeface="Times New Roman" panose="02020603050405020304" pitchFamily="18" charset="0"/>
              </a:rPr>
              <a:t>】(67.73)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8</a:t>
            </a:r>
            <a:r>
              <a:rPr lang="en-US" altLang="zh-CN" sz="2800" dirty="0">
                <a:latin typeface="Times New Roman" panose="02020603050405020304" pitchFamily="18" charset="0"/>
              </a:rPr>
              <a:t>=6×8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7×8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7×8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3×8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-2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92291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11" grpId="0" autoUpdateAnimBg="0"/>
      <p:bldP spid="1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BB24386-FB1C-4783-8089-6AB2543DC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238125"/>
            <a:ext cx="2582863" cy="60166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4.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十六进制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3F09A8-F332-4E84-87A6-C20A02A3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6800"/>
            <a:ext cx="8991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在</a:t>
            </a:r>
            <a:r>
              <a:rPr lang="zh-CN" altLang="en-US" sz="2800" b="0" dirty="0">
                <a:latin typeface="宋体" panose="02010600030101010101" pitchFamily="2" charset="-122"/>
              </a:rPr>
              <a:t>十六</a:t>
            </a:r>
            <a:r>
              <a:rPr lang="zh-CN" altLang="en-US" sz="2800" dirty="0">
                <a:latin typeface="宋体" panose="02010600030101010101" pitchFamily="2" charset="-122"/>
              </a:rPr>
              <a:t>进制数中，每一位有</a:t>
            </a:r>
            <a:r>
              <a:rPr lang="en-US" altLang="zh-CN" sz="2800" dirty="0">
                <a:latin typeface="Times New Roman" panose="02020603050405020304" pitchFamily="18" charset="0"/>
              </a:rPr>
              <a:t>0~9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10</a:t>
            </a:r>
            <a:r>
              <a:rPr lang="zh-CN" altLang="en-US" sz="2800" dirty="0">
                <a:latin typeface="Times New Roman" panose="02020603050405020304" pitchFamily="18" charset="0"/>
              </a:rPr>
              <a:t>）、</a:t>
            </a:r>
            <a:r>
              <a:rPr lang="en-US" altLang="zh-CN" sz="2800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11</a:t>
            </a:r>
            <a:r>
              <a:rPr lang="zh-CN" altLang="en-US" sz="2800" dirty="0">
                <a:latin typeface="Times New Roman" panose="02020603050405020304" pitchFamily="18" charset="0"/>
              </a:rPr>
              <a:t>）、</a:t>
            </a:r>
            <a:r>
              <a:rPr lang="en-US" altLang="zh-CN" sz="2800" dirty="0"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12</a:t>
            </a:r>
            <a:r>
              <a:rPr lang="zh-CN" altLang="en-US" sz="2800" dirty="0">
                <a:latin typeface="Times New Roman" panose="02020603050405020304" pitchFamily="18" charset="0"/>
              </a:rPr>
              <a:t>）、</a:t>
            </a:r>
            <a:r>
              <a:rPr lang="en-US" altLang="zh-CN" sz="2800" dirty="0">
                <a:latin typeface="Times New Roman" panose="02020603050405020304" pitchFamily="18" charset="0"/>
              </a:rPr>
              <a:t>D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13</a:t>
            </a:r>
            <a:r>
              <a:rPr lang="zh-CN" altLang="en-US" sz="2800" dirty="0">
                <a:latin typeface="Times New Roman" panose="02020603050405020304" pitchFamily="18" charset="0"/>
              </a:rPr>
              <a:t>）、</a:t>
            </a:r>
            <a:r>
              <a:rPr lang="en-US" altLang="zh-CN" sz="2800" dirty="0">
                <a:latin typeface="Times New Roman" panose="02020603050405020304" pitchFamily="18" charset="0"/>
              </a:rPr>
              <a:t>E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14</a:t>
            </a:r>
            <a:r>
              <a:rPr lang="zh-CN" altLang="en-US" sz="2800" dirty="0">
                <a:latin typeface="Times New Roman" panose="02020603050405020304" pitchFamily="18" charset="0"/>
              </a:rPr>
              <a:t>）、</a:t>
            </a:r>
            <a:r>
              <a:rPr lang="en-US" altLang="zh-CN" sz="2800" dirty="0">
                <a:latin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15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宋体" panose="02010600030101010101" pitchFamily="2" charset="-122"/>
              </a:rPr>
              <a:t>十六个数码。</a:t>
            </a:r>
            <a:r>
              <a:rPr lang="zh-CN" altLang="en-US" sz="2800" b="0" dirty="0">
                <a:latin typeface="宋体" panose="02010600030101010101" pitchFamily="2" charset="-122"/>
              </a:rPr>
              <a:t>计数</a:t>
            </a:r>
            <a:r>
              <a:rPr lang="zh-CN" altLang="en-US" sz="2800" dirty="0">
                <a:latin typeface="宋体" panose="02010600030101010101" pitchFamily="2" charset="-122"/>
              </a:rPr>
              <a:t>规律：逢十六进一。任意一个十六进制数可以表示为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2FDF88-1534-477F-8CBD-FCDBFA95A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9850" y="2614613"/>
            <a:ext cx="9372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(S)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16</a:t>
            </a:r>
            <a:r>
              <a:rPr lang="en-US" altLang="zh-CN" sz="2800" dirty="0">
                <a:latin typeface="Times New Roman" panose="02020603050405020304" pitchFamily="18" charset="0"/>
              </a:rPr>
              <a:t>=k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</a:rPr>
              <a:t>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</a:rPr>
              <a:t>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n-2</a:t>
            </a:r>
            <a:r>
              <a:rPr lang="en-US" altLang="zh-CN" sz="2800" dirty="0">
                <a:latin typeface="Times New Roman" panose="02020603050405020304" pitchFamily="18" charset="0"/>
              </a:rPr>
              <a:t>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n-2</a:t>
            </a:r>
            <a:r>
              <a:rPr lang="en-US" altLang="zh-CN" sz="2800" dirty="0">
                <a:latin typeface="Times New Roman" panose="02020603050405020304" pitchFamily="18" charset="0"/>
              </a:rPr>
              <a:t>+...+k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</a:rPr>
              <a:t>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</a:rPr>
              <a:t>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-2</a:t>
            </a:r>
            <a:r>
              <a:rPr lang="en-US" altLang="zh-CN" sz="2800" dirty="0">
                <a:latin typeface="Times New Roman" panose="02020603050405020304" pitchFamily="18" charset="0"/>
              </a:rPr>
              <a:t>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-2</a:t>
            </a:r>
            <a:r>
              <a:rPr lang="en-US" altLang="zh-CN" sz="2800" dirty="0">
                <a:latin typeface="Times New Roman" panose="02020603050405020304" pitchFamily="18" charset="0"/>
              </a:rPr>
              <a:t>+...+k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-m</a:t>
            </a:r>
            <a:r>
              <a:rPr lang="en-US" altLang="zh-CN" sz="2800" dirty="0">
                <a:latin typeface="Times New Roman" panose="02020603050405020304" pitchFamily="18" charset="0"/>
              </a:rPr>
              <a:t>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-m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8E01C3-9938-45F3-98C2-3D2510A15C20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352800"/>
            <a:ext cx="2362200" cy="930275"/>
            <a:chOff x="2352" y="2352"/>
            <a:chExt cx="1488" cy="586"/>
          </a:xfrm>
        </p:grpSpPr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762543FF-24A4-413A-8657-B8A1A889D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448"/>
              <a:ext cx="14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=</a:t>
              </a:r>
              <a:r>
                <a:rPr lang="en-US" altLang="zh-CN" sz="3600">
                  <a:latin typeface="Times New Roman" panose="02020603050405020304" pitchFamily="18" charset="0"/>
                  <a:sym typeface="Symbol" panose="05050102010706020507" pitchFamily="18" charset="2"/>
                </a:rPr>
                <a:t>  </a:t>
              </a: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en-US" altLang="zh-CN" sz="2800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16</a:t>
              </a:r>
              <a:r>
                <a:rPr lang="en-US" altLang="zh-CN" sz="2800" i="1" baseline="30000"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endParaRPr lang="en-US" altLang="zh-CN" sz="2800" i="1" baseline="30000">
                <a:latin typeface="Times New Roman" panose="02020603050405020304" pitchFamily="18" charset="0"/>
              </a:endParaRP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8D160946-A426-48F8-8F42-31122F554D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688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</a:rPr>
                <a:t>i</a:t>
              </a:r>
              <a:r>
                <a:rPr lang="en-US" altLang="zh-CN" sz="2000">
                  <a:latin typeface="Times New Roman" panose="02020603050405020304" pitchFamily="18" charset="0"/>
                </a:rPr>
                <a:t>=n</a:t>
              </a: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2BB8E031-6AE8-4017-B203-A478AF1B0F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352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–m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BA84EF8-4494-41F5-B151-96ADB5CEE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343400"/>
            <a:ext cx="8839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其中，</a:t>
            </a:r>
            <a:r>
              <a:rPr lang="en-US" altLang="zh-CN" sz="2800">
                <a:latin typeface="Times New Roman" panose="02020603050405020304" pitchFamily="18" charset="0"/>
              </a:rPr>
              <a:t>k</a:t>
            </a:r>
            <a:r>
              <a:rPr lang="en-US" altLang="zh-CN" sz="2800" i="1" baseline="-30000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  <a:r>
              <a:rPr lang="en-US" altLang="zh-CN" sz="2800">
                <a:latin typeface="Times New Roman" panose="02020603050405020304" pitchFamily="18" charset="0"/>
              </a:rPr>
              <a:t>0~9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A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B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C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D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E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F</a:t>
            </a:r>
            <a:r>
              <a:rPr lang="zh-CN" altLang="en-US" sz="2800">
                <a:latin typeface="Times New Roman" panose="02020603050405020304" pitchFamily="18" charset="0"/>
              </a:rPr>
              <a:t>十六个数码中的任意一个。</a:t>
            </a:r>
            <a:r>
              <a:rPr lang="en-US" altLang="zh-CN" sz="2800">
                <a:latin typeface="Times New Roman" panose="02020603050405020304" pitchFamily="18" charset="0"/>
              </a:rPr>
              <a:t>m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：正整数，</a:t>
            </a:r>
            <a:r>
              <a:rPr lang="en-US" altLang="zh-CN" sz="28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为整数位数，</a:t>
            </a:r>
            <a:r>
              <a:rPr lang="en-US" altLang="zh-CN" sz="2800">
                <a:latin typeface="Times New Roman" panose="02020603050405020304" pitchFamily="18" charset="0"/>
              </a:rPr>
              <a:t>m</a:t>
            </a:r>
            <a:r>
              <a:rPr lang="zh-CN" altLang="en-US" sz="2800">
                <a:latin typeface="Times New Roman" panose="02020603050405020304" pitchFamily="18" charset="0"/>
              </a:rPr>
              <a:t>为小数位数。  </a:t>
            </a:r>
            <a:r>
              <a:rPr lang="en-US" altLang="zh-CN" sz="2800">
                <a:latin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</a:rPr>
              <a:t>：十六进制的基数；</a:t>
            </a:r>
            <a:r>
              <a:rPr lang="en-US" altLang="zh-CN" sz="2800">
                <a:latin typeface="Times New Roman" panose="02020603050405020304" pitchFamily="18" charset="0"/>
              </a:rPr>
              <a:t>16</a:t>
            </a:r>
            <a:r>
              <a:rPr lang="en-US" altLang="zh-CN" sz="2800" i="1" baseline="30000">
                <a:latin typeface="Times New Roman" panose="02020603050405020304" pitchFamily="18" charset="0"/>
              </a:rPr>
              <a:t>i</a:t>
            </a:r>
            <a:r>
              <a:rPr lang="en-US" altLang="zh-CN" sz="2800">
                <a:latin typeface="Times New Roman" panose="02020603050405020304" pitchFamily="18" charset="0"/>
              </a:rPr>
              <a:t>: </a:t>
            </a:r>
            <a:r>
              <a:rPr lang="zh-CN" altLang="en-US" sz="2800">
                <a:latin typeface="Times New Roman" panose="02020603050405020304" pitchFamily="18" charset="0"/>
              </a:rPr>
              <a:t>称为第</a:t>
            </a:r>
            <a:r>
              <a:rPr lang="en-US" altLang="zh-CN" sz="2800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Times New Roman" panose="02020603050405020304" pitchFamily="18" charset="0"/>
              </a:rPr>
              <a:t>位的权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301CC4-F34B-4511-8E95-B3067803A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64" y="5791200"/>
            <a:ext cx="8839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【</a:t>
            </a:r>
            <a:r>
              <a:rPr lang="zh-CN" altLang="en-US" sz="2800" dirty="0">
                <a:latin typeface="Times New Roman" panose="02020603050405020304" pitchFamily="18" charset="0"/>
              </a:rPr>
              <a:t>例如</a:t>
            </a:r>
            <a:r>
              <a:rPr lang="en-US" altLang="zh-CN" sz="2800" dirty="0">
                <a:latin typeface="Times New Roman" panose="02020603050405020304" pitchFamily="18" charset="0"/>
              </a:rPr>
              <a:t>】(8AE6)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16</a:t>
            </a:r>
            <a:r>
              <a:rPr lang="en-US" altLang="zh-CN" sz="2800" dirty="0">
                <a:latin typeface="Times New Roman" panose="02020603050405020304" pitchFamily="18" charset="0"/>
              </a:rPr>
              <a:t>=8×16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A×16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E×16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6×16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448140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11" grpId="0" autoUpdateAnimBg="0"/>
      <p:bldP spid="1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1880FE2-0AFF-429F-AF9A-34051AEB6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8413" y="242887"/>
            <a:ext cx="5535612" cy="585788"/>
          </a:xfrm>
          <a:solidFill>
            <a:srgbClr val="FF99FF"/>
          </a:solidFill>
        </p:spPr>
        <p:txBody>
          <a:bodyPr/>
          <a:lstStyle/>
          <a:p>
            <a:r>
              <a:rPr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各种进制进位规则</a:t>
            </a:r>
          </a:p>
        </p:txBody>
      </p:sp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9290D8B2-CA0F-43AA-96D2-C323462A4E7B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936896"/>
              </p:ext>
            </p:extLst>
          </p:nvPr>
        </p:nvGraphicFramePr>
        <p:xfrm>
          <a:off x="468313" y="1955800"/>
          <a:ext cx="8281987" cy="374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Photo Editor Photo" r:id="rId3" imgW="4780952" imgH="2161905" progId="MSPhotoEd.3">
                  <p:embed/>
                </p:oleObj>
              </mc:Choice>
              <mc:Fallback>
                <p:oleObj name="Photo Editor Photo" r:id="rId3" imgW="4780952" imgH="2161905" progId="MSPhotoEd.3">
                  <p:embed/>
                  <p:pic>
                    <p:nvPicPr>
                      <p:cNvPr id="9219" name="Object 3">
                        <a:extLst>
                          <a:ext uri="{FF2B5EF4-FFF2-40B4-BE49-F238E27FC236}">
                            <a16:creationId xmlns:a16="http://schemas.microsoft.com/office/drawing/2014/main" id="{9290D8B2-CA0F-43AA-96D2-C323462A4E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955800"/>
                        <a:ext cx="8281987" cy="374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AutoShape 4">
            <a:extLst>
              <a:ext uri="{FF2B5EF4-FFF2-40B4-BE49-F238E27FC236}">
                <a16:creationId xmlns:a16="http://schemas.microsoft.com/office/drawing/2014/main" id="{31169EE7-7FD1-432C-89BE-B78E2F36C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484313"/>
            <a:ext cx="2016125" cy="549275"/>
          </a:xfrm>
          <a:prstGeom prst="wedgeEllipseCallout">
            <a:avLst>
              <a:gd name="adj1" fmla="val -76065"/>
              <a:gd name="adj2" fmla="val 670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>
                <a:solidFill>
                  <a:schemeClr val="bg2"/>
                </a:solidFill>
                <a:ea typeface="楷体_GB2312" pitchFamily="49" charset="-122"/>
              </a:rPr>
              <a:t>逢二进一</a:t>
            </a:r>
          </a:p>
        </p:txBody>
      </p:sp>
      <p:sp>
        <p:nvSpPr>
          <p:cNvPr id="9221" name="AutoShape 5">
            <a:extLst>
              <a:ext uri="{FF2B5EF4-FFF2-40B4-BE49-F238E27FC236}">
                <a16:creationId xmlns:a16="http://schemas.microsoft.com/office/drawing/2014/main" id="{B44C3221-22F5-47DD-B7DB-7C95DBCD6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419350"/>
            <a:ext cx="2016125" cy="504825"/>
          </a:xfrm>
          <a:prstGeom prst="wedgeEllipseCallout">
            <a:avLst>
              <a:gd name="adj1" fmla="val -76065"/>
              <a:gd name="adj2" fmla="val 773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>
                <a:solidFill>
                  <a:schemeClr val="bg2"/>
                </a:solidFill>
                <a:ea typeface="楷体_GB2312" pitchFamily="49" charset="-122"/>
              </a:rPr>
              <a:t>逢八进一</a:t>
            </a:r>
          </a:p>
        </p:txBody>
      </p:sp>
      <p:sp>
        <p:nvSpPr>
          <p:cNvPr id="9222" name="AutoShape 6">
            <a:extLst>
              <a:ext uri="{FF2B5EF4-FFF2-40B4-BE49-F238E27FC236}">
                <a16:creationId xmlns:a16="http://schemas.microsoft.com/office/drawing/2014/main" id="{5A6701C3-5F27-4AAD-92D5-74D650C80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3787775"/>
            <a:ext cx="2016125" cy="504825"/>
          </a:xfrm>
          <a:prstGeom prst="wedgeEllipseCallout">
            <a:avLst>
              <a:gd name="adj1" fmla="val -76065"/>
              <a:gd name="adj2" fmla="val 773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>
                <a:solidFill>
                  <a:schemeClr val="bg2"/>
                </a:solidFill>
                <a:ea typeface="楷体_GB2312" pitchFamily="49" charset="-122"/>
              </a:rPr>
              <a:t>逢十进一</a:t>
            </a:r>
          </a:p>
        </p:txBody>
      </p:sp>
      <p:sp>
        <p:nvSpPr>
          <p:cNvPr id="9223" name="AutoShape 7">
            <a:extLst>
              <a:ext uri="{FF2B5EF4-FFF2-40B4-BE49-F238E27FC236}">
                <a16:creationId xmlns:a16="http://schemas.microsoft.com/office/drawing/2014/main" id="{D7C66E10-95E0-4033-AC46-E7C654EAA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5876925"/>
            <a:ext cx="2447925" cy="504825"/>
          </a:xfrm>
          <a:prstGeom prst="wedgeEllipseCallout">
            <a:avLst>
              <a:gd name="adj1" fmla="val -92931"/>
              <a:gd name="adj2" fmla="val -654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>
                <a:solidFill>
                  <a:schemeClr val="bg2"/>
                </a:solidFill>
                <a:ea typeface="楷体_GB2312" pitchFamily="49" charset="-122"/>
              </a:rPr>
              <a:t>逢十六进一</a:t>
            </a:r>
          </a:p>
        </p:txBody>
      </p:sp>
    </p:spTree>
    <p:extLst>
      <p:ext uri="{BB962C8B-B14F-4D97-AF65-F5344CB8AC3E}">
        <p14:creationId xmlns:p14="http://schemas.microsoft.com/office/powerpoint/2010/main" val="9029748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10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10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  <p:bldP spid="9220" grpId="0" animBg="1"/>
      <p:bldP spid="9221" grpId="0" animBg="1"/>
      <p:bldP spid="9222" grpId="0" animBg="1"/>
      <p:bldP spid="92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E142F21-1B99-4A93-8DE9-5DB4A370F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8725" y="243520"/>
            <a:ext cx="4545013" cy="609600"/>
          </a:xfrm>
          <a:noFill/>
          <a:ln/>
        </p:spPr>
        <p:txBody>
          <a:bodyPr/>
          <a:lstStyle/>
          <a:p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四种数制对应表</a:t>
            </a:r>
          </a:p>
        </p:txBody>
      </p:sp>
      <p:graphicFrame>
        <p:nvGraphicFramePr>
          <p:cNvPr id="10243" name="Group 3">
            <a:extLst>
              <a:ext uri="{FF2B5EF4-FFF2-40B4-BE49-F238E27FC236}">
                <a16:creationId xmlns:a16="http://schemas.microsoft.com/office/drawing/2014/main" id="{C70049ED-3AE0-4B51-969F-28834A9C7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278671"/>
              </p:ext>
            </p:extLst>
          </p:nvPr>
        </p:nvGraphicFramePr>
        <p:xfrm>
          <a:off x="1228725" y="1042988"/>
          <a:ext cx="6583363" cy="526669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132780063"/>
                    </a:ext>
                  </a:extLst>
                </a:gridCol>
                <a:gridCol w="1157288">
                  <a:extLst>
                    <a:ext uri="{9D8B030D-6E8A-4147-A177-3AD203B41FA5}">
                      <a16:colId xmlns:a16="http://schemas.microsoft.com/office/drawing/2014/main" val="2700549315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321571369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887782188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118519540"/>
                    </a:ext>
                  </a:extLst>
                </a:gridCol>
                <a:gridCol w="1125538">
                  <a:extLst>
                    <a:ext uri="{9D8B030D-6E8A-4147-A177-3AD203B41FA5}">
                      <a16:colId xmlns:a16="http://schemas.microsoft.com/office/drawing/2014/main" val="2503614836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423127621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1640666465"/>
                    </a:ext>
                  </a:extLst>
                </a:gridCol>
              </a:tblGrid>
              <a:tr h="171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466926"/>
                  </a:ext>
                </a:extLst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18763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619000"/>
                  </a:ext>
                </a:extLst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495762"/>
                  </a:ext>
                </a:extLst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174767"/>
                  </a:ext>
                </a:extLst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933548"/>
                  </a:ext>
                </a:extLst>
              </a:tr>
              <a:tr h="409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790261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756969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08F8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08F8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08F8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08F8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993997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051442"/>
                  </a:ext>
                </a:extLst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690703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671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46353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826206A-3274-42C2-89CE-273D38863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3168" y="261937"/>
            <a:ext cx="4945063" cy="525463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、不同数制之间的转换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E35D566-15C0-4FE1-A769-53F2F2728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99" y="914400"/>
            <a:ext cx="6629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①</a:t>
            </a:r>
            <a:r>
              <a:rPr lang="zh-CN" altLang="en-US" sz="2800" dirty="0">
                <a:latin typeface="宋体" panose="02010600030101010101" pitchFamily="2" charset="-122"/>
              </a:rPr>
              <a:t>十进制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sz="2800" dirty="0">
                <a:latin typeface="宋体" panose="02010600030101010101" pitchFamily="2" charset="-122"/>
              </a:rPr>
              <a:t>二进制、八进制、十六进制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85399F7-3C5D-42AA-B37B-2388C87D0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47800"/>
            <a:ext cx="8763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十进制整数转化成二进制数时，按除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取余方法进行</a:t>
            </a:r>
            <a:br>
              <a:rPr lang="zh-CN" altLang="en-US" sz="2800" dirty="0">
                <a:latin typeface="宋体" panose="02010600030101010101" pitchFamily="2" charset="-122"/>
              </a:rPr>
            </a:br>
            <a:r>
              <a:rPr lang="zh-CN" altLang="en-US" sz="2800" dirty="0">
                <a:latin typeface="宋体" panose="02010600030101010101" pitchFamily="2" charset="-122"/>
              </a:rPr>
              <a:t>十进制整数转化成八进制数时，按除</a:t>
            </a:r>
            <a:r>
              <a:rPr lang="en-US" altLang="zh-CN" sz="2800" dirty="0">
                <a:latin typeface="宋体" panose="02010600030101010101" pitchFamily="2" charset="-122"/>
              </a:rPr>
              <a:t>8</a:t>
            </a:r>
            <a:r>
              <a:rPr lang="zh-CN" altLang="en-US" sz="2800" dirty="0">
                <a:latin typeface="宋体" panose="02010600030101010101" pitchFamily="2" charset="-122"/>
              </a:rPr>
              <a:t>取余方法进行</a:t>
            </a:r>
            <a:br>
              <a:rPr lang="zh-CN" altLang="en-US" sz="2800" dirty="0">
                <a:latin typeface="宋体" panose="02010600030101010101" pitchFamily="2" charset="-122"/>
              </a:rPr>
            </a:br>
            <a:r>
              <a:rPr lang="zh-CN" altLang="en-US" sz="2800" dirty="0">
                <a:latin typeface="宋体" panose="02010600030101010101" pitchFamily="2" charset="-122"/>
              </a:rPr>
              <a:t>十进制整数转化成十六进制数时，按除</a:t>
            </a:r>
            <a:r>
              <a:rPr lang="en-US" altLang="zh-CN" sz="2800" dirty="0">
                <a:latin typeface="宋体" panose="02010600030101010101" pitchFamily="2" charset="-122"/>
              </a:rPr>
              <a:t>16</a:t>
            </a:r>
            <a:r>
              <a:rPr lang="zh-CN" altLang="en-US" sz="2800" dirty="0">
                <a:latin typeface="宋体" panose="02010600030101010101" pitchFamily="2" charset="-122"/>
              </a:rPr>
              <a:t>取余方法进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03770BD-109B-49E7-AEED-8A4787C5C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390" y="4247717"/>
            <a:ext cx="36576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【</a:t>
            </a:r>
            <a:r>
              <a:rPr lang="zh-CN" altLang="en-US" sz="2800" dirty="0">
                <a:latin typeface="Times New Roman" panose="02020603050405020304" pitchFamily="18" charset="0"/>
              </a:rPr>
              <a:t>例如</a:t>
            </a:r>
            <a:r>
              <a:rPr lang="en-US" altLang="zh-CN" sz="2800" dirty="0">
                <a:latin typeface="Times New Roman" panose="02020603050405020304" pitchFamily="18" charset="0"/>
              </a:rPr>
              <a:t>】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(725)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=(1011010101)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    </a:t>
            </a:r>
            <a:r>
              <a:rPr lang="en-US" altLang="zh-CN" sz="2800" dirty="0">
                <a:latin typeface="Times New Roman" panose="02020603050405020304" pitchFamily="18" charset="0"/>
              </a:rPr>
              <a:t>(725)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=(1325)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8     </a:t>
            </a:r>
            <a:r>
              <a:rPr lang="en-US" altLang="zh-CN" sz="2800" b="0" baseline="-30000" dirty="0">
                <a:latin typeface="Times New Roman" panose="02020603050405020304" pitchFamily="18" charset="0"/>
              </a:rPr>
              <a:t>     </a:t>
            </a:r>
            <a:endParaRPr lang="en-US" altLang="zh-CN" sz="2800" b="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(725)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=(2D5)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16  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81C54BA3-A841-47D4-84F4-2B267B743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743200"/>
            <a:ext cx="89154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十进制小数转换成二进制数时，按乘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取整的方法进行。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十进制小数转换成八进制数时，按乘</a:t>
            </a:r>
            <a:r>
              <a:rPr lang="en-US" altLang="zh-CN" sz="2800" dirty="0">
                <a:latin typeface="宋体" panose="02010600030101010101" pitchFamily="2" charset="-122"/>
              </a:rPr>
              <a:t>8</a:t>
            </a:r>
            <a:r>
              <a:rPr lang="zh-CN" altLang="en-US" sz="2800" dirty="0">
                <a:latin typeface="宋体" panose="02010600030101010101" pitchFamily="2" charset="-122"/>
              </a:rPr>
              <a:t>取整的方法进行。</a:t>
            </a:r>
            <a:br>
              <a:rPr lang="zh-CN" altLang="en-US" sz="2800" dirty="0">
                <a:latin typeface="宋体" panose="02010600030101010101" pitchFamily="2" charset="-122"/>
              </a:rPr>
            </a:br>
            <a:r>
              <a:rPr lang="zh-CN" altLang="en-US" sz="2800" dirty="0">
                <a:latin typeface="宋体" panose="02010600030101010101" pitchFamily="2" charset="-122"/>
              </a:rPr>
              <a:t>十进制小数转换成十六进制小数时，按乘</a:t>
            </a:r>
            <a:r>
              <a:rPr lang="en-US" altLang="zh-CN" sz="2800" dirty="0">
                <a:latin typeface="宋体" panose="02010600030101010101" pitchFamily="2" charset="-122"/>
              </a:rPr>
              <a:t>16</a:t>
            </a:r>
            <a:r>
              <a:rPr lang="zh-CN" altLang="en-US" sz="2800" dirty="0">
                <a:latin typeface="宋体" panose="02010600030101010101" pitchFamily="2" charset="-122"/>
              </a:rPr>
              <a:t>取整的方法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进行。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D0BE6BCA-3BC8-4B82-90A1-833546269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098781"/>
            <a:ext cx="38100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(0.8125)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=(0.1101)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(0.8125)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=(0.64)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8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(0.8125)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=(0.D)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9367198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366B95A-3E41-467E-907A-C9765BFB5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7300" y="238991"/>
            <a:ext cx="7231063" cy="601663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二进制、 八进制、十六进制转换成十进制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3F05E-FCC6-4769-8281-5C96902BE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066800"/>
            <a:ext cx="8305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二进制、八进制或十六进制转换成等值的十进制数时，可按权相加的方法进行。</a:t>
            </a:r>
            <a:r>
              <a:rPr lang="zh-CN" altLang="en-US" sz="2800" b="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166A2E-7325-4893-A884-0DD221FCA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946563"/>
            <a:ext cx="89154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【</a:t>
            </a:r>
            <a:r>
              <a:rPr lang="zh-CN" altLang="en-US" sz="2800" dirty="0">
                <a:latin typeface="Times New Roman" panose="02020603050405020304" pitchFamily="18" charset="0"/>
              </a:rPr>
              <a:t>例如</a:t>
            </a:r>
            <a:r>
              <a:rPr lang="en-US" altLang="zh-CN" sz="2800" dirty="0">
                <a:latin typeface="Times New Roman" panose="02020603050405020304" pitchFamily="18" charset="0"/>
              </a:rPr>
              <a:t>】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(1011.01)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=1×2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0×2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0×2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-2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   =8+0+2+1+0+0.25=(11.25)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10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(167)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8</a:t>
            </a:r>
            <a:r>
              <a:rPr lang="en-US" altLang="zh-CN" sz="2800" dirty="0">
                <a:latin typeface="Times New Roman" panose="02020603050405020304" pitchFamily="18" charset="0"/>
              </a:rPr>
              <a:t>=1×8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6×8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+7×8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=64+48+7=(119)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br>
              <a:rPr lang="en-US" altLang="zh-CN" sz="2800" dirty="0">
                <a:latin typeface="Times New Roman" panose="02020603050405020304" pitchFamily="18" charset="0"/>
              </a:rPr>
            </a:br>
            <a:r>
              <a:rPr lang="en-US" altLang="zh-CN" sz="2800" dirty="0">
                <a:latin typeface="Times New Roman" panose="02020603050405020304" pitchFamily="18" charset="0"/>
              </a:rPr>
              <a:t>(2A.7F)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16</a:t>
            </a:r>
            <a:r>
              <a:rPr lang="en-US" altLang="zh-CN" sz="2800" dirty="0">
                <a:latin typeface="Times New Roman" panose="02020603050405020304" pitchFamily="18" charset="0"/>
              </a:rPr>
              <a:t>=2×16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10×16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7×16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</a:rPr>
              <a:t>十</a:t>
            </a:r>
            <a:r>
              <a:rPr lang="en-US" altLang="zh-CN" sz="2800" dirty="0">
                <a:latin typeface="Times New Roman" panose="02020603050405020304" pitchFamily="18" charset="0"/>
              </a:rPr>
              <a:t>15×16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-2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  =(42.4960937)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9951790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4D2EFFD-50E4-4BAC-9961-0EE5DAFB3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9368" y="274637"/>
            <a:ext cx="6469063" cy="60166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八进制、十六进制与二进制数的转换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9B9110-E0EB-4D63-AF6E-12F338CE4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66800"/>
            <a:ext cx="86106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</a:t>
            </a:r>
            <a:r>
              <a:rPr lang="zh-CN" altLang="en-US" sz="2800" dirty="0">
                <a:latin typeface="Times New Roman" panose="02020603050405020304" pitchFamily="18" charset="0"/>
              </a:rPr>
              <a:t>一位八进制数表示的数值恰好相当于三位二进制数表示的数值。</a:t>
            </a:r>
            <a:br>
              <a:rPr lang="zh-CN" altLang="en-US" sz="2800" dirty="0">
                <a:latin typeface="Times New Roman" panose="02020603050405020304" pitchFamily="18" charset="0"/>
              </a:rPr>
            </a:br>
            <a:r>
              <a:rPr lang="zh-CN" altLang="en-US" sz="2800" dirty="0">
                <a:latin typeface="Times New Roman" panose="02020603050405020304" pitchFamily="18" charset="0"/>
              </a:rPr>
              <a:t>         一位十六进制数表示的数值恰好相当于四位二进制数表示的数值。</a:t>
            </a:r>
            <a:br>
              <a:rPr lang="zh-CN" altLang="en-US" sz="2800" dirty="0">
                <a:latin typeface="Times New Roman" panose="02020603050405020304" pitchFamily="18" charset="0"/>
              </a:rPr>
            </a:br>
            <a:r>
              <a:rPr lang="zh-CN" altLang="en-US" sz="2800" dirty="0">
                <a:latin typeface="Times New Roman" panose="02020603050405020304" pitchFamily="18" charset="0"/>
              </a:rPr>
              <a:t>         因此彼此之间的转换极为方便：只要从小数点开始，分别向左右展开。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8847AC-F91F-4277-9ED9-1FF6CED80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267200"/>
            <a:ext cx="8305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【</a:t>
            </a:r>
            <a:r>
              <a:rPr lang="zh-CN" altLang="en-US" sz="2800">
                <a:latin typeface="Times New Roman" panose="02020603050405020304" pitchFamily="18" charset="0"/>
              </a:rPr>
              <a:t>例如</a:t>
            </a:r>
            <a:r>
              <a:rPr lang="en-US" altLang="zh-CN" sz="2800">
                <a:latin typeface="Times New Roman" panose="02020603050405020304" pitchFamily="18" charset="0"/>
              </a:rPr>
              <a:t>】(67</a:t>
            </a:r>
            <a:r>
              <a:rPr lang="zh-CN" altLang="en-US" sz="2800">
                <a:latin typeface="Times New Roman" panose="02020603050405020304" pitchFamily="18" charset="0"/>
              </a:rPr>
              <a:t>．</a:t>
            </a:r>
            <a:r>
              <a:rPr lang="en-US" altLang="zh-CN" sz="2800">
                <a:latin typeface="Times New Roman" panose="02020603050405020304" pitchFamily="18" charset="0"/>
              </a:rPr>
              <a:t>731)</a:t>
            </a:r>
            <a:r>
              <a:rPr lang="en-US" altLang="zh-CN" sz="2800" baseline="-30000">
                <a:latin typeface="Times New Roman" panose="02020603050405020304" pitchFamily="18" charset="0"/>
              </a:rPr>
              <a:t>8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(110  111</a:t>
            </a:r>
            <a:r>
              <a:rPr lang="zh-CN" altLang="en-US" sz="2800">
                <a:latin typeface="Times New Roman" panose="02020603050405020304" pitchFamily="18" charset="0"/>
              </a:rPr>
              <a:t>．</a:t>
            </a:r>
            <a:r>
              <a:rPr lang="en-US" altLang="zh-CN" sz="2800">
                <a:latin typeface="Times New Roman" panose="02020603050405020304" pitchFamily="18" charset="0"/>
              </a:rPr>
              <a:t>111  011  001)</a:t>
            </a:r>
            <a:r>
              <a:rPr lang="en-US" altLang="zh-CN" sz="2800" baseline="-30000">
                <a:latin typeface="Times New Roman" panose="02020603050405020304" pitchFamily="18" charset="0"/>
              </a:rPr>
              <a:t>2</a:t>
            </a:r>
            <a:br>
              <a:rPr lang="en-US" altLang="zh-CN" sz="2800">
                <a:latin typeface="Times New Roman" panose="02020603050405020304" pitchFamily="18" charset="0"/>
              </a:rPr>
            </a:br>
            <a:r>
              <a:rPr lang="en-US" altLang="zh-CN" sz="2800">
                <a:latin typeface="Times New Roman" panose="02020603050405020304" pitchFamily="18" charset="0"/>
              </a:rPr>
              <a:t>                (3AB4)</a:t>
            </a:r>
            <a:r>
              <a:rPr lang="en-US" altLang="zh-CN" sz="2800" baseline="-30000">
                <a:latin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(0011  1010  1011  0100)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712297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209A7-E336-4543-9AE7-C3B0C0774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计算机中的二进制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CF3AC2-B676-44CF-8EB5-D37F1829D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23" y="984739"/>
            <a:ext cx="8563708" cy="3722344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）机器长度：可以存放二进制的位数。</a:t>
            </a:r>
            <a:r>
              <a:rPr lang="en-US" altLang="zh-CN" dirty="0"/>
              <a:t>32</a:t>
            </a:r>
            <a:r>
              <a:rPr lang="zh-CN" altLang="zh-CN" dirty="0"/>
              <a:t>位、</a:t>
            </a:r>
            <a:r>
              <a:rPr lang="en-US" altLang="zh-CN" dirty="0"/>
              <a:t>64</a:t>
            </a:r>
            <a:r>
              <a:rPr lang="zh-CN" altLang="zh-CN" dirty="0"/>
              <a:t>位计算机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）机器数：机器表示的数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）机器的模：机器的容量，用</a:t>
            </a:r>
            <a:r>
              <a:rPr lang="en-US" altLang="zh-CN" dirty="0"/>
              <a:t>M</a:t>
            </a:r>
            <a:r>
              <a:rPr lang="zh-CN" altLang="zh-CN" dirty="0"/>
              <a:t>表示，</a:t>
            </a:r>
            <a:r>
              <a:rPr lang="en-US" altLang="zh-CN" dirty="0"/>
              <a:t>M=2</a:t>
            </a:r>
            <a:r>
              <a:rPr lang="en-US" altLang="zh-CN" baseline="30000" dirty="0"/>
              <a:t>n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971467"/>
      </p:ext>
    </p:extLst>
  </p:cSld>
  <p:clrMapOvr>
    <a:masterClrMapping/>
  </p:clrMapOvr>
  <p:transition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4C137-2FA9-464B-BD20-DDCB9961C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二 编码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348375-0C04-4DAC-96AA-2F075AFB2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67866"/>
            <a:ext cx="7772400" cy="1093444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>
                <a:solidFill>
                  <a:schemeClr val="tx1"/>
                </a:solidFill>
              </a:rPr>
              <a:t>编码的定义：数字、字母、符号在机器中的表示。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zh-CN" altLang="zh-CN" dirty="0">
                <a:solidFill>
                  <a:schemeClr val="tx1"/>
                </a:solidFill>
              </a:rPr>
              <a:t>在</a:t>
            </a:r>
            <a:r>
              <a:rPr lang="en-US" altLang="zh-CN" dirty="0">
                <a:solidFill>
                  <a:schemeClr val="tx1"/>
                </a:solidFill>
              </a:rPr>
              <a:t>8</a:t>
            </a:r>
            <a:r>
              <a:rPr lang="zh-CN" altLang="zh-CN" dirty="0">
                <a:solidFill>
                  <a:schemeClr val="tx1"/>
                </a:solidFill>
              </a:rPr>
              <a:t>位机中讲解编码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E7421B-199F-4BCB-9D18-97F36AFE167A}"/>
              </a:ext>
            </a:extLst>
          </p:cNvPr>
          <p:cNvSpPr txBox="1"/>
          <p:nvPr/>
        </p:nvSpPr>
        <p:spPr bwMode="auto">
          <a:xfrm>
            <a:off x="789709" y="2188517"/>
            <a:ext cx="727363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、无符号数编码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直接以对应的二进制表示。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47D55DA-8D33-41A0-9CDA-8EA19193B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09" y="3600427"/>
            <a:ext cx="36472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=+11101011</a:t>
            </a:r>
            <a:r>
              <a:rPr lang="zh-CN" altLang="en-US" sz="2800" dirty="0">
                <a:latin typeface="Times New Roman" panose="02020603050405020304" pitchFamily="18" charset="0"/>
              </a:rPr>
              <a:t>（真值）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CEFF92B5-6895-498C-8B60-817413DDF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6918" y="3785837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D96C429A-14DF-463F-8CD3-7B2D0CCAD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8918" y="3600427"/>
            <a:ext cx="36472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=11101011</a:t>
            </a:r>
            <a:r>
              <a:rPr lang="zh-CN" altLang="en-US" sz="2800" dirty="0">
                <a:latin typeface="Times New Roman" panose="02020603050405020304" pitchFamily="18" charset="0"/>
              </a:rPr>
              <a:t>（机器数）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30B631-F826-45BC-B5AB-147D7F1ECAD2}"/>
              </a:ext>
            </a:extLst>
          </p:cNvPr>
          <p:cNvSpPr/>
          <p:nvPr/>
        </p:nvSpPr>
        <p:spPr>
          <a:xfrm>
            <a:off x="1037256" y="4366006"/>
            <a:ext cx="6080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266700" algn="just">
              <a:spcAft>
                <a:spcPts val="0"/>
              </a:spcAft>
            </a:pPr>
            <a:r>
              <a:rPr lang="en-US" altLang="zh-CN" kern="1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tx1"/>
                </a:solidFill>
                <a:latin typeface="Times New Roman" panose="02020603050405020304" pitchFamily="18" charset="0"/>
              </a:rPr>
              <a:t>）范围</a:t>
            </a:r>
            <a:r>
              <a:rPr lang="zh-CN" altLang="en-US" kern="100" dirty="0">
                <a:solidFill>
                  <a:schemeClr val="tx1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kern="100" dirty="0">
                <a:solidFill>
                  <a:schemeClr val="tx1"/>
                </a:solidFill>
                <a:latin typeface="Times New Roman" panose="02020603050405020304" pitchFamily="18" charset="0"/>
              </a:rPr>
              <a:t>0——255</a:t>
            </a:r>
            <a:endParaRPr lang="zh-CN" altLang="zh-CN" kern="1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B27195-DED0-459D-A244-A6776B9982E2}"/>
              </a:ext>
            </a:extLst>
          </p:cNvPr>
          <p:cNvSpPr/>
          <p:nvPr/>
        </p:nvSpPr>
        <p:spPr>
          <a:xfrm>
            <a:off x="1037256" y="5055385"/>
            <a:ext cx="6080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266700" algn="just">
              <a:spcAft>
                <a:spcPts val="0"/>
              </a:spcAft>
            </a:pPr>
            <a:r>
              <a:rPr lang="en-US" altLang="zh-CN" kern="1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kern="100" dirty="0">
                <a:solidFill>
                  <a:schemeClr val="tx1"/>
                </a:solidFill>
                <a:latin typeface="Times New Roman" panose="02020603050405020304" pitchFamily="18" charset="0"/>
              </a:rPr>
              <a:t>）运算</a:t>
            </a:r>
            <a:r>
              <a:rPr lang="zh-CN" altLang="en-US" kern="100" dirty="0">
                <a:solidFill>
                  <a:schemeClr val="tx1"/>
                </a:solidFill>
                <a:latin typeface="Times New Roman" panose="02020603050405020304" pitchFamily="18" charset="0"/>
              </a:rPr>
              <a:t>：二进制的加减运算</a:t>
            </a:r>
            <a:endParaRPr lang="zh-CN" altLang="zh-CN" kern="1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5A47FC-D2EA-47A8-8181-370B6F2D9ED1}"/>
              </a:ext>
            </a:extLst>
          </p:cNvPr>
          <p:cNvSpPr/>
          <p:nvPr/>
        </p:nvSpPr>
        <p:spPr>
          <a:xfrm>
            <a:off x="1037255" y="5732295"/>
            <a:ext cx="71062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266700" algn="just">
              <a:spcAft>
                <a:spcPts val="0"/>
              </a:spcAft>
            </a:pPr>
            <a:r>
              <a:rPr lang="en-US" altLang="zh-CN" kern="100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zh-CN" kern="100" dirty="0">
                <a:solidFill>
                  <a:schemeClr val="tx1"/>
                </a:solidFill>
                <a:latin typeface="Times New Roman" panose="02020603050405020304" pitchFamily="18" charset="0"/>
              </a:rPr>
              <a:t>）错误处理</a:t>
            </a:r>
            <a:r>
              <a:rPr lang="en-US" altLang="zh-CN" kern="100" dirty="0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kern="100" dirty="0">
                <a:solidFill>
                  <a:schemeClr val="tx1"/>
                </a:solidFill>
                <a:latin typeface="Times New Roman" panose="02020603050405020304" pitchFamily="18" charset="0"/>
              </a:rPr>
              <a:t>超出范围，</a:t>
            </a:r>
            <a:r>
              <a:rPr lang="zh-CN" altLang="en-US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进位和借位</a:t>
            </a:r>
            <a:endParaRPr lang="zh-CN" altLang="zh-CN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95096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utoUpdateAnimBg="0"/>
      <p:bldP spid="6" grpId="0" animBg="1"/>
      <p:bldP spid="7" grpId="0" autoUpdateAnimBg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4DFCAE5A-0880-4479-B79B-93B3BB035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216" y="280987"/>
            <a:ext cx="5629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、符号二进制数的编码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5044161D-C769-4F2A-8D22-F61D9B7F7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=+1101011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B5CF8FBC-6178-465E-84B1-4998E7012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6764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（真值）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0B8D668C-A78C-4490-907B-CD83681D8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828800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00427D56-38D0-4304-8D40-D94B94E83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676400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=0  1101011</a:t>
            </a: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C592FAC0-8CF6-4294-8523-45EB8364130D}"/>
              </a:ext>
            </a:extLst>
          </p:cNvPr>
          <p:cNvGrpSpPr>
            <a:grpSpLocks/>
          </p:cNvGrpSpPr>
          <p:nvPr/>
        </p:nvGrpSpPr>
        <p:grpSpPr bwMode="auto">
          <a:xfrm>
            <a:off x="5313360" y="2209800"/>
            <a:ext cx="1371600" cy="596900"/>
            <a:chOff x="3346" y="1391"/>
            <a:chExt cx="864" cy="376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5E36799D-1881-41A0-9AB7-CAC3FF496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391"/>
              <a:ext cx="433" cy="240"/>
            </a:xfrm>
            <a:custGeom>
              <a:avLst/>
              <a:gdLst>
                <a:gd name="T0" fmla="*/ 0 w 432"/>
                <a:gd name="T1" fmla="*/ 0 h 240"/>
                <a:gd name="T2" fmla="*/ 0 w 432"/>
                <a:gd name="T3" fmla="*/ 240 h 240"/>
                <a:gd name="T4" fmla="*/ 438 w 432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240">
                  <a:moveTo>
                    <a:pt x="0" y="0"/>
                  </a:moveTo>
                  <a:lnTo>
                    <a:pt x="0" y="240"/>
                  </a:lnTo>
                  <a:lnTo>
                    <a:pt x="432" y="240"/>
                  </a:lnTo>
                </a:path>
              </a:pathLst>
            </a:custGeom>
            <a:noFill/>
            <a:ln w="38100" cap="flat" cmpd="sng">
              <a:solidFill>
                <a:schemeClr val="bg1"/>
              </a:solidFill>
              <a:prstDash val="solid"/>
              <a:miter lim="800000"/>
              <a:headEnd type="stealth" w="sm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D55843B2-136F-4313-A39F-4E28BA59F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" y="1440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符号位</a:t>
              </a:r>
            </a:p>
          </p:txBody>
        </p:sp>
      </p:grpSp>
      <p:sp>
        <p:nvSpPr>
          <p:cNvPr id="13" name="Text Box 12">
            <a:extLst>
              <a:ext uri="{FF2B5EF4-FFF2-40B4-BE49-F238E27FC236}">
                <a16:creationId xmlns:a16="http://schemas.microsoft.com/office/drawing/2014/main" id="{CA4B8184-1675-4648-B514-8569A962E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6764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（机器数）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B2A0A3BA-D377-471B-8A61-C6BDF0402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124200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BE35B12C-4BBD-4360-86C7-0714D1CBC44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895600"/>
            <a:ext cx="3810000" cy="519113"/>
            <a:chOff x="336" y="1824"/>
            <a:chExt cx="2400" cy="327"/>
          </a:xfrm>
        </p:grpSpPr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B5BC8542-85AE-4F10-9D97-B853556F5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824"/>
              <a:ext cx="18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1011011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DE6CFE7D-5A3D-45F2-94CD-6D04E5548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24"/>
              <a:ext cx="10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（真值）</a:t>
              </a:r>
            </a:p>
          </p:txBody>
        </p:sp>
      </p:grpSp>
      <p:grpSp>
        <p:nvGrpSpPr>
          <p:cNvPr id="18" name="Group 19">
            <a:extLst>
              <a:ext uri="{FF2B5EF4-FFF2-40B4-BE49-F238E27FC236}">
                <a16:creationId xmlns:a16="http://schemas.microsoft.com/office/drawing/2014/main" id="{6894BCF1-391B-4464-8064-A50B12BB30CD}"/>
              </a:ext>
            </a:extLst>
          </p:cNvPr>
          <p:cNvGrpSpPr>
            <a:grpSpLocks/>
          </p:cNvGrpSpPr>
          <p:nvPr/>
        </p:nvGrpSpPr>
        <p:grpSpPr bwMode="auto">
          <a:xfrm>
            <a:off x="5022850" y="2930525"/>
            <a:ext cx="3962400" cy="519113"/>
            <a:chOff x="2832" y="2448"/>
            <a:chExt cx="2496" cy="327"/>
          </a:xfrm>
        </p:grpSpPr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FCCE45C7-7436-4168-8E11-529A6DF22C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448"/>
              <a:ext cx="15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 1011011</a:t>
              </a: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8AC33A2F-6D28-4BEB-9F17-F6126A486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448"/>
              <a:ext cx="12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（机器数）</a:t>
              </a:r>
            </a:p>
          </p:txBody>
        </p:sp>
      </p:grpSp>
      <p:sp>
        <p:nvSpPr>
          <p:cNvPr id="21" name="Text Box 20">
            <a:extLst>
              <a:ext uri="{FF2B5EF4-FFF2-40B4-BE49-F238E27FC236}">
                <a16:creationId xmlns:a16="http://schemas.microsoft.com/office/drawing/2014/main" id="{3CD3143E-89E3-485E-A758-64E82D632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029200"/>
            <a:ext cx="8382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在数字系统中，表示机器数的方法很多，常用的有原码、反码和补码。</a:t>
            </a:r>
          </a:p>
        </p:txBody>
      </p:sp>
      <p:grpSp>
        <p:nvGrpSpPr>
          <p:cNvPr id="22" name="Group 23">
            <a:extLst>
              <a:ext uri="{FF2B5EF4-FFF2-40B4-BE49-F238E27FC236}">
                <a16:creationId xmlns:a16="http://schemas.microsoft.com/office/drawing/2014/main" id="{6B40F314-04C5-42EC-8804-A37448DC6AB6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505200"/>
            <a:ext cx="2133600" cy="1052513"/>
            <a:chOff x="960" y="2208"/>
            <a:chExt cx="1344" cy="663"/>
          </a:xfrm>
        </p:grpSpPr>
        <p:sp>
          <p:nvSpPr>
            <p:cNvPr id="23" name="AutoShape 21">
              <a:extLst>
                <a:ext uri="{FF2B5EF4-FFF2-40B4-BE49-F238E27FC236}">
                  <a16:creationId xmlns:a16="http://schemas.microsoft.com/office/drawing/2014/main" id="{B8142305-587A-4F55-A788-14B28D7EC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208"/>
              <a:ext cx="96" cy="336"/>
            </a:xfrm>
            <a:prstGeom prst="upArrow">
              <a:avLst>
                <a:gd name="adj1" fmla="val 50000"/>
                <a:gd name="adj2" fmla="val 8750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FD03D230-1766-452E-A17E-3D96FE51E0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544"/>
              <a:ext cx="13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二进制数</a:t>
              </a:r>
            </a:p>
          </p:txBody>
        </p:sp>
      </p:grpSp>
      <p:grpSp>
        <p:nvGrpSpPr>
          <p:cNvPr id="25" name="Group 27">
            <a:extLst>
              <a:ext uri="{FF2B5EF4-FFF2-40B4-BE49-F238E27FC236}">
                <a16:creationId xmlns:a16="http://schemas.microsoft.com/office/drawing/2014/main" id="{5092ADA3-DBEB-47B1-A7FC-4F430AB82B65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505200"/>
            <a:ext cx="2895600" cy="1052513"/>
            <a:chOff x="3264" y="2160"/>
            <a:chExt cx="1824" cy="663"/>
          </a:xfrm>
        </p:grpSpPr>
        <p:sp>
          <p:nvSpPr>
            <p:cNvPr id="26" name="AutoShape 25">
              <a:extLst>
                <a:ext uri="{FF2B5EF4-FFF2-40B4-BE49-F238E27FC236}">
                  <a16:creationId xmlns:a16="http://schemas.microsoft.com/office/drawing/2014/main" id="{C005EE6E-D2B1-4F00-A841-60EC45B16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96" cy="336"/>
            </a:xfrm>
            <a:prstGeom prst="upArrow">
              <a:avLst>
                <a:gd name="adj1" fmla="val 50000"/>
                <a:gd name="adj2" fmla="val 8750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BAD0581A-F20F-4AC9-9D9B-B44AAF171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496"/>
              <a:ext cx="18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二进制数的编码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942423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nimBg="1"/>
      <p:bldP spid="9" grpId="0" autoUpdateAnimBg="0"/>
      <p:bldP spid="13" grpId="0" autoUpdateAnimBg="0"/>
      <p:bldP spid="14" grpId="0" animBg="1"/>
      <p:bldP spid="2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4B58278-2139-4148-981D-8C1511147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2224" y="368300"/>
            <a:ext cx="2392363" cy="4572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）、原码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F669276-425B-40FE-9145-04612B646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412" y="1012538"/>
            <a:ext cx="82296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当</a:t>
            </a:r>
            <a:r>
              <a:rPr lang="en-US" altLang="zh-CN" sz="2800" dirty="0">
                <a:latin typeface="Times New Roman" panose="02020603050405020304" pitchFamily="18" charset="0"/>
              </a:rPr>
              <a:t>X&gt;0</a:t>
            </a:r>
            <a:r>
              <a:rPr lang="zh-CN" altLang="en-US" sz="2800" dirty="0">
                <a:latin typeface="Times New Roman" panose="02020603050405020304" pitchFamily="18" charset="0"/>
              </a:rPr>
              <a:t>时，</a:t>
            </a:r>
            <a:r>
              <a:rPr lang="en-US" altLang="zh-CN" sz="2800" dirty="0">
                <a:latin typeface="Times New Roman" panose="02020603050405020304" pitchFamily="18" charset="0"/>
              </a:rPr>
              <a:t>[X]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800" dirty="0">
                <a:latin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</a:rPr>
              <a:t>的区别仅在于符号位用</a:t>
            </a:r>
            <a:r>
              <a:rPr lang="en-US" altLang="zh-CN" sz="28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表示；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当</a:t>
            </a:r>
            <a:r>
              <a:rPr lang="en-US" altLang="zh-CN" sz="2800" dirty="0">
                <a:latin typeface="Times New Roman" panose="02020603050405020304" pitchFamily="18" charset="0"/>
              </a:rPr>
              <a:t>X&lt;0</a:t>
            </a:r>
            <a:r>
              <a:rPr lang="zh-CN" altLang="en-US" sz="2800" dirty="0">
                <a:latin typeface="Times New Roman" panose="02020603050405020304" pitchFamily="18" charset="0"/>
              </a:rPr>
              <a:t>时，</a:t>
            </a:r>
            <a:r>
              <a:rPr lang="en-US" altLang="zh-CN" sz="2800" dirty="0">
                <a:latin typeface="Times New Roman" panose="02020603050405020304" pitchFamily="18" charset="0"/>
              </a:rPr>
              <a:t>[X]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800" dirty="0">
                <a:latin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</a:rPr>
              <a:t>的区别仅在于符号位用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表示；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90CF78B-7626-4E1F-9DFC-EFEAF7C7D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6862" y="2401601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= +1001010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1BE621A5-92E4-4323-B152-FD2A316E2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399" y="2477801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sz="2800" dirty="0">
                <a:latin typeface="Times New Roman" panose="02020603050405020304" pitchFamily="18" charset="0"/>
              </a:rPr>
              <a:t>=0  1001010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F8995C52-0DA4-4E58-B6BA-607C83BC0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599" y="3252501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 dirty="0">
                <a:latin typeface="Times New Roman" panose="02020603050405020304" pitchFamily="18" charset="0"/>
              </a:rPr>
              <a:t>1011011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F200E31F-39EE-4CFC-9A22-3C529B84E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137" y="3249326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  1011011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35322B06-71F4-48C6-80C9-F124DE019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874" y="4141501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</a:rPr>
              <a:t>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 dirty="0">
                <a:latin typeface="Times New Roman" panose="02020603050405020304" pitchFamily="18" charset="0"/>
              </a:rPr>
              <a:t>1101001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C348A51F-DB81-44A0-BF0C-52E6663BB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7687" y="4141501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</a:rPr>
              <a:t>1101001</a:t>
            </a:r>
          </a:p>
        </p:txBody>
      </p:sp>
      <p:sp>
        <p:nvSpPr>
          <p:cNvPr id="12" name="Text Box 24">
            <a:extLst>
              <a:ext uri="{FF2B5EF4-FFF2-40B4-BE49-F238E27FC236}">
                <a16:creationId xmlns:a16="http://schemas.microsoft.com/office/drawing/2014/main" id="{80C2BE6E-25B7-494E-BD74-B216F9259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812" y="5378163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零的原码形式</a:t>
            </a:r>
          </a:p>
        </p:txBody>
      </p:sp>
      <p:sp>
        <p:nvSpPr>
          <p:cNvPr id="13" name="Text Box 25">
            <a:extLst>
              <a:ext uri="{FF2B5EF4-FFF2-40B4-BE49-F238E27FC236}">
                <a16:creationId xmlns:a16="http://schemas.microsoft.com/office/drawing/2014/main" id="{13ABB4F3-814D-4905-B119-F0DDF418C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0062" y="5122576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[+0]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sz="2800" dirty="0">
                <a:latin typeface="Times New Roman" panose="02020603050405020304" pitchFamily="18" charset="0"/>
              </a:rPr>
              <a:t>=0  0000000</a:t>
            </a:r>
          </a:p>
        </p:txBody>
      </p:sp>
      <p:sp>
        <p:nvSpPr>
          <p:cNvPr id="14" name="Text Box 26">
            <a:extLst>
              <a:ext uri="{FF2B5EF4-FFF2-40B4-BE49-F238E27FC236}">
                <a16:creationId xmlns:a16="http://schemas.microsoft.com/office/drawing/2014/main" id="{50B49C56-DE46-4DCE-9DC0-FE8F577AC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0062" y="5808376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 dirty="0">
                <a:latin typeface="Times New Roman" panose="02020603050405020304" pitchFamily="18" charset="0"/>
              </a:rPr>
              <a:t>0]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sz="2800" dirty="0">
                <a:latin typeface="Times New Roman" panose="02020603050405020304" pitchFamily="18" charset="0"/>
              </a:rPr>
              <a:t>=1  0000000</a:t>
            </a:r>
          </a:p>
        </p:txBody>
      </p:sp>
    </p:spTree>
    <p:extLst>
      <p:ext uri="{BB962C8B-B14F-4D97-AF65-F5344CB8AC3E}">
        <p14:creationId xmlns:p14="http://schemas.microsoft.com/office/powerpoint/2010/main" val="66407776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FDFBFCF-9FBB-4A16-A32F-0BC2BF060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3945" y="286472"/>
            <a:ext cx="2469718" cy="525463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）、反码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7906CF5-25B0-402D-9D16-CE09E2C8C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908773"/>
            <a:ext cx="541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符号位与原码的符号位相同；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E996B8A1-4A97-4F1D-AD7D-B10E5D135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463" y="1442173"/>
            <a:ext cx="678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正数：反码的数值部分与原码按位相同；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0DB55FA7-B379-4008-96FE-C9401C86D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463" y="1993035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负数：反码的数值部分是原码的按位求反。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E18E988-AAB2-4ED7-833D-2A03BD4C1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513" y="2631210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=+1001010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CDEDDCB3-5681-4DAA-A381-0548D10ED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25" y="2648673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sz="2800" dirty="0">
                <a:latin typeface="Times New Roman" panose="02020603050405020304" pitchFamily="18" charset="0"/>
              </a:rPr>
              <a:t>=0  1001010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30523880-64DE-4BE7-B427-9F80F60FA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463" y="3632923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 dirty="0">
                <a:latin typeface="Times New Roman" panose="02020603050405020304" pitchFamily="18" charset="0"/>
              </a:rPr>
              <a:t>1011011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BED2290B-EC22-4763-806C-8F58D56B1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600" y="359006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  0100100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DAFDD862-574B-4E5F-9B27-96BAC8176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453660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</a:rPr>
              <a:t>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 dirty="0">
                <a:latin typeface="Times New Roman" panose="02020603050405020304" pitchFamily="18" charset="0"/>
              </a:rPr>
              <a:t>1101001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0E40C8EF-AEBA-4488-95B9-D1B3D2340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50" y="4498110"/>
            <a:ext cx="2771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[X</a:t>
            </a:r>
            <a:r>
              <a:rPr lang="en-US" altLang="zh-CN" sz="2800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>
                <a:latin typeface="Times New Roman" panose="02020603050405020304" pitchFamily="18" charset="0"/>
              </a:rPr>
              <a:t>]</a:t>
            </a:r>
            <a:r>
              <a:rPr lang="zh-CN" altLang="en-US" sz="2800" baseline="-25000">
                <a:latin typeface="Times New Roman" panose="02020603050405020304" pitchFamily="18" charset="0"/>
              </a:rPr>
              <a:t>反</a:t>
            </a:r>
            <a:r>
              <a:rPr lang="en-US" altLang="zh-CN" sz="2800">
                <a:latin typeface="Times New Roman" panose="02020603050405020304" pitchFamily="18" charset="0"/>
              </a:rPr>
              <a:t>=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1 0010110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4" name="Text Box 28">
            <a:extLst>
              <a:ext uri="{FF2B5EF4-FFF2-40B4-BE49-F238E27FC236}">
                <a16:creationId xmlns:a16="http://schemas.microsoft.com/office/drawing/2014/main" id="{FB4E0DCE-C714-401A-9E81-105DFEC36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5350813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零的反码形式</a:t>
            </a:r>
          </a:p>
        </p:txBody>
      </p:sp>
      <p:sp>
        <p:nvSpPr>
          <p:cNvPr id="15" name="Text Box 29">
            <a:extLst>
              <a:ext uri="{FF2B5EF4-FFF2-40B4-BE49-F238E27FC236}">
                <a16:creationId xmlns:a16="http://schemas.microsoft.com/office/drawing/2014/main" id="{CCDDB83D-C629-4C80-80D3-22AD8CE13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4694" y="5091257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[+0]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sz="2800" dirty="0">
                <a:latin typeface="Times New Roman" panose="02020603050405020304" pitchFamily="18" charset="0"/>
              </a:rPr>
              <a:t>=0 0000000</a:t>
            </a:r>
          </a:p>
        </p:txBody>
      </p:sp>
      <p:sp>
        <p:nvSpPr>
          <p:cNvPr id="16" name="Text Box 30">
            <a:extLst>
              <a:ext uri="{FF2B5EF4-FFF2-40B4-BE49-F238E27FC236}">
                <a16:creationId xmlns:a16="http://schemas.microsoft.com/office/drawing/2014/main" id="{540641DD-1434-4874-A98E-E5C12F7A5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294" y="5796107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 dirty="0">
                <a:latin typeface="Times New Roman" panose="02020603050405020304" pitchFamily="18" charset="0"/>
              </a:rPr>
              <a:t>0]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sz="2800" dirty="0">
                <a:latin typeface="Times New Roman" panose="02020603050405020304" pitchFamily="18" charset="0"/>
              </a:rPr>
              <a:t>=1 1111111</a:t>
            </a:r>
          </a:p>
        </p:txBody>
      </p:sp>
    </p:spTree>
    <p:extLst>
      <p:ext uri="{BB962C8B-B14F-4D97-AF65-F5344CB8AC3E}">
        <p14:creationId xmlns:p14="http://schemas.microsoft.com/office/powerpoint/2010/main" val="280376835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8C75F1E8-B7FF-4D53-A269-2CC0BF3EE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071" y="219869"/>
            <a:ext cx="2370137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）、补码</a:t>
            </a: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EE5BB4A8-C191-4AA9-B8B1-E7448963A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388" y="1141413"/>
            <a:ext cx="5832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符号位与原码的符号位相同；</a:t>
            </a:r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A6284CC3-4607-478E-99BC-90E71495E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1846263"/>
            <a:ext cx="73104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正数：补码的数值部分与原码按位相同；</a:t>
            </a: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id="{E56346FC-B867-45C4-B3A3-7AAAA8391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5" y="2708275"/>
            <a:ext cx="772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负数：补码的数值部分是原码的按位求反加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8" name="Text Box 18">
            <a:extLst>
              <a:ext uri="{FF2B5EF4-FFF2-40B4-BE49-F238E27FC236}">
                <a16:creationId xmlns:a16="http://schemas.microsoft.com/office/drawing/2014/main" id="{054C3C90-40F8-4506-8FBF-ADDC9CA58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513" y="34940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= +1011011</a:t>
            </a:r>
          </a:p>
        </p:txBody>
      </p:sp>
      <p:sp>
        <p:nvSpPr>
          <p:cNvPr id="9" name="Text Box 19">
            <a:extLst>
              <a:ext uri="{FF2B5EF4-FFF2-40B4-BE49-F238E27FC236}">
                <a16:creationId xmlns:a16="http://schemas.microsoft.com/office/drawing/2014/main" id="{A7CF1808-F32F-4631-B428-77BADFA46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46233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dirty="0">
                <a:latin typeface="Times New Roman" panose="02020603050405020304" pitchFamily="18" charset="0"/>
              </a:rPr>
              <a:t>=0 1011011</a:t>
            </a:r>
          </a:p>
        </p:txBody>
      </p:sp>
      <p:sp>
        <p:nvSpPr>
          <p:cNvPr id="10" name="Text Box 20">
            <a:extLst>
              <a:ext uri="{FF2B5EF4-FFF2-40B4-BE49-F238E27FC236}">
                <a16:creationId xmlns:a16="http://schemas.microsoft.com/office/drawing/2014/main" id="{ECEC5881-0D18-433F-8798-8BEEA7ECB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27513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 dirty="0">
                <a:latin typeface="Times New Roman" panose="02020603050405020304" pitchFamily="18" charset="0"/>
              </a:rPr>
              <a:t>1101001</a:t>
            </a:r>
          </a:p>
        </p:txBody>
      </p:sp>
      <p:sp>
        <p:nvSpPr>
          <p:cNvPr id="11" name="Text Box 21">
            <a:extLst>
              <a:ext uri="{FF2B5EF4-FFF2-40B4-BE49-F238E27FC236}">
                <a16:creationId xmlns:a16="http://schemas.microsoft.com/office/drawing/2014/main" id="{4B3A7F6C-4258-43CF-8188-1FCB31396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4183063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 0010111</a:t>
            </a:r>
          </a:p>
        </p:txBody>
      </p:sp>
      <p:sp>
        <p:nvSpPr>
          <p:cNvPr id="14" name="Text Box 27">
            <a:extLst>
              <a:ext uri="{FF2B5EF4-FFF2-40B4-BE49-F238E27FC236}">
                <a16:creationId xmlns:a16="http://schemas.microsoft.com/office/drawing/2014/main" id="{0B469812-45A4-4A02-B4D5-DC148BEA8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532288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零的补码形式</a:t>
            </a:r>
          </a:p>
        </p:txBody>
      </p:sp>
      <p:sp>
        <p:nvSpPr>
          <p:cNvPr id="15" name="Text Box 28">
            <a:extLst>
              <a:ext uri="{FF2B5EF4-FFF2-40B4-BE49-F238E27FC236}">
                <a16:creationId xmlns:a16="http://schemas.microsoft.com/office/drawing/2014/main" id="{E2B85F98-E76E-4504-8E92-F4A8DA78E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6565" y="5295555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[0]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dirty="0">
                <a:latin typeface="Times New Roman" panose="02020603050405020304" pitchFamily="18" charset="0"/>
              </a:rPr>
              <a:t>=0  00000000</a:t>
            </a:r>
          </a:p>
        </p:txBody>
      </p:sp>
    </p:spTree>
    <p:extLst>
      <p:ext uri="{BB962C8B-B14F-4D97-AF65-F5344CB8AC3E}">
        <p14:creationId xmlns:p14="http://schemas.microsoft.com/office/powerpoint/2010/main" val="228778494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4" grpId="0" autoUpdateAnimBg="0"/>
      <p:bldP spid="1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08555CC-DC57-4647-8F27-8294B63A6B4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51955" y="83991"/>
            <a:ext cx="1730375" cy="44926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例如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】</a:t>
            </a:r>
          </a:p>
        </p:txBody>
      </p:sp>
      <p:grpSp>
        <p:nvGrpSpPr>
          <p:cNvPr id="5" name="Group 29">
            <a:extLst>
              <a:ext uri="{FF2B5EF4-FFF2-40B4-BE49-F238E27FC236}">
                <a16:creationId xmlns:a16="http://schemas.microsoft.com/office/drawing/2014/main" id="{D55A5E0B-E563-4FA5-B5AE-BB617A74BD19}"/>
              </a:ext>
            </a:extLst>
          </p:cNvPr>
          <p:cNvGrpSpPr>
            <a:grpSpLocks/>
          </p:cNvGrpSpPr>
          <p:nvPr/>
        </p:nvGrpSpPr>
        <p:grpSpPr bwMode="auto">
          <a:xfrm>
            <a:off x="114301" y="678151"/>
            <a:ext cx="9144000" cy="6019800"/>
            <a:chOff x="0" y="528"/>
            <a:chExt cx="5760" cy="3792"/>
          </a:xfrm>
        </p:grpSpPr>
        <p:grpSp>
          <p:nvGrpSpPr>
            <p:cNvPr id="6" name="Group 18">
              <a:extLst>
                <a:ext uri="{FF2B5EF4-FFF2-40B4-BE49-F238E27FC236}">
                  <a16:creationId xmlns:a16="http://schemas.microsoft.com/office/drawing/2014/main" id="{28AFE0EE-9159-4F63-9643-B474D3663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28"/>
              <a:ext cx="5760" cy="3792"/>
              <a:chOff x="0" y="528"/>
              <a:chExt cx="5760" cy="3792"/>
            </a:xfrm>
          </p:grpSpPr>
          <p:sp>
            <p:nvSpPr>
              <p:cNvPr id="9" name="Line 4">
                <a:extLst>
                  <a:ext uri="{FF2B5EF4-FFF2-40B4-BE49-F238E27FC236}">
                    <a16:creationId xmlns:a16="http://schemas.microsoft.com/office/drawing/2014/main" id="{7F5D64AD-1B32-4D04-A93D-A867E5E600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864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 Box 5">
                <a:extLst>
                  <a:ext uri="{FF2B5EF4-FFF2-40B4-BE49-F238E27FC236}">
                    <a16:creationId xmlns:a16="http://schemas.microsoft.com/office/drawing/2014/main" id="{A756F1B1-9CAB-402B-B7DB-8DF1091AC9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528"/>
                <a:ext cx="220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Times New Roman" panose="02020603050405020304" pitchFamily="18" charset="0"/>
                  </a:rPr>
                  <a:t>八位二进制数码表示</a:t>
                </a:r>
              </a:p>
            </p:txBody>
          </p:sp>
          <p:sp>
            <p:nvSpPr>
              <p:cNvPr id="11" name="Text Box 6">
                <a:extLst>
                  <a:ext uri="{FF2B5EF4-FFF2-40B4-BE49-F238E27FC236}">
                    <a16:creationId xmlns:a16="http://schemas.microsoft.com/office/drawing/2014/main" id="{6B475E17-BAD6-48DE-91AB-7258493E74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912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0 0 0 0 0 0 0 0</a:t>
                </a:r>
              </a:p>
            </p:txBody>
          </p:sp>
          <p:sp>
            <p:nvSpPr>
              <p:cNvPr id="12" name="Text Box 8">
                <a:extLst>
                  <a:ext uri="{FF2B5EF4-FFF2-40B4-BE49-F238E27FC236}">
                    <a16:creationId xmlns:a16="http://schemas.microsoft.com/office/drawing/2014/main" id="{154879F1-B38B-48C1-B886-170ADB5F58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1200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0 0 0 0 0 0 0 1</a:t>
                </a:r>
              </a:p>
            </p:txBody>
          </p:sp>
          <p:sp>
            <p:nvSpPr>
              <p:cNvPr id="13" name="Text Box 9">
                <a:extLst>
                  <a:ext uri="{FF2B5EF4-FFF2-40B4-BE49-F238E27FC236}">
                    <a16:creationId xmlns:a16="http://schemas.microsoft.com/office/drawing/2014/main" id="{D78AF116-19FF-4A69-B82E-782A91C778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1497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0 0 0 0 0 0 1 0</a:t>
                </a:r>
              </a:p>
            </p:txBody>
          </p:sp>
          <p:sp>
            <p:nvSpPr>
              <p:cNvPr id="14" name="Text Box 10">
                <a:extLst>
                  <a:ext uri="{FF2B5EF4-FFF2-40B4-BE49-F238E27FC236}">
                    <a16:creationId xmlns:a16="http://schemas.microsoft.com/office/drawing/2014/main" id="{2987C3E0-6F04-4B8D-AC24-5857210AC5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2208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0 1 1 1 1 1 1 0</a:t>
                </a:r>
              </a:p>
            </p:txBody>
          </p:sp>
          <p:sp>
            <p:nvSpPr>
              <p:cNvPr id="15" name="Text Box 11">
                <a:extLst>
                  <a:ext uri="{FF2B5EF4-FFF2-40B4-BE49-F238E27FC236}">
                    <a16:creationId xmlns:a16="http://schemas.microsoft.com/office/drawing/2014/main" id="{F3EBC2CC-4764-4200-9776-FD5AEC4B54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2496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0 1 1 1 1 1 1 1</a:t>
                </a:r>
              </a:p>
            </p:txBody>
          </p:sp>
          <p:sp>
            <p:nvSpPr>
              <p:cNvPr id="16" name="Text Box 12">
                <a:extLst>
                  <a:ext uri="{FF2B5EF4-FFF2-40B4-BE49-F238E27FC236}">
                    <a16:creationId xmlns:a16="http://schemas.microsoft.com/office/drawing/2014/main" id="{DB6CCE00-A2B4-4277-8A97-46F273DB9B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2784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1 0 0 0 0 0 0 0</a:t>
                </a:r>
              </a:p>
            </p:txBody>
          </p:sp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85043075-B0F1-4C7D-A1A8-BB2E1B1B6F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3033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1 0 0 0 0 0 0 1</a:t>
                </a:r>
              </a:p>
            </p:txBody>
          </p:sp>
          <p:sp>
            <p:nvSpPr>
              <p:cNvPr id="18" name="Text Box 14">
                <a:extLst>
                  <a:ext uri="{FF2B5EF4-FFF2-40B4-BE49-F238E27FC236}">
                    <a16:creationId xmlns:a16="http://schemas.microsoft.com/office/drawing/2014/main" id="{524B0F6B-40FD-45CB-ABAF-73315642CA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3600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1 1 1 1 1 1 1 0</a:t>
                </a:r>
              </a:p>
            </p:txBody>
          </p:sp>
          <p:sp>
            <p:nvSpPr>
              <p:cNvPr id="19" name="Text Box 15">
                <a:extLst>
                  <a:ext uri="{FF2B5EF4-FFF2-40B4-BE49-F238E27FC236}">
                    <a16:creationId xmlns:a16="http://schemas.microsoft.com/office/drawing/2014/main" id="{5E102779-7369-4DFF-B8F4-B1D247316D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3840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1 1 1 1 1 1 1 1</a:t>
                </a:r>
              </a:p>
            </p:txBody>
          </p:sp>
          <p:sp>
            <p:nvSpPr>
              <p:cNvPr id="20" name="Line 16">
                <a:extLst>
                  <a:ext uri="{FF2B5EF4-FFF2-40B4-BE49-F238E27FC236}">
                    <a16:creationId xmlns:a16="http://schemas.microsoft.com/office/drawing/2014/main" id="{895D26A6-D6EE-4CED-AB60-4E959318D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822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Line 17">
                <a:extLst>
                  <a:ext uri="{FF2B5EF4-FFF2-40B4-BE49-F238E27FC236}">
                    <a16:creationId xmlns:a16="http://schemas.microsoft.com/office/drawing/2014/main" id="{F242E270-C8DE-486C-A5F9-426A3A03B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5" y="555"/>
                <a:ext cx="0" cy="3765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Text Box 27">
              <a:extLst>
                <a:ext uri="{FF2B5EF4-FFF2-40B4-BE49-F238E27FC236}">
                  <a16:creationId xmlns:a16="http://schemas.microsoft.com/office/drawing/2014/main" id="{57B23F24-5585-4DF4-AD12-E239B5BBAF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896"/>
              <a:ext cx="388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28">
              <a:extLst>
                <a:ext uri="{FF2B5EF4-FFF2-40B4-BE49-F238E27FC236}">
                  <a16:creationId xmlns:a16="http://schemas.microsoft.com/office/drawing/2014/main" id="{D7A60367-DC08-4774-A834-107C8DAEA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" y="3331"/>
              <a:ext cx="388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" name="Group 30">
            <a:extLst>
              <a:ext uri="{FF2B5EF4-FFF2-40B4-BE49-F238E27FC236}">
                <a16:creationId xmlns:a16="http://schemas.microsoft.com/office/drawing/2014/main" id="{03234532-9FC8-4348-A02C-E8CBBE1DD982}"/>
              </a:ext>
            </a:extLst>
          </p:cNvPr>
          <p:cNvGrpSpPr>
            <a:grpSpLocks/>
          </p:cNvGrpSpPr>
          <p:nvPr/>
        </p:nvGrpSpPr>
        <p:grpSpPr bwMode="auto">
          <a:xfrm>
            <a:off x="3394076" y="684501"/>
            <a:ext cx="1695450" cy="6013450"/>
            <a:chOff x="2066" y="532"/>
            <a:chExt cx="1068" cy="3788"/>
          </a:xfrm>
        </p:grpSpPr>
        <p:sp>
          <p:nvSpPr>
            <p:cNvPr id="23" name="Text Box 31">
              <a:extLst>
                <a:ext uri="{FF2B5EF4-FFF2-40B4-BE49-F238E27FC236}">
                  <a16:creationId xmlns:a16="http://schemas.microsoft.com/office/drawing/2014/main" id="{0A0316C5-D4BD-44AF-836F-A6E918A32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6" y="532"/>
              <a:ext cx="10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无符号数</a:t>
              </a:r>
            </a:p>
          </p:txBody>
        </p:sp>
        <p:sp>
          <p:nvSpPr>
            <p:cNvPr id="24" name="Line 32">
              <a:extLst>
                <a:ext uri="{FF2B5EF4-FFF2-40B4-BE49-F238E27FC236}">
                  <a16:creationId xmlns:a16="http://schemas.microsoft.com/office/drawing/2014/main" id="{03BAAE84-5BF2-4510-B685-592D37A83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576"/>
              <a:ext cx="0" cy="37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5" name="Text Box 33">
            <a:extLst>
              <a:ext uri="{FF2B5EF4-FFF2-40B4-BE49-F238E27FC236}">
                <a16:creationId xmlns:a16="http://schemas.microsoft.com/office/drawing/2014/main" id="{87DF3777-D56D-46AB-8373-2C70A6AAC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314" y="1303626"/>
            <a:ext cx="830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+0</a:t>
            </a:r>
          </a:p>
        </p:txBody>
      </p:sp>
      <p:sp>
        <p:nvSpPr>
          <p:cNvPr id="26" name="Text Box 34">
            <a:extLst>
              <a:ext uri="{FF2B5EF4-FFF2-40B4-BE49-F238E27FC236}">
                <a16:creationId xmlns:a16="http://schemas.microsoft.com/office/drawing/2014/main" id="{EFD6ED1D-A7C5-471A-9AE3-A839935B0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1" y="1735426"/>
            <a:ext cx="830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" name="Text Box 35">
            <a:extLst>
              <a:ext uri="{FF2B5EF4-FFF2-40B4-BE49-F238E27FC236}">
                <a16:creationId xmlns:a16="http://schemas.microsoft.com/office/drawing/2014/main" id="{650BF38F-3F9C-4653-B438-6DE3DF8B4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0326" y="2186276"/>
            <a:ext cx="830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" name="Text Box 36">
            <a:extLst>
              <a:ext uri="{FF2B5EF4-FFF2-40B4-BE49-F238E27FC236}">
                <a16:creationId xmlns:a16="http://schemas.microsoft.com/office/drawing/2014/main" id="{92291274-E5CC-4B89-BC60-492C21413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4439" y="3381663"/>
            <a:ext cx="830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126</a:t>
            </a:r>
          </a:p>
        </p:txBody>
      </p:sp>
      <p:sp>
        <p:nvSpPr>
          <p:cNvPr id="29" name="Text Box 37">
            <a:extLst>
              <a:ext uri="{FF2B5EF4-FFF2-40B4-BE49-F238E27FC236}">
                <a16:creationId xmlns:a16="http://schemas.microsoft.com/office/drawing/2014/main" id="{E3A0BC9C-DE33-432D-9705-A706069A6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4" y="3781713"/>
            <a:ext cx="830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127</a:t>
            </a:r>
          </a:p>
        </p:txBody>
      </p:sp>
      <p:sp>
        <p:nvSpPr>
          <p:cNvPr id="30" name="Text Box 38">
            <a:extLst>
              <a:ext uri="{FF2B5EF4-FFF2-40B4-BE49-F238E27FC236}">
                <a16:creationId xmlns:a16="http://schemas.microsoft.com/office/drawing/2014/main" id="{076AD715-C329-4F2B-8A04-E08432AD7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6026" y="4250026"/>
            <a:ext cx="830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128</a:t>
            </a:r>
          </a:p>
        </p:txBody>
      </p:sp>
      <p:sp>
        <p:nvSpPr>
          <p:cNvPr id="31" name="Text Box 39">
            <a:extLst>
              <a:ext uri="{FF2B5EF4-FFF2-40B4-BE49-F238E27FC236}">
                <a16:creationId xmlns:a16="http://schemas.microsoft.com/office/drawing/2014/main" id="{5011CE4E-475E-44F2-A610-4548A1321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6026" y="4627851"/>
            <a:ext cx="830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129</a:t>
            </a:r>
          </a:p>
        </p:txBody>
      </p:sp>
      <p:sp>
        <p:nvSpPr>
          <p:cNvPr id="32" name="Text Box 40">
            <a:extLst>
              <a:ext uri="{FF2B5EF4-FFF2-40B4-BE49-F238E27FC236}">
                <a16:creationId xmlns:a16="http://schemas.microsoft.com/office/drawing/2014/main" id="{B9396EE0-621B-46B1-87B2-C14340462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4" y="5562888"/>
            <a:ext cx="830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254</a:t>
            </a:r>
          </a:p>
        </p:txBody>
      </p:sp>
      <p:sp>
        <p:nvSpPr>
          <p:cNvPr id="33" name="Text Box 41">
            <a:extLst>
              <a:ext uri="{FF2B5EF4-FFF2-40B4-BE49-F238E27FC236}">
                <a16:creationId xmlns:a16="http://schemas.microsoft.com/office/drawing/2014/main" id="{A92A7FBF-5A19-4A9B-A209-37D69B6CC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4" y="5928013"/>
            <a:ext cx="830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255</a:t>
            </a:r>
          </a:p>
        </p:txBody>
      </p:sp>
      <p:grpSp>
        <p:nvGrpSpPr>
          <p:cNvPr id="34" name="Group 44">
            <a:extLst>
              <a:ext uri="{FF2B5EF4-FFF2-40B4-BE49-F238E27FC236}">
                <a16:creationId xmlns:a16="http://schemas.microsoft.com/office/drawing/2014/main" id="{2965279F-2918-4691-91CF-92DCE2AE0482}"/>
              </a:ext>
            </a:extLst>
          </p:cNvPr>
          <p:cNvGrpSpPr>
            <a:grpSpLocks/>
          </p:cNvGrpSpPr>
          <p:nvPr/>
        </p:nvGrpSpPr>
        <p:grpSpPr bwMode="auto">
          <a:xfrm>
            <a:off x="5173664" y="686088"/>
            <a:ext cx="1068387" cy="6011863"/>
            <a:chOff x="3187" y="533"/>
            <a:chExt cx="673" cy="3787"/>
          </a:xfrm>
        </p:grpSpPr>
        <p:sp>
          <p:nvSpPr>
            <p:cNvPr id="35" name="Text Box 42">
              <a:extLst>
                <a:ext uri="{FF2B5EF4-FFF2-40B4-BE49-F238E27FC236}">
                  <a16:creationId xmlns:a16="http://schemas.microsoft.com/office/drawing/2014/main" id="{C75A1B67-C76F-4414-800F-A1156095B1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7" y="533"/>
              <a:ext cx="6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原码</a:t>
              </a:r>
            </a:p>
          </p:txBody>
        </p:sp>
        <p:sp>
          <p:nvSpPr>
            <p:cNvPr id="36" name="Line 43">
              <a:extLst>
                <a:ext uri="{FF2B5EF4-FFF2-40B4-BE49-F238E27FC236}">
                  <a16:creationId xmlns:a16="http://schemas.microsoft.com/office/drawing/2014/main" id="{BA7EBE85-C2C4-4FC3-A0AF-5C15B048E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0" y="597"/>
              <a:ext cx="0" cy="3723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 Box 45">
            <a:extLst>
              <a:ext uri="{FF2B5EF4-FFF2-40B4-BE49-F238E27FC236}">
                <a16:creationId xmlns:a16="http://schemas.microsoft.com/office/drawing/2014/main" id="{56788BA2-261C-40F3-A51F-D3420C0E5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9864" y="1271876"/>
            <a:ext cx="830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+0</a:t>
            </a:r>
          </a:p>
        </p:txBody>
      </p:sp>
      <p:sp>
        <p:nvSpPr>
          <p:cNvPr id="38" name="Text Box 46">
            <a:extLst>
              <a:ext uri="{FF2B5EF4-FFF2-40B4-BE49-F238E27FC236}">
                <a16:creationId xmlns:a16="http://schemas.microsoft.com/office/drawing/2014/main" id="{1F6561AD-B34E-462D-BF9A-0344E79CB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1451" y="1654463"/>
            <a:ext cx="830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39" name="Text Box 47">
            <a:extLst>
              <a:ext uri="{FF2B5EF4-FFF2-40B4-BE49-F238E27FC236}">
                <a16:creationId xmlns:a16="http://schemas.microsoft.com/office/drawing/2014/main" id="{3A5AE505-FFA9-411F-B5B4-7B66EDE7D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3201" y="2119601"/>
            <a:ext cx="830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+2</a:t>
            </a:r>
          </a:p>
        </p:txBody>
      </p:sp>
      <p:sp>
        <p:nvSpPr>
          <p:cNvPr id="40" name="Text Box 48">
            <a:extLst>
              <a:ext uri="{FF2B5EF4-FFF2-40B4-BE49-F238E27FC236}">
                <a16:creationId xmlns:a16="http://schemas.microsoft.com/office/drawing/2014/main" id="{F552FDF0-C43D-4EC8-8CF3-0FABC7EB0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1439" y="3381663"/>
            <a:ext cx="1062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+126</a:t>
            </a:r>
          </a:p>
        </p:txBody>
      </p:sp>
      <p:sp>
        <p:nvSpPr>
          <p:cNvPr id="41" name="Text Box 49">
            <a:extLst>
              <a:ext uri="{FF2B5EF4-FFF2-40B4-BE49-F238E27FC236}">
                <a16:creationId xmlns:a16="http://schemas.microsoft.com/office/drawing/2014/main" id="{CD06F91C-0D40-44E0-ACB7-D2A126BAC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6" y="3810288"/>
            <a:ext cx="1062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+127</a:t>
            </a:r>
          </a:p>
        </p:txBody>
      </p:sp>
      <p:sp>
        <p:nvSpPr>
          <p:cNvPr id="42" name="Text Box 50">
            <a:extLst>
              <a:ext uri="{FF2B5EF4-FFF2-40B4-BE49-F238E27FC236}">
                <a16:creationId xmlns:a16="http://schemas.microsoft.com/office/drawing/2014/main" id="{EBE88546-E6A2-4101-A69D-B3145357A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614" y="4248438"/>
            <a:ext cx="830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3" name="Text Box 51">
            <a:extLst>
              <a:ext uri="{FF2B5EF4-FFF2-40B4-BE49-F238E27FC236}">
                <a16:creationId xmlns:a16="http://schemas.microsoft.com/office/drawing/2014/main" id="{32E53E75-E509-44FA-B0D0-229B8A593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7489" y="4631026"/>
            <a:ext cx="830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4" name="Text Box 52">
            <a:extLst>
              <a:ext uri="{FF2B5EF4-FFF2-40B4-BE49-F238E27FC236}">
                <a16:creationId xmlns:a16="http://schemas.microsoft.com/office/drawing/2014/main" id="{72BF04BF-525D-40B9-A61F-7832E174C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1" y="5564476"/>
            <a:ext cx="1062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>
                <a:latin typeface="Times New Roman" panose="02020603050405020304" pitchFamily="18" charset="0"/>
              </a:rPr>
              <a:t>126</a:t>
            </a:r>
          </a:p>
        </p:txBody>
      </p:sp>
      <p:sp>
        <p:nvSpPr>
          <p:cNvPr id="45" name="Text Box 53">
            <a:extLst>
              <a:ext uri="{FF2B5EF4-FFF2-40B4-BE49-F238E27FC236}">
                <a16:creationId xmlns:a16="http://schemas.microsoft.com/office/drawing/2014/main" id="{D22184A5-F95A-40F8-AA0A-04350C659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3176" y="5956588"/>
            <a:ext cx="1062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>
                <a:latin typeface="Times New Roman" panose="02020603050405020304" pitchFamily="18" charset="0"/>
              </a:rPr>
              <a:t>127</a:t>
            </a:r>
          </a:p>
        </p:txBody>
      </p:sp>
      <p:grpSp>
        <p:nvGrpSpPr>
          <p:cNvPr id="46" name="Group 80">
            <a:extLst>
              <a:ext uri="{FF2B5EF4-FFF2-40B4-BE49-F238E27FC236}">
                <a16:creationId xmlns:a16="http://schemas.microsoft.com/office/drawing/2014/main" id="{12722C51-3FFC-4851-AED1-5BFB356FB409}"/>
              </a:ext>
            </a:extLst>
          </p:cNvPr>
          <p:cNvGrpSpPr>
            <a:grpSpLocks/>
          </p:cNvGrpSpPr>
          <p:nvPr/>
        </p:nvGrpSpPr>
        <p:grpSpPr bwMode="auto">
          <a:xfrm>
            <a:off x="6350001" y="687676"/>
            <a:ext cx="1179513" cy="6010275"/>
            <a:chOff x="3928" y="534"/>
            <a:chExt cx="743" cy="3786"/>
          </a:xfrm>
        </p:grpSpPr>
        <p:sp>
          <p:nvSpPr>
            <p:cNvPr id="47" name="Text Box 55">
              <a:extLst>
                <a:ext uri="{FF2B5EF4-FFF2-40B4-BE49-F238E27FC236}">
                  <a16:creationId xmlns:a16="http://schemas.microsoft.com/office/drawing/2014/main" id="{1CF91013-A3BD-463A-92C6-B094DE6A5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8" y="534"/>
              <a:ext cx="6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反码</a:t>
              </a:r>
            </a:p>
          </p:txBody>
        </p:sp>
        <p:sp>
          <p:nvSpPr>
            <p:cNvPr id="48" name="Line 56">
              <a:extLst>
                <a:ext uri="{FF2B5EF4-FFF2-40B4-BE49-F238E27FC236}">
                  <a16:creationId xmlns:a16="http://schemas.microsoft.com/office/drawing/2014/main" id="{9869C670-5F50-481C-AA5D-D546327728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0" y="597"/>
              <a:ext cx="1" cy="3723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Text Box 58">
            <a:extLst>
              <a:ext uri="{FF2B5EF4-FFF2-40B4-BE49-F238E27FC236}">
                <a16:creationId xmlns:a16="http://schemas.microsoft.com/office/drawing/2014/main" id="{9BA58E0B-8BF9-44AF-9047-96AF921F8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6" y="1284576"/>
            <a:ext cx="830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+0</a:t>
            </a:r>
          </a:p>
        </p:txBody>
      </p:sp>
      <p:sp>
        <p:nvSpPr>
          <p:cNvPr id="50" name="Text Box 59">
            <a:extLst>
              <a:ext uri="{FF2B5EF4-FFF2-40B4-BE49-F238E27FC236}">
                <a16:creationId xmlns:a16="http://schemas.microsoft.com/office/drawing/2014/main" id="{EC547E22-FF55-48EC-BEB2-8F4C988E7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4" y="1667163"/>
            <a:ext cx="830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51" name="Text Box 60">
            <a:extLst>
              <a:ext uri="{FF2B5EF4-FFF2-40B4-BE49-F238E27FC236}">
                <a16:creationId xmlns:a16="http://schemas.microsoft.com/office/drawing/2014/main" id="{19B4DD77-F508-45BA-9250-38E70A568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3514" y="2132301"/>
            <a:ext cx="830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+2</a:t>
            </a:r>
          </a:p>
        </p:txBody>
      </p:sp>
      <p:sp>
        <p:nvSpPr>
          <p:cNvPr id="52" name="Text Box 61">
            <a:extLst>
              <a:ext uri="{FF2B5EF4-FFF2-40B4-BE49-F238E27FC236}">
                <a16:creationId xmlns:a16="http://schemas.microsoft.com/office/drawing/2014/main" id="{CA85EAD2-2480-4545-909F-2F2B044DC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1" y="3394363"/>
            <a:ext cx="1062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+126</a:t>
            </a:r>
          </a:p>
        </p:txBody>
      </p:sp>
      <p:sp>
        <p:nvSpPr>
          <p:cNvPr id="53" name="Text Box 62">
            <a:extLst>
              <a:ext uri="{FF2B5EF4-FFF2-40B4-BE49-F238E27FC236}">
                <a16:creationId xmlns:a16="http://schemas.microsoft.com/office/drawing/2014/main" id="{74FC0456-7CF1-4374-BE20-36217AC9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6039" y="3822988"/>
            <a:ext cx="1062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+127</a:t>
            </a:r>
          </a:p>
        </p:txBody>
      </p:sp>
      <p:sp>
        <p:nvSpPr>
          <p:cNvPr id="54" name="Text Box 63">
            <a:extLst>
              <a:ext uri="{FF2B5EF4-FFF2-40B4-BE49-F238E27FC236}">
                <a16:creationId xmlns:a16="http://schemas.microsoft.com/office/drawing/2014/main" id="{1314216B-8AC1-4CB3-92CE-A413FD9FA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514" y="4254788"/>
            <a:ext cx="1062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>
                <a:latin typeface="Times New Roman" panose="02020603050405020304" pitchFamily="18" charset="0"/>
              </a:rPr>
              <a:t>128</a:t>
            </a:r>
          </a:p>
        </p:txBody>
      </p:sp>
      <p:sp>
        <p:nvSpPr>
          <p:cNvPr id="55" name="Text Box 64">
            <a:extLst>
              <a:ext uri="{FF2B5EF4-FFF2-40B4-BE49-F238E27FC236}">
                <a16:creationId xmlns:a16="http://schemas.microsoft.com/office/drawing/2014/main" id="{17DE9789-BC63-491A-8116-1ED55935F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2389" y="4621501"/>
            <a:ext cx="1062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>
                <a:latin typeface="Times New Roman" panose="02020603050405020304" pitchFamily="18" charset="0"/>
              </a:rPr>
              <a:t>127</a:t>
            </a:r>
          </a:p>
        </p:txBody>
      </p:sp>
      <p:sp>
        <p:nvSpPr>
          <p:cNvPr id="56" name="Text Box 66">
            <a:extLst>
              <a:ext uri="{FF2B5EF4-FFF2-40B4-BE49-F238E27FC236}">
                <a16:creationId xmlns:a16="http://schemas.microsoft.com/office/drawing/2014/main" id="{3EEECAE9-7EAC-4B0E-B8F6-24FE52FCE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489" y="5594638"/>
            <a:ext cx="830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7" name="Text Box 67">
            <a:extLst>
              <a:ext uri="{FF2B5EF4-FFF2-40B4-BE49-F238E27FC236}">
                <a16:creationId xmlns:a16="http://schemas.microsoft.com/office/drawing/2014/main" id="{4213F080-1931-47B8-9A75-208ADBC71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614" y="5961351"/>
            <a:ext cx="830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58" name="Group 81">
            <a:extLst>
              <a:ext uri="{FF2B5EF4-FFF2-40B4-BE49-F238E27FC236}">
                <a16:creationId xmlns:a16="http://schemas.microsoft.com/office/drawing/2014/main" id="{419F6D10-CE91-481E-A51B-D3F4ECA01020}"/>
              </a:ext>
            </a:extLst>
          </p:cNvPr>
          <p:cNvGrpSpPr>
            <a:grpSpLocks/>
          </p:cNvGrpSpPr>
          <p:nvPr/>
        </p:nvGrpSpPr>
        <p:grpSpPr bwMode="auto">
          <a:xfrm>
            <a:off x="7672103" y="658090"/>
            <a:ext cx="1212851" cy="6113463"/>
            <a:chOff x="4715" y="607"/>
            <a:chExt cx="764" cy="3851"/>
          </a:xfrm>
        </p:grpSpPr>
        <p:sp>
          <p:nvSpPr>
            <p:cNvPr id="59" name="Text Box 69">
              <a:extLst>
                <a:ext uri="{FF2B5EF4-FFF2-40B4-BE49-F238E27FC236}">
                  <a16:creationId xmlns:a16="http://schemas.microsoft.com/office/drawing/2014/main" id="{CF9ADA1F-ADE0-4D17-873D-B315A6E0C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" y="617"/>
              <a:ext cx="6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补码</a:t>
              </a:r>
            </a:p>
          </p:txBody>
        </p:sp>
        <p:sp>
          <p:nvSpPr>
            <p:cNvPr id="60" name="Line 70">
              <a:extLst>
                <a:ext uri="{FF2B5EF4-FFF2-40B4-BE49-F238E27FC236}">
                  <a16:creationId xmlns:a16="http://schemas.microsoft.com/office/drawing/2014/main" id="{90E9D19B-0557-4C2F-87F1-2A7E463F2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8" y="607"/>
              <a:ext cx="1" cy="3851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 Box 71">
            <a:extLst>
              <a:ext uri="{FF2B5EF4-FFF2-40B4-BE49-F238E27FC236}">
                <a16:creationId xmlns:a16="http://schemas.microsoft.com/office/drawing/2014/main" id="{BFB79BBA-AD03-42BC-8320-ED85B6934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9701" y="1282988"/>
            <a:ext cx="830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+0</a:t>
            </a:r>
          </a:p>
        </p:txBody>
      </p:sp>
      <p:sp>
        <p:nvSpPr>
          <p:cNvPr id="62" name="Text Box 72">
            <a:extLst>
              <a:ext uri="{FF2B5EF4-FFF2-40B4-BE49-F238E27FC236}">
                <a16:creationId xmlns:a16="http://schemas.microsoft.com/office/drawing/2014/main" id="{539CFD90-2831-475C-ACAA-05EA9E047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1289" y="1665576"/>
            <a:ext cx="830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63" name="Text Box 73">
            <a:extLst>
              <a:ext uri="{FF2B5EF4-FFF2-40B4-BE49-F238E27FC236}">
                <a16:creationId xmlns:a16="http://schemas.microsoft.com/office/drawing/2014/main" id="{6610C1DC-9915-406E-8CE7-12AC193CA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39" y="2130713"/>
            <a:ext cx="830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+2</a:t>
            </a:r>
          </a:p>
        </p:txBody>
      </p:sp>
      <p:sp>
        <p:nvSpPr>
          <p:cNvPr id="64" name="Text Box 74">
            <a:extLst>
              <a:ext uri="{FF2B5EF4-FFF2-40B4-BE49-F238E27FC236}">
                <a16:creationId xmlns:a16="http://schemas.microsoft.com/office/drawing/2014/main" id="{BDE11EB4-FC87-468B-BF16-59454CF24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276" y="3392776"/>
            <a:ext cx="1062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+126</a:t>
            </a:r>
          </a:p>
        </p:txBody>
      </p:sp>
      <p:sp>
        <p:nvSpPr>
          <p:cNvPr id="65" name="Text Box 75">
            <a:extLst>
              <a:ext uri="{FF2B5EF4-FFF2-40B4-BE49-F238E27FC236}">
                <a16:creationId xmlns:a16="http://schemas.microsoft.com/office/drawing/2014/main" id="{3DAF8B07-1CF1-4E49-894F-EEC4B656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564" y="3821401"/>
            <a:ext cx="1062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+127</a:t>
            </a:r>
          </a:p>
        </p:txBody>
      </p:sp>
      <p:sp>
        <p:nvSpPr>
          <p:cNvPr id="66" name="Text Box 76">
            <a:extLst>
              <a:ext uri="{FF2B5EF4-FFF2-40B4-BE49-F238E27FC236}">
                <a16:creationId xmlns:a16="http://schemas.microsoft.com/office/drawing/2014/main" id="{B532F892-AFF8-4B04-A609-5541782C7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1" y="4270663"/>
            <a:ext cx="1062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>
                <a:latin typeface="Times New Roman" panose="02020603050405020304" pitchFamily="18" charset="0"/>
              </a:rPr>
              <a:t>127</a:t>
            </a:r>
          </a:p>
        </p:txBody>
      </p:sp>
      <p:sp>
        <p:nvSpPr>
          <p:cNvPr id="67" name="Text Box 77">
            <a:extLst>
              <a:ext uri="{FF2B5EF4-FFF2-40B4-BE49-F238E27FC236}">
                <a16:creationId xmlns:a16="http://schemas.microsoft.com/office/drawing/2014/main" id="{1BB16632-5E64-4E05-9DE5-C00C84EFA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739" y="4670713"/>
            <a:ext cx="1062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>
                <a:latin typeface="Times New Roman" panose="02020603050405020304" pitchFamily="18" charset="0"/>
              </a:rPr>
              <a:t>126</a:t>
            </a:r>
          </a:p>
        </p:txBody>
      </p:sp>
      <p:sp>
        <p:nvSpPr>
          <p:cNvPr id="68" name="Text Box 78">
            <a:extLst>
              <a:ext uri="{FF2B5EF4-FFF2-40B4-BE49-F238E27FC236}">
                <a16:creationId xmlns:a16="http://schemas.microsoft.com/office/drawing/2014/main" id="{258A3872-493D-4B51-A13B-C58BE60EA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514" y="5578763"/>
            <a:ext cx="830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9" name="Text Box 79">
            <a:extLst>
              <a:ext uri="{FF2B5EF4-FFF2-40B4-BE49-F238E27FC236}">
                <a16:creationId xmlns:a16="http://schemas.microsoft.com/office/drawing/2014/main" id="{DFA958CA-A87D-4146-B991-143400F02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7339" y="5988338"/>
            <a:ext cx="830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51412658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9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8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1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4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2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8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4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6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2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8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6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2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8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4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70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86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2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18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6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2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8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4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7000"/>
                            </p:stCondLst>
                            <p:childTnLst>
                              <p:par>
                                <p:cTn id="16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8600"/>
                            </p:stCondLst>
                            <p:childTnLst>
                              <p:par>
                                <p:cTn id="17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0200"/>
                            </p:stCondLst>
                            <p:childTnLst>
                              <p:par>
                                <p:cTn id="17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1800"/>
                            </p:stCondLst>
                            <p:childTnLst>
                              <p:par>
                                <p:cTn id="18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25" grpId="0" autoUpdateAnimBg="0"/>
      <p:bldP spid="26" grpId="0" autoUpdateAnimBg="0"/>
      <p:bldP spid="27" grpId="0" autoUpdateAnimBg="0"/>
      <p:bldP spid="28" grpId="0" autoUpdateAnimBg="0"/>
      <p:bldP spid="29" grpId="0" autoUpdateAnimBg="0"/>
      <p:bldP spid="30" grpId="0" autoUpdateAnimBg="0"/>
      <p:bldP spid="31" grpId="0" autoUpdateAnimBg="0"/>
      <p:bldP spid="32" grpId="0" autoUpdateAnimBg="0"/>
      <p:bldP spid="33" grpId="0" autoUpdateAnimBg="0"/>
      <p:bldP spid="37" grpId="0" autoUpdateAnimBg="0"/>
      <p:bldP spid="38" grpId="0" autoUpdateAnimBg="0"/>
      <p:bldP spid="39" grpId="0" autoUpdateAnimBg="0"/>
      <p:bldP spid="40" grpId="0" autoUpdateAnimBg="0"/>
      <p:bldP spid="41" grpId="0" autoUpdateAnimBg="0"/>
      <p:bldP spid="42" grpId="0" autoUpdateAnimBg="0"/>
      <p:bldP spid="43" grpId="0" autoUpdateAnimBg="0"/>
      <p:bldP spid="44" grpId="0" autoUpdateAnimBg="0"/>
      <p:bldP spid="45" grpId="0" autoUpdateAnimBg="0"/>
      <p:bldP spid="49" grpId="0" autoUpdateAnimBg="0"/>
      <p:bldP spid="50" grpId="0" autoUpdateAnimBg="0"/>
      <p:bldP spid="51" grpId="0" autoUpdateAnimBg="0"/>
      <p:bldP spid="52" grpId="0" autoUpdateAnimBg="0"/>
      <p:bldP spid="53" grpId="0" autoUpdateAnimBg="0"/>
      <p:bldP spid="54" grpId="0" autoUpdateAnimBg="0"/>
      <p:bldP spid="55" grpId="0" autoUpdateAnimBg="0"/>
      <p:bldP spid="56" grpId="0" autoUpdateAnimBg="0"/>
      <p:bldP spid="57" grpId="0" autoUpdateAnimBg="0"/>
      <p:bldP spid="61" grpId="0" autoUpdateAnimBg="0"/>
      <p:bldP spid="62" grpId="0" autoUpdateAnimBg="0"/>
      <p:bldP spid="63" grpId="0" autoUpdateAnimBg="0"/>
      <p:bldP spid="64" grpId="0" autoUpdateAnimBg="0"/>
      <p:bldP spid="65" grpId="0" autoUpdateAnimBg="0"/>
      <p:bldP spid="66" grpId="0" autoUpdateAnimBg="0"/>
      <p:bldP spid="67" grpId="0" autoUpdateAnimBg="0"/>
      <p:bldP spid="68" grpId="0" autoUpdateAnimBg="0"/>
      <p:bldP spid="6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>
            <a:extLst>
              <a:ext uri="{FF2B5EF4-FFF2-40B4-BE49-F238E27FC236}">
                <a16:creationId xmlns:a16="http://schemas.microsoft.com/office/drawing/2014/main" id="{DD14C137-2FA9-464B-BD20-DDCB9961C4DC}"/>
              </a:ext>
            </a:extLst>
          </p:cNvPr>
          <p:cNvSpPr txBox="1">
            <a:spLocks/>
          </p:cNvSpPr>
          <p:nvPr/>
        </p:nvSpPr>
        <p:spPr bwMode="auto">
          <a:xfrm>
            <a:off x="1143069" y="335438"/>
            <a:ext cx="6954715" cy="588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补码</a:t>
            </a:r>
          </a:p>
        </p:txBody>
      </p:sp>
      <p:grpSp>
        <p:nvGrpSpPr>
          <p:cNvPr id="17" name="组合 11">
            <a:extLst>
              <a:ext uri="{FF2B5EF4-FFF2-40B4-BE49-F238E27FC236}">
                <a16:creationId xmlns:a16="http://schemas.microsoft.com/office/drawing/2014/main" id="{4835A963-7087-4096-A33E-7DDB6B9FD4F5}"/>
              </a:ext>
            </a:extLst>
          </p:cNvPr>
          <p:cNvGrpSpPr/>
          <p:nvPr/>
        </p:nvGrpSpPr>
        <p:grpSpPr>
          <a:xfrm>
            <a:off x="446809" y="3440182"/>
            <a:ext cx="8697191" cy="2964798"/>
            <a:chOff x="405922" y="3390682"/>
            <a:chExt cx="8697191" cy="2964798"/>
          </a:xfrm>
        </p:grpSpPr>
        <p:grpSp>
          <p:nvGrpSpPr>
            <p:cNvPr id="18" name="Group 13">
              <a:extLst>
                <a:ext uri="{FF2B5EF4-FFF2-40B4-BE49-F238E27FC236}">
                  <a16:creationId xmlns:a16="http://schemas.microsoft.com/office/drawing/2014/main" id="{1C6D4BA0-1A3F-4DDB-A1DD-D9816AE0A4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1160" y="5307729"/>
              <a:ext cx="5446712" cy="1047751"/>
              <a:chOff x="1122" y="1366"/>
              <a:chExt cx="3431" cy="660"/>
            </a:xfrm>
          </p:grpSpPr>
          <p:sp>
            <p:nvSpPr>
              <p:cNvPr id="20" name="Text Box 14">
                <a:extLst>
                  <a:ext uri="{FF2B5EF4-FFF2-40B4-BE49-F238E27FC236}">
                    <a16:creationId xmlns:a16="http://schemas.microsoft.com/office/drawing/2014/main" id="{1D2D8CC9-6B0F-40D6-9B51-45BA1E415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2" y="1564"/>
                <a:ext cx="92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r>
                  <a:rPr kumimoji="1" lang="zh-CN" altLang="en-US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补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AutoShape 15">
                <a:extLst>
                  <a:ext uri="{FF2B5EF4-FFF2-40B4-BE49-F238E27FC236}">
                    <a16:creationId xmlns:a16="http://schemas.microsoft.com/office/drawing/2014/main" id="{2400F482-A096-4A73-94F0-F3D940372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1451"/>
                <a:ext cx="85" cy="539"/>
              </a:xfrm>
              <a:prstGeom prst="leftBrace">
                <a:avLst>
                  <a:gd name="adj1" fmla="val 52843"/>
                  <a:gd name="adj2" fmla="val 50000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 Box 16">
                <a:extLst>
                  <a:ext uri="{FF2B5EF4-FFF2-40B4-BE49-F238E27FC236}">
                    <a16:creationId xmlns:a16="http://schemas.microsoft.com/office/drawing/2014/main" id="{B3E61B6D-7754-46BF-A20E-125248B7B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5" y="1366"/>
                <a:ext cx="172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（当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为正数）</a:t>
                </a:r>
              </a:p>
            </p:txBody>
          </p:sp>
          <p:sp>
            <p:nvSpPr>
              <p:cNvPr id="23" name="Text Box 17">
                <a:extLst>
                  <a:ext uri="{FF2B5EF4-FFF2-40B4-BE49-F238E27FC236}">
                    <a16:creationId xmlns:a16="http://schemas.microsoft.com/office/drawing/2014/main" id="{E359B3D1-8CB5-4486-AE82-5E0EAF1658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5" y="1735"/>
                <a:ext cx="226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en-US" altLang="zh-CN" sz="2400" b="1" i="1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-abs(X)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（当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为负数）</a:t>
                </a: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5EF23BA-91C4-4A3A-9EC5-C6B4FBB6EAA8}"/>
                </a:ext>
              </a:extLst>
            </p:cNvPr>
            <p:cNvSpPr/>
            <p:nvPr/>
          </p:nvSpPr>
          <p:spPr>
            <a:xfrm>
              <a:off x="405922" y="3390682"/>
              <a:ext cx="8697191" cy="19466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1" hangingPunct="1">
                <a:spcBef>
                  <a:spcPts val="500"/>
                </a:spcBef>
              </a:pP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一般 </a:t>
              </a:r>
              <a:r>
                <a:rPr lang="zh-CN" altLang="en-US" dirty="0">
                  <a:solidFill>
                    <a:srgbClr val="FF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模为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M </a:t>
              </a: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时，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                                </a:t>
              </a:r>
            </a:p>
            <a:p>
              <a:pPr lvl="0" eaLnBrk="1" hangingPunct="1">
                <a:spcBef>
                  <a:spcPts val="500"/>
                </a:spcBef>
              </a:pP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                             [X]</a:t>
              </a:r>
              <a:r>
                <a:rPr lang="zh-CN" altLang="en-US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补 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= M + X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        </a:t>
              </a:r>
            </a:p>
            <a:p>
              <a:pPr lvl="0" eaLnBrk="1" hangingPunct="1">
                <a:spcBef>
                  <a:spcPts val="500"/>
                </a:spcBef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       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推广到二进制数，字长为 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dirty="0">
                  <a:solidFill>
                    <a:srgbClr val="FF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位，则模为 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400" baseline="300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dirty="0">
                  <a:solidFill>
                    <a:srgbClr val="FF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，有：</a:t>
              </a:r>
              <a:endPara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lvl="0" eaLnBrk="1" hangingPunct="1">
                <a:spcBef>
                  <a:spcPts val="500"/>
                </a:spcBef>
              </a:pPr>
              <a:r>
                <a:rPr lang="zh-CN" altLang="en-US" sz="2400" baseline="30000" dirty="0">
                  <a:solidFill>
                    <a:srgbClr val="FF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                                                            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[X]</a:t>
              </a:r>
              <a:r>
                <a:rPr lang="zh-CN" altLang="en-US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补 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2</a:t>
              </a:r>
              <a:r>
                <a:rPr lang="en-US" altLang="zh-CN" baseline="300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+ X</a:t>
              </a:r>
              <a:endParaRPr lang="en-US" altLang="zh-CN" sz="24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4" name="表格 2">
            <a:extLst>
              <a:ext uri="{FF2B5EF4-FFF2-40B4-BE49-F238E27FC236}">
                <a16:creationId xmlns:a16="http://schemas.microsoft.com/office/drawing/2014/main" id="{558896B5-1E96-4276-97F0-F9F3DEF420F1}"/>
              </a:ext>
            </a:extLst>
          </p:cNvPr>
          <p:cNvGraphicFramePr>
            <a:graphicFrameLocks noGrp="1"/>
          </p:cNvGraphicFramePr>
          <p:nvPr/>
        </p:nvGraphicFramePr>
        <p:xfrm>
          <a:off x="468985" y="2156573"/>
          <a:ext cx="8332155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385">
                  <a:extLst>
                    <a:ext uri="{9D8B030D-6E8A-4147-A177-3AD203B41FA5}">
                      <a16:colId xmlns:a16="http://schemas.microsoft.com/office/drawing/2014/main" val="3306546260"/>
                    </a:ext>
                  </a:extLst>
                </a:gridCol>
                <a:gridCol w="2777385">
                  <a:extLst>
                    <a:ext uri="{9D8B030D-6E8A-4147-A177-3AD203B41FA5}">
                      <a16:colId xmlns:a16="http://schemas.microsoft.com/office/drawing/2014/main" val="1292044985"/>
                    </a:ext>
                  </a:extLst>
                </a:gridCol>
                <a:gridCol w="2777385">
                  <a:extLst>
                    <a:ext uri="{9D8B030D-6E8A-4147-A177-3AD203B41FA5}">
                      <a16:colId xmlns:a16="http://schemas.microsoft.com/office/drawing/2014/main" val="34232478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补码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06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2</a:t>
                      </a:r>
                      <a:r>
                        <a:rPr lang="en-US" altLang="zh-CN" sz="2800" b="1" baseline="30000" dirty="0"/>
                        <a:t>8</a:t>
                      </a:r>
                      <a:r>
                        <a:rPr lang="zh-CN" altLang="en-US" sz="2800" b="1" dirty="0"/>
                        <a:t>（</a:t>
                      </a:r>
                      <a:r>
                        <a:rPr lang="en-US" altLang="zh-CN" sz="2800" b="1" dirty="0"/>
                        <a:t>256</a:t>
                      </a:r>
                      <a:r>
                        <a:rPr lang="zh-CN" altLang="en-US" sz="2800" b="1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-0111000</a:t>
                      </a:r>
                      <a:r>
                        <a:rPr lang="zh-CN" altLang="en-US" sz="2800" b="1" dirty="0"/>
                        <a:t>（</a:t>
                      </a:r>
                      <a:r>
                        <a:rPr lang="en-US" altLang="zh-CN" sz="2800" b="1" dirty="0"/>
                        <a:t>-56</a:t>
                      </a:r>
                      <a:r>
                        <a:rPr lang="zh-CN" altLang="en-US" sz="2800" b="1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11001000</a:t>
                      </a:r>
                      <a:r>
                        <a:rPr lang="zh-CN" altLang="en-US" sz="2800" b="1" dirty="0"/>
                        <a:t>（</a:t>
                      </a:r>
                      <a:r>
                        <a:rPr lang="en-US" altLang="zh-CN" sz="2800" b="1" dirty="0"/>
                        <a:t>200</a:t>
                      </a:r>
                      <a:r>
                        <a:rPr lang="zh-CN" altLang="en-US" sz="2800" b="1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339680"/>
                  </a:ext>
                </a:extLst>
              </a:tr>
            </a:tbl>
          </a:graphicData>
        </a:graphic>
      </p:graphicFrame>
      <p:sp>
        <p:nvSpPr>
          <p:cNvPr id="25" name="矩形 24"/>
          <p:cNvSpPr/>
          <p:nvPr/>
        </p:nvSpPr>
        <p:spPr>
          <a:xfrm>
            <a:off x="936946" y="1074664"/>
            <a:ext cx="77920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2"/>
              </a:buClr>
            </a:pP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机器的模：机器的容量，用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表示，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M=2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711"/>
            <a:ext cx="903288" cy="33813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fld id="{1A0B33E5-498C-48D3-9CB2-28689CC9EF23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19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3706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49" charset="-122"/>
              </a:rPr>
              <a:t>补码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1040524" y="2333296"/>
            <a:ext cx="758321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使符号位与数一起参加运算：</a:t>
            </a:r>
            <a:endParaRPr kumimoji="0"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  <a:p>
            <a:endParaRPr kumimoji="0"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	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公式：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[X+Y]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补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= [X]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补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+ [Y]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补</a:t>
            </a:r>
            <a:endParaRPr kumimoji="0" lang="en-US" altLang="zh-CN" baseline="-25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r>
              <a:rPr kumimoji="0" lang="en-US" altLang="zh-CN" sz="2800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                           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[X-Y]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补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= [X]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补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- [Y]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补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945931" y="1324303"/>
            <a:ext cx="51710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补码运算</a:t>
            </a:r>
            <a:endParaRPr lang="zh-CN" altLang="en-US" sz="28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711"/>
            <a:ext cx="903288" cy="33813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fld id="{1A0B33E5-498C-48D3-9CB2-28689CC9EF23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20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D9540-F40D-4EB9-86AB-EA528A56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49" charset="-122"/>
              </a:rPr>
              <a:t>补码</a:t>
            </a:r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E5D8CD-80DA-43AE-AF7D-472E35633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904" y="2716045"/>
            <a:ext cx="8229272" cy="168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0" lang="en-US" altLang="zh-CN" sz="24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 </a:t>
            </a:r>
            <a:r>
              <a:rPr kumimoji="0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                  </a:t>
            </a: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 </a:t>
            </a:r>
            <a:r>
              <a:rPr kumimoji="0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 1 0 1 1 1 0 B</a:t>
            </a:r>
            <a:r>
              <a:rPr kumimoji="0" lang="en-US" altLang="zh-C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kumimoji="0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[-18]</a:t>
            </a:r>
            <a:r>
              <a:rPr kumimoji="0" lang="zh-CN" altLang="en-US" b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</a:t>
            </a:r>
            <a:r>
              <a:rPr kumimoji="0"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</a:t>
            </a:r>
            <a:r>
              <a:rPr kumimoji="0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    </a:t>
            </a:r>
            <a:r>
              <a:rPr kumimoji="0"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 1 1 0 1 0 1 B</a:t>
            </a:r>
            <a:r>
              <a:rPr kumimoji="0" lang="en-US" altLang="zh-C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kumimoji="0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[-11]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	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          </a:t>
            </a:r>
            <a:r>
              <a:rPr kumimoji="0"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1 1 0 0 0 1 </a:t>
            </a:r>
            <a:r>
              <a:rPr kumimoji="0" lang="en-US" altLang="zh-CN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B</a:t>
            </a:r>
            <a:r>
              <a:rPr kumimoji="0" lang="en-US" altLang="zh-C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 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[ - 29 ]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           </a:t>
            </a:r>
          </a:p>
        </p:txBody>
      </p:sp>
      <p:sp>
        <p:nvSpPr>
          <p:cNvPr id="5" name="Line 3">
            <a:extLst>
              <a:ext uri="{FF2B5EF4-FFF2-40B4-BE49-F238E27FC236}">
                <a16:creationId xmlns:a16="http://schemas.microsoft.com/office/drawing/2014/main" id="{B0649251-98EE-4963-A296-292F11B82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9158" y="389988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658989" y="3991981"/>
            <a:ext cx="304800" cy="304800"/>
            <a:chOff x="1098177" y="4512225"/>
            <a:chExt cx="304800" cy="304800"/>
          </a:xfrm>
        </p:grpSpPr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F0874B75-8A6E-4274-BD17-26B123A64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177" y="4512225"/>
              <a:ext cx="0" cy="3048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F0E123D4-3EBB-4375-9912-5F8A74745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177" y="4512225"/>
              <a:ext cx="3048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0D4E4CF5-694C-41BB-8795-0818A7687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2977" y="4512225"/>
              <a:ext cx="0" cy="3048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2D0D6CF8-18DC-4E5A-8823-04FCF9102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177" y="4817025"/>
              <a:ext cx="3048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TextBox 10"/>
          <p:cNvSpPr txBox="1"/>
          <p:nvPr/>
        </p:nvSpPr>
        <p:spPr bwMode="auto">
          <a:xfrm>
            <a:off x="1096125" y="1051880"/>
            <a:ext cx="71807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】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用补码进行下列运算：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(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设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n = 8)</a:t>
            </a:r>
            <a:endParaRPr lang="zh-CN" altLang="en-US" sz="28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1103587" y="1828801"/>
            <a:ext cx="75043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-18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）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-11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） </a:t>
            </a:r>
            <a:r>
              <a:rPr lang="zh-CN" altLang="en-US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anose="05050102010706020507" pitchFamily="18" charset="2"/>
              </a:rPr>
              <a:t> 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[X]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+   [ Y]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 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= [X+Y]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604268" y="5265354"/>
            <a:ext cx="6085488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符号位的进位，丢掉。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运算结果也是和的补码。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 bwMode="auto">
          <a:xfrm>
            <a:off x="2932385" y="4682357"/>
            <a:ext cx="54233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最高位（符号位）为</a:t>
            </a: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1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，结果为</a:t>
            </a: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3016347" y="3986721"/>
            <a:ext cx="304800" cy="304800"/>
            <a:chOff x="3016347" y="3986721"/>
            <a:chExt cx="304800" cy="304800"/>
          </a:xfrm>
        </p:grpSpPr>
        <p:sp>
          <p:nvSpPr>
            <p:cNvPr id="18" name="Line 4">
              <a:extLst>
                <a:ext uri="{FF2B5EF4-FFF2-40B4-BE49-F238E27FC236}">
                  <a16:creationId xmlns:a16="http://schemas.microsoft.com/office/drawing/2014/main" id="{F0874B75-8A6E-4274-BD17-26B123A64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347" y="3986721"/>
              <a:ext cx="0" cy="3048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F0E123D4-3EBB-4375-9912-5F8A74745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347" y="3986721"/>
              <a:ext cx="3048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6">
              <a:extLst>
                <a:ext uri="{FF2B5EF4-FFF2-40B4-BE49-F238E27FC236}">
                  <a16:creationId xmlns:a16="http://schemas.microsoft.com/office/drawing/2014/main" id="{0D4E4CF5-694C-41BB-8795-0818A7687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1147" y="3986721"/>
              <a:ext cx="0" cy="3048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2D0D6CF8-18DC-4E5A-8823-04FCF9102D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7454" y="4284938"/>
              <a:ext cx="29954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" name="上箭头 22"/>
          <p:cNvSpPr/>
          <p:nvPr/>
        </p:nvSpPr>
        <p:spPr bwMode="auto">
          <a:xfrm>
            <a:off x="3125186" y="4335516"/>
            <a:ext cx="90000" cy="39413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24" name="上箭头 23"/>
          <p:cNvSpPr/>
          <p:nvPr/>
        </p:nvSpPr>
        <p:spPr bwMode="auto">
          <a:xfrm>
            <a:off x="2763548" y="4370986"/>
            <a:ext cx="90000" cy="872362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711"/>
            <a:ext cx="903288" cy="33813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fld id="{1A0B33E5-498C-48D3-9CB2-28689CC9EF23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21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070958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1" grpId="0"/>
      <p:bldP spid="13" grpId="0"/>
      <p:bldP spid="16" grpId="0"/>
      <p:bldP spid="17" grpId="0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7D3D9540-F40D-4EB9-86AB-EA528A56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49" charset="-122"/>
              </a:rPr>
              <a:t>补码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1096126" y="1051880"/>
            <a:ext cx="78586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】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用补码进行下列运算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(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设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n = 8)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endParaRPr lang="zh-CN" altLang="en-US" sz="28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135118" y="1939159"/>
            <a:ext cx="75043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+18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）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-15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） </a:t>
            </a:r>
            <a:r>
              <a:rPr lang="zh-CN" altLang="en-US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anose="05050102010706020507" pitchFamily="18" charset="2"/>
              </a:rPr>
              <a:t> 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[X]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+   [ Y]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 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= [X+Y]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2954393" y="4895195"/>
            <a:ext cx="5596759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marL="533400" lvl="0" indent="-533400" eaLnBrk="1" hangingPunct="1">
              <a:lnSpc>
                <a:spcPct val="90000"/>
              </a:lnSpc>
              <a:buClr>
                <a:schemeClr val="folHlink"/>
              </a:buClr>
              <a:buSzPct val="60000"/>
              <a:defRPr/>
            </a:pP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最高位（符号位）为</a:t>
            </a: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0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，结果为</a:t>
            </a: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正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103586" y="2412133"/>
            <a:ext cx="7252138" cy="2522482"/>
            <a:chOff x="1103586" y="2412133"/>
            <a:chExt cx="7252138" cy="2522482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FD80341B-B1DA-4DE5-BA04-06167B35382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103586" y="2412133"/>
              <a:ext cx="7252138" cy="2522482"/>
            </a:xfrm>
            <a:prstGeom prst="rect">
              <a:avLst/>
            </a:prstGeom>
          </p:spPr>
          <p:txBody>
            <a:bodyPr/>
            <a:lstStyle/>
            <a:p>
              <a:pPr marL="533400" marR="0" lvl="0" indent="-53340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</a:p>
            <a:p>
              <a:pPr marL="533400" marR="0" lvl="0" indent="-53340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       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                    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0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1 0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1 0 B   [+18]</a:t>
              </a:r>
              <a:r>
                <a:rPr kumimoji="0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补                </a:t>
              </a:r>
            </a:p>
            <a:p>
              <a:pPr marL="533400" marR="0" lvl="0" indent="-53340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</a:rPr>
                <a:t>                    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+   1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0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1 B   [-15]</a:t>
              </a:r>
              <a:r>
                <a:rPr kumimoji="0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补	</a:t>
              </a:r>
            </a:p>
            <a:p>
              <a:pPr marL="533400" marR="0" lvl="0" indent="-53340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</a:rPr>
                <a:t>                     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1 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 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0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kumimoji="0" lang="en-US" altLang="zh-CN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0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kumimoji="0" lang="en-US" altLang="zh-CN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0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kumimoji="0" lang="en-US" altLang="zh-CN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0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kumimoji="0" lang="en-US" altLang="zh-CN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0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kumimoji="0" lang="en-US" altLang="zh-CN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0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1 </a:t>
              </a:r>
              <a:r>
                <a:rPr kumimoji="0" lang="en-US" altLang="zh-CN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1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B   [ + 3 ]</a:t>
              </a:r>
              <a:r>
                <a:rPr kumimoji="0" lang="zh-CN" altLang="en-US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补</a:t>
              </a: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          </a:t>
              </a:r>
            </a:p>
            <a:p>
              <a:pPr marL="533400" marR="0" lvl="0" indent="-53340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</a:rPr>
                <a:t>                      </a:t>
              </a:r>
            </a:p>
            <a:p>
              <a:pPr marL="533400" marR="0" lvl="0" indent="-53340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                                       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  <a:p>
              <a:pPr marL="533400" marR="0" lvl="0" indent="-53340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10" name="Line 4">
              <a:extLst>
                <a:ext uri="{FF2B5EF4-FFF2-40B4-BE49-F238E27FC236}">
                  <a16:creationId xmlns:a16="http://schemas.microsoft.com/office/drawing/2014/main" id="{004F5D21-5923-4E20-8130-FF4D9DDB1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5214" y="4004446"/>
              <a:ext cx="4831976" cy="2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560782" y="4143371"/>
            <a:ext cx="306243" cy="311070"/>
            <a:chOff x="2627457" y="3906881"/>
            <a:chExt cx="306243" cy="311070"/>
          </a:xfrm>
        </p:grpSpPr>
        <p:sp>
          <p:nvSpPr>
            <p:cNvPr id="11" name="Line 4">
              <a:extLst>
                <a:ext uri="{FF2B5EF4-FFF2-40B4-BE49-F238E27FC236}">
                  <a16:creationId xmlns:a16="http://schemas.microsoft.com/office/drawing/2014/main" id="{F0874B75-8A6E-4274-BD17-26B123A64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7457" y="3913151"/>
              <a:ext cx="0" cy="3048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5">
              <a:extLst>
                <a:ext uri="{FF2B5EF4-FFF2-40B4-BE49-F238E27FC236}">
                  <a16:creationId xmlns:a16="http://schemas.microsoft.com/office/drawing/2014/main" id="{F0E123D4-3EBB-4375-9912-5F8A74745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9886" y="3906881"/>
              <a:ext cx="303814" cy="3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0D4E4CF5-694C-41BB-8795-0818A7687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257" y="3913151"/>
              <a:ext cx="0" cy="3048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2D0D6CF8-18DC-4E5A-8823-04FCF9102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7457" y="4217951"/>
              <a:ext cx="3048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2317530" y="5454869"/>
            <a:ext cx="629307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符号位的进位，丢掉，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运算结果也是和的补码。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979882" y="4143371"/>
            <a:ext cx="306243" cy="311070"/>
            <a:chOff x="2627457" y="3906881"/>
            <a:chExt cx="306243" cy="311070"/>
          </a:xfrm>
        </p:grpSpPr>
        <p:sp>
          <p:nvSpPr>
            <p:cNvPr id="19" name="Line 4">
              <a:extLst>
                <a:ext uri="{FF2B5EF4-FFF2-40B4-BE49-F238E27FC236}">
                  <a16:creationId xmlns:a16="http://schemas.microsoft.com/office/drawing/2014/main" id="{F0874B75-8A6E-4274-BD17-26B123A64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7457" y="3913151"/>
              <a:ext cx="0" cy="3048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5">
              <a:extLst>
                <a:ext uri="{FF2B5EF4-FFF2-40B4-BE49-F238E27FC236}">
                  <a16:creationId xmlns:a16="http://schemas.microsoft.com/office/drawing/2014/main" id="{F0E123D4-3EBB-4375-9912-5F8A74745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9886" y="3906881"/>
              <a:ext cx="303814" cy="3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6">
              <a:extLst>
                <a:ext uri="{FF2B5EF4-FFF2-40B4-BE49-F238E27FC236}">
                  <a16:creationId xmlns:a16="http://schemas.microsoft.com/office/drawing/2014/main" id="{0D4E4CF5-694C-41BB-8795-0818A7687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257" y="3913151"/>
              <a:ext cx="0" cy="3048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7">
              <a:extLst>
                <a:ext uri="{FF2B5EF4-FFF2-40B4-BE49-F238E27FC236}">
                  <a16:creationId xmlns:a16="http://schemas.microsoft.com/office/drawing/2014/main" id="{2D0D6CF8-18DC-4E5A-8823-04FCF9102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7457" y="4217951"/>
              <a:ext cx="3048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上箭头 24"/>
          <p:cNvSpPr/>
          <p:nvPr/>
        </p:nvSpPr>
        <p:spPr bwMode="auto">
          <a:xfrm>
            <a:off x="3125186" y="4487916"/>
            <a:ext cx="90000" cy="39413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26" name="上箭头 25"/>
          <p:cNvSpPr/>
          <p:nvPr/>
        </p:nvSpPr>
        <p:spPr bwMode="auto">
          <a:xfrm>
            <a:off x="2658773" y="4523386"/>
            <a:ext cx="90000" cy="872362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711"/>
            <a:ext cx="903288" cy="33813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fld id="{1A0B33E5-498C-48D3-9CB2-28689CC9EF23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22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7" grpId="0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7D3D9540-F40D-4EB9-86AB-EA528A56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49" charset="-122"/>
              </a:rPr>
              <a:t>补码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1096126" y="973052"/>
            <a:ext cx="78586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】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用补码进行下列运算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(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设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n = 8)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endParaRPr lang="zh-CN" altLang="en-US" sz="28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087821" y="1545020"/>
            <a:ext cx="75043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96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）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-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19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） </a:t>
            </a:r>
            <a:r>
              <a:rPr lang="zh-CN" altLang="en-US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anose="05050102010706020507" pitchFamily="18" charset="2"/>
              </a:rPr>
              <a:t> 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[X]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+   [ -Y]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 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= [X-Y]</a:t>
            </a:r>
            <a:r>
              <a:rPr kumimoji="0" lang="zh-CN" altLang="en-US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补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93228" y="1734210"/>
            <a:ext cx="7252138" cy="2522482"/>
            <a:chOff x="993228" y="1907630"/>
            <a:chExt cx="7252138" cy="2522482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FD80341B-B1DA-4DE5-BA04-06167B35382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93228" y="1907630"/>
              <a:ext cx="7252138" cy="2522482"/>
            </a:xfrm>
            <a:prstGeom prst="rect">
              <a:avLst/>
            </a:prstGeom>
          </p:spPr>
          <p:txBody>
            <a:bodyPr/>
            <a:lstStyle/>
            <a:p>
              <a:pPr marL="533400" marR="0" lvl="0" indent="-53340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</a:p>
            <a:p>
              <a:pPr marL="533400" marR="0" lvl="0" indent="-53340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       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                    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0 1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0 0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0 B   [+96]</a:t>
              </a:r>
              <a:r>
                <a:rPr kumimoji="0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补                </a:t>
              </a:r>
            </a:p>
            <a:p>
              <a:pPr marL="533400" marR="0" lvl="0" indent="-53340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</a:rPr>
                <a:t>                    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+   1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0 1 </a:t>
              </a:r>
              <a:r>
                <a:rPr kumimoji="0" lang="en-US" altLang="zh-CN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kumimoji="0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0 1 B   [-19]</a:t>
              </a:r>
              <a:r>
                <a:rPr kumimoji="0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补	</a:t>
              </a:r>
            </a:p>
            <a:p>
              <a:pPr marL="533400" lvl="0" indent="-533400" eaLnBrk="1" hangingPunct="1">
                <a:lnSpc>
                  <a:spcPct val="150000"/>
                </a:lnSpc>
                <a:buClr>
                  <a:schemeClr val="folHlink"/>
                </a:buClr>
                <a:buSzPct val="60000"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</a:rPr>
                <a:t>                     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1 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0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1 0 </a:t>
              </a:r>
              <a:r>
                <a:rPr kumimoji="0" lang="en-US" altLang="zh-CN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0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1 </a:t>
              </a:r>
              <a:r>
                <a:rPr kumimoji="0" lang="en-US" altLang="zh-CN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1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0 1 B    </a:t>
              </a:r>
              <a:r>
                <a:rPr kumimoji="0" lang="en-US" altLang="zh-CN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[</a:t>
              </a:r>
              <a:r>
                <a:rPr kumimoji="0" lang="en-US" altLang="zh-CN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X-Y</a:t>
              </a:r>
              <a:r>
                <a:rPr kumimoji="0" lang="en-US" altLang="zh-CN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]</a:t>
              </a:r>
              <a:r>
                <a:rPr kumimoji="0" lang="zh-CN" altLang="en-US" baseline="-25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补</a:t>
              </a:r>
              <a:r>
                <a:rPr kumimoji="0" lang="zh-CN" altLang="en-US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</a:t>
              </a:r>
              <a:r>
                <a:rPr kumimoji="0" lang="en-US" altLang="zh-CN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=  +77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533400" marR="0" lvl="0" indent="-53340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                                       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  <a:p>
              <a:pPr marL="533400" marR="0" lvl="0" indent="-53340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Tx/>
                <a:buNone/>
                <a:tabLst/>
                <a:defRPr/>
              </a:pP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10" name="Line 4">
              <a:extLst>
                <a:ext uri="{FF2B5EF4-FFF2-40B4-BE49-F238E27FC236}">
                  <a16:creationId xmlns:a16="http://schemas.microsoft.com/office/drawing/2014/main" id="{004F5D21-5923-4E20-8130-FF4D9DDB1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5214" y="3484168"/>
              <a:ext cx="4831976" cy="2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454031" y="3455937"/>
            <a:ext cx="304800" cy="304800"/>
            <a:chOff x="2517095" y="3645129"/>
            <a:chExt cx="304800" cy="304800"/>
          </a:xfrm>
        </p:grpSpPr>
        <p:sp>
          <p:nvSpPr>
            <p:cNvPr id="15" name="Line 4">
              <a:extLst>
                <a:ext uri="{FF2B5EF4-FFF2-40B4-BE49-F238E27FC236}">
                  <a16:creationId xmlns:a16="http://schemas.microsoft.com/office/drawing/2014/main" id="{F0874B75-8A6E-4274-BD17-26B123A64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095" y="3645129"/>
              <a:ext cx="0" cy="3048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5">
              <a:extLst>
                <a:ext uri="{FF2B5EF4-FFF2-40B4-BE49-F238E27FC236}">
                  <a16:creationId xmlns:a16="http://schemas.microsoft.com/office/drawing/2014/main" id="{F0E123D4-3EBB-4375-9912-5F8A74745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095" y="3645129"/>
              <a:ext cx="3048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6">
              <a:extLst>
                <a:ext uri="{FF2B5EF4-FFF2-40B4-BE49-F238E27FC236}">
                  <a16:creationId xmlns:a16="http://schemas.microsoft.com/office/drawing/2014/main" id="{0D4E4CF5-694C-41BB-8795-0818A7687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1895" y="3645129"/>
              <a:ext cx="0" cy="3048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7">
              <a:extLst>
                <a:ext uri="{FF2B5EF4-FFF2-40B4-BE49-F238E27FC236}">
                  <a16:creationId xmlns:a16="http://schemas.microsoft.com/office/drawing/2014/main" id="{2D0D6CF8-18DC-4E5A-8823-04FCF9102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095" y="3949929"/>
              <a:ext cx="3048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7E5CCBBF-FF5D-4877-9CBA-AC9E795E499C}"/>
              </a:ext>
            </a:extLst>
          </p:cNvPr>
          <p:cNvSpPr/>
          <p:nvPr/>
        </p:nvSpPr>
        <p:spPr>
          <a:xfrm>
            <a:off x="633589" y="5387858"/>
            <a:ext cx="81162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变补：已知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[Y]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补，求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[-Y]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补。方法：将</a:t>
            </a:r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每一位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（包括符号位）都按位取反，末位加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806456" y="3449667"/>
            <a:ext cx="306243" cy="311070"/>
            <a:chOff x="2627457" y="3906881"/>
            <a:chExt cx="306243" cy="311070"/>
          </a:xfrm>
        </p:grpSpPr>
        <p:sp>
          <p:nvSpPr>
            <p:cNvPr id="22" name="Line 4">
              <a:extLst>
                <a:ext uri="{FF2B5EF4-FFF2-40B4-BE49-F238E27FC236}">
                  <a16:creationId xmlns:a16="http://schemas.microsoft.com/office/drawing/2014/main" id="{F0874B75-8A6E-4274-BD17-26B123A64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7457" y="3913151"/>
              <a:ext cx="0" cy="3048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5">
              <a:extLst>
                <a:ext uri="{FF2B5EF4-FFF2-40B4-BE49-F238E27FC236}">
                  <a16:creationId xmlns:a16="http://schemas.microsoft.com/office/drawing/2014/main" id="{F0E123D4-3EBB-4375-9912-5F8A74745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9886" y="3906881"/>
              <a:ext cx="303814" cy="3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6">
              <a:extLst>
                <a:ext uri="{FF2B5EF4-FFF2-40B4-BE49-F238E27FC236}">
                  <a16:creationId xmlns:a16="http://schemas.microsoft.com/office/drawing/2014/main" id="{0D4E4CF5-694C-41BB-8795-0818A7687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257" y="3913151"/>
              <a:ext cx="0" cy="3048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7">
              <a:extLst>
                <a:ext uri="{FF2B5EF4-FFF2-40B4-BE49-F238E27FC236}">
                  <a16:creationId xmlns:a16="http://schemas.microsoft.com/office/drawing/2014/main" id="{2D0D6CF8-18DC-4E5A-8823-04FCF9102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7457" y="4217951"/>
              <a:ext cx="3048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上箭头 27"/>
          <p:cNvSpPr/>
          <p:nvPr/>
        </p:nvSpPr>
        <p:spPr bwMode="auto">
          <a:xfrm>
            <a:off x="2967526" y="3873042"/>
            <a:ext cx="90000" cy="39413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29" name="上箭头 28"/>
          <p:cNvSpPr/>
          <p:nvPr/>
        </p:nvSpPr>
        <p:spPr bwMode="auto">
          <a:xfrm>
            <a:off x="2501113" y="3908512"/>
            <a:ext cx="90000" cy="872362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2765204" y="4248809"/>
            <a:ext cx="5596759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marL="533400" lvl="0" indent="-533400" eaLnBrk="1" hangingPunct="1">
              <a:lnSpc>
                <a:spcPct val="90000"/>
              </a:lnSpc>
              <a:buClr>
                <a:schemeClr val="folHlink"/>
              </a:buClr>
              <a:buSzPct val="60000"/>
              <a:defRPr/>
            </a:pP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最高位（符号位）为</a:t>
            </a: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0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，结果为</a:t>
            </a: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正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2427888" y="4776952"/>
            <a:ext cx="38467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符号位的进位，丢掉</a:t>
            </a:r>
            <a:r>
              <a:rPr kumimoji="0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711"/>
            <a:ext cx="903288" cy="33813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fld id="{1A0B33E5-498C-48D3-9CB2-28689CC9EF23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23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0" grpId="0"/>
      <p:bldP spid="28" grpId="0" animBg="1"/>
      <p:bldP spid="29" grpId="0" animBg="1"/>
      <p:bldP spid="30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AF4F401-2587-4535-8D1A-D163A690A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1418" y="294196"/>
            <a:ext cx="5710237" cy="550862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、十进制数的二进制编码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(BCD)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D30A6F1B-ABA5-4FB0-9B5B-8DFAB0E9EAF7}"/>
              </a:ext>
            </a:extLst>
          </p:cNvPr>
          <p:cNvGrpSpPr>
            <a:grpSpLocks/>
          </p:cNvGrpSpPr>
          <p:nvPr/>
        </p:nvGrpSpPr>
        <p:grpSpPr bwMode="auto">
          <a:xfrm>
            <a:off x="157163" y="1033748"/>
            <a:ext cx="8905875" cy="4187825"/>
            <a:chOff x="103" y="1098"/>
            <a:chExt cx="5610" cy="2638"/>
          </a:xfrm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2FA78613-8BFA-431C-9634-CE5CE903CE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1098"/>
              <a:ext cx="911" cy="333"/>
              <a:chOff x="0" y="1230"/>
              <a:chExt cx="630" cy="748"/>
            </a:xfrm>
          </p:grpSpPr>
          <p:sp>
            <p:nvSpPr>
              <p:cNvPr id="203" name="Rectangle 6">
                <a:extLst>
                  <a:ext uri="{FF2B5EF4-FFF2-40B4-BE49-F238E27FC236}">
                    <a16:creationId xmlns:a16="http://schemas.microsoft.com/office/drawing/2014/main" id="{8D590244-DF85-4E10-99CF-7A47604E4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30"/>
                <a:ext cx="630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十进制数</a:t>
                </a:r>
              </a:p>
            </p:txBody>
          </p:sp>
          <p:sp>
            <p:nvSpPr>
              <p:cNvPr id="204" name="Rectangle 7">
                <a:extLst>
                  <a:ext uri="{FF2B5EF4-FFF2-40B4-BE49-F238E27FC236}">
                    <a16:creationId xmlns:a16="http://schemas.microsoft.com/office/drawing/2014/main" id="{E4B0E49B-5F8A-472F-839A-65D2711F6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30"/>
                <a:ext cx="630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D9B58F8B-CEEC-4FE8-AE91-91E2B1C68C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" y="1098"/>
              <a:ext cx="893" cy="333"/>
              <a:chOff x="630" y="1230"/>
              <a:chExt cx="618" cy="748"/>
            </a:xfrm>
          </p:grpSpPr>
          <p:sp>
            <p:nvSpPr>
              <p:cNvPr id="201" name="Rectangle 9">
                <a:extLst>
                  <a:ext uri="{FF2B5EF4-FFF2-40B4-BE49-F238E27FC236}">
                    <a16:creationId xmlns:a16="http://schemas.microsoft.com/office/drawing/2014/main" id="{3A2DF9F4-D8D0-4A3A-8872-8A2F7C79DC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1230"/>
                <a:ext cx="618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8421</a:t>
                </a:r>
                <a:r>
                  <a:rPr lang="zh-CN" altLang="en-US" sz="2800">
                    <a:latin typeface="Times New Roman" panose="02020603050405020304" pitchFamily="18" charset="0"/>
                  </a:rPr>
                  <a:t>码</a:t>
                </a:r>
              </a:p>
            </p:txBody>
          </p:sp>
          <p:sp>
            <p:nvSpPr>
              <p:cNvPr id="202" name="Rectangle 10">
                <a:extLst>
                  <a:ext uri="{FF2B5EF4-FFF2-40B4-BE49-F238E27FC236}">
                    <a16:creationId xmlns:a16="http://schemas.microsoft.com/office/drawing/2014/main" id="{116F5E01-16F6-49DE-AA61-434467448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1230"/>
                <a:ext cx="618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" name="Group 11">
              <a:extLst>
                <a:ext uri="{FF2B5EF4-FFF2-40B4-BE49-F238E27FC236}">
                  <a16:creationId xmlns:a16="http://schemas.microsoft.com/office/drawing/2014/main" id="{C32180A4-576E-44C4-8CC2-11E5E06975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1098"/>
              <a:ext cx="950" cy="333"/>
              <a:chOff x="1248" y="1230"/>
              <a:chExt cx="657" cy="748"/>
            </a:xfrm>
          </p:grpSpPr>
          <p:sp>
            <p:nvSpPr>
              <p:cNvPr id="199" name="Rectangle 12">
                <a:extLst>
                  <a:ext uri="{FF2B5EF4-FFF2-40B4-BE49-F238E27FC236}">
                    <a16:creationId xmlns:a16="http://schemas.microsoft.com/office/drawing/2014/main" id="{FF320580-394B-4CF2-9825-7A21B3CAC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230"/>
                <a:ext cx="657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2421</a:t>
                </a:r>
                <a:r>
                  <a:rPr lang="zh-CN" altLang="en-US" sz="2800">
                    <a:latin typeface="Times New Roman" panose="02020603050405020304" pitchFamily="18" charset="0"/>
                  </a:rPr>
                  <a:t>码</a:t>
                </a:r>
              </a:p>
            </p:txBody>
          </p:sp>
          <p:sp>
            <p:nvSpPr>
              <p:cNvPr id="200" name="Rectangle 13">
                <a:extLst>
                  <a:ext uri="{FF2B5EF4-FFF2-40B4-BE49-F238E27FC236}">
                    <a16:creationId xmlns:a16="http://schemas.microsoft.com/office/drawing/2014/main" id="{AD4411C6-04C5-4A6D-9802-00FC2F1BC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230"/>
                <a:ext cx="657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Group 14">
              <a:extLst>
                <a:ext uri="{FF2B5EF4-FFF2-40B4-BE49-F238E27FC236}">
                  <a16:creationId xmlns:a16="http://schemas.microsoft.com/office/drawing/2014/main" id="{5DB971F7-D588-40B9-AC29-4F8A391F76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1098"/>
              <a:ext cx="952" cy="333"/>
              <a:chOff x="1905" y="1230"/>
              <a:chExt cx="658" cy="748"/>
            </a:xfrm>
          </p:grpSpPr>
          <p:sp>
            <p:nvSpPr>
              <p:cNvPr id="197" name="Rectangle 15">
                <a:extLst>
                  <a:ext uri="{FF2B5EF4-FFF2-40B4-BE49-F238E27FC236}">
                    <a16:creationId xmlns:a16="http://schemas.microsoft.com/office/drawing/2014/main" id="{260425A9-B090-4B87-8A0F-9AC9F7AF9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230"/>
                <a:ext cx="658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5211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码</a:t>
                </a:r>
              </a:p>
            </p:txBody>
          </p:sp>
          <p:sp>
            <p:nvSpPr>
              <p:cNvPr id="198" name="Rectangle 16">
                <a:extLst>
                  <a:ext uri="{FF2B5EF4-FFF2-40B4-BE49-F238E27FC236}">
                    <a16:creationId xmlns:a16="http://schemas.microsoft.com/office/drawing/2014/main" id="{2049A182-74C5-4858-BB00-2498E41EB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230"/>
                <a:ext cx="658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" name="Group 17">
              <a:extLst>
                <a:ext uri="{FF2B5EF4-FFF2-40B4-BE49-F238E27FC236}">
                  <a16:creationId xmlns:a16="http://schemas.microsoft.com/office/drawing/2014/main" id="{5DE4B9DC-5BC7-48C2-AF20-AEF83F255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9" y="1098"/>
              <a:ext cx="951" cy="333"/>
              <a:chOff x="2563" y="1230"/>
              <a:chExt cx="658" cy="748"/>
            </a:xfrm>
          </p:grpSpPr>
          <p:sp>
            <p:nvSpPr>
              <p:cNvPr id="195" name="Rectangle 18">
                <a:extLst>
                  <a:ext uri="{FF2B5EF4-FFF2-40B4-BE49-F238E27FC236}">
                    <a16:creationId xmlns:a16="http://schemas.microsoft.com/office/drawing/2014/main" id="{4217F279-595E-4492-99BD-2C8E8A282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230"/>
                <a:ext cx="658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Times New Roman" panose="02020603050405020304" pitchFamily="18" charset="0"/>
                  </a:rPr>
                  <a:t>余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2800">
                    <a:latin typeface="Times New Roman" panose="02020603050405020304" pitchFamily="18" charset="0"/>
                  </a:rPr>
                  <a:t>码</a:t>
                </a:r>
              </a:p>
            </p:txBody>
          </p:sp>
          <p:sp>
            <p:nvSpPr>
              <p:cNvPr id="196" name="Rectangle 19">
                <a:extLst>
                  <a:ext uri="{FF2B5EF4-FFF2-40B4-BE49-F238E27FC236}">
                    <a16:creationId xmlns:a16="http://schemas.microsoft.com/office/drawing/2014/main" id="{A8E9296E-0352-418F-82BB-D989BF036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230"/>
                <a:ext cx="658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20">
              <a:extLst>
                <a:ext uri="{FF2B5EF4-FFF2-40B4-BE49-F238E27FC236}">
                  <a16:creationId xmlns:a16="http://schemas.microsoft.com/office/drawing/2014/main" id="{E1D911C4-500B-4971-991B-072C3D5BAA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0" y="1098"/>
              <a:ext cx="953" cy="333"/>
              <a:chOff x="3221" y="1230"/>
              <a:chExt cx="659" cy="748"/>
            </a:xfrm>
          </p:grpSpPr>
          <p:sp>
            <p:nvSpPr>
              <p:cNvPr id="193" name="Rectangle 21">
                <a:extLst>
                  <a:ext uri="{FF2B5EF4-FFF2-40B4-BE49-F238E27FC236}">
                    <a16:creationId xmlns:a16="http://schemas.microsoft.com/office/drawing/2014/main" id="{7532F24E-226D-4697-9832-BB0385B39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1230"/>
                <a:ext cx="659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Times New Roman" panose="02020603050405020304" pitchFamily="18" charset="0"/>
                  </a:rPr>
                  <a:t>格雷码</a:t>
                </a:r>
              </a:p>
            </p:txBody>
          </p:sp>
          <p:sp>
            <p:nvSpPr>
              <p:cNvPr id="194" name="Rectangle 22">
                <a:extLst>
                  <a:ext uri="{FF2B5EF4-FFF2-40B4-BE49-F238E27FC236}">
                    <a16:creationId xmlns:a16="http://schemas.microsoft.com/office/drawing/2014/main" id="{39492521-C225-43FC-B908-3081937062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1230"/>
                <a:ext cx="659" cy="74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23">
              <a:extLst>
                <a:ext uri="{FF2B5EF4-FFF2-40B4-BE49-F238E27FC236}">
                  <a16:creationId xmlns:a16="http://schemas.microsoft.com/office/drawing/2014/main" id="{3A39CADD-3DBE-45F9-9557-07FD0FF6CC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1431"/>
              <a:ext cx="911" cy="230"/>
              <a:chOff x="0" y="1978"/>
              <a:chExt cx="630" cy="518"/>
            </a:xfrm>
          </p:grpSpPr>
          <p:sp>
            <p:nvSpPr>
              <p:cNvPr id="191" name="Rectangle 24">
                <a:extLst>
                  <a:ext uri="{FF2B5EF4-FFF2-40B4-BE49-F238E27FC236}">
                    <a16:creationId xmlns:a16="http://schemas.microsoft.com/office/drawing/2014/main" id="{810B14A2-F728-4BF9-84A4-5C9DABC10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78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2" name="Rectangle 25">
                <a:extLst>
                  <a:ext uri="{FF2B5EF4-FFF2-40B4-BE49-F238E27FC236}">
                    <a16:creationId xmlns:a16="http://schemas.microsoft.com/office/drawing/2014/main" id="{5D8D9C28-8A55-43DD-95DC-D709AF39F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78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oup 26">
              <a:extLst>
                <a:ext uri="{FF2B5EF4-FFF2-40B4-BE49-F238E27FC236}">
                  <a16:creationId xmlns:a16="http://schemas.microsoft.com/office/drawing/2014/main" id="{D7B3AB6D-D3E4-4F78-8663-486D674CB1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" y="1431"/>
              <a:ext cx="893" cy="230"/>
              <a:chOff x="630" y="1978"/>
              <a:chExt cx="618" cy="518"/>
            </a:xfrm>
          </p:grpSpPr>
          <p:sp>
            <p:nvSpPr>
              <p:cNvPr id="189" name="Rectangle 27">
                <a:extLst>
                  <a:ext uri="{FF2B5EF4-FFF2-40B4-BE49-F238E27FC236}">
                    <a16:creationId xmlns:a16="http://schemas.microsoft.com/office/drawing/2014/main" id="{633D77E1-C1CE-4076-8227-B2BAA65E7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1978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</a:p>
            </p:txBody>
          </p:sp>
          <p:sp>
            <p:nvSpPr>
              <p:cNvPr id="190" name="Rectangle 28">
                <a:extLst>
                  <a:ext uri="{FF2B5EF4-FFF2-40B4-BE49-F238E27FC236}">
                    <a16:creationId xmlns:a16="http://schemas.microsoft.com/office/drawing/2014/main" id="{ECC254E5-4060-4E72-ACF4-76DEB3398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1978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5" name="Group 29">
              <a:extLst>
                <a:ext uri="{FF2B5EF4-FFF2-40B4-BE49-F238E27FC236}">
                  <a16:creationId xmlns:a16="http://schemas.microsoft.com/office/drawing/2014/main" id="{55A1061C-1FD2-4A95-A010-620E4A4F1F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1431"/>
              <a:ext cx="950" cy="230"/>
              <a:chOff x="1248" y="1978"/>
              <a:chExt cx="657" cy="518"/>
            </a:xfrm>
          </p:grpSpPr>
          <p:sp>
            <p:nvSpPr>
              <p:cNvPr id="187" name="Rectangle 30">
                <a:extLst>
                  <a:ext uri="{FF2B5EF4-FFF2-40B4-BE49-F238E27FC236}">
                    <a16:creationId xmlns:a16="http://schemas.microsoft.com/office/drawing/2014/main" id="{90E6B16F-3DA9-423D-9F21-F545BA8A5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978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</a:p>
            </p:txBody>
          </p:sp>
          <p:sp>
            <p:nvSpPr>
              <p:cNvPr id="188" name="Rectangle 31">
                <a:extLst>
                  <a:ext uri="{FF2B5EF4-FFF2-40B4-BE49-F238E27FC236}">
                    <a16:creationId xmlns:a16="http://schemas.microsoft.com/office/drawing/2014/main" id="{1D150277-1550-440A-868E-81D077E2F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978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32">
              <a:extLst>
                <a:ext uri="{FF2B5EF4-FFF2-40B4-BE49-F238E27FC236}">
                  <a16:creationId xmlns:a16="http://schemas.microsoft.com/office/drawing/2014/main" id="{0ADA376E-7558-4009-8320-3432090BA8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1431"/>
              <a:ext cx="952" cy="230"/>
              <a:chOff x="1905" y="1978"/>
              <a:chExt cx="658" cy="518"/>
            </a:xfrm>
          </p:grpSpPr>
          <p:sp>
            <p:nvSpPr>
              <p:cNvPr id="185" name="Rectangle 33">
                <a:extLst>
                  <a:ext uri="{FF2B5EF4-FFF2-40B4-BE49-F238E27FC236}">
                    <a16:creationId xmlns:a16="http://schemas.microsoft.com/office/drawing/2014/main" id="{E9F20594-2C44-4F43-B9A2-B8601FF9D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978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</a:p>
            </p:txBody>
          </p:sp>
          <p:sp>
            <p:nvSpPr>
              <p:cNvPr id="186" name="Rectangle 34">
                <a:extLst>
                  <a:ext uri="{FF2B5EF4-FFF2-40B4-BE49-F238E27FC236}">
                    <a16:creationId xmlns:a16="http://schemas.microsoft.com/office/drawing/2014/main" id="{7186BDB2-BA63-4EC1-B519-AEF25764C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978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35">
              <a:extLst>
                <a:ext uri="{FF2B5EF4-FFF2-40B4-BE49-F238E27FC236}">
                  <a16:creationId xmlns:a16="http://schemas.microsoft.com/office/drawing/2014/main" id="{69585CA9-BFD8-4F82-A936-06D4DB5421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9" y="1431"/>
              <a:ext cx="951" cy="230"/>
              <a:chOff x="2563" y="1978"/>
              <a:chExt cx="658" cy="518"/>
            </a:xfrm>
          </p:grpSpPr>
          <p:sp>
            <p:nvSpPr>
              <p:cNvPr id="183" name="Rectangle 36">
                <a:extLst>
                  <a:ext uri="{FF2B5EF4-FFF2-40B4-BE49-F238E27FC236}">
                    <a16:creationId xmlns:a16="http://schemas.microsoft.com/office/drawing/2014/main" id="{9945B0C3-F5BA-4580-A001-F5A165AED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978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0011</a:t>
                </a:r>
              </a:p>
            </p:txBody>
          </p:sp>
          <p:sp>
            <p:nvSpPr>
              <p:cNvPr id="184" name="Rectangle 37">
                <a:extLst>
                  <a:ext uri="{FF2B5EF4-FFF2-40B4-BE49-F238E27FC236}">
                    <a16:creationId xmlns:a16="http://schemas.microsoft.com/office/drawing/2014/main" id="{7ABE65E4-7D43-46C5-829F-857264FD7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978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38">
              <a:extLst>
                <a:ext uri="{FF2B5EF4-FFF2-40B4-BE49-F238E27FC236}">
                  <a16:creationId xmlns:a16="http://schemas.microsoft.com/office/drawing/2014/main" id="{7DFA65B0-D302-4260-83A6-C77E4A18C6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0" y="1431"/>
              <a:ext cx="953" cy="230"/>
              <a:chOff x="3221" y="1978"/>
              <a:chExt cx="659" cy="518"/>
            </a:xfrm>
          </p:grpSpPr>
          <p:sp>
            <p:nvSpPr>
              <p:cNvPr id="181" name="Rectangle 39">
                <a:extLst>
                  <a:ext uri="{FF2B5EF4-FFF2-40B4-BE49-F238E27FC236}">
                    <a16:creationId xmlns:a16="http://schemas.microsoft.com/office/drawing/2014/main" id="{F0BBDBBA-C7B9-45F3-8F6F-1A6BA6C5D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1978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</a:p>
            </p:txBody>
          </p:sp>
          <p:sp>
            <p:nvSpPr>
              <p:cNvPr id="182" name="Rectangle 40">
                <a:extLst>
                  <a:ext uri="{FF2B5EF4-FFF2-40B4-BE49-F238E27FC236}">
                    <a16:creationId xmlns:a16="http://schemas.microsoft.com/office/drawing/2014/main" id="{439410EC-EAEE-445D-98E9-17B49EEF2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1978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41">
              <a:extLst>
                <a:ext uri="{FF2B5EF4-FFF2-40B4-BE49-F238E27FC236}">
                  <a16:creationId xmlns:a16="http://schemas.microsoft.com/office/drawing/2014/main" id="{D420495F-50F6-4184-82B6-97AFE7792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1661"/>
              <a:ext cx="911" cy="231"/>
              <a:chOff x="0" y="2496"/>
              <a:chExt cx="630" cy="518"/>
            </a:xfrm>
          </p:grpSpPr>
          <p:sp>
            <p:nvSpPr>
              <p:cNvPr id="179" name="Rectangle 42">
                <a:extLst>
                  <a:ext uri="{FF2B5EF4-FFF2-40B4-BE49-F238E27FC236}">
                    <a16:creationId xmlns:a16="http://schemas.microsoft.com/office/drawing/2014/main" id="{642ED8FD-5313-4D0D-B85B-A1A17849B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496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80" name="Rectangle 43">
                <a:extLst>
                  <a:ext uri="{FF2B5EF4-FFF2-40B4-BE49-F238E27FC236}">
                    <a16:creationId xmlns:a16="http://schemas.microsoft.com/office/drawing/2014/main" id="{80F1F6ED-7BF2-4E03-960F-14E9F8F06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496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Group 44">
              <a:extLst>
                <a:ext uri="{FF2B5EF4-FFF2-40B4-BE49-F238E27FC236}">
                  <a16:creationId xmlns:a16="http://schemas.microsoft.com/office/drawing/2014/main" id="{1D9279AC-A35D-4EFD-9444-9DBBA24B35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" y="1661"/>
              <a:ext cx="893" cy="231"/>
              <a:chOff x="630" y="2496"/>
              <a:chExt cx="618" cy="518"/>
            </a:xfrm>
          </p:grpSpPr>
          <p:sp>
            <p:nvSpPr>
              <p:cNvPr id="177" name="Rectangle 45">
                <a:extLst>
                  <a:ext uri="{FF2B5EF4-FFF2-40B4-BE49-F238E27FC236}">
                    <a16:creationId xmlns:a16="http://schemas.microsoft.com/office/drawing/2014/main" id="{66506CBC-B8CA-4E92-8EA3-4C87188E3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496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0001</a:t>
                </a:r>
              </a:p>
            </p:txBody>
          </p:sp>
          <p:sp>
            <p:nvSpPr>
              <p:cNvPr id="178" name="Rectangle 46">
                <a:extLst>
                  <a:ext uri="{FF2B5EF4-FFF2-40B4-BE49-F238E27FC236}">
                    <a16:creationId xmlns:a16="http://schemas.microsoft.com/office/drawing/2014/main" id="{724061DE-C658-4538-A801-1C822F6CB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496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47">
              <a:extLst>
                <a:ext uri="{FF2B5EF4-FFF2-40B4-BE49-F238E27FC236}">
                  <a16:creationId xmlns:a16="http://schemas.microsoft.com/office/drawing/2014/main" id="{27D785BD-C62D-4225-B833-3F444C2AC3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1661"/>
              <a:ext cx="950" cy="231"/>
              <a:chOff x="1248" y="2496"/>
              <a:chExt cx="657" cy="518"/>
            </a:xfrm>
          </p:grpSpPr>
          <p:sp>
            <p:nvSpPr>
              <p:cNvPr id="175" name="Rectangle 48">
                <a:extLst>
                  <a:ext uri="{FF2B5EF4-FFF2-40B4-BE49-F238E27FC236}">
                    <a16:creationId xmlns:a16="http://schemas.microsoft.com/office/drawing/2014/main" id="{EED3A3B1-969F-4C01-BCE0-41FD4BD689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496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0001</a:t>
                </a:r>
              </a:p>
            </p:txBody>
          </p:sp>
          <p:sp>
            <p:nvSpPr>
              <p:cNvPr id="176" name="Rectangle 49">
                <a:extLst>
                  <a:ext uri="{FF2B5EF4-FFF2-40B4-BE49-F238E27FC236}">
                    <a16:creationId xmlns:a16="http://schemas.microsoft.com/office/drawing/2014/main" id="{FF653FE6-03FB-4399-A93D-F29E45C10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496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Group 50">
              <a:extLst>
                <a:ext uri="{FF2B5EF4-FFF2-40B4-BE49-F238E27FC236}">
                  <a16:creationId xmlns:a16="http://schemas.microsoft.com/office/drawing/2014/main" id="{DDBB735C-49B3-4327-810A-C75041B04E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1661"/>
              <a:ext cx="952" cy="231"/>
              <a:chOff x="1905" y="2496"/>
              <a:chExt cx="658" cy="518"/>
            </a:xfrm>
          </p:grpSpPr>
          <p:sp>
            <p:nvSpPr>
              <p:cNvPr id="173" name="Rectangle 51">
                <a:extLst>
                  <a:ext uri="{FF2B5EF4-FFF2-40B4-BE49-F238E27FC236}">
                    <a16:creationId xmlns:a16="http://schemas.microsoft.com/office/drawing/2014/main" id="{0261ACEA-4082-468A-A965-F1FD49DA7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2496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0001</a:t>
                </a:r>
              </a:p>
            </p:txBody>
          </p:sp>
          <p:sp>
            <p:nvSpPr>
              <p:cNvPr id="174" name="Rectangle 52">
                <a:extLst>
                  <a:ext uri="{FF2B5EF4-FFF2-40B4-BE49-F238E27FC236}">
                    <a16:creationId xmlns:a16="http://schemas.microsoft.com/office/drawing/2014/main" id="{C81F16F0-457F-4F09-8374-3221A30F3B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2496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Group 53">
              <a:extLst>
                <a:ext uri="{FF2B5EF4-FFF2-40B4-BE49-F238E27FC236}">
                  <a16:creationId xmlns:a16="http://schemas.microsoft.com/office/drawing/2014/main" id="{F57D0733-5F26-42C7-84E9-E88F9D7988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9" y="1661"/>
              <a:ext cx="951" cy="231"/>
              <a:chOff x="2563" y="2496"/>
              <a:chExt cx="658" cy="518"/>
            </a:xfrm>
          </p:grpSpPr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B915B3DF-EE73-475E-91E7-8EB4599F6E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2496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0100</a:t>
                </a:r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E16EAE00-9220-4139-A6A2-FE265F3AE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2496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" name="Group 56">
              <a:extLst>
                <a:ext uri="{FF2B5EF4-FFF2-40B4-BE49-F238E27FC236}">
                  <a16:creationId xmlns:a16="http://schemas.microsoft.com/office/drawing/2014/main" id="{6EC9186B-637F-4299-89BD-94031951E5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0" y="1661"/>
              <a:ext cx="953" cy="231"/>
              <a:chOff x="3221" y="2496"/>
              <a:chExt cx="659" cy="518"/>
            </a:xfrm>
          </p:grpSpPr>
          <p:sp>
            <p:nvSpPr>
              <p:cNvPr id="169" name="Rectangle 57">
                <a:extLst>
                  <a:ext uri="{FF2B5EF4-FFF2-40B4-BE49-F238E27FC236}">
                    <a16:creationId xmlns:a16="http://schemas.microsoft.com/office/drawing/2014/main" id="{A753C0C4-6773-41CD-AE23-A327E1DD6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2496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0001</a:t>
                </a:r>
              </a:p>
            </p:txBody>
          </p:sp>
          <p:sp>
            <p:nvSpPr>
              <p:cNvPr id="170" name="Rectangle 58">
                <a:extLst>
                  <a:ext uri="{FF2B5EF4-FFF2-40B4-BE49-F238E27FC236}">
                    <a16:creationId xmlns:a16="http://schemas.microsoft.com/office/drawing/2014/main" id="{238E77C1-CDF6-4E75-B7D0-7AB9A41F3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2496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" name="Group 59">
              <a:extLst>
                <a:ext uri="{FF2B5EF4-FFF2-40B4-BE49-F238E27FC236}">
                  <a16:creationId xmlns:a16="http://schemas.microsoft.com/office/drawing/2014/main" id="{8905AEE6-0046-4AD2-93F6-DCA9109ECA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1892"/>
              <a:ext cx="911" cy="230"/>
              <a:chOff x="0" y="3014"/>
              <a:chExt cx="630" cy="518"/>
            </a:xfrm>
          </p:grpSpPr>
          <p:sp>
            <p:nvSpPr>
              <p:cNvPr id="167" name="Rectangle 60">
                <a:extLst>
                  <a:ext uri="{FF2B5EF4-FFF2-40B4-BE49-F238E27FC236}">
                    <a16:creationId xmlns:a16="http://schemas.microsoft.com/office/drawing/2014/main" id="{90FA3CB3-C01E-4CDB-983F-FC3B87530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014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68" name="Rectangle 61">
                <a:extLst>
                  <a:ext uri="{FF2B5EF4-FFF2-40B4-BE49-F238E27FC236}">
                    <a16:creationId xmlns:a16="http://schemas.microsoft.com/office/drawing/2014/main" id="{F648AA61-B068-4893-B409-9A06B0E43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014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" name="Group 62">
              <a:extLst>
                <a:ext uri="{FF2B5EF4-FFF2-40B4-BE49-F238E27FC236}">
                  <a16:creationId xmlns:a16="http://schemas.microsoft.com/office/drawing/2014/main" id="{9C5C86D9-2EFB-4557-941E-82AF0E8359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" y="1892"/>
              <a:ext cx="893" cy="230"/>
              <a:chOff x="630" y="3014"/>
              <a:chExt cx="618" cy="518"/>
            </a:xfrm>
          </p:grpSpPr>
          <p:sp>
            <p:nvSpPr>
              <p:cNvPr id="165" name="Rectangle 63">
                <a:extLst>
                  <a:ext uri="{FF2B5EF4-FFF2-40B4-BE49-F238E27FC236}">
                    <a16:creationId xmlns:a16="http://schemas.microsoft.com/office/drawing/2014/main" id="{8698DDAD-AD28-45A9-9805-EB27412246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3014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0010</a:t>
                </a:r>
              </a:p>
            </p:txBody>
          </p:sp>
          <p:sp>
            <p:nvSpPr>
              <p:cNvPr id="166" name="Rectangle 64">
                <a:extLst>
                  <a:ext uri="{FF2B5EF4-FFF2-40B4-BE49-F238E27FC236}">
                    <a16:creationId xmlns:a16="http://schemas.microsoft.com/office/drawing/2014/main" id="{69DBF960-A282-47E8-9252-10BA34BC81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3014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" name="Group 65">
              <a:extLst>
                <a:ext uri="{FF2B5EF4-FFF2-40B4-BE49-F238E27FC236}">
                  <a16:creationId xmlns:a16="http://schemas.microsoft.com/office/drawing/2014/main" id="{A0A96EA8-9287-419A-832B-FA16A89FAF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1892"/>
              <a:ext cx="950" cy="230"/>
              <a:chOff x="1248" y="3014"/>
              <a:chExt cx="657" cy="518"/>
            </a:xfrm>
          </p:grpSpPr>
          <p:sp>
            <p:nvSpPr>
              <p:cNvPr id="163" name="Rectangle 66">
                <a:extLst>
                  <a:ext uri="{FF2B5EF4-FFF2-40B4-BE49-F238E27FC236}">
                    <a16:creationId xmlns:a16="http://schemas.microsoft.com/office/drawing/2014/main" id="{85CC95DF-9657-4DD2-A1EB-95D9B7DE1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014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0010</a:t>
                </a:r>
              </a:p>
            </p:txBody>
          </p:sp>
          <p:sp>
            <p:nvSpPr>
              <p:cNvPr id="164" name="Rectangle 67">
                <a:extLst>
                  <a:ext uri="{FF2B5EF4-FFF2-40B4-BE49-F238E27FC236}">
                    <a16:creationId xmlns:a16="http://schemas.microsoft.com/office/drawing/2014/main" id="{C41182F7-7821-4BBF-AC5C-1279608785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014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" name="Group 68">
              <a:extLst>
                <a:ext uri="{FF2B5EF4-FFF2-40B4-BE49-F238E27FC236}">
                  <a16:creationId xmlns:a16="http://schemas.microsoft.com/office/drawing/2014/main" id="{A536A6A3-C88C-426C-82C9-B5B02A8C32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1892"/>
              <a:ext cx="952" cy="230"/>
              <a:chOff x="1905" y="3014"/>
              <a:chExt cx="658" cy="518"/>
            </a:xfrm>
          </p:grpSpPr>
          <p:sp>
            <p:nvSpPr>
              <p:cNvPr id="161" name="Rectangle 69">
                <a:extLst>
                  <a:ext uri="{FF2B5EF4-FFF2-40B4-BE49-F238E27FC236}">
                    <a16:creationId xmlns:a16="http://schemas.microsoft.com/office/drawing/2014/main" id="{B01443CC-C4D6-407B-BB71-6E315106E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3014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0011</a:t>
                </a:r>
              </a:p>
            </p:txBody>
          </p:sp>
          <p:sp>
            <p:nvSpPr>
              <p:cNvPr id="162" name="Rectangle 70">
                <a:extLst>
                  <a:ext uri="{FF2B5EF4-FFF2-40B4-BE49-F238E27FC236}">
                    <a16:creationId xmlns:a16="http://schemas.microsoft.com/office/drawing/2014/main" id="{F58273A0-7B86-4585-A55D-2EC9526020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3014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" name="Group 71">
              <a:extLst>
                <a:ext uri="{FF2B5EF4-FFF2-40B4-BE49-F238E27FC236}">
                  <a16:creationId xmlns:a16="http://schemas.microsoft.com/office/drawing/2014/main" id="{170D3096-08B2-47A9-8F9F-5ED895FB1B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9" y="1892"/>
              <a:ext cx="951" cy="230"/>
              <a:chOff x="2563" y="3014"/>
              <a:chExt cx="658" cy="518"/>
            </a:xfrm>
          </p:grpSpPr>
          <p:sp>
            <p:nvSpPr>
              <p:cNvPr id="159" name="Rectangle 72">
                <a:extLst>
                  <a:ext uri="{FF2B5EF4-FFF2-40B4-BE49-F238E27FC236}">
                    <a16:creationId xmlns:a16="http://schemas.microsoft.com/office/drawing/2014/main" id="{89ED6302-882D-48C5-8001-189910176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3014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0101</a:t>
                </a:r>
              </a:p>
            </p:txBody>
          </p:sp>
          <p:sp>
            <p:nvSpPr>
              <p:cNvPr id="160" name="Rectangle 73">
                <a:extLst>
                  <a:ext uri="{FF2B5EF4-FFF2-40B4-BE49-F238E27FC236}">
                    <a16:creationId xmlns:a16="http://schemas.microsoft.com/office/drawing/2014/main" id="{313CACD2-CC20-46BF-84CC-FE3F45CCD1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3014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Group 74">
              <a:extLst>
                <a:ext uri="{FF2B5EF4-FFF2-40B4-BE49-F238E27FC236}">
                  <a16:creationId xmlns:a16="http://schemas.microsoft.com/office/drawing/2014/main" id="{ECFEFF57-C862-4425-860D-5E5740CA8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0" y="1892"/>
              <a:ext cx="953" cy="230"/>
              <a:chOff x="3221" y="3014"/>
              <a:chExt cx="659" cy="518"/>
            </a:xfrm>
          </p:grpSpPr>
          <p:sp>
            <p:nvSpPr>
              <p:cNvPr id="157" name="Rectangle 75">
                <a:extLst>
                  <a:ext uri="{FF2B5EF4-FFF2-40B4-BE49-F238E27FC236}">
                    <a16:creationId xmlns:a16="http://schemas.microsoft.com/office/drawing/2014/main" id="{075FC9BD-8F55-4399-8710-E8511A111D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3014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0011</a:t>
                </a:r>
              </a:p>
            </p:txBody>
          </p:sp>
          <p:sp>
            <p:nvSpPr>
              <p:cNvPr id="158" name="Rectangle 76">
                <a:extLst>
                  <a:ext uri="{FF2B5EF4-FFF2-40B4-BE49-F238E27FC236}">
                    <a16:creationId xmlns:a16="http://schemas.microsoft.com/office/drawing/2014/main" id="{B436B8F9-2B5F-41B5-88A0-DCD8278856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3014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" name="Group 77">
              <a:extLst>
                <a:ext uri="{FF2B5EF4-FFF2-40B4-BE49-F238E27FC236}">
                  <a16:creationId xmlns:a16="http://schemas.microsoft.com/office/drawing/2014/main" id="{92E38001-133D-47CA-9BEF-50CBBABE4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2122"/>
              <a:ext cx="911" cy="231"/>
              <a:chOff x="0" y="3532"/>
              <a:chExt cx="630" cy="518"/>
            </a:xfrm>
          </p:grpSpPr>
          <p:sp>
            <p:nvSpPr>
              <p:cNvPr id="155" name="Rectangle 78">
                <a:extLst>
                  <a:ext uri="{FF2B5EF4-FFF2-40B4-BE49-F238E27FC236}">
                    <a16:creationId xmlns:a16="http://schemas.microsoft.com/office/drawing/2014/main" id="{B03A208D-B4E9-4A4B-8D99-CE58D4660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532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56" name="Rectangle 79">
                <a:extLst>
                  <a:ext uri="{FF2B5EF4-FFF2-40B4-BE49-F238E27FC236}">
                    <a16:creationId xmlns:a16="http://schemas.microsoft.com/office/drawing/2014/main" id="{0C191812-21D1-4CA5-85BC-62517D2DC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532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2" name="Group 80">
              <a:extLst>
                <a:ext uri="{FF2B5EF4-FFF2-40B4-BE49-F238E27FC236}">
                  <a16:creationId xmlns:a16="http://schemas.microsoft.com/office/drawing/2014/main" id="{9EEE9AE3-B3F8-4525-8FBD-A1EB947222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" y="2122"/>
              <a:ext cx="893" cy="231"/>
              <a:chOff x="630" y="3532"/>
              <a:chExt cx="618" cy="518"/>
            </a:xfrm>
          </p:grpSpPr>
          <p:sp>
            <p:nvSpPr>
              <p:cNvPr id="153" name="Rectangle 81">
                <a:extLst>
                  <a:ext uri="{FF2B5EF4-FFF2-40B4-BE49-F238E27FC236}">
                    <a16:creationId xmlns:a16="http://schemas.microsoft.com/office/drawing/2014/main" id="{EF5CA9C2-442D-4108-8B4B-D8267461E3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3532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0011</a:t>
                </a:r>
              </a:p>
            </p:txBody>
          </p:sp>
          <p:sp>
            <p:nvSpPr>
              <p:cNvPr id="154" name="Rectangle 82">
                <a:extLst>
                  <a:ext uri="{FF2B5EF4-FFF2-40B4-BE49-F238E27FC236}">
                    <a16:creationId xmlns:a16="http://schemas.microsoft.com/office/drawing/2014/main" id="{A3FA6338-A884-45BA-9251-5230BDFBE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3532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3" name="Group 83">
              <a:extLst>
                <a:ext uri="{FF2B5EF4-FFF2-40B4-BE49-F238E27FC236}">
                  <a16:creationId xmlns:a16="http://schemas.microsoft.com/office/drawing/2014/main" id="{C0C50522-A0DB-4883-9708-61A9C221AD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2122"/>
              <a:ext cx="950" cy="231"/>
              <a:chOff x="1248" y="3532"/>
              <a:chExt cx="657" cy="518"/>
            </a:xfrm>
          </p:grpSpPr>
          <p:sp>
            <p:nvSpPr>
              <p:cNvPr id="151" name="Rectangle 84">
                <a:extLst>
                  <a:ext uri="{FF2B5EF4-FFF2-40B4-BE49-F238E27FC236}">
                    <a16:creationId xmlns:a16="http://schemas.microsoft.com/office/drawing/2014/main" id="{3397516E-E38E-4458-A127-BE28A3C6E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532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0011</a:t>
                </a:r>
              </a:p>
            </p:txBody>
          </p:sp>
          <p:sp>
            <p:nvSpPr>
              <p:cNvPr id="152" name="Rectangle 85">
                <a:extLst>
                  <a:ext uri="{FF2B5EF4-FFF2-40B4-BE49-F238E27FC236}">
                    <a16:creationId xmlns:a16="http://schemas.microsoft.com/office/drawing/2014/main" id="{06A68CF3-743C-4017-9FA5-8DE067BADF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532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4" name="Group 86">
              <a:extLst>
                <a:ext uri="{FF2B5EF4-FFF2-40B4-BE49-F238E27FC236}">
                  <a16:creationId xmlns:a16="http://schemas.microsoft.com/office/drawing/2014/main" id="{56CFF362-1EFC-40A2-A67B-559185818E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2122"/>
              <a:ext cx="952" cy="231"/>
              <a:chOff x="1905" y="3532"/>
              <a:chExt cx="658" cy="518"/>
            </a:xfrm>
          </p:grpSpPr>
          <p:sp>
            <p:nvSpPr>
              <p:cNvPr id="149" name="Rectangle 87">
                <a:extLst>
                  <a:ext uri="{FF2B5EF4-FFF2-40B4-BE49-F238E27FC236}">
                    <a16:creationId xmlns:a16="http://schemas.microsoft.com/office/drawing/2014/main" id="{2DB226DE-BD56-4076-AD21-E25A8D419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3532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0101</a:t>
                </a:r>
              </a:p>
            </p:txBody>
          </p:sp>
          <p:sp>
            <p:nvSpPr>
              <p:cNvPr id="150" name="Rectangle 88">
                <a:extLst>
                  <a:ext uri="{FF2B5EF4-FFF2-40B4-BE49-F238E27FC236}">
                    <a16:creationId xmlns:a16="http://schemas.microsoft.com/office/drawing/2014/main" id="{C23D72D6-7BC7-4512-9637-9F8BB2EA3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3532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89">
              <a:extLst>
                <a:ext uri="{FF2B5EF4-FFF2-40B4-BE49-F238E27FC236}">
                  <a16:creationId xmlns:a16="http://schemas.microsoft.com/office/drawing/2014/main" id="{A2AA18D8-CBAD-4753-81C4-7F9F5DCDF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9" y="2122"/>
              <a:ext cx="951" cy="231"/>
              <a:chOff x="2563" y="3532"/>
              <a:chExt cx="658" cy="518"/>
            </a:xfrm>
          </p:grpSpPr>
          <p:sp>
            <p:nvSpPr>
              <p:cNvPr id="147" name="Rectangle 90">
                <a:extLst>
                  <a:ext uri="{FF2B5EF4-FFF2-40B4-BE49-F238E27FC236}">
                    <a16:creationId xmlns:a16="http://schemas.microsoft.com/office/drawing/2014/main" id="{19D63936-8089-493B-B919-B1C09618D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3532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0110</a:t>
                </a:r>
              </a:p>
            </p:txBody>
          </p:sp>
          <p:sp>
            <p:nvSpPr>
              <p:cNvPr id="148" name="Rectangle 91">
                <a:extLst>
                  <a:ext uri="{FF2B5EF4-FFF2-40B4-BE49-F238E27FC236}">
                    <a16:creationId xmlns:a16="http://schemas.microsoft.com/office/drawing/2014/main" id="{CB1261BB-A525-4187-966D-4072626DD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3532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" name="Group 92">
              <a:extLst>
                <a:ext uri="{FF2B5EF4-FFF2-40B4-BE49-F238E27FC236}">
                  <a16:creationId xmlns:a16="http://schemas.microsoft.com/office/drawing/2014/main" id="{6FF48298-7639-4BCE-B7A4-15E0376094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0" y="2122"/>
              <a:ext cx="953" cy="231"/>
              <a:chOff x="3221" y="3532"/>
              <a:chExt cx="659" cy="518"/>
            </a:xfrm>
          </p:grpSpPr>
          <p:sp>
            <p:nvSpPr>
              <p:cNvPr id="145" name="Rectangle 93">
                <a:extLst>
                  <a:ext uri="{FF2B5EF4-FFF2-40B4-BE49-F238E27FC236}">
                    <a16:creationId xmlns:a16="http://schemas.microsoft.com/office/drawing/2014/main" id="{288452F0-D0D2-44A2-9140-C37C44D27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3532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0010</a:t>
                </a:r>
              </a:p>
            </p:txBody>
          </p:sp>
          <p:sp>
            <p:nvSpPr>
              <p:cNvPr id="146" name="Rectangle 94">
                <a:extLst>
                  <a:ext uri="{FF2B5EF4-FFF2-40B4-BE49-F238E27FC236}">
                    <a16:creationId xmlns:a16="http://schemas.microsoft.com/office/drawing/2014/main" id="{9D67800E-356D-4FA4-B78B-0594BBC91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3532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" name="Group 95">
              <a:extLst>
                <a:ext uri="{FF2B5EF4-FFF2-40B4-BE49-F238E27FC236}">
                  <a16:creationId xmlns:a16="http://schemas.microsoft.com/office/drawing/2014/main" id="{8FF6C037-7D3A-4622-8BE0-1E331DE9C4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2353"/>
              <a:ext cx="911" cy="230"/>
              <a:chOff x="0" y="4050"/>
              <a:chExt cx="630" cy="518"/>
            </a:xfrm>
          </p:grpSpPr>
          <p:sp>
            <p:nvSpPr>
              <p:cNvPr id="143" name="Rectangle 96">
                <a:extLst>
                  <a:ext uri="{FF2B5EF4-FFF2-40B4-BE49-F238E27FC236}">
                    <a16:creationId xmlns:a16="http://schemas.microsoft.com/office/drawing/2014/main" id="{7F24403A-BA68-4638-A5C9-FFC069FA7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050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4" name="Rectangle 97">
                <a:extLst>
                  <a:ext uri="{FF2B5EF4-FFF2-40B4-BE49-F238E27FC236}">
                    <a16:creationId xmlns:a16="http://schemas.microsoft.com/office/drawing/2014/main" id="{B9471305-2CD2-4284-8EB3-C88C44DA8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050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8" name="Group 98">
              <a:extLst>
                <a:ext uri="{FF2B5EF4-FFF2-40B4-BE49-F238E27FC236}">
                  <a16:creationId xmlns:a16="http://schemas.microsoft.com/office/drawing/2014/main" id="{251E95C1-0392-4564-A6D4-B452D638B8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" y="2353"/>
              <a:ext cx="893" cy="230"/>
              <a:chOff x="630" y="4050"/>
              <a:chExt cx="618" cy="518"/>
            </a:xfrm>
          </p:grpSpPr>
          <p:sp>
            <p:nvSpPr>
              <p:cNvPr id="141" name="Rectangle 99">
                <a:extLst>
                  <a:ext uri="{FF2B5EF4-FFF2-40B4-BE49-F238E27FC236}">
                    <a16:creationId xmlns:a16="http://schemas.microsoft.com/office/drawing/2014/main" id="{9739D8C0-5F40-4E9A-B890-33497C343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4050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0100</a:t>
                </a:r>
              </a:p>
            </p:txBody>
          </p:sp>
          <p:sp>
            <p:nvSpPr>
              <p:cNvPr id="142" name="Rectangle 100">
                <a:extLst>
                  <a:ext uri="{FF2B5EF4-FFF2-40B4-BE49-F238E27FC236}">
                    <a16:creationId xmlns:a16="http://schemas.microsoft.com/office/drawing/2014/main" id="{5CB16D4F-8602-452F-A422-C7F93BAC8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4050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Group 101">
              <a:extLst>
                <a:ext uri="{FF2B5EF4-FFF2-40B4-BE49-F238E27FC236}">
                  <a16:creationId xmlns:a16="http://schemas.microsoft.com/office/drawing/2014/main" id="{CC81AA09-0B07-473F-90D4-F53585B163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2353"/>
              <a:ext cx="950" cy="230"/>
              <a:chOff x="1248" y="4050"/>
              <a:chExt cx="657" cy="518"/>
            </a:xfrm>
          </p:grpSpPr>
          <p:sp>
            <p:nvSpPr>
              <p:cNvPr id="139" name="Rectangle 102">
                <a:extLst>
                  <a:ext uri="{FF2B5EF4-FFF2-40B4-BE49-F238E27FC236}">
                    <a16:creationId xmlns:a16="http://schemas.microsoft.com/office/drawing/2014/main" id="{8AB723C7-88CA-457E-8AA5-41176FAAA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4050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0100</a:t>
                </a:r>
              </a:p>
            </p:txBody>
          </p:sp>
          <p:sp>
            <p:nvSpPr>
              <p:cNvPr id="140" name="Rectangle 103">
                <a:extLst>
                  <a:ext uri="{FF2B5EF4-FFF2-40B4-BE49-F238E27FC236}">
                    <a16:creationId xmlns:a16="http://schemas.microsoft.com/office/drawing/2014/main" id="{6C94CE70-A0DE-44CC-A2CD-9328A9D7B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4050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0" name="Group 104">
              <a:extLst>
                <a:ext uri="{FF2B5EF4-FFF2-40B4-BE49-F238E27FC236}">
                  <a16:creationId xmlns:a16="http://schemas.microsoft.com/office/drawing/2014/main" id="{FB9B2C07-3EB4-4C84-8BBE-E8A02BF9FD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2353"/>
              <a:ext cx="952" cy="230"/>
              <a:chOff x="1905" y="4050"/>
              <a:chExt cx="658" cy="518"/>
            </a:xfrm>
          </p:grpSpPr>
          <p:sp>
            <p:nvSpPr>
              <p:cNvPr id="137" name="Rectangle 105">
                <a:extLst>
                  <a:ext uri="{FF2B5EF4-FFF2-40B4-BE49-F238E27FC236}">
                    <a16:creationId xmlns:a16="http://schemas.microsoft.com/office/drawing/2014/main" id="{E986695C-CC7F-4753-B004-6C5061802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4050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0111</a:t>
                </a:r>
              </a:p>
            </p:txBody>
          </p:sp>
          <p:sp>
            <p:nvSpPr>
              <p:cNvPr id="138" name="Rectangle 106">
                <a:extLst>
                  <a:ext uri="{FF2B5EF4-FFF2-40B4-BE49-F238E27FC236}">
                    <a16:creationId xmlns:a16="http://schemas.microsoft.com/office/drawing/2014/main" id="{0F674A6C-7600-433B-ADD9-9E6D39911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4050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1" name="Group 107">
              <a:extLst>
                <a:ext uri="{FF2B5EF4-FFF2-40B4-BE49-F238E27FC236}">
                  <a16:creationId xmlns:a16="http://schemas.microsoft.com/office/drawing/2014/main" id="{0296DA98-4B55-416F-BABB-D56B1D1403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9" y="2353"/>
              <a:ext cx="951" cy="230"/>
              <a:chOff x="2563" y="4050"/>
              <a:chExt cx="658" cy="518"/>
            </a:xfrm>
          </p:grpSpPr>
          <p:sp>
            <p:nvSpPr>
              <p:cNvPr id="135" name="Rectangle 108">
                <a:extLst>
                  <a:ext uri="{FF2B5EF4-FFF2-40B4-BE49-F238E27FC236}">
                    <a16:creationId xmlns:a16="http://schemas.microsoft.com/office/drawing/2014/main" id="{E9BA8C25-D87F-4CA7-8D71-87B9911DE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4050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0111</a:t>
                </a:r>
              </a:p>
            </p:txBody>
          </p:sp>
          <p:sp>
            <p:nvSpPr>
              <p:cNvPr id="136" name="Rectangle 109">
                <a:extLst>
                  <a:ext uri="{FF2B5EF4-FFF2-40B4-BE49-F238E27FC236}">
                    <a16:creationId xmlns:a16="http://schemas.microsoft.com/office/drawing/2014/main" id="{35DFA8D5-AC2B-4B35-A194-2CA38644F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4050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2" name="Group 110">
              <a:extLst>
                <a:ext uri="{FF2B5EF4-FFF2-40B4-BE49-F238E27FC236}">
                  <a16:creationId xmlns:a16="http://schemas.microsoft.com/office/drawing/2014/main" id="{4091DE03-DF9E-4A0A-AFD9-7908B010D9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0" y="2353"/>
              <a:ext cx="953" cy="230"/>
              <a:chOff x="3221" y="4050"/>
              <a:chExt cx="659" cy="518"/>
            </a:xfrm>
          </p:grpSpPr>
          <p:sp>
            <p:nvSpPr>
              <p:cNvPr id="133" name="Rectangle 111">
                <a:extLst>
                  <a:ext uri="{FF2B5EF4-FFF2-40B4-BE49-F238E27FC236}">
                    <a16:creationId xmlns:a16="http://schemas.microsoft.com/office/drawing/2014/main" id="{BB3603B8-1D2E-434B-A6D7-5C4487976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4050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0110</a:t>
                </a:r>
              </a:p>
            </p:txBody>
          </p:sp>
          <p:sp>
            <p:nvSpPr>
              <p:cNvPr id="134" name="Rectangle 112">
                <a:extLst>
                  <a:ext uri="{FF2B5EF4-FFF2-40B4-BE49-F238E27FC236}">
                    <a16:creationId xmlns:a16="http://schemas.microsoft.com/office/drawing/2014/main" id="{A3C295D7-39FB-4C80-94C9-DC7123AF5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4050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3" name="Group 113">
              <a:extLst>
                <a:ext uri="{FF2B5EF4-FFF2-40B4-BE49-F238E27FC236}">
                  <a16:creationId xmlns:a16="http://schemas.microsoft.com/office/drawing/2014/main" id="{798A1FD8-42E9-4CF4-8EE6-2D24A0C61E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2583"/>
              <a:ext cx="911" cy="231"/>
              <a:chOff x="0" y="4568"/>
              <a:chExt cx="630" cy="518"/>
            </a:xfrm>
          </p:grpSpPr>
          <p:sp>
            <p:nvSpPr>
              <p:cNvPr id="131" name="Rectangle 114">
                <a:extLst>
                  <a:ext uri="{FF2B5EF4-FFF2-40B4-BE49-F238E27FC236}">
                    <a16:creationId xmlns:a16="http://schemas.microsoft.com/office/drawing/2014/main" id="{766C9BC7-C93D-4989-8324-2F9533B2C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568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32" name="Rectangle 115">
                <a:extLst>
                  <a:ext uri="{FF2B5EF4-FFF2-40B4-BE49-F238E27FC236}">
                    <a16:creationId xmlns:a16="http://schemas.microsoft.com/office/drawing/2014/main" id="{DE2E3670-4045-4575-A139-487565EC7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568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4" name="Group 116">
              <a:extLst>
                <a:ext uri="{FF2B5EF4-FFF2-40B4-BE49-F238E27FC236}">
                  <a16:creationId xmlns:a16="http://schemas.microsoft.com/office/drawing/2014/main" id="{4DCFD07F-6793-4B0B-B2EC-2E0EFFDBD1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" y="2583"/>
              <a:ext cx="893" cy="231"/>
              <a:chOff x="630" y="4568"/>
              <a:chExt cx="618" cy="518"/>
            </a:xfrm>
          </p:grpSpPr>
          <p:sp>
            <p:nvSpPr>
              <p:cNvPr id="129" name="Rectangle 117">
                <a:extLst>
                  <a:ext uri="{FF2B5EF4-FFF2-40B4-BE49-F238E27FC236}">
                    <a16:creationId xmlns:a16="http://schemas.microsoft.com/office/drawing/2014/main" id="{D97479E9-14A0-4143-A287-42D378BCD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4568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0101</a:t>
                </a:r>
              </a:p>
            </p:txBody>
          </p:sp>
          <p:sp>
            <p:nvSpPr>
              <p:cNvPr id="130" name="Rectangle 118">
                <a:extLst>
                  <a:ext uri="{FF2B5EF4-FFF2-40B4-BE49-F238E27FC236}">
                    <a16:creationId xmlns:a16="http://schemas.microsoft.com/office/drawing/2014/main" id="{AFBC0009-78C0-4CB2-AEA0-4B6FD0532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4568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5" name="Group 119">
              <a:extLst>
                <a:ext uri="{FF2B5EF4-FFF2-40B4-BE49-F238E27FC236}">
                  <a16:creationId xmlns:a16="http://schemas.microsoft.com/office/drawing/2014/main" id="{D444CDCD-FD35-4D7A-AD78-1C6FFE1CA5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2583"/>
              <a:ext cx="950" cy="231"/>
              <a:chOff x="1248" y="4568"/>
              <a:chExt cx="657" cy="518"/>
            </a:xfrm>
          </p:grpSpPr>
          <p:sp>
            <p:nvSpPr>
              <p:cNvPr id="127" name="Rectangle 120">
                <a:extLst>
                  <a:ext uri="{FF2B5EF4-FFF2-40B4-BE49-F238E27FC236}">
                    <a16:creationId xmlns:a16="http://schemas.microsoft.com/office/drawing/2014/main" id="{10FA8AE3-62DC-41BE-9913-E51B734B9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4568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1011</a:t>
                </a:r>
              </a:p>
            </p:txBody>
          </p:sp>
          <p:sp>
            <p:nvSpPr>
              <p:cNvPr id="128" name="Rectangle 121">
                <a:extLst>
                  <a:ext uri="{FF2B5EF4-FFF2-40B4-BE49-F238E27FC236}">
                    <a16:creationId xmlns:a16="http://schemas.microsoft.com/office/drawing/2014/main" id="{E57D3EAC-8509-475F-8D25-0AD6894EF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4568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6" name="Group 122">
              <a:extLst>
                <a:ext uri="{FF2B5EF4-FFF2-40B4-BE49-F238E27FC236}">
                  <a16:creationId xmlns:a16="http://schemas.microsoft.com/office/drawing/2014/main" id="{A41C9F7C-28F6-4C05-9B23-4E8E194725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2583"/>
              <a:ext cx="952" cy="231"/>
              <a:chOff x="1905" y="4568"/>
              <a:chExt cx="658" cy="518"/>
            </a:xfrm>
          </p:grpSpPr>
          <p:sp>
            <p:nvSpPr>
              <p:cNvPr id="125" name="Rectangle 123">
                <a:extLst>
                  <a:ext uri="{FF2B5EF4-FFF2-40B4-BE49-F238E27FC236}">
                    <a16:creationId xmlns:a16="http://schemas.microsoft.com/office/drawing/2014/main" id="{31DEBD40-CC71-4991-9CC5-AFF19B321C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4568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1000</a:t>
                </a:r>
              </a:p>
            </p:txBody>
          </p:sp>
          <p:sp>
            <p:nvSpPr>
              <p:cNvPr id="126" name="Rectangle 124">
                <a:extLst>
                  <a:ext uri="{FF2B5EF4-FFF2-40B4-BE49-F238E27FC236}">
                    <a16:creationId xmlns:a16="http://schemas.microsoft.com/office/drawing/2014/main" id="{50B70870-8D97-4DAE-9370-BA247CBB5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4568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7" name="Group 125">
              <a:extLst>
                <a:ext uri="{FF2B5EF4-FFF2-40B4-BE49-F238E27FC236}">
                  <a16:creationId xmlns:a16="http://schemas.microsoft.com/office/drawing/2014/main" id="{8ADECF74-6B67-465C-AD4F-C914E656E6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9" y="2583"/>
              <a:ext cx="951" cy="231"/>
              <a:chOff x="2563" y="4568"/>
              <a:chExt cx="658" cy="518"/>
            </a:xfrm>
          </p:grpSpPr>
          <p:sp>
            <p:nvSpPr>
              <p:cNvPr id="123" name="Rectangle 126">
                <a:extLst>
                  <a:ext uri="{FF2B5EF4-FFF2-40B4-BE49-F238E27FC236}">
                    <a16:creationId xmlns:a16="http://schemas.microsoft.com/office/drawing/2014/main" id="{2B8145BB-1F8B-4AD2-ACCA-E8A461235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4568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1000</a:t>
                </a:r>
              </a:p>
            </p:txBody>
          </p:sp>
          <p:sp>
            <p:nvSpPr>
              <p:cNvPr id="124" name="Rectangle 127">
                <a:extLst>
                  <a:ext uri="{FF2B5EF4-FFF2-40B4-BE49-F238E27FC236}">
                    <a16:creationId xmlns:a16="http://schemas.microsoft.com/office/drawing/2014/main" id="{7CD24006-F97B-41B2-92BC-F20179B8CF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4568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8" name="Group 128">
              <a:extLst>
                <a:ext uri="{FF2B5EF4-FFF2-40B4-BE49-F238E27FC236}">
                  <a16:creationId xmlns:a16="http://schemas.microsoft.com/office/drawing/2014/main" id="{A95A80D4-17A3-4C1B-8709-77458FD8ED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0" y="2583"/>
              <a:ext cx="953" cy="231"/>
              <a:chOff x="3221" y="4568"/>
              <a:chExt cx="659" cy="518"/>
            </a:xfrm>
          </p:grpSpPr>
          <p:sp>
            <p:nvSpPr>
              <p:cNvPr id="121" name="Rectangle 129">
                <a:extLst>
                  <a:ext uri="{FF2B5EF4-FFF2-40B4-BE49-F238E27FC236}">
                    <a16:creationId xmlns:a16="http://schemas.microsoft.com/office/drawing/2014/main" id="{6C6A1665-7AA3-4B8E-8B05-195380A53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4568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1110</a:t>
                </a:r>
              </a:p>
            </p:txBody>
          </p:sp>
          <p:sp>
            <p:nvSpPr>
              <p:cNvPr id="122" name="Rectangle 130">
                <a:extLst>
                  <a:ext uri="{FF2B5EF4-FFF2-40B4-BE49-F238E27FC236}">
                    <a16:creationId xmlns:a16="http://schemas.microsoft.com/office/drawing/2014/main" id="{F9FCF7E2-CDDA-4B1C-9C25-B8FF6961C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4568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9" name="Group 131">
              <a:extLst>
                <a:ext uri="{FF2B5EF4-FFF2-40B4-BE49-F238E27FC236}">
                  <a16:creationId xmlns:a16="http://schemas.microsoft.com/office/drawing/2014/main" id="{06E1477B-D248-4EE7-9B7C-E66ED08D9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2814"/>
              <a:ext cx="911" cy="230"/>
              <a:chOff x="0" y="5086"/>
              <a:chExt cx="630" cy="518"/>
            </a:xfrm>
          </p:grpSpPr>
          <p:sp>
            <p:nvSpPr>
              <p:cNvPr id="119" name="Rectangle 132">
                <a:extLst>
                  <a:ext uri="{FF2B5EF4-FFF2-40B4-BE49-F238E27FC236}">
                    <a16:creationId xmlns:a16="http://schemas.microsoft.com/office/drawing/2014/main" id="{BAA13DE8-4BFA-441C-95CB-221463B55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086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20" name="Rectangle 133">
                <a:extLst>
                  <a:ext uri="{FF2B5EF4-FFF2-40B4-BE49-F238E27FC236}">
                    <a16:creationId xmlns:a16="http://schemas.microsoft.com/office/drawing/2014/main" id="{D891F339-AE60-454F-B5D3-5C944CD0F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086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0" name="Group 134">
              <a:extLst>
                <a:ext uri="{FF2B5EF4-FFF2-40B4-BE49-F238E27FC236}">
                  <a16:creationId xmlns:a16="http://schemas.microsoft.com/office/drawing/2014/main" id="{D94AC08D-B12F-4841-99DC-7B131B3585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" y="2814"/>
              <a:ext cx="893" cy="230"/>
              <a:chOff x="630" y="5086"/>
              <a:chExt cx="618" cy="518"/>
            </a:xfrm>
          </p:grpSpPr>
          <p:sp>
            <p:nvSpPr>
              <p:cNvPr id="117" name="Rectangle 135">
                <a:extLst>
                  <a:ext uri="{FF2B5EF4-FFF2-40B4-BE49-F238E27FC236}">
                    <a16:creationId xmlns:a16="http://schemas.microsoft.com/office/drawing/2014/main" id="{AFD97CE4-F330-4A18-A917-2297FCB12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5086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0110</a:t>
                </a:r>
              </a:p>
            </p:txBody>
          </p:sp>
          <p:sp>
            <p:nvSpPr>
              <p:cNvPr id="118" name="Rectangle 136">
                <a:extLst>
                  <a:ext uri="{FF2B5EF4-FFF2-40B4-BE49-F238E27FC236}">
                    <a16:creationId xmlns:a16="http://schemas.microsoft.com/office/drawing/2014/main" id="{5A02EBC8-9CF2-4B8D-9233-311E0215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5086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1" name="Group 137">
              <a:extLst>
                <a:ext uri="{FF2B5EF4-FFF2-40B4-BE49-F238E27FC236}">
                  <a16:creationId xmlns:a16="http://schemas.microsoft.com/office/drawing/2014/main" id="{752EA8D8-897A-4291-AAC6-F4D9F47323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2814"/>
              <a:ext cx="950" cy="230"/>
              <a:chOff x="1248" y="5086"/>
              <a:chExt cx="657" cy="518"/>
            </a:xfrm>
          </p:grpSpPr>
          <p:sp>
            <p:nvSpPr>
              <p:cNvPr id="115" name="Rectangle 138">
                <a:extLst>
                  <a:ext uri="{FF2B5EF4-FFF2-40B4-BE49-F238E27FC236}">
                    <a16:creationId xmlns:a16="http://schemas.microsoft.com/office/drawing/2014/main" id="{63F443B8-6182-44C4-96CD-41EAF2232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5086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1100</a:t>
                </a:r>
              </a:p>
            </p:txBody>
          </p:sp>
          <p:sp>
            <p:nvSpPr>
              <p:cNvPr id="116" name="Rectangle 139">
                <a:extLst>
                  <a:ext uri="{FF2B5EF4-FFF2-40B4-BE49-F238E27FC236}">
                    <a16:creationId xmlns:a16="http://schemas.microsoft.com/office/drawing/2014/main" id="{1F2E9875-9A11-4D16-A118-B75699A694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5086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" name="Group 140">
              <a:extLst>
                <a:ext uri="{FF2B5EF4-FFF2-40B4-BE49-F238E27FC236}">
                  <a16:creationId xmlns:a16="http://schemas.microsoft.com/office/drawing/2014/main" id="{0B07A805-D663-46B8-AF34-852D86D5EC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2814"/>
              <a:ext cx="952" cy="230"/>
              <a:chOff x="1905" y="5086"/>
              <a:chExt cx="658" cy="518"/>
            </a:xfrm>
          </p:grpSpPr>
          <p:sp>
            <p:nvSpPr>
              <p:cNvPr id="113" name="Rectangle 141">
                <a:extLst>
                  <a:ext uri="{FF2B5EF4-FFF2-40B4-BE49-F238E27FC236}">
                    <a16:creationId xmlns:a16="http://schemas.microsoft.com/office/drawing/2014/main" id="{74E43CBE-0329-414E-A412-A3850C0EA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5086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1001</a:t>
                </a:r>
              </a:p>
            </p:txBody>
          </p:sp>
          <p:sp>
            <p:nvSpPr>
              <p:cNvPr id="114" name="Rectangle 142">
                <a:extLst>
                  <a:ext uri="{FF2B5EF4-FFF2-40B4-BE49-F238E27FC236}">
                    <a16:creationId xmlns:a16="http://schemas.microsoft.com/office/drawing/2014/main" id="{28A70F9A-6BBB-48DD-A51C-7960E913F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5086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3" name="Group 143">
              <a:extLst>
                <a:ext uri="{FF2B5EF4-FFF2-40B4-BE49-F238E27FC236}">
                  <a16:creationId xmlns:a16="http://schemas.microsoft.com/office/drawing/2014/main" id="{C48E8504-756F-4A3B-9C05-921607C19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9" y="2814"/>
              <a:ext cx="951" cy="230"/>
              <a:chOff x="2563" y="5086"/>
              <a:chExt cx="658" cy="518"/>
            </a:xfrm>
          </p:grpSpPr>
          <p:sp>
            <p:nvSpPr>
              <p:cNvPr id="111" name="Rectangle 144">
                <a:extLst>
                  <a:ext uri="{FF2B5EF4-FFF2-40B4-BE49-F238E27FC236}">
                    <a16:creationId xmlns:a16="http://schemas.microsoft.com/office/drawing/2014/main" id="{06131E11-316A-4F9F-896D-273A52AB5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5086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1001</a:t>
                </a:r>
              </a:p>
            </p:txBody>
          </p:sp>
          <p:sp>
            <p:nvSpPr>
              <p:cNvPr id="112" name="Rectangle 145">
                <a:extLst>
                  <a:ext uri="{FF2B5EF4-FFF2-40B4-BE49-F238E27FC236}">
                    <a16:creationId xmlns:a16="http://schemas.microsoft.com/office/drawing/2014/main" id="{DA0ED166-92BB-4B12-960E-D1D27DB09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5086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4" name="Group 146">
              <a:extLst>
                <a:ext uri="{FF2B5EF4-FFF2-40B4-BE49-F238E27FC236}">
                  <a16:creationId xmlns:a16="http://schemas.microsoft.com/office/drawing/2014/main" id="{DE880445-8FBE-405D-8252-B79E09CBD8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0" y="2814"/>
              <a:ext cx="953" cy="230"/>
              <a:chOff x="3221" y="5086"/>
              <a:chExt cx="659" cy="518"/>
            </a:xfrm>
          </p:grpSpPr>
          <p:sp>
            <p:nvSpPr>
              <p:cNvPr id="109" name="Rectangle 147">
                <a:extLst>
                  <a:ext uri="{FF2B5EF4-FFF2-40B4-BE49-F238E27FC236}">
                    <a16:creationId xmlns:a16="http://schemas.microsoft.com/office/drawing/2014/main" id="{1B23330E-F7E4-40A6-8460-DE80B1E72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5086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1010</a:t>
                </a:r>
              </a:p>
            </p:txBody>
          </p:sp>
          <p:sp>
            <p:nvSpPr>
              <p:cNvPr id="110" name="Rectangle 148">
                <a:extLst>
                  <a:ext uri="{FF2B5EF4-FFF2-40B4-BE49-F238E27FC236}">
                    <a16:creationId xmlns:a16="http://schemas.microsoft.com/office/drawing/2014/main" id="{A926B0B0-45F6-404D-B92B-B736A30968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5086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5" name="Group 149">
              <a:extLst>
                <a:ext uri="{FF2B5EF4-FFF2-40B4-BE49-F238E27FC236}">
                  <a16:creationId xmlns:a16="http://schemas.microsoft.com/office/drawing/2014/main" id="{90E16E2B-6E92-48D1-A405-30A2EEB7BC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3044"/>
              <a:ext cx="911" cy="231"/>
              <a:chOff x="0" y="5604"/>
              <a:chExt cx="630" cy="518"/>
            </a:xfrm>
          </p:grpSpPr>
          <p:sp>
            <p:nvSpPr>
              <p:cNvPr id="107" name="Rectangle 150">
                <a:extLst>
                  <a:ext uri="{FF2B5EF4-FFF2-40B4-BE49-F238E27FC236}">
                    <a16:creationId xmlns:a16="http://schemas.microsoft.com/office/drawing/2014/main" id="{ADD6B722-4788-4BAD-ADBF-EB0F910FA8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604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08" name="Rectangle 151">
                <a:extLst>
                  <a:ext uri="{FF2B5EF4-FFF2-40B4-BE49-F238E27FC236}">
                    <a16:creationId xmlns:a16="http://schemas.microsoft.com/office/drawing/2014/main" id="{8F058389-B801-4778-890A-58FB42FC6F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604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6" name="Group 152">
              <a:extLst>
                <a:ext uri="{FF2B5EF4-FFF2-40B4-BE49-F238E27FC236}">
                  <a16:creationId xmlns:a16="http://schemas.microsoft.com/office/drawing/2014/main" id="{85464340-17F4-420F-AF44-7E522AE53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" y="3044"/>
              <a:ext cx="893" cy="231"/>
              <a:chOff x="630" y="5604"/>
              <a:chExt cx="618" cy="518"/>
            </a:xfrm>
          </p:grpSpPr>
          <p:sp>
            <p:nvSpPr>
              <p:cNvPr id="105" name="Rectangle 153">
                <a:extLst>
                  <a:ext uri="{FF2B5EF4-FFF2-40B4-BE49-F238E27FC236}">
                    <a16:creationId xmlns:a16="http://schemas.microsoft.com/office/drawing/2014/main" id="{BCD0EE2A-AD3E-4F19-9D67-854CBF8A1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5604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0111</a:t>
                </a:r>
              </a:p>
            </p:txBody>
          </p:sp>
          <p:sp>
            <p:nvSpPr>
              <p:cNvPr id="106" name="Rectangle 154">
                <a:extLst>
                  <a:ext uri="{FF2B5EF4-FFF2-40B4-BE49-F238E27FC236}">
                    <a16:creationId xmlns:a16="http://schemas.microsoft.com/office/drawing/2014/main" id="{488CFA9C-5378-4D7D-A7A8-424D1AA1F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5604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7" name="Group 155">
              <a:extLst>
                <a:ext uri="{FF2B5EF4-FFF2-40B4-BE49-F238E27FC236}">
                  <a16:creationId xmlns:a16="http://schemas.microsoft.com/office/drawing/2014/main" id="{377D53ED-393C-4104-91A4-22DA3622C4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3044"/>
              <a:ext cx="950" cy="231"/>
              <a:chOff x="1248" y="5604"/>
              <a:chExt cx="657" cy="518"/>
            </a:xfrm>
          </p:grpSpPr>
          <p:sp>
            <p:nvSpPr>
              <p:cNvPr id="103" name="Rectangle 156">
                <a:extLst>
                  <a:ext uri="{FF2B5EF4-FFF2-40B4-BE49-F238E27FC236}">
                    <a16:creationId xmlns:a16="http://schemas.microsoft.com/office/drawing/2014/main" id="{4DB72CFD-2221-4693-930E-3E210BFAC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5604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1101</a:t>
                </a:r>
              </a:p>
            </p:txBody>
          </p:sp>
          <p:sp>
            <p:nvSpPr>
              <p:cNvPr id="104" name="Rectangle 157">
                <a:extLst>
                  <a:ext uri="{FF2B5EF4-FFF2-40B4-BE49-F238E27FC236}">
                    <a16:creationId xmlns:a16="http://schemas.microsoft.com/office/drawing/2014/main" id="{40D2639A-CCA7-44C7-B9E9-E8800F425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5604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" name="Group 158">
              <a:extLst>
                <a:ext uri="{FF2B5EF4-FFF2-40B4-BE49-F238E27FC236}">
                  <a16:creationId xmlns:a16="http://schemas.microsoft.com/office/drawing/2014/main" id="{216CFE35-4DE8-4FDC-A081-6161114F7E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3044"/>
              <a:ext cx="952" cy="231"/>
              <a:chOff x="1905" y="5604"/>
              <a:chExt cx="658" cy="518"/>
            </a:xfrm>
          </p:grpSpPr>
          <p:sp>
            <p:nvSpPr>
              <p:cNvPr id="101" name="Rectangle 159">
                <a:extLst>
                  <a:ext uri="{FF2B5EF4-FFF2-40B4-BE49-F238E27FC236}">
                    <a16:creationId xmlns:a16="http://schemas.microsoft.com/office/drawing/2014/main" id="{90B4E039-7134-4B55-88BF-C7266333F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5604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1100</a:t>
                </a:r>
              </a:p>
            </p:txBody>
          </p:sp>
          <p:sp>
            <p:nvSpPr>
              <p:cNvPr id="102" name="Rectangle 160">
                <a:extLst>
                  <a:ext uri="{FF2B5EF4-FFF2-40B4-BE49-F238E27FC236}">
                    <a16:creationId xmlns:a16="http://schemas.microsoft.com/office/drawing/2014/main" id="{11B27F1A-3C25-45A5-BCCE-E8265E5EB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5604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9" name="Group 161">
              <a:extLst>
                <a:ext uri="{FF2B5EF4-FFF2-40B4-BE49-F238E27FC236}">
                  <a16:creationId xmlns:a16="http://schemas.microsoft.com/office/drawing/2014/main" id="{9F005A9D-4393-43E6-B724-B21C12440F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9" y="3044"/>
              <a:ext cx="951" cy="231"/>
              <a:chOff x="2563" y="5604"/>
              <a:chExt cx="658" cy="518"/>
            </a:xfrm>
          </p:grpSpPr>
          <p:sp>
            <p:nvSpPr>
              <p:cNvPr id="99" name="Rectangle 162">
                <a:extLst>
                  <a:ext uri="{FF2B5EF4-FFF2-40B4-BE49-F238E27FC236}">
                    <a16:creationId xmlns:a16="http://schemas.microsoft.com/office/drawing/2014/main" id="{869AA868-81B1-47F2-97AD-27D5F4E06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5604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1010</a:t>
                </a:r>
              </a:p>
            </p:txBody>
          </p:sp>
          <p:sp>
            <p:nvSpPr>
              <p:cNvPr id="100" name="Rectangle 163">
                <a:extLst>
                  <a:ext uri="{FF2B5EF4-FFF2-40B4-BE49-F238E27FC236}">
                    <a16:creationId xmlns:a16="http://schemas.microsoft.com/office/drawing/2014/main" id="{87111857-0057-4406-8B53-D778EA65BB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5604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0" name="Group 164">
              <a:extLst>
                <a:ext uri="{FF2B5EF4-FFF2-40B4-BE49-F238E27FC236}">
                  <a16:creationId xmlns:a16="http://schemas.microsoft.com/office/drawing/2014/main" id="{8BCFFAAB-96B4-4A24-926A-90E4EB0DDD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0" y="3044"/>
              <a:ext cx="953" cy="231"/>
              <a:chOff x="3221" y="5604"/>
              <a:chExt cx="659" cy="518"/>
            </a:xfrm>
          </p:grpSpPr>
          <p:sp>
            <p:nvSpPr>
              <p:cNvPr id="97" name="Rectangle 165">
                <a:extLst>
                  <a:ext uri="{FF2B5EF4-FFF2-40B4-BE49-F238E27FC236}">
                    <a16:creationId xmlns:a16="http://schemas.microsoft.com/office/drawing/2014/main" id="{7A31F1C4-D399-431F-A52D-A3278FD23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5604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1000</a:t>
                </a:r>
              </a:p>
            </p:txBody>
          </p:sp>
          <p:sp>
            <p:nvSpPr>
              <p:cNvPr id="98" name="Rectangle 166">
                <a:extLst>
                  <a:ext uri="{FF2B5EF4-FFF2-40B4-BE49-F238E27FC236}">
                    <a16:creationId xmlns:a16="http://schemas.microsoft.com/office/drawing/2014/main" id="{985FB7F8-BBE1-4936-9EF8-FD770F3D03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5604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1" name="Group 167">
              <a:extLst>
                <a:ext uri="{FF2B5EF4-FFF2-40B4-BE49-F238E27FC236}">
                  <a16:creationId xmlns:a16="http://schemas.microsoft.com/office/drawing/2014/main" id="{5BA41B11-5C7D-481B-ACE7-C27E24E0C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3275"/>
              <a:ext cx="911" cy="230"/>
              <a:chOff x="0" y="6122"/>
              <a:chExt cx="630" cy="518"/>
            </a:xfrm>
          </p:grpSpPr>
          <p:sp>
            <p:nvSpPr>
              <p:cNvPr id="95" name="Rectangle 168">
                <a:extLst>
                  <a:ext uri="{FF2B5EF4-FFF2-40B4-BE49-F238E27FC236}">
                    <a16:creationId xmlns:a16="http://schemas.microsoft.com/office/drawing/2014/main" id="{58A94BC2-5041-4871-822E-750EF491D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122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96" name="Rectangle 169">
                <a:extLst>
                  <a:ext uri="{FF2B5EF4-FFF2-40B4-BE49-F238E27FC236}">
                    <a16:creationId xmlns:a16="http://schemas.microsoft.com/office/drawing/2014/main" id="{3929191A-07B8-49C5-96DA-448AE8893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122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2" name="Group 170">
              <a:extLst>
                <a:ext uri="{FF2B5EF4-FFF2-40B4-BE49-F238E27FC236}">
                  <a16:creationId xmlns:a16="http://schemas.microsoft.com/office/drawing/2014/main" id="{6FD03C92-4BE7-4B65-9AC4-2F71B499EB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" y="3275"/>
              <a:ext cx="893" cy="230"/>
              <a:chOff x="630" y="6122"/>
              <a:chExt cx="618" cy="518"/>
            </a:xfrm>
          </p:grpSpPr>
          <p:sp>
            <p:nvSpPr>
              <p:cNvPr id="93" name="Rectangle 171">
                <a:extLst>
                  <a:ext uri="{FF2B5EF4-FFF2-40B4-BE49-F238E27FC236}">
                    <a16:creationId xmlns:a16="http://schemas.microsoft.com/office/drawing/2014/main" id="{B53ECE3A-3530-4D9B-AAAB-4AEC855D4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6122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1000</a:t>
                </a:r>
              </a:p>
            </p:txBody>
          </p:sp>
          <p:sp>
            <p:nvSpPr>
              <p:cNvPr id="94" name="Rectangle 172">
                <a:extLst>
                  <a:ext uri="{FF2B5EF4-FFF2-40B4-BE49-F238E27FC236}">
                    <a16:creationId xmlns:a16="http://schemas.microsoft.com/office/drawing/2014/main" id="{4637CE26-612D-464C-BCCE-F9A02FDFA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6122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3" name="Group 173">
              <a:extLst>
                <a:ext uri="{FF2B5EF4-FFF2-40B4-BE49-F238E27FC236}">
                  <a16:creationId xmlns:a16="http://schemas.microsoft.com/office/drawing/2014/main" id="{E1527D60-092B-44A7-93F4-C5874F1EE1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3275"/>
              <a:ext cx="950" cy="230"/>
              <a:chOff x="1248" y="6122"/>
              <a:chExt cx="657" cy="518"/>
            </a:xfrm>
          </p:grpSpPr>
          <p:sp>
            <p:nvSpPr>
              <p:cNvPr id="91" name="Rectangle 174">
                <a:extLst>
                  <a:ext uri="{FF2B5EF4-FFF2-40B4-BE49-F238E27FC236}">
                    <a16:creationId xmlns:a16="http://schemas.microsoft.com/office/drawing/2014/main" id="{71800C2C-D313-4929-8E82-4A54F1FDE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6122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1110</a:t>
                </a:r>
              </a:p>
            </p:txBody>
          </p:sp>
          <p:sp>
            <p:nvSpPr>
              <p:cNvPr id="92" name="Rectangle 175">
                <a:extLst>
                  <a:ext uri="{FF2B5EF4-FFF2-40B4-BE49-F238E27FC236}">
                    <a16:creationId xmlns:a16="http://schemas.microsoft.com/office/drawing/2014/main" id="{22F67190-13D4-4692-9D99-E8F28C285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6122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4" name="Group 176">
              <a:extLst>
                <a:ext uri="{FF2B5EF4-FFF2-40B4-BE49-F238E27FC236}">
                  <a16:creationId xmlns:a16="http://schemas.microsoft.com/office/drawing/2014/main" id="{4BD8825B-B2D4-4076-AA11-40B445C2DA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3275"/>
              <a:ext cx="952" cy="230"/>
              <a:chOff x="1905" y="6122"/>
              <a:chExt cx="658" cy="518"/>
            </a:xfrm>
          </p:grpSpPr>
          <p:sp>
            <p:nvSpPr>
              <p:cNvPr id="89" name="Rectangle 177">
                <a:extLst>
                  <a:ext uri="{FF2B5EF4-FFF2-40B4-BE49-F238E27FC236}">
                    <a16:creationId xmlns:a16="http://schemas.microsoft.com/office/drawing/2014/main" id="{FF9BB41C-3061-4D1B-9A20-74D93AD9D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6122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1101</a:t>
                </a:r>
              </a:p>
            </p:txBody>
          </p:sp>
          <p:sp>
            <p:nvSpPr>
              <p:cNvPr id="90" name="Rectangle 178">
                <a:extLst>
                  <a:ext uri="{FF2B5EF4-FFF2-40B4-BE49-F238E27FC236}">
                    <a16:creationId xmlns:a16="http://schemas.microsoft.com/office/drawing/2014/main" id="{7F6837D7-BE48-489B-A22A-499EE42FB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6122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" name="Group 179">
              <a:extLst>
                <a:ext uri="{FF2B5EF4-FFF2-40B4-BE49-F238E27FC236}">
                  <a16:creationId xmlns:a16="http://schemas.microsoft.com/office/drawing/2014/main" id="{18E1292E-E787-47B6-A3F0-0CEB0914F8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9" y="3275"/>
              <a:ext cx="951" cy="230"/>
              <a:chOff x="2563" y="6122"/>
              <a:chExt cx="658" cy="518"/>
            </a:xfrm>
          </p:grpSpPr>
          <p:sp>
            <p:nvSpPr>
              <p:cNvPr id="87" name="Rectangle 180">
                <a:extLst>
                  <a:ext uri="{FF2B5EF4-FFF2-40B4-BE49-F238E27FC236}">
                    <a16:creationId xmlns:a16="http://schemas.microsoft.com/office/drawing/2014/main" id="{55DC4AC3-D76F-488D-AECA-502A52526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6122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1011</a:t>
                </a:r>
              </a:p>
            </p:txBody>
          </p:sp>
          <p:sp>
            <p:nvSpPr>
              <p:cNvPr id="88" name="Rectangle 181">
                <a:extLst>
                  <a:ext uri="{FF2B5EF4-FFF2-40B4-BE49-F238E27FC236}">
                    <a16:creationId xmlns:a16="http://schemas.microsoft.com/office/drawing/2014/main" id="{83C5BC68-B02F-4A0E-86A2-91081272E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6122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6" name="Group 182">
              <a:extLst>
                <a:ext uri="{FF2B5EF4-FFF2-40B4-BE49-F238E27FC236}">
                  <a16:creationId xmlns:a16="http://schemas.microsoft.com/office/drawing/2014/main" id="{AA389364-A316-49B2-BDDB-18E0AEB86F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0" y="3275"/>
              <a:ext cx="953" cy="230"/>
              <a:chOff x="3221" y="6122"/>
              <a:chExt cx="659" cy="518"/>
            </a:xfrm>
          </p:grpSpPr>
          <p:sp>
            <p:nvSpPr>
              <p:cNvPr id="85" name="Rectangle 183">
                <a:extLst>
                  <a:ext uri="{FF2B5EF4-FFF2-40B4-BE49-F238E27FC236}">
                    <a16:creationId xmlns:a16="http://schemas.microsoft.com/office/drawing/2014/main" id="{376FAD35-A03A-4601-9C97-3B3F49CF9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6122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1100</a:t>
                </a:r>
              </a:p>
            </p:txBody>
          </p:sp>
          <p:sp>
            <p:nvSpPr>
              <p:cNvPr id="86" name="Rectangle 184">
                <a:extLst>
                  <a:ext uri="{FF2B5EF4-FFF2-40B4-BE49-F238E27FC236}">
                    <a16:creationId xmlns:a16="http://schemas.microsoft.com/office/drawing/2014/main" id="{528BBC94-651B-45AA-9CFF-292968F97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6122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7" name="Group 185">
              <a:extLst>
                <a:ext uri="{FF2B5EF4-FFF2-40B4-BE49-F238E27FC236}">
                  <a16:creationId xmlns:a16="http://schemas.microsoft.com/office/drawing/2014/main" id="{7709DA46-1C39-468A-8C80-A7BAA0A96D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3505"/>
              <a:ext cx="911" cy="231"/>
              <a:chOff x="0" y="6640"/>
              <a:chExt cx="630" cy="518"/>
            </a:xfrm>
          </p:grpSpPr>
          <p:sp>
            <p:nvSpPr>
              <p:cNvPr id="83" name="Rectangle 186">
                <a:extLst>
                  <a:ext uri="{FF2B5EF4-FFF2-40B4-BE49-F238E27FC236}">
                    <a16:creationId xmlns:a16="http://schemas.microsoft.com/office/drawing/2014/main" id="{EFCEB26F-0AD5-497A-93D4-3B45338E8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640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84" name="Rectangle 187">
                <a:extLst>
                  <a:ext uri="{FF2B5EF4-FFF2-40B4-BE49-F238E27FC236}">
                    <a16:creationId xmlns:a16="http://schemas.microsoft.com/office/drawing/2014/main" id="{E42033B4-1ECF-4A16-A7BC-F7D0DDA74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640"/>
                <a:ext cx="630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8" name="Group 188">
              <a:extLst>
                <a:ext uri="{FF2B5EF4-FFF2-40B4-BE49-F238E27FC236}">
                  <a16:creationId xmlns:a16="http://schemas.microsoft.com/office/drawing/2014/main" id="{757100BC-7EE5-4AA8-8FE7-2808F39592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" y="3505"/>
              <a:ext cx="893" cy="231"/>
              <a:chOff x="630" y="6640"/>
              <a:chExt cx="618" cy="518"/>
            </a:xfrm>
          </p:grpSpPr>
          <p:sp>
            <p:nvSpPr>
              <p:cNvPr id="81" name="Rectangle 189">
                <a:extLst>
                  <a:ext uri="{FF2B5EF4-FFF2-40B4-BE49-F238E27FC236}">
                    <a16:creationId xmlns:a16="http://schemas.microsoft.com/office/drawing/2014/main" id="{3D270FDB-E398-45B3-982D-2D9B2AAB3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6640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1001</a:t>
                </a:r>
              </a:p>
            </p:txBody>
          </p:sp>
          <p:sp>
            <p:nvSpPr>
              <p:cNvPr id="82" name="Rectangle 190">
                <a:extLst>
                  <a:ext uri="{FF2B5EF4-FFF2-40B4-BE49-F238E27FC236}">
                    <a16:creationId xmlns:a16="http://schemas.microsoft.com/office/drawing/2014/main" id="{0A070567-41C7-4CDB-87EB-1BE3EAF5F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6640"/>
                <a:ext cx="61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9" name="Group 191">
              <a:extLst>
                <a:ext uri="{FF2B5EF4-FFF2-40B4-BE49-F238E27FC236}">
                  <a16:creationId xmlns:a16="http://schemas.microsoft.com/office/drawing/2014/main" id="{07109928-7032-4C69-B858-0D50BA796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3505"/>
              <a:ext cx="950" cy="231"/>
              <a:chOff x="1248" y="6640"/>
              <a:chExt cx="657" cy="518"/>
            </a:xfrm>
          </p:grpSpPr>
          <p:sp>
            <p:nvSpPr>
              <p:cNvPr id="79" name="Rectangle 192">
                <a:extLst>
                  <a:ext uri="{FF2B5EF4-FFF2-40B4-BE49-F238E27FC236}">
                    <a16:creationId xmlns:a16="http://schemas.microsoft.com/office/drawing/2014/main" id="{75374B30-9403-4851-9917-B34F7BB51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6640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</a:p>
            </p:txBody>
          </p:sp>
          <p:sp>
            <p:nvSpPr>
              <p:cNvPr id="80" name="Rectangle 193">
                <a:extLst>
                  <a:ext uri="{FF2B5EF4-FFF2-40B4-BE49-F238E27FC236}">
                    <a16:creationId xmlns:a16="http://schemas.microsoft.com/office/drawing/2014/main" id="{CDD689A2-7F10-4DF0-A43A-BF3538A27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6640"/>
                <a:ext cx="657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0" name="Group 194">
              <a:extLst>
                <a:ext uri="{FF2B5EF4-FFF2-40B4-BE49-F238E27FC236}">
                  <a16:creationId xmlns:a16="http://schemas.microsoft.com/office/drawing/2014/main" id="{77A11090-8408-4FFD-A1C5-169B465DA3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3505"/>
              <a:ext cx="952" cy="231"/>
              <a:chOff x="1905" y="6640"/>
              <a:chExt cx="658" cy="518"/>
            </a:xfrm>
          </p:grpSpPr>
          <p:sp>
            <p:nvSpPr>
              <p:cNvPr id="77" name="Rectangle 195">
                <a:extLst>
                  <a:ext uri="{FF2B5EF4-FFF2-40B4-BE49-F238E27FC236}">
                    <a16:creationId xmlns:a16="http://schemas.microsoft.com/office/drawing/2014/main" id="{F9549FA7-0CA4-40EF-A2F6-04C58FCE7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6640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</a:p>
            </p:txBody>
          </p:sp>
          <p:sp>
            <p:nvSpPr>
              <p:cNvPr id="78" name="Rectangle 196">
                <a:extLst>
                  <a:ext uri="{FF2B5EF4-FFF2-40B4-BE49-F238E27FC236}">
                    <a16:creationId xmlns:a16="http://schemas.microsoft.com/office/drawing/2014/main" id="{AA9C8605-BD08-4BAE-9763-01CF6E570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6640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1" name="Group 197">
              <a:extLst>
                <a:ext uri="{FF2B5EF4-FFF2-40B4-BE49-F238E27FC236}">
                  <a16:creationId xmlns:a16="http://schemas.microsoft.com/office/drawing/2014/main" id="{336BB1A1-EDB8-46C5-8835-ECD33C138E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9" y="3505"/>
              <a:ext cx="951" cy="231"/>
              <a:chOff x="2563" y="6640"/>
              <a:chExt cx="658" cy="518"/>
            </a:xfrm>
          </p:grpSpPr>
          <p:sp>
            <p:nvSpPr>
              <p:cNvPr id="75" name="Rectangle 198">
                <a:extLst>
                  <a:ext uri="{FF2B5EF4-FFF2-40B4-BE49-F238E27FC236}">
                    <a16:creationId xmlns:a16="http://schemas.microsoft.com/office/drawing/2014/main" id="{54063D0D-7E75-4837-8ED6-C1B0A5800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6640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1100</a:t>
                </a:r>
              </a:p>
            </p:txBody>
          </p:sp>
          <p:sp>
            <p:nvSpPr>
              <p:cNvPr id="76" name="Rectangle 199">
                <a:extLst>
                  <a:ext uri="{FF2B5EF4-FFF2-40B4-BE49-F238E27FC236}">
                    <a16:creationId xmlns:a16="http://schemas.microsoft.com/office/drawing/2014/main" id="{011AB9E4-1868-4D51-926A-794DD95D9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6640"/>
                <a:ext cx="658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" name="Group 200">
              <a:extLst>
                <a:ext uri="{FF2B5EF4-FFF2-40B4-BE49-F238E27FC236}">
                  <a16:creationId xmlns:a16="http://schemas.microsoft.com/office/drawing/2014/main" id="{0C9E7F90-C983-4467-B257-53976C6190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0" y="3505"/>
              <a:ext cx="953" cy="231"/>
              <a:chOff x="3221" y="6640"/>
              <a:chExt cx="659" cy="518"/>
            </a:xfrm>
          </p:grpSpPr>
          <p:sp>
            <p:nvSpPr>
              <p:cNvPr id="73" name="Rectangle 201">
                <a:extLst>
                  <a:ext uri="{FF2B5EF4-FFF2-40B4-BE49-F238E27FC236}">
                    <a16:creationId xmlns:a16="http://schemas.microsoft.com/office/drawing/2014/main" id="{5922AE3A-DD32-40A6-8B43-CD4F7CE40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6640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0100</a:t>
                </a:r>
              </a:p>
            </p:txBody>
          </p:sp>
          <p:sp>
            <p:nvSpPr>
              <p:cNvPr id="74" name="Rectangle 202">
                <a:extLst>
                  <a:ext uri="{FF2B5EF4-FFF2-40B4-BE49-F238E27FC236}">
                    <a16:creationId xmlns:a16="http://schemas.microsoft.com/office/drawing/2014/main" id="{4F26A378-75B0-4F9A-8DDE-3434DDC1D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6640"/>
                <a:ext cx="659" cy="518"/>
              </a:xfrm>
              <a:prstGeom prst="rect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05" name="Group 203">
            <a:extLst>
              <a:ext uri="{FF2B5EF4-FFF2-40B4-BE49-F238E27FC236}">
                <a16:creationId xmlns:a16="http://schemas.microsoft.com/office/drawing/2014/main" id="{ABAE4452-AA58-4F3B-A15E-711DF0C02518}"/>
              </a:ext>
            </a:extLst>
          </p:cNvPr>
          <p:cNvGrpSpPr>
            <a:grpSpLocks/>
          </p:cNvGrpSpPr>
          <p:nvPr/>
        </p:nvGrpSpPr>
        <p:grpSpPr bwMode="auto">
          <a:xfrm>
            <a:off x="2006600" y="5350160"/>
            <a:ext cx="3675063" cy="936625"/>
            <a:chOff x="1264" y="3632"/>
            <a:chExt cx="2315" cy="590"/>
          </a:xfrm>
        </p:grpSpPr>
        <p:sp>
          <p:nvSpPr>
            <p:cNvPr id="206" name="AutoShape 204">
              <a:extLst>
                <a:ext uri="{FF2B5EF4-FFF2-40B4-BE49-F238E27FC236}">
                  <a16:creationId xmlns:a16="http://schemas.microsoft.com/office/drawing/2014/main" id="{64D03D02-2B92-4040-BF57-613453895069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294" y="2602"/>
              <a:ext cx="256" cy="2315"/>
            </a:xfrm>
            <a:prstGeom prst="leftBrace">
              <a:avLst>
                <a:gd name="adj1" fmla="val 75358"/>
                <a:gd name="adj2" fmla="val 50000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07" name="Text Box 205">
              <a:extLst>
                <a:ext uri="{FF2B5EF4-FFF2-40B4-BE49-F238E27FC236}">
                  <a16:creationId xmlns:a16="http://schemas.microsoft.com/office/drawing/2014/main" id="{36EAD35B-5504-45A1-AECC-3358AC3DB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8" y="3895"/>
              <a:ext cx="9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有权码</a:t>
              </a:r>
            </a:p>
          </p:txBody>
        </p:sp>
      </p:grpSp>
      <p:grpSp>
        <p:nvGrpSpPr>
          <p:cNvPr id="208" name="Group 206">
            <a:extLst>
              <a:ext uri="{FF2B5EF4-FFF2-40B4-BE49-F238E27FC236}">
                <a16:creationId xmlns:a16="http://schemas.microsoft.com/office/drawing/2014/main" id="{30442166-00AB-4A78-83EC-4F917767AD91}"/>
              </a:ext>
            </a:extLst>
          </p:cNvPr>
          <p:cNvGrpSpPr>
            <a:grpSpLocks/>
          </p:cNvGrpSpPr>
          <p:nvPr/>
        </p:nvGrpSpPr>
        <p:grpSpPr bwMode="auto">
          <a:xfrm>
            <a:off x="6340475" y="5366035"/>
            <a:ext cx="2522538" cy="922338"/>
            <a:chOff x="3994" y="3642"/>
            <a:chExt cx="1589" cy="581"/>
          </a:xfrm>
        </p:grpSpPr>
        <p:sp>
          <p:nvSpPr>
            <p:cNvPr id="209" name="AutoShape 207">
              <a:extLst>
                <a:ext uri="{FF2B5EF4-FFF2-40B4-BE49-F238E27FC236}">
                  <a16:creationId xmlns:a16="http://schemas.microsoft.com/office/drawing/2014/main" id="{D826AEC8-F4E6-449A-8C45-DC9AE73B285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661" y="2975"/>
              <a:ext cx="256" cy="1589"/>
            </a:xfrm>
            <a:prstGeom prst="leftBrace">
              <a:avLst>
                <a:gd name="adj1" fmla="val 51725"/>
                <a:gd name="adj2" fmla="val 50000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10" name="Text Box 208">
              <a:extLst>
                <a:ext uri="{FF2B5EF4-FFF2-40B4-BE49-F238E27FC236}">
                  <a16:creationId xmlns:a16="http://schemas.microsoft.com/office/drawing/2014/main" id="{8350F4FA-B709-4323-AAE4-20D1F125D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0" y="3896"/>
              <a:ext cx="9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无权码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065226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DD14C137-2FA9-464B-BD20-DDCB9961C4DC}"/>
              </a:ext>
            </a:extLst>
          </p:cNvPr>
          <p:cNvSpPr txBox="1">
            <a:spLocks/>
          </p:cNvSpPr>
          <p:nvPr/>
        </p:nvSpPr>
        <p:spPr>
          <a:xfrm>
            <a:off x="1316490" y="240845"/>
            <a:ext cx="6954715" cy="58813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编码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E85C87A5-7E68-4F40-9188-57D8234FFEE2}"/>
              </a:ext>
            </a:extLst>
          </p:cNvPr>
          <p:cNvSpPr txBox="1">
            <a:spLocks/>
          </p:cNvSpPr>
          <p:nvPr/>
        </p:nvSpPr>
        <p:spPr>
          <a:xfrm>
            <a:off x="981857" y="1229696"/>
            <a:ext cx="3876126" cy="61063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机器中的运算</a:t>
            </a:r>
            <a:endParaRPr lang="en-US" altLang="zh-CN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491780" y="3075606"/>
            <a:ext cx="2689365" cy="2501973"/>
            <a:chOff x="3208001" y="2429210"/>
            <a:chExt cx="2689365" cy="2501973"/>
          </a:xfrm>
        </p:grpSpPr>
        <p:grpSp>
          <p:nvGrpSpPr>
            <p:cNvPr id="10" name="组合 11">
              <a:extLst>
                <a:ext uri="{FF2B5EF4-FFF2-40B4-BE49-F238E27FC236}">
                  <a16:creationId xmlns:a16="http://schemas.microsoft.com/office/drawing/2014/main" id="{4FFD96F5-12F1-4DAC-B0D5-52329CA6BA69}"/>
                </a:ext>
              </a:extLst>
            </p:cNvPr>
            <p:cNvGrpSpPr/>
            <p:nvPr/>
          </p:nvGrpSpPr>
          <p:grpSpPr>
            <a:xfrm>
              <a:off x="3208001" y="2429210"/>
              <a:ext cx="2593031" cy="2501973"/>
              <a:chOff x="426027" y="3075709"/>
              <a:chExt cx="2088573" cy="2222585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9BCC432-AB2A-4D92-84B9-9F0F24537B76}"/>
                  </a:ext>
                </a:extLst>
              </p:cNvPr>
              <p:cNvSpPr/>
              <p:nvPr/>
            </p:nvSpPr>
            <p:spPr>
              <a:xfrm>
                <a:off x="426027" y="3075709"/>
                <a:ext cx="2088573" cy="173488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>
                  <a:lnSpc>
                    <a:spcPct val="150000"/>
                  </a:lnSpc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    0 1 0 0 [4]</a:t>
                </a:r>
                <a:endParaRPr lang="en-US" altLang="zh-CN" baseline="-250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 lvl="0" eaLnBrk="1" hangingPunct="1">
                  <a:lnSpc>
                    <a:spcPct val="150000"/>
                  </a:lnSpc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+  0 1 0 1 [5]</a:t>
                </a:r>
                <a:endParaRPr lang="zh-CN" altLang="en-US" baseline="-250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 lvl="0" eaLnBrk="1" hangingPunct="1">
                  <a:lnSpc>
                    <a:spcPct val="150000"/>
                  </a:lnSpc>
                  <a:defRPr/>
                </a:pPr>
                <a:r>
                  <a:rPr lang="en-US" altLang="zh-CN" dirty="0">
                    <a:solidFill>
                      <a:srgbClr val="FF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= </a:t>
                </a:r>
                <a:r>
                  <a:rPr lang="en-US" altLang="zh-CN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1 0 0 1</a:t>
                </a:r>
                <a:r>
                  <a:rPr lang="en-US" altLang="zh-CN" dirty="0">
                    <a:solidFill>
                      <a:srgbClr val="000000"/>
                    </a:solidFill>
                    <a:ea typeface="楷体_GB2312" pitchFamily="49" charset="-122"/>
                  </a:rPr>
                  <a:t>     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4C77C3AE-89ED-4C6E-9CCD-E85B5FED5200}"/>
                  </a:ext>
                </a:extLst>
              </p:cNvPr>
              <p:cNvCxnSpPr/>
              <p:nvPr/>
            </p:nvCxnSpPr>
            <p:spPr bwMode="auto">
              <a:xfrm>
                <a:off x="494742" y="5298294"/>
                <a:ext cx="1610590" cy="0"/>
              </a:xfrm>
              <a:prstGeom prst="line">
                <a:avLst/>
              </a:prstGeom>
              <a:noFill/>
              <a:ln w="3810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C77C3AE-89ED-4C6E-9CCD-E85B5FED5200}"/>
                </a:ext>
              </a:extLst>
            </p:cNvPr>
            <p:cNvCxnSpPr/>
            <p:nvPr/>
          </p:nvCxnSpPr>
          <p:spPr bwMode="auto">
            <a:xfrm flipV="1">
              <a:off x="3704364" y="3811712"/>
              <a:ext cx="2193002" cy="10749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" name="TextBox 21"/>
          <p:cNvSpPr txBox="1"/>
          <p:nvPr/>
        </p:nvSpPr>
        <p:spPr bwMode="auto">
          <a:xfrm>
            <a:off x="1452463" y="2166148"/>
            <a:ext cx="20844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1)  A+B&lt;=9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5A1464-762F-4552-B7E8-4A34BFE4AB6A}" type="slidenum">
              <a:rPr lang="en-US" altLang="zh-CN" sz="1100" smtClean="0">
                <a:solidFill>
                  <a:schemeClr val="tx1"/>
                </a:solidFill>
              </a:rPr>
              <a:pPr>
                <a:defRPr/>
              </a:pPr>
              <a:t>25</a:t>
            </a:fld>
            <a:endParaRPr lang="en-US" altLang="zh-CN" sz="1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DD14C137-2FA9-464B-BD20-DDCB9961C4DC}"/>
              </a:ext>
            </a:extLst>
          </p:cNvPr>
          <p:cNvSpPr txBox="1">
            <a:spLocks/>
          </p:cNvSpPr>
          <p:nvPr/>
        </p:nvSpPr>
        <p:spPr>
          <a:xfrm>
            <a:off x="1316490" y="240845"/>
            <a:ext cx="6954715" cy="58813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编码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4" name="文本框 15">
            <a:extLst>
              <a:ext uri="{FF2B5EF4-FFF2-40B4-BE49-F238E27FC236}">
                <a16:creationId xmlns:a16="http://schemas.microsoft.com/office/drawing/2014/main" id="{1FD7961C-A025-42F2-B9C5-5E4B6F792422}"/>
              </a:ext>
            </a:extLst>
          </p:cNvPr>
          <p:cNvSpPr txBox="1"/>
          <p:nvPr/>
        </p:nvSpPr>
        <p:spPr bwMode="auto">
          <a:xfrm>
            <a:off x="4849370" y="2381624"/>
            <a:ext cx="28494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 本位和超过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9</a:t>
            </a:r>
            <a:endParaRPr lang="zh-CN" altLang="en-US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2684545" y="4394422"/>
            <a:ext cx="38739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修正方法：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+6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0110)</a:t>
            </a:r>
            <a:r>
              <a:rPr lang="en-US" altLang="zh-CN" sz="2800" baseline="-250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</a:t>
            </a:r>
            <a:endParaRPr lang="zh-CN" altLang="en-US" sz="2800" baseline="-250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684359" y="1280398"/>
            <a:ext cx="29005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2)  9&lt;A+B&lt;16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 bwMode="auto">
          <a:xfrm>
            <a:off x="5229577" y="3284305"/>
            <a:ext cx="29962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!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报错：非法表示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1036311" y="2098174"/>
            <a:ext cx="4292433" cy="2284640"/>
            <a:chOff x="1351621" y="2192767"/>
            <a:chExt cx="4292433" cy="2479234"/>
          </a:xfrm>
        </p:grpSpPr>
        <p:grpSp>
          <p:nvGrpSpPr>
            <p:cNvPr id="7" name="组合 8">
              <a:extLst>
                <a:ext uri="{FF2B5EF4-FFF2-40B4-BE49-F238E27FC236}">
                  <a16:creationId xmlns:a16="http://schemas.microsoft.com/office/drawing/2014/main" id="{1D5AB00E-CE23-43B3-9A36-7163E57FF565}"/>
                </a:ext>
              </a:extLst>
            </p:cNvPr>
            <p:cNvGrpSpPr/>
            <p:nvPr/>
          </p:nvGrpSpPr>
          <p:grpSpPr>
            <a:xfrm>
              <a:off x="1351621" y="2192767"/>
              <a:ext cx="4292433" cy="2479234"/>
              <a:chOff x="529985" y="3341180"/>
              <a:chExt cx="2088573" cy="2006480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4DBDDF-6ECB-4E27-9537-B0B9094281D0}"/>
                  </a:ext>
                </a:extLst>
              </p:cNvPr>
              <p:cNvSpPr/>
              <p:nvPr/>
            </p:nvSpPr>
            <p:spPr>
              <a:xfrm>
                <a:off x="529985" y="3341180"/>
                <a:ext cx="2088573" cy="169531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>
                  <a:lnSpc>
                    <a:spcPct val="150000"/>
                  </a:lnSpc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       </a:t>
                </a:r>
                <a:r>
                  <a:rPr lang="en-US" altLang="zh-CN" dirty="0">
                    <a:solidFill>
                      <a:srgbClr val="000000"/>
                    </a:solidFill>
                    <a:latin typeface="黑体" pitchFamily="49" charset="-122"/>
                    <a:ea typeface="黑体" pitchFamily="49" charset="-122"/>
                  </a:rPr>
                  <a:t>0 1 1 1 [7]</a:t>
                </a:r>
                <a:endParaRPr lang="en-US" altLang="zh-CN" baseline="-25000" dirty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</a:endParaRPr>
              </a:p>
              <a:p>
                <a:pPr lvl="0" eaLnBrk="1" hangingPunct="1">
                  <a:lnSpc>
                    <a:spcPct val="150000"/>
                  </a:lnSpc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latin typeface="黑体" pitchFamily="49" charset="-122"/>
                    <a:ea typeface="黑体" pitchFamily="49" charset="-122"/>
                  </a:rPr>
                  <a:t>+   0 1 1 0 [6]</a:t>
                </a:r>
                <a:endParaRPr lang="zh-CN" altLang="en-US" baseline="-25000" dirty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</a:endParaRPr>
              </a:p>
              <a:p>
                <a:pPr lvl="0" eaLnBrk="1" hangingPunct="1">
                  <a:lnSpc>
                    <a:spcPct val="150000"/>
                  </a:lnSpc>
                  <a:defRPr/>
                </a:pPr>
                <a:r>
                  <a:rPr lang="en-US" altLang="zh-CN" dirty="0">
                    <a:solidFill>
                      <a:schemeClr val="tx1"/>
                    </a:solidFill>
                    <a:latin typeface="黑体" pitchFamily="49" charset="-122"/>
                    <a:ea typeface="黑体" pitchFamily="49" charset="-122"/>
                  </a:rPr>
                  <a:t>=   </a:t>
                </a:r>
                <a:r>
                  <a:rPr lang="en-US" altLang="zh-CN" dirty="0">
                    <a:solidFill>
                      <a:srgbClr val="000000"/>
                    </a:solidFill>
                    <a:latin typeface="黑体" pitchFamily="49" charset="-122"/>
                    <a:ea typeface="黑体" pitchFamily="49" charset="-122"/>
                  </a:rPr>
                  <a:t>1 1 0 1 </a:t>
                </a:r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E0DAA2F4-CB2B-4FFE-BDA3-A69FAA474464}"/>
                  </a:ext>
                </a:extLst>
              </p:cNvPr>
              <p:cNvCxnSpPr/>
              <p:nvPr/>
            </p:nvCxnSpPr>
            <p:spPr bwMode="auto">
              <a:xfrm>
                <a:off x="613607" y="5347660"/>
                <a:ext cx="1610590" cy="0"/>
              </a:xfrm>
              <a:prstGeom prst="line">
                <a:avLst/>
              </a:prstGeom>
              <a:noFill/>
              <a:ln w="3810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4C77C3AE-89ED-4C6E-9CCD-E85B5FED5200}"/>
                </a:ext>
              </a:extLst>
            </p:cNvPr>
            <p:cNvCxnSpPr/>
            <p:nvPr/>
          </p:nvCxnSpPr>
          <p:spPr bwMode="auto">
            <a:xfrm flipV="1">
              <a:off x="1585266" y="3599911"/>
              <a:ext cx="2829079" cy="4489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5A1464-762F-4552-B7E8-4A34BFE4AB6A}" type="slidenum">
              <a:rPr lang="en-US" altLang="zh-CN" sz="1100" smtClean="0">
                <a:solidFill>
                  <a:schemeClr val="tx1"/>
                </a:solidFill>
              </a:rPr>
              <a:pPr>
                <a:defRPr/>
              </a:pPr>
              <a:t>26</a:t>
            </a:fld>
            <a:endParaRPr lang="en-US" altLang="zh-CN" sz="11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1150883" y="5265683"/>
            <a:ext cx="35945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=0 </a:t>
            </a:r>
            <a:r>
              <a:rPr lang="en-US" altLang="zh-CN" dirty="0" err="1">
                <a:solidFill>
                  <a:srgbClr val="FF0000"/>
                </a:solidFill>
                <a:ea typeface="楷体_GB2312" pitchFamily="49" charset="-122"/>
              </a:rPr>
              <a:t>0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 1 </a:t>
            </a:r>
            <a:r>
              <a:rPr lang="en-US" altLang="zh-CN" dirty="0" err="1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</a:rPr>
              <a:t>（修正后）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19" grpId="0"/>
      <p:bldP spid="20" grpId="0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DD14C137-2FA9-464B-BD20-DDCB9961C4DC}"/>
              </a:ext>
            </a:extLst>
          </p:cNvPr>
          <p:cNvSpPr txBox="1">
            <a:spLocks/>
          </p:cNvSpPr>
          <p:nvPr/>
        </p:nvSpPr>
        <p:spPr>
          <a:xfrm>
            <a:off x="1316490" y="240845"/>
            <a:ext cx="6954715" cy="58813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编码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3" name="文本框 14">
            <a:extLst>
              <a:ext uri="{FF2B5EF4-FFF2-40B4-BE49-F238E27FC236}">
                <a16:creationId xmlns:a16="http://schemas.microsoft.com/office/drawing/2014/main" id="{443B14FA-08B4-4FEC-9794-3CEEB7612917}"/>
              </a:ext>
            </a:extLst>
          </p:cNvPr>
          <p:cNvSpPr txBox="1"/>
          <p:nvPr/>
        </p:nvSpPr>
        <p:spPr bwMode="auto">
          <a:xfrm>
            <a:off x="4877789" y="2443448"/>
            <a:ext cx="33026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！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报错：出现进位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E85C87A5-7E68-4F40-9188-57D8234FFEE2}"/>
              </a:ext>
            </a:extLst>
          </p:cNvPr>
          <p:cNvSpPr txBox="1">
            <a:spLocks/>
          </p:cNvSpPr>
          <p:nvPr/>
        </p:nvSpPr>
        <p:spPr>
          <a:xfrm>
            <a:off x="900819" y="1060512"/>
            <a:ext cx="3876126" cy="61063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、机器中的运算</a:t>
            </a:r>
            <a:endParaRPr lang="en-US" altLang="zh-CN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94786" y="3437394"/>
            <a:ext cx="35789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修正方法：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+6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0110)</a:t>
            </a:r>
            <a:r>
              <a:rPr lang="en-US" altLang="zh-CN" sz="2800" baseline="-250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</a:t>
            </a:r>
            <a:endParaRPr lang="zh-CN" altLang="en-US" sz="2800" baseline="-250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9B1736B-B1EA-4FD8-809E-7D279B0A2B1E}"/>
              </a:ext>
            </a:extLst>
          </p:cNvPr>
          <p:cNvGrpSpPr/>
          <p:nvPr/>
        </p:nvGrpSpPr>
        <p:grpSpPr>
          <a:xfrm>
            <a:off x="1679249" y="2203807"/>
            <a:ext cx="3649836" cy="2677656"/>
            <a:chOff x="426027" y="3075709"/>
            <a:chExt cx="2088573" cy="266403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E6E2C3E-35FD-434B-B784-BCD45B9FE259}"/>
                </a:ext>
              </a:extLst>
            </p:cNvPr>
            <p:cNvSpPr/>
            <p:nvPr/>
          </p:nvSpPr>
          <p:spPr>
            <a:xfrm>
              <a:off x="426027" y="3075709"/>
              <a:ext cx="2088573" cy="26640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1" hangingPunct="1">
                <a:lnSpc>
                  <a:spcPct val="200000"/>
                </a:lnSpc>
                <a:defRPr/>
              </a:pPr>
              <a:r>
                <a:rPr lang="en-US" altLang="zh-CN" sz="24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     </a:t>
              </a:r>
              <a:r>
                <a:rPr lang="en-US" altLang="zh-CN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1 0 0 1 [9]</a:t>
              </a:r>
              <a:endPara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  <a:p>
              <a:pPr lvl="0" eaLnBrk="1" hangingPunct="1">
                <a:lnSpc>
                  <a:spcPct val="200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+   1 0 0 0 [8]</a:t>
              </a:r>
              <a:endParaRPr lang="en-US" altLang="zh-CN" dirty="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lvl="0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=</a:t>
              </a:r>
              <a:r>
                <a:rPr lang="en-US" altLang="zh-CN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1 </a:t>
              </a:r>
              <a:r>
                <a:rPr lang="en-US" altLang="zh-CN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0 0 0 1 </a:t>
              </a:r>
            </a:p>
            <a:p>
              <a:pPr lvl="0" eaLnBrk="1" hangingPunct="1">
                <a:defRPr/>
              </a:pPr>
              <a:endParaRPr lang="en-US" altLang="zh-CN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8977108D-F9CA-477B-AFC8-80991DD6B40F}"/>
                </a:ext>
              </a:extLst>
            </p:cNvPr>
            <p:cNvCxnSpPr/>
            <p:nvPr/>
          </p:nvCxnSpPr>
          <p:spPr bwMode="auto">
            <a:xfrm>
              <a:off x="482806" y="4776425"/>
              <a:ext cx="1610590" cy="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3" name="TextBox 22"/>
          <p:cNvSpPr txBox="1"/>
          <p:nvPr/>
        </p:nvSpPr>
        <p:spPr bwMode="auto">
          <a:xfrm>
            <a:off x="884903" y="1661652"/>
            <a:ext cx="25100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3)  A+B&gt;=16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5A1464-762F-4552-B7E8-4A34BFE4AB6A}" type="slidenum">
              <a:rPr lang="en-US" altLang="zh-CN" sz="1100" smtClean="0">
                <a:solidFill>
                  <a:schemeClr val="tx1"/>
                </a:solidFill>
              </a:rPr>
              <a:pPr>
                <a:defRPr/>
              </a:pPr>
              <a:t>27</a:t>
            </a:fld>
            <a:endParaRPr lang="en-US" altLang="zh-CN" sz="11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324304" y="4950373"/>
            <a:ext cx="57386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   =    0 1 1 1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</a:rPr>
              <a:t>（修正后）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  <p:bldP spid="2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7AB178-3EE1-453B-A3D6-E565190C4AA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5256" y="206768"/>
            <a:ext cx="8853487" cy="309562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  4</a:t>
            </a:r>
            <a:r>
              <a:rPr lang="zh-CN" altLang="en-US" b="1" dirty="0"/>
              <a:t>、</a:t>
            </a:r>
            <a:r>
              <a:rPr lang="en-US" altLang="zh-CN" b="1" dirty="0"/>
              <a:t>ASCII</a:t>
            </a:r>
            <a:r>
              <a:rPr lang="zh-CN" altLang="en-US" b="1" dirty="0"/>
              <a:t>编码</a:t>
            </a:r>
            <a:endParaRPr lang="en-US" altLang="zh-CN" b="1" dirty="0"/>
          </a:p>
          <a:p>
            <a:pPr marL="0" indent="0">
              <a:lnSpc>
                <a:spcPts val="3600"/>
              </a:lnSpc>
              <a:buNone/>
            </a:pPr>
            <a:r>
              <a:rPr lang="en-US" altLang="zh-CN" sz="2400" b="1" dirty="0"/>
              <a:t>ASCII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American Standard Code for Information Interchange</a:t>
            </a:r>
            <a:r>
              <a:rPr lang="zh-CN" altLang="en-US" sz="2400" b="1" dirty="0"/>
              <a:t>，美国信息交换标准代码）是基于拉丁字母的一套电脑编码系统。</a:t>
            </a:r>
            <a:r>
              <a:rPr lang="zh-CN" altLang="zh-CN" sz="2400" b="1" dirty="0"/>
              <a:t>使用指定的</a:t>
            </a:r>
            <a:r>
              <a:rPr lang="en-US" altLang="zh-CN" sz="2400" b="1" dirty="0"/>
              <a:t>7 </a:t>
            </a:r>
            <a:r>
              <a:rPr lang="zh-CN" altLang="zh-CN" sz="2400" b="1" dirty="0"/>
              <a:t>位或</a:t>
            </a:r>
            <a:r>
              <a:rPr lang="en-US" altLang="zh-CN" sz="2400" b="1" dirty="0"/>
              <a:t>8 </a:t>
            </a:r>
            <a:r>
              <a:rPr lang="zh-CN" altLang="zh-CN" sz="2400" b="1" dirty="0"/>
              <a:t>位二进制数组合来表示</a:t>
            </a:r>
            <a:r>
              <a:rPr lang="en-US" altLang="zh-CN" sz="2400" b="1" dirty="0"/>
              <a:t>128 </a:t>
            </a:r>
            <a:r>
              <a:rPr lang="zh-CN" altLang="zh-CN" sz="2400" b="1" dirty="0"/>
              <a:t>或</a:t>
            </a:r>
            <a:r>
              <a:rPr lang="en-US" altLang="zh-CN" sz="2400" b="1" dirty="0"/>
              <a:t>256 </a:t>
            </a:r>
            <a:r>
              <a:rPr lang="zh-CN" altLang="zh-CN" sz="2400" b="1" dirty="0"/>
              <a:t>种可能的字符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pPr marL="0" indent="0">
              <a:lnSpc>
                <a:spcPts val="3600"/>
              </a:lnSpc>
              <a:buNone/>
            </a:pPr>
            <a:r>
              <a:rPr lang="en-US" altLang="zh-CN" sz="2400" b="1" dirty="0"/>
              <a:t>           0—9  30H—39H</a:t>
            </a:r>
            <a:endParaRPr lang="zh-CN" altLang="zh-CN" sz="2400" b="1" dirty="0"/>
          </a:p>
          <a:p>
            <a:pPr marL="0" indent="0">
              <a:lnSpc>
                <a:spcPts val="3600"/>
              </a:lnSpc>
              <a:buNone/>
            </a:pPr>
            <a:r>
              <a:rPr lang="en-US" altLang="zh-CN" sz="2400" b="1" dirty="0"/>
              <a:t>           A—F  41H—46H</a:t>
            </a:r>
          </a:p>
        </p:txBody>
      </p:sp>
      <p:pic>
        <p:nvPicPr>
          <p:cNvPr id="4" name="内容占位符 6">
            <a:extLst>
              <a:ext uri="{FF2B5EF4-FFF2-40B4-BE49-F238E27FC236}">
                <a16:creationId xmlns:a16="http://schemas.microsoft.com/office/drawing/2014/main" id="{6CD4841F-C320-4026-9E0E-21DDCF92D6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10614" y="2365618"/>
            <a:ext cx="4833386" cy="393836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8DAD719-A2EA-4565-AEC0-4C0D97E19AF1}"/>
              </a:ext>
            </a:extLst>
          </p:cNvPr>
          <p:cNvSpPr/>
          <p:nvPr/>
        </p:nvSpPr>
        <p:spPr>
          <a:xfrm>
            <a:off x="258670" y="3327245"/>
            <a:ext cx="4572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5</a:t>
            </a:r>
            <a:r>
              <a:rPr lang="zh-CN" altLang="en-US" sz="3200" dirty="0">
                <a:solidFill>
                  <a:schemeClr val="tx1"/>
                </a:solidFill>
              </a:rPr>
              <a:t>、汉字编码</a:t>
            </a:r>
            <a:endParaRPr lang="en-US" altLang="zh-CN" sz="3200" dirty="0">
              <a:solidFill>
                <a:schemeClr val="tx1"/>
              </a:solidFill>
            </a:endParaRPr>
          </a:p>
          <a:p>
            <a:pPr>
              <a:lnSpc>
                <a:spcPts val="36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zh-CN" altLang="zh-CN" dirty="0">
                <a:solidFill>
                  <a:schemeClr val="tx1"/>
                </a:solidFill>
              </a:rPr>
              <a:t>汉字输入码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zh-CN" altLang="zh-CN" dirty="0">
                <a:solidFill>
                  <a:schemeClr val="tx1"/>
                </a:solidFill>
              </a:rPr>
              <a:t>将汉字输入计算机而编制的代码，也叫外码。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ts val="36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zh-CN" altLang="zh-CN" dirty="0">
                <a:solidFill>
                  <a:schemeClr val="tx1"/>
                </a:solidFill>
              </a:rPr>
              <a:t>汉字内码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zh-CN" altLang="zh-CN" dirty="0">
                <a:solidFill>
                  <a:schemeClr val="tx1"/>
                </a:solidFill>
              </a:rPr>
              <a:t>用两个连续的字节表示一个汉字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ts val="36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zh-CN" altLang="en-US" dirty="0">
                <a:solidFill>
                  <a:schemeClr val="tx1"/>
                </a:solidFill>
              </a:rPr>
              <a:t>汉字字形码：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4203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06FDB-B0A1-49F1-837C-ED044072B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6671" y="2520694"/>
            <a:ext cx="3509889" cy="695360"/>
          </a:xfrm>
        </p:spPr>
        <p:txBody>
          <a:bodyPr/>
          <a:lstStyle/>
          <a:p>
            <a:r>
              <a:rPr lang="en-US" altLang="zh-CN" dirty="0"/>
              <a:t>THE   END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6E0C40-5398-4169-AF72-D0968D0AD5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551552"/>
      </p:ext>
    </p:extLst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定义 1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l">
          <a:spcBef>
            <a:spcPct val="50000"/>
          </a:spcBef>
          <a:defRPr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>
        <a:spAutoFit/>
      </a:bodyPr>
      <a:lstStyle>
        <a:defPPr algn="l" eaLnBrk="1" hangingPunct="1">
          <a:spcBef>
            <a:spcPct val="50000"/>
          </a:spcBef>
          <a:buClrTx/>
          <a:buSzTx/>
          <a:buFontTx/>
          <a:buNone/>
          <a:defRPr sz="2800">
            <a:latin typeface="Times New Roman" panose="02020603050405020304" pitchFamily="18" charset="0"/>
          </a:defRPr>
        </a:defPPr>
      </a:lstStyle>
    </a:tx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副本.pptx" id="{D1AE52D2-BE41-41D5-A49F-47AC97D25992}" vid="{BF6386B9-C2A8-4912-A98A-856397BB6C1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课件北航模板</Template>
  <TotalTime>3463</TotalTime>
  <Words>2320</Words>
  <Application>Microsoft Office PowerPoint</Application>
  <PresentationFormat>全屏显示(4:3)</PresentationFormat>
  <Paragraphs>481</Paragraphs>
  <Slides>29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黑体</vt:lpstr>
      <vt:lpstr>楷体_GB2312</vt:lpstr>
      <vt:lpstr>宋体</vt:lpstr>
      <vt:lpstr>Arial</vt:lpstr>
      <vt:lpstr>Calibri</vt:lpstr>
      <vt:lpstr>Tahoma</vt:lpstr>
      <vt:lpstr>Times New Roman</vt:lpstr>
      <vt:lpstr>Wingdings</vt:lpstr>
      <vt:lpstr>Blends</vt:lpstr>
      <vt:lpstr>Photo Editor Photo</vt:lpstr>
      <vt:lpstr> 第一部分 数字基础</vt:lpstr>
      <vt:lpstr>常用的数制</vt:lpstr>
      <vt:lpstr>一 数制</vt:lpstr>
      <vt:lpstr>PowerPoint 演示文稿</vt:lpstr>
      <vt:lpstr>PowerPoint 演示文稿</vt:lpstr>
      <vt:lpstr>4.十六进制</vt:lpstr>
      <vt:lpstr>各种进制进位规则</vt:lpstr>
      <vt:lpstr>四种数制对应表</vt:lpstr>
      <vt:lpstr>5、不同数制之间的转换</vt:lpstr>
      <vt:lpstr>②二进制、 八进制、十六进制转换成十进制</vt:lpstr>
      <vt:lpstr>③八进制、十六进制与二进制数的转换</vt:lpstr>
      <vt:lpstr>计算机中的二进制</vt:lpstr>
      <vt:lpstr>二 编码</vt:lpstr>
      <vt:lpstr>PowerPoint 演示文稿</vt:lpstr>
      <vt:lpstr>（1）、原码</vt:lpstr>
      <vt:lpstr>（2）、反码</vt:lpstr>
      <vt:lpstr>PowerPoint 演示文稿</vt:lpstr>
      <vt:lpstr>【例如】</vt:lpstr>
      <vt:lpstr>PowerPoint 演示文稿</vt:lpstr>
      <vt:lpstr>补码</vt:lpstr>
      <vt:lpstr>补码</vt:lpstr>
      <vt:lpstr>补码</vt:lpstr>
      <vt:lpstr>补码</vt:lpstr>
      <vt:lpstr>3、十进制数的二进制编码 (BCD)</vt:lpstr>
      <vt:lpstr>PowerPoint 演示文稿</vt:lpstr>
      <vt:lpstr>PowerPoint 演示文稿</vt:lpstr>
      <vt:lpstr>PowerPoint 演示文稿</vt:lpstr>
      <vt:lpstr>PowerPoint 演示文稿</vt:lpstr>
      <vt:lpstr>THE   END</vt:lpstr>
    </vt:vector>
  </TitlesOfParts>
  <Company>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逻辑代数及逻辑函数的化简</dc:title>
  <dc:creator>thtf</dc:creator>
  <cp:lastModifiedBy>Dong Xu</cp:lastModifiedBy>
  <cp:revision>150</cp:revision>
  <dcterms:created xsi:type="dcterms:W3CDTF">2004-02-20T06:45:48Z</dcterms:created>
  <dcterms:modified xsi:type="dcterms:W3CDTF">2019-09-05T01:18:45Z</dcterms:modified>
</cp:coreProperties>
</file>