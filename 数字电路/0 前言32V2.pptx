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4"/>
  </p:notesMasterIdLst>
  <p:handoutMasterIdLst>
    <p:handoutMasterId r:id="rId15"/>
  </p:handoutMasterIdLst>
  <p:sldIdLst>
    <p:sldId id="256" r:id="rId2"/>
    <p:sldId id="271" r:id="rId3"/>
    <p:sldId id="284" r:id="rId4"/>
    <p:sldId id="280" r:id="rId5"/>
    <p:sldId id="289" r:id="rId6"/>
    <p:sldId id="290" r:id="rId7"/>
    <p:sldId id="291" r:id="rId8"/>
    <p:sldId id="292" r:id="rId9"/>
    <p:sldId id="293" r:id="rId10"/>
    <p:sldId id="281" r:id="rId11"/>
    <p:sldId id="277" r:id="rId12"/>
    <p:sldId id="288" r:id="rId13"/>
  </p:sldIdLst>
  <p:sldSz cx="9144000" cy="6858000" type="screen4x3"/>
  <p:notesSz cx="6761163" cy="9931400"/>
  <p:defaultTextStyle>
    <a:defPPr>
      <a:defRPr lang="zh-CN"/>
    </a:defPPr>
    <a:lvl1pPr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DC"/>
    <a:srgbClr val="FFFF99"/>
    <a:srgbClr val="FF66FF"/>
    <a:srgbClr val="9B9B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46" autoAdjust="0"/>
    <p:restoredTop sz="83835" autoAdjust="0"/>
  </p:normalViewPr>
  <p:slideViewPr>
    <p:cSldViewPr snapToGrid="0">
      <p:cViewPr varScale="1">
        <p:scale>
          <a:sx n="72" d="100"/>
          <a:sy n="72" d="100"/>
        </p:scale>
        <p:origin x="1478" y="6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40" d="100"/>
          <a:sy n="40" d="100"/>
        </p:scale>
        <p:origin x="-1542" y="-108"/>
      </p:cViewPr>
      <p:guideLst>
        <p:guide orient="horz" pos="3128"/>
        <p:guide pos="213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2F3FC2D-462D-41E9-B4FD-0ED8330566FF}"/>
              </a:ext>
            </a:extLst>
          </p:cNvPr>
          <p:cNvSpPr>
            <a:spLocks noGrp="1" noChangeArrowheads="1"/>
          </p:cNvSpPr>
          <p:nvPr>
            <p:ph type="hdr" sz="quarter"/>
          </p:nvPr>
        </p:nvSpPr>
        <p:spPr bwMode="auto">
          <a:xfrm>
            <a:off x="0" y="0"/>
            <a:ext cx="29305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solidFill>
                  <a:schemeClr val="tx2"/>
                </a:solidFill>
                <a:effectLst/>
                <a:latin typeface="Times New Roman" panose="02020603050405020304" pitchFamily="18" charset="0"/>
              </a:defRPr>
            </a:lvl1pPr>
          </a:lstStyle>
          <a:p>
            <a:pPr>
              <a:defRPr/>
            </a:pPr>
            <a:endParaRPr lang="en-US" altLang="zh-CN"/>
          </a:p>
        </p:txBody>
      </p:sp>
      <p:sp>
        <p:nvSpPr>
          <p:cNvPr id="3075" name="Rectangle 3">
            <a:extLst>
              <a:ext uri="{FF2B5EF4-FFF2-40B4-BE49-F238E27FC236}">
                <a16:creationId xmlns:a16="http://schemas.microsoft.com/office/drawing/2014/main" id="{F30B2BA1-E6B4-41D4-BBD1-57158F66A809}"/>
              </a:ext>
            </a:extLst>
          </p:cNvPr>
          <p:cNvSpPr>
            <a:spLocks noGrp="1" noChangeArrowheads="1"/>
          </p:cNvSpPr>
          <p:nvPr>
            <p:ph type="dt" sz="quarter" idx="1"/>
          </p:nvPr>
        </p:nvSpPr>
        <p:spPr bwMode="auto">
          <a:xfrm>
            <a:off x="3830638" y="0"/>
            <a:ext cx="29305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solidFill>
                  <a:schemeClr val="tx2"/>
                </a:solidFill>
                <a:effectLst/>
                <a:latin typeface="Times New Roman" panose="02020603050405020304"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841F0D17-4FDF-4C68-B092-434607C5160A}"/>
              </a:ext>
            </a:extLst>
          </p:cNvPr>
          <p:cNvSpPr>
            <a:spLocks noGrp="1" noChangeArrowheads="1"/>
          </p:cNvSpPr>
          <p:nvPr>
            <p:ph type="ftr" sz="quarter" idx="2"/>
          </p:nvPr>
        </p:nvSpPr>
        <p:spPr bwMode="auto">
          <a:xfrm>
            <a:off x="0" y="9434513"/>
            <a:ext cx="29305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solidFill>
                  <a:schemeClr val="tx2"/>
                </a:solidFill>
                <a:effectLst/>
                <a:latin typeface="Times New Roman" panose="02020603050405020304" pitchFamily="18" charset="0"/>
              </a:defRPr>
            </a:lvl1pPr>
          </a:lstStyle>
          <a:p>
            <a:pPr>
              <a:defRPr/>
            </a:pPr>
            <a:endParaRPr lang="en-US" altLang="zh-CN"/>
          </a:p>
        </p:txBody>
      </p:sp>
      <p:sp>
        <p:nvSpPr>
          <p:cNvPr id="3077" name="Rectangle 5">
            <a:extLst>
              <a:ext uri="{FF2B5EF4-FFF2-40B4-BE49-F238E27FC236}">
                <a16:creationId xmlns:a16="http://schemas.microsoft.com/office/drawing/2014/main" id="{9271659F-4A27-4B19-8F15-021A8D34F9D7}"/>
              </a:ext>
            </a:extLst>
          </p:cNvPr>
          <p:cNvSpPr>
            <a:spLocks noGrp="1" noChangeArrowheads="1"/>
          </p:cNvSpPr>
          <p:nvPr>
            <p:ph type="sldNum" sz="quarter" idx="3"/>
          </p:nvPr>
        </p:nvSpPr>
        <p:spPr bwMode="auto">
          <a:xfrm>
            <a:off x="3830638" y="9434513"/>
            <a:ext cx="29305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solidFill>
                  <a:schemeClr val="tx2"/>
                </a:solidFill>
                <a:effectLst/>
                <a:latin typeface="Times New Roman" panose="02020603050405020304" pitchFamily="18" charset="0"/>
              </a:defRPr>
            </a:lvl1pPr>
          </a:lstStyle>
          <a:p>
            <a:pPr>
              <a:defRPr/>
            </a:pPr>
            <a:fld id="{630A9F3B-E513-4B81-8D84-439F7C735E1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0525"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29050" y="0"/>
            <a:ext cx="2930525" cy="498475"/>
          </a:xfrm>
          <a:prstGeom prst="rect">
            <a:avLst/>
          </a:prstGeom>
        </p:spPr>
        <p:txBody>
          <a:bodyPr vert="horz" lIns="91440" tIns="45720" rIns="91440" bIns="45720" rtlCol="0"/>
          <a:lstStyle>
            <a:lvl1pPr algn="r">
              <a:defRPr sz="1200"/>
            </a:lvl1pPr>
          </a:lstStyle>
          <a:p>
            <a:fld id="{6C282014-797F-45C2-9CF7-4FABAEA7234C}" type="datetimeFigureOut">
              <a:rPr lang="zh-CN" altLang="en-US" smtClean="0"/>
              <a:t>2018/9/14</a:t>
            </a:fld>
            <a:endParaRPr lang="zh-CN" altLang="en-US"/>
          </a:p>
        </p:txBody>
      </p:sp>
      <p:sp>
        <p:nvSpPr>
          <p:cNvPr id="4" name="幻灯片图像占位符 3"/>
          <p:cNvSpPr>
            <a:spLocks noGrp="1" noRot="1" noChangeAspect="1"/>
          </p:cNvSpPr>
          <p:nvPr>
            <p:ph type="sldImg" idx="2"/>
          </p:nvPr>
        </p:nvSpPr>
        <p:spPr>
          <a:xfrm>
            <a:off x="1146175" y="1241425"/>
            <a:ext cx="4468813"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6275" y="4779963"/>
            <a:ext cx="5408613" cy="3910012"/>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2925"/>
            <a:ext cx="2930525" cy="49847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050" y="9432925"/>
            <a:ext cx="2930525" cy="498475"/>
          </a:xfrm>
          <a:prstGeom prst="rect">
            <a:avLst/>
          </a:prstGeom>
        </p:spPr>
        <p:txBody>
          <a:bodyPr vert="horz" lIns="91440" tIns="45720" rIns="91440" bIns="45720" rtlCol="0" anchor="b"/>
          <a:lstStyle>
            <a:lvl1pPr algn="r">
              <a:defRPr sz="1200"/>
            </a:lvl1pPr>
          </a:lstStyle>
          <a:p>
            <a:fld id="{CAE51193-5658-4B97-822C-4FA34E7145E7}" type="slidenum">
              <a:rPr lang="zh-CN" altLang="en-US" smtClean="0"/>
              <a:t>‹#›</a:t>
            </a:fld>
            <a:endParaRPr lang="zh-CN" altLang="en-US"/>
          </a:p>
        </p:txBody>
      </p:sp>
    </p:spTree>
    <p:extLst>
      <p:ext uri="{BB962C8B-B14F-4D97-AF65-F5344CB8AC3E}">
        <p14:creationId xmlns:p14="http://schemas.microsoft.com/office/powerpoint/2010/main" val="13779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E51193-5658-4B97-822C-4FA34E7145E7}" type="slidenum">
              <a:rPr lang="zh-CN" altLang="en-US" smtClean="0"/>
              <a:t>3</a:t>
            </a:fld>
            <a:endParaRPr lang="zh-CN" altLang="en-US"/>
          </a:p>
        </p:txBody>
      </p:sp>
    </p:spTree>
    <p:extLst>
      <p:ext uri="{BB962C8B-B14F-4D97-AF65-F5344CB8AC3E}">
        <p14:creationId xmlns:p14="http://schemas.microsoft.com/office/powerpoint/2010/main" val="3192185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、自然现象的实验和分析（大学物理）</a:t>
            </a:r>
            <a:endParaRPr lang="en-US" altLang="zh-CN" dirty="0"/>
          </a:p>
          <a:p>
            <a:r>
              <a:rPr lang="en-US" altLang="zh-CN" dirty="0"/>
              <a:t>2</a:t>
            </a:r>
            <a:r>
              <a:rPr lang="zh-CN" altLang="en-US" dirty="0"/>
              <a:t>、以物理规律为基础，以微分方程为数学工具，电路分析研究了集总电路对于激励的响应</a:t>
            </a:r>
            <a:endParaRPr lang="en-US" altLang="zh-CN" dirty="0"/>
          </a:p>
          <a:p>
            <a:r>
              <a:rPr lang="en-US" altLang="zh-CN" dirty="0"/>
              <a:t>3</a:t>
            </a:r>
            <a:r>
              <a:rPr lang="zh-CN" altLang="en-US" dirty="0"/>
              <a:t>、放大电路是电学发展的里程碑，产生了数字电路和模拟电路的分支</a:t>
            </a:r>
            <a:endParaRPr lang="en-US" altLang="zh-CN" dirty="0"/>
          </a:p>
          <a:p>
            <a:r>
              <a:rPr lang="en-US" altLang="zh-CN" dirty="0"/>
              <a:t>4</a:t>
            </a:r>
            <a:r>
              <a:rPr lang="zh-CN" altLang="en-US" dirty="0"/>
              <a:t>、模拟电路以运算放大为基础，设计模拟电路系统元件，应用于收音机等产品设计</a:t>
            </a:r>
            <a:endParaRPr lang="en-US" altLang="zh-CN" dirty="0"/>
          </a:p>
          <a:p>
            <a:r>
              <a:rPr lang="en-US" altLang="zh-CN" dirty="0"/>
              <a:t>5</a:t>
            </a:r>
            <a:r>
              <a:rPr lang="zh-CN" altLang="en-US" dirty="0"/>
              <a:t>、数字电路以门电路为基础，研究数字信号的逻辑和时序，是计算机计数发展的基础</a:t>
            </a: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CAE51193-5658-4B97-822C-4FA34E7145E7}" type="slidenum">
              <a:rPr kumimoji="1" lang="zh-CN" altLang="en-US" sz="1200" b="1" i="0" u="none" strike="noStrike" kern="1200" cap="none" spc="0" normalizeH="0" baseline="0" noProof="0" smtClean="0">
                <a:ln>
                  <a:noFill/>
                </a:ln>
                <a:solidFill>
                  <a:prstClr val="white"/>
                </a:solidFill>
                <a:effectLst/>
                <a:uLnTx/>
                <a:uFillTx/>
                <a:latin typeface="Tahoma" panose="020B060403050404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1" lang="zh-CN" altLang="en-US" sz="1200" b="1" i="0" u="none" strike="noStrike" kern="1200" cap="none" spc="0" normalizeH="0" baseline="0" noProof="0">
              <a:ln>
                <a:noFill/>
              </a:ln>
              <a:solidFill>
                <a:prstClr val="white"/>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964681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、数字电路定义</a:t>
            </a:r>
            <a:endParaRPr lang="en-US" altLang="zh-CN" dirty="0"/>
          </a:p>
          <a:p>
            <a:r>
              <a:rPr lang="en-US" altLang="zh-CN" dirty="0"/>
              <a:t>2</a:t>
            </a:r>
            <a:r>
              <a:rPr lang="zh-CN" altLang="en-US" dirty="0"/>
              <a:t>、数字电路研究内容</a:t>
            </a:r>
            <a:endParaRPr lang="en-US" altLang="zh-CN" dirty="0"/>
          </a:p>
          <a:p>
            <a:r>
              <a:rPr lang="en-US" altLang="zh-CN" dirty="0"/>
              <a:t>3</a:t>
            </a:r>
            <a:r>
              <a:rPr lang="zh-CN" altLang="en-US" dirty="0"/>
              <a:t>、和模拟电路的区别</a:t>
            </a:r>
            <a:endParaRPr lang="en-US" altLang="zh-CN" dirty="0"/>
          </a:p>
          <a:p>
            <a:r>
              <a:rPr lang="en-US" altLang="zh-CN" dirty="0"/>
              <a:t>4</a:t>
            </a:r>
            <a:r>
              <a:rPr lang="zh-CN" altLang="en-US" dirty="0"/>
              <a:t>、数字系统</a:t>
            </a: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CAE51193-5658-4B97-822C-4FA34E7145E7}" type="slidenum">
              <a:rPr kumimoji="1" lang="zh-CN" altLang="en-US" sz="1200" b="1" i="0" u="none" strike="noStrike" kern="1200" cap="none" spc="0" normalizeH="0" baseline="0" noProof="0" smtClean="0">
                <a:ln>
                  <a:noFill/>
                </a:ln>
                <a:solidFill>
                  <a:prstClr val="white"/>
                </a:solidFill>
                <a:effectLst/>
                <a:uLnTx/>
                <a:uFillTx/>
                <a:latin typeface="Tahoma" panose="020B060403050404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1" lang="zh-CN" altLang="en-US" sz="1200" b="1" i="0" u="none" strike="noStrike" kern="1200" cap="none" spc="0" normalizeH="0" baseline="0" noProof="0">
              <a:ln>
                <a:noFill/>
              </a:ln>
              <a:solidFill>
                <a:prstClr val="white"/>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876733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）离散化的方法</a:t>
            </a:r>
            <a:endParaRPr lang="en-US" altLang="zh-CN" dirty="0"/>
          </a:p>
          <a:p>
            <a:r>
              <a:rPr lang="zh-CN" altLang="en-US" dirty="0"/>
              <a:t>（</a:t>
            </a:r>
            <a:r>
              <a:rPr lang="en-US" altLang="zh-CN" dirty="0"/>
              <a:t>2</a:t>
            </a:r>
            <a:r>
              <a:rPr lang="zh-CN" altLang="en-US" dirty="0"/>
              <a:t>）便于存储、运算！</a:t>
            </a:r>
            <a:endParaRPr lang="en-US" altLang="zh-CN" dirty="0"/>
          </a:p>
          <a:p>
            <a:r>
              <a:rPr lang="zh-CN" altLang="en-US" dirty="0"/>
              <a:t>（</a:t>
            </a:r>
            <a:r>
              <a:rPr lang="en-US" altLang="zh-CN" dirty="0"/>
              <a:t>3</a:t>
            </a:r>
            <a:r>
              <a:rPr lang="zh-CN" altLang="en-US" dirty="0"/>
              <a:t>）用</a:t>
            </a:r>
            <a:r>
              <a:rPr lang="en-US" altLang="zh-CN" dirty="0"/>
              <a:t>0</a:t>
            </a:r>
            <a:r>
              <a:rPr lang="zh-CN" altLang="en-US" dirty="0"/>
              <a:t>，</a:t>
            </a:r>
            <a:r>
              <a:rPr lang="en-US" altLang="zh-CN" dirty="0"/>
              <a:t>1</a:t>
            </a:r>
            <a:r>
              <a:rPr lang="zh-CN" altLang="en-US" dirty="0"/>
              <a:t>的表示开关；</a:t>
            </a:r>
            <a:r>
              <a:rPr lang="en-US" altLang="zh-CN" dirty="0"/>
              <a:t>0</a:t>
            </a:r>
            <a:r>
              <a:rPr lang="zh-CN" altLang="en-US" dirty="0"/>
              <a:t>，</a:t>
            </a:r>
            <a:r>
              <a:rPr lang="en-US" altLang="zh-CN" dirty="0"/>
              <a:t>1</a:t>
            </a:r>
            <a:r>
              <a:rPr lang="zh-CN" altLang="en-US" dirty="0"/>
              <a:t>的实现（容限）。可靠性高。</a:t>
            </a: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CAE51193-5658-4B97-822C-4FA34E7145E7}" type="slidenum">
              <a:rPr kumimoji="1" lang="zh-CN" altLang="en-US" sz="1200" b="1" i="0" u="none" strike="noStrike" kern="1200" cap="none" spc="0" normalizeH="0" baseline="0" noProof="0" smtClean="0">
                <a:ln>
                  <a:noFill/>
                </a:ln>
                <a:solidFill>
                  <a:prstClr val="white"/>
                </a:solidFill>
                <a:effectLst/>
                <a:uLnTx/>
                <a:uFillTx/>
                <a:latin typeface="Tahoma" panose="020B060403050404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1" lang="zh-CN" altLang="en-US" sz="1200" b="1" i="0" u="none" strike="noStrike" kern="1200" cap="none" spc="0" normalizeH="0" baseline="0" noProof="0">
              <a:ln>
                <a:noFill/>
              </a:ln>
              <a:solidFill>
                <a:prstClr val="white"/>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237126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、波形的暂态和稳态。结电容、</a:t>
            </a:r>
            <a:r>
              <a:rPr lang="en-US" altLang="zh-CN" sz="1200" kern="1200" dirty="0">
                <a:solidFill>
                  <a:schemeClr val="tx1"/>
                </a:solidFill>
                <a:effectLst/>
                <a:latin typeface="+mn-lt"/>
                <a:ea typeface="+mn-ea"/>
                <a:cs typeface="+mn-cs"/>
              </a:rPr>
              <a:t>RC</a:t>
            </a:r>
            <a:r>
              <a:rPr lang="zh-CN" altLang="en-US" sz="1200" kern="1200" dirty="0">
                <a:solidFill>
                  <a:schemeClr val="tx1"/>
                </a:solidFill>
                <a:effectLst/>
                <a:latin typeface="+mn-lt"/>
                <a:ea typeface="+mn-ea"/>
                <a:cs typeface="+mn-cs"/>
              </a:rPr>
              <a:t>时间参数、暂态</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、暂态和电路速度的关系</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CAE51193-5658-4B97-822C-4FA34E7145E7}" type="slidenum">
              <a:rPr kumimoji="1" lang="zh-CN" altLang="en-US" sz="1200" b="1" i="0" u="none" strike="noStrike" kern="1200" cap="none" spc="0" normalizeH="0" baseline="0" noProof="0" smtClean="0">
                <a:ln>
                  <a:noFill/>
                </a:ln>
                <a:solidFill>
                  <a:prstClr val="white"/>
                </a:solidFill>
                <a:effectLst/>
                <a:uLnTx/>
                <a:uFillTx/>
                <a:latin typeface="Tahoma" panose="020B060403050404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1" lang="zh-CN" altLang="en-US" sz="1200" b="1" i="0" u="none" strike="noStrike" kern="1200" cap="none" spc="0" normalizeH="0" baseline="0" noProof="0">
              <a:ln>
                <a:noFill/>
              </a:ln>
              <a:solidFill>
                <a:prstClr val="white"/>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2005586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、正逻辑概念</a:t>
            </a:r>
            <a:endParaRPr lang="en-US" altLang="zh-CN" dirty="0"/>
          </a:p>
          <a:p>
            <a:r>
              <a:rPr lang="zh-CN" altLang="en-US" sz="4000" b="1" dirty="0"/>
              <a:t>逻辑变量和二进制变量的区别联系：</a:t>
            </a:r>
            <a:endParaRPr lang="en-US" altLang="zh-CN" sz="4000" b="1" dirty="0"/>
          </a:p>
          <a:p>
            <a:pPr lvl="1" eaLnBrk="1" fontAlgn="t" hangingPunct="1">
              <a:lnSpc>
                <a:spcPct val="130000"/>
              </a:lnSpc>
              <a:defRPr/>
            </a:pPr>
            <a:r>
              <a:rPr lang="en-US" altLang="zh-CN" sz="3200" b="1" dirty="0">
                <a:latin typeface="Times New Roman" panose="02020603050405020304" pitchFamily="18" charset="0"/>
              </a:rPr>
              <a:t>0</a:t>
            </a:r>
            <a:r>
              <a:rPr lang="zh-CN" altLang="en-US" sz="3200" b="1" dirty="0">
                <a:latin typeface="Times New Roman" panose="02020603050405020304" pitchFamily="18" charset="0"/>
              </a:rPr>
              <a:t>，</a:t>
            </a:r>
            <a:r>
              <a:rPr lang="en-US" altLang="zh-CN" sz="3200" b="1" dirty="0">
                <a:latin typeface="Times New Roman" panose="02020603050405020304" pitchFamily="18" charset="0"/>
              </a:rPr>
              <a:t>1</a:t>
            </a:r>
            <a:r>
              <a:rPr lang="zh-CN" altLang="en-US" sz="3200" b="1" dirty="0">
                <a:latin typeface="Times New Roman" panose="02020603050405020304" pitchFamily="18" charset="0"/>
              </a:rPr>
              <a:t>的意义不同</a:t>
            </a:r>
            <a:endParaRPr lang="en-US" altLang="zh-CN" sz="3200" b="1" dirty="0">
              <a:latin typeface="Times New Roman" panose="02020603050405020304" pitchFamily="18" charset="0"/>
            </a:endParaRPr>
          </a:p>
          <a:p>
            <a:pPr lvl="1" eaLnBrk="1" fontAlgn="t" hangingPunct="1">
              <a:lnSpc>
                <a:spcPct val="130000"/>
              </a:lnSpc>
              <a:defRPr/>
            </a:pPr>
            <a:r>
              <a:rPr lang="zh-CN" altLang="en-US" sz="3200" b="1" dirty="0">
                <a:latin typeface="Times New Roman" panose="02020603050405020304" pitchFamily="18" charset="0"/>
              </a:rPr>
              <a:t>二进制的加减乘除，是由逻辑运算实现的。放在布尔代数部分。</a:t>
            </a:r>
            <a:endParaRPr lang="zh-CN" altLang="en-US" sz="3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CAE51193-5658-4B97-822C-4FA34E7145E7}" type="slidenum">
              <a:rPr kumimoji="1" lang="zh-CN" altLang="en-US" sz="1200" b="1" i="0" u="none" strike="noStrike" kern="1200" cap="none" spc="0" normalizeH="0" baseline="0" noProof="0" smtClean="0">
                <a:ln>
                  <a:noFill/>
                </a:ln>
                <a:solidFill>
                  <a:prstClr val="white"/>
                </a:solidFill>
                <a:effectLst/>
                <a:uLnTx/>
                <a:uFillTx/>
                <a:latin typeface="Tahoma" panose="020B060403050404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1" lang="zh-CN" altLang="en-US" sz="1200" b="1" i="0" u="none" strike="noStrike" kern="1200" cap="none" spc="0" normalizeH="0" baseline="0" noProof="0">
              <a:ln>
                <a:noFill/>
              </a:ln>
              <a:solidFill>
                <a:prstClr val="white"/>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2953091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E51193-5658-4B97-822C-4FA34E7145E7}" type="slidenum">
              <a:rPr lang="zh-CN" altLang="en-US" smtClean="0"/>
              <a:t>10</a:t>
            </a:fld>
            <a:endParaRPr lang="zh-CN" altLang="en-US"/>
          </a:p>
        </p:txBody>
      </p:sp>
    </p:spTree>
    <p:extLst>
      <p:ext uri="{BB962C8B-B14F-4D97-AF65-F5344CB8AC3E}">
        <p14:creationId xmlns:p14="http://schemas.microsoft.com/office/powerpoint/2010/main" val="8832504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 name="Rectangle 11">
            <a:extLst>
              <a:ext uri="{FF2B5EF4-FFF2-40B4-BE49-F238E27FC236}">
                <a16:creationId xmlns:a16="http://schemas.microsoft.com/office/drawing/2014/main" id="{E64B3B62-5DCE-4A42-A0FB-B7FAF0548068}"/>
              </a:ext>
            </a:extLst>
          </p:cNvPr>
          <p:cNvSpPr>
            <a:spLocks noChangeArrowheads="1"/>
          </p:cNvSpPr>
          <p:nvPr/>
        </p:nvSpPr>
        <p:spPr bwMode="auto">
          <a:xfrm flipV="1">
            <a:off x="633045" y="3174576"/>
            <a:ext cx="8446717" cy="45719"/>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b="1" dirty="0">
              <a:effectLst>
                <a:outerShdw blurRad="38100" dist="38100" dir="2700000" algn="tl">
                  <a:srgbClr val="000000">
                    <a:alpha val="43137"/>
                  </a:srgbClr>
                </a:outerShdw>
              </a:effectLst>
            </a:endParaRPr>
          </a:p>
        </p:txBody>
      </p:sp>
      <p:sp>
        <p:nvSpPr>
          <p:cNvPr id="16396" name="Rectangle 12"/>
          <p:cNvSpPr>
            <a:spLocks noGrp="1" noChangeArrowheads="1"/>
          </p:cNvSpPr>
          <p:nvPr>
            <p:ph type="ctrTitle"/>
          </p:nvPr>
        </p:nvSpPr>
        <p:spPr>
          <a:xfrm>
            <a:off x="858715" y="2466906"/>
            <a:ext cx="7426569" cy="695360"/>
          </a:xfrm>
        </p:spPr>
        <p:txBody>
          <a:bodyPr/>
          <a:lstStyle>
            <a:lvl1pPr>
              <a:defRPr b="1"/>
            </a:lvl1pPr>
          </a:lstStyle>
          <a:p>
            <a:pPr lvl="0"/>
            <a:r>
              <a:rPr lang="zh-CN" altLang="en-US" noProof="0" dirty="0"/>
              <a:t>单击此处编辑母版标题样式</a:t>
            </a:r>
          </a:p>
        </p:txBody>
      </p:sp>
      <p:sp>
        <p:nvSpPr>
          <p:cNvPr id="16397" name="Rectangle 13"/>
          <p:cNvSpPr>
            <a:spLocks noGrp="1" noChangeArrowheads="1"/>
          </p:cNvSpPr>
          <p:nvPr>
            <p:ph type="subTitle" idx="1"/>
          </p:nvPr>
        </p:nvSpPr>
        <p:spPr>
          <a:xfrm>
            <a:off x="1219994" y="3445937"/>
            <a:ext cx="6400800" cy="1752600"/>
          </a:xfrm>
          <a:prstGeom prst="rect">
            <a:avLst/>
          </a:prstGeom>
        </p:spPr>
        <p:txBody>
          <a:bodyPr/>
          <a:lstStyle>
            <a:lvl1pPr marL="0" indent="0" algn="ctr">
              <a:buFont typeface="Wingdings" panose="05000000000000000000" pitchFamily="2" charset="2"/>
              <a:buNone/>
              <a:defRPr b="1"/>
            </a:lvl1pPr>
          </a:lstStyle>
          <a:p>
            <a:pPr lvl="0"/>
            <a:r>
              <a:rPr lang="zh-CN" altLang="en-US" noProof="0" dirty="0"/>
              <a:t>单击此处编辑母版副标题样式</a:t>
            </a:r>
          </a:p>
        </p:txBody>
      </p:sp>
      <p:sp>
        <p:nvSpPr>
          <p:cNvPr id="14" name="Rectangle 14">
            <a:extLst>
              <a:ext uri="{FF2B5EF4-FFF2-40B4-BE49-F238E27FC236}">
                <a16:creationId xmlns:a16="http://schemas.microsoft.com/office/drawing/2014/main" id="{1A02683C-0E7E-4B38-899B-FC3B07C20CDD}"/>
              </a:ext>
            </a:extLst>
          </p:cNvPr>
          <p:cNvSpPr>
            <a:spLocks noGrp="1" noChangeArrowheads="1"/>
          </p:cNvSpPr>
          <p:nvPr>
            <p:ph type="dt" sz="half" idx="10"/>
          </p:nvPr>
        </p:nvSpPr>
        <p:spPr>
          <a:xfrm>
            <a:off x="7110046" y="6248400"/>
            <a:ext cx="1905000" cy="457200"/>
          </a:xfrm>
        </p:spPr>
        <p:txBody>
          <a:bodyPr/>
          <a:lstStyle>
            <a:lvl1pPr>
              <a:defRPr b="1" smtClean="0">
                <a:solidFill>
                  <a:schemeClr val="bg2"/>
                </a:solidFill>
              </a:defRPr>
            </a:lvl1pPr>
          </a:lstStyle>
          <a:p>
            <a:pPr>
              <a:defRPr/>
            </a:pPr>
            <a:endParaRPr lang="en-US" altLang="zh-CN"/>
          </a:p>
        </p:txBody>
      </p:sp>
      <p:sp>
        <p:nvSpPr>
          <p:cNvPr id="15" name="Rectangle 15">
            <a:extLst>
              <a:ext uri="{FF2B5EF4-FFF2-40B4-BE49-F238E27FC236}">
                <a16:creationId xmlns:a16="http://schemas.microsoft.com/office/drawing/2014/main" id="{EB7DEAEF-90FE-45CE-897C-A4587B87FB60}"/>
              </a:ext>
            </a:extLst>
          </p:cNvPr>
          <p:cNvSpPr>
            <a:spLocks noGrp="1" noChangeArrowheads="1"/>
          </p:cNvSpPr>
          <p:nvPr>
            <p:ph type="ftr" sz="quarter" idx="11"/>
          </p:nvPr>
        </p:nvSpPr>
        <p:spPr>
          <a:xfrm>
            <a:off x="3429000" y="6248400"/>
            <a:ext cx="2895600" cy="457200"/>
          </a:xfrm>
        </p:spPr>
        <p:txBody>
          <a:bodyPr/>
          <a:lstStyle>
            <a:lvl1pPr>
              <a:defRPr b="1" smtClean="0">
                <a:solidFill>
                  <a:schemeClr val="bg2"/>
                </a:solidFill>
              </a:defRPr>
            </a:lvl1pPr>
          </a:lstStyle>
          <a:p>
            <a:pPr>
              <a:defRPr/>
            </a:pPr>
            <a:endParaRPr lang="en-US" altLang="zh-CN"/>
          </a:p>
        </p:txBody>
      </p:sp>
      <p:sp>
        <p:nvSpPr>
          <p:cNvPr id="16" name="Rectangle 16">
            <a:extLst>
              <a:ext uri="{FF2B5EF4-FFF2-40B4-BE49-F238E27FC236}">
                <a16:creationId xmlns:a16="http://schemas.microsoft.com/office/drawing/2014/main" id="{8139F8AE-5050-4005-929A-F622B5A5A2D0}"/>
              </a:ext>
            </a:extLst>
          </p:cNvPr>
          <p:cNvSpPr>
            <a:spLocks noGrp="1" noChangeArrowheads="1"/>
          </p:cNvSpPr>
          <p:nvPr>
            <p:ph type="sldNum" sz="quarter" idx="12"/>
          </p:nvPr>
        </p:nvSpPr>
        <p:spPr>
          <a:xfrm>
            <a:off x="524608" y="6248400"/>
            <a:ext cx="1091040" cy="457200"/>
          </a:xfrm>
        </p:spPr>
        <p:txBody>
          <a:bodyPr/>
          <a:lstStyle>
            <a:lvl1pPr>
              <a:defRPr b="1" smtClean="0">
                <a:solidFill>
                  <a:schemeClr val="bg2"/>
                </a:solidFill>
              </a:defRPr>
            </a:lvl1pPr>
          </a:lstStyle>
          <a:p>
            <a:pPr>
              <a:defRPr/>
            </a:pPr>
            <a:fld id="{D9C06B46-0B96-467A-8218-9E6645A9A3E3}" type="slidenum">
              <a:rPr lang="en-US" altLang="zh-CN" smtClean="0"/>
              <a:pPr>
                <a:defRPr/>
              </a:pPr>
              <a:t>‹#›</a:t>
            </a:fld>
            <a:endParaRPr lang="en-US" altLang="zh-CN"/>
          </a:p>
        </p:txBody>
      </p:sp>
      <p:sp>
        <p:nvSpPr>
          <p:cNvPr id="20" name="Rectangle 8">
            <a:extLst>
              <a:ext uri="{FF2B5EF4-FFF2-40B4-BE49-F238E27FC236}">
                <a16:creationId xmlns:a16="http://schemas.microsoft.com/office/drawing/2014/main" id="{DD6750F8-FE5B-4AAF-AB86-B6AAAC40B492}"/>
              </a:ext>
            </a:extLst>
          </p:cNvPr>
          <p:cNvSpPr>
            <a:spLocks noChangeArrowheads="1"/>
          </p:cNvSpPr>
          <p:nvPr userDrawn="1"/>
        </p:nvSpPr>
        <p:spPr bwMode="gray">
          <a:xfrm>
            <a:off x="189640" y="937607"/>
            <a:ext cx="3571387" cy="45719"/>
          </a:xfrm>
          <a:prstGeom prst="rect">
            <a:avLst/>
          </a:prstGeom>
          <a:gradFill rotWithShape="0">
            <a:gsLst>
              <a:gs pos="87000">
                <a:schemeClr val="bg2"/>
              </a:gs>
              <a:gs pos="0">
                <a:schemeClr val="bg1"/>
              </a:gs>
            </a:gsLst>
            <a:lin ang="0" scaled="1"/>
          </a:gradFill>
          <a:ln>
            <a:noFill/>
          </a:ln>
          <a:effectLst/>
          <a:ex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pic>
        <p:nvPicPr>
          <p:cNvPr id="2050" name="Picture 2" descr="https://timgsa.baidu.com/timg?image&amp;quality=80&amp;size=b9999_10000&amp;sec=1513061652214&amp;di=0dbe8ba562ebf8b0aac6fc468b7851b5&amp;imgtype=0&amp;src=http%3A%2F%2Fphotocdn.sohu.com%2F20160130%2Fmp57336747_1454147583329_1_th.png">
            <a:extLst>
              <a:ext uri="{FF2B5EF4-FFF2-40B4-BE49-F238E27FC236}">
                <a16:creationId xmlns:a16="http://schemas.microsoft.com/office/drawing/2014/main" id="{2DA67216-37D7-4C69-A2CE-B9CD4F7AB62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37692" b="35641"/>
          <a:stretch/>
        </p:blipFill>
        <p:spPr bwMode="auto">
          <a:xfrm>
            <a:off x="372005" y="275048"/>
            <a:ext cx="3389022" cy="677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748090"/>
      </p:ext>
    </p:extLst>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6954715" cy="588136"/>
          </a:xfrm>
        </p:spPr>
        <p:txBody>
          <a:bodyPr/>
          <a:lstStyle>
            <a:lvl1pPr>
              <a:defRPr b="1"/>
            </a:lvl1pPr>
          </a:lstStyle>
          <a:p>
            <a:r>
              <a:rPr lang="zh-CN" altLang="en-US" dirty="0"/>
              <a:t>单击此处编辑母版标题样式</a:t>
            </a:r>
          </a:p>
        </p:txBody>
      </p:sp>
      <p:sp>
        <p:nvSpPr>
          <p:cNvPr id="3" name="内容占位符 2"/>
          <p:cNvSpPr>
            <a:spLocks noGrp="1"/>
          </p:cNvSpPr>
          <p:nvPr>
            <p:ph idx="1"/>
          </p:nvPr>
        </p:nvSpPr>
        <p:spPr>
          <a:xfrm>
            <a:off x="808893" y="1213338"/>
            <a:ext cx="7772400" cy="5040923"/>
          </a:xfrm>
          <a:prstGeom prst="rect">
            <a:avLst/>
          </a:prstGeom>
        </p:spPr>
        <p:txBody>
          <a:bodyPr/>
          <a:lstStyle>
            <a:lvl1pPr>
              <a:defRPr b="1"/>
            </a:lvl1pPr>
            <a:lvl2pPr>
              <a:defRPr b="1"/>
            </a:lvl2pPr>
            <a:lvl3pPr>
              <a:defRPr b="1"/>
            </a:lvl3pPr>
            <a:lvl4pPr>
              <a:defRPr b="1"/>
            </a:lvl4pPr>
            <a:lvl5pPr>
              <a:defRPr b="1"/>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2">
            <a:extLst>
              <a:ext uri="{FF2B5EF4-FFF2-40B4-BE49-F238E27FC236}">
                <a16:creationId xmlns:a16="http://schemas.microsoft.com/office/drawing/2014/main" id="{BC01E0D4-4280-4C64-8793-7E6B1B7F27F7}"/>
              </a:ext>
            </a:extLst>
          </p:cNvPr>
          <p:cNvSpPr>
            <a:spLocks noGrp="1" noChangeArrowheads="1"/>
          </p:cNvSpPr>
          <p:nvPr>
            <p:ph type="ftr" sz="quarter" idx="11"/>
          </p:nvPr>
        </p:nvSpPr>
        <p:spPr>
          <a:ln/>
        </p:spPr>
        <p:txBody>
          <a:bodyPr/>
          <a:lstStyle>
            <a:lvl1pPr>
              <a:defRPr b="1"/>
            </a:lvl1pPr>
          </a:lstStyle>
          <a:p>
            <a:pPr>
              <a:defRPr/>
            </a:pPr>
            <a:endParaRPr lang="en-US" altLang="zh-CN" dirty="0"/>
          </a:p>
        </p:txBody>
      </p:sp>
      <p:sp>
        <p:nvSpPr>
          <p:cNvPr id="6" name="Rectangle 13">
            <a:extLst>
              <a:ext uri="{FF2B5EF4-FFF2-40B4-BE49-F238E27FC236}">
                <a16:creationId xmlns:a16="http://schemas.microsoft.com/office/drawing/2014/main" id="{E3273F16-BE22-4912-8CC3-17915B73E13F}"/>
              </a:ext>
            </a:extLst>
          </p:cNvPr>
          <p:cNvSpPr>
            <a:spLocks noGrp="1" noChangeArrowheads="1"/>
          </p:cNvSpPr>
          <p:nvPr>
            <p:ph type="sldNum" sz="quarter" idx="12"/>
          </p:nvPr>
        </p:nvSpPr>
        <p:spPr>
          <a:xfrm>
            <a:off x="222737" y="6359768"/>
            <a:ext cx="735625" cy="457200"/>
          </a:xfrm>
          <a:ln/>
        </p:spPr>
        <p:txBody>
          <a:bodyPr/>
          <a:lstStyle>
            <a:lvl1pPr>
              <a:defRPr b="1"/>
            </a:lvl1pPr>
          </a:lstStyle>
          <a:p>
            <a:pPr>
              <a:defRPr/>
            </a:pPr>
            <a:fld id="{46929CCE-959B-41CA-84A4-0AA87FC21048}" type="slidenum">
              <a:rPr lang="en-US" altLang="zh-CN" smtClean="0"/>
              <a:pPr>
                <a:defRPr/>
              </a:pPr>
              <a:t>‹#›</a:t>
            </a:fld>
            <a:endParaRPr lang="en-US" altLang="zh-CN"/>
          </a:p>
        </p:txBody>
      </p:sp>
    </p:spTree>
    <p:extLst>
      <p:ext uri="{BB962C8B-B14F-4D97-AF65-F5344CB8AC3E}">
        <p14:creationId xmlns:p14="http://schemas.microsoft.com/office/powerpoint/2010/main" val="2302152598"/>
      </p:ext>
    </p:extLst>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p>
        </p:txBody>
      </p:sp>
      <p:sp>
        <p:nvSpPr>
          <p:cNvPr id="3" name="内容占位符 2"/>
          <p:cNvSpPr>
            <a:spLocks noGrp="1"/>
          </p:cNvSpPr>
          <p:nvPr>
            <p:ph sz="half" idx="1"/>
          </p:nvPr>
        </p:nvSpPr>
        <p:spPr>
          <a:xfrm>
            <a:off x="839788" y="1455006"/>
            <a:ext cx="3810000" cy="4114800"/>
          </a:xfrm>
          <a:prstGeom prst="rect">
            <a:avLst/>
          </a:prstGeom>
        </p:spPr>
        <p:txBody>
          <a:bodyPr/>
          <a:lstStyle>
            <a:lvl1pPr>
              <a:defRPr b="1"/>
            </a:lvl1pPr>
            <a:lvl2pPr>
              <a:defRPr b="1"/>
            </a:lvl2pPr>
            <a:lvl3pPr>
              <a:defRPr b="1"/>
            </a:lvl3pPr>
            <a:lvl4pPr>
              <a:defRPr b="1"/>
            </a:lvl4pPr>
            <a:lvl5pPr>
              <a:defRPr b="1"/>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40642" y="1432904"/>
            <a:ext cx="3810000" cy="4114800"/>
          </a:xfrm>
          <a:prstGeom prst="rect">
            <a:avLst/>
          </a:prstGeom>
        </p:spPr>
        <p:txBody>
          <a:bodyPr/>
          <a:lstStyle>
            <a:lvl1pPr>
              <a:defRPr b="1"/>
            </a:lvl1pPr>
            <a:lvl2pPr>
              <a:defRPr b="1"/>
            </a:lvl2pPr>
            <a:lvl3pPr>
              <a:defRPr b="1"/>
            </a:lvl3pPr>
            <a:lvl4pPr>
              <a:defRPr b="1"/>
            </a:lvl4pPr>
            <a:lvl5pPr>
              <a:defRPr b="1"/>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5AD8B827-6413-4C25-8DA1-80CBDD262CD9}"/>
              </a:ext>
            </a:extLst>
          </p:cNvPr>
          <p:cNvSpPr>
            <a:spLocks noGrp="1" noChangeArrowheads="1"/>
          </p:cNvSpPr>
          <p:nvPr>
            <p:ph type="dt" sz="half" idx="10"/>
          </p:nvPr>
        </p:nvSpPr>
        <p:spPr>
          <a:ln/>
        </p:spPr>
        <p:txBody>
          <a:bodyPr/>
          <a:lstStyle>
            <a:lvl1pPr>
              <a:defRPr b="1"/>
            </a:lvl1pPr>
          </a:lstStyle>
          <a:p>
            <a:pPr>
              <a:defRPr/>
            </a:pPr>
            <a:endParaRPr lang="en-US" altLang="zh-CN"/>
          </a:p>
        </p:txBody>
      </p:sp>
      <p:sp>
        <p:nvSpPr>
          <p:cNvPr id="6" name="Rectangle 12">
            <a:extLst>
              <a:ext uri="{FF2B5EF4-FFF2-40B4-BE49-F238E27FC236}">
                <a16:creationId xmlns:a16="http://schemas.microsoft.com/office/drawing/2014/main" id="{870B3030-B043-4F47-9B26-F954C9946003}"/>
              </a:ext>
            </a:extLst>
          </p:cNvPr>
          <p:cNvSpPr>
            <a:spLocks noGrp="1" noChangeArrowheads="1"/>
          </p:cNvSpPr>
          <p:nvPr>
            <p:ph type="ftr" sz="quarter" idx="11"/>
          </p:nvPr>
        </p:nvSpPr>
        <p:spPr>
          <a:ln/>
        </p:spPr>
        <p:txBody>
          <a:bodyPr/>
          <a:lstStyle>
            <a:lvl1pPr>
              <a:defRPr b="1"/>
            </a:lvl1pPr>
          </a:lstStyle>
          <a:p>
            <a:pPr>
              <a:defRPr/>
            </a:pPr>
            <a:endParaRPr lang="en-US" altLang="zh-CN"/>
          </a:p>
        </p:txBody>
      </p:sp>
      <p:sp>
        <p:nvSpPr>
          <p:cNvPr id="7" name="Rectangle 13">
            <a:extLst>
              <a:ext uri="{FF2B5EF4-FFF2-40B4-BE49-F238E27FC236}">
                <a16:creationId xmlns:a16="http://schemas.microsoft.com/office/drawing/2014/main" id="{BA423450-2CBE-4B62-AE41-DD58522F516C}"/>
              </a:ext>
            </a:extLst>
          </p:cNvPr>
          <p:cNvSpPr>
            <a:spLocks noGrp="1" noChangeArrowheads="1"/>
          </p:cNvSpPr>
          <p:nvPr>
            <p:ph type="sldNum" sz="quarter" idx="12"/>
          </p:nvPr>
        </p:nvSpPr>
        <p:spPr>
          <a:ln/>
        </p:spPr>
        <p:txBody>
          <a:bodyPr/>
          <a:lstStyle>
            <a:lvl1pPr>
              <a:defRPr b="1"/>
            </a:lvl1pPr>
          </a:lstStyle>
          <a:p>
            <a:pPr>
              <a:defRPr/>
            </a:pPr>
            <a:fld id="{278602ED-943E-4A7A-9341-26FE97429180}" type="slidenum">
              <a:rPr lang="en-US" altLang="zh-CN" smtClean="0"/>
              <a:pPr>
                <a:defRPr/>
              </a:pPr>
              <a:t>‹#›</a:t>
            </a:fld>
            <a:endParaRPr lang="en-US" altLang="zh-CN"/>
          </a:p>
        </p:txBody>
      </p:sp>
    </p:spTree>
    <p:extLst>
      <p:ext uri="{BB962C8B-B14F-4D97-AF65-F5344CB8AC3E}">
        <p14:creationId xmlns:p14="http://schemas.microsoft.com/office/powerpoint/2010/main" val="1781685582"/>
      </p:ext>
    </p:extLst>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06104" y="265475"/>
            <a:ext cx="6961256" cy="823912"/>
          </a:xfrm>
        </p:spPr>
        <p:txBody>
          <a:bodyPr/>
          <a:lstStyle/>
          <a:p>
            <a:r>
              <a:rPr lang="zh-CN" altLang="en-US"/>
              <a:t>单击此处编辑母版标题样式</a:t>
            </a:r>
          </a:p>
        </p:txBody>
      </p:sp>
      <p:sp>
        <p:nvSpPr>
          <p:cNvPr id="3" name="文本占位符 2"/>
          <p:cNvSpPr>
            <a:spLocks noGrp="1"/>
          </p:cNvSpPr>
          <p:nvPr>
            <p:ph type="body" idx="1"/>
          </p:nvPr>
        </p:nvSpPr>
        <p:spPr>
          <a:xfrm>
            <a:off x="533523" y="1276719"/>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33523" y="2100631"/>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532435" y="1276719"/>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532435" y="2100631"/>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6E1F2607-B43C-46D6-B2B2-7FD0BB3715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D4067993-EC72-4429-BEFF-EBBFBC8EC60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47310DB-F0C8-4363-B0B3-A32B28E66042}"/>
              </a:ext>
            </a:extLst>
          </p:cNvPr>
          <p:cNvSpPr>
            <a:spLocks noGrp="1" noChangeArrowheads="1"/>
          </p:cNvSpPr>
          <p:nvPr>
            <p:ph type="sldNum" sz="quarter" idx="12"/>
          </p:nvPr>
        </p:nvSpPr>
        <p:spPr>
          <a:ln/>
        </p:spPr>
        <p:txBody>
          <a:bodyPr/>
          <a:lstStyle>
            <a:lvl1pPr>
              <a:defRPr/>
            </a:lvl1pPr>
          </a:lstStyle>
          <a:p>
            <a:pPr>
              <a:defRPr/>
            </a:pPr>
            <a:fld id="{DA5F86F0-5844-46C3-8BCE-367208B9A755}" type="slidenum">
              <a:rPr lang="en-US" altLang="zh-CN"/>
              <a:pPr>
                <a:defRPr/>
              </a:pPr>
              <a:t>‹#›</a:t>
            </a:fld>
            <a:endParaRPr lang="en-US" altLang="zh-CN"/>
          </a:p>
        </p:txBody>
      </p:sp>
    </p:spTree>
    <p:extLst>
      <p:ext uri="{BB962C8B-B14F-4D97-AF65-F5344CB8AC3E}">
        <p14:creationId xmlns:p14="http://schemas.microsoft.com/office/powerpoint/2010/main" val="2517211198"/>
      </p:ext>
    </p:extLst>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1125414"/>
            <a:ext cx="2949575" cy="931985"/>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1283677"/>
            <a:ext cx="4629150" cy="457737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A4267126-A643-4066-8088-A43B3042210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88BCFC2-534C-41E8-811C-18B0F5FAF91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EAC1D16-6221-440A-B52D-08EEFAE6C80B}"/>
              </a:ext>
            </a:extLst>
          </p:cNvPr>
          <p:cNvSpPr>
            <a:spLocks noGrp="1" noChangeArrowheads="1"/>
          </p:cNvSpPr>
          <p:nvPr>
            <p:ph type="sldNum" sz="quarter" idx="12"/>
          </p:nvPr>
        </p:nvSpPr>
        <p:spPr>
          <a:ln/>
        </p:spPr>
        <p:txBody>
          <a:bodyPr/>
          <a:lstStyle>
            <a:lvl1pPr>
              <a:defRPr/>
            </a:lvl1pPr>
          </a:lstStyle>
          <a:p>
            <a:pPr>
              <a:defRPr/>
            </a:pPr>
            <a:fld id="{DBF35616-8D35-4FF5-9446-2D12F9726078}" type="slidenum">
              <a:rPr lang="en-US" altLang="zh-CN"/>
              <a:pPr>
                <a:defRPr/>
              </a:pPr>
              <a:t>‹#›</a:t>
            </a:fld>
            <a:endParaRPr lang="en-US" altLang="zh-CN"/>
          </a:p>
        </p:txBody>
      </p:sp>
      <p:sp>
        <p:nvSpPr>
          <p:cNvPr id="8" name="标题 1">
            <a:extLst>
              <a:ext uri="{FF2B5EF4-FFF2-40B4-BE49-F238E27FC236}">
                <a16:creationId xmlns:a16="http://schemas.microsoft.com/office/drawing/2014/main" id="{9B1102C7-0F18-4D91-A4A7-17569BAF03D1}"/>
              </a:ext>
            </a:extLst>
          </p:cNvPr>
          <p:cNvSpPr txBox="1">
            <a:spLocks/>
          </p:cNvSpPr>
          <p:nvPr userDrawn="1"/>
        </p:nvSpPr>
        <p:spPr bwMode="auto">
          <a:xfrm>
            <a:off x="1306104" y="265475"/>
            <a:ext cx="6961256"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b="0"/>
              <a:t>单击此处编辑母版标题样式</a:t>
            </a:r>
          </a:p>
        </p:txBody>
      </p:sp>
    </p:spTree>
    <p:extLst>
      <p:ext uri="{BB962C8B-B14F-4D97-AF65-F5344CB8AC3E}">
        <p14:creationId xmlns:p14="http://schemas.microsoft.com/office/powerpoint/2010/main" val="87364989"/>
      </p:ext>
    </p:extLst>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2A6C1A6F-CA45-4ED4-8D74-4DB3EA4119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E8E0055-8C08-48AE-A614-0621C3AAAC8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7AB1BBF-1B54-4936-89F0-D7134E96DF24}"/>
              </a:ext>
            </a:extLst>
          </p:cNvPr>
          <p:cNvSpPr>
            <a:spLocks noGrp="1" noChangeArrowheads="1"/>
          </p:cNvSpPr>
          <p:nvPr>
            <p:ph type="sldNum" sz="quarter" idx="12"/>
          </p:nvPr>
        </p:nvSpPr>
        <p:spPr>
          <a:ln/>
        </p:spPr>
        <p:txBody>
          <a:bodyPr/>
          <a:lstStyle>
            <a:lvl1pPr>
              <a:defRPr/>
            </a:lvl1pPr>
          </a:lstStyle>
          <a:p>
            <a:pPr>
              <a:defRPr/>
            </a:pPr>
            <a:fld id="{641F69E9-C12E-49EF-8FF3-AE4321839149}" type="slidenum">
              <a:rPr lang="en-US" altLang="zh-CN"/>
              <a:pPr>
                <a:defRPr/>
              </a:pPr>
              <a:t>‹#›</a:t>
            </a:fld>
            <a:endParaRPr lang="en-US" altLang="zh-CN"/>
          </a:p>
        </p:txBody>
      </p:sp>
    </p:spTree>
    <p:extLst>
      <p:ext uri="{BB962C8B-B14F-4D97-AF65-F5344CB8AC3E}">
        <p14:creationId xmlns:p14="http://schemas.microsoft.com/office/powerpoint/2010/main" val="2103588502"/>
      </p:ext>
    </p:extLst>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00100" y="1661550"/>
            <a:ext cx="7772400" cy="46630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503D8EB-F24A-4CC2-A452-D605652469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4055C235-C6C7-4F8E-BEA1-B254A0E7B0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E7095AB-979D-4545-9D7B-BDA09C0C721A}"/>
              </a:ext>
            </a:extLst>
          </p:cNvPr>
          <p:cNvSpPr>
            <a:spLocks noGrp="1" noChangeArrowheads="1"/>
          </p:cNvSpPr>
          <p:nvPr>
            <p:ph type="sldNum" sz="quarter" idx="12"/>
          </p:nvPr>
        </p:nvSpPr>
        <p:spPr>
          <a:ln/>
        </p:spPr>
        <p:txBody>
          <a:bodyPr/>
          <a:lstStyle>
            <a:lvl1pPr>
              <a:defRPr/>
            </a:lvl1pPr>
          </a:lstStyle>
          <a:p>
            <a:pPr>
              <a:defRPr/>
            </a:pPr>
            <a:fld id="{8570E8DF-2678-4BC4-A995-7C70128B38EF}" type="slidenum">
              <a:rPr lang="en-US" altLang="zh-CN"/>
              <a:pPr>
                <a:defRPr/>
              </a:pPr>
              <a:t>‹#›</a:t>
            </a:fld>
            <a:endParaRPr lang="en-US" altLang="zh-CN"/>
          </a:p>
        </p:txBody>
      </p:sp>
    </p:spTree>
    <p:extLst>
      <p:ext uri="{BB962C8B-B14F-4D97-AF65-F5344CB8AC3E}">
        <p14:creationId xmlns:p14="http://schemas.microsoft.com/office/powerpoint/2010/main" val="1052400732"/>
      </p:ext>
    </p:extLst>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34D4DC8-598E-4C1C-8C7D-D0DB2351736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6E49145F-D98D-4B52-A0C3-CC0F1041CC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B5EB162E-2B07-43A3-969A-1620367E155C}"/>
              </a:ext>
            </a:extLst>
          </p:cNvPr>
          <p:cNvSpPr>
            <a:spLocks noGrp="1" noChangeArrowheads="1"/>
          </p:cNvSpPr>
          <p:nvPr>
            <p:ph type="sldNum" sz="quarter" idx="12"/>
          </p:nvPr>
        </p:nvSpPr>
        <p:spPr>
          <a:ln/>
        </p:spPr>
        <p:txBody>
          <a:bodyPr/>
          <a:lstStyle>
            <a:lvl1pPr>
              <a:defRPr/>
            </a:lvl1pPr>
          </a:lstStyle>
          <a:p>
            <a:pPr>
              <a:defRPr/>
            </a:pPr>
            <a:fld id="{315FFD45-9446-43A4-BF8D-112593CD25AC}" type="slidenum">
              <a:rPr lang="en-US" altLang="zh-CN"/>
              <a:pPr>
                <a:defRPr/>
              </a:pPr>
              <a:t>‹#›</a:t>
            </a:fld>
            <a:endParaRPr lang="en-US" altLang="zh-CN"/>
          </a:p>
        </p:txBody>
      </p:sp>
    </p:spTree>
    <p:extLst>
      <p:ext uri="{BB962C8B-B14F-4D97-AF65-F5344CB8AC3E}">
        <p14:creationId xmlns:p14="http://schemas.microsoft.com/office/powerpoint/2010/main" val="2121737415"/>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33" name="Rectangle 9">
            <a:extLst>
              <a:ext uri="{FF2B5EF4-FFF2-40B4-BE49-F238E27FC236}">
                <a16:creationId xmlns:a16="http://schemas.microsoft.com/office/drawing/2014/main" id="{33707532-3883-41BD-9420-919E4556FE09}"/>
              </a:ext>
            </a:extLst>
          </p:cNvPr>
          <p:cNvSpPr>
            <a:spLocks noGrp="1" noChangeArrowheads="1"/>
          </p:cNvSpPr>
          <p:nvPr>
            <p:ph type="title"/>
          </p:nvPr>
        </p:nvSpPr>
        <p:spPr bwMode="auto">
          <a:xfrm>
            <a:off x="1324769" y="320113"/>
            <a:ext cx="7305992" cy="575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5371" name="Rectangle 11">
            <a:extLst>
              <a:ext uri="{FF2B5EF4-FFF2-40B4-BE49-F238E27FC236}">
                <a16:creationId xmlns:a16="http://schemas.microsoft.com/office/drawing/2014/main" id="{B2AD3E2D-3A3D-4B5E-9FF0-A1F7C6A7EB9F}"/>
              </a:ext>
            </a:extLst>
          </p:cNvPr>
          <p:cNvSpPr>
            <a:spLocks noGrp="1" noChangeArrowheads="1"/>
          </p:cNvSpPr>
          <p:nvPr>
            <p:ph type="dt" sz="half" idx="2"/>
          </p:nvPr>
        </p:nvSpPr>
        <p:spPr bwMode="auto">
          <a:xfrm>
            <a:off x="949568" y="6478560"/>
            <a:ext cx="1905000"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b="1" smtClean="0">
                <a:solidFill>
                  <a:schemeClr val="tx1"/>
                </a:solidFill>
                <a:effectLst/>
              </a:defRPr>
            </a:lvl1pPr>
          </a:lstStyle>
          <a:p>
            <a:pPr>
              <a:defRPr/>
            </a:pPr>
            <a:endParaRPr lang="en-US" altLang="zh-CN" dirty="0"/>
          </a:p>
        </p:txBody>
      </p:sp>
      <p:sp>
        <p:nvSpPr>
          <p:cNvPr id="15372" name="Rectangle 12">
            <a:extLst>
              <a:ext uri="{FF2B5EF4-FFF2-40B4-BE49-F238E27FC236}">
                <a16:creationId xmlns:a16="http://schemas.microsoft.com/office/drawing/2014/main" id="{251BD657-367E-42D1-AD22-5D841EBD793A}"/>
              </a:ext>
            </a:extLst>
          </p:cNvPr>
          <p:cNvSpPr>
            <a:spLocks noGrp="1" noChangeArrowheads="1"/>
          </p:cNvSpPr>
          <p:nvPr>
            <p:ph type="ftr" sz="quarter" idx="3"/>
          </p:nvPr>
        </p:nvSpPr>
        <p:spPr bwMode="auto">
          <a:xfrm>
            <a:off x="3387968" y="6446810"/>
            <a:ext cx="2895600"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b="1" smtClean="0">
                <a:solidFill>
                  <a:schemeClr val="tx1"/>
                </a:solidFill>
                <a:effectLst/>
              </a:defRPr>
            </a:lvl1pPr>
          </a:lstStyle>
          <a:p>
            <a:pPr>
              <a:defRPr/>
            </a:pPr>
            <a:endParaRPr lang="en-US" altLang="zh-CN" dirty="0"/>
          </a:p>
        </p:txBody>
      </p:sp>
      <p:sp>
        <p:nvSpPr>
          <p:cNvPr id="15373" name="Rectangle 13">
            <a:extLst>
              <a:ext uri="{FF2B5EF4-FFF2-40B4-BE49-F238E27FC236}">
                <a16:creationId xmlns:a16="http://schemas.microsoft.com/office/drawing/2014/main" id="{7BAE4AFF-C4CB-4777-97BC-8D6374BD45D2}"/>
              </a:ext>
            </a:extLst>
          </p:cNvPr>
          <p:cNvSpPr>
            <a:spLocks noGrp="1" noChangeArrowheads="1"/>
          </p:cNvSpPr>
          <p:nvPr>
            <p:ph type="sldNum" sz="quarter" idx="4"/>
          </p:nvPr>
        </p:nvSpPr>
        <p:spPr bwMode="auto">
          <a:xfrm>
            <a:off x="6816968" y="635976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b="1" smtClean="0">
                <a:solidFill>
                  <a:schemeClr val="tx1"/>
                </a:solidFill>
                <a:effectLst/>
              </a:defRPr>
            </a:lvl1pPr>
          </a:lstStyle>
          <a:p>
            <a:pPr>
              <a:defRPr/>
            </a:pPr>
            <a:fld id="{D3221483-4FDC-4DBE-8B86-82278512D6AE}" type="slidenum">
              <a:rPr lang="en-US" altLang="zh-CN" smtClean="0"/>
              <a:pPr>
                <a:defRPr/>
              </a:pPr>
              <a:t>‹#›</a:t>
            </a:fld>
            <a:endParaRPr lang="en-US" altLang="zh-CN"/>
          </a:p>
        </p:txBody>
      </p:sp>
      <p:sp>
        <p:nvSpPr>
          <p:cNvPr id="15" name="Rectangle 8">
            <a:extLst>
              <a:ext uri="{FF2B5EF4-FFF2-40B4-BE49-F238E27FC236}">
                <a16:creationId xmlns:a16="http://schemas.microsoft.com/office/drawing/2014/main" id="{97F5FEE0-C94D-4C86-98BD-A08461FDF141}"/>
              </a:ext>
            </a:extLst>
          </p:cNvPr>
          <p:cNvSpPr>
            <a:spLocks noChangeArrowheads="1"/>
          </p:cNvSpPr>
          <p:nvPr userDrawn="1"/>
        </p:nvSpPr>
        <p:spPr bwMode="gray">
          <a:xfrm>
            <a:off x="602818" y="6380642"/>
            <a:ext cx="8226425" cy="31750"/>
          </a:xfrm>
          <a:prstGeom prst="rect">
            <a:avLst/>
          </a:prstGeom>
          <a:gradFill rotWithShape="0">
            <a:gsLst>
              <a:gs pos="87000">
                <a:schemeClr val="bg2"/>
              </a:gs>
              <a:gs pos="0">
                <a:schemeClr val="bg1"/>
              </a:gs>
            </a:gsLst>
            <a:lin ang="0" scaled="1"/>
          </a:gradFill>
          <a:ln>
            <a:noFill/>
          </a:ln>
          <a:effectLst/>
          <a:ex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pic>
        <p:nvPicPr>
          <p:cNvPr id="2050" name="Picture 2" descr="https://timgsa.baidu.com/timg?image&amp;quality=80&amp;size=b9999_10000&amp;sec=1513057428162&amp;di=37860fdf3c4871460953786bbfa26622&amp;imgtype=0&amp;src=http%3A%2F%2Fpic.baike.soso.com%2Fp%2F20111015%2F20111015115227-260268041.jpg">
            <a:extLst>
              <a:ext uri="{FF2B5EF4-FFF2-40B4-BE49-F238E27FC236}">
                <a16:creationId xmlns:a16="http://schemas.microsoft.com/office/drawing/2014/main" id="{2318C2BE-15EA-4A82-8C68-EB4236E68D72}"/>
              </a:ext>
            </a:extLst>
          </p:cNvPr>
          <p:cNvPicPr>
            <a:picLocks noChangeAspect="1" noChangeArrowheads="1"/>
          </p:cNvPicPr>
          <p:nvPr userDrawn="1"/>
        </p:nvPicPr>
        <p:blipFill rotWithShape="1">
          <a:blip r:embed="rId10">
            <a:extLst>
              <a:ext uri="{28A0092B-C50C-407E-A947-70E740481C1C}">
                <a14:useLocalDpi xmlns:a14="http://schemas.microsoft.com/office/drawing/2010/main" val="0"/>
              </a:ext>
            </a:extLst>
          </a:blip>
          <a:srcRect l="11894" t="12080" r="11532" b="12880"/>
          <a:stretch/>
        </p:blipFill>
        <p:spPr bwMode="auto">
          <a:xfrm>
            <a:off x="428827" y="248004"/>
            <a:ext cx="677490" cy="6639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s://timgsa.baidu.com/timg?image&amp;quality=80&amp;size=b9999_10000&amp;sec=1513060306437&amp;di=30658f392e20939a542ddf602e2badff&amp;imgtype=0&amp;src=http%3A%2F%2Fphotocdn.sohu.com%2F20160130%2Fmp57336747_1454147583329_1_th.png">
            <a:extLst>
              <a:ext uri="{FF2B5EF4-FFF2-40B4-BE49-F238E27FC236}">
                <a16:creationId xmlns:a16="http://schemas.microsoft.com/office/drawing/2014/main" id="{7A33D88C-FAA7-4E46-8DD1-45BB3E8CD8AF}"/>
              </a:ext>
            </a:extLst>
          </p:cNvPr>
          <p:cNvPicPr>
            <a:picLocks noChangeAspect="1" noChangeArrowheads="1"/>
          </p:cNvPicPr>
          <p:nvPr userDrawn="1"/>
        </p:nvPicPr>
        <p:blipFill rotWithShape="1">
          <a:blip r:embed="rId11">
            <a:extLst>
              <a:ext uri="{28A0092B-C50C-407E-A947-70E740481C1C}">
                <a14:useLocalDpi xmlns:a14="http://schemas.microsoft.com/office/drawing/2010/main" val="0"/>
              </a:ext>
            </a:extLst>
          </a:blip>
          <a:srcRect l="23077" t="40974" b="38513"/>
          <a:stretch/>
        </p:blipFill>
        <p:spPr bwMode="auto">
          <a:xfrm>
            <a:off x="7464668" y="6446811"/>
            <a:ext cx="1415562" cy="283113"/>
          </a:xfrm>
          <a:prstGeom prst="rect">
            <a:avLst/>
          </a:prstGeom>
          <a:noFill/>
          <a:extLst>
            <a:ext uri="{909E8E84-426E-40DD-AFC4-6F175D3DCCD1}">
              <a14:hiddenFill xmlns:a14="http://schemas.microsoft.com/office/drawing/2010/main">
                <a:solidFill>
                  <a:srgbClr val="FFFFFF"/>
                </a:solidFill>
              </a14:hiddenFill>
            </a:ext>
          </a:extLst>
        </p:spPr>
      </p:pic>
      <p:sp>
        <p:nvSpPr>
          <p:cNvPr id="1032" name="Rectangle 8">
            <a:extLst>
              <a:ext uri="{FF2B5EF4-FFF2-40B4-BE49-F238E27FC236}">
                <a16:creationId xmlns:a16="http://schemas.microsoft.com/office/drawing/2014/main" id="{B0A16393-7427-4CCB-805E-364FBB0B1A7F}"/>
              </a:ext>
            </a:extLst>
          </p:cNvPr>
          <p:cNvSpPr>
            <a:spLocks noChangeArrowheads="1"/>
          </p:cNvSpPr>
          <p:nvPr/>
        </p:nvSpPr>
        <p:spPr bwMode="gray">
          <a:xfrm>
            <a:off x="404336" y="918967"/>
            <a:ext cx="8226425" cy="31750"/>
          </a:xfrm>
          <a:prstGeom prst="rect">
            <a:avLst/>
          </a:prstGeom>
          <a:gradFill rotWithShape="0">
            <a:gsLst>
              <a:gs pos="16000">
                <a:schemeClr val="bg2"/>
              </a:gs>
              <a:gs pos="100000">
                <a:schemeClr val="bg1"/>
              </a:gs>
            </a:gsLst>
            <a:lin ang="0" scaled="1"/>
          </a:gradFill>
          <a:ln>
            <a:noFill/>
          </a:ln>
          <a:effectLst/>
          <a:ex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sp>
        <p:nvSpPr>
          <p:cNvPr id="1031" name="Rectangle 7">
            <a:extLst>
              <a:ext uri="{FF2B5EF4-FFF2-40B4-BE49-F238E27FC236}">
                <a16:creationId xmlns:a16="http://schemas.microsoft.com/office/drawing/2014/main" id="{CE2F7D08-FD33-484E-9182-6B281FB7CB59}"/>
              </a:ext>
            </a:extLst>
          </p:cNvPr>
          <p:cNvSpPr>
            <a:spLocks noChangeArrowheads="1"/>
          </p:cNvSpPr>
          <p:nvPr/>
        </p:nvSpPr>
        <p:spPr bwMode="gray">
          <a:xfrm>
            <a:off x="1107784" y="248004"/>
            <a:ext cx="31750" cy="1052513"/>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16200000" scaled="1"/>
            <a:tileRect/>
          </a:gradFill>
          <a:ln>
            <a:noFill/>
          </a:ln>
          <a:effectLst/>
          <a:ex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spTree>
  </p:cSld>
  <p:clrMap bg1="lt1" tx1="dk1" bg2="lt2" tx2="dk2" accent1="accent1" accent2="accent2" accent3="accent3" accent4="accent4" accent5="accent5" accent6="accent6" hlink="hlink" folHlink="folHlink"/>
  <p:sldLayoutIdLst>
    <p:sldLayoutId id="2147483680" r:id="rId1"/>
    <p:sldLayoutId id="2147483670" r:id="rId2"/>
    <p:sldLayoutId id="2147483672" r:id="rId3"/>
    <p:sldLayoutId id="2147483673" r:id="rId4"/>
    <p:sldLayoutId id="2147483676" r:id="rId5"/>
    <p:sldLayoutId id="2147483677" r:id="rId6"/>
    <p:sldLayoutId id="2147483678" r:id="rId7"/>
    <p:sldLayoutId id="2147483679" r:id="rId8"/>
  </p:sldLayoutIdLst>
  <p:transition>
    <p:blinds dir="vert"/>
  </p:transition>
  <p:hf hdr="0" ftr="0" dt="0"/>
  <p:txStyles>
    <p:titleStyle>
      <a:lvl1pPr algn="l" rtl="0" eaLnBrk="0" fontAlgn="base" hangingPunct="0">
        <a:spcBef>
          <a:spcPct val="0"/>
        </a:spcBef>
        <a:spcAft>
          <a:spcPct val="0"/>
        </a:spcAft>
        <a:defRPr kumimoji="1" sz="4000" b="1"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EA72FC5-87EA-4DA2-BFAD-C7A6A0F4F5CA}"/>
              </a:ext>
            </a:extLst>
          </p:cNvPr>
          <p:cNvSpPr>
            <a:spLocks noGrp="1" noChangeArrowheads="1"/>
          </p:cNvSpPr>
          <p:nvPr>
            <p:ph type="ctrTitle"/>
          </p:nvPr>
        </p:nvSpPr>
        <p:spPr>
          <a:xfrm>
            <a:off x="1992085" y="1910398"/>
            <a:ext cx="5159829" cy="1143000"/>
          </a:xfrm>
        </p:spPr>
        <p:txBody>
          <a:bodyPr/>
          <a:lstStyle/>
          <a:p>
            <a:pPr eaLnBrk="1" hangingPunct="1"/>
            <a:r>
              <a:rPr lang="zh-CN" altLang="en-US" b="1" dirty="0">
                <a:solidFill>
                  <a:schemeClr val="tx1"/>
                </a:solidFill>
              </a:rPr>
              <a:t>数字电子技术基础</a:t>
            </a:r>
          </a:p>
        </p:txBody>
      </p:sp>
      <p:sp>
        <p:nvSpPr>
          <p:cNvPr id="2054" name="Rectangle 6">
            <a:extLst>
              <a:ext uri="{FF2B5EF4-FFF2-40B4-BE49-F238E27FC236}">
                <a16:creationId xmlns:a16="http://schemas.microsoft.com/office/drawing/2014/main" id="{AE698C35-1AEA-4475-9699-95884CCABF70}"/>
              </a:ext>
            </a:extLst>
          </p:cNvPr>
          <p:cNvSpPr>
            <a:spLocks noChangeArrowheads="1"/>
          </p:cNvSpPr>
          <p:nvPr/>
        </p:nvSpPr>
        <p:spPr bwMode="auto">
          <a:xfrm>
            <a:off x="1793038" y="3503635"/>
            <a:ext cx="5562600" cy="2009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indent="0" eaLnBrk="1" hangingPunct="1">
              <a:buClr>
                <a:srgbClr val="FFFF00"/>
              </a:buClr>
              <a:buNone/>
            </a:pPr>
            <a:r>
              <a:rPr lang="zh-CN" altLang="en-US" dirty="0">
                <a:latin typeface="Times New Roman" panose="02020603050405020304" pitchFamily="18" charset="0"/>
              </a:rPr>
              <a:t>电工电子中心        徐东</a:t>
            </a:r>
          </a:p>
          <a:p>
            <a:pPr marL="0" indent="0" eaLnBrk="1" hangingPunct="1">
              <a:buClr>
                <a:srgbClr val="FFFF00"/>
              </a:buClr>
              <a:buNone/>
            </a:pPr>
            <a:r>
              <a:rPr lang="zh-CN" altLang="en-US" dirty="0">
                <a:latin typeface="Times New Roman" panose="02020603050405020304" pitchFamily="18" charset="0"/>
              </a:rPr>
              <a:t>办公地点                主</a:t>
            </a:r>
            <a:r>
              <a:rPr lang="en-US" altLang="zh-CN" dirty="0">
                <a:latin typeface="Times New Roman" panose="02020603050405020304" pitchFamily="18" charset="0"/>
              </a:rPr>
              <a:t>130</a:t>
            </a:r>
          </a:p>
          <a:p>
            <a:pPr marL="0" indent="0" eaLnBrk="1" hangingPunct="1">
              <a:buClr>
                <a:srgbClr val="FFFF00"/>
              </a:buClr>
              <a:buNone/>
            </a:pPr>
            <a:r>
              <a:rPr lang="en-US" altLang="zh-CN" dirty="0">
                <a:latin typeface="Times New Roman" panose="02020603050405020304" pitchFamily="18" charset="0"/>
              </a:rPr>
              <a:t>Email:           xd@buaa.edu.cn</a:t>
            </a:r>
          </a:p>
        </p:txBody>
      </p:sp>
      <p:sp>
        <p:nvSpPr>
          <p:cNvPr id="2" name="灯片编号占位符 1">
            <a:extLst>
              <a:ext uri="{FF2B5EF4-FFF2-40B4-BE49-F238E27FC236}">
                <a16:creationId xmlns:a16="http://schemas.microsoft.com/office/drawing/2014/main" id="{0758378A-33BC-4875-B6CA-73EC6A4592A2}"/>
              </a:ext>
            </a:extLst>
          </p:cNvPr>
          <p:cNvSpPr>
            <a:spLocks noGrp="1"/>
          </p:cNvSpPr>
          <p:nvPr>
            <p:ph type="sldNum" sz="quarter" idx="12"/>
          </p:nvPr>
        </p:nvSpPr>
        <p:spPr/>
        <p:txBody>
          <a:bodyPr/>
          <a:lstStyle/>
          <a:p>
            <a:pPr>
              <a:defRPr/>
            </a:pPr>
            <a:fld id="{D9C06B46-0B96-467A-8218-9E6645A9A3E3}" type="slidenum">
              <a:rPr lang="en-US" altLang="zh-CN" smtClean="0"/>
              <a:pPr>
                <a:defRPr/>
              </a:pPr>
              <a:t>1</a:t>
            </a:fld>
            <a:endParaRPr lang="en-US" altLang="zh-CN"/>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2054"/>
                                        </p:tgtEl>
                                        <p:attrNameLst>
                                          <p:attrName>style.visibility</p:attrName>
                                        </p:attrNameLst>
                                      </p:cBhvr>
                                      <p:to>
                                        <p:strVal val="visible"/>
                                      </p:to>
                                    </p:set>
                                    <p:animEffect transition="in" filter="wipe(left)">
                                      <p:cBhvr>
                                        <p:cTn id="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4"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7540330-1027-4CA0-959D-1AF48AA3A025}"/>
              </a:ext>
            </a:extLst>
          </p:cNvPr>
          <p:cNvSpPr>
            <a:spLocks noGrp="1" noChangeArrowheads="1"/>
          </p:cNvSpPr>
          <p:nvPr>
            <p:ph type="title"/>
          </p:nvPr>
        </p:nvSpPr>
        <p:spPr>
          <a:xfrm>
            <a:off x="864669" y="1738054"/>
            <a:ext cx="7414662" cy="1143000"/>
          </a:xfrm>
        </p:spPr>
        <p:txBody>
          <a:bodyPr/>
          <a:lstStyle/>
          <a:p>
            <a:pPr eaLnBrk="1" hangingPunct="1"/>
            <a:r>
              <a:rPr lang="zh-CN" altLang="en-US" sz="3200" b="1" dirty="0">
                <a:solidFill>
                  <a:schemeClr val="tx1"/>
                </a:solidFill>
              </a:rPr>
              <a:t>教材： </a:t>
            </a:r>
            <a:br>
              <a:rPr lang="en-US" altLang="zh-CN" sz="3200" b="1" dirty="0">
                <a:solidFill>
                  <a:schemeClr val="tx1"/>
                </a:solidFill>
              </a:rPr>
            </a:br>
            <a:r>
              <a:rPr lang="en-US" altLang="zh-CN" sz="3200" b="1" dirty="0">
                <a:solidFill>
                  <a:schemeClr val="tx1"/>
                </a:solidFill>
              </a:rPr>
              <a:t>《</a:t>
            </a:r>
            <a:r>
              <a:rPr lang="zh-CN" altLang="en-US" sz="3200" b="1" dirty="0">
                <a:solidFill>
                  <a:schemeClr val="tx1"/>
                </a:solidFill>
              </a:rPr>
              <a:t>数字电子技术基础</a:t>
            </a:r>
            <a:r>
              <a:rPr lang="en-US" altLang="zh-CN" sz="3200" b="1" dirty="0">
                <a:solidFill>
                  <a:schemeClr val="tx1"/>
                </a:solidFill>
              </a:rPr>
              <a:t>》</a:t>
            </a:r>
            <a:br>
              <a:rPr lang="en-US" altLang="zh-CN" sz="3200" b="1" dirty="0">
                <a:solidFill>
                  <a:schemeClr val="tx1"/>
                </a:solidFill>
              </a:rPr>
            </a:br>
            <a:r>
              <a:rPr lang="en-US" altLang="zh-CN" sz="3200" b="1" dirty="0">
                <a:solidFill>
                  <a:schemeClr val="tx1"/>
                </a:solidFill>
              </a:rPr>
              <a:t>              </a:t>
            </a:r>
            <a:r>
              <a:rPr lang="zh-CN" altLang="en-US" sz="3200" b="1" dirty="0">
                <a:solidFill>
                  <a:schemeClr val="tx1"/>
                </a:solidFill>
              </a:rPr>
              <a:t>胡晓光主编      国防出版</a:t>
            </a:r>
          </a:p>
        </p:txBody>
      </p:sp>
      <p:sp>
        <p:nvSpPr>
          <p:cNvPr id="5123" name="Text Box 3">
            <a:extLst>
              <a:ext uri="{FF2B5EF4-FFF2-40B4-BE49-F238E27FC236}">
                <a16:creationId xmlns:a16="http://schemas.microsoft.com/office/drawing/2014/main" id="{31DAB68F-B66C-4979-883F-659E8E06F8A7}"/>
              </a:ext>
            </a:extLst>
          </p:cNvPr>
          <p:cNvSpPr txBox="1">
            <a:spLocks noChangeArrowheads="1"/>
          </p:cNvSpPr>
          <p:nvPr/>
        </p:nvSpPr>
        <p:spPr bwMode="auto">
          <a:xfrm>
            <a:off x="863600" y="2997330"/>
            <a:ext cx="7780338" cy="308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dirty="0">
                <a:solidFill>
                  <a:schemeClr val="tx1"/>
                </a:solidFill>
                <a:latin typeface="Times New Roman" panose="02020603050405020304" pitchFamily="18" charset="0"/>
              </a:rPr>
              <a:t>参考教材：</a:t>
            </a:r>
          </a:p>
          <a:p>
            <a:pPr eaLnBrk="1" hangingPunct="1">
              <a:spcBef>
                <a:spcPct val="50000"/>
              </a:spcBef>
            </a:pPr>
            <a:r>
              <a:rPr lang="en-US" altLang="zh-CN" dirty="0">
                <a:solidFill>
                  <a:schemeClr val="tx1"/>
                </a:solidFill>
                <a:latin typeface="Times New Roman" panose="02020603050405020304" pitchFamily="18" charset="0"/>
              </a:rPr>
              <a:t>《</a:t>
            </a:r>
            <a:r>
              <a:rPr lang="zh-CN" altLang="en-US" dirty="0">
                <a:solidFill>
                  <a:schemeClr val="tx1"/>
                </a:solidFill>
                <a:latin typeface="Times New Roman" panose="02020603050405020304" pitchFamily="18" charset="0"/>
              </a:rPr>
              <a:t>数字电子技术基础</a:t>
            </a:r>
            <a:r>
              <a:rPr lang="en-US" altLang="zh-CN" dirty="0">
                <a:solidFill>
                  <a:schemeClr val="tx1"/>
                </a:solidFill>
                <a:latin typeface="Times New Roman" panose="02020603050405020304" pitchFamily="18" charset="0"/>
              </a:rPr>
              <a:t>》(</a:t>
            </a:r>
            <a:r>
              <a:rPr lang="zh-CN" altLang="en-US" dirty="0">
                <a:solidFill>
                  <a:schemeClr val="tx1"/>
                </a:solidFill>
                <a:latin typeface="Times New Roman" panose="02020603050405020304" pitchFamily="18" charset="0"/>
              </a:rPr>
              <a:t>第五版</a:t>
            </a:r>
            <a:r>
              <a:rPr lang="en-US" altLang="zh-CN" dirty="0">
                <a:solidFill>
                  <a:schemeClr val="tx1"/>
                </a:solidFill>
                <a:latin typeface="Times New Roman" panose="02020603050405020304" pitchFamily="18" charset="0"/>
              </a:rPr>
              <a:t>)  </a:t>
            </a:r>
          </a:p>
          <a:p>
            <a:pPr eaLnBrk="1" hangingPunct="1">
              <a:spcBef>
                <a:spcPct val="50000"/>
              </a:spcBef>
            </a:pPr>
            <a:r>
              <a:rPr lang="en-US" altLang="zh-CN" dirty="0">
                <a:solidFill>
                  <a:schemeClr val="tx1"/>
                </a:solidFill>
                <a:latin typeface="Times New Roman" panose="02020603050405020304" pitchFamily="18" charset="0"/>
              </a:rPr>
              <a:t>                   </a:t>
            </a:r>
            <a:r>
              <a:rPr lang="zh-CN" altLang="en-US" dirty="0">
                <a:solidFill>
                  <a:schemeClr val="tx1"/>
                </a:solidFill>
                <a:latin typeface="Times New Roman" panose="02020603050405020304" pitchFamily="18" charset="0"/>
              </a:rPr>
              <a:t>闫石主编                    高教出版</a:t>
            </a:r>
          </a:p>
          <a:p>
            <a:pPr eaLnBrk="1" hangingPunct="1">
              <a:spcBef>
                <a:spcPct val="50000"/>
              </a:spcBef>
            </a:pPr>
            <a:r>
              <a:rPr lang="en-US" altLang="zh-CN" dirty="0">
                <a:solidFill>
                  <a:schemeClr val="tx1"/>
                </a:solidFill>
                <a:latin typeface="Times New Roman" panose="02020603050405020304" pitchFamily="18" charset="0"/>
              </a:rPr>
              <a:t>《</a:t>
            </a:r>
            <a:r>
              <a:rPr lang="zh-CN" altLang="en-US" dirty="0">
                <a:solidFill>
                  <a:schemeClr val="tx1"/>
                </a:solidFill>
                <a:latin typeface="Times New Roman" panose="02020603050405020304" pitchFamily="18" charset="0"/>
              </a:rPr>
              <a:t>电子技术基础数字部分</a:t>
            </a:r>
            <a:r>
              <a:rPr lang="en-US" altLang="zh-CN" dirty="0">
                <a:solidFill>
                  <a:schemeClr val="tx1"/>
                </a:solidFill>
                <a:latin typeface="Times New Roman" panose="02020603050405020304" pitchFamily="18" charset="0"/>
              </a:rPr>
              <a:t>》(</a:t>
            </a:r>
            <a:r>
              <a:rPr lang="zh-CN" altLang="en-US" dirty="0">
                <a:solidFill>
                  <a:schemeClr val="tx1"/>
                </a:solidFill>
                <a:latin typeface="Times New Roman" panose="02020603050405020304" pitchFamily="18" charset="0"/>
              </a:rPr>
              <a:t>第五版</a:t>
            </a:r>
            <a:r>
              <a:rPr lang="en-US" altLang="zh-CN" dirty="0">
                <a:solidFill>
                  <a:schemeClr val="tx1"/>
                </a:solidFill>
                <a:latin typeface="Times New Roman" panose="02020603050405020304" pitchFamily="18" charset="0"/>
              </a:rPr>
              <a:t>)</a:t>
            </a:r>
          </a:p>
          <a:p>
            <a:pPr eaLnBrk="1" hangingPunct="1">
              <a:spcBef>
                <a:spcPct val="50000"/>
              </a:spcBef>
            </a:pPr>
            <a:r>
              <a:rPr lang="en-US" altLang="zh-CN" dirty="0">
                <a:solidFill>
                  <a:schemeClr val="tx1"/>
                </a:solidFill>
                <a:latin typeface="Times New Roman" panose="02020603050405020304" pitchFamily="18" charset="0"/>
              </a:rPr>
              <a:t>                   </a:t>
            </a:r>
            <a:r>
              <a:rPr lang="zh-CN" altLang="en-US" dirty="0">
                <a:solidFill>
                  <a:schemeClr val="tx1"/>
                </a:solidFill>
                <a:latin typeface="Times New Roman" panose="02020603050405020304" pitchFamily="18" charset="0"/>
              </a:rPr>
              <a:t>康华光主编                高教出版</a:t>
            </a:r>
          </a:p>
        </p:txBody>
      </p:sp>
      <p:sp>
        <p:nvSpPr>
          <p:cNvPr id="2" name="矩形 1">
            <a:extLst>
              <a:ext uri="{FF2B5EF4-FFF2-40B4-BE49-F238E27FC236}">
                <a16:creationId xmlns:a16="http://schemas.microsoft.com/office/drawing/2014/main" id="{FDBFFE00-4A58-4031-8955-F5F86537E936}"/>
              </a:ext>
            </a:extLst>
          </p:cNvPr>
          <p:cNvSpPr/>
          <p:nvPr/>
        </p:nvSpPr>
        <p:spPr>
          <a:xfrm>
            <a:off x="1180698" y="211321"/>
            <a:ext cx="1728358" cy="707886"/>
          </a:xfrm>
          <a:prstGeom prst="rect">
            <a:avLst/>
          </a:prstGeom>
        </p:spPr>
        <p:txBody>
          <a:bodyPr wrap="none">
            <a:spAutoFit/>
          </a:bodyPr>
          <a:lstStyle/>
          <a:p>
            <a:r>
              <a:rPr lang="zh-CN" altLang="en-US" sz="4000" dirty="0">
                <a:solidFill>
                  <a:schemeClr val="tx1"/>
                </a:solidFill>
              </a:rPr>
              <a:t>资料：</a:t>
            </a:r>
            <a:endParaRPr lang="zh-CN" altLang="en-US" sz="4000" dirty="0"/>
          </a:p>
        </p:txBody>
      </p:sp>
      <p:sp>
        <p:nvSpPr>
          <p:cNvPr id="3" name="灯片编号占位符 2">
            <a:extLst>
              <a:ext uri="{FF2B5EF4-FFF2-40B4-BE49-F238E27FC236}">
                <a16:creationId xmlns:a16="http://schemas.microsoft.com/office/drawing/2014/main" id="{5E9036FC-ED4D-4BC0-B227-AAA157B3847E}"/>
              </a:ext>
            </a:extLst>
          </p:cNvPr>
          <p:cNvSpPr>
            <a:spLocks noGrp="1"/>
          </p:cNvSpPr>
          <p:nvPr>
            <p:ph type="sldNum" sz="quarter" idx="12"/>
          </p:nvPr>
        </p:nvSpPr>
        <p:spPr/>
        <p:txBody>
          <a:bodyPr/>
          <a:lstStyle/>
          <a:p>
            <a:pPr>
              <a:defRPr/>
            </a:pPr>
            <a:fld id="{46929CCE-959B-41CA-84A4-0AA87FC21048}" type="slidenum">
              <a:rPr lang="en-US" altLang="zh-CN" smtClean="0"/>
              <a:pPr>
                <a:defRPr/>
              </a:pPr>
              <a:t>2</a:t>
            </a:fld>
            <a:endParaRPr lang="en-US" altLang="zh-CN"/>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0EB8BF-C54D-47AA-A514-2E252E44EFE0}"/>
              </a:ext>
            </a:extLst>
          </p:cNvPr>
          <p:cNvSpPr>
            <a:spLocks noGrp="1"/>
          </p:cNvSpPr>
          <p:nvPr>
            <p:ph type="title"/>
          </p:nvPr>
        </p:nvSpPr>
        <p:spPr/>
        <p:txBody>
          <a:bodyPr/>
          <a:lstStyle/>
          <a:p>
            <a:r>
              <a:rPr lang="zh-CN" altLang="en-US" dirty="0"/>
              <a:t>课程情况</a:t>
            </a:r>
          </a:p>
        </p:txBody>
      </p:sp>
      <p:sp>
        <p:nvSpPr>
          <p:cNvPr id="3" name="内容占位符 2">
            <a:extLst>
              <a:ext uri="{FF2B5EF4-FFF2-40B4-BE49-F238E27FC236}">
                <a16:creationId xmlns:a16="http://schemas.microsoft.com/office/drawing/2014/main" id="{C8483E18-ED67-436B-8791-997EFC85289C}"/>
              </a:ext>
            </a:extLst>
          </p:cNvPr>
          <p:cNvSpPr>
            <a:spLocks noGrp="1"/>
          </p:cNvSpPr>
          <p:nvPr>
            <p:ph idx="1"/>
          </p:nvPr>
        </p:nvSpPr>
        <p:spPr>
          <a:xfrm>
            <a:off x="342900" y="908538"/>
            <a:ext cx="8458200" cy="5040923"/>
          </a:xfrm>
        </p:spPr>
        <p:txBody>
          <a:bodyPr/>
          <a:lstStyle/>
          <a:p>
            <a:r>
              <a:rPr lang="zh-CN" altLang="en-US" dirty="0"/>
              <a:t>课程学习方法：</a:t>
            </a:r>
            <a:endParaRPr lang="en-US" altLang="zh-CN" dirty="0"/>
          </a:p>
          <a:p>
            <a:pPr lvl="1" eaLnBrk="1" hangingPunct="1">
              <a:buSzPct val="70000"/>
              <a:buNone/>
            </a:pPr>
            <a:r>
              <a:rPr kumimoji="0" lang="en-US" altLang="zh-CN" sz="2400" dirty="0">
                <a:solidFill>
                  <a:schemeClr val="bg2"/>
                </a:solidFill>
                <a:latin typeface="Tahoma" panose="020B0604030504040204" pitchFamily="34" charset="0"/>
              </a:rPr>
              <a:t>		1</a:t>
            </a:r>
            <a:r>
              <a:rPr kumimoji="0" lang="zh-CN" altLang="en-US" sz="2400" dirty="0">
                <a:solidFill>
                  <a:schemeClr val="bg2"/>
                </a:solidFill>
                <a:latin typeface="Tahoma" panose="020B0604030504040204" pitchFamily="34" charset="0"/>
              </a:rPr>
              <a:t>、</a:t>
            </a:r>
            <a:r>
              <a:rPr kumimoji="0" lang="zh-CN" altLang="en-US" dirty="0">
                <a:solidFill>
                  <a:schemeClr val="bg2"/>
                </a:solidFill>
                <a:latin typeface="Tahoma" panose="020B0604030504040204" pitchFamily="34" charset="0"/>
              </a:rPr>
              <a:t>理解原理和应用的关系；</a:t>
            </a:r>
            <a:endParaRPr kumimoji="0" lang="en-US" altLang="zh-CN" dirty="0">
              <a:solidFill>
                <a:schemeClr val="bg2"/>
              </a:solidFill>
              <a:latin typeface="Tahoma" panose="020B0604030504040204" pitchFamily="34" charset="0"/>
            </a:endParaRPr>
          </a:p>
          <a:p>
            <a:pPr eaLnBrk="1" hangingPunct="1">
              <a:buClr>
                <a:schemeClr val="hlink"/>
              </a:buClr>
              <a:buSzPct val="70000"/>
              <a:buNone/>
            </a:pPr>
            <a:r>
              <a:rPr kumimoji="0" lang="en-US" altLang="zh-CN" sz="2800" dirty="0">
                <a:solidFill>
                  <a:schemeClr val="bg2"/>
                </a:solidFill>
                <a:latin typeface="Tahoma" panose="020B0604030504040204" pitchFamily="34" charset="0"/>
              </a:rPr>
              <a:t>		2</a:t>
            </a:r>
            <a:r>
              <a:rPr kumimoji="0" lang="zh-CN" altLang="en-US" sz="2800" dirty="0">
                <a:solidFill>
                  <a:schemeClr val="bg2"/>
                </a:solidFill>
                <a:latin typeface="Tahoma" panose="020B0604030504040204" pitchFamily="34" charset="0"/>
              </a:rPr>
              <a:t>、实验中理解消化；</a:t>
            </a:r>
            <a:endParaRPr kumimoji="0" lang="en-US" altLang="zh-CN" sz="2800" dirty="0">
              <a:solidFill>
                <a:schemeClr val="bg2"/>
              </a:solidFill>
              <a:latin typeface="Tahoma" panose="020B0604030504040204" pitchFamily="34" charset="0"/>
            </a:endParaRPr>
          </a:p>
          <a:p>
            <a:pPr eaLnBrk="1" hangingPunct="1">
              <a:buClr>
                <a:schemeClr val="hlink"/>
              </a:buClr>
              <a:buSzPct val="70000"/>
              <a:buNone/>
            </a:pPr>
            <a:r>
              <a:rPr kumimoji="0" lang="en-US" altLang="zh-CN" sz="2800" dirty="0">
                <a:solidFill>
                  <a:schemeClr val="bg2"/>
                </a:solidFill>
                <a:latin typeface="Tahoma" panose="020B0604030504040204" pitchFamily="34" charset="0"/>
              </a:rPr>
              <a:t>		3</a:t>
            </a:r>
            <a:r>
              <a:rPr kumimoji="0" lang="zh-CN" altLang="en-US" sz="2800" dirty="0">
                <a:solidFill>
                  <a:schemeClr val="bg2"/>
                </a:solidFill>
                <a:latin typeface="Tahoma" panose="020B0604030504040204" pitchFamily="34" charset="0"/>
              </a:rPr>
              <a:t>、仿真软件工具：</a:t>
            </a:r>
            <a:r>
              <a:rPr lang="en-US" altLang="zh-CN" sz="2800" dirty="0">
                <a:solidFill>
                  <a:schemeClr val="bg2"/>
                </a:solidFill>
              </a:rPr>
              <a:t> Multisim</a:t>
            </a:r>
            <a:r>
              <a:rPr lang="zh-CN" altLang="en-US" sz="2800" dirty="0">
                <a:solidFill>
                  <a:schemeClr val="bg2"/>
                </a:solidFill>
              </a:rPr>
              <a:t>；</a:t>
            </a:r>
            <a:endParaRPr lang="en-US" altLang="zh-CN" sz="2800" dirty="0">
              <a:solidFill>
                <a:schemeClr val="bg2"/>
              </a:solidFill>
            </a:endParaRPr>
          </a:p>
          <a:p>
            <a:pPr eaLnBrk="1" hangingPunct="1">
              <a:buClr>
                <a:schemeClr val="hlink"/>
              </a:buClr>
              <a:buSzPct val="70000"/>
              <a:buNone/>
            </a:pPr>
            <a:r>
              <a:rPr kumimoji="0" lang="en-US" altLang="zh-CN" sz="2800" dirty="0">
                <a:solidFill>
                  <a:schemeClr val="bg2"/>
                </a:solidFill>
                <a:latin typeface="Tahoma" panose="020B0604030504040204" pitchFamily="34" charset="0"/>
              </a:rPr>
              <a:t>		4</a:t>
            </a:r>
            <a:r>
              <a:rPr kumimoji="0" lang="zh-CN" altLang="en-US" sz="2800" dirty="0">
                <a:solidFill>
                  <a:schemeClr val="bg2"/>
                </a:solidFill>
                <a:latin typeface="Tahoma" panose="020B0604030504040204" pitchFamily="34" charset="0"/>
              </a:rPr>
              <a:t>、科技活动中应用：动手；</a:t>
            </a:r>
            <a:endParaRPr kumimoji="0" lang="en-US" altLang="zh-CN" sz="2800" dirty="0">
              <a:solidFill>
                <a:schemeClr val="bg2"/>
              </a:solidFill>
              <a:latin typeface="Tahoma" panose="020B0604030504040204" pitchFamily="34" charset="0"/>
            </a:endParaRPr>
          </a:p>
          <a:p>
            <a:pPr eaLnBrk="1" hangingPunct="1">
              <a:buClr>
                <a:schemeClr val="hlink"/>
              </a:buClr>
              <a:buSzPct val="70000"/>
              <a:buNone/>
            </a:pPr>
            <a:r>
              <a:rPr kumimoji="0" lang="en-US" altLang="zh-CN" sz="2800" dirty="0">
                <a:solidFill>
                  <a:schemeClr val="bg2"/>
                </a:solidFill>
                <a:latin typeface="Tahoma" panose="020B0604030504040204" pitchFamily="34" charset="0"/>
              </a:rPr>
              <a:t>		5</a:t>
            </a:r>
            <a:r>
              <a:rPr kumimoji="0" lang="zh-CN" altLang="en-US" sz="2800" dirty="0">
                <a:solidFill>
                  <a:schemeClr val="bg2"/>
                </a:solidFill>
                <a:latin typeface="Tahoma" panose="020B0604030504040204" pitchFamily="34" charset="0"/>
              </a:rPr>
              <a:t>、兴趣，后续课程</a:t>
            </a:r>
            <a:endParaRPr lang="zh-CN" altLang="en-US" sz="2800" dirty="0">
              <a:solidFill>
                <a:schemeClr val="bg2"/>
              </a:solidFill>
              <a:latin typeface="Tahoma" panose="020B0604030504040204" pitchFamily="34" charset="0"/>
            </a:endParaRPr>
          </a:p>
          <a:p>
            <a:r>
              <a:rPr lang="zh-CN" altLang="en-US" dirty="0"/>
              <a:t>考核形式</a:t>
            </a:r>
            <a:endParaRPr lang="en-US" altLang="zh-CN" dirty="0"/>
          </a:p>
          <a:p>
            <a:r>
              <a:rPr lang="en-US" altLang="zh-CN" sz="2800" dirty="0"/>
              <a:t> 	</a:t>
            </a:r>
            <a:r>
              <a:rPr lang="zh-CN" altLang="en-US" sz="2800" dirty="0"/>
              <a:t>课程成绩：平时作业 </a:t>
            </a:r>
            <a:r>
              <a:rPr lang="en-US" altLang="zh-CN" sz="2800" dirty="0"/>
              <a:t>10</a:t>
            </a:r>
            <a:r>
              <a:rPr lang="zh-CN" altLang="en-US" sz="2800" dirty="0"/>
              <a:t>；理论考试 </a:t>
            </a:r>
            <a:r>
              <a:rPr lang="en-US" altLang="zh-CN" sz="2800" dirty="0"/>
              <a:t>90</a:t>
            </a:r>
            <a:r>
              <a:rPr lang="zh-CN" altLang="en-US" sz="2800" dirty="0"/>
              <a:t>。</a:t>
            </a:r>
          </a:p>
        </p:txBody>
      </p:sp>
      <p:sp>
        <p:nvSpPr>
          <p:cNvPr id="4" name="灯片编号占位符 3">
            <a:extLst>
              <a:ext uri="{FF2B5EF4-FFF2-40B4-BE49-F238E27FC236}">
                <a16:creationId xmlns:a16="http://schemas.microsoft.com/office/drawing/2014/main" id="{791DBA69-4374-4AE7-A67F-8518AA1EED1C}"/>
              </a:ext>
            </a:extLst>
          </p:cNvPr>
          <p:cNvSpPr>
            <a:spLocks noGrp="1"/>
          </p:cNvSpPr>
          <p:nvPr>
            <p:ph type="sldNum" sz="quarter" idx="12"/>
          </p:nvPr>
        </p:nvSpPr>
        <p:spPr/>
        <p:txBody>
          <a:bodyPr/>
          <a:lstStyle/>
          <a:p>
            <a:pPr>
              <a:defRPr/>
            </a:pPr>
            <a:fld id="{46929CCE-959B-41CA-84A4-0AA87FC21048}" type="slidenum">
              <a:rPr lang="en-US" altLang="zh-CN" smtClean="0"/>
              <a:pPr>
                <a:defRPr/>
              </a:pPr>
              <a:t>3</a:t>
            </a:fld>
            <a:endParaRPr lang="en-US" altLang="zh-CN"/>
          </a:p>
        </p:txBody>
      </p:sp>
    </p:spTree>
    <p:extLst>
      <p:ext uri="{BB962C8B-B14F-4D97-AF65-F5344CB8AC3E}">
        <p14:creationId xmlns:p14="http://schemas.microsoft.com/office/powerpoint/2010/main" val="1862721148"/>
      </p:ext>
    </p:extLst>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EA72FC5-87EA-4DA2-BFAD-C7A6A0F4F5CA}"/>
              </a:ext>
            </a:extLst>
          </p:cNvPr>
          <p:cNvSpPr>
            <a:spLocks noGrp="1" noChangeArrowheads="1"/>
          </p:cNvSpPr>
          <p:nvPr>
            <p:ph type="ctrTitle"/>
          </p:nvPr>
        </p:nvSpPr>
        <p:spPr>
          <a:xfrm>
            <a:off x="2428021" y="2434856"/>
            <a:ext cx="6120557" cy="692970"/>
          </a:xfrm>
        </p:spPr>
        <p:txBody>
          <a:bodyPr/>
          <a:lstStyle/>
          <a:p>
            <a:pPr eaLnBrk="1" hangingPunct="1"/>
            <a:r>
              <a:rPr lang="zh-CN" altLang="en-US" sz="4400" b="1" dirty="0">
                <a:solidFill>
                  <a:schemeClr val="tx1"/>
                </a:solidFill>
              </a:rPr>
              <a:t>数字电路概述</a:t>
            </a:r>
          </a:p>
        </p:txBody>
      </p:sp>
      <p:sp>
        <p:nvSpPr>
          <p:cNvPr id="2" name="灯片编号占位符 1">
            <a:extLst>
              <a:ext uri="{FF2B5EF4-FFF2-40B4-BE49-F238E27FC236}">
                <a16:creationId xmlns:a16="http://schemas.microsoft.com/office/drawing/2014/main" id="{0758378A-33BC-4875-B6CA-73EC6A4592A2}"/>
              </a:ext>
            </a:extLst>
          </p:cNvPr>
          <p:cNvSpPr>
            <a:spLocks noGrp="1"/>
          </p:cNvSpPr>
          <p:nvPr>
            <p:ph type="sldNum" sz="quarter" idx="12"/>
          </p:nvPr>
        </p:nvSpPr>
        <p:spPr/>
        <p:txBody>
          <a:bodyPr/>
          <a:lstStyle/>
          <a:p>
            <a:pPr>
              <a:defRPr/>
            </a:pPr>
            <a:fld id="{D9C06B46-0B96-467A-8218-9E6645A9A3E3}" type="slidenum">
              <a:rPr lang="en-US" altLang="zh-CN" smtClean="0"/>
              <a:pPr>
                <a:defRPr/>
              </a:pPr>
              <a:t>4</a:t>
            </a:fld>
            <a:endParaRPr lang="en-US" altLang="zh-CN"/>
          </a:p>
        </p:txBody>
      </p:sp>
    </p:spTree>
    <p:extLst>
      <p:ext uri="{BB962C8B-B14F-4D97-AF65-F5344CB8AC3E}">
        <p14:creationId xmlns:p14="http://schemas.microsoft.com/office/powerpoint/2010/main" val="3627120726"/>
      </p:ext>
    </p:extLst>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FD6968-25BD-417E-AE65-75C2112BBC60}"/>
              </a:ext>
            </a:extLst>
          </p:cNvPr>
          <p:cNvSpPr>
            <a:spLocks noGrp="1"/>
          </p:cNvSpPr>
          <p:nvPr>
            <p:ph type="title"/>
          </p:nvPr>
        </p:nvSpPr>
        <p:spPr>
          <a:xfrm>
            <a:off x="1357761" y="311841"/>
            <a:ext cx="6954715" cy="646655"/>
          </a:xfrm>
        </p:spPr>
        <p:txBody>
          <a:bodyPr/>
          <a:lstStyle/>
          <a:p>
            <a:r>
              <a:rPr lang="en-US" altLang="zh-CN" dirty="0">
                <a:solidFill>
                  <a:schemeClr val="tx1"/>
                </a:solidFill>
              </a:rPr>
              <a:t>1</a:t>
            </a:r>
            <a:r>
              <a:rPr lang="zh-CN" altLang="en-US" dirty="0">
                <a:solidFill>
                  <a:schemeClr val="tx1"/>
                </a:solidFill>
              </a:rPr>
              <a:t>、课程结构</a:t>
            </a:r>
          </a:p>
        </p:txBody>
      </p:sp>
      <p:sp>
        <p:nvSpPr>
          <p:cNvPr id="4" name="灯片编号占位符 3">
            <a:extLst>
              <a:ext uri="{FF2B5EF4-FFF2-40B4-BE49-F238E27FC236}">
                <a16:creationId xmlns:a16="http://schemas.microsoft.com/office/drawing/2014/main" id="{7E3C41B5-8E4F-424D-890D-955B17A3BB3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929CCE-959B-41CA-84A4-0AA87FC21048}" type="slidenum">
              <a:rPr kumimoji="0" lang="en-US" altLang="zh-CN" sz="1400" b="1"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aphicFrame>
        <p:nvGraphicFramePr>
          <p:cNvPr id="7" name="表格 6">
            <a:extLst>
              <a:ext uri="{FF2B5EF4-FFF2-40B4-BE49-F238E27FC236}">
                <a16:creationId xmlns:a16="http://schemas.microsoft.com/office/drawing/2014/main" id="{733FCBBE-DCA3-4E57-A39C-467D25DD4DE1}"/>
              </a:ext>
            </a:extLst>
          </p:cNvPr>
          <p:cNvGraphicFramePr>
            <a:graphicFrameLocks noGrp="1"/>
          </p:cNvGraphicFramePr>
          <p:nvPr>
            <p:extLst/>
          </p:nvPr>
        </p:nvGraphicFramePr>
        <p:xfrm>
          <a:off x="514553" y="1610241"/>
          <a:ext cx="8114894" cy="4005632"/>
        </p:xfrm>
        <a:graphic>
          <a:graphicData uri="http://schemas.openxmlformats.org/drawingml/2006/table">
            <a:tbl>
              <a:tblPr firstRow="1" firstCol="1" bandRow="1">
                <a:tableStyleId>{69CF1AB2-1976-4502-BF36-3FF5EA218861}</a:tableStyleId>
              </a:tblPr>
              <a:tblGrid>
                <a:gridCol w="887158">
                  <a:extLst>
                    <a:ext uri="{9D8B030D-6E8A-4147-A177-3AD203B41FA5}">
                      <a16:colId xmlns:a16="http://schemas.microsoft.com/office/drawing/2014/main" val="1176947574"/>
                    </a:ext>
                  </a:extLst>
                </a:gridCol>
                <a:gridCol w="667910">
                  <a:extLst>
                    <a:ext uri="{9D8B030D-6E8A-4147-A177-3AD203B41FA5}">
                      <a16:colId xmlns:a16="http://schemas.microsoft.com/office/drawing/2014/main" val="360697246"/>
                    </a:ext>
                  </a:extLst>
                </a:gridCol>
                <a:gridCol w="882595">
                  <a:extLst>
                    <a:ext uri="{9D8B030D-6E8A-4147-A177-3AD203B41FA5}">
                      <a16:colId xmlns:a16="http://schemas.microsoft.com/office/drawing/2014/main" val="3545773100"/>
                    </a:ext>
                  </a:extLst>
                </a:gridCol>
                <a:gridCol w="508883">
                  <a:extLst>
                    <a:ext uri="{9D8B030D-6E8A-4147-A177-3AD203B41FA5}">
                      <a16:colId xmlns:a16="http://schemas.microsoft.com/office/drawing/2014/main" val="1066613091"/>
                    </a:ext>
                  </a:extLst>
                </a:gridCol>
                <a:gridCol w="675861">
                  <a:extLst>
                    <a:ext uri="{9D8B030D-6E8A-4147-A177-3AD203B41FA5}">
                      <a16:colId xmlns:a16="http://schemas.microsoft.com/office/drawing/2014/main" val="1462844493"/>
                    </a:ext>
                  </a:extLst>
                </a:gridCol>
                <a:gridCol w="683417">
                  <a:extLst>
                    <a:ext uri="{9D8B030D-6E8A-4147-A177-3AD203B41FA5}">
                      <a16:colId xmlns:a16="http://schemas.microsoft.com/office/drawing/2014/main" val="817725443"/>
                    </a:ext>
                  </a:extLst>
                </a:gridCol>
                <a:gridCol w="731915">
                  <a:extLst>
                    <a:ext uri="{9D8B030D-6E8A-4147-A177-3AD203B41FA5}">
                      <a16:colId xmlns:a16="http://schemas.microsoft.com/office/drawing/2014/main" val="4105332541"/>
                    </a:ext>
                  </a:extLst>
                </a:gridCol>
                <a:gridCol w="699715">
                  <a:extLst>
                    <a:ext uri="{9D8B030D-6E8A-4147-A177-3AD203B41FA5}">
                      <a16:colId xmlns:a16="http://schemas.microsoft.com/office/drawing/2014/main" val="2425859977"/>
                    </a:ext>
                  </a:extLst>
                </a:gridCol>
                <a:gridCol w="548640">
                  <a:extLst>
                    <a:ext uri="{9D8B030D-6E8A-4147-A177-3AD203B41FA5}">
                      <a16:colId xmlns:a16="http://schemas.microsoft.com/office/drawing/2014/main" val="1791515709"/>
                    </a:ext>
                  </a:extLst>
                </a:gridCol>
                <a:gridCol w="978010">
                  <a:extLst>
                    <a:ext uri="{9D8B030D-6E8A-4147-A177-3AD203B41FA5}">
                      <a16:colId xmlns:a16="http://schemas.microsoft.com/office/drawing/2014/main" val="719685830"/>
                    </a:ext>
                  </a:extLst>
                </a:gridCol>
                <a:gridCol w="850790">
                  <a:extLst>
                    <a:ext uri="{9D8B030D-6E8A-4147-A177-3AD203B41FA5}">
                      <a16:colId xmlns:a16="http://schemas.microsoft.com/office/drawing/2014/main" val="1528594610"/>
                    </a:ext>
                  </a:extLst>
                </a:gridCol>
              </a:tblGrid>
              <a:tr h="1796176">
                <a:tc rowSpan="2">
                  <a:txBody>
                    <a:bodyPr/>
                    <a:lstStyle/>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zh-CN" sz="2000" kern="100" dirty="0">
                          <a:effectLst/>
                          <a:latin typeface="黑体" panose="02010609060101010101" pitchFamily="49" charset="-122"/>
                          <a:ea typeface="黑体" panose="02010609060101010101" pitchFamily="49" charset="-122"/>
                        </a:rPr>
                        <a:t>自然</a:t>
                      </a:r>
                    </a:p>
                    <a:p>
                      <a:pPr algn="l">
                        <a:spcAft>
                          <a:spcPts val="0"/>
                        </a:spcAft>
                      </a:pPr>
                      <a:r>
                        <a:rPr lang="zh-CN" sz="2000" kern="100" dirty="0">
                          <a:effectLst/>
                          <a:latin typeface="黑体" panose="02010609060101010101" pitchFamily="49" charset="-122"/>
                          <a:ea typeface="黑体" panose="02010609060101010101" pitchFamily="49" charset="-122"/>
                        </a:rPr>
                        <a:t>现象，电压、电流：</a:t>
                      </a: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U   I</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5   3</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6   4</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7   5</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8   6</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rowSpan="2">
                  <a:txBody>
                    <a:bodyPr/>
                    <a:lstStyle/>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zh-CN" sz="2000" kern="100" dirty="0">
                          <a:effectLst/>
                          <a:latin typeface="黑体" panose="02010609060101010101" pitchFamily="49" charset="-122"/>
                          <a:ea typeface="黑体" panose="02010609060101010101" pitchFamily="49" charset="-122"/>
                        </a:rPr>
                        <a:t>物理规律</a:t>
                      </a: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r>
                        <a:rPr lang="zh-CN" sz="2000" kern="100" dirty="0">
                          <a:effectLst/>
                          <a:latin typeface="黑体" panose="02010609060101010101" pitchFamily="49" charset="-122"/>
                          <a:ea typeface="黑体" panose="02010609060101010101" pitchFamily="49" charset="-122"/>
                        </a:rPr>
                        <a:t>欧姆定律</a:t>
                      </a:r>
                    </a:p>
                    <a:p>
                      <a:pPr algn="l">
                        <a:spcAft>
                          <a:spcPts val="0"/>
                        </a:spcAft>
                      </a:pPr>
                      <a:r>
                        <a:rPr lang="zh-CN" sz="2000" kern="100" dirty="0">
                          <a:effectLst/>
                          <a:latin typeface="黑体" panose="02010609060101010101" pitchFamily="49" charset="-122"/>
                          <a:ea typeface="黑体" panose="02010609060101010101" pitchFamily="49" charset="-122"/>
                        </a:rPr>
                        <a:t>麦克斯维尔方程</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rowSpan="2">
                  <a:txBody>
                    <a:bodyPr/>
                    <a:lstStyle/>
                    <a:p>
                      <a:pPr algn="l">
                        <a:spcAft>
                          <a:spcPts val="0"/>
                        </a:spcAft>
                      </a:pPr>
                      <a:r>
                        <a:rPr lang="zh-CN" sz="2000" kern="100" dirty="0">
                          <a:effectLst/>
                          <a:latin typeface="黑体" panose="02010609060101010101" pitchFamily="49" charset="-122"/>
                          <a:ea typeface="黑体" panose="02010609060101010101" pitchFamily="49" charset="-122"/>
                        </a:rPr>
                        <a:t>集总电路，分立电路</a:t>
                      </a: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zh-CN" sz="2000" kern="100" dirty="0">
                          <a:effectLst/>
                          <a:latin typeface="黑体" panose="02010609060101010101" pitchFamily="49" charset="-122"/>
                          <a:ea typeface="黑体" panose="02010609060101010101" pitchFamily="49" charset="-122"/>
                        </a:rPr>
                        <a:t>电阻</a:t>
                      </a:r>
                    </a:p>
                    <a:p>
                      <a:pPr algn="l">
                        <a:spcAft>
                          <a:spcPts val="0"/>
                        </a:spcAft>
                      </a:pPr>
                      <a:r>
                        <a:rPr lang="zh-CN" sz="2000" kern="100" dirty="0">
                          <a:effectLst/>
                          <a:latin typeface="黑体" panose="02010609060101010101" pitchFamily="49" charset="-122"/>
                          <a:ea typeface="黑体" panose="02010609060101010101" pitchFamily="49" charset="-122"/>
                        </a:rPr>
                        <a:t>电容电感</a:t>
                      </a:r>
                    </a:p>
                    <a:p>
                      <a:pPr algn="l">
                        <a:spcAft>
                          <a:spcPts val="0"/>
                        </a:spcAft>
                      </a:pPr>
                      <a:r>
                        <a:rPr lang="zh-CN" sz="2000" kern="100" dirty="0">
                          <a:effectLst/>
                          <a:latin typeface="黑体" panose="02010609060101010101" pitchFamily="49" charset="-122"/>
                          <a:ea typeface="黑体" panose="02010609060101010101" pitchFamily="49" charset="-122"/>
                        </a:rPr>
                        <a:t>电源</a:t>
                      </a: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zh-CN" sz="2000" kern="100" dirty="0">
                          <a:effectLst/>
                          <a:latin typeface="黑体" panose="02010609060101010101" pitchFamily="49" charset="-122"/>
                          <a:ea typeface="黑体" panose="02010609060101010101" pitchFamily="49" charset="-122"/>
                        </a:rPr>
                        <a:t>电路定律</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solidFill>
                      <a:schemeClr val="accent2">
                        <a:lumMod val="40000"/>
                        <a:lumOff val="60000"/>
                      </a:schemeClr>
                    </a:solidFill>
                  </a:tcPr>
                </a:tc>
                <a:tc rowSpan="2">
                  <a:txBody>
                    <a:bodyPr/>
                    <a:lstStyle/>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zh-CN" sz="2000" kern="100" dirty="0">
                          <a:effectLst/>
                          <a:latin typeface="黑体" panose="02010609060101010101" pitchFamily="49" charset="-122"/>
                          <a:ea typeface="黑体" panose="02010609060101010101" pitchFamily="49" charset="-122"/>
                        </a:rPr>
                        <a:t>放大电路</a:t>
                      </a: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effectLst/>
                        <a:latin typeface="黑体" panose="02010609060101010101" pitchFamily="49" charset="-122"/>
                        <a:ea typeface="黑体" panose="02010609060101010101" pitchFamily="49" charset="-122"/>
                      </a:endParaRPr>
                    </a:p>
                    <a:p>
                      <a:pPr algn="l">
                        <a:spcAft>
                          <a:spcPts val="0"/>
                        </a:spcAft>
                      </a:pPr>
                      <a:r>
                        <a:rPr lang="en-US" sz="2000" kern="100" dirty="0">
                          <a:effectLst/>
                          <a:latin typeface="黑体" panose="02010609060101010101" pitchFamily="49" charset="-122"/>
                          <a:ea typeface="黑体" panose="02010609060101010101" pitchFamily="49" charset="-122"/>
                        </a:rPr>
                        <a:t> </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solidFill>
                      <a:schemeClr val="accent2">
                        <a:lumMod val="40000"/>
                        <a:lumOff val="60000"/>
                      </a:schemeClr>
                    </a:solidFill>
                  </a:tcPr>
                </a:tc>
                <a:tc>
                  <a:txBody>
                    <a:bodyPr/>
                    <a:lstStyle/>
                    <a:p>
                      <a:pPr algn="l">
                        <a:spcAft>
                          <a:spcPts val="0"/>
                        </a:spcAft>
                      </a:pPr>
                      <a:r>
                        <a:rPr lang="zh-CN" sz="2000" kern="100" dirty="0">
                          <a:effectLst/>
                          <a:latin typeface="黑体" panose="02010609060101010101" pitchFamily="49" charset="-122"/>
                          <a:ea typeface="黑体" panose="02010609060101010101" pitchFamily="49" charset="-122"/>
                        </a:rPr>
                        <a:t>数字：</a:t>
                      </a:r>
                    </a:p>
                    <a:p>
                      <a:pPr algn="l">
                        <a:spcAft>
                          <a:spcPts val="0"/>
                        </a:spcAft>
                      </a:pPr>
                      <a:r>
                        <a:rPr lang="zh-CN" sz="2000" kern="100" dirty="0">
                          <a:effectLst/>
                          <a:latin typeface="黑体" panose="02010609060101010101" pitchFamily="49" charset="-122"/>
                          <a:ea typeface="黑体" panose="02010609060101010101" pitchFamily="49" charset="-122"/>
                        </a:rPr>
                        <a:t>门电路</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solidFill>
                      <a:srgbClr val="92D050"/>
                    </a:solidFill>
                  </a:tcPr>
                </a:tc>
                <a:tc>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组合逻辑电路</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solidFill>
                      <a:srgbClr val="92D050"/>
                    </a:solidFill>
                  </a:tcPr>
                </a:tc>
                <a:tc>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时序电路</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solidFill>
                      <a:srgbClr val="92D050"/>
                    </a:solidFill>
                  </a:tcPr>
                </a:tc>
                <a:tc>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大规模集成电路</a:t>
                      </a:r>
                    </a:p>
                    <a:p>
                      <a:pPr algn="just">
                        <a:spcAft>
                          <a:spcPts val="0"/>
                        </a:spcAft>
                      </a:pPr>
                      <a:r>
                        <a:rPr lang="en-US" sz="2000" kern="100" dirty="0">
                          <a:effectLst/>
                          <a:latin typeface="黑体" panose="02010609060101010101" pitchFamily="49" charset="-122"/>
                          <a:ea typeface="黑体" panose="02010609060101010101" pitchFamily="49" charset="-122"/>
                        </a:rPr>
                        <a:t>X86</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编程语言</a:t>
                      </a:r>
                    </a:p>
                    <a:p>
                      <a:pPr algn="just">
                        <a:spcAft>
                          <a:spcPts val="0"/>
                        </a:spcAft>
                      </a:pPr>
                      <a:r>
                        <a:rPr lang="en-US" sz="2000" kern="100" dirty="0">
                          <a:effectLst/>
                          <a:latin typeface="黑体" panose="02010609060101010101" pitchFamily="49" charset="-122"/>
                          <a:ea typeface="黑体" panose="02010609060101010101" pitchFamily="49" charset="-122"/>
                        </a:rPr>
                        <a:t>C</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软件，系统</a:t>
                      </a:r>
                    </a:p>
                    <a:p>
                      <a:pPr algn="just">
                        <a:spcAft>
                          <a:spcPts val="0"/>
                        </a:spcAft>
                      </a:pPr>
                      <a:r>
                        <a:rPr lang="en-US" sz="2000" kern="100" dirty="0">
                          <a:effectLst/>
                          <a:latin typeface="黑体" panose="02010609060101010101" pitchFamily="49" charset="-122"/>
                          <a:ea typeface="黑体" panose="02010609060101010101" pitchFamily="49" charset="-122"/>
                        </a:rPr>
                        <a:t>Linux</a:t>
                      </a:r>
                      <a:r>
                        <a:rPr lang="zh-CN" sz="2000" kern="100" dirty="0">
                          <a:effectLst/>
                          <a:latin typeface="黑体" panose="02010609060101010101" pitchFamily="49" charset="-122"/>
                          <a:ea typeface="黑体" panose="02010609060101010101" pitchFamily="49" charset="-122"/>
                        </a:rPr>
                        <a:t>，</a:t>
                      </a:r>
                    </a:p>
                    <a:p>
                      <a:pPr algn="just">
                        <a:spcAft>
                          <a:spcPts val="0"/>
                        </a:spcAft>
                      </a:pPr>
                      <a:r>
                        <a:rPr lang="en-US" sz="2000" kern="100" dirty="0">
                          <a:effectLst/>
                          <a:latin typeface="黑体" panose="02010609060101010101" pitchFamily="49" charset="-122"/>
                          <a:ea typeface="黑体" panose="02010609060101010101" pitchFamily="49" charset="-122"/>
                        </a:rPr>
                        <a:t>Windows</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rPr>
                        <a:t>应用：</a:t>
                      </a:r>
                    </a:p>
                    <a:p>
                      <a:pPr algn="just">
                        <a:spcAft>
                          <a:spcPts val="0"/>
                        </a:spcAft>
                      </a:pPr>
                      <a:r>
                        <a:rPr lang="zh-CN" sz="2000" kern="100" dirty="0">
                          <a:effectLst/>
                        </a:rPr>
                        <a:t>电子游戏，</a:t>
                      </a:r>
                      <a:r>
                        <a:rPr lang="en-US" sz="2000" kern="100" dirty="0">
                          <a:effectLst/>
                        </a:rPr>
                        <a:t>APP</a:t>
                      </a:r>
                      <a:endParaRPr lang="zh-CN" sz="20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94064263"/>
                  </a:ext>
                </a:extLst>
              </a:tr>
              <a:tr h="22094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a:spcAft>
                          <a:spcPts val="0"/>
                        </a:spcAft>
                      </a:pPr>
                      <a:r>
                        <a:rPr lang="zh-CN" sz="2000" kern="100">
                          <a:effectLst/>
                          <a:latin typeface="黑体" panose="02010609060101010101" pitchFamily="49" charset="-122"/>
                          <a:ea typeface="黑体" panose="02010609060101010101" pitchFamily="49" charset="-122"/>
                        </a:rPr>
                        <a:t>模拟：</a:t>
                      </a:r>
                    </a:p>
                    <a:p>
                      <a:pPr algn="l">
                        <a:spcAft>
                          <a:spcPts val="0"/>
                        </a:spcAft>
                      </a:pPr>
                      <a:r>
                        <a:rPr lang="zh-CN" sz="2000" kern="100">
                          <a:effectLst/>
                          <a:latin typeface="黑体" panose="02010609060101010101" pitchFamily="49" charset="-122"/>
                          <a:ea typeface="黑体" panose="02010609060101010101" pitchFamily="49" charset="-122"/>
                        </a:rPr>
                        <a:t>运算放大器</a:t>
                      </a:r>
                      <a:endParaRPr lang="zh-CN" sz="2000" kern="10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gridSpan="2">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模拟电路系统元件；</a:t>
                      </a:r>
                    </a:p>
                    <a:p>
                      <a:pPr algn="just">
                        <a:spcAft>
                          <a:spcPts val="0"/>
                        </a:spcAft>
                      </a:pPr>
                      <a:r>
                        <a:rPr lang="zh-CN" sz="2000" kern="100" dirty="0">
                          <a:effectLst/>
                          <a:latin typeface="黑体" panose="02010609060101010101" pitchFamily="49" charset="-122"/>
                          <a:ea typeface="黑体" panose="02010609060101010101" pitchFamily="49" charset="-122"/>
                        </a:rPr>
                        <a:t>电源，</a:t>
                      </a:r>
                    </a:p>
                    <a:p>
                      <a:pPr algn="just">
                        <a:spcAft>
                          <a:spcPts val="0"/>
                        </a:spcAft>
                      </a:pPr>
                      <a:r>
                        <a:rPr lang="zh-CN" sz="2000" kern="100" dirty="0">
                          <a:effectLst/>
                          <a:latin typeface="黑体" panose="02010609060101010101" pitchFamily="49" charset="-122"/>
                          <a:ea typeface="黑体" panose="02010609060101010101" pitchFamily="49" charset="-122"/>
                        </a:rPr>
                        <a:t>滤波器，振荡器</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gridSpan="4">
                  <a:txBody>
                    <a:bodyPr/>
                    <a:lstStyle/>
                    <a:p>
                      <a:pPr algn="just">
                        <a:spcAft>
                          <a:spcPts val="0"/>
                        </a:spcAft>
                      </a:pPr>
                      <a:r>
                        <a:rPr lang="zh-CN" sz="2000" kern="100" dirty="0">
                          <a:effectLst/>
                          <a:latin typeface="黑体" panose="02010609060101010101" pitchFamily="49" charset="-122"/>
                          <a:ea typeface="黑体" panose="02010609060101010101" pitchFamily="49" charset="-122"/>
                        </a:rPr>
                        <a:t>收音机，面包机，信号发生器</a:t>
                      </a:r>
                      <a:endParaRPr lang="zh-CN" sz="2000" kern="100" dirty="0">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98740895"/>
                  </a:ext>
                </a:extLst>
              </a:tr>
            </a:tbl>
          </a:graphicData>
        </a:graphic>
      </p:graphicFrame>
    </p:spTree>
    <p:extLst>
      <p:ext uri="{BB962C8B-B14F-4D97-AF65-F5344CB8AC3E}">
        <p14:creationId xmlns:p14="http://schemas.microsoft.com/office/powerpoint/2010/main" val="523817478"/>
      </p:ext>
    </p:extLst>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2" name="Text Box 4">
            <a:extLst>
              <a:ext uri="{FF2B5EF4-FFF2-40B4-BE49-F238E27FC236}">
                <a16:creationId xmlns:a16="http://schemas.microsoft.com/office/drawing/2014/main" id="{E52DF92C-61CA-4F3A-923F-9C7E48813144}"/>
              </a:ext>
            </a:extLst>
          </p:cNvPr>
          <p:cNvSpPr txBox="1">
            <a:spLocks noChangeArrowheads="1"/>
          </p:cNvSpPr>
          <p:nvPr/>
        </p:nvSpPr>
        <p:spPr bwMode="auto">
          <a:xfrm>
            <a:off x="590548" y="1079903"/>
            <a:ext cx="7724111"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rPr>
              <a:t>数字电路</a:t>
            </a:r>
            <a:r>
              <a:rPr kumimoji="0" lang="en-US" altLang="zh-CN" sz="36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rPr>
              <a:t>——</a:t>
            </a:r>
          </a:p>
          <a:p>
            <a:pPr marL="0" marR="0" lvl="0" indent="0" algn="l" defTabSz="914400" rtl="0" eaLnBrk="1" fontAlgn="base" latinLnBrk="0" hangingPunct="1">
              <a:lnSpc>
                <a:spcPct val="100000"/>
              </a:lnSpc>
              <a:spcBef>
                <a:spcPts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rPr>
              <a:t>用数字信号完成对数字量的算术运算和逻辑运算的电路称为数字电路。</a:t>
            </a:r>
            <a:endParaRPr kumimoji="0" lang="zh-CN" altLang="en-US" sz="3600" b="1" i="0" u="none" strike="noStrike" kern="1200" cap="none" spc="0" normalizeH="0" baseline="0" noProof="0" dirty="0">
              <a:ln>
                <a:noFill/>
              </a:ln>
              <a:solidFill>
                <a:srgbClr val="FF0000"/>
              </a:solidFill>
              <a:effectLst/>
              <a:uLnTx/>
              <a:uFillTx/>
              <a:latin typeface="Tahoma" panose="020B0604030504040204" pitchFamily="34" charset="0"/>
              <a:ea typeface="宋体" panose="02010600030101010101" pitchFamily="2" charset="-122"/>
              <a:cs typeface="+mn-cs"/>
            </a:endParaRPr>
          </a:p>
        </p:txBody>
      </p:sp>
      <p:sp>
        <p:nvSpPr>
          <p:cNvPr id="17413" name="Rectangle 5">
            <a:extLst>
              <a:ext uri="{FF2B5EF4-FFF2-40B4-BE49-F238E27FC236}">
                <a16:creationId xmlns:a16="http://schemas.microsoft.com/office/drawing/2014/main" id="{9A85E550-0378-4E25-A7CB-9F380C0C866B}"/>
              </a:ext>
            </a:extLst>
          </p:cNvPr>
          <p:cNvSpPr>
            <a:spLocks noChangeArrowheads="1"/>
          </p:cNvSpPr>
          <p:nvPr/>
        </p:nvSpPr>
        <p:spPr bwMode="auto">
          <a:xfrm>
            <a:off x="590548" y="2633907"/>
            <a:ext cx="79248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99"/>
              </a:buClr>
              <a:buSzPct val="60000"/>
              <a:buFont typeface="Wingdings" panose="05000000000000000000" pitchFamily="2" charset="2"/>
              <a:buNone/>
              <a:tabLst/>
              <a:defRPr/>
            </a:pPr>
            <a:r>
              <a:rPr kumimoji="1"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数字电路</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rgbClr val="FFFF99"/>
              </a:buClr>
              <a:buSzPct val="60000"/>
              <a:buFont typeface="Wingdings" panose="05000000000000000000" pitchFamily="2" charset="2"/>
              <a:buNone/>
              <a:tabLst/>
              <a:defRPr/>
            </a:pPr>
            <a:r>
              <a:rPr kumimoji="1" lang="en-US" altLang="zh-CN"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        </a:t>
            </a:r>
            <a:r>
              <a:rPr kumimoji="1"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研究数值的逻辑加工和运算的电路</a:t>
            </a:r>
            <a:r>
              <a:rPr kumimoji="1" lang="en-US" altLang="zh-CN"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a:t>
            </a:r>
            <a:endParaRPr kumimoji="1"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 name="灯片编号占位符 1">
            <a:extLst>
              <a:ext uri="{FF2B5EF4-FFF2-40B4-BE49-F238E27FC236}">
                <a16:creationId xmlns:a16="http://schemas.microsoft.com/office/drawing/2014/main" id="{555708D9-2B78-4059-9F6D-1FB3BE70317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929CCE-959B-41CA-84A4-0AA87FC21048}" type="slidenum">
              <a:rPr kumimoji="0" lang="en-US" altLang="zh-CN" sz="1400" b="1"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标题 3">
            <a:extLst>
              <a:ext uri="{FF2B5EF4-FFF2-40B4-BE49-F238E27FC236}">
                <a16:creationId xmlns:a16="http://schemas.microsoft.com/office/drawing/2014/main" id="{4C4D3B40-031A-43C7-B0E1-A2719AD477AC}"/>
              </a:ext>
            </a:extLst>
          </p:cNvPr>
          <p:cNvSpPr>
            <a:spLocks noGrp="1"/>
          </p:cNvSpPr>
          <p:nvPr>
            <p:ph type="title"/>
          </p:nvPr>
        </p:nvSpPr>
        <p:spPr>
          <a:xfrm>
            <a:off x="1219200" y="321952"/>
            <a:ext cx="6954715" cy="588136"/>
          </a:xfrm>
        </p:spPr>
        <p:txBody>
          <a:bodyPr/>
          <a:lstStyle/>
          <a:p>
            <a:r>
              <a:rPr lang="en-US" altLang="zh-CN" dirty="0"/>
              <a:t>2 </a:t>
            </a:r>
            <a:r>
              <a:rPr lang="zh-CN" altLang="en-US" dirty="0"/>
              <a:t>基本概念</a:t>
            </a:r>
            <a:r>
              <a:rPr lang="en-US" altLang="zh-CN" dirty="0"/>
              <a:t>—</a:t>
            </a:r>
            <a:r>
              <a:rPr lang="zh-CN" altLang="en-US" dirty="0"/>
              <a:t>数字电路</a:t>
            </a:r>
          </a:p>
        </p:txBody>
      </p:sp>
      <p:sp>
        <p:nvSpPr>
          <p:cNvPr id="5" name="矩形 4">
            <a:extLst>
              <a:ext uri="{FF2B5EF4-FFF2-40B4-BE49-F238E27FC236}">
                <a16:creationId xmlns:a16="http://schemas.microsoft.com/office/drawing/2014/main" id="{DDB61844-F17C-449F-A393-D868A890FED8}"/>
              </a:ext>
            </a:extLst>
          </p:cNvPr>
          <p:cNvSpPr/>
          <p:nvPr/>
        </p:nvSpPr>
        <p:spPr>
          <a:xfrm>
            <a:off x="590548" y="5335717"/>
            <a:ext cx="8071131" cy="1040285"/>
          </a:xfrm>
          <a:prstGeom prst="rect">
            <a:avLst/>
          </a:prstGeom>
        </p:spPr>
        <p:txBody>
          <a:bodyPr wrap="square">
            <a:spAutoFit/>
          </a:bodyPr>
          <a:lstStyle/>
          <a:p>
            <a:pPr marL="0" marR="0" lvl="0" indent="0" algn="l" defTabSz="914400" rtl="0" eaLnBrk="1" fontAlgn="base" latinLnBrk="0" hangingPunct="1">
              <a:lnSpc>
                <a:spcPct val="100000"/>
              </a:lnSpc>
              <a:spcBef>
                <a:spcPct val="20000"/>
              </a:spcBef>
              <a:spcAft>
                <a:spcPct val="0"/>
              </a:spcAft>
              <a:buClr>
                <a:srgbClr val="FF0000"/>
              </a:buClr>
              <a:buSzPct val="70000"/>
              <a:buFont typeface="Wingdings" panose="05000000000000000000" pitchFamily="2" charset="2"/>
              <a:buNone/>
              <a:tabLst/>
              <a:defRPr/>
            </a:pPr>
            <a:r>
              <a:rPr kumimoji="0" lang="zh-CN" altLang="en-US" sz="28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现实世界中两大系统：</a:t>
            </a:r>
          </a:p>
          <a:p>
            <a:pPr marL="0" marR="0" lvl="0" indent="0" algn="l" defTabSz="914400" rtl="0" eaLnBrk="1" fontAlgn="base" latinLnBrk="0" hangingPunct="1">
              <a:lnSpc>
                <a:spcPct val="100000"/>
              </a:lnSpc>
              <a:spcBef>
                <a:spcPct val="20000"/>
              </a:spcBef>
              <a:spcAft>
                <a:spcPct val="0"/>
              </a:spcAft>
              <a:buClr>
                <a:srgbClr val="FF0000"/>
              </a:buClr>
              <a:buSzPct val="70000"/>
              <a:buFont typeface="Wingdings" panose="05000000000000000000" pitchFamily="2" charset="2"/>
              <a:buNone/>
              <a:tabLst/>
              <a:defRPr/>
            </a:pPr>
            <a:r>
              <a:rPr kumimoji="0" lang="zh-CN" altLang="en-US" sz="28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      模拟系统与数字系统（如何数字？什么数字？）</a:t>
            </a:r>
          </a:p>
        </p:txBody>
      </p:sp>
      <p:sp>
        <p:nvSpPr>
          <p:cNvPr id="7" name="Rectangle 5">
            <a:extLst>
              <a:ext uri="{FF2B5EF4-FFF2-40B4-BE49-F238E27FC236}">
                <a16:creationId xmlns:a16="http://schemas.microsoft.com/office/drawing/2014/main" id="{90F9C6F4-58FF-4EA8-9CA6-BEE985E79590}"/>
              </a:ext>
            </a:extLst>
          </p:cNvPr>
          <p:cNvSpPr>
            <a:spLocks noChangeArrowheads="1"/>
          </p:cNvSpPr>
          <p:nvPr/>
        </p:nvSpPr>
        <p:spPr bwMode="auto">
          <a:xfrm>
            <a:off x="590548" y="3790798"/>
            <a:ext cx="79248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99"/>
              </a:buClr>
              <a:buSzPct val="60000"/>
              <a:buFont typeface="Wingdings" panose="05000000000000000000" pitchFamily="2" charset="2"/>
              <a:buNone/>
              <a:tabLst/>
              <a:defRPr/>
            </a:pPr>
            <a:r>
              <a:rPr kumimoji="1"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数字电路</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32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rgbClr val="FFFF99"/>
              </a:buClr>
              <a:buSzPct val="60000"/>
              <a:buFont typeface="Wingdings" panose="05000000000000000000" pitchFamily="2" charset="2"/>
              <a:buNone/>
              <a:tabLst/>
              <a:defRPr/>
            </a:pPr>
            <a:r>
              <a:rPr kumimoji="1" lang="en-US"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	</a:t>
            </a:r>
            <a:r>
              <a:rPr kumimoji="1" lang="zh-CN" altLang="en-US"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以二进制逻辑代数为数学基础，使用二进制数字信号，既能进行算术运算又能方便地进行逻辑运算</a:t>
            </a:r>
            <a:r>
              <a:rPr kumimoji="1" lang="en-US" altLang="zh-CN"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a:t>
            </a:r>
            <a:endParaRPr kumimoji="1" lang="zh-CN" altLang="en-US" sz="2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17412"/>
                                        </p:tgtEl>
                                        <p:attrNameLst>
                                          <p:attrName>style.visibility</p:attrName>
                                        </p:attrNameLst>
                                      </p:cBhvr>
                                      <p:to>
                                        <p:strVal val="visible"/>
                                      </p:to>
                                    </p:set>
                                    <p:animEffect transition="in" filter="wipe(left)">
                                      <p:cBhvr>
                                        <p:cTn id="7" dur="500"/>
                                        <p:tgtEl>
                                          <p:spTgt spid="174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413"/>
                                        </p:tgtEl>
                                        <p:attrNameLst>
                                          <p:attrName>style.visibility</p:attrName>
                                        </p:attrNameLst>
                                      </p:cBhvr>
                                      <p:to>
                                        <p:strVal val="visible"/>
                                      </p:to>
                                    </p:set>
                                    <p:anim calcmode="lin" valueType="num">
                                      <p:cBhvr additive="base">
                                        <p:cTn id="12" dur="500" fill="hold"/>
                                        <p:tgtEl>
                                          <p:spTgt spid="17413"/>
                                        </p:tgtEl>
                                        <p:attrNameLst>
                                          <p:attrName>ppt_x</p:attrName>
                                        </p:attrNameLst>
                                      </p:cBhvr>
                                      <p:tavLst>
                                        <p:tav tm="0">
                                          <p:val>
                                            <p:strVal val="#ppt_x"/>
                                          </p:val>
                                        </p:tav>
                                        <p:tav tm="100000">
                                          <p:val>
                                            <p:strVal val="#ppt_x"/>
                                          </p:val>
                                        </p:tav>
                                      </p:tavLst>
                                    </p:anim>
                                    <p:anim calcmode="lin" valueType="num">
                                      <p:cBhvr additive="base">
                                        <p:cTn id="13"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utoUpdateAnimBg="0"/>
      <p:bldP spid="17413" grpId="0"/>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C1B10B-26E5-45AE-9929-53DF0EF8306A}"/>
              </a:ext>
            </a:extLst>
          </p:cNvPr>
          <p:cNvSpPr>
            <a:spLocks noGrp="1" noChangeArrowheads="1"/>
          </p:cNvSpPr>
          <p:nvPr>
            <p:ph type="title"/>
          </p:nvPr>
        </p:nvSpPr>
        <p:spPr>
          <a:xfrm>
            <a:off x="1250561" y="0"/>
            <a:ext cx="7207639" cy="863464"/>
          </a:xfrm>
        </p:spPr>
        <p:txBody>
          <a:bodyPr/>
          <a:lstStyle/>
          <a:p>
            <a:pPr eaLnBrk="1" hangingPunct="1"/>
            <a:r>
              <a:rPr lang="en-US" altLang="zh-CN" b="1" dirty="0">
                <a:solidFill>
                  <a:schemeClr val="tx1"/>
                </a:solidFill>
              </a:rPr>
              <a:t>2 </a:t>
            </a:r>
            <a:r>
              <a:rPr lang="zh-CN" altLang="en-US" b="1" dirty="0">
                <a:solidFill>
                  <a:schemeClr val="tx1"/>
                </a:solidFill>
              </a:rPr>
              <a:t>基本概念</a:t>
            </a:r>
            <a:r>
              <a:rPr lang="en-US" altLang="zh-CN" b="1" dirty="0">
                <a:solidFill>
                  <a:schemeClr val="tx1"/>
                </a:solidFill>
              </a:rPr>
              <a:t>—</a:t>
            </a:r>
            <a:r>
              <a:rPr lang="zh-CN" altLang="en-US" b="1" dirty="0">
                <a:solidFill>
                  <a:schemeClr val="tx1"/>
                </a:solidFill>
              </a:rPr>
              <a:t>数字信号</a:t>
            </a:r>
          </a:p>
        </p:txBody>
      </p:sp>
      <p:sp>
        <p:nvSpPr>
          <p:cNvPr id="2" name="灯片编号占位符 1">
            <a:extLst>
              <a:ext uri="{FF2B5EF4-FFF2-40B4-BE49-F238E27FC236}">
                <a16:creationId xmlns:a16="http://schemas.microsoft.com/office/drawing/2014/main" id="{76EC447C-FFBA-4765-A483-4E4262EC37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929CCE-959B-41CA-84A4-0AA87FC21048}" type="slidenum">
              <a:rPr kumimoji="0" lang="en-US" altLang="zh-CN" sz="1400" b="1"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 name="矩形: 对角圆角 2">
            <a:extLst>
              <a:ext uri="{FF2B5EF4-FFF2-40B4-BE49-F238E27FC236}">
                <a16:creationId xmlns:a16="http://schemas.microsoft.com/office/drawing/2014/main" id="{58B93749-A81A-4860-823B-7C5D99E8C8BA}"/>
              </a:ext>
            </a:extLst>
          </p:cNvPr>
          <p:cNvSpPr/>
          <p:nvPr/>
        </p:nvSpPr>
        <p:spPr bwMode="auto">
          <a:xfrm>
            <a:off x="5592179" y="1269185"/>
            <a:ext cx="2532820" cy="1058021"/>
          </a:xfrm>
          <a:prstGeom prst="round2DiagRect">
            <a:avLst/>
          </a:prstGeom>
          <a:noFill/>
          <a:ln w="381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ahoma" panose="020B0604030504040204" pitchFamily="34" charset="0"/>
                <a:ea typeface="宋体" panose="02010600030101010101" pitchFamily="2" charset="-122"/>
                <a:cs typeface="+mn-cs"/>
              </a:rPr>
              <a:t>数字信号的离散和实现？</a:t>
            </a:r>
          </a:p>
        </p:txBody>
      </p:sp>
      <p:pic>
        <p:nvPicPr>
          <p:cNvPr id="7" name="图片 6" descr="https://timgsa.baidu.com/timg?image&amp;quality=80&amp;size=b9999_10000&amp;sec=1514178478837&amp;di=6da1bfc119045e8f20581d7dfc6955df&amp;imgtype=0&amp;src=http%3A%2F%2Fwww.big-bit.com%2Fuploadfile%2F2013%2F1122%2F20131122035509871.jpg">
            <a:extLst>
              <a:ext uri="{FF2B5EF4-FFF2-40B4-BE49-F238E27FC236}">
                <a16:creationId xmlns:a16="http://schemas.microsoft.com/office/drawing/2014/main" id="{29ABBC36-9FCF-4BC4-9787-3FB38325BADC}"/>
              </a:ext>
            </a:extLst>
          </p:cNvPr>
          <p:cNvPicPr/>
          <p:nvPr/>
        </p:nvPicPr>
        <p:blipFill rotWithShape="1">
          <a:blip r:embed="rId3">
            <a:extLst>
              <a:ext uri="{28A0092B-C50C-407E-A947-70E740481C1C}">
                <a14:useLocalDpi xmlns:a14="http://schemas.microsoft.com/office/drawing/2010/main" val="0"/>
              </a:ext>
            </a:extLst>
          </a:blip>
          <a:srcRect b="4742"/>
          <a:stretch/>
        </p:blipFill>
        <p:spPr bwMode="auto">
          <a:xfrm>
            <a:off x="222737" y="1076116"/>
            <a:ext cx="5369442" cy="5026972"/>
          </a:xfrm>
          <a:prstGeom prst="rect">
            <a:avLst/>
          </a:prstGeom>
          <a:noFill/>
          <a:ln>
            <a:noFill/>
          </a:ln>
        </p:spPr>
      </p:pic>
      <p:pic>
        <p:nvPicPr>
          <p:cNvPr id="8" name="图片 7" descr="See the source image">
            <a:extLst>
              <a:ext uri="{FF2B5EF4-FFF2-40B4-BE49-F238E27FC236}">
                <a16:creationId xmlns:a16="http://schemas.microsoft.com/office/drawing/2014/main" id="{817EB3DD-BCAB-4739-AE02-77639475430C}"/>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954772" y="3221510"/>
            <a:ext cx="3966491" cy="2743355"/>
          </a:xfrm>
          <a:prstGeom prst="rect">
            <a:avLst/>
          </a:prstGeom>
          <a:noFill/>
          <a:ln>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E3BB424-1F50-4077-A5A4-00DF6F99952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929CCE-959B-41CA-84A4-0AA87FC21048}" type="slidenum">
              <a:rPr kumimoji="0" lang="en-US" altLang="zh-CN" sz="1400" b="1" i="0" u="none" strike="noStrike" kern="1200" cap="none" spc="0" normalizeH="0" baseline="0" noProof="0" smtClean="0">
                <a:ln>
                  <a:noFill/>
                </a:ln>
                <a:solidFill>
                  <a:srgbClr val="000000"/>
                </a:solidFill>
                <a:effectLst/>
                <a:uLnTx/>
                <a:uFillTx/>
                <a:latin typeface="Tahom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5" name="图片 4" descr="C:\Users\xd\AppData\Local\Temp\1520216077(1).png">
            <a:extLst>
              <a:ext uri="{FF2B5EF4-FFF2-40B4-BE49-F238E27FC236}">
                <a16:creationId xmlns:a16="http://schemas.microsoft.com/office/drawing/2014/main" id="{F2801926-96BF-46A2-901B-CF18A47185F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314884"/>
            <a:ext cx="9144000" cy="3246483"/>
          </a:xfrm>
          <a:prstGeom prst="rect">
            <a:avLst/>
          </a:prstGeom>
          <a:noFill/>
          <a:ln>
            <a:noFill/>
          </a:ln>
        </p:spPr>
      </p:pic>
      <p:sp>
        <p:nvSpPr>
          <p:cNvPr id="6" name="内容占位符 2">
            <a:extLst>
              <a:ext uri="{FF2B5EF4-FFF2-40B4-BE49-F238E27FC236}">
                <a16:creationId xmlns:a16="http://schemas.microsoft.com/office/drawing/2014/main" id="{060463CF-03B6-4C67-8E58-FD0183D928A6}"/>
              </a:ext>
            </a:extLst>
          </p:cNvPr>
          <p:cNvSpPr txBox="1">
            <a:spLocks/>
          </p:cNvSpPr>
          <p:nvPr/>
        </p:nvSpPr>
        <p:spPr>
          <a:xfrm>
            <a:off x="284665" y="5030971"/>
            <a:ext cx="8939705" cy="85919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1" lang="zh-CN" altLang="en-US" sz="4000" b="1" i="0" u="none" strike="noStrike" kern="1200" cap="none" spc="0" normalizeH="0" baseline="0" noProof="0" dirty="0">
                <a:ln>
                  <a:noFill/>
                </a:ln>
                <a:solidFill>
                  <a:srgbClr val="000000"/>
                </a:solidFill>
                <a:effectLst/>
                <a:uLnTx/>
                <a:uFillTx/>
                <a:latin typeface="Tahoma"/>
                <a:ea typeface="宋体"/>
                <a:cs typeface="+mn-cs"/>
              </a:rPr>
              <a:t>电路结构</a:t>
            </a:r>
            <a:r>
              <a:rPr kumimoji="1" lang="en-US" altLang="zh-CN" sz="4000" b="1" i="0" u="none" strike="noStrike" kern="1200" cap="none" spc="0" normalizeH="0" baseline="0" noProof="0" dirty="0">
                <a:ln>
                  <a:noFill/>
                </a:ln>
                <a:solidFill>
                  <a:srgbClr val="000000"/>
                </a:solidFill>
                <a:effectLst/>
                <a:uLnTx/>
                <a:uFillTx/>
                <a:latin typeface="Tahoma"/>
                <a:ea typeface="宋体"/>
                <a:cs typeface="+mn-cs"/>
              </a:rPr>
              <a:t>——</a:t>
            </a:r>
            <a:r>
              <a:rPr kumimoji="1" lang="zh-CN" altLang="en-US" sz="4000" b="1" i="0" u="none" strike="noStrike" kern="1200" cap="none" spc="0" normalizeH="0" baseline="0" noProof="0" dirty="0">
                <a:ln>
                  <a:noFill/>
                </a:ln>
                <a:solidFill>
                  <a:srgbClr val="000000"/>
                </a:solidFill>
                <a:effectLst/>
                <a:uLnTx/>
                <a:uFillTx/>
                <a:latin typeface="Tahoma"/>
                <a:ea typeface="宋体"/>
                <a:cs typeface="+mn-cs"/>
              </a:rPr>
              <a:t>实现高、低电平的表示</a:t>
            </a:r>
            <a:endParaRPr kumimoji="1" lang="en-US" altLang="zh-CN" sz="4000" b="1" i="0" u="none" strike="noStrike" kern="1200" cap="none" spc="0" normalizeH="0" baseline="0" noProof="0" dirty="0">
              <a:ln>
                <a:noFill/>
              </a:ln>
              <a:solidFill>
                <a:srgbClr val="000000"/>
              </a:solidFill>
              <a:effectLst/>
              <a:uLnTx/>
              <a:uFillTx/>
              <a:latin typeface="Tahoma"/>
              <a:ea typeface="宋体"/>
              <a:cs typeface="+mn-cs"/>
            </a:endParaRPr>
          </a:p>
        </p:txBody>
      </p:sp>
      <p:sp>
        <p:nvSpPr>
          <p:cNvPr id="7" name="标题 1">
            <a:extLst>
              <a:ext uri="{FF2B5EF4-FFF2-40B4-BE49-F238E27FC236}">
                <a16:creationId xmlns:a16="http://schemas.microsoft.com/office/drawing/2014/main" id="{97EED0D9-E730-4F8B-AC28-27796B93111D}"/>
              </a:ext>
            </a:extLst>
          </p:cNvPr>
          <p:cNvSpPr>
            <a:spLocks noGrp="1"/>
          </p:cNvSpPr>
          <p:nvPr>
            <p:ph type="title"/>
          </p:nvPr>
        </p:nvSpPr>
        <p:spPr>
          <a:xfrm>
            <a:off x="1277161" y="309671"/>
            <a:ext cx="6954715" cy="588136"/>
          </a:xfrm>
        </p:spPr>
        <p:txBody>
          <a:bodyPr/>
          <a:lstStyle/>
          <a:p>
            <a:r>
              <a:rPr lang="en-US" altLang="zh-CN" b="1" dirty="0">
                <a:solidFill>
                  <a:schemeClr val="tx1"/>
                </a:solidFill>
              </a:rPr>
              <a:t>2 </a:t>
            </a:r>
            <a:r>
              <a:rPr lang="zh-CN" altLang="en-US" b="1" dirty="0">
                <a:solidFill>
                  <a:schemeClr val="tx1"/>
                </a:solidFill>
              </a:rPr>
              <a:t>基本概念</a:t>
            </a:r>
            <a:r>
              <a:rPr lang="en-US" altLang="zh-CN" b="1" dirty="0">
                <a:solidFill>
                  <a:schemeClr val="tx1"/>
                </a:solidFill>
              </a:rPr>
              <a:t>—</a:t>
            </a:r>
            <a:r>
              <a:rPr lang="zh-CN" altLang="en-US" b="1" dirty="0"/>
              <a:t>数字的电路实现</a:t>
            </a:r>
          </a:p>
        </p:txBody>
      </p:sp>
    </p:spTree>
    <p:extLst>
      <p:ext uri="{BB962C8B-B14F-4D97-AF65-F5344CB8AC3E}">
        <p14:creationId xmlns:p14="http://schemas.microsoft.com/office/powerpoint/2010/main" val="1775399857"/>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90C4944-C5D7-4FB2-B95E-CE58A2442DD4}"/>
              </a:ext>
            </a:extLst>
          </p:cNvPr>
          <p:cNvSpPr>
            <a:spLocks noGrp="1" noChangeArrowheads="1"/>
          </p:cNvSpPr>
          <p:nvPr>
            <p:ph type="title"/>
          </p:nvPr>
        </p:nvSpPr>
        <p:spPr>
          <a:xfrm>
            <a:off x="1325561" y="303988"/>
            <a:ext cx="7145199" cy="533400"/>
          </a:xfrm>
        </p:spPr>
        <p:txBody>
          <a:bodyPr/>
          <a:lstStyle/>
          <a:p>
            <a:pPr eaLnBrk="1" hangingPunct="1">
              <a:defRPr/>
            </a:pPr>
            <a:r>
              <a:rPr lang="en-US" altLang="zh-CN" sz="3200" b="1" dirty="0">
                <a:solidFill>
                  <a:schemeClr val="tx1"/>
                </a:solidFill>
                <a:effectLst>
                  <a:outerShdw blurRad="38100" dist="38100" dir="2700000" algn="tl">
                    <a:srgbClr val="000000"/>
                  </a:outerShdw>
                </a:effectLst>
              </a:rPr>
              <a:t> </a:t>
            </a:r>
            <a:r>
              <a:rPr lang="en-US" altLang="zh-CN" dirty="0">
                <a:solidFill>
                  <a:schemeClr val="tx1"/>
                </a:solidFill>
              </a:rPr>
              <a:t>2 </a:t>
            </a:r>
            <a:r>
              <a:rPr lang="zh-CN" altLang="en-US" dirty="0">
                <a:solidFill>
                  <a:schemeClr val="tx1"/>
                </a:solidFill>
              </a:rPr>
              <a:t>基本概念</a:t>
            </a:r>
            <a:r>
              <a:rPr lang="en-US" altLang="zh-CN" dirty="0">
                <a:solidFill>
                  <a:schemeClr val="tx1"/>
                </a:solidFill>
              </a:rPr>
              <a:t>—</a:t>
            </a:r>
            <a:r>
              <a:rPr lang="zh-CN" altLang="en-US" dirty="0"/>
              <a:t>数字电量表示</a:t>
            </a:r>
          </a:p>
        </p:txBody>
      </p:sp>
      <p:sp>
        <p:nvSpPr>
          <p:cNvPr id="8196" name="Text Box 4">
            <a:extLst>
              <a:ext uri="{FF2B5EF4-FFF2-40B4-BE49-F238E27FC236}">
                <a16:creationId xmlns:a16="http://schemas.microsoft.com/office/drawing/2014/main" id="{CCEB73FD-65E4-481D-A4BB-FE04FCCD6A47}"/>
              </a:ext>
            </a:extLst>
          </p:cNvPr>
          <p:cNvSpPr txBox="1">
            <a:spLocks noChangeArrowheads="1"/>
          </p:cNvSpPr>
          <p:nvPr/>
        </p:nvSpPr>
        <p:spPr bwMode="auto">
          <a:xfrm>
            <a:off x="190500" y="1078687"/>
            <a:ext cx="8763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0000"/>
              </a:buClr>
              <a:buSzPct val="7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正负逻辑：在逻辑电路中，常把电平的高、低和逻辑</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联系起来，若</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H=1,L=0,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称正逻辑；若</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H=0,L=1,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称负逻辑。    在本课程中，一律采用正逻辑。 </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8232" name="Group 40">
            <a:extLst>
              <a:ext uri="{FF2B5EF4-FFF2-40B4-BE49-F238E27FC236}">
                <a16:creationId xmlns:a16="http://schemas.microsoft.com/office/drawing/2014/main" id="{D48D1569-2E92-409D-BA09-31E62CEA0B62}"/>
              </a:ext>
            </a:extLst>
          </p:cNvPr>
          <p:cNvGrpSpPr>
            <a:grpSpLocks/>
          </p:cNvGrpSpPr>
          <p:nvPr/>
        </p:nvGrpSpPr>
        <p:grpSpPr bwMode="auto">
          <a:xfrm>
            <a:off x="4760913" y="3278188"/>
            <a:ext cx="3529012" cy="2566987"/>
            <a:chOff x="2988" y="2053"/>
            <a:chExt cx="2223" cy="1617"/>
          </a:xfrm>
        </p:grpSpPr>
        <p:sp>
          <p:nvSpPr>
            <p:cNvPr id="6167" name="Rectangle 23" descr="浅色上对角线">
              <a:extLst>
                <a:ext uri="{FF2B5EF4-FFF2-40B4-BE49-F238E27FC236}">
                  <a16:creationId xmlns:a16="http://schemas.microsoft.com/office/drawing/2014/main" id="{2DF11694-C4D2-4FB9-9ED8-ED71A5421833}"/>
                </a:ext>
              </a:extLst>
            </p:cNvPr>
            <p:cNvSpPr>
              <a:spLocks noChangeArrowheads="1"/>
            </p:cNvSpPr>
            <p:nvPr/>
          </p:nvSpPr>
          <p:spPr bwMode="auto">
            <a:xfrm>
              <a:off x="3033" y="2065"/>
              <a:ext cx="409" cy="242"/>
            </a:xfrm>
            <a:prstGeom prst="rect">
              <a:avLst/>
            </a:pr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68" name="Rectangle 24" descr="浅色上对角线">
              <a:extLst>
                <a:ext uri="{FF2B5EF4-FFF2-40B4-BE49-F238E27FC236}">
                  <a16:creationId xmlns:a16="http://schemas.microsoft.com/office/drawing/2014/main" id="{973E15A5-AB39-49AA-BF13-355D5EF22E25}"/>
                </a:ext>
              </a:extLst>
            </p:cNvPr>
            <p:cNvSpPr>
              <a:spLocks noChangeArrowheads="1"/>
            </p:cNvSpPr>
            <p:nvPr/>
          </p:nvSpPr>
          <p:spPr bwMode="auto">
            <a:xfrm>
              <a:off x="3452" y="2929"/>
              <a:ext cx="409" cy="242"/>
            </a:xfrm>
            <a:prstGeom prst="rect">
              <a:avLst/>
            </a:pr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69" name="Line 25">
              <a:extLst>
                <a:ext uri="{FF2B5EF4-FFF2-40B4-BE49-F238E27FC236}">
                  <a16:creationId xmlns:a16="http://schemas.microsoft.com/office/drawing/2014/main" id="{76A621C3-263F-4D77-83CE-1D2307389EC9}"/>
                </a:ext>
              </a:extLst>
            </p:cNvPr>
            <p:cNvSpPr>
              <a:spLocks noChangeShapeType="1"/>
            </p:cNvSpPr>
            <p:nvPr/>
          </p:nvSpPr>
          <p:spPr bwMode="auto">
            <a:xfrm>
              <a:off x="3452" y="2064"/>
              <a:ext cx="0" cy="1107"/>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70" name="Text Box 26">
              <a:extLst>
                <a:ext uri="{FF2B5EF4-FFF2-40B4-BE49-F238E27FC236}">
                  <a16:creationId xmlns:a16="http://schemas.microsoft.com/office/drawing/2014/main" id="{A1044321-D49D-40E1-9F3F-F0D5DEA7B7A8}"/>
                </a:ext>
              </a:extLst>
            </p:cNvPr>
            <p:cNvSpPr txBox="1">
              <a:spLocks noChangeArrowheads="1"/>
            </p:cNvSpPr>
            <p:nvPr/>
          </p:nvSpPr>
          <p:spPr bwMode="auto">
            <a:xfrm>
              <a:off x="3090" y="205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171" name="Text Box 27">
              <a:extLst>
                <a:ext uri="{FF2B5EF4-FFF2-40B4-BE49-F238E27FC236}">
                  <a16:creationId xmlns:a16="http://schemas.microsoft.com/office/drawing/2014/main" id="{FF238FCD-BA6A-483D-915A-DCAF7AE9BAE3}"/>
                </a:ext>
              </a:extLst>
            </p:cNvPr>
            <p:cNvSpPr txBox="1">
              <a:spLocks noChangeArrowheads="1"/>
            </p:cNvSpPr>
            <p:nvPr/>
          </p:nvSpPr>
          <p:spPr bwMode="auto">
            <a:xfrm>
              <a:off x="3534" y="292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6172" name="Text Box 28">
              <a:extLst>
                <a:ext uri="{FF2B5EF4-FFF2-40B4-BE49-F238E27FC236}">
                  <a16:creationId xmlns:a16="http://schemas.microsoft.com/office/drawing/2014/main" id="{992E9C4E-0EB7-4C15-ABB7-F1C8FE27F572}"/>
                </a:ext>
              </a:extLst>
            </p:cNvPr>
            <p:cNvSpPr txBox="1">
              <a:spLocks noChangeArrowheads="1"/>
            </p:cNvSpPr>
            <p:nvPr/>
          </p:nvSpPr>
          <p:spPr bwMode="auto">
            <a:xfrm>
              <a:off x="2988" y="3335"/>
              <a:ext cx="8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正逻辑</a:t>
              </a:r>
            </a:p>
          </p:txBody>
        </p:sp>
        <p:sp>
          <p:nvSpPr>
            <p:cNvPr id="6173" name="Rectangle 29" descr="浅色上对角线">
              <a:extLst>
                <a:ext uri="{FF2B5EF4-FFF2-40B4-BE49-F238E27FC236}">
                  <a16:creationId xmlns:a16="http://schemas.microsoft.com/office/drawing/2014/main" id="{5A8CE459-B434-4228-B9CC-5BE79075DDCD}"/>
                </a:ext>
              </a:extLst>
            </p:cNvPr>
            <p:cNvSpPr>
              <a:spLocks noChangeArrowheads="1"/>
            </p:cNvSpPr>
            <p:nvPr/>
          </p:nvSpPr>
          <p:spPr bwMode="auto">
            <a:xfrm>
              <a:off x="4282" y="2065"/>
              <a:ext cx="420" cy="242"/>
            </a:xfrm>
            <a:prstGeom prst="rect">
              <a:avLst/>
            </a:pr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74" name="Rectangle 30" descr="浅色上对角线">
              <a:extLst>
                <a:ext uri="{FF2B5EF4-FFF2-40B4-BE49-F238E27FC236}">
                  <a16:creationId xmlns:a16="http://schemas.microsoft.com/office/drawing/2014/main" id="{F9A79687-487C-4539-863A-251D3B030686}"/>
                </a:ext>
              </a:extLst>
            </p:cNvPr>
            <p:cNvSpPr>
              <a:spLocks noChangeArrowheads="1"/>
            </p:cNvSpPr>
            <p:nvPr/>
          </p:nvSpPr>
          <p:spPr bwMode="auto">
            <a:xfrm>
              <a:off x="4700" y="2929"/>
              <a:ext cx="419" cy="242"/>
            </a:xfrm>
            <a:prstGeom prst="rect">
              <a:avLst/>
            </a:pr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75" name="Line 31">
              <a:extLst>
                <a:ext uri="{FF2B5EF4-FFF2-40B4-BE49-F238E27FC236}">
                  <a16:creationId xmlns:a16="http://schemas.microsoft.com/office/drawing/2014/main" id="{FB480DBA-7118-47A7-9AC8-ADC83B8D15AD}"/>
                </a:ext>
              </a:extLst>
            </p:cNvPr>
            <p:cNvSpPr>
              <a:spLocks noChangeShapeType="1"/>
            </p:cNvSpPr>
            <p:nvPr/>
          </p:nvSpPr>
          <p:spPr bwMode="auto">
            <a:xfrm>
              <a:off x="4700" y="2064"/>
              <a:ext cx="0" cy="1107"/>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76" name="Text Box 32">
              <a:extLst>
                <a:ext uri="{FF2B5EF4-FFF2-40B4-BE49-F238E27FC236}">
                  <a16:creationId xmlns:a16="http://schemas.microsoft.com/office/drawing/2014/main" id="{40920817-E684-417A-B4C0-C929E05C18EE}"/>
                </a:ext>
              </a:extLst>
            </p:cNvPr>
            <p:cNvSpPr txBox="1">
              <a:spLocks noChangeArrowheads="1"/>
            </p:cNvSpPr>
            <p:nvPr/>
          </p:nvSpPr>
          <p:spPr bwMode="auto">
            <a:xfrm>
              <a:off x="4371" y="2054"/>
              <a:ext cx="2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6177" name="Text Box 33">
              <a:extLst>
                <a:ext uri="{FF2B5EF4-FFF2-40B4-BE49-F238E27FC236}">
                  <a16:creationId xmlns:a16="http://schemas.microsoft.com/office/drawing/2014/main" id="{52FD927B-79F5-4CB0-84FF-40B4F26C1C59}"/>
                </a:ext>
              </a:extLst>
            </p:cNvPr>
            <p:cNvSpPr txBox="1">
              <a:spLocks noChangeArrowheads="1"/>
            </p:cNvSpPr>
            <p:nvPr/>
          </p:nvSpPr>
          <p:spPr bwMode="auto">
            <a:xfrm>
              <a:off x="4741" y="2928"/>
              <a:ext cx="2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178" name="Text Box 34">
              <a:extLst>
                <a:ext uri="{FF2B5EF4-FFF2-40B4-BE49-F238E27FC236}">
                  <a16:creationId xmlns:a16="http://schemas.microsoft.com/office/drawing/2014/main" id="{598667BE-3E0C-47C6-A558-98BADA368AB2}"/>
                </a:ext>
              </a:extLst>
            </p:cNvPr>
            <p:cNvSpPr txBox="1">
              <a:spLocks noChangeArrowheads="1"/>
            </p:cNvSpPr>
            <p:nvPr/>
          </p:nvSpPr>
          <p:spPr bwMode="auto">
            <a:xfrm>
              <a:off x="4372" y="3343"/>
              <a:ext cx="83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负逻辑</a:t>
              </a:r>
            </a:p>
          </p:txBody>
        </p:sp>
      </p:grpSp>
      <p:grpSp>
        <p:nvGrpSpPr>
          <p:cNvPr id="3" name="组合 2">
            <a:extLst>
              <a:ext uri="{FF2B5EF4-FFF2-40B4-BE49-F238E27FC236}">
                <a16:creationId xmlns:a16="http://schemas.microsoft.com/office/drawing/2014/main" id="{91C7D872-E3C9-41A4-8448-3577E0979C7A}"/>
              </a:ext>
            </a:extLst>
          </p:cNvPr>
          <p:cNvGrpSpPr/>
          <p:nvPr/>
        </p:nvGrpSpPr>
        <p:grpSpPr>
          <a:xfrm>
            <a:off x="361507" y="2711302"/>
            <a:ext cx="3859655" cy="3232298"/>
            <a:chOff x="361507" y="2711302"/>
            <a:chExt cx="3859655" cy="3232298"/>
          </a:xfrm>
        </p:grpSpPr>
        <p:sp>
          <p:nvSpPr>
            <p:cNvPr id="2" name="矩形 1">
              <a:extLst>
                <a:ext uri="{FF2B5EF4-FFF2-40B4-BE49-F238E27FC236}">
                  <a16:creationId xmlns:a16="http://schemas.microsoft.com/office/drawing/2014/main" id="{7AA99CBB-91A1-4F26-BF92-594856E87EAC}"/>
                </a:ext>
              </a:extLst>
            </p:cNvPr>
            <p:cNvSpPr/>
            <p:nvPr/>
          </p:nvSpPr>
          <p:spPr bwMode="auto">
            <a:xfrm>
              <a:off x="361507" y="2711302"/>
              <a:ext cx="3859655" cy="3232298"/>
            </a:xfrm>
            <a:prstGeom prst="rect">
              <a:avLst/>
            </a:prstGeom>
            <a:solidFill>
              <a:srgbClr val="0000DC"/>
            </a:solidFill>
            <a:ln w="38100" cap="flat" cmpd="sng" algn="ctr">
              <a:solidFill>
                <a:srgbClr val="FF0000"/>
              </a:solidFill>
              <a:prstDash val="solid"/>
              <a:miter lim="800000"/>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Tahoma" panose="020B0604030504040204" pitchFamily="34" charset="0"/>
                <a:ea typeface="宋体" panose="02010600030101010101" pitchFamily="2" charset="-122"/>
                <a:cs typeface="+mn-cs"/>
              </a:endParaRPr>
            </a:p>
          </p:txBody>
        </p:sp>
        <p:grpSp>
          <p:nvGrpSpPr>
            <p:cNvPr id="8231" name="Group 39">
              <a:extLst>
                <a:ext uri="{FF2B5EF4-FFF2-40B4-BE49-F238E27FC236}">
                  <a16:creationId xmlns:a16="http://schemas.microsoft.com/office/drawing/2014/main" id="{D0B4310A-3B1E-436A-A4E8-5A018622A694}"/>
                </a:ext>
              </a:extLst>
            </p:cNvPr>
            <p:cNvGrpSpPr>
              <a:grpSpLocks/>
            </p:cNvGrpSpPr>
            <p:nvPr/>
          </p:nvGrpSpPr>
          <p:grpSpPr bwMode="auto">
            <a:xfrm>
              <a:off x="566738" y="2900363"/>
              <a:ext cx="3482975" cy="2882900"/>
              <a:chOff x="444" y="1598"/>
              <a:chExt cx="2194" cy="1816"/>
            </a:xfrm>
            <a:noFill/>
          </p:grpSpPr>
          <p:sp>
            <p:nvSpPr>
              <p:cNvPr id="6150" name="Rectangle 6">
                <a:extLst>
                  <a:ext uri="{FF2B5EF4-FFF2-40B4-BE49-F238E27FC236}">
                    <a16:creationId xmlns:a16="http://schemas.microsoft.com/office/drawing/2014/main" id="{CC895C21-3FF2-4936-BAC2-27AB743D1EEF}"/>
                  </a:ext>
                </a:extLst>
              </p:cNvPr>
              <p:cNvSpPr>
                <a:spLocks noChangeArrowheads="1"/>
              </p:cNvSpPr>
              <p:nvPr/>
            </p:nvSpPr>
            <p:spPr bwMode="auto">
              <a:xfrm>
                <a:off x="1559" y="2594"/>
                <a:ext cx="402" cy="337"/>
              </a:xfrm>
              <a:prstGeom prst="rect">
                <a:avLst/>
              </a:prstGeom>
              <a:grpFill/>
              <a:ln w="38100">
                <a:solidFill>
                  <a:schemeClr val="bg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51" name="Line 7">
                <a:extLst>
                  <a:ext uri="{FF2B5EF4-FFF2-40B4-BE49-F238E27FC236}">
                    <a16:creationId xmlns:a16="http://schemas.microsoft.com/office/drawing/2014/main" id="{09ECEAEB-B19C-444E-A821-F206CFC62EB7}"/>
                  </a:ext>
                </a:extLst>
              </p:cNvPr>
              <p:cNvSpPr>
                <a:spLocks noChangeShapeType="1"/>
              </p:cNvSpPr>
              <p:nvPr/>
            </p:nvSpPr>
            <p:spPr bwMode="auto">
              <a:xfrm>
                <a:off x="1672" y="3414"/>
                <a:ext cx="200" cy="0"/>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2" name="Line 8">
                <a:extLst>
                  <a:ext uri="{FF2B5EF4-FFF2-40B4-BE49-F238E27FC236}">
                    <a16:creationId xmlns:a16="http://schemas.microsoft.com/office/drawing/2014/main" id="{17342E04-C96E-45AB-838C-5A3D39049C5E}"/>
                  </a:ext>
                </a:extLst>
              </p:cNvPr>
              <p:cNvSpPr>
                <a:spLocks noChangeShapeType="1"/>
              </p:cNvSpPr>
              <p:nvPr/>
            </p:nvSpPr>
            <p:spPr bwMode="auto">
              <a:xfrm>
                <a:off x="1776" y="2832"/>
                <a:ext cx="0" cy="579"/>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3" name="Line 9">
                <a:extLst>
                  <a:ext uri="{FF2B5EF4-FFF2-40B4-BE49-F238E27FC236}">
                    <a16:creationId xmlns:a16="http://schemas.microsoft.com/office/drawing/2014/main" id="{6AB32DBF-BACA-4998-AEA0-D0F13A46469A}"/>
                  </a:ext>
                </a:extLst>
              </p:cNvPr>
              <p:cNvSpPr>
                <a:spLocks noChangeShapeType="1"/>
              </p:cNvSpPr>
              <p:nvPr/>
            </p:nvSpPr>
            <p:spPr bwMode="auto">
              <a:xfrm flipV="1">
                <a:off x="1761" y="2690"/>
                <a:ext cx="99" cy="145"/>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4" name="Line 10">
                <a:extLst>
                  <a:ext uri="{FF2B5EF4-FFF2-40B4-BE49-F238E27FC236}">
                    <a16:creationId xmlns:a16="http://schemas.microsoft.com/office/drawing/2014/main" id="{85885C12-08FC-48A3-81CF-E8CCC3DAD616}"/>
                  </a:ext>
                </a:extLst>
              </p:cNvPr>
              <p:cNvSpPr>
                <a:spLocks noChangeShapeType="1"/>
              </p:cNvSpPr>
              <p:nvPr/>
            </p:nvSpPr>
            <p:spPr bwMode="auto">
              <a:xfrm flipV="1">
                <a:off x="1761" y="2306"/>
                <a:ext cx="0" cy="337"/>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5" name="Line 11">
                <a:extLst>
                  <a:ext uri="{FF2B5EF4-FFF2-40B4-BE49-F238E27FC236}">
                    <a16:creationId xmlns:a16="http://schemas.microsoft.com/office/drawing/2014/main" id="{E29EEE8C-8D1E-4270-8E7C-2CDB2A2CCD32}"/>
                  </a:ext>
                </a:extLst>
              </p:cNvPr>
              <p:cNvSpPr>
                <a:spLocks noChangeShapeType="1"/>
              </p:cNvSpPr>
              <p:nvPr/>
            </p:nvSpPr>
            <p:spPr bwMode="auto">
              <a:xfrm>
                <a:off x="1761" y="2498"/>
                <a:ext cx="351" cy="0"/>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6" name="Rectangle 12">
                <a:extLst>
                  <a:ext uri="{FF2B5EF4-FFF2-40B4-BE49-F238E27FC236}">
                    <a16:creationId xmlns:a16="http://schemas.microsoft.com/office/drawing/2014/main" id="{BB5FA007-B17F-48BE-87C7-A508FC4C1F88}"/>
                  </a:ext>
                </a:extLst>
              </p:cNvPr>
              <p:cNvSpPr>
                <a:spLocks noChangeArrowheads="1"/>
              </p:cNvSpPr>
              <p:nvPr/>
            </p:nvSpPr>
            <p:spPr bwMode="auto">
              <a:xfrm>
                <a:off x="1730" y="2016"/>
                <a:ext cx="94" cy="290"/>
              </a:xfrm>
              <a:prstGeom prst="rect">
                <a:avLst/>
              </a:prstGeom>
              <a:grp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57" name="Line 13">
                <a:extLst>
                  <a:ext uri="{FF2B5EF4-FFF2-40B4-BE49-F238E27FC236}">
                    <a16:creationId xmlns:a16="http://schemas.microsoft.com/office/drawing/2014/main" id="{5BF8CCBF-2389-4818-85A2-6D1D9E3E8CF5}"/>
                  </a:ext>
                </a:extLst>
              </p:cNvPr>
              <p:cNvSpPr>
                <a:spLocks noChangeShapeType="1"/>
              </p:cNvSpPr>
              <p:nvPr/>
            </p:nvSpPr>
            <p:spPr bwMode="auto">
              <a:xfrm flipV="1">
                <a:off x="1776" y="1824"/>
                <a:ext cx="0" cy="192"/>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8" name="Line 14">
                <a:extLst>
                  <a:ext uri="{FF2B5EF4-FFF2-40B4-BE49-F238E27FC236}">
                    <a16:creationId xmlns:a16="http://schemas.microsoft.com/office/drawing/2014/main" id="{3B13A2B0-5B50-4E64-A13B-306F2F08DAC8}"/>
                  </a:ext>
                </a:extLst>
              </p:cNvPr>
              <p:cNvSpPr>
                <a:spLocks noChangeShapeType="1"/>
              </p:cNvSpPr>
              <p:nvPr/>
            </p:nvSpPr>
            <p:spPr bwMode="auto">
              <a:xfrm flipH="1">
                <a:off x="1007" y="2739"/>
                <a:ext cx="603" cy="0"/>
              </a:xfrm>
              <a:prstGeom prst="line">
                <a:avLst/>
              </a:prstGeom>
              <a:grp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9" name="Line 15">
                <a:extLst>
                  <a:ext uri="{FF2B5EF4-FFF2-40B4-BE49-F238E27FC236}">
                    <a16:creationId xmlns:a16="http://schemas.microsoft.com/office/drawing/2014/main" id="{910FE088-25DA-4875-A5AC-1D698FB1F10A}"/>
                  </a:ext>
                </a:extLst>
              </p:cNvPr>
              <p:cNvSpPr>
                <a:spLocks noChangeShapeType="1"/>
              </p:cNvSpPr>
              <p:nvPr/>
            </p:nvSpPr>
            <p:spPr bwMode="auto">
              <a:xfrm>
                <a:off x="1610" y="2739"/>
                <a:ext cx="151" cy="0"/>
              </a:xfrm>
              <a:prstGeom prst="line">
                <a:avLst/>
              </a:prstGeom>
              <a:grpFill/>
              <a:ln w="38100">
                <a:solidFill>
                  <a:schemeClr val="bg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60" name="Text Box 16">
                <a:extLst>
                  <a:ext uri="{FF2B5EF4-FFF2-40B4-BE49-F238E27FC236}">
                    <a16:creationId xmlns:a16="http://schemas.microsoft.com/office/drawing/2014/main" id="{3DE6E0C6-4938-4333-BE54-6E5F38631B02}"/>
                  </a:ext>
                </a:extLst>
              </p:cNvPr>
              <p:cNvSpPr txBox="1">
                <a:spLocks noChangeArrowheads="1"/>
              </p:cNvSpPr>
              <p:nvPr/>
            </p:nvSpPr>
            <p:spPr bwMode="auto">
              <a:xfrm>
                <a:off x="1536" y="2671"/>
                <a:ext cx="288" cy="32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S</a:t>
                </a:r>
              </a:p>
            </p:txBody>
          </p:sp>
          <p:sp>
            <p:nvSpPr>
              <p:cNvPr id="6161" name="Text Box 17">
                <a:extLst>
                  <a:ext uri="{FF2B5EF4-FFF2-40B4-BE49-F238E27FC236}">
                    <a16:creationId xmlns:a16="http://schemas.microsoft.com/office/drawing/2014/main" id="{D0FB5C2A-9058-418D-B4BD-6EC23F9926F1}"/>
                  </a:ext>
                </a:extLst>
              </p:cNvPr>
              <p:cNvSpPr txBox="1">
                <a:spLocks noChangeArrowheads="1"/>
              </p:cNvSpPr>
              <p:nvPr/>
            </p:nvSpPr>
            <p:spPr bwMode="auto">
              <a:xfrm>
                <a:off x="2275" y="2061"/>
                <a:ext cx="363" cy="113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输出信号</a:t>
                </a:r>
              </a:p>
            </p:txBody>
          </p:sp>
          <p:sp>
            <p:nvSpPr>
              <p:cNvPr id="6162" name="Text Box 18">
                <a:extLst>
                  <a:ext uri="{FF2B5EF4-FFF2-40B4-BE49-F238E27FC236}">
                    <a16:creationId xmlns:a16="http://schemas.microsoft.com/office/drawing/2014/main" id="{F473B85E-8165-4F0D-AF10-2810004F162B}"/>
                  </a:ext>
                </a:extLst>
              </p:cNvPr>
              <p:cNvSpPr txBox="1">
                <a:spLocks noChangeArrowheads="1"/>
              </p:cNvSpPr>
              <p:nvPr/>
            </p:nvSpPr>
            <p:spPr bwMode="auto">
              <a:xfrm>
                <a:off x="444" y="2237"/>
                <a:ext cx="386" cy="113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输入信号</a:t>
                </a:r>
              </a:p>
            </p:txBody>
          </p:sp>
          <p:sp>
            <p:nvSpPr>
              <p:cNvPr id="6163" name="Text Box 19">
                <a:extLst>
                  <a:ext uri="{FF2B5EF4-FFF2-40B4-BE49-F238E27FC236}">
                    <a16:creationId xmlns:a16="http://schemas.microsoft.com/office/drawing/2014/main" id="{9E0BED6B-6CEF-43A5-8B17-00A4BD9655F4}"/>
                  </a:ext>
                </a:extLst>
              </p:cNvPr>
              <p:cNvSpPr txBox="1">
                <a:spLocks noChangeArrowheads="1"/>
              </p:cNvSpPr>
              <p:nvPr/>
            </p:nvSpPr>
            <p:spPr bwMode="auto">
              <a:xfrm>
                <a:off x="1804" y="1971"/>
                <a:ext cx="292" cy="32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R</a:t>
                </a:r>
              </a:p>
            </p:txBody>
          </p:sp>
          <p:sp>
            <p:nvSpPr>
              <p:cNvPr id="6164" name="Text Box 36">
                <a:extLst>
                  <a:ext uri="{FF2B5EF4-FFF2-40B4-BE49-F238E27FC236}">
                    <a16:creationId xmlns:a16="http://schemas.microsoft.com/office/drawing/2014/main" id="{54560E24-19F5-44FC-B34B-8CEF09F0C27E}"/>
                  </a:ext>
                </a:extLst>
              </p:cNvPr>
              <p:cNvSpPr txBox="1">
                <a:spLocks noChangeArrowheads="1"/>
              </p:cNvSpPr>
              <p:nvPr/>
            </p:nvSpPr>
            <p:spPr bwMode="auto">
              <a:xfrm>
                <a:off x="761" y="2554"/>
                <a:ext cx="457" cy="32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v</a:t>
                </a:r>
                <a:r>
                  <a:rPr kumimoji="1" lang="en-US" altLang="zh-CN" sz="2800" b="1" i="1" u="none" strike="noStrike" kern="1200" cap="none" spc="0" normalizeH="0" baseline="-25000" noProof="0" dirty="0">
                    <a:ln>
                      <a:noFill/>
                    </a:ln>
                    <a:solidFill>
                      <a:srgbClr val="FFFFFF"/>
                    </a:solidFill>
                    <a:effectLst/>
                    <a:uLnTx/>
                    <a:uFillTx/>
                    <a:latin typeface="Times New Roman" panose="02020603050405020304" pitchFamily="18" charset="0"/>
                    <a:ea typeface="宋体" panose="02010600030101010101" pitchFamily="2" charset="-122"/>
                    <a:cs typeface="+mn-cs"/>
                  </a:rPr>
                  <a:t>i</a:t>
                </a:r>
              </a:p>
            </p:txBody>
          </p:sp>
          <p:sp>
            <p:nvSpPr>
              <p:cNvPr id="6165" name="Text Box 37">
                <a:extLst>
                  <a:ext uri="{FF2B5EF4-FFF2-40B4-BE49-F238E27FC236}">
                    <a16:creationId xmlns:a16="http://schemas.microsoft.com/office/drawing/2014/main" id="{BB6ACC8E-C388-4840-9C7E-7ED18B7ABCE9}"/>
                  </a:ext>
                </a:extLst>
              </p:cNvPr>
              <p:cNvSpPr txBox="1">
                <a:spLocks noChangeArrowheads="1"/>
              </p:cNvSpPr>
              <p:nvPr/>
            </p:nvSpPr>
            <p:spPr bwMode="auto">
              <a:xfrm>
                <a:off x="2054" y="2337"/>
                <a:ext cx="457" cy="32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v</a:t>
                </a:r>
                <a:r>
                  <a:rPr kumimoji="1" lang="en-US" altLang="zh-CN" sz="2800" b="1" i="0" u="none" strike="noStrike" kern="1200" cap="none" spc="0" normalizeH="0" baseline="-25000" noProof="0" dirty="0">
                    <a:ln>
                      <a:noFill/>
                    </a:ln>
                    <a:solidFill>
                      <a:srgbClr val="FFFFFF"/>
                    </a:solidFill>
                    <a:effectLst/>
                    <a:uLnTx/>
                    <a:uFillTx/>
                    <a:latin typeface="Times New Roman" panose="02020603050405020304" pitchFamily="18" charset="0"/>
                    <a:ea typeface="宋体" panose="02010600030101010101" pitchFamily="2" charset="-122"/>
                    <a:cs typeface="+mn-cs"/>
                  </a:rPr>
                  <a:t>0</a:t>
                </a:r>
              </a:p>
            </p:txBody>
          </p:sp>
          <p:sp>
            <p:nvSpPr>
              <p:cNvPr id="6166" name="Text Box 38">
                <a:extLst>
                  <a:ext uri="{FF2B5EF4-FFF2-40B4-BE49-F238E27FC236}">
                    <a16:creationId xmlns:a16="http://schemas.microsoft.com/office/drawing/2014/main" id="{7899EA64-5E36-4A9B-B389-8CE50F6F2A7D}"/>
                  </a:ext>
                </a:extLst>
              </p:cNvPr>
              <p:cNvSpPr txBox="1">
                <a:spLocks noChangeArrowheads="1"/>
              </p:cNvSpPr>
              <p:nvPr/>
            </p:nvSpPr>
            <p:spPr bwMode="auto">
              <a:xfrm>
                <a:off x="1717" y="1598"/>
                <a:ext cx="457" cy="32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err="1">
                    <a:ln>
                      <a:noFill/>
                    </a:ln>
                    <a:solidFill>
                      <a:srgbClr val="FFFFFF"/>
                    </a:solidFill>
                    <a:effectLst/>
                    <a:uLnTx/>
                    <a:uFillTx/>
                    <a:latin typeface="Times New Roman" panose="02020603050405020304" pitchFamily="18" charset="0"/>
                    <a:ea typeface="宋体" panose="02010600030101010101" pitchFamily="2" charset="-122"/>
                    <a:cs typeface="+mn-cs"/>
                  </a:rPr>
                  <a:t>v</a:t>
                </a:r>
                <a:r>
                  <a:rPr kumimoji="1" lang="en-US" altLang="zh-CN" sz="2800" b="1" i="0" u="none" strike="noStrike" kern="1200" cap="none" spc="0" normalizeH="0" baseline="-25000" noProof="0" dirty="0" err="1">
                    <a:ln>
                      <a:noFill/>
                    </a:ln>
                    <a:solidFill>
                      <a:srgbClr val="FFFFFF"/>
                    </a:solidFill>
                    <a:effectLst/>
                    <a:uLnTx/>
                    <a:uFillTx/>
                    <a:latin typeface="Times New Roman" panose="02020603050405020304" pitchFamily="18" charset="0"/>
                    <a:ea typeface="宋体" panose="02010600030101010101" pitchFamily="2" charset="-122"/>
                    <a:cs typeface="+mn-cs"/>
                  </a:rPr>
                  <a:t>cc</a:t>
                </a:r>
                <a:endParaRPr kumimoji="1" lang="en-US" altLang="zh-CN" sz="2800" b="1" i="0" u="none" strike="noStrike" kern="1200" cap="none" spc="0" normalizeH="0" baseline="-2500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spTree>
    <p:extLst>
      <p:ext uri="{BB962C8B-B14F-4D97-AF65-F5344CB8AC3E}">
        <p14:creationId xmlns:p14="http://schemas.microsoft.com/office/powerpoint/2010/main" val="256008607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0-#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196"/>
                                        </p:tgtEl>
                                        <p:attrNameLst>
                                          <p:attrName>style.visibility</p:attrName>
                                        </p:attrNameLst>
                                      </p:cBhvr>
                                      <p:to>
                                        <p:strVal val="visible"/>
                                      </p:to>
                                    </p:set>
                                    <p:animEffect transition="in" filter="wipe(left)">
                                      <p:cBhvr>
                                        <p:cTn id="13" dur="500"/>
                                        <p:tgtEl>
                                          <p:spTgt spid="819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8232"/>
                                        </p:tgtEl>
                                        <p:attrNameLst>
                                          <p:attrName>style.visibility</p:attrName>
                                        </p:attrNameLst>
                                      </p:cBhvr>
                                      <p:to>
                                        <p:strVal val="visible"/>
                                      </p:to>
                                    </p:set>
                                    <p:animEffect transition="in" filter="wipe(up)">
                                      <p:cBhvr>
                                        <p:cTn id="24" dur="500"/>
                                        <p:tgtEl>
                                          <p:spTgt spid="8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BDE730-2728-41F8-B666-13BD90830A9B}"/>
              </a:ext>
            </a:extLst>
          </p:cNvPr>
          <p:cNvSpPr>
            <a:spLocks noGrp="1"/>
          </p:cNvSpPr>
          <p:nvPr>
            <p:ph type="title"/>
          </p:nvPr>
        </p:nvSpPr>
        <p:spPr/>
        <p:txBody>
          <a:bodyPr/>
          <a:lstStyle/>
          <a:p>
            <a:r>
              <a:rPr lang="en-US" altLang="zh-CN" dirty="0"/>
              <a:t>3 </a:t>
            </a:r>
            <a:r>
              <a:rPr lang="zh-CN" altLang="en-US" dirty="0"/>
              <a:t>课程内容</a:t>
            </a:r>
          </a:p>
        </p:txBody>
      </p:sp>
      <p:sp>
        <p:nvSpPr>
          <p:cNvPr id="3" name="内容占位符 2">
            <a:extLst>
              <a:ext uri="{FF2B5EF4-FFF2-40B4-BE49-F238E27FC236}">
                <a16:creationId xmlns:a16="http://schemas.microsoft.com/office/drawing/2014/main" id="{904A54BB-2DCD-459C-AC56-370D5E895773}"/>
              </a:ext>
            </a:extLst>
          </p:cNvPr>
          <p:cNvSpPr>
            <a:spLocks noGrp="1"/>
          </p:cNvSpPr>
          <p:nvPr>
            <p:ph idx="1"/>
          </p:nvPr>
        </p:nvSpPr>
        <p:spPr>
          <a:xfrm>
            <a:off x="685800" y="1096380"/>
            <a:ext cx="7772400" cy="5040923"/>
          </a:xfrm>
        </p:spPr>
        <p:txBody>
          <a:bodyPr/>
          <a:lstStyle/>
          <a:p>
            <a:r>
              <a:rPr lang="en-US" altLang="zh-CN" dirty="0"/>
              <a:t>1 </a:t>
            </a:r>
            <a:r>
              <a:rPr lang="zh-CN" altLang="en-US" dirty="0"/>
              <a:t>数字基础：数制和码制</a:t>
            </a:r>
            <a:endParaRPr lang="en-US" altLang="zh-CN" dirty="0"/>
          </a:p>
          <a:p>
            <a:r>
              <a:rPr lang="en-US" altLang="zh-CN" dirty="0"/>
              <a:t>2 </a:t>
            </a:r>
            <a:r>
              <a:rPr lang="zh-CN" altLang="en-US" dirty="0"/>
              <a:t>逻辑代数</a:t>
            </a:r>
            <a:endParaRPr lang="en-US" altLang="zh-CN" dirty="0"/>
          </a:p>
          <a:p>
            <a:r>
              <a:rPr lang="en-US" altLang="zh-CN" dirty="0"/>
              <a:t>3 </a:t>
            </a:r>
            <a:r>
              <a:rPr lang="zh-CN" altLang="en-US" dirty="0"/>
              <a:t>逻辑函数化简</a:t>
            </a:r>
            <a:endParaRPr lang="en-US" altLang="zh-CN" dirty="0"/>
          </a:p>
          <a:p>
            <a:r>
              <a:rPr lang="en-US" altLang="zh-CN" dirty="0"/>
              <a:t>4 </a:t>
            </a:r>
            <a:r>
              <a:rPr lang="zh-CN" altLang="en-US" dirty="0"/>
              <a:t>逻辑门电路</a:t>
            </a:r>
            <a:endParaRPr lang="en-US" altLang="zh-CN" dirty="0"/>
          </a:p>
          <a:p>
            <a:r>
              <a:rPr lang="en-US" altLang="zh-CN" dirty="0"/>
              <a:t>5 </a:t>
            </a:r>
            <a:r>
              <a:rPr lang="zh-CN" altLang="en-US" dirty="0"/>
              <a:t>组合逻辑电路和时序逻辑电路</a:t>
            </a:r>
            <a:endParaRPr lang="en-US" altLang="zh-CN" dirty="0"/>
          </a:p>
          <a:p>
            <a:r>
              <a:rPr lang="en-US" altLang="zh-CN" dirty="0"/>
              <a:t>6 </a:t>
            </a:r>
            <a:r>
              <a:rPr lang="zh-CN" altLang="en-US" dirty="0"/>
              <a:t>典型集成电路</a:t>
            </a:r>
            <a:endParaRPr lang="en-US" altLang="zh-CN" dirty="0"/>
          </a:p>
        </p:txBody>
      </p:sp>
      <p:sp>
        <p:nvSpPr>
          <p:cNvPr id="4" name="灯片编号占位符 3">
            <a:extLst>
              <a:ext uri="{FF2B5EF4-FFF2-40B4-BE49-F238E27FC236}">
                <a16:creationId xmlns:a16="http://schemas.microsoft.com/office/drawing/2014/main" id="{7AA5AA16-486F-482D-BD82-F2771132CFC4}"/>
              </a:ext>
            </a:extLst>
          </p:cNvPr>
          <p:cNvSpPr>
            <a:spLocks noGrp="1"/>
          </p:cNvSpPr>
          <p:nvPr>
            <p:ph type="sldNum" sz="quarter" idx="12"/>
          </p:nvPr>
        </p:nvSpPr>
        <p:spPr/>
        <p:txBody>
          <a:bodyPr/>
          <a:lstStyle/>
          <a:p>
            <a:pPr>
              <a:defRPr/>
            </a:pPr>
            <a:fld id="{46929CCE-959B-41CA-84A4-0AA87FC21048}" type="slidenum">
              <a:rPr lang="en-US" altLang="zh-CN" smtClean="0"/>
              <a:pPr>
                <a:defRPr/>
              </a:pPr>
              <a:t>10</a:t>
            </a:fld>
            <a:endParaRPr lang="en-US" altLang="zh-CN"/>
          </a:p>
        </p:txBody>
      </p:sp>
    </p:spTree>
    <p:extLst>
      <p:ext uri="{BB962C8B-B14F-4D97-AF65-F5344CB8AC3E}">
        <p14:creationId xmlns:p14="http://schemas.microsoft.com/office/powerpoint/2010/main" val="3051581462"/>
      </p:ext>
    </p:extLst>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EB6DE9-19B8-4586-A7D1-85AC8D084758}"/>
              </a:ext>
            </a:extLst>
          </p:cNvPr>
          <p:cNvSpPr>
            <a:spLocks noGrp="1" noChangeArrowheads="1"/>
          </p:cNvSpPr>
          <p:nvPr>
            <p:ph type="title"/>
          </p:nvPr>
        </p:nvSpPr>
        <p:spPr>
          <a:xfrm>
            <a:off x="1261268" y="249818"/>
            <a:ext cx="7231063" cy="601663"/>
          </a:xfrm>
        </p:spPr>
        <p:txBody>
          <a:bodyPr/>
          <a:lstStyle/>
          <a:p>
            <a:pPr eaLnBrk="1" hangingPunct="1"/>
            <a:r>
              <a:rPr lang="zh-CN" altLang="en-US" sz="3200" b="1" dirty="0">
                <a:solidFill>
                  <a:schemeClr val="tx1"/>
                </a:solidFill>
              </a:rPr>
              <a:t>学习目标</a:t>
            </a:r>
          </a:p>
        </p:txBody>
      </p:sp>
      <p:sp>
        <p:nvSpPr>
          <p:cNvPr id="23556" name="Text Box 4">
            <a:extLst>
              <a:ext uri="{FF2B5EF4-FFF2-40B4-BE49-F238E27FC236}">
                <a16:creationId xmlns:a16="http://schemas.microsoft.com/office/drawing/2014/main" id="{71FA6AEE-1610-49F4-A447-327A59E7C3FF}"/>
              </a:ext>
            </a:extLst>
          </p:cNvPr>
          <p:cNvSpPr txBox="1">
            <a:spLocks noChangeArrowheads="1"/>
          </p:cNvSpPr>
          <p:nvPr/>
        </p:nvSpPr>
        <p:spPr bwMode="auto">
          <a:xfrm>
            <a:off x="914400" y="1006555"/>
            <a:ext cx="7751135" cy="17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eaLnBrk="1" hangingPunct="1">
              <a:lnSpc>
                <a:spcPct val="130000"/>
              </a:lnSpc>
              <a:defRPr/>
            </a:pPr>
            <a:r>
              <a:rPr lang="zh-CN" altLang="en-US" dirty="0">
                <a:solidFill>
                  <a:schemeClr val="tx1"/>
                </a:solidFill>
                <a:latin typeface="Times New Roman" panose="02020603050405020304" pitchFamily="18" charset="0"/>
              </a:rPr>
              <a:t>数字电路所研究的是电路的输入</a:t>
            </a:r>
            <a:r>
              <a:rPr lang="en-US" altLang="zh-CN" dirty="0">
                <a:solidFill>
                  <a:schemeClr val="tx1"/>
                </a:solidFill>
                <a:latin typeface="Times New Roman" panose="02020603050405020304" pitchFamily="18" charset="0"/>
              </a:rPr>
              <a:t>¸</a:t>
            </a:r>
            <a:r>
              <a:rPr lang="zh-CN" altLang="en-US" dirty="0">
                <a:solidFill>
                  <a:schemeClr val="tx1"/>
                </a:solidFill>
                <a:latin typeface="Times New Roman" panose="02020603050405020304" pitchFamily="18" charset="0"/>
              </a:rPr>
              <a:t>输出之间的逻辑关系；</a:t>
            </a:r>
            <a:r>
              <a:rPr kumimoji="0" lang="zh-CN" altLang="en-US" dirty="0">
                <a:solidFill>
                  <a:schemeClr val="tx1"/>
                </a:solidFill>
              </a:rPr>
              <a:t>通过学习在计算机系统中用到的典型逻辑电路的设计分析，达到：</a:t>
            </a:r>
          </a:p>
        </p:txBody>
      </p:sp>
      <p:sp>
        <p:nvSpPr>
          <p:cNvPr id="23557" name="Text Box 5">
            <a:extLst>
              <a:ext uri="{FF2B5EF4-FFF2-40B4-BE49-F238E27FC236}">
                <a16:creationId xmlns:a16="http://schemas.microsoft.com/office/drawing/2014/main" id="{5D5947EA-F53F-4A63-B964-E452013AA164}"/>
              </a:ext>
            </a:extLst>
          </p:cNvPr>
          <p:cNvSpPr txBox="1">
            <a:spLocks noChangeArrowheads="1"/>
          </p:cNvSpPr>
          <p:nvPr/>
        </p:nvSpPr>
        <p:spPr bwMode="auto">
          <a:xfrm>
            <a:off x="914400" y="2836318"/>
            <a:ext cx="792480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eaLnBrk="1" hangingPunct="1">
              <a:spcBef>
                <a:spcPct val="20000"/>
              </a:spcBef>
              <a:buClr>
                <a:schemeClr val="hlink"/>
              </a:buClr>
              <a:buSzPct val="70000"/>
              <a:buFont typeface="Wingdings" panose="05000000000000000000" pitchFamily="2" charset="2"/>
              <a:buNone/>
            </a:pPr>
            <a:r>
              <a:rPr kumimoji="0" lang="en-US" altLang="zh-CN" dirty="0">
                <a:solidFill>
                  <a:schemeClr val="tx1"/>
                </a:solidFill>
              </a:rPr>
              <a:t>1</a:t>
            </a:r>
            <a:r>
              <a:rPr kumimoji="0" lang="zh-CN" altLang="en-US" dirty="0">
                <a:solidFill>
                  <a:schemeClr val="tx1"/>
                </a:solidFill>
              </a:rPr>
              <a:t>、掌握在逻辑设计中设计和分析的基本方法。</a:t>
            </a:r>
            <a:endParaRPr lang="zh-CN" altLang="en-US" dirty="0">
              <a:solidFill>
                <a:schemeClr val="tx1"/>
              </a:solidFill>
            </a:endParaRPr>
          </a:p>
        </p:txBody>
      </p:sp>
      <p:sp>
        <p:nvSpPr>
          <p:cNvPr id="23558" name="Text Box 6">
            <a:extLst>
              <a:ext uri="{FF2B5EF4-FFF2-40B4-BE49-F238E27FC236}">
                <a16:creationId xmlns:a16="http://schemas.microsoft.com/office/drawing/2014/main" id="{48614842-493B-4A0C-9FFA-804E5D2503EA}"/>
              </a:ext>
            </a:extLst>
          </p:cNvPr>
          <p:cNvSpPr txBox="1">
            <a:spLocks noChangeArrowheads="1"/>
          </p:cNvSpPr>
          <p:nvPr/>
        </p:nvSpPr>
        <p:spPr bwMode="auto">
          <a:xfrm>
            <a:off x="914400" y="3481420"/>
            <a:ext cx="754380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eaLnBrk="1" hangingPunct="1">
              <a:spcBef>
                <a:spcPct val="50000"/>
              </a:spcBef>
            </a:pPr>
            <a:r>
              <a:rPr kumimoji="0" lang="en-US" altLang="zh-CN" dirty="0">
                <a:solidFill>
                  <a:schemeClr val="tx1"/>
                </a:solidFill>
              </a:rPr>
              <a:t>2</a:t>
            </a:r>
            <a:r>
              <a:rPr kumimoji="0" lang="zh-CN" altLang="en-US" dirty="0">
                <a:solidFill>
                  <a:schemeClr val="tx1"/>
                </a:solidFill>
              </a:rPr>
              <a:t>、掌握在逻辑设计中应当注意的问题</a:t>
            </a:r>
          </a:p>
        </p:txBody>
      </p:sp>
      <p:sp>
        <p:nvSpPr>
          <p:cNvPr id="23559" name="Text Box 7">
            <a:extLst>
              <a:ext uri="{FF2B5EF4-FFF2-40B4-BE49-F238E27FC236}">
                <a16:creationId xmlns:a16="http://schemas.microsoft.com/office/drawing/2014/main" id="{45BC7F2D-C757-4DE2-B213-0D2D08C80628}"/>
              </a:ext>
            </a:extLst>
          </p:cNvPr>
          <p:cNvSpPr txBox="1">
            <a:spLocks noChangeArrowheads="1"/>
          </p:cNvSpPr>
          <p:nvPr/>
        </p:nvSpPr>
        <p:spPr bwMode="auto">
          <a:xfrm>
            <a:off x="914400" y="4140828"/>
            <a:ext cx="8001000" cy="95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eaLnBrk="1" hangingPunct="1">
              <a:spcBef>
                <a:spcPct val="20000"/>
              </a:spcBef>
              <a:buClr>
                <a:schemeClr val="hlink"/>
              </a:buClr>
              <a:buSzPct val="70000"/>
              <a:buFont typeface="Wingdings" panose="05000000000000000000" pitchFamily="2" charset="2"/>
              <a:buNone/>
            </a:pPr>
            <a:r>
              <a:rPr kumimoji="0" lang="en-US" altLang="zh-CN" dirty="0">
                <a:solidFill>
                  <a:schemeClr val="tx1"/>
                </a:solidFill>
              </a:rPr>
              <a:t>3</a:t>
            </a:r>
            <a:r>
              <a:rPr kumimoji="0" lang="zh-CN" altLang="en-US" dirty="0">
                <a:solidFill>
                  <a:schemeClr val="tx1"/>
                </a:solidFill>
              </a:rPr>
              <a:t>、掌握典型集成器件的原理，常用</a:t>
            </a:r>
            <a:r>
              <a:rPr kumimoji="0" lang="en-US" altLang="zh-CN" dirty="0">
                <a:solidFill>
                  <a:schemeClr val="tx1"/>
                </a:solidFill>
              </a:rPr>
              <a:t>IC</a:t>
            </a:r>
            <a:r>
              <a:rPr kumimoji="0" lang="zh-CN" altLang="en-US" dirty="0">
                <a:solidFill>
                  <a:schemeClr val="tx1"/>
                </a:solidFill>
              </a:rPr>
              <a:t>器件的性能及设计方法。</a:t>
            </a:r>
            <a:endParaRPr lang="zh-CN" altLang="en-US" dirty="0">
              <a:solidFill>
                <a:schemeClr val="tx1"/>
              </a:solidFill>
            </a:endParaRPr>
          </a:p>
        </p:txBody>
      </p:sp>
      <p:sp>
        <p:nvSpPr>
          <p:cNvPr id="2" name="灯片编号占位符 1">
            <a:extLst>
              <a:ext uri="{FF2B5EF4-FFF2-40B4-BE49-F238E27FC236}">
                <a16:creationId xmlns:a16="http://schemas.microsoft.com/office/drawing/2014/main" id="{51D6DC29-9D0C-4D63-89F2-1037D2936BA6}"/>
              </a:ext>
            </a:extLst>
          </p:cNvPr>
          <p:cNvSpPr>
            <a:spLocks noGrp="1"/>
          </p:cNvSpPr>
          <p:nvPr>
            <p:ph type="sldNum" sz="quarter" idx="12"/>
          </p:nvPr>
        </p:nvSpPr>
        <p:spPr/>
        <p:txBody>
          <a:bodyPr/>
          <a:lstStyle/>
          <a:p>
            <a:pPr>
              <a:defRPr/>
            </a:pPr>
            <a:fld id="{46929CCE-959B-41CA-84A4-0AA87FC21048}" type="slidenum">
              <a:rPr lang="en-US" altLang="zh-CN" smtClean="0"/>
              <a:pPr>
                <a:defRPr/>
              </a:pPr>
              <a:t>11</a:t>
            </a:fld>
            <a:endParaRPr lang="en-US" altLang="zh-CN"/>
          </a:p>
        </p:txBody>
      </p:sp>
      <p:sp>
        <p:nvSpPr>
          <p:cNvPr id="8" name="Text Box 7">
            <a:extLst>
              <a:ext uri="{FF2B5EF4-FFF2-40B4-BE49-F238E27FC236}">
                <a16:creationId xmlns:a16="http://schemas.microsoft.com/office/drawing/2014/main" id="{BCA3353A-531E-457B-A1A9-20E4663E43B2}"/>
              </a:ext>
            </a:extLst>
          </p:cNvPr>
          <p:cNvSpPr txBox="1">
            <a:spLocks noChangeArrowheads="1"/>
          </p:cNvSpPr>
          <p:nvPr/>
        </p:nvSpPr>
        <p:spPr bwMode="auto">
          <a:xfrm>
            <a:off x="914400" y="5097116"/>
            <a:ext cx="800100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eaLnBrk="1" hangingPunct="1">
              <a:spcBef>
                <a:spcPct val="20000"/>
              </a:spcBef>
              <a:buClr>
                <a:schemeClr val="hlink"/>
              </a:buClr>
              <a:buSzPct val="70000"/>
              <a:buFont typeface="Wingdings" panose="05000000000000000000" pitchFamily="2" charset="2"/>
              <a:buNone/>
            </a:pPr>
            <a:r>
              <a:rPr kumimoji="0" lang="en-US" altLang="zh-CN" dirty="0">
                <a:solidFill>
                  <a:schemeClr val="tx1"/>
                </a:solidFill>
              </a:rPr>
              <a:t>4</a:t>
            </a:r>
            <a:r>
              <a:rPr kumimoji="0" lang="zh-CN" altLang="en-US" dirty="0">
                <a:solidFill>
                  <a:schemeClr val="tx1"/>
                </a:solidFill>
              </a:rPr>
              <a:t>、达到自主开发设计的能力。</a:t>
            </a:r>
            <a:endParaRPr lang="zh-CN" altLang="en-US" dirty="0">
              <a:solidFill>
                <a:schemeClr val="tx1"/>
              </a:solidFill>
            </a:endParaRPr>
          </a:p>
        </p:txBody>
      </p:sp>
    </p:spTree>
    <p:extLst>
      <p:ext uri="{BB962C8B-B14F-4D97-AF65-F5344CB8AC3E}">
        <p14:creationId xmlns:p14="http://schemas.microsoft.com/office/powerpoint/2010/main" val="4117125149"/>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23556"/>
                                        </p:tgtEl>
                                        <p:attrNameLst>
                                          <p:attrName>style.visibility</p:attrName>
                                        </p:attrNameLst>
                                      </p:cBhvr>
                                      <p:to>
                                        <p:strVal val="visible"/>
                                      </p:to>
                                    </p:set>
                                    <p:animEffect transition="in" filter="wipe(left)">
                                      <p:cBhvr>
                                        <p:cTn id="7" dur="500"/>
                                        <p:tgtEl>
                                          <p:spTgt spid="23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7"/>
                                        </p:tgtEl>
                                        <p:attrNameLst>
                                          <p:attrName>style.visibility</p:attrName>
                                        </p:attrNameLst>
                                      </p:cBhvr>
                                      <p:to>
                                        <p:strVal val="visible"/>
                                      </p:to>
                                    </p:set>
                                    <p:animEffect transition="in" filter="wipe(left)">
                                      <p:cBhvr>
                                        <p:cTn id="12" dur="500"/>
                                        <p:tgtEl>
                                          <p:spTgt spid="235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58"/>
                                        </p:tgtEl>
                                        <p:attrNameLst>
                                          <p:attrName>style.visibility</p:attrName>
                                        </p:attrNameLst>
                                      </p:cBhvr>
                                      <p:to>
                                        <p:strVal val="visible"/>
                                      </p:to>
                                    </p:set>
                                    <p:animEffect transition="in" filter="wipe(left)">
                                      <p:cBhvr>
                                        <p:cTn id="17" dur="500"/>
                                        <p:tgtEl>
                                          <p:spTgt spid="235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559"/>
                                        </p:tgtEl>
                                        <p:attrNameLst>
                                          <p:attrName>style.visibility</p:attrName>
                                        </p:attrNameLst>
                                      </p:cBhvr>
                                      <p:to>
                                        <p:strVal val="visible"/>
                                      </p:to>
                                    </p:set>
                                    <p:animEffect transition="in" filter="wipe(left)">
                                      <p:cBhvr>
                                        <p:cTn id="22" dur="500"/>
                                        <p:tgtEl>
                                          <p:spTgt spid="235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utoUpdateAnimBg="0"/>
      <p:bldP spid="23557" grpId="0" autoUpdateAnimBg="0"/>
      <p:bldP spid="23558" grpId="0" autoUpdateAnimBg="0"/>
      <p:bldP spid="23559" grpId="0" autoUpdateAnimBg="0"/>
      <p:bldP spid="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86145F8-3DAB-4F3D-9163-99447AF00C67}"/>
              </a:ext>
            </a:extLst>
          </p:cNvPr>
          <p:cNvSpPr>
            <a:spLocks noGrp="1"/>
          </p:cNvSpPr>
          <p:nvPr>
            <p:ph type="ctrTitle"/>
          </p:nvPr>
        </p:nvSpPr>
        <p:spPr>
          <a:xfrm>
            <a:off x="1717432" y="2396074"/>
            <a:ext cx="5310690" cy="695360"/>
          </a:xfrm>
        </p:spPr>
        <p:txBody>
          <a:bodyPr/>
          <a:lstStyle/>
          <a:p>
            <a:r>
              <a:rPr lang="zh-CN" altLang="en-US" dirty="0"/>
              <a:t>新的学期、新的开始！</a:t>
            </a:r>
          </a:p>
        </p:txBody>
      </p:sp>
      <p:sp>
        <p:nvSpPr>
          <p:cNvPr id="6" name="副标题 5">
            <a:extLst>
              <a:ext uri="{FF2B5EF4-FFF2-40B4-BE49-F238E27FC236}">
                <a16:creationId xmlns:a16="http://schemas.microsoft.com/office/drawing/2014/main" id="{6F4123E5-5A61-41D6-A7D4-D72EBE65285A}"/>
              </a:ext>
            </a:extLst>
          </p:cNvPr>
          <p:cNvSpPr>
            <a:spLocks noGrp="1"/>
          </p:cNvSpPr>
          <p:nvPr>
            <p:ph type="subTitle" idx="1"/>
          </p:nvPr>
        </p:nvSpPr>
        <p:spPr/>
        <p:txBody>
          <a:bodyPr/>
          <a:lstStyle/>
          <a:p>
            <a:r>
              <a:rPr lang="zh-CN" altLang="en-US" dirty="0"/>
              <a:t>祝同学们掌握真本领！</a:t>
            </a:r>
            <a:endParaRPr lang="en-US" altLang="zh-CN" dirty="0"/>
          </a:p>
          <a:p>
            <a:r>
              <a:rPr lang="zh-CN" altLang="en-US" dirty="0"/>
              <a:t>取得好成绩！</a:t>
            </a:r>
          </a:p>
        </p:txBody>
      </p:sp>
      <p:sp>
        <p:nvSpPr>
          <p:cNvPr id="4" name="灯片编号占位符 3">
            <a:extLst>
              <a:ext uri="{FF2B5EF4-FFF2-40B4-BE49-F238E27FC236}">
                <a16:creationId xmlns:a16="http://schemas.microsoft.com/office/drawing/2014/main" id="{68E988A7-DDC3-4540-B889-2C5233850291}"/>
              </a:ext>
            </a:extLst>
          </p:cNvPr>
          <p:cNvSpPr>
            <a:spLocks noGrp="1"/>
          </p:cNvSpPr>
          <p:nvPr>
            <p:ph type="sldNum" sz="quarter" idx="12"/>
          </p:nvPr>
        </p:nvSpPr>
        <p:spPr/>
        <p:txBody>
          <a:bodyPr/>
          <a:lstStyle/>
          <a:p>
            <a:pPr>
              <a:defRPr/>
            </a:pPr>
            <a:fld id="{46929CCE-959B-41CA-84A4-0AA87FC21048}" type="slidenum">
              <a:rPr lang="en-US" altLang="zh-CN" smtClean="0"/>
              <a:pPr>
                <a:defRPr/>
              </a:pPr>
              <a:t>12</a:t>
            </a:fld>
            <a:endParaRPr lang="en-US" altLang="zh-CN"/>
          </a:p>
        </p:txBody>
      </p:sp>
    </p:spTree>
    <p:extLst>
      <p:ext uri="{BB962C8B-B14F-4D97-AF65-F5344CB8AC3E}">
        <p14:creationId xmlns:p14="http://schemas.microsoft.com/office/powerpoint/2010/main" val="3116416161"/>
      </p:ext>
    </p:extLst>
  </p:cSld>
  <p:clrMapOvr>
    <a:masterClrMapping/>
  </p:clrMapOvr>
  <p:transition>
    <p:blinds dir="vert"/>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381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381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课件北航模板.potx" id="{DB9D3533-D32A-4433-81B7-FD3E560E1759}" vid="{5C00A375-FC25-4EE9-8215-5B7BDCAB1E7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2205</TotalTime>
  <Words>636</Words>
  <Application>Microsoft Office PowerPoint</Application>
  <PresentationFormat>全屏显示(4:3)</PresentationFormat>
  <Paragraphs>151</Paragraphs>
  <Slides>12</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等线</vt:lpstr>
      <vt:lpstr>黑体</vt:lpstr>
      <vt:lpstr>宋体</vt:lpstr>
      <vt:lpstr>Arial</vt:lpstr>
      <vt:lpstr>Calibri</vt:lpstr>
      <vt:lpstr>Tahoma</vt:lpstr>
      <vt:lpstr>Times New Roman</vt:lpstr>
      <vt:lpstr>Wingdings</vt:lpstr>
      <vt:lpstr>Blends</vt:lpstr>
      <vt:lpstr>数字电子技术基础</vt:lpstr>
      <vt:lpstr>教材：  《数字电子技术基础》               胡晓光主编      国防出版</vt:lpstr>
      <vt:lpstr>课程情况</vt:lpstr>
      <vt:lpstr>数字电路概述</vt:lpstr>
      <vt:lpstr>1、课程结构</vt:lpstr>
      <vt:lpstr>2 基本概念—数字电路</vt:lpstr>
      <vt:lpstr>2 基本概念—数字信号</vt:lpstr>
      <vt:lpstr>2 基本概念—数字的电路实现</vt:lpstr>
      <vt:lpstr> 2 基本概念—数字电量表示</vt:lpstr>
      <vt:lpstr>3 课程内容</vt:lpstr>
      <vt:lpstr>学习目标</vt:lpstr>
      <vt:lpstr>新的学期、新的开始！</vt:lpstr>
    </vt:vector>
  </TitlesOfParts>
  <Company>pc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前言</dc:title>
  <dc:creator>thtf</dc:creator>
  <cp:lastModifiedBy>Dong Xu</cp:lastModifiedBy>
  <cp:revision>99</cp:revision>
  <dcterms:created xsi:type="dcterms:W3CDTF">2004-02-20T03:37:05Z</dcterms:created>
  <dcterms:modified xsi:type="dcterms:W3CDTF">2018-09-14T02:01:54Z</dcterms:modified>
</cp:coreProperties>
</file>