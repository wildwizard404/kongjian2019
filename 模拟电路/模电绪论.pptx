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1126" r:id="rId3"/>
    <p:sldId id="1128" r:id="rId4"/>
    <p:sldId id="1129" r:id="rId6"/>
    <p:sldId id="1130" r:id="rId7"/>
    <p:sldId id="1133" r:id="rId8"/>
  </p:sldIdLst>
  <p:sldSz cx="12192000" cy="6858000"/>
  <p:notesSz cx="6760845" cy="994219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314" autoAdjust="0"/>
  </p:normalViewPr>
  <p:slideViewPr>
    <p:cSldViewPr snapToGrid="0">
      <p:cViewPr varScale="1">
        <p:scale>
          <a:sx n="74" d="100"/>
          <a:sy n="74" d="100"/>
        </p:scale>
        <p:origin x="552" y="6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fld id="{8901ACA6-161F-453A-B99B-BF748B6C31B5}" type="datetimeFigureOut">
              <a:rPr lang="en-US" altLang="zh-CN"/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EBC39A65-1D42-4793-9CDD-372F7B6FC31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BA73EC7-6D48-4124-B147-2385118F4CCF}" type="slidenum"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</a:fld>
            <a:endParaRPr lang="en-US" altLang="zh-CN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en-US" altLang="en-US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E9679B2-9E48-44B2-A7A7-1CCA4F513013}" type="slidenum"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</a:fld>
            <a:endParaRPr lang="en-US" altLang="zh-CN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96D054C9-5487-4EEF-8083-FC0483EAB90E}" type="slidenum"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</a:fld>
            <a:endParaRPr lang="en-US" altLang="zh-CN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39A65-1D42-4793-9CDD-372F7B6FC3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34975D-AB7D-4791-990A-DB0EDFA1E173}" type="datetimeFigureOut">
              <a:rPr lang="en-US" altLang="zh-CN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62AD82-0F68-4D84-A4B8-DEA347363AD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96838"/>
            <a:ext cx="29622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7"/>
          <p:cNvCxnSpPr/>
          <p:nvPr/>
        </p:nvCxnSpPr>
        <p:spPr>
          <a:xfrm>
            <a:off x="0" y="901700"/>
            <a:ext cx="41148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96838"/>
            <a:ext cx="29622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9"/>
          <p:cNvCxnSpPr/>
          <p:nvPr userDrawn="1"/>
        </p:nvCxnSpPr>
        <p:spPr>
          <a:xfrm>
            <a:off x="0" y="901700"/>
            <a:ext cx="41148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EFD3A49-EC58-4E91-AA2C-BE60D0EE9A3C}" type="datetimeFigureOut">
              <a:rPr lang="en-US" altLang="zh-CN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DBAF4F-3A57-487D-9109-CBB4462B3D2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EF2CE8-A916-410B-B5B0-9D9260CC5489}" type="datetimeFigureOut">
              <a:rPr lang="en-US" altLang="zh-CN"/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F1FA93-8F57-4425-B214-575DA5F3B5D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BC7A7F-81CE-421D-A56C-218A29BD4513}" type="datetimeFigureOut">
              <a:rPr lang="en-US" altLang="zh-CN"/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4D486B-C496-490D-BC05-E7B15A6EF87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963" y="182563"/>
            <a:ext cx="242887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963" y="182563"/>
            <a:ext cx="242887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694058-BDC6-4B4C-BD25-0AC6E6ABC316}" type="datetimeFigureOut">
              <a:rPr lang="en-US" altLang="zh-CN"/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7D40FA-71D0-4838-B11F-C6497B66FA8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5107DAC-656E-43FE-8636-6EE98563658B}" type="datetimeFigureOut">
              <a:rPr lang="en-US" altLang="zh-CN"/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0A7F58-A96B-4833-B632-4B0195B985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1B9061-0105-4815-8BFC-16E87891FCEE}" type="datetimeFigureOut">
              <a:rPr lang="en-US" altLang="zh-CN"/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475E6B-C124-4836-B452-C874F9B68C2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37719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7"/>
          <p:cNvCxnSpPr/>
          <p:nvPr/>
        </p:nvCxnSpPr>
        <p:spPr>
          <a:xfrm>
            <a:off x="0" y="700088"/>
            <a:ext cx="38989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37719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9"/>
          <p:cNvCxnSpPr/>
          <p:nvPr userDrawn="1"/>
        </p:nvCxnSpPr>
        <p:spPr>
          <a:xfrm>
            <a:off x="0" y="700088"/>
            <a:ext cx="38989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6487"/>
            <a:ext cx="10515600" cy="8143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787525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0FE6D3-5216-4EE3-81F3-67E000E546A9}" type="datetimeFigureOut">
              <a:rPr lang="en-US" altLang="zh-CN"/>
            </a:fld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E8CED5-B51D-4498-9334-C277122C39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E91804-410B-4974-8143-BCDB596401D9}" type="datetimeFigureOut">
              <a:rPr lang="en-US" altLang="zh-CN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F433BF-ED6F-4AF4-AF7A-9BCDB218068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74F91F9-194C-47DA-B67C-189A18EA707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75314B4-4728-4AD8-BE5B-9038CEFD8B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96838"/>
            <a:ext cx="29622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7"/>
          <p:cNvCxnSpPr/>
          <p:nvPr userDrawn="1"/>
        </p:nvCxnSpPr>
        <p:spPr>
          <a:xfrm>
            <a:off x="0" y="901700"/>
            <a:ext cx="41148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245E63E-0D7F-4F13-B288-51B12505D47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>
  <p:cSld name="标题，媒体剪辑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媒体占位符 2"/>
          <p:cNvSpPr>
            <a:spLocks noGrp="1"/>
          </p:cNvSpPr>
          <p:nvPr>
            <p:ph type="media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9D7EFB-0B88-4C04-AD80-7BE81B1816C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/>
              <a:t>2004.4.14</a:t>
            </a: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1E7A1B-5931-4169-89FE-BCFBD50EDC27}" type="slidenum">
              <a:rPr lang="zh-CN" altLang="zh-CN"/>
            </a:fld>
            <a:endParaRPr lang="zh-CN" altLang="zh-CN"/>
          </a:p>
        </p:txBody>
      </p:sp>
    </p:spTree>
  </p:cSld>
  <p:clrMapOvr>
    <a:masterClrMapping/>
  </p:clrMapOvr>
  <p:transition spd="slow">
    <p:zo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" y="0"/>
            <a:ext cx="2801938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7"/>
          <p:cNvCxnSpPr/>
          <p:nvPr/>
        </p:nvCxnSpPr>
        <p:spPr>
          <a:xfrm>
            <a:off x="0" y="741363"/>
            <a:ext cx="3565525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" y="0"/>
            <a:ext cx="2801938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9"/>
          <p:cNvCxnSpPr/>
          <p:nvPr userDrawn="1"/>
        </p:nvCxnSpPr>
        <p:spPr>
          <a:xfrm>
            <a:off x="0" y="741363"/>
            <a:ext cx="3565525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 smtClean="0"/>
              <a:t>Click to edit Master title style</a:t>
            </a:r>
            <a:endParaRPr lang="en-US" alt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smtClean="0"/>
              <a:t>Click to edit Master text styles</a:t>
            </a:r>
            <a:endParaRPr lang="en-US" altLang="en-US" smtClean="0"/>
          </a:p>
          <a:p>
            <a:pPr lvl="1"/>
            <a:r>
              <a:rPr lang="en-US" altLang="en-US" smtClean="0"/>
              <a:t>Second level</a:t>
            </a:r>
            <a:endParaRPr lang="en-US" altLang="en-US" smtClean="0"/>
          </a:p>
          <a:p>
            <a:pPr lvl="2"/>
            <a:r>
              <a:rPr lang="en-US" altLang="en-US" smtClean="0"/>
              <a:t>Third level</a:t>
            </a:r>
            <a:endParaRPr lang="en-US" altLang="en-US" smtClean="0"/>
          </a:p>
          <a:p>
            <a:pPr lvl="3"/>
            <a:r>
              <a:rPr lang="en-US" altLang="en-US" smtClean="0"/>
              <a:t>Fourth level</a:t>
            </a:r>
            <a:endParaRPr lang="en-US" altLang="en-US" smtClean="0"/>
          </a:p>
          <a:p>
            <a:pPr lvl="4"/>
            <a:r>
              <a:rPr lang="en-US" altLang="en-US" smtClean="0"/>
              <a:t>Fifth level</a:t>
            </a:r>
            <a:endParaRPr lang="en-US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24807311-A9D7-4BE4-88EC-C6AC55CF7811}" type="datetimeFigureOut">
              <a:rPr lang="en-US" altLang="zh-CN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D6C79F43-B131-496A-9DE3-3B7DAA8EF10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3434080" y="387350"/>
            <a:ext cx="5027930" cy="878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87500" lnSpcReduction="10000"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zh-CN" altLang="en-US" sz="6000" b="1" dirty="0" smtClean="0">
                <a:ea typeface="华文楷体" pitchFamily="2" charset="-122"/>
              </a:rPr>
              <a:t>模拟电路  </a:t>
            </a:r>
            <a:r>
              <a:rPr lang="en-US" altLang="zh-CN" sz="6000" b="1" dirty="0" smtClean="0">
                <a:ea typeface="华文楷体" pitchFamily="2" charset="-122"/>
              </a:rPr>
              <a:t>B</a:t>
            </a:r>
            <a:endParaRPr lang="zh-CN" altLang="en-US" sz="6000" b="1" dirty="0">
              <a:ea typeface="华文楷体" pitchFamily="2" charset="-122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737221" y="2033588"/>
            <a:ext cx="6691312" cy="467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FFFF00"/>
              </a:buClr>
              <a:buSzPct val="60000"/>
              <a:buFontTx/>
              <a:buNone/>
            </a:pPr>
            <a:r>
              <a:rPr lang="zh-CN" altLang="en-US" sz="3600" dirty="0">
                <a:latin typeface="Times New Roman" panose="02020603050405020304" pitchFamily="18" charset="0"/>
              </a:rPr>
              <a:t>            电工电子中心</a:t>
            </a:r>
            <a:endParaRPr lang="zh-CN" altLang="en-US" sz="36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600" dirty="0">
                <a:latin typeface="Times New Roman" panose="02020603050405020304" pitchFamily="18" charset="0"/>
              </a:rPr>
              <a:t>            </a:t>
            </a:r>
            <a:endParaRPr lang="zh-CN" altLang="en-US" sz="36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600" dirty="0">
                <a:latin typeface="Times New Roman" panose="02020603050405020304" pitchFamily="18" charset="0"/>
              </a:rPr>
              <a:t>                吴星明 </a:t>
            </a:r>
            <a:endParaRPr lang="zh-CN" altLang="en-US" sz="36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FFFF00"/>
              </a:buClr>
              <a:buSzPct val="60000"/>
              <a:buFontTx/>
              <a:buNone/>
            </a:pPr>
            <a:r>
              <a:rPr lang="zh-CN" altLang="en-US" sz="3600" dirty="0">
                <a:latin typeface="Times New Roman" panose="02020603050405020304" pitchFamily="18" charset="0"/>
              </a:rPr>
              <a:t>  办公室</a:t>
            </a:r>
            <a:r>
              <a:rPr lang="zh-CN" altLang="en-US" sz="3600" dirty="0" smtClean="0">
                <a:latin typeface="Times New Roman" panose="02020603050405020304" pitchFamily="18" charset="0"/>
              </a:rPr>
              <a:t>：    </a:t>
            </a:r>
            <a:r>
              <a:rPr lang="zh-CN" altLang="en-US" sz="3600" dirty="0">
                <a:latin typeface="Times New Roman" panose="02020603050405020304" pitchFamily="18" charset="0"/>
              </a:rPr>
              <a:t>主</a:t>
            </a:r>
            <a:r>
              <a:rPr lang="en-US" altLang="zh-CN" sz="3600" dirty="0">
                <a:latin typeface="Times New Roman" panose="02020603050405020304" pitchFamily="18" charset="0"/>
              </a:rPr>
              <a:t>128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FFFF00"/>
              </a:buClr>
              <a:buSzPct val="60000"/>
              <a:buFontTx/>
              <a:buNone/>
            </a:pPr>
            <a:r>
              <a:rPr lang="zh-CN" altLang="en-US" sz="3600" dirty="0">
                <a:latin typeface="Times New Roman" panose="02020603050405020304" pitchFamily="18" charset="0"/>
              </a:rPr>
              <a:t>  电话：        </a:t>
            </a:r>
            <a:r>
              <a:rPr lang="en-US" altLang="zh-CN" sz="3600" dirty="0">
                <a:latin typeface="Times New Roman" panose="02020603050405020304" pitchFamily="18" charset="0"/>
              </a:rPr>
              <a:t>13693253191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FFFF00"/>
              </a:buClr>
              <a:buSzPct val="60000"/>
              <a:buFontTx/>
              <a:buNone/>
            </a:pPr>
            <a:r>
              <a:rPr lang="en-US" altLang="zh-CN" sz="3600" dirty="0">
                <a:latin typeface="Times New Roman" panose="02020603050405020304" pitchFamily="18" charset="0"/>
              </a:rPr>
              <a:t>  </a:t>
            </a:r>
            <a:r>
              <a:rPr lang="zh-CN" altLang="en-US" sz="3600" dirty="0">
                <a:latin typeface="Times New Roman" panose="02020603050405020304" pitchFamily="18" charset="0"/>
              </a:rPr>
              <a:t>邮箱：</a:t>
            </a:r>
            <a:r>
              <a:rPr lang="en-US" altLang="zh-CN" sz="3600" dirty="0">
                <a:latin typeface="Times New Roman" panose="02020603050405020304" pitchFamily="18" charset="0"/>
              </a:rPr>
              <a:t>wxmbuaa@163.com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4"/>
          <p:cNvSpPr txBox="1">
            <a:spLocks noChangeArrowheads="1"/>
          </p:cNvSpPr>
          <p:nvPr/>
        </p:nvSpPr>
        <p:spPr bwMode="auto">
          <a:xfrm>
            <a:off x="721360" y="1000760"/>
            <a:ext cx="11349990" cy="442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rgbClr val="FFFF00"/>
              </a:buClr>
              <a:buSzPct val="60000"/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作业：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rgbClr val="FFFF00"/>
              </a:buClr>
              <a:buSzPct val="60000"/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每人都得按时交，</a:t>
            </a:r>
            <a:r>
              <a:rPr lang="zh-CN" altLang="en-US" sz="3200" b="1" dirty="0">
                <a:latin typeface="Times New Roman" panose="02020603050405020304" pitchFamily="18" charset="0"/>
                <a:sym typeface="+mn-ea"/>
              </a:rPr>
              <a:t>每</a:t>
            </a:r>
            <a:r>
              <a:rPr lang="en-US" altLang="zh-CN" sz="3200" b="1" dirty="0">
                <a:latin typeface="Times New Roman" panose="02020603050405020304" pitchFamily="18" charset="0"/>
              </a:rPr>
              <a:t>2</a:t>
            </a:r>
            <a:r>
              <a:rPr lang="zh-CN" altLang="en-US" sz="3200" b="1" dirty="0">
                <a:latin typeface="Times New Roman" panose="02020603050405020304" pitchFamily="18" charset="0"/>
              </a:rPr>
              <a:t>周</a:t>
            </a:r>
            <a:r>
              <a:rPr lang="zh-CN" altLang="en-US" sz="3200" b="1" dirty="0">
                <a:latin typeface="Times New Roman" panose="02020603050405020304" pitchFamily="18" charset="0"/>
                <a:sym typeface="+mn-ea"/>
              </a:rPr>
              <a:t>收一次</a:t>
            </a:r>
            <a:endParaRPr lang="zh-CN" altLang="en-US" sz="32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rgbClr val="FFFF00"/>
              </a:buClr>
              <a:buSzPct val="60000"/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成绩构成</a:t>
            </a:r>
            <a:r>
              <a:rPr lang="zh-CN" altLang="en-US" sz="3200" b="1" dirty="0" smtClean="0">
                <a:latin typeface="Times New Roman" panose="02020603050405020304" pitchFamily="18" charset="0"/>
              </a:rPr>
              <a:t>：期末</a:t>
            </a:r>
            <a:r>
              <a:rPr lang="zh-CN" altLang="en-US" sz="3200" b="1" dirty="0">
                <a:latin typeface="Times New Roman" panose="02020603050405020304" pitchFamily="18" charset="0"/>
              </a:rPr>
              <a:t>考试</a:t>
            </a:r>
            <a:r>
              <a:rPr lang="zh-CN" altLang="en-US" sz="3200" b="1" dirty="0" smtClean="0">
                <a:latin typeface="Times New Roman" panose="02020603050405020304" pitchFamily="18" charset="0"/>
              </a:rPr>
              <a:t>占</a:t>
            </a:r>
            <a:r>
              <a:rPr lang="en-US" altLang="zh-CN" sz="3200" b="1" dirty="0" smtClean="0">
                <a:latin typeface="Times New Roman" panose="02020603050405020304" pitchFamily="18" charset="0"/>
              </a:rPr>
              <a:t>90</a:t>
            </a:r>
            <a:r>
              <a:rPr lang="en-US" altLang="zh-CN" sz="3200" b="1" dirty="0">
                <a:latin typeface="Times New Roman" panose="02020603050405020304" pitchFamily="18" charset="0"/>
              </a:rPr>
              <a:t>%</a:t>
            </a:r>
            <a:r>
              <a:rPr lang="zh-CN" altLang="en-US" sz="3200" b="1" dirty="0">
                <a:latin typeface="Times New Roman" panose="02020603050405020304" pitchFamily="18" charset="0"/>
              </a:rPr>
              <a:t>，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rgbClr val="FFFF00"/>
              </a:buClr>
              <a:buSzPct val="60000"/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                    </a:t>
            </a:r>
            <a:r>
              <a:rPr lang="zh-CN" altLang="en-US" sz="3200" b="1" dirty="0">
                <a:latin typeface="Times New Roman" panose="02020603050405020304" pitchFamily="18" charset="0"/>
              </a:rPr>
              <a:t>平时成绩占</a:t>
            </a:r>
            <a:r>
              <a:rPr lang="en-US" altLang="zh-CN" sz="3200" b="1" dirty="0">
                <a:latin typeface="Times New Roman" panose="02020603050405020304" pitchFamily="18" charset="0"/>
              </a:rPr>
              <a:t>10%</a:t>
            </a:r>
            <a:r>
              <a:rPr lang="zh-CN" altLang="en-US" sz="3200" b="1" dirty="0">
                <a:latin typeface="Times New Roman" panose="02020603050405020304" pitchFamily="18" charset="0"/>
              </a:rPr>
              <a:t>（作业和考勤，课外活动等）</a:t>
            </a:r>
            <a:endParaRPr lang="zh-CN" altLang="en-US" sz="32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rgbClr val="FFFF00"/>
              </a:buClr>
              <a:buSzPct val="60000"/>
              <a:buFontTx/>
              <a:buNone/>
            </a:pPr>
            <a:r>
              <a:rPr lang="zh-CN" altLang="en-US" sz="3200" b="1" dirty="0" smtClean="0">
                <a:latin typeface="Times New Roman" panose="02020603050405020304" pitchFamily="18" charset="0"/>
              </a:rPr>
              <a:t>课件</a:t>
            </a:r>
            <a:r>
              <a:rPr lang="zh-CN" altLang="en-US" sz="3200" b="1" dirty="0">
                <a:latin typeface="Times New Roman" panose="02020603050405020304" pitchFamily="18" charset="0"/>
              </a:rPr>
              <a:t>：邮箱 </a:t>
            </a:r>
            <a:r>
              <a:rPr lang="en-US" altLang="zh-CN" sz="3200" b="1" dirty="0">
                <a:latin typeface="Times New Roman" panose="02020603050405020304" pitchFamily="18" charset="0"/>
              </a:rPr>
              <a:t>diangong20170921</a:t>
            </a:r>
            <a:r>
              <a:rPr lang="en-US" altLang="zh-CN" sz="3200" b="1" dirty="0">
                <a:latin typeface="Times New Roman" panose="02020603050405020304" pitchFamily="18" charset="0"/>
              </a:rPr>
              <a:t>@163.com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rgbClr val="FFFF00"/>
              </a:buClr>
              <a:buSzPct val="60000"/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            密码 </a:t>
            </a:r>
            <a:r>
              <a:rPr lang="en-US" altLang="zh-CN" sz="3200" b="1" dirty="0">
                <a:latin typeface="Times New Roman" panose="02020603050405020304" pitchFamily="18" charset="0"/>
              </a:rPr>
              <a:t>20170921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4"/>
          <p:cNvSpPr txBox="1">
            <a:spLocks noChangeArrowheads="1"/>
          </p:cNvSpPr>
          <p:nvPr/>
        </p:nvSpPr>
        <p:spPr bwMode="auto">
          <a:xfrm>
            <a:off x="510772" y="971886"/>
            <a:ext cx="10718800" cy="3193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参考教材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1. </a:t>
            </a:r>
            <a:r>
              <a:rPr lang="zh-CN" altLang="en-US" b="1" dirty="0">
                <a:latin typeface="Times New Roman" panose="02020603050405020304" pitchFamily="18" charset="0"/>
              </a:rPr>
              <a:t>杨素行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  <a:r>
              <a:rPr lang="zh-CN" altLang="en-US" b="1" dirty="0">
                <a:latin typeface="Times New Roman" panose="02020603050405020304" pitchFamily="18" charset="0"/>
              </a:rPr>
              <a:t>模拟电子技术基础简明教程（第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版）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  <a:r>
              <a:rPr lang="zh-CN" altLang="en-US" b="1" dirty="0">
                <a:latin typeface="Times New Roman" panose="02020603050405020304" pitchFamily="18" charset="0"/>
              </a:rPr>
              <a:t>北京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</a:rPr>
              <a:t>高等教育</a:t>
            </a:r>
            <a:r>
              <a:rPr lang="zh-CN" altLang="en-US" b="1" dirty="0" smtClean="0">
                <a:latin typeface="Times New Roman" panose="02020603050405020304" pitchFamily="18" charset="0"/>
              </a:rPr>
              <a:t>出版社</a:t>
            </a:r>
            <a:r>
              <a:rPr lang="en-US" altLang="zh-CN" b="1" dirty="0">
                <a:latin typeface="Times New Roman" panose="02020603050405020304" pitchFamily="18" charset="0"/>
              </a:rPr>
              <a:t>, 2006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2. </a:t>
            </a:r>
            <a:r>
              <a:rPr lang="zh-CN" altLang="en-US" b="1" dirty="0">
                <a:latin typeface="Times New Roman" panose="02020603050405020304" pitchFamily="18" charset="0"/>
              </a:rPr>
              <a:t>童诗白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</a:rPr>
              <a:t>模拟电子技术基础（第</a:t>
            </a:r>
            <a:r>
              <a:rPr lang="en-US" altLang="zh-CN" b="1" dirty="0"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</a:rPr>
              <a:t>版）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  <a:r>
              <a:rPr lang="zh-CN" altLang="en-US" b="1" dirty="0">
                <a:latin typeface="Times New Roman" panose="02020603050405020304" pitchFamily="18" charset="0"/>
              </a:rPr>
              <a:t>北京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</a:rPr>
              <a:t>高等教育出版社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dirty="0" smtClean="0">
                <a:latin typeface="Times New Roman" panose="02020603050405020304" pitchFamily="18" charset="0"/>
              </a:rPr>
              <a:t>2006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00025" y="776006"/>
            <a:ext cx="3157538" cy="647700"/>
          </a:xfrm>
        </p:spPr>
        <p:txBody>
          <a:bodyPr/>
          <a:lstStyle/>
          <a:p>
            <a:pPr eaLnBrk="1" hangingPunct="1"/>
            <a:r>
              <a:rPr lang="zh-CN" altLang="en-US" sz="3200" b="1" dirty="0" smtClean="0"/>
              <a:t>课程内容体系</a:t>
            </a:r>
            <a:endParaRPr lang="zh-CN" altLang="en-US" sz="3200" b="1" dirty="0" smtClean="0"/>
          </a:p>
        </p:txBody>
      </p:sp>
      <p:sp>
        <p:nvSpPr>
          <p:cNvPr id="21507" name="Text Box 16"/>
          <p:cNvSpPr txBox="1">
            <a:spLocks noChangeArrowheads="1"/>
          </p:cNvSpPr>
          <p:nvPr/>
        </p:nvSpPr>
        <p:spPr bwMode="auto">
          <a:xfrm>
            <a:off x="2704315" y="3039113"/>
            <a:ext cx="3101975" cy="523220"/>
          </a:xfrm>
          <a:prstGeom prst="rect">
            <a:avLst/>
          </a:prstGeom>
          <a:noFill/>
          <a:ln w="25400">
            <a:solidFill>
              <a:srgbClr val="3366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模拟信号运算电路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21508" name="Text Box 7"/>
          <p:cNvSpPr txBox="1">
            <a:spLocks noChangeArrowheads="1"/>
          </p:cNvSpPr>
          <p:nvPr/>
        </p:nvSpPr>
        <p:spPr bwMode="auto">
          <a:xfrm>
            <a:off x="2464579" y="5818884"/>
            <a:ext cx="6949858" cy="523220"/>
          </a:xfrm>
          <a:prstGeom prst="rect">
            <a:avLst/>
          </a:prstGeom>
          <a:solidFill>
            <a:schemeClr val="bg1"/>
          </a:solidFill>
          <a:ln w="25400">
            <a:solidFill>
              <a:srgbClr val="3366CC"/>
            </a:solidFill>
            <a:miter lim="800000"/>
          </a:ln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二极管、稳压管</a:t>
            </a:r>
            <a:r>
              <a:rPr lang="zh-CN" altLang="en-US" b="1" dirty="0" smtClean="0">
                <a:latin typeface="Times New Roman" panose="02020603050405020304" pitchFamily="18" charset="0"/>
              </a:rPr>
              <a:t>、三极管</a:t>
            </a:r>
            <a:r>
              <a:rPr lang="zh-CN" altLang="en-US" b="1" dirty="0">
                <a:latin typeface="Times New Roman" panose="02020603050405020304" pitchFamily="18" charset="0"/>
              </a:rPr>
              <a:t>、运算放大器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1509" name="组合 15"/>
          <p:cNvGrpSpPr/>
          <p:nvPr/>
        </p:nvGrpSpPr>
        <p:grpSpPr bwMode="auto">
          <a:xfrm>
            <a:off x="1042464" y="3769696"/>
            <a:ext cx="9608345" cy="1852379"/>
            <a:chOff x="736782" y="2791879"/>
            <a:chExt cx="6213169" cy="1978889"/>
          </a:xfrm>
        </p:grpSpPr>
        <p:sp>
          <p:nvSpPr>
            <p:cNvPr id="21514" name="Text Box 7"/>
            <p:cNvSpPr txBox="1">
              <a:spLocks noChangeArrowheads="1"/>
            </p:cNvSpPr>
            <p:nvPr/>
          </p:nvSpPr>
          <p:spPr bwMode="auto">
            <a:xfrm>
              <a:off x="736782" y="2791879"/>
              <a:ext cx="6213169" cy="197888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3366CC"/>
              </a:solidFill>
              <a:miter lim="800000"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rgbClr val="FF0000"/>
                  </a:solidFill>
                  <a:latin typeface="Times New Roman" panose="02020603050405020304" pitchFamily="18" charset="0"/>
                </a:rPr>
                <a:t>               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515" name="Text Box 12"/>
            <p:cNvSpPr txBox="1">
              <a:spLocks noChangeArrowheads="1"/>
            </p:cNvSpPr>
            <p:nvPr/>
          </p:nvSpPr>
          <p:spPr bwMode="auto">
            <a:xfrm>
              <a:off x="836797" y="3334314"/>
              <a:ext cx="1841768" cy="1011341"/>
            </a:xfrm>
            <a:prstGeom prst="rect">
              <a:avLst/>
            </a:prstGeom>
            <a:noFill/>
            <a:ln w="25400">
              <a:solidFill>
                <a:srgbClr val="3366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latin typeface="Times New Roman" panose="02020603050405020304" pitchFamily="18" charset="0"/>
                </a:rPr>
                <a:t>放大电路的原理与分析方法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16" name="Text Box 13"/>
            <p:cNvSpPr txBox="1">
              <a:spLocks noChangeArrowheads="1"/>
            </p:cNvSpPr>
            <p:nvPr/>
          </p:nvSpPr>
          <p:spPr bwMode="auto">
            <a:xfrm>
              <a:off x="2870120" y="3501992"/>
              <a:ext cx="1894314" cy="554606"/>
            </a:xfrm>
            <a:prstGeom prst="rect">
              <a:avLst/>
            </a:prstGeom>
            <a:noFill/>
            <a:ln w="25400">
              <a:solidFill>
                <a:srgbClr val="3366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latin typeface="Times New Roman" panose="02020603050405020304" pitchFamily="18" charset="0"/>
                </a:rPr>
                <a:t>放大电路的反馈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1517" name="Text Box 13"/>
            <p:cNvSpPr txBox="1">
              <a:spLocks noChangeArrowheads="1"/>
            </p:cNvSpPr>
            <p:nvPr/>
          </p:nvSpPr>
          <p:spPr bwMode="auto">
            <a:xfrm>
              <a:off x="4957053" y="3334314"/>
              <a:ext cx="1443705" cy="1011341"/>
            </a:xfrm>
            <a:prstGeom prst="rect">
              <a:avLst/>
            </a:prstGeom>
            <a:noFill/>
            <a:ln w="25400">
              <a:solidFill>
                <a:srgbClr val="3366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latin typeface="Times New Roman" panose="02020603050405020304" pitchFamily="18" charset="0"/>
                </a:rPr>
                <a:t>放大电路的频率特性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1510" name="Text Box 16"/>
          <p:cNvSpPr txBox="1">
            <a:spLocks noChangeArrowheads="1"/>
          </p:cNvSpPr>
          <p:nvPr/>
        </p:nvSpPr>
        <p:spPr bwMode="auto">
          <a:xfrm>
            <a:off x="2719656" y="2401691"/>
            <a:ext cx="3086633" cy="523220"/>
          </a:xfrm>
          <a:prstGeom prst="rect">
            <a:avLst/>
          </a:prstGeom>
          <a:noFill/>
          <a:ln w="25400">
            <a:solidFill>
              <a:srgbClr val="3366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信号处理电路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21511" name="Text Box 16"/>
          <p:cNvSpPr txBox="1">
            <a:spLocks noChangeArrowheads="1"/>
          </p:cNvSpPr>
          <p:nvPr/>
        </p:nvSpPr>
        <p:spPr bwMode="auto">
          <a:xfrm>
            <a:off x="2719656" y="1718997"/>
            <a:ext cx="3086633" cy="523220"/>
          </a:xfrm>
          <a:prstGeom prst="rect">
            <a:avLst/>
          </a:prstGeom>
          <a:noFill/>
          <a:ln w="25400">
            <a:solidFill>
              <a:srgbClr val="3366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波形发生电路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21512" name="Text Box 16"/>
          <p:cNvSpPr txBox="1">
            <a:spLocks noChangeArrowheads="1"/>
          </p:cNvSpPr>
          <p:nvPr/>
        </p:nvSpPr>
        <p:spPr bwMode="auto">
          <a:xfrm>
            <a:off x="6494732" y="2370084"/>
            <a:ext cx="2056841" cy="461665"/>
          </a:xfrm>
          <a:prstGeom prst="rect">
            <a:avLst/>
          </a:prstGeom>
          <a:noFill/>
          <a:ln w="25400">
            <a:solidFill>
              <a:srgbClr val="3366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功率放大电路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1513" name="Text Box 16"/>
          <p:cNvSpPr txBox="1">
            <a:spLocks noChangeArrowheads="1"/>
          </p:cNvSpPr>
          <p:nvPr/>
        </p:nvSpPr>
        <p:spPr bwMode="auto">
          <a:xfrm>
            <a:off x="6494731" y="3039113"/>
            <a:ext cx="2056841" cy="461665"/>
          </a:xfrm>
          <a:prstGeom prst="rect">
            <a:avLst/>
          </a:prstGeom>
          <a:noFill/>
          <a:ln w="25400">
            <a:solidFill>
              <a:srgbClr val="3366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直流电源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25830" y="1256665"/>
            <a:ext cx="4529455" cy="609600"/>
          </a:xfrm>
        </p:spPr>
        <p:txBody>
          <a:bodyPr/>
          <a:lstStyle/>
          <a:p>
            <a:pPr eaLnBrk="1" hangingPunct="1"/>
            <a:r>
              <a:rPr lang="zh-CN" altLang="en-US" sz="3200" b="1" dirty="0"/>
              <a:t>模拟电子电路课的特点 </a:t>
            </a:r>
            <a:endParaRPr lang="zh-CN" altLang="en-US" sz="3200" b="1" dirty="0"/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925830" y="4237355"/>
            <a:ext cx="10893425" cy="207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b="1" dirty="0" smtClean="0">
                <a:latin typeface="Times New Roman" panose="02020603050405020304" pitchFamily="18" charset="0"/>
              </a:rPr>
              <a:t>2.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实践性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46355" lvl="1" indent="0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85000"/>
              <a:buNone/>
            </a:pPr>
            <a:r>
              <a:rPr kumimoji="1" lang="zh-CN" altLang="en-US" sz="2800" dirty="0" smtClean="0">
                <a:latin typeface="Times New Roman" panose="02020603050405020304" pitchFamily="18" charset="0"/>
              </a:rPr>
              <a:t>理论需要和实践相结合：</a:t>
            </a:r>
            <a:endParaRPr kumimoji="1" lang="zh-CN" altLang="en-US" sz="2800" dirty="0" smtClean="0">
              <a:latin typeface="Times New Roman" panose="02020603050405020304" pitchFamily="18" charset="0"/>
            </a:endParaRPr>
          </a:p>
          <a:p>
            <a:pPr lvl="1" indent="-457200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85000"/>
              <a:buNone/>
            </a:pPr>
            <a:r>
              <a:rPr kumimoji="1" lang="zh-CN" altLang="en-US" sz="2800" dirty="0" smtClean="0">
                <a:latin typeface="Times New Roman" panose="02020603050405020304" pitchFamily="18" charset="0"/>
              </a:rPr>
              <a:t>通过实验巩固和加深理解所学知识</a:t>
            </a:r>
            <a:endParaRPr kumimoji="1" lang="zh-CN" altLang="en-US" sz="2800" dirty="0">
              <a:latin typeface="Times New Roman" panose="02020603050405020304" pitchFamily="18" charset="0"/>
            </a:endParaRPr>
          </a:p>
          <a:p>
            <a:pPr lvl="1" indent="-424815">
              <a:lnSpc>
                <a:spcPct val="100000"/>
              </a:lnSpc>
              <a:spcBef>
                <a:spcPct val="20000"/>
              </a:spcBef>
              <a:buClr>
                <a:schemeClr val="tx2"/>
              </a:buClr>
              <a:buSzPct val="85000"/>
              <a:buNone/>
            </a:pPr>
            <a:r>
              <a:rPr kumimoji="1" lang="zh-CN" altLang="en-US" sz="2800" dirty="0" smtClean="0">
                <a:latin typeface="Times New Roman" panose="02020603050405020304" pitchFamily="18" charset="0"/>
              </a:rPr>
              <a:t>通过仿真手段熟悉和了解电路的工作原理和现象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925830" y="2316480"/>
            <a:ext cx="10059035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latin typeface="+mn-ea"/>
                <a:sym typeface="+mn-ea"/>
              </a:rPr>
              <a:t>1.</a:t>
            </a:r>
            <a:r>
              <a:rPr kumimoji="1" lang="zh-CN" altLang="en-US" b="1" dirty="0">
                <a:latin typeface="+mn-ea"/>
                <a:sym typeface="+mn-ea"/>
              </a:rPr>
              <a:t>工程</a:t>
            </a:r>
            <a:r>
              <a:rPr kumimoji="1" lang="zh-CN" altLang="en-US" b="1" dirty="0" smtClean="0">
                <a:latin typeface="+mn-ea"/>
                <a:sym typeface="+mn-ea"/>
              </a:rPr>
              <a:t>性</a:t>
            </a:r>
            <a:endParaRPr lang="zh-CN" altLang="en-US" b="1" dirty="0">
              <a:latin typeface="+mn-ea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kumimoji="1" lang="zh-CN" altLang="en-US" dirty="0" smtClean="0">
                <a:latin typeface="宋体" panose="02010600030101010101" pitchFamily="2" charset="-122"/>
              </a:rPr>
              <a:t>模拟电路的内容都有相应的实际</a:t>
            </a:r>
            <a:r>
              <a:rPr kumimoji="1" lang="zh-CN" altLang="en-US" dirty="0">
                <a:latin typeface="宋体" panose="02010600030101010101" pitchFamily="2" charset="-122"/>
              </a:rPr>
              <a:t>工程背景。知识一般都有定性和定量两个方面。</a:t>
            </a:r>
            <a:endParaRPr kumimoji="1"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29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5" grpId="0" autoUpdateAnimBg="0" build="p"/>
      <p:bldP spid="8" grpId="0" autoUpdateAnimBg="0" build="p"/>
    </p:bldLst>
  </p:timing>
</p:sld>
</file>

<file path=ppt/theme/theme1.xml><?xml version="1.0" encoding="utf-8"?>
<a:theme xmlns:a="http://schemas.openxmlformats.org/drawingml/2006/main" name="New Build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80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Building</Template>
  <TotalTime>0</TotalTime>
  <Words>526</Words>
  <Application>WPS 演示</Application>
  <PresentationFormat>宽屏</PresentationFormat>
  <Paragraphs>57</Paragraphs>
  <Slides>5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Calibri Light</vt:lpstr>
      <vt:lpstr>华文楷体</vt:lpstr>
      <vt:lpstr>Times New Roman</vt:lpstr>
      <vt:lpstr>微软雅黑</vt:lpstr>
      <vt:lpstr>Arial Unicode MS</vt:lpstr>
      <vt:lpstr>New Building</vt:lpstr>
      <vt:lpstr>PowerPoint 演示文稿</vt:lpstr>
      <vt:lpstr>PowerPoint 演示文稿</vt:lpstr>
      <vt:lpstr>PowerPoint 演示文稿</vt:lpstr>
      <vt:lpstr>课程内容体系</vt:lpstr>
      <vt:lpstr>模拟电子电路课的特点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Jingmeng Liu</dc:creator>
  <cp:lastModifiedBy>Administrator</cp:lastModifiedBy>
  <cp:revision>802</cp:revision>
  <cp:lastPrinted>2016-11-27T13:54:00Z</cp:lastPrinted>
  <dcterms:created xsi:type="dcterms:W3CDTF">2016-03-01T08:03:00Z</dcterms:created>
  <dcterms:modified xsi:type="dcterms:W3CDTF">2018-09-10T23:20:36Z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