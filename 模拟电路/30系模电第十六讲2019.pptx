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6" r:id="rId3"/>
    <p:sldId id="337" r:id="rId4"/>
    <p:sldId id="339" r:id="rId5"/>
    <p:sldId id="340" r:id="rId6"/>
    <p:sldId id="341" r:id="rId7"/>
    <p:sldId id="343" r:id="rId8"/>
    <p:sldId id="344" r:id="rId9"/>
    <p:sldId id="345" r:id="rId10"/>
    <p:sldId id="346" r:id="rId11"/>
    <p:sldId id="338" r:id="rId12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9999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5F5F5"/>
    <a:srgbClr val="99FFCC"/>
    <a:srgbClr val="F3BB2D"/>
    <a:srgbClr val="FFCC66"/>
    <a:srgbClr val="FFFFCC"/>
    <a:srgbClr val="FFCCCC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/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/>
            </a:lvl1pPr>
          </a:lstStyle>
          <a:p>
            <a:pPr lvl="0" fontAlgn="base"/>
            <a:endParaRPr lang="zh-CN" strike="noStrike" noProof="1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b="0"/>
            </a:lvl1pPr>
          </a:lstStyle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/>
  </p:transition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9" name="标题 3073"/>
          <p:cNvSpPr>
            <a:spLocks noGrp="1"/>
          </p:cNvSpPr>
          <p:nvPr>
            <p:ph type="title"/>
          </p:nvPr>
        </p:nvSpPr>
        <p:spPr>
          <a:xfrm>
            <a:off x="3074988" y="1127125"/>
            <a:ext cx="2873375" cy="469900"/>
          </a:xfrm>
        </p:spPr>
        <p:txBody>
          <a:bodyPr anchor="ctr"/>
          <a:p>
            <a:pPr algn="l"/>
            <a:r>
              <a:rPr lang="zh-CN" altLang="en-US" b="1">
                <a:solidFill>
                  <a:schemeClr val="tx1"/>
                </a:solidFill>
              </a:rPr>
              <a:t>考试安排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050" name="文本框 3074"/>
          <p:cNvSpPr txBox="1"/>
          <p:nvPr/>
        </p:nvSpPr>
        <p:spPr>
          <a:xfrm>
            <a:off x="938530" y="1881505"/>
            <a:ext cx="766762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1. 考试时间、地点：  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12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月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27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日 1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: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0—1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7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: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0，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J3-103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051" name="文本框 3075"/>
          <p:cNvSpPr txBox="1"/>
          <p:nvPr/>
        </p:nvSpPr>
        <p:spPr>
          <a:xfrm>
            <a:off x="938530" y="3522980"/>
            <a:ext cx="7157085" cy="4851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考前答疑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: 12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月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26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日全天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,27</a:t>
            </a:r>
            <a:r>
              <a:rPr lang="zh-CN" altLang="zh-CN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日上午</a:t>
            </a:r>
            <a:endParaRPr lang="zh-CN" altLang="zh-CN" sz="32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052" name="文本框 3076"/>
          <p:cNvSpPr txBox="1"/>
          <p:nvPr/>
        </p:nvSpPr>
        <p:spPr>
          <a:xfrm>
            <a:off x="1076008" y="4142740"/>
            <a:ext cx="7624762" cy="58356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上午∶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9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: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9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0—1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: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0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0     下午：1:30— 5:00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053" name="文本框 3077"/>
          <p:cNvSpPr txBox="1"/>
          <p:nvPr/>
        </p:nvSpPr>
        <p:spPr>
          <a:xfrm>
            <a:off x="938530" y="4872355"/>
            <a:ext cx="4932363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3.答疑地点：实5-304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6" name="文本框 4100"/>
          <p:cNvSpPr txBox="1"/>
          <p:nvPr/>
        </p:nvSpPr>
        <p:spPr>
          <a:xfrm>
            <a:off x="286703" y="694373"/>
            <a:ext cx="87122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常用元器件及其特性：二极管、三极管、通用运放、集成功率放大器、三端稳压器（线性电源）、集成开关稳压器（开关电源）的特性和基本应用电路。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077" name="标题 4101"/>
          <p:cNvSpPr>
            <a:spLocks noGrp="1"/>
          </p:cNvSpPr>
          <p:nvPr>
            <p:ph type="title"/>
          </p:nvPr>
        </p:nvSpPr>
        <p:spPr>
          <a:xfrm>
            <a:off x="344170" y="170815"/>
            <a:ext cx="1870075" cy="587375"/>
          </a:xfrm>
        </p:spPr>
        <p:txBody>
          <a:bodyPr anchor="ctr"/>
          <a:p>
            <a:r>
              <a:rPr lang="zh-CN" altLang="en-US" sz="2800" b="1" dirty="0">
                <a:solidFill>
                  <a:schemeClr val="tx1"/>
                </a:solidFill>
                <a:ea typeface="黑体" panose="02010609060101010101" charset="-122"/>
              </a:rPr>
              <a:t>知识要点</a:t>
            </a:r>
            <a:endParaRPr lang="zh-CN" altLang="en-US" sz="2800" b="1" dirty="0">
              <a:solidFill>
                <a:schemeClr val="tx1"/>
              </a:solidFill>
              <a:ea typeface="黑体" panose="02010609060101010101" charset="-122"/>
            </a:endParaRPr>
          </a:p>
        </p:txBody>
      </p:sp>
      <p:sp>
        <p:nvSpPr>
          <p:cNvPr id="3" name="文本框 4100"/>
          <p:cNvSpPr txBox="1"/>
          <p:nvPr/>
        </p:nvSpPr>
        <p:spPr>
          <a:xfrm>
            <a:off x="286703" y="2748598"/>
            <a:ext cx="871220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3.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集成运放应用：基本应用电路的分析和计算，比例、加减、积分、微分等电路，会对电路采用反馈类型的分析、判断等。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" name="文本框 4100"/>
          <p:cNvSpPr txBox="1"/>
          <p:nvPr/>
        </p:nvSpPr>
        <p:spPr>
          <a:xfrm>
            <a:off x="286703" y="1888808"/>
            <a:ext cx="871220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分立元件放大电路：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静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动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态分析和主要参数计算；共发射极、共集电极、共源极、差分放大电路；多级放大电路。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文本框 4100"/>
          <p:cNvSpPr txBox="1"/>
          <p:nvPr/>
        </p:nvSpPr>
        <p:spPr>
          <a:xfrm>
            <a:off x="287020" y="3538855"/>
            <a:ext cx="871156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4.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信号发生电路：工作原理和分析判断。低频，文氏电桥正弦波振荡电路、方波发生电路；高频的电感三点式、电容三点式。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文本框 4100"/>
          <p:cNvSpPr txBox="1"/>
          <p:nvPr/>
        </p:nvSpPr>
        <p:spPr>
          <a:xfrm>
            <a:off x="286703" y="5120323"/>
            <a:ext cx="871220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6.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电源电路；整流滤波电路、倍压电路、简单稳压、串联型稳压电路、开关稳压电路；稳压性能指标的计算。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文本框 4100"/>
          <p:cNvSpPr txBox="1"/>
          <p:nvPr/>
        </p:nvSpPr>
        <p:spPr>
          <a:xfrm>
            <a:off x="287020" y="4312920"/>
            <a:ext cx="871156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5.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功率放大电路：工作原理和分析判断等。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OTL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电路、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OCL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电路；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TDA2030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集成功放的应用电路。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8" name="文本框 4100"/>
          <p:cNvSpPr txBox="1"/>
          <p:nvPr/>
        </p:nvSpPr>
        <p:spPr>
          <a:xfrm>
            <a:off x="287020" y="5978525"/>
            <a:ext cx="871156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7.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放大电路的频率特性：通频带、上限频率、下限频率；决定电路上、下限频率的主要因素及其分析判断。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  <p:bldP spid="4" grpId="0"/>
      <p:bldP spid="3" grpId="0"/>
      <p:bldP spid="5" grpId="0"/>
      <p:bldP spid="7" grpId="0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7" name="文本框 5121"/>
          <p:cNvSpPr txBox="1"/>
          <p:nvPr/>
        </p:nvSpPr>
        <p:spPr>
          <a:xfrm>
            <a:off x="252413" y="1009650"/>
            <a:ext cx="1944687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复习要点：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099" name="标题 5123"/>
          <p:cNvSpPr>
            <a:spLocks noGrp="1"/>
          </p:cNvSpPr>
          <p:nvPr>
            <p:ph type="title"/>
          </p:nvPr>
        </p:nvSpPr>
        <p:spPr>
          <a:xfrm>
            <a:off x="252730" y="176530"/>
            <a:ext cx="5905500" cy="803275"/>
          </a:xfrm>
        </p:spPr>
        <p:txBody>
          <a:bodyPr wrap="square" anchor="ctr"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</a:rPr>
              <a:t>考试题型：简答、分析、计算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4100" name="文本框 1"/>
          <p:cNvSpPr txBox="1"/>
          <p:nvPr/>
        </p:nvSpPr>
        <p:spPr>
          <a:xfrm>
            <a:off x="195580" y="1532255"/>
            <a:ext cx="33540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1.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二极管及其应用</a:t>
            </a:r>
            <a:endParaRPr lang="zh-CN" altLang="zh-CN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421765" y="2658110"/>
          <a:ext cx="5046345" cy="1703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7706975" imgH="6686550" progId="MSPhotoEd.3">
                  <p:embed/>
                </p:oleObj>
              </mc:Choice>
              <mc:Fallback>
                <p:oleObj name="" r:id="rId1" imgW="17706975" imgH="6686550" progId="MSPhotoEd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 b="10620"/>
                      <a:stretch>
                        <a:fillRect/>
                      </a:stretch>
                    </p:blipFill>
                    <p:spPr>
                      <a:xfrm>
                        <a:off x="1421765" y="2658110"/>
                        <a:ext cx="5046345" cy="17030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-2147482603"/>
          <p:cNvPicPr>
            <a:picLocks noChangeAspect="1"/>
          </p:cNvPicPr>
          <p:nvPr/>
        </p:nvPicPr>
        <p:blipFill>
          <a:blip r:embed="rId3">
            <a:lum contrast="11999"/>
          </a:blip>
          <a:stretch>
            <a:fillRect/>
          </a:stretch>
        </p:blipFill>
        <p:spPr>
          <a:xfrm>
            <a:off x="1236345" y="4937760"/>
            <a:ext cx="3523615" cy="18929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62915" y="2098040"/>
            <a:ext cx="3385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整流、稳压：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1165" y="4552315"/>
            <a:ext cx="2341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倍压：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" grpId="0"/>
      <p:bldP spid="4100" grpId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文本框 1"/>
          <p:cNvSpPr txBox="1"/>
          <p:nvPr/>
        </p:nvSpPr>
        <p:spPr>
          <a:xfrm>
            <a:off x="251460" y="335915"/>
            <a:ext cx="33782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分立元件放大电路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9"/>
          <p:cNvGraphicFramePr/>
          <p:nvPr/>
        </p:nvGraphicFramePr>
        <p:xfrm>
          <a:off x="3369310" y="4519295"/>
          <a:ext cx="4322445" cy="214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220075" imgH="4448175" progId="Paint.Picture">
                  <p:embed/>
                </p:oleObj>
              </mc:Choice>
              <mc:Fallback>
                <p:oleObj name="" r:id="rId1" imgW="8220075" imgH="4448175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lum contrast="66000"/>
                      </a:blip>
                      <a:stretch>
                        <a:fillRect/>
                      </a:stretch>
                    </p:blipFill>
                    <p:spPr>
                      <a:xfrm>
                        <a:off x="3369310" y="4519295"/>
                        <a:ext cx="4322445" cy="21488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88645" y="1031875"/>
            <a:ext cx="2327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共发射极：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0850" y="3879850"/>
            <a:ext cx="27933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多级放大电路：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8"/>
          <p:cNvPicPr>
            <a:picLocks noChangeAspect="1"/>
          </p:cNvPicPr>
          <p:nvPr/>
        </p:nvPicPr>
        <p:blipFill>
          <a:blip r:embed="rId3">
            <a:lum contrast="66000"/>
          </a:blip>
          <a:stretch>
            <a:fillRect/>
          </a:stretch>
        </p:blipFill>
        <p:spPr>
          <a:xfrm>
            <a:off x="4232910" y="1553845"/>
            <a:ext cx="2595245" cy="2409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5" name="文本框 7169"/>
          <p:cNvSpPr txBox="1"/>
          <p:nvPr/>
        </p:nvSpPr>
        <p:spPr>
          <a:xfrm>
            <a:off x="611188" y="836613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146" name="文本框 7170"/>
          <p:cNvSpPr txBox="1"/>
          <p:nvPr/>
        </p:nvSpPr>
        <p:spPr>
          <a:xfrm>
            <a:off x="265430" y="256540"/>
            <a:ext cx="35325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3.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集成运放应用电路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2" name="图片 18"/>
          <p:cNvPicPr>
            <a:picLocks noChangeAspect="1"/>
          </p:cNvPicPr>
          <p:nvPr/>
        </p:nvPicPr>
        <p:blipFill>
          <a:blip r:embed="rId1">
            <a:lum bright="-18000" contrast="30000"/>
          </a:blip>
          <a:stretch>
            <a:fillRect/>
          </a:stretch>
        </p:blipFill>
        <p:spPr>
          <a:xfrm>
            <a:off x="4889500" y="1043305"/>
            <a:ext cx="3560445" cy="26269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27075" y="1043305"/>
            <a:ext cx="2620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比例、加减：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7075" y="3474720"/>
            <a:ext cx="3173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比较、积分：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365" y="3996690"/>
            <a:ext cx="4902200" cy="21278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505" y="265430"/>
            <a:ext cx="3633470" cy="684530"/>
          </a:xfrm>
        </p:spPr>
        <p:txBody>
          <a:bodyPr/>
          <a:p>
            <a:r>
              <a:rPr lang="en-US" altLang="zh-CN" sz="3200"/>
              <a:t>4.</a:t>
            </a:r>
            <a:r>
              <a:rPr lang="zh-CN" altLang="en-US" sz="3200"/>
              <a:t>信号发生电路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5780" y="1029335"/>
            <a:ext cx="3804285" cy="559435"/>
          </a:xfrm>
        </p:spPr>
        <p:txBody>
          <a:bodyPr/>
          <a:p>
            <a:r>
              <a:rPr lang="en-US" altLang="zh-CN" sz="2800"/>
              <a:t>RC</a:t>
            </a:r>
            <a:r>
              <a:rPr lang="zh-CN" altLang="en-US" sz="2800"/>
              <a:t>正弦波振荡电路：</a:t>
            </a:r>
            <a:endParaRPr lang="zh-CN" altLang="en-US" sz="2800"/>
          </a:p>
        </p:txBody>
      </p:sp>
      <p:pic>
        <p:nvPicPr>
          <p:cNvPr id="4" name="图片 -21474826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7285" y="575310"/>
            <a:ext cx="3176270" cy="27508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76250" y="3474720"/>
            <a:ext cx="3663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三点式电路：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860" y="3728085"/>
            <a:ext cx="2270125" cy="27705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8780" y="276860"/>
            <a:ext cx="3622675" cy="695325"/>
          </a:xfrm>
        </p:spPr>
        <p:txBody>
          <a:bodyPr/>
          <a:p>
            <a:r>
              <a:rPr lang="en-US" altLang="zh-CN" sz="3200"/>
              <a:t>5.</a:t>
            </a:r>
            <a:r>
              <a:rPr lang="zh-CN" altLang="en-US" sz="3200"/>
              <a:t>功率放大电路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0070" y="972185"/>
            <a:ext cx="3827145" cy="686435"/>
          </a:xfrm>
        </p:spPr>
        <p:txBody>
          <a:bodyPr/>
          <a:p>
            <a:r>
              <a:rPr lang="en-US" altLang="zh-CN" sz="2800"/>
              <a:t>TDA2030</a:t>
            </a:r>
            <a:r>
              <a:rPr lang="zh-CN" altLang="en-US" sz="2800"/>
              <a:t>应用电路：</a:t>
            </a:r>
            <a:endParaRPr lang="zh-CN" altLang="en-US" sz="2800"/>
          </a:p>
        </p:txBody>
      </p:sp>
      <p:pic>
        <p:nvPicPr>
          <p:cNvPr id="4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0015" y="1546225"/>
            <a:ext cx="5078730" cy="30200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7340" y="265430"/>
            <a:ext cx="3311525" cy="707390"/>
          </a:xfrm>
        </p:spPr>
        <p:txBody>
          <a:bodyPr/>
          <a:p>
            <a:r>
              <a:rPr lang="en-US" altLang="zh-CN" sz="3200"/>
              <a:t>6.</a:t>
            </a:r>
            <a:r>
              <a:rPr lang="zh-CN" altLang="en-US" sz="3200"/>
              <a:t>线性稳压电源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0210" y="1075055"/>
            <a:ext cx="3208655" cy="674370"/>
          </a:xfrm>
        </p:spPr>
        <p:txBody>
          <a:bodyPr/>
          <a:p>
            <a:r>
              <a:rPr lang="zh-CN" altLang="en-US" sz="2800"/>
              <a:t>三端稳压应用：</a:t>
            </a:r>
            <a:endParaRPr lang="zh-CN" altLang="en-US" sz="2800"/>
          </a:p>
        </p:txBody>
      </p:sp>
      <p:pic>
        <p:nvPicPr>
          <p:cNvPr id="4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0440" y="1611630"/>
            <a:ext cx="6319520" cy="23602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395" y="4695190"/>
            <a:ext cx="3294380" cy="18357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307975" y="1997710"/>
            <a:ext cx="1599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可调电压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7340" y="4972050"/>
            <a:ext cx="1456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扩大电流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920" y="356870"/>
            <a:ext cx="3275965" cy="673100"/>
          </a:xfrm>
        </p:spPr>
        <p:txBody>
          <a:bodyPr/>
          <a:p>
            <a:r>
              <a:rPr lang="en-US" altLang="zh-CN" sz="3200"/>
              <a:t>7.</a:t>
            </a:r>
            <a:r>
              <a:rPr lang="zh-CN" altLang="en-US" sz="3200"/>
              <a:t>开关稳压电路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2280" y="1029970"/>
            <a:ext cx="3357245" cy="629285"/>
          </a:xfrm>
        </p:spPr>
        <p:txBody>
          <a:bodyPr/>
          <a:p>
            <a:r>
              <a:rPr lang="en-US" altLang="zh-CN" sz="2800"/>
              <a:t>L4960</a:t>
            </a:r>
            <a:r>
              <a:rPr lang="zh-CN" altLang="en-US" sz="2800"/>
              <a:t>应用电路：</a:t>
            </a:r>
            <a:endParaRPr lang="zh-CN" altLang="en-US" sz="2800"/>
          </a:p>
        </p:txBody>
      </p:sp>
      <p:pic>
        <p:nvPicPr>
          <p:cNvPr id="4" name="图片 -21474826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440" y="2030095"/>
            <a:ext cx="6247130" cy="3238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标题 10241"/>
          <p:cNvSpPr>
            <a:spLocks noGrp="1"/>
          </p:cNvSpPr>
          <p:nvPr>
            <p:ph type="title"/>
          </p:nvPr>
        </p:nvSpPr>
        <p:spPr>
          <a:xfrm>
            <a:off x="611188" y="762635"/>
            <a:ext cx="7772400" cy="763588"/>
          </a:xfrm>
        </p:spPr>
        <p:txBody>
          <a:bodyPr anchor="ctr"/>
          <a:p>
            <a:r>
              <a:rPr lang="zh-CN" altLang="en-US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谢谢同学们</a:t>
            </a:r>
            <a:r>
              <a:rPr lang="en-US" altLang="zh-CN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!</a:t>
            </a:r>
            <a:endParaRPr lang="en-US" altLang="zh-CN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171" name="文本框 10242"/>
          <p:cNvSpPr txBox="1"/>
          <p:nvPr/>
        </p:nvSpPr>
        <p:spPr>
          <a:xfrm>
            <a:off x="611188" y="1748473"/>
            <a:ext cx="7920037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48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希望大家通过学习、实践积累，</a:t>
            </a:r>
            <a:r>
              <a:rPr lang="zh-CN" altLang="en-US" sz="48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逐步</a:t>
            </a:r>
            <a:r>
              <a:rPr lang="zh-CN" altLang="en-US" sz="48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掌握好应用电子技术的基本技能，为以后的学习、工作打下良好的基础。           踏踏实实地做系统复习，预祝大家考出理想的成绩</a:t>
            </a:r>
            <a:r>
              <a:rPr lang="en-US" altLang="zh-CN" sz="48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!</a:t>
            </a:r>
            <a:endParaRPr lang="en-US" altLang="zh-CN" sz="48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</Words>
  <Application>WPS 演示</Application>
  <PresentationFormat>在屏幕上显示</PresentationFormat>
  <Paragraphs>74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黑体</vt:lpstr>
      <vt:lpstr>楷体</vt:lpstr>
      <vt:lpstr>微软雅黑</vt:lpstr>
      <vt:lpstr>Arial Unicode MS</vt:lpstr>
      <vt:lpstr>Calibri</vt:lpstr>
      <vt:lpstr>默认设计模板</vt:lpstr>
      <vt:lpstr>MSPhotoEd.3</vt:lpstr>
      <vt:lpstr>Paint.Picture</vt:lpstr>
      <vt:lpstr>考试安排</vt:lpstr>
      <vt:lpstr>知识要点</vt:lpstr>
      <vt:lpstr>考试题型：简答、分析、计算</vt:lpstr>
      <vt:lpstr>PowerPoint 演示文稿</vt:lpstr>
      <vt:lpstr>PowerPoint 演示文稿</vt:lpstr>
      <vt:lpstr>4.信号发生电路</vt:lpstr>
      <vt:lpstr>5.功率放大电路</vt:lpstr>
      <vt:lpstr>6.线性稳压电源</vt:lpstr>
      <vt:lpstr>7.开关稳压电路</vt:lpstr>
      <vt:lpstr>谢谢同学们!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Administrator</cp:lastModifiedBy>
  <cp:revision>385</cp:revision>
  <dcterms:created xsi:type="dcterms:W3CDTF">2017-06-09T01:48:00Z</dcterms:created>
  <dcterms:modified xsi:type="dcterms:W3CDTF">2019-12-19T14:23:58Z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