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png" ContentType="image/png"/>
  <Default Extension="wmf" ContentType="image/x-wmf"/>
  <Default Extension="emf" ContentType="image/x-emf"/>
  <Default Extension="bmp" ContentType="image/bmp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519" r:id="rId3"/>
    <p:sldId id="520" r:id="rId4"/>
    <p:sldId id="521" r:id="rId5"/>
    <p:sldId id="522" r:id="rId6"/>
    <p:sldId id="287" r:id="rId7"/>
    <p:sldId id="288" r:id="rId8"/>
    <p:sldId id="289" r:id="rId9"/>
    <p:sldId id="290" r:id="rId10"/>
    <p:sldId id="446" r:id="rId11"/>
    <p:sldId id="291" r:id="rId12"/>
    <p:sldId id="292" r:id="rId13"/>
    <p:sldId id="293" r:id="rId14"/>
    <p:sldId id="294" r:id="rId15"/>
    <p:sldId id="295" r:id="rId16"/>
    <p:sldId id="296" r:id="rId17"/>
    <p:sldId id="498" r:id="rId18"/>
    <p:sldId id="499" r:id="rId19"/>
    <p:sldId id="500" r:id="rId20"/>
    <p:sldId id="501" r:id="rId21"/>
    <p:sldId id="502" r:id="rId22"/>
    <p:sldId id="503" r:id="rId23"/>
    <p:sldId id="504" r:id="rId24"/>
    <p:sldId id="505" r:id="rId25"/>
    <p:sldId id="506" r:id="rId26"/>
    <p:sldId id="507" r:id="rId27"/>
    <p:sldId id="508" r:id="rId28"/>
    <p:sldId id="509" r:id="rId29"/>
    <p:sldId id="510" r:id="rId30"/>
    <p:sldId id="511" r:id="rId31"/>
    <p:sldId id="512" r:id="rId32"/>
    <p:sldId id="513" r:id="rId33"/>
    <p:sldId id="514" r:id="rId34"/>
    <p:sldId id="515" r:id="rId35"/>
    <p:sldId id="451" r:id="rId36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00"/>
    <a:srgbClr val="66FF66"/>
    <a:srgbClr val="FFCC99"/>
    <a:srgbClr val="000099"/>
    <a:srgbClr val="CC0000"/>
    <a:srgbClr val="006600"/>
    <a:srgbClr val="FFFFCC"/>
    <a:srgbClr val="2E2E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01"/>
    <p:restoredTop sz="94661"/>
  </p:normalViewPr>
  <p:slideViewPr>
    <p:cSldViewPr showGuides="1">
      <p:cViewPr>
        <p:scale>
          <a:sx n="50" d="100"/>
          <a:sy n="50" d="100"/>
        </p:scale>
        <p:origin x="-1734" y="-1188"/>
      </p:cViewPr>
      <p:guideLst>
        <p:guide orient="horz" pos="4176"/>
        <p:guide pos="3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0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emf"/><Relationship Id="rId2" Type="http://schemas.openxmlformats.org/officeDocument/2006/relationships/image" Target="../media/image17.wmf"/><Relationship Id="rId14" Type="http://schemas.openxmlformats.org/officeDocument/2006/relationships/image" Target="../media/image29.png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39.emf"/><Relationship Id="rId14" Type="http://schemas.openxmlformats.org/officeDocument/2006/relationships/image" Target="../media/image42.png"/><Relationship Id="rId13" Type="http://schemas.openxmlformats.org/officeDocument/2006/relationships/image" Target="../media/image41.png"/><Relationship Id="rId12" Type="http://schemas.openxmlformats.org/officeDocument/2006/relationships/image" Target="../media/image40.png"/><Relationship Id="rId11" Type="http://schemas.openxmlformats.org/officeDocument/2006/relationships/image" Target="../media/image26.png"/><Relationship Id="rId10" Type="http://schemas.openxmlformats.org/officeDocument/2006/relationships/image" Target="../media/image37.png"/><Relationship Id="rId1" Type="http://schemas.openxmlformats.org/officeDocument/2006/relationships/image" Target="../media/image3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61.emf"/><Relationship Id="rId8" Type="http://schemas.openxmlformats.org/officeDocument/2006/relationships/image" Target="../media/image60.emf"/><Relationship Id="rId7" Type="http://schemas.openxmlformats.org/officeDocument/2006/relationships/image" Target="../media/image59.emf"/><Relationship Id="rId6" Type="http://schemas.openxmlformats.org/officeDocument/2006/relationships/image" Target="../media/image58.emf"/><Relationship Id="rId5" Type="http://schemas.openxmlformats.org/officeDocument/2006/relationships/image" Target="../media/image57.emf"/><Relationship Id="rId4" Type="http://schemas.openxmlformats.org/officeDocument/2006/relationships/image" Target="../media/image56.emf"/><Relationship Id="rId3" Type="http://schemas.openxmlformats.org/officeDocument/2006/relationships/image" Target="../media/image55.emf"/><Relationship Id="rId26" Type="http://schemas.openxmlformats.org/officeDocument/2006/relationships/image" Target="../media/image78.wmf"/><Relationship Id="rId25" Type="http://schemas.openxmlformats.org/officeDocument/2006/relationships/image" Target="../media/image77.wmf"/><Relationship Id="rId24" Type="http://schemas.openxmlformats.org/officeDocument/2006/relationships/image" Target="../media/image76.wmf"/><Relationship Id="rId23" Type="http://schemas.openxmlformats.org/officeDocument/2006/relationships/image" Target="../media/image75.wmf"/><Relationship Id="rId22" Type="http://schemas.openxmlformats.org/officeDocument/2006/relationships/image" Target="../media/image74.wmf"/><Relationship Id="rId21" Type="http://schemas.openxmlformats.org/officeDocument/2006/relationships/image" Target="../media/image73.wmf"/><Relationship Id="rId20" Type="http://schemas.openxmlformats.org/officeDocument/2006/relationships/image" Target="../media/image72.wmf"/><Relationship Id="rId2" Type="http://schemas.openxmlformats.org/officeDocument/2006/relationships/image" Target="../media/image54.emf"/><Relationship Id="rId19" Type="http://schemas.openxmlformats.org/officeDocument/2006/relationships/image" Target="../media/image71.emf"/><Relationship Id="rId18" Type="http://schemas.openxmlformats.org/officeDocument/2006/relationships/image" Target="../media/image70.emf"/><Relationship Id="rId17" Type="http://schemas.openxmlformats.org/officeDocument/2006/relationships/image" Target="../media/image69.emf"/><Relationship Id="rId16" Type="http://schemas.openxmlformats.org/officeDocument/2006/relationships/image" Target="../media/image68.emf"/><Relationship Id="rId15" Type="http://schemas.openxmlformats.org/officeDocument/2006/relationships/image" Target="../media/image67.emf"/><Relationship Id="rId14" Type="http://schemas.openxmlformats.org/officeDocument/2006/relationships/image" Target="../media/image66.emf"/><Relationship Id="rId13" Type="http://schemas.openxmlformats.org/officeDocument/2006/relationships/image" Target="../media/image65.emf"/><Relationship Id="rId12" Type="http://schemas.openxmlformats.org/officeDocument/2006/relationships/image" Target="../media/image64.emf"/><Relationship Id="rId11" Type="http://schemas.openxmlformats.org/officeDocument/2006/relationships/image" Target="../media/image63.emf"/><Relationship Id="rId10" Type="http://schemas.openxmlformats.org/officeDocument/2006/relationships/image" Target="../media/image62.emf"/><Relationship Id="rId1" Type="http://schemas.openxmlformats.org/officeDocument/2006/relationships/image" Target="../media/image53.e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83.png"/><Relationship Id="rId4" Type="http://schemas.openxmlformats.org/officeDocument/2006/relationships/image" Target="../media/image82.emf"/><Relationship Id="rId3" Type="http://schemas.openxmlformats.org/officeDocument/2006/relationships/image" Target="../media/image81.emf"/><Relationship Id="rId2" Type="http://schemas.openxmlformats.org/officeDocument/2006/relationships/image" Target="../media/image80.emf"/><Relationship Id="rId1" Type="http://schemas.openxmlformats.org/officeDocument/2006/relationships/image" Target="../media/image79.e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92.emf"/><Relationship Id="rId8" Type="http://schemas.openxmlformats.org/officeDocument/2006/relationships/image" Target="../media/image91.emf"/><Relationship Id="rId7" Type="http://schemas.openxmlformats.org/officeDocument/2006/relationships/image" Target="../media/image90.emf"/><Relationship Id="rId6" Type="http://schemas.openxmlformats.org/officeDocument/2006/relationships/image" Target="../media/image89.emf"/><Relationship Id="rId5" Type="http://schemas.openxmlformats.org/officeDocument/2006/relationships/image" Target="../media/image88.emf"/><Relationship Id="rId4" Type="http://schemas.openxmlformats.org/officeDocument/2006/relationships/image" Target="../media/image87.emf"/><Relationship Id="rId3" Type="http://schemas.openxmlformats.org/officeDocument/2006/relationships/image" Target="../media/image86.emf"/><Relationship Id="rId22" Type="http://schemas.openxmlformats.org/officeDocument/2006/relationships/image" Target="../media/image105.wmf"/><Relationship Id="rId21" Type="http://schemas.openxmlformats.org/officeDocument/2006/relationships/image" Target="../media/image104.wmf"/><Relationship Id="rId20" Type="http://schemas.openxmlformats.org/officeDocument/2006/relationships/image" Target="../media/image103.wmf"/><Relationship Id="rId2" Type="http://schemas.openxmlformats.org/officeDocument/2006/relationships/image" Target="../media/image85.emf"/><Relationship Id="rId19" Type="http://schemas.openxmlformats.org/officeDocument/2006/relationships/image" Target="../media/image102.wmf"/><Relationship Id="rId18" Type="http://schemas.openxmlformats.org/officeDocument/2006/relationships/image" Target="../media/image101.wmf"/><Relationship Id="rId17" Type="http://schemas.openxmlformats.org/officeDocument/2006/relationships/image" Target="../media/image100.wmf"/><Relationship Id="rId16" Type="http://schemas.openxmlformats.org/officeDocument/2006/relationships/image" Target="../media/image99.wmf"/><Relationship Id="rId15" Type="http://schemas.openxmlformats.org/officeDocument/2006/relationships/image" Target="../media/image98.wmf"/><Relationship Id="rId14" Type="http://schemas.openxmlformats.org/officeDocument/2006/relationships/image" Target="../media/image97.wmf"/><Relationship Id="rId13" Type="http://schemas.openxmlformats.org/officeDocument/2006/relationships/image" Target="../media/image96.wmf"/><Relationship Id="rId12" Type="http://schemas.openxmlformats.org/officeDocument/2006/relationships/image" Target="../media/image95.emf"/><Relationship Id="rId11" Type="http://schemas.openxmlformats.org/officeDocument/2006/relationships/image" Target="../media/image94.emf"/><Relationship Id="rId10" Type="http://schemas.openxmlformats.org/officeDocument/2006/relationships/image" Target="../media/image93.wmf"/><Relationship Id="rId1" Type="http://schemas.openxmlformats.org/officeDocument/2006/relationships/image" Target="../media/image84.e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emf"/><Relationship Id="rId8" Type="http://schemas.openxmlformats.org/officeDocument/2006/relationships/image" Target="../media/image113.emf"/><Relationship Id="rId7" Type="http://schemas.openxmlformats.org/officeDocument/2006/relationships/image" Target="../media/image112.emf"/><Relationship Id="rId6" Type="http://schemas.openxmlformats.org/officeDocument/2006/relationships/image" Target="../media/image111.emf"/><Relationship Id="rId5" Type="http://schemas.openxmlformats.org/officeDocument/2006/relationships/image" Target="../media/image110.emf"/><Relationship Id="rId4" Type="http://schemas.openxmlformats.org/officeDocument/2006/relationships/image" Target="../media/image109.emf"/><Relationship Id="rId3" Type="http://schemas.openxmlformats.org/officeDocument/2006/relationships/image" Target="../media/image108.emf"/><Relationship Id="rId21" Type="http://schemas.openxmlformats.org/officeDocument/2006/relationships/image" Target="../media/image126.wmf"/><Relationship Id="rId20" Type="http://schemas.openxmlformats.org/officeDocument/2006/relationships/image" Target="../media/image125.wmf"/><Relationship Id="rId2" Type="http://schemas.openxmlformats.org/officeDocument/2006/relationships/image" Target="../media/image107.emf"/><Relationship Id="rId19" Type="http://schemas.openxmlformats.org/officeDocument/2006/relationships/image" Target="../media/image124.wmf"/><Relationship Id="rId18" Type="http://schemas.openxmlformats.org/officeDocument/2006/relationships/image" Target="../media/image123.wmf"/><Relationship Id="rId17" Type="http://schemas.openxmlformats.org/officeDocument/2006/relationships/image" Target="../media/image122.wmf"/><Relationship Id="rId16" Type="http://schemas.openxmlformats.org/officeDocument/2006/relationships/image" Target="../media/image121.wmf"/><Relationship Id="rId15" Type="http://schemas.openxmlformats.org/officeDocument/2006/relationships/image" Target="../media/image120.emf"/><Relationship Id="rId14" Type="http://schemas.openxmlformats.org/officeDocument/2006/relationships/image" Target="../media/image119.wmf"/><Relationship Id="rId13" Type="http://schemas.openxmlformats.org/officeDocument/2006/relationships/image" Target="../media/image118.wmf"/><Relationship Id="rId12" Type="http://schemas.openxmlformats.org/officeDocument/2006/relationships/image" Target="../media/image117.wmf"/><Relationship Id="rId11" Type="http://schemas.openxmlformats.org/officeDocument/2006/relationships/image" Target="../media/image116.emf"/><Relationship Id="rId10" Type="http://schemas.openxmlformats.org/officeDocument/2006/relationships/image" Target="../media/image115.emf"/><Relationship Id="rId1" Type="http://schemas.openxmlformats.org/officeDocument/2006/relationships/image" Target="../media/image10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7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1.wmf"/><Relationship Id="rId3" Type="http://schemas.openxmlformats.org/officeDocument/2006/relationships/image" Target="../media/image130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/Relationships>
</file>

<file path=ppt/drawings/_rels/vmlDrawing1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8.wmf"/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wmf"/><Relationship Id="rId1" Type="http://schemas.openxmlformats.org/officeDocument/2006/relationships/image" Target="../media/image140.bmp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7.wmf"/><Relationship Id="rId8" Type="http://schemas.openxmlformats.org/officeDocument/2006/relationships/image" Target="../media/image146.wmf"/><Relationship Id="rId7" Type="http://schemas.openxmlformats.org/officeDocument/2006/relationships/image" Target="../media/image145.wmf"/><Relationship Id="rId6" Type="http://schemas.openxmlformats.org/officeDocument/2006/relationships/image" Target="../media/image144.wmf"/><Relationship Id="rId5" Type="http://schemas.openxmlformats.org/officeDocument/2006/relationships/image" Target="../media/image143.wmf"/><Relationship Id="rId4" Type="http://schemas.openxmlformats.org/officeDocument/2006/relationships/image" Target="../media/image142.wmf"/><Relationship Id="rId3" Type="http://schemas.openxmlformats.org/officeDocument/2006/relationships/image" Target="../media/image141.wmf"/><Relationship Id="rId2" Type="http://schemas.openxmlformats.org/officeDocument/2006/relationships/image" Target="../media/image139.wmf"/><Relationship Id="rId12" Type="http://schemas.openxmlformats.org/officeDocument/2006/relationships/image" Target="../media/image150.wmf"/><Relationship Id="rId11" Type="http://schemas.openxmlformats.org/officeDocument/2006/relationships/image" Target="../media/image149.wmf"/><Relationship Id="rId10" Type="http://schemas.openxmlformats.org/officeDocument/2006/relationships/image" Target="../media/image148.wmf"/><Relationship Id="rId1" Type="http://schemas.openxmlformats.org/officeDocument/2006/relationships/image" Target="../media/image140.bmp"/></Relationships>
</file>

<file path=ppt/drawings/_rels/vmlDrawing18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5.wmf"/><Relationship Id="rId4" Type="http://schemas.openxmlformats.org/officeDocument/2006/relationships/image" Target="../media/image154.wmf"/><Relationship Id="rId3" Type="http://schemas.openxmlformats.org/officeDocument/2006/relationships/image" Target="../media/image153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4.wmf"/><Relationship Id="rId8" Type="http://schemas.openxmlformats.org/officeDocument/2006/relationships/image" Target="../media/image163.wmf"/><Relationship Id="rId7" Type="http://schemas.openxmlformats.org/officeDocument/2006/relationships/image" Target="../media/image161.wmf"/><Relationship Id="rId6" Type="http://schemas.openxmlformats.org/officeDocument/2006/relationships/image" Target="../media/image160.wmf"/><Relationship Id="rId5" Type="http://schemas.openxmlformats.org/officeDocument/2006/relationships/image" Target="../media/image159.wmf"/><Relationship Id="rId4" Type="http://schemas.openxmlformats.org/officeDocument/2006/relationships/image" Target="../media/image158.wmf"/><Relationship Id="rId3" Type="http://schemas.openxmlformats.org/officeDocument/2006/relationships/image" Target="../media/image157.wmf"/><Relationship Id="rId2" Type="http://schemas.openxmlformats.org/officeDocument/2006/relationships/image" Target="../media/image156.wmf"/><Relationship Id="rId1" Type="http://schemas.openxmlformats.org/officeDocument/2006/relationships/image" Target="../media/image139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5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70.wmf"/><Relationship Id="rId3" Type="http://schemas.openxmlformats.org/officeDocument/2006/relationships/image" Target="../media/image169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2.wmf"/><Relationship Id="rId8" Type="http://schemas.openxmlformats.org/officeDocument/2006/relationships/image" Target="../media/image141.wmf"/><Relationship Id="rId7" Type="http://schemas.openxmlformats.org/officeDocument/2006/relationships/image" Target="../media/image177.wmf"/><Relationship Id="rId6" Type="http://schemas.openxmlformats.org/officeDocument/2006/relationships/image" Target="../media/image176.wmf"/><Relationship Id="rId5" Type="http://schemas.openxmlformats.org/officeDocument/2006/relationships/image" Target="../media/image175.wmf"/><Relationship Id="rId4" Type="http://schemas.openxmlformats.org/officeDocument/2006/relationships/image" Target="../media/image174.wmf"/><Relationship Id="rId3" Type="http://schemas.openxmlformats.org/officeDocument/2006/relationships/image" Target="../media/image173.wmf"/><Relationship Id="rId2" Type="http://schemas.openxmlformats.org/officeDocument/2006/relationships/image" Target="../media/image172.wmf"/><Relationship Id="rId16" Type="http://schemas.openxmlformats.org/officeDocument/2006/relationships/image" Target="../media/image149.wmf"/><Relationship Id="rId15" Type="http://schemas.openxmlformats.org/officeDocument/2006/relationships/image" Target="../media/image148.wmf"/><Relationship Id="rId14" Type="http://schemas.openxmlformats.org/officeDocument/2006/relationships/image" Target="../media/image147.wmf"/><Relationship Id="rId13" Type="http://schemas.openxmlformats.org/officeDocument/2006/relationships/image" Target="../media/image146.wmf"/><Relationship Id="rId12" Type="http://schemas.openxmlformats.org/officeDocument/2006/relationships/image" Target="../media/image145.wmf"/><Relationship Id="rId11" Type="http://schemas.openxmlformats.org/officeDocument/2006/relationships/image" Target="../media/image144.wmf"/><Relationship Id="rId10" Type="http://schemas.openxmlformats.org/officeDocument/2006/relationships/image" Target="../media/image143.wmf"/><Relationship Id="rId1" Type="http://schemas.openxmlformats.org/officeDocument/2006/relationships/image" Target="../media/image171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wmf"/><Relationship Id="rId1" Type="http://schemas.openxmlformats.org/officeDocument/2006/relationships/image" Target="../media/image17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ffectLst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effectLst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effectLst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AutoShape 2">
            <a:hlinkClick r:id="" action="ppaction://hlinkshowjump?jump=nextslide"/>
          </p:cNvPr>
          <p:cNvSpPr/>
          <p:nvPr/>
        </p:nvSpPr>
        <p:spPr>
          <a:xfrm>
            <a:off x="8448675" y="6488113"/>
            <a:ext cx="500063" cy="292100"/>
          </a:xfrm>
          <a:prstGeom prst="actionButtonBlank">
            <a:avLst/>
          </a:prstGeom>
          <a:gradFill rotWithShape="0">
            <a:gsLst>
              <a:gs pos="0">
                <a:srgbClr val="F5FEDE"/>
              </a:gs>
              <a:gs pos="100000">
                <a:srgbClr val="DCE4C7"/>
              </a:gs>
            </a:gsLst>
            <a:path path="rect">
              <a:fillToRect l="50000" t="50000" r="50000" b="50000"/>
            </a:path>
            <a:tileRect/>
          </a:gra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lvl="0" indent="0" algn="ctr"/>
            <a:r>
              <a:rPr lang="zh-CN" altLang="en-US" sz="1200" b="1" dirty="0">
                <a:solidFill>
                  <a:srgbClr val="6A9C0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下一页</a:t>
            </a:r>
            <a:endParaRPr lang="zh-CN" altLang="en-US" sz="1200" b="1" dirty="0">
              <a:solidFill>
                <a:srgbClr val="6A9C0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7" name="AutoShape 3"/>
          <p:cNvSpPr/>
          <p:nvPr/>
        </p:nvSpPr>
        <p:spPr>
          <a:xfrm>
            <a:off x="6324600" y="6489700"/>
            <a:ext cx="500063" cy="292100"/>
          </a:xfrm>
          <a:prstGeom prst="actionButtonBlank">
            <a:avLst/>
          </a:prstGeom>
          <a:gradFill rotWithShape="0">
            <a:gsLst>
              <a:gs pos="0">
                <a:srgbClr val="F5FEDE"/>
              </a:gs>
              <a:gs pos="100000">
                <a:srgbClr val="DCE4C7"/>
              </a:gs>
            </a:gsLst>
            <a:path path="rect">
              <a:fillToRect l="50000" t="50000" r="50000" b="50000"/>
            </a:path>
            <a:tileRect/>
          </a:gra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lvl="0" indent="0" algn="ctr"/>
            <a:r>
              <a:rPr lang="zh-CN" altLang="en-US" sz="1200" b="1" dirty="0">
                <a:solidFill>
                  <a:srgbClr val="6A9C0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总目录</a:t>
            </a:r>
            <a:endParaRPr lang="zh-CN" altLang="en-US" sz="1200" b="1" dirty="0">
              <a:solidFill>
                <a:srgbClr val="6A9C0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8" name="AutoShape 4">
            <a:hlinkClick r:id="" action="ppaction://hlinkshowjump?jump=firstslide"/>
          </p:cNvPr>
          <p:cNvSpPr/>
          <p:nvPr/>
        </p:nvSpPr>
        <p:spPr>
          <a:xfrm>
            <a:off x="6854825" y="6489700"/>
            <a:ext cx="500063" cy="292100"/>
          </a:xfrm>
          <a:prstGeom prst="actionButtonBlank">
            <a:avLst/>
          </a:prstGeom>
          <a:gradFill rotWithShape="0">
            <a:gsLst>
              <a:gs pos="0">
                <a:srgbClr val="F5FEDE"/>
              </a:gs>
              <a:gs pos="100000">
                <a:srgbClr val="DCE4C7"/>
              </a:gs>
            </a:gsLst>
            <a:path path="rect">
              <a:fillToRect l="50000" t="50000" r="50000" b="50000"/>
            </a:path>
            <a:tileRect/>
          </a:gra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lvl="0" indent="0" algn="ctr"/>
            <a:r>
              <a:rPr lang="zh-CN" altLang="en-US" sz="1200" b="1" dirty="0">
                <a:solidFill>
                  <a:srgbClr val="6A9C0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章目录</a:t>
            </a:r>
            <a:endParaRPr lang="zh-CN" altLang="en-US" sz="1200" b="1" dirty="0">
              <a:solidFill>
                <a:srgbClr val="6A9C0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9" name="AutoShape 5">
            <a:hlinkClick r:id="" action="ppaction://hlinkshowjump?jump=lastslideviewed"/>
          </p:cNvPr>
          <p:cNvSpPr/>
          <p:nvPr/>
        </p:nvSpPr>
        <p:spPr>
          <a:xfrm>
            <a:off x="7383463" y="6489700"/>
            <a:ext cx="500062" cy="292100"/>
          </a:xfrm>
          <a:prstGeom prst="actionButtonBlank">
            <a:avLst/>
          </a:prstGeom>
          <a:gradFill rotWithShape="0">
            <a:gsLst>
              <a:gs pos="0">
                <a:srgbClr val="F5FEDE"/>
              </a:gs>
              <a:gs pos="100000">
                <a:srgbClr val="DCE4C7"/>
              </a:gs>
            </a:gsLst>
            <a:path path="rect">
              <a:fillToRect l="50000" t="50000" r="50000" b="50000"/>
            </a:path>
            <a:tileRect/>
          </a:gra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lvl="0" indent="0" algn="ctr"/>
            <a:r>
              <a:rPr lang="zh-CN" altLang="en-US" sz="1200" b="1" dirty="0">
                <a:solidFill>
                  <a:srgbClr val="6A9C0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返回</a:t>
            </a:r>
            <a:endParaRPr lang="zh-CN" altLang="en-US" sz="1200" b="1" dirty="0">
              <a:solidFill>
                <a:srgbClr val="6A9C0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0" name="AutoShape 6">
            <a:hlinkClick r:id="" action="ppaction://hlinkshowjump?jump=previousslide"/>
          </p:cNvPr>
          <p:cNvSpPr/>
          <p:nvPr/>
        </p:nvSpPr>
        <p:spPr>
          <a:xfrm>
            <a:off x="7918450" y="6489700"/>
            <a:ext cx="500063" cy="292100"/>
          </a:xfrm>
          <a:prstGeom prst="actionButtonBlank">
            <a:avLst/>
          </a:prstGeom>
          <a:gradFill rotWithShape="0">
            <a:gsLst>
              <a:gs pos="0">
                <a:srgbClr val="F5FEDE"/>
              </a:gs>
              <a:gs pos="100000">
                <a:srgbClr val="DCE4C7"/>
              </a:gs>
            </a:gsLst>
            <a:path path="rect">
              <a:fillToRect l="50000" t="50000" r="50000" b="50000"/>
            </a:path>
            <a:tileRect/>
          </a:gradFill>
          <a:ln w="9525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lvl="0" indent="0" algn="ctr"/>
            <a:r>
              <a:rPr lang="zh-CN" altLang="en-US" sz="1200" b="1" dirty="0">
                <a:solidFill>
                  <a:srgbClr val="6A9C0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上一页</a:t>
            </a:r>
            <a:endParaRPr lang="zh-CN" altLang="en-US" sz="1200" b="1" dirty="0">
              <a:solidFill>
                <a:srgbClr val="6A9C0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9" name="Rectangle 7">
            <a:hlinkClick r:id="" action="ppaction://hlinkpres?slideindex=1&amp;slidetitle="/>
          </p:cNvPr>
          <p:cNvSpPr>
            <a:spLocks noChangeArrowheads="1"/>
          </p:cNvSpPr>
          <p:nvPr/>
        </p:nvSpPr>
        <p:spPr bwMode="auto">
          <a:xfrm>
            <a:off x="6324600" y="6477000"/>
            <a:ext cx="457200" cy="30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w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5.wmf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12.png"/><Relationship Id="rId7" Type="http://schemas.openxmlformats.org/officeDocument/2006/relationships/oleObject" Target="../embeddings/oleObject11.bin"/><Relationship Id="rId6" Type="http://schemas.openxmlformats.org/officeDocument/2006/relationships/image" Target="../media/image11.png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png"/><Relationship Id="rId3" Type="http://schemas.openxmlformats.org/officeDocument/2006/relationships/oleObject" Target="../embeddings/oleObject9.bin"/><Relationship Id="rId2" Type="http://schemas.openxmlformats.org/officeDocument/2006/relationships/image" Target="../media/image9.png"/><Relationship Id="rId16" Type="http://schemas.openxmlformats.org/officeDocument/2006/relationships/vmlDrawing" Target="../drawings/vmlDrawing3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5.png"/><Relationship Id="rId13" Type="http://schemas.openxmlformats.org/officeDocument/2006/relationships/oleObject" Target="../embeddings/oleObject14.bin"/><Relationship Id="rId12" Type="http://schemas.openxmlformats.org/officeDocument/2006/relationships/image" Target="../media/image14.png"/><Relationship Id="rId11" Type="http://schemas.openxmlformats.org/officeDocument/2006/relationships/oleObject" Target="../embeddings/oleObject13.bin"/><Relationship Id="rId10" Type="http://schemas.openxmlformats.org/officeDocument/2006/relationships/image" Target="../media/image13.png"/><Relationship Id="rId1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.bin"/><Relationship Id="rId8" Type="http://schemas.openxmlformats.org/officeDocument/2006/relationships/image" Target="../media/image19.png"/><Relationship Id="rId7" Type="http://schemas.openxmlformats.org/officeDocument/2006/relationships/oleObject" Target="../embeddings/oleObject18.bin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7.wmf"/><Relationship Id="rId30" Type="http://schemas.openxmlformats.org/officeDocument/2006/relationships/vmlDrawing" Target="../drawings/vmlDrawing4.vml"/><Relationship Id="rId3" Type="http://schemas.openxmlformats.org/officeDocument/2006/relationships/oleObject" Target="../embeddings/oleObject16.bin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29.png"/><Relationship Id="rId27" Type="http://schemas.openxmlformats.org/officeDocument/2006/relationships/oleObject" Target="../embeddings/oleObject28.bin"/><Relationship Id="rId26" Type="http://schemas.openxmlformats.org/officeDocument/2006/relationships/image" Target="../media/image28.png"/><Relationship Id="rId25" Type="http://schemas.openxmlformats.org/officeDocument/2006/relationships/oleObject" Target="../embeddings/oleObject27.bin"/><Relationship Id="rId24" Type="http://schemas.openxmlformats.org/officeDocument/2006/relationships/image" Target="../media/image27.png"/><Relationship Id="rId23" Type="http://schemas.openxmlformats.org/officeDocument/2006/relationships/oleObject" Target="../embeddings/oleObject26.bin"/><Relationship Id="rId22" Type="http://schemas.openxmlformats.org/officeDocument/2006/relationships/image" Target="../media/image26.png"/><Relationship Id="rId21" Type="http://schemas.openxmlformats.org/officeDocument/2006/relationships/oleObject" Target="../embeddings/oleObject25.bin"/><Relationship Id="rId20" Type="http://schemas.openxmlformats.org/officeDocument/2006/relationships/image" Target="../media/image25.png"/><Relationship Id="rId2" Type="http://schemas.openxmlformats.org/officeDocument/2006/relationships/image" Target="../media/image16.emf"/><Relationship Id="rId19" Type="http://schemas.openxmlformats.org/officeDocument/2006/relationships/oleObject" Target="../embeddings/oleObject24.bin"/><Relationship Id="rId18" Type="http://schemas.openxmlformats.org/officeDocument/2006/relationships/image" Target="../media/image24.png"/><Relationship Id="rId17" Type="http://schemas.openxmlformats.org/officeDocument/2006/relationships/oleObject" Target="../embeddings/oleObject23.bin"/><Relationship Id="rId16" Type="http://schemas.openxmlformats.org/officeDocument/2006/relationships/image" Target="../media/image23.png"/><Relationship Id="rId15" Type="http://schemas.openxmlformats.org/officeDocument/2006/relationships/oleObject" Target="../embeddings/oleObject22.bin"/><Relationship Id="rId14" Type="http://schemas.openxmlformats.org/officeDocument/2006/relationships/image" Target="../media/image22.png"/><Relationship Id="rId13" Type="http://schemas.openxmlformats.org/officeDocument/2006/relationships/oleObject" Target="../embeddings/oleObject21.bin"/><Relationship Id="rId12" Type="http://schemas.openxmlformats.org/officeDocument/2006/relationships/image" Target="../media/image21.png"/><Relationship Id="rId11" Type="http://schemas.openxmlformats.org/officeDocument/2006/relationships/oleObject" Target="../embeddings/oleObject20.bin"/><Relationship Id="rId10" Type="http://schemas.openxmlformats.org/officeDocument/2006/relationships/image" Target="../media/image20.png"/><Relationship Id="rId1" Type="http://schemas.openxmlformats.org/officeDocument/2006/relationships/oleObject" Target="../embeddings/oleObject15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image" Target="../media/image33.png"/><Relationship Id="rId7" Type="http://schemas.openxmlformats.org/officeDocument/2006/relationships/oleObject" Target="../embeddings/oleObject32.bin"/><Relationship Id="rId6" Type="http://schemas.openxmlformats.org/officeDocument/2006/relationships/image" Target="../media/image32.png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1.png"/><Relationship Id="rId3" Type="http://schemas.openxmlformats.org/officeDocument/2006/relationships/oleObject" Target="../embeddings/oleObject30.bin"/><Relationship Id="rId20" Type="http://schemas.openxmlformats.org/officeDocument/2006/relationships/vmlDrawing" Target="../drawings/vmlDrawing5.vml"/><Relationship Id="rId2" Type="http://schemas.openxmlformats.org/officeDocument/2006/relationships/image" Target="../media/image30.pn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7.wmf"/><Relationship Id="rId17" Type="http://schemas.openxmlformats.org/officeDocument/2006/relationships/oleObject" Target="../embeddings/oleObject37.bin"/><Relationship Id="rId16" Type="http://schemas.openxmlformats.org/officeDocument/2006/relationships/image" Target="../media/image37.png"/><Relationship Id="rId15" Type="http://schemas.openxmlformats.org/officeDocument/2006/relationships/oleObject" Target="../embeddings/oleObject36.bin"/><Relationship Id="rId14" Type="http://schemas.openxmlformats.org/officeDocument/2006/relationships/image" Target="../media/image36.png"/><Relationship Id="rId13" Type="http://schemas.openxmlformats.org/officeDocument/2006/relationships/oleObject" Target="../embeddings/oleObject35.bin"/><Relationship Id="rId12" Type="http://schemas.openxmlformats.org/officeDocument/2006/relationships/image" Target="../media/image35.png"/><Relationship Id="rId11" Type="http://schemas.openxmlformats.org/officeDocument/2006/relationships/oleObject" Target="../embeddings/oleObject34.bin"/><Relationship Id="rId10" Type="http://schemas.openxmlformats.org/officeDocument/2006/relationships/image" Target="../media/image34.png"/><Relationship Id="rId1" Type="http://schemas.openxmlformats.org/officeDocument/2006/relationships/oleObject" Target="../embeddings/oleObject29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.bin"/><Relationship Id="rId8" Type="http://schemas.openxmlformats.org/officeDocument/2006/relationships/image" Target="../media/image31.png"/><Relationship Id="rId7" Type="http://schemas.openxmlformats.org/officeDocument/2006/relationships/oleObject" Target="../embeddings/oleObject41.bin"/><Relationship Id="rId6" Type="http://schemas.openxmlformats.org/officeDocument/2006/relationships/image" Target="../media/image30.png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9.emf"/><Relationship Id="rId31" Type="http://schemas.openxmlformats.org/officeDocument/2006/relationships/vmlDrawing" Target="../drawings/vmlDrawing6.vml"/><Relationship Id="rId30" Type="http://schemas.openxmlformats.org/officeDocument/2006/relationships/slideLayout" Target="../slideLayouts/slideLayout7.xml"/><Relationship Id="rId3" Type="http://schemas.openxmlformats.org/officeDocument/2006/relationships/oleObject" Target="../embeddings/oleObject39.bin"/><Relationship Id="rId29" Type="http://schemas.openxmlformats.org/officeDocument/2006/relationships/audio" Target="../media/audio1.wav"/><Relationship Id="rId28" Type="http://schemas.openxmlformats.org/officeDocument/2006/relationships/image" Target="../media/image42.png"/><Relationship Id="rId27" Type="http://schemas.openxmlformats.org/officeDocument/2006/relationships/oleObject" Target="../embeddings/oleObject51.bin"/><Relationship Id="rId26" Type="http://schemas.openxmlformats.org/officeDocument/2006/relationships/image" Target="../media/image41.png"/><Relationship Id="rId25" Type="http://schemas.openxmlformats.org/officeDocument/2006/relationships/oleObject" Target="../embeddings/oleObject50.bin"/><Relationship Id="rId24" Type="http://schemas.openxmlformats.org/officeDocument/2006/relationships/image" Target="../media/image40.png"/><Relationship Id="rId23" Type="http://schemas.openxmlformats.org/officeDocument/2006/relationships/oleObject" Target="../embeddings/oleObject49.bin"/><Relationship Id="rId22" Type="http://schemas.openxmlformats.org/officeDocument/2006/relationships/image" Target="../media/image26.png"/><Relationship Id="rId21" Type="http://schemas.openxmlformats.org/officeDocument/2006/relationships/oleObject" Target="../embeddings/oleObject48.bin"/><Relationship Id="rId20" Type="http://schemas.openxmlformats.org/officeDocument/2006/relationships/image" Target="../media/image37.png"/><Relationship Id="rId2" Type="http://schemas.openxmlformats.org/officeDocument/2006/relationships/image" Target="../media/image38.wmf"/><Relationship Id="rId19" Type="http://schemas.openxmlformats.org/officeDocument/2006/relationships/oleObject" Target="../embeddings/oleObject47.bin"/><Relationship Id="rId18" Type="http://schemas.openxmlformats.org/officeDocument/2006/relationships/image" Target="../media/image36.png"/><Relationship Id="rId17" Type="http://schemas.openxmlformats.org/officeDocument/2006/relationships/oleObject" Target="../embeddings/oleObject46.bin"/><Relationship Id="rId16" Type="http://schemas.openxmlformats.org/officeDocument/2006/relationships/image" Target="../media/image35.png"/><Relationship Id="rId15" Type="http://schemas.openxmlformats.org/officeDocument/2006/relationships/oleObject" Target="../embeddings/oleObject45.bin"/><Relationship Id="rId14" Type="http://schemas.openxmlformats.org/officeDocument/2006/relationships/image" Target="../media/image34.png"/><Relationship Id="rId13" Type="http://schemas.openxmlformats.org/officeDocument/2006/relationships/oleObject" Target="../embeddings/oleObject44.bin"/><Relationship Id="rId12" Type="http://schemas.openxmlformats.org/officeDocument/2006/relationships/image" Target="../media/image33.png"/><Relationship Id="rId11" Type="http://schemas.openxmlformats.org/officeDocument/2006/relationships/oleObject" Target="../embeddings/oleObject43.bin"/><Relationship Id="rId10" Type="http://schemas.openxmlformats.org/officeDocument/2006/relationships/image" Target="../media/image32.png"/><Relationship Id="rId1" Type="http://schemas.openxmlformats.org/officeDocument/2006/relationships/oleObject" Target="../embeddings/oleObject38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.bin"/><Relationship Id="rId8" Type="http://schemas.openxmlformats.org/officeDocument/2006/relationships/image" Target="../media/image47.png"/><Relationship Id="rId7" Type="http://schemas.openxmlformats.org/officeDocument/2006/relationships/oleObject" Target="../embeddings/oleObject54.bin"/><Relationship Id="rId6" Type="http://schemas.openxmlformats.org/officeDocument/2006/relationships/image" Target="../media/image46.png"/><Relationship Id="rId5" Type="http://schemas.openxmlformats.org/officeDocument/2006/relationships/oleObject" Target="../embeddings/oleObject53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52.bin"/><Relationship Id="rId23" Type="http://schemas.openxmlformats.org/officeDocument/2006/relationships/vmlDrawing" Target="../drawings/vmlDrawing7.vml"/><Relationship Id="rId22" Type="http://schemas.openxmlformats.org/officeDocument/2006/relationships/slideLayout" Target="../slideLayouts/slideLayout7.xml"/><Relationship Id="rId21" Type="http://schemas.openxmlformats.org/officeDocument/2006/relationships/audio" Target="../media/audio1.wav"/><Relationship Id="rId20" Type="http://schemas.openxmlformats.org/officeDocument/2006/relationships/image" Target="../media/image52.wmf"/><Relationship Id="rId2" Type="http://schemas.openxmlformats.org/officeDocument/2006/relationships/image" Target="../media/image44.jpeg"/><Relationship Id="rId19" Type="http://schemas.openxmlformats.org/officeDocument/2006/relationships/oleObject" Target="../embeddings/oleObject61.bin"/><Relationship Id="rId18" Type="http://schemas.openxmlformats.org/officeDocument/2006/relationships/image" Target="../media/image51.png"/><Relationship Id="rId17" Type="http://schemas.openxmlformats.org/officeDocument/2006/relationships/oleObject" Target="../embeddings/oleObject60.bin"/><Relationship Id="rId16" Type="http://schemas.openxmlformats.org/officeDocument/2006/relationships/image" Target="../media/image50.png"/><Relationship Id="rId15" Type="http://schemas.openxmlformats.org/officeDocument/2006/relationships/oleObject" Target="../embeddings/oleObject59.bin"/><Relationship Id="rId14" Type="http://schemas.openxmlformats.org/officeDocument/2006/relationships/image" Target="../media/image49.png"/><Relationship Id="rId13" Type="http://schemas.openxmlformats.org/officeDocument/2006/relationships/oleObject" Target="../embeddings/oleObject58.bin"/><Relationship Id="rId12" Type="http://schemas.openxmlformats.org/officeDocument/2006/relationships/oleObject" Target="../embeddings/oleObject57.bin"/><Relationship Id="rId11" Type="http://schemas.openxmlformats.org/officeDocument/2006/relationships/oleObject" Target="../embeddings/oleObject56.bin"/><Relationship Id="rId10" Type="http://schemas.openxmlformats.org/officeDocument/2006/relationships/image" Target="../media/image48.png"/><Relationship Id="rId1" Type="http://schemas.openxmlformats.org/officeDocument/2006/relationships/image" Target="../media/image43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emf"/><Relationship Id="rId8" Type="http://schemas.openxmlformats.org/officeDocument/2006/relationships/oleObject" Target="../embeddings/oleObject65.bin"/><Relationship Id="rId7" Type="http://schemas.openxmlformats.org/officeDocument/2006/relationships/image" Target="../media/image55.emf"/><Relationship Id="rId6" Type="http://schemas.openxmlformats.org/officeDocument/2006/relationships/oleObject" Target="../embeddings/oleObject64.bin"/><Relationship Id="rId55" Type="http://schemas.openxmlformats.org/officeDocument/2006/relationships/vmlDrawing" Target="../drawings/vmlDrawing8.vml"/><Relationship Id="rId54" Type="http://schemas.openxmlformats.org/officeDocument/2006/relationships/slideLayout" Target="../slideLayouts/slideLayout7.xml"/><Relationship Id="rId53" Type="http://schemas.openxmlformats.org/officeDocument/2006/relationships/image" Target="../media/image78.wmf"/><Relationship Id="rId52" Type="http://schemas.openxmlformats.org/officeDocument/2006/relationships/oleObject" Target="../embeddings/oleObject87.bin"/><Relationship Id="rId51" Type="http://schemas.openxmlformats.org/officeDocument/2006/relationships/image" Target="../media/image77.wmf"/><Relationship Id="rId50" Type="http://schemas.openxmlformats.org/officeDocument/2006/relationships/oleObject" Target="../embeddings/oleObject86.bin"/><Relationship Id="rId5" Type="http://schemas.openxmlformats.org/officeDocument/2006/relationships/image" Target="../media/image44.jpeg"/><Relationship Id="rId49" Type="http://schemas.openxmlformats.org/officeDocument/2006/relationships/image" Target="../media/image76.wmf"/><Relationship Id="rId48" Type="http://schemas.openxmlformats.org/officeDocument/2006/relationships/oleObject" Target="../embeddings/oleObject85.bin"/><Relationship Id="rId47" Type="http://schemas.openxmlformats.org/officeDocument/2006/relationships/image" Target="../media/image75.wmf"/><Relationship Id="rId46" Type="http://schemas.openxmlformats.org/officeDocument/2006/relationships/oleObject" Target="../embeddings/oleObject84.bin"/><Relationship Id="rId45" Type="http://schemas.openxmlformats.org/officeDocument/2006/relationships/image" Target="../media/image74.wmf"/><Relationship Id="rId44" Type="http://schemas.openxmlformats.org/officeDocument/2006/relationships/oleObject" Target="../embeddings/oleObject83.bin"/><Relationship Id="rId43" Type="http://schemas.openxmlformats.org/officeDocument/2006/relationships/image" Target="../media/image73.wmf"/><Relationship Id="rId42" Type="http://schemas.openxmlformats.org/officeDocument/2006/relationships/oleObject" Target="../embeddings/oleObject82.bin"/><Relationship Id="rId41" Type="http://schemas.openxmlformats.org/officeDocument/2006/relationships/image" Target="../media/image72.wmf"/><Relationship Id="rId40" Type="http://schemas.openxmlformats.org/officeDocument/2006/relationships/oleObject" Target="../embeddings/oleObject81.bin"/><Relationship Id="rId4" Type="http://schemas.openxmlformats.org/officeDocument/2006/relationships/image" Target="../media/image54.emf"/><Relationship Id="rId39" Type="http://schemas.openxmlformats.org/officeDocument/2006/relationships/image" Target="../media/image71.emf"/><Relationship Id="rId38" Type="http://schemas.openxmlformats.org/officeDocument/2006/relationships/oleObject" Target="../embeddings/oleObject80.bin"/><Relationship Id="rId37" Type="http://schemas.openxmlformats.org/officeDocument/2006/relationships/image" Target="../media/image70.emf"/><Relationship Id="rId36" Type="http://schemas.openxmlformats.org/officeDocument/2006/relationships/oleObject" Target="../embeddings/oleObject79.bin"/><Relationship Id="rId35" Type="http://schemas.openxmlformats.org/officeDocument/2006/relationships/image" Target="../media/image69.emf"/><Relationship Id="rId34" Type="http://schemas.openxmlformats.org/officeDocument/2006/relationships/oleObject" Target="../embeddings/oleObject78.bin"/><Relationship Id="rId33" Type="http://schemas.openxmlformats.org/officeDocument/2006/relationships/image" Target="../media/image68.emf"/><Relationship Id="rId32" Type="http://schemas.openxmlformats.org/officeDocument/2006/relationships/oleObject" Target="../embeddings/oleObject77.bin"/><Relationship Id="rId31" Type="http://schemas.openxmlformats.org/officeDocument/2006/relationships/image" Target="../media/image67.emf"/><Relationship Id="rId30" Type="http://schemas.openxmlformats.org/officeDocument/2006/relationships/oleObject" Target="../embeddings/oleObject76.bin"/><Relationship Id="rId3" Type="http://schemas.openxmlformats.org/officeDocument/2006/relationships/oleObject" Target="../embeddings/oleObject63.bin"/><Relationship Id="rId29" Type="http://schemas.openxmlformats.org/officeDocument/2006/relationships/image" Target="../media/image66.emf"/><Relationship Id="rId28" Type="http://schemas.openxmlformats.org/officeDocument/2006/relationships/oleObject" Target="../embeddings/oleObject75.bin"/><Relationship Id="rId27" Type="http://schemas.openxmlformats.org/officeDocument/2006/relationships/image" Target="../media/image65.emf"/><Relationship Id="rId26" Type="http://schemas.openxmlformats.org/officeDocument/2006/relationships/oleObject" Target="../embeddings/oleObject74.bin"/><Relationship Id="rId25" Type="http://schemas.openxmlformats.org/officeDocument/2006/relationships/image" Target="../media/image64.emf"/><Relationship Id="rId24" Type="http://schemas.openxmlformats.org/officeDocument/2006/relationships/oleObject" Target="../embeddings/oleObject73.bin"/><Relationship Id="rId23" Type="http://schemas.openxmlformats.org/officeDocument/2006/relationships/image" Target="../media/image63.emf"/><Relationship Id="rId22" Type="http://schemas.openxmlformats.org/officeDocument/2006/relationships/oleObject" Target="../embeddings/oleObject72.bin"/><Relationship Id="rId21" Type="http://schemas.openxmlformats.org/officeDocument/2006/relationships/image" Target="../media/image62.emf"/><Relationship Id="rId20" Type="http://schemas.openxmlformats.org/officeDocument/2006/relationships/oleObject" Target="../embeddings/oleObject71.bin"/><Relationship Id="rId2" Type="http://schemas.openxmlformats.org/officeDocument/2006/relationships/image" Target="../media/image53.emf"/><Relationship Id="rId19" Type="http://schemas.openxmlformats.org/officeDocument/2006/relationships/image" Target="../media/image61.emf"/><Relationship Id="rId18" Type="http://schemas.openxmlformats.org/officeDocument/2006/relationships/oleObject" Target="../embeddings/oleObject70.bin"/><Relationship Id="rId17" Type="http://schemas.openxmlformats.org/officeDocument/2006/relationships/image" Target="../media/image60.emf"/><Relationship Id="rId16" Type="http://schemas.openxmlformats.org/officeDocument/2006/relationships/oleObject" Target="../embeddings/oleObject69.bin"/><Relationship Id="rId15" Type="http://schemas.openxmlformats.org/officeDocument/2006/relationships/image" Target="../media/image59.emf"/><Relationship Id="rId14" Type="http://schemas.openxmlformats.org/officeDocument/2006/relationships/oleObject" Target="../embeddings/oleObject68.bin"/><Relationship Id="rId13" Type="http://schemas.openxmlformats.org/officeDocument/2006/relationships/image" Target="../media/image58.emf"/><Relationship Id="rId12" Type="http://schemas.openxmlformats.org/officeDocument/2006/relationships/oleObject" Target="../embeddings/oleObject67.bin"/><Relationship Id="rId11" Type="http://schemas.openxmlformats.org/officeDocument/2006/relationships/image" Target="../media/image57.emf"/><Relationship Id="rId10" Type="http://schemas.openxmlformats.org/officeDocument/2006/relationships/oleObject" Target="../embeddings/oleObject66.bin"/><Relationship Id="rId1" Type="http://schemas.openxmlformats.org/officeDocument/2006/relationships/oleObject" Target="../embeddings/oleObject62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2.emf"/><Relationship Id="rId8" Type="http://schemas.openxmlformats.org/officeDocument/2006/relationships/oleObject" Target="../embeddings/oleObject91.bin"/><Relationship Id="rId7" Type="http://schemas.openxmlformats.org/officeDocument/2006/relationships/image" Target="../media/image81.emf"/><Relationship Id="rId6" Type="http://schemas.openxmlformats.org/officeDocument/2006/relationships/oleObject" Target="../embeddings/oleObject90.bin"/><Relationship Id="rId5" Type="http://schemas.openxmlformats.org/officeDocument/2006/relationships/image" Target="../media/image43.jpeg"/><Relationship Id="rId4" Type="http://schemas.openxmlformats.org/officeDocument/2006/relationships/image" Target="../media/image80.emf"/><Relationship Id="rId3" Type="http://schemas.openxmlformats.org/officeDocument/2006/relationships/oleObject" Target="../embeddings/oleObject89.bin"/><Relationship Id="rId2" Type="http://schemas.openxmlformats.org/officeDocument/2006/relationships/image" Target="../media/image79.emf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7.xml"/><Relationship Id="rId12" Type="http://schemas.openxmlformats.org/officeDocument/2006/relationships/audio" Target="../media/audio1.wav"/><Relationship Id="rId11" Type="http://schemas.openxmlformats.org/officeDocument/2006/relationships/image" Target="../media/image83.png"/><Relationship Id="rId10" Type="http://schemas.openxmlformats.org/officeDocument/2006/relationships/oleObject" Target="../embeddings/oleObject92.bin"/><Relationship Id="rId1" Type="http://schemas.openxmlformats.org/officeDocument/2006/relationships/oleObject" Target="../embeddings/oleObject88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7.bin"/><Relationship Id="rId8" Type="http://schemas.openxmlformats.org/officeDocument/2006/relationships/image" Target="../media/image87.emf"/><Relationship Id="rId7" Type="http://schemas.openxmlformats.org/officeDocument/2006/relationships/oleObject" Target="../embeddings/oleObject96.bin"/><Relationship Id="rId6" Type="http://schemas.openxmlformats.org/officeDocument/2006/relationships/image" Target="../media/image86.emf"/><Relationship Id="rId5" Type="http://schemas.openxmlformats.org/officeDocument/2006/relationships/oleObject" Target="../embeddings/oleObject95.bin"/><Relationship Id="rId47" Type="http://schemas.openxmlformats.org/officeDocument/2006/relationships/vmlDrawing" Target="../drawings/vmlDrawing10.vml"/><Relationship Id="rId46" Type="http://schemas.openxmlformats.org/officeDocument/2006/relationships/slideLayout" Target="../slideLayouts/slideLayout7.xml"/><Relationship Id="rId45" Type="http://schemas.openxmlformats.org/officeDocument/2006/relationships/image" Target="../media/image105.wmf"/><Relationship Id="rId44" Type="http://schemas.openxmlformats.org/officeDocument/2006/relationships/oleObject" Target="../embeddings/oleObject114.bin"/><Relationship Id="rId43" Type="http://schemas.openxmlformats.org/officeDocument/2006/relationships/image" Target="../media/image104.wmf"/><Relationship Id="rId42" Type="http://schemas.openxmlformats.org/officeDocument/2006/relationships/oleObject" Target="../embeddings/oleObject113.bin"/><Relationship Id="rId41" Type="http://schemas.openxmlformats.org/officeDocument/2006/relationships/image" Target="../media/image103.wmf"/><Relationship Id="rId40" Type="http://schemas.openxmlformats.org/officeDocument/2006/relationships/oleObject" Target="../embeddings/oleObject112.bin"/><Relationship Id="rId4" Type="http://schemas.openxmlformats.org/officeDocument/2006/relationships/image" Target="../media/image85.emf"/><Relationship Id="rId39" Type="http://schemas.openxmlformats.org/officeDocument/2006/relationships/image" Target="../media/image102.wmf"/><Relationship Id="rId38" Type="http://schemas.openxmlformats.org/officeDocument/2006/relationships/oleObject" Target="../embeddings/oleObject111.bin"/><Relationship Id="rId37" Type="http://schemas.openxmlformats.org/officeDocument/2006/relationships/image" Target="../media/image101.wmf"/><Relationship Id="rId36" Type="http://schemas.openxmlformats.org/officeDocument/2006/relationships/oleObject" Target="../embeddings/oleObject110.bin"/><Relationship Id="rId35" Type="http://schemas.openxmlformats.org/officeDocument/2006/relationships/image" Target="../media/image100.wmf"/><Relationship Id="rId34" Type="http://schemas.openxmlformats.org/officeDocument/2006/relationships/oleObject" Target="../embeddings/oleObject109.bin"/><Relationship Id="rId33" Type="http://schemas.openxmlformats.org/officeDocument/2006/relationships/image" Target="../media/image99.wmf"/><Relationship Id="rId32" Type="http://schemas.openxmlformats.org/officeDocument/2006/relationships/oleObject" Target="../embeddings/oleObject108.bin"/><Relationship Id="rId31" Type="http://schemas.openxmlformats.org/officeDocument/2006/relationships/image" Target="../media/image98.wmf"/><Relationship Id="rId30" Type="http://schemas.openxmlformats.org/officeDocument/2006/relationships/oleObject" Target="../embeddings/oleObject107.bin"/><Relationship Id="rId3" Type="http://schemas.openxmlformats.org/officeDocument/2006/relationships/oleObject" Target="../embeddings/oleObject94.bin"/><Relationship Id="rId29" Type="http://schemas.openxmlformats.org/officeDocument/2006/relationships/image" Target="../media/image97.wmf"/><Relationship Id="rId28" Type="http://schemas.openxmlformats.org/officeDocument/2006/relationships/oleObject" Target="../embeddings/oleObject106.bin"/><Relationship Id="rId27" Type="http://schemas.openxmlformats.org/officeDocument/2006/relationships/image" Target="../media/image96.wmf"/><Relationship Id="rId26" Type="http://schemas.openxmlformats.org/officeDocument/2006/relationships/oleObject" Target="../embeddings/oleObject105.bin"/><Relationship Id="rId25" Type="http://schemas.openxmlformats.org/officeDocument/2006/relationships/image" Target="../media/image95.emf"/><Relationship Id="rId24" Type="http://schemas.openxmlformats.org/officeDocument/2006/relationships/oleObject" Target="../embeddings/oleObject104.bin"/><Relationship Id="rId23" Type="http://schemas.openxmlformats.org/officeDocument/2006/relationships/image" Target="../media/image94.emf"/><Relationship Id="rId22" Type="http://schemas.openxmlformats.org/officeDocument/2006/relationships/oleObject" Target="../embeddings/oleObject103.bin"/><Relationship Id="rId21" Type="http://schemas.openxmlformats.org/officeDocument/2006/relationships/image" Target="../media/image93.wmf"/><Relationship Id="rId20" Type="http://schemas.openxmlformats.org/officeDocument/2006/relationships/oleObject" Target="../embeddings/oleObject102.bin"/><Relationship Id="rId2" Type="http://schemas.openxmlformats.org/officeDocument/2006/relationships/image" Target="../media/image84.emf"/><Relationship Id="rId19" Type="http://schemas.openxmlformats.org/officeDocument/2006/relationships/image" Target="../media/image92.emf"/><Relationship Id="rId18" Type="http://schemas.openxmlformats.org/officeDocument/2006/relationships/oleObject" Target="../embeddings/oleObject101.bin"/><Relationship Id="rId17" Type="http://schemas.openxmlformats.org/officeDocument/2006/relationships/image" Target="../media/image44.jpeg"/><Relationship Id="rId16" Type="http://schemas.openxmlformats.org/officeDocument/2006/relationships/image" Target="../media/image91.emf"/><Relationship Id="rId15" Type="http://schemas.openxmlformats.org/officeDocument/2006/relationships/oleObject" Target="../embeddings/oleObject100.bin"/><Relationship Id="rId14" Type="http://schemas.openxmlformats.org/officeDocument/2006/relationships/image" Target="../media/image90.emf"/><Relationship Id="rId13" Type="http://schemas.openxmlformats.org/officeDocument/2006/relationships/oleObject" Target="../embeddings/oleObject99.bin"/><Relationship Id="rId12" Type="http://schemas.openxmlformats.org/officeDocument/2006/relationships/image" Target="../media/image89.emf"/><Relationship Id="rId11" Type="http://schemas.openxmlformats.org/officeDocument/2006/relationships/oleObject" Target="../embeddings/oleObject98.bin"/><Relationship Id="rId10" Type="http://schemas.openxmlformats.org/officeDocument/2006/relationships/image" Target="../media/image88.emf"/><Relationship Id="rId1" Type="http://schemas.openxmlformats.org/officeDocument/2006/relationships/oleObject" Target="../embeddings/oleObject93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9.bin"/><Relationship Id="rId8" Type="http://schemas.openxmlformats.org/officeDocument/2006/relationships/image" Target="../media/image109.emf"/><Relationship Id="rId7" Type="http://schemas.openxmlformats.org/officeDocument/2006/relationships/oleObject" Target="../embeddings/oleObject118.bin"/><Relationship Id="rId6" Type="http://schemas.openxmlformats.org/officeDocument/2006/relationships/image" Target="../media/image108.emf"/><Relationship Id="rId5" Type="http://schemas.openxmlformats.org/officeDocument/2006/relationships/oleObject" Target="../embeddings/oleObject117.bin"/><Relationship Id="rId45" Type="http://schemas.openxmlformats.org/officeDocument/2006/relationships/vmlDrawing" Target="../drawings/vmlDrawing11.vml"/><Relationship Id="rId44" Type="http://schemas.openxmlformats.org/officeDocument/2006/relationships/slideLayout" Target="../slideLayouts/slideLayout7.xml"/><Relationship Id="rId43" Type="http://schemas.openxmlformats.org/officeDocument/2006/relationships/image" Target="../media/image126.wmf"/><Relationship Id="rId42" Type="http://schemas.openxmlformats.org/officeDocument/2006/relationships/oleObject" Target="../embeddings/oleObject135.bin"/><Relationship Id="rId41" Type="http://schemas.openxmlformats.org/officeDocument/2006/relationships/image" Target="../media/image125.wmf"/><Relationship Id="rId40" Type="http://schemas.openxmlformats.org/officeDocument/2006/relationships/oleObject" Target="../embeddings/oleObject134.bin"/><Relationship Id="rId4" Type="http://schemas.openxmlformats.org/officeDocument/2006/relationships/image" Target="../media/image107.emf"/><Relationship Id="rId39" Type="http://schemas.openxmlformats.org/officeDocument/2006/relationships/image" Target="../media/image124.wmf"/><Relationship Id="rId38" Type="http://schemas.openxmlformats.org/officeDocument/2006/relationships/oleObject" Target="../embeddings/oleObject133.bin"/><Relationship Id="rId37" Type="http://schemas.openxmlformats.org/officeDocument/2006/relationships/image" Target="../media/image123.wmf"/><Relationship Id="rId36" Type="http://schemas.openxmlformats.org/officeDocument/2006/relationships/oleObject" Target="../embeddings/oleObject132.bin"/><Relationship Id="rId35" Type="http://schemas.openxmlformats.org/officeDocument/2006/relationships/image" Target="../media/image122.wmf"/><Relationship Id="rId34" Type="http://schemas.openxmlformats.org/officeDocument/2006/relationships/oleObject" Target="../embeddings/oleObject131.bin"/><Relationship Id="rId33" Type="http://schemas.openxmlformats.org/officeDocument/2006/relationships/image" Target="../media/image121.wmf"/><Relationship Id="rId32" Type="http://schemas.openxmlformats.org/officeDocument/2006/relationships/oleObject" Target="../embeddings/oleObject130.bin"/><Relationship Id="rId31" Type="http://schemas.openxmlformats.org/officeDocument/2006/relationships/image" Target="../media/image120.emf"/><Relationship Id="rId30" Type="http://schemas.openxmlformats.org/officeDocument/2006/relationships/oleObject" Target="../embeddings/oleObject129.bin"/><Relationship Id="rId3" Type="http://schemas.openxmlformats.org/officeDocument/2006/relationships/oleObject" Target="../embeddings/oleObject116.bin"/><Relationship Id="rId29" Type="http://schemas.openxmlformats.org/officeDocument/2006/relationships/image" Target="../media/image119.wmf"/><Relationship Id="rId28" Type="http://schemas.openxmlformats.org/officeDocument/2006/relationships/oleObject" Target="../embeddings/oleObject128.bin"/><Relationship Id="rId27" Type="http://schemas.openxmlformats.org/officeDocument/2006/relationships/image" Target="../media/image118.wmf"/><Relationship Id="rId26" Type="http://schemas.openxmlformats.org/officeDocument/2006/relationships/oleObject" Target="../embeddings/oleObject127.bin"/><Relationship Id="rId25" Type="http://schemas.openxmlformats.org/officeDocument/2006/relationships/image" Target="../media/image117.wmf"/><Relationship Id="rId24" Type="http://schemas.openxmlformats.org/officeDocument/2006/relationships/oleObject" Target="../embeddings/oleObject126.bin"/><Relationship Id="rId23" Type="http://schemas.openxmlformats.org/officeDocument/2006/relationships/image" Target="../media/image116.emf"/><Relationship Id="rId22" Type="http://schemas.openxmlformats.org/officeDocument/2006/relationships/oleObject" Target="../embeddings/oleObject125.bin"/><Relationship Id="rId21" Type="http://schemas.openxmlformats.org/officeDocument/2006/relationships/image" Target="../media/image115.emf"/><Relationship Id="rId20" Type="http://schemas.openxmlformats.org/officeDocument/2006/relationships/oleObject" Target="../embeddings/oleObject124.bin"/><Relationship Id="rId2" Type="http://schemas.openxmlformats.org/officeDocument/2006/relationships/image" Target="../media/image106.emf"/><Relationship Id="rId19" Type="http://schemas.openxmlformats.org/officeDocument/2006/relationships/image" Target="../media/image114.emf"/><Relationship Id="rId18" Type="http://schemas.openxmlformats.org/officeDocument/2006/relationships/oleObject" Target="../embeddings/oleObject123.bin"/><Relationship Id="rId17" Type="http://schemas.openxmlformats.org/officeDocument/2006/relationships/image" Target="../media/image44.jpeg"/><Relationship Id="rId16" Type="http://schemas.openxmlformats.org/officeDocument/2006/relationships/image" Target="../media/image113.emf"/><Relationship Id="rId15" Type="http://schemas.openxmlformats.org/officeDocument/2006/relationships/oleObject" Target="../embeddings/oleObject122.bin"/><Relationship Id="rId14" Type="http://schemas.openxmlformats.org/officeDocument/2006/relationships/image" Target="../media/image112.emf"/><Relationship Id="rId13" Type="http://schemas.openxmlformats.org/officeDocument/2006/relationships/oleObject" Target="../embeddings/oleObject121.bin"/><Relationship Id="rId12" Type="http://schemas.openxmlformats.org/officeDocument/2006/relationships/image" Target="../media/image111.emf"/><Relationship Id="rId11" Type="http://schemas.openxmlformats.org/officeDocument/2006/relationships/oleObject" Target="../embeddings/oleObject120.bin"/><Relationship Id="rId10" Type="http://schemas.openxmlformats.org/officeDocument/2006/relationships/image" Target="../media/image110.emf"/><Relationship Id="rId1" Type="http://schemas.openxmlformats.org/officeDocument/2006/relationships/oleObject" Target="../embeddings/oleObject115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27.wmf"/><Relationship Id="rId1" Type="http://schemas.openxmlformats.org/officeDocument/2006/relationships/oleObject" Target="../embeddings/oleObject136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31.wmf"/><Relationship Id="rId7" Type="http://schemas.openxmlformats.org/officeDocument/2006/relationships/oleObject" Target="../embeddings/oleObject140.bin"/><Relationship Id="rId6" Type="http://schemas.openxmlformats.org/officeDocument/2006/relationships/image" Target="../media/image130.wmf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129.wmf"/><Relationship Id="rId3" Type="http://schemas.openxmlformats.org/officeDocument/2006/relationships/oleObject" Target="../embeddings/oleObject138.bin"/><Relationship Id="rId2" Type="http://schemas.openxmlformats.org/officeDocument/2006/relationships/image" Target="../media/image128.wmf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oleObject13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4.wmf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133.wmf"/><Relationship Id="rId3" Type="http://schemas.openxmlformats.org/officeDocument/2006/relationships/oleObject" Target="../embeddings/oleObject142.bin"/><Relationship Id="rId2" Type="http://schemas.openxmlformats.org/officeDocument/2006/relationships/image" Target="../media/image132.wmf"/><Relationship Id="rId1" Type="http://schemas.openxmlformats.org/officeDocument/2006/relationships/oleObject" Target="../embeddings/oleObject141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38.wmf"/><Relationship Id="rId7" Type="http://schemas.openxmlformats.org/officeDocument/2006/relationships/oleObject" Target="../embeddings/oleObject147.bin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136.wmf"/><Relationship Id="rId3" Type="http://schemas.openxmlformats.org/officeDocument/2006/relationships/oleObject" Target="../embeddings/oleObject145.bin"/><Relationship Id="rId2" Type="http://schemas.openxmlformats.org/officeDocument/2006/relationships/image" Target="../media/image135.wmf"/><Relationship Id="rId10" Type="http://schemas.openxmlformats.org/officeDocument/2006/relationships/vmlDrawing" Target="../drawings/vmlDrawing15.vml"/><Relationship Id="rId1" Type="http://schemas.openxmlformats.org/officeDocument/2006/relationships/oleObject" Target="../embeddings/oleObject144.bin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6.xml"/><Relationship Id="rId4" Type="http://schemas.openxmlformats.org/officeDocument/2006/relationships/audio" Target="../media/audio2.wav"/><Relationship Id="rId3" Type="http://schemas.openxmlformats.org/officeDocument/2006/relationships/audio" Target="../media/audio1.wav"/><Relationship Id="rId2" Type="http://schemas.openxmlformats.org/officeDocument/2006/relationships/image" Target="../media/image139.wmf"/><Relationship Id="rId1" Type="http://schemas.openxmlformats.org/officeDocument/2006/relationships/oleObject" Target="../embeddings/oleObject148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3.wmf"/><Relationship Id="rId8" Type="http://schemas.openxmlformats.org/officeDocument/2006/relationships/oleObject" Target="../embeddings/oleObject152.bin"/><Relationship Id="rId7" Type="http://schemas.openxmlformats.org/officeDocument/2006/relationships/image" Target="../media/image142.wmf"/><Relationship Id="rId6" Type="http://schemas.openxmlformats.org/officeDocument/2006/relationships/oleObject" Target="../embeddings/oleObject151.bin"/><Relationship Id="rId5" Type="http://schemas.openxmlformats.org/officeDocument/2006/relationships/image" Target="../media/image141.wmf"/><Relationship Id="rId4" Type="http://schemas.openxmlformats.org/officeDocument/2006/relationships/oleObject" Target="../embeddings/oleObject150.bin"/><Relationship Id="rId3" Type="http://schemas.openxmlformats.org/officeDocument/2006/relationships/image" Target="../media/image43.jpeg"/><Relationship Id="rId25" Type="http://schemas.openxmlformats.org/officeDocument/2006/relationships/vmlDrawing" Target="../drawings/vmlDrawing17.vml"/><Relationship Id="rId24" Type="http://schemas.openxmlformats.org/officeDocument/2006/relationships/slideLayout" Target="../slideLayouts/slideLayout6.xml"/><Relationship Id="rId23" Type="http://schemas.openxmlformats.org/officeDocument/2006/relationships/image" Target="../media/image150.wmf"/><Relationship Id="rId22" Type="http://schemas.openxmlformats.org/officeDocument/2006/relationships/oleObject" Target="../embeddings/oleObject159.bin"/><Relationship Id="rId21" Type="http://schemas.openxmlformats.org/officeDocument/2006/relationships/image" Target="../media/image149.wmf"/><Relationship Id="rId20" Type="http://schemas.openxmlformats.org/officeDocument/2006/relationships/oleObject" Target="../embeddings/oleObject158.bin"/><Relationship Id="rId2" Type="http://schemas.openxmlformats.org/officeDocument/2006/relationships/image" Target="../media/image139.wmf"/><Relationship Id="rId19" Type="http://schemas.openxmlformats.org/officeDocument/2006/relationships/image" Target="../media/image148.wmf"/><Relationship Id="rId18" Type="http://schemas.openxmlformats.org/officeDocument/2006/relationships/oleObject" Target="../embeddings/oleObject157.bin"/><Relationship Id="rId17" Type="http://schemas.openxmlformats.org/officeDocument/2006/relationships/image" Target="../media/image147.wmf"/><Relationship Id="rId16" Type="http://schemas.openxmlformats.org/officeDocument/2006/relationships/oleObject" Target="../embeddings/oleObject156.bin"/><Relationship Id="rId15" Type="http://schemas.openxmlformats.org/officeDocument/2006/relationships/image" Target="../media/image146.wmf"/><Relationship Id="rId14" Type="http://schemas.openxmlformats.org/officeDocument/2006/relationships/oleObject" Target="../embeddings/oleObject155.bin"/><Relationship Id="rId13" Type="http://schemas.openxmlformats.org/officeDocument/2006/relationships/image" Target="../media/image145.wmf"/><Relationship Id="rId12" Type="http://schemas.openxmlformats.org/officeDocument/2006/relationships/oleObject" Target="../embeddings/oleObject154.bin"/><Relationship Id="rId11" Type="http://schemas.openxmlformats.org/officeDocument/2006/relationships/image" Target="../media/image144.wmf"/><Relationship Id="rId10" Type="http://schemas.openxmlformats.org/officeDocument/2006/relationships/oleObject" Target="../embeddings/oleObject153.bin"/><Relationship Id="rId1" Type="http://schemas.openxmlformats.org/officeDocument/2006/relationships/oleObject" Target="../embeddings/oleObject149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4.bin"/><Relationship Id="rId8" Type="http://schemas.openxmlformats.org/officeDocument/2006/relationships/image" Target="../media/image154.wmf"/><Relationship Id="rId7" Type="http://schemas.openxmlformats.org/officeDocument/2006/relationships/oleObject" Target="../embeddings/oleObject163.bin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62.bin"/><Relationship Id="rId4" Type="http://schemas.openxmlformats.org/officeDocument/2006/relationships/image" Target="../media/image152.wmf"/><Relationship Id="rId3" Type="http://schemas.openxmlformats.org/officeDocument/2006/relationships/oleObject" Target="../embeddings/oleObject161.bin"/><Relationship Id="rId2" Type="http://schemas.openxmlformats.org/officeDocument/2006/relationships/image" Target="../media/image151.wmf"/><Relationship Id="rId13" Type="http://schemas.openxmlformats.org/officeDocument/2006/relationships/vmlDrawing" Target="../drawings/vmlDrawing18.vml"/><Relationship Id="rId12" Type="http://schemas.openxmlformats.org/officeDocument/2006/relationships/slideLayout" Target="../slideLayouts/slideLayout7.xml"/><Relationship Id="rId11" Type="http://schemas.openxmlformats.org/officeDocument/2006/relationships/oleObject" Target="../embeddings/oleObject165.bin"/><Relationship Id="rId10" Type="http://schemas.openxmlformats.org/officeDocument/2006/relationships/image" Target="../media/image155.wmf"/><Relationship Id="rId1" Type="http://schemas.openxmlformats.org/officeDocument/2006/relationships/oleObject" Target="../embeddings/oleObject160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0.bin"/><Relationship Id="rId8" Type="http://schemas.openxmlformats.org/officeDocument/2006/relationships/image" Target="../media/image158.wmf"/><Relationship Id="rId7" Type="http://schemas.openxmlformats.org/officeDocument/2006/relationships/oleObject" Target="../embeddings/oleObject169.bin"/><Relationship Id="rId6" Type="http://schemas.openxmlformats.org/officeDocument/2006/relationships/image" Target="../media/image157.wmf"/><Relationship Id="rId5" Type="http://schemas.openxmlformats.org/officeDocument/2006/relationships/oleObject" Target="../embeddings/oleObject168.bin"/><Relationship Id="rId4" Type="http://schemas.openxmlformats.org/officeDocument/2006/relationships/image" Target="../media/image156.wmf"/><Relationship Id="rId3" Type="http://schemas.openxmlformats.org/officeDocument/2006/relationships/oleObject" Target="../embeddings/oleObject167.bin"/><Relationship Id="rId21" Type="http://schemas.openxmlformats.org/officeDocument/2006/relationships/vmlDrawing" Target="../drawings/vmlDrawing19.v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139.wmf"/><Relationship Id="rId19" Type="http://schemas.openxmlformats.org/officeDocument/2006/relationships/image" Target="../media/image164.wmf"/><Relationship Id="rId18" Type="http://schemas.openxmlformats.org/officeDocument/2006/relationships/oleObject" Target="../embeddings/oleObject174.bin"/><Relationship Id="rId17" Type="http://schemas.openxmlformats.org/officeDocument/2006/relationships/image" Target="../media/image163.wmf"/><Relationship Id="rId16" Type="http://schemas.openxmlformats.org/officeDocument/2006/relationships/oleObject" Target="../embeddings/oleObject173.bin"/><Relationship Id="rId15" Type="http://schemas.openxmlformats.org/officeDocument/2006/relationships/image" Target="../media/image162.png"/><Relationship Id="rId14" Type="http://schemas.openxmlformats.org/officeDocument/2006/relationships/image" Target="../media/image161.wmf"/><Relationship Id="rId13" Type="http://schemas.openxmlformats.org/officeDocument/2006/relationships/oleObject" Target="../embeddings/oleObject172.bin"/><Relationship Id="rId12" Type="http://schemas.openxmlformats.org/officeDocument/2006/relationships/image" Target="../media/image160.wmf"/><Relationship Id="rId11" Type="http://schemas.openxmlformats.org/officeDocument/2006/relationships/oleObject" Target="../embeddings/oleObject171.bin"/><Relationship Id="rId10" Type="http://schemas.openxmlformats.org/officeDocument/2006/relationships/image" Target="../media/image159.wmf"/><Relationship Id="rId1" Type="http://schemas.openxmlformats.org/officeDocument/2006/relationships/oleObject" Target="../embeddings/oleObject166.bin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0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66.png"/><Relationship Id="rId2" Type="http://schemas.openxmlformats.org/officeDocument/2006/relationships/image" Target="../media/image165.wmf"/><Relationship Id="rId1" Type="http://schemas.openxmlformats.org/officeDocument/2006/relationships/oleObject" Target="../embeddings/oleObject175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70.wmf"/><Relationship Id="rId7" Type="http://schemas.openxmlformats.org/officeDocument/2006/relationships/oleObject" Target="../embeddings/oleObject179.bin"/><Relationship Id="rId6" Type="http://schemas.openxmlformats.org/officeDocument/2006/relationships/image" Target="../media/image169.wmf"/><Relationship Id="rId5" Type="http://schemas.openxmlformats.org/officeDocument/2006/relationships/oleObject" Target="../embeddings/oleObject178.bin"/><Relationship Id="rId4" Type="http://schemas.openxmlformats.org/officeDocument/2006/relationships/image" Target="../media/image168.wmf"/><Relationship Id="rId3" Type="http://schemas.openxmlformats.org/officeDocument/2006/relationships/oleObject" Target="../embeddings/oleObject177.bin"/><Relationship Id="rId2" Type="http://schemas.openxmlformats.org/officeDocument/2006/relationships/image" Target="../media/image167.wmf"/><Relationship Id="rId10" Type="http://schemas.openxmlformats.org/officeDocument/2006/relationships/vmlDrawing" Target="../drawings/vmlDrawing21.vml"/><Relationship Id="rId1" Type="http://schemas.openxmlformats.org/officeDocument/2006/relationships/oleObject" Target="../embeddings/oleObject176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4.bin"/><Relationship Id="rId8" Type="http://schemas.openxmlformats.org/officeDocument/2006/relationships/image" Target="../media/image174.wmf"/><Relationship Id="rId7" Type="http://schemas.openxmlformats.org/officeDocument/2006/relationships/oleObject" Target="../embeddings/oleObject183.bin"/><Relationship Id="rId6" Type="http://schemas.openxmlformats.org/officeDocument/2006/relationships/image" Target="../media/image173.wmf"/><Relationship Id="rId5" Type="http://schemas.openxmlformats.org/officeDocument/2006/relationships/oleObject" Target="../embeddings/oleObject182.bin"/><Relationship Id="rId4" Type="http://schemas.openxmlformats.org/officeDocument/2006/relationships/image" Target="../media/image172.wmf"/><Relationship Id="rId34" Type="http://schemas.openxmlformats.org/officeDocument/2006/relationships/vmlDrawing" Target="../drawings/vmlDrawing22.vml"/><Relationship Id="rId33" Type="http://schemas.openxmlformats.org/officeDocument/2006/relationships/slideLayout" Target="../slideLayouts/slideLayout6.xml"/><Relationship Id="rId32" Type="http://schemas.openxmlformats.org/officeDocument/2006/relationships/image" Target="../media/image149.wmf"/><Relationship Id="rId31" Type="http://schemas.openxmlformats.org/officeDocument/2006/relationships/oleObject" Target="../embeddings/oleObject195.bin"/><Relationship Id="rId30" Type="http://schemas.openxmlformats.org/officeDocument/2006/relationships/image" Target="../media/image148.wmf"/><Relationship Id="rId3" Type="http://schemas.openxmlformats.org/officeDocument/2006/relationships/oleObject" Target="../embeddings/oleObject181.bin"/><Relationship Id="rId29" Type="http://schemas.openxmlformats.org/officeDocument/2006/relationships/oleObject" Target="../embeddings/oleObject194.bin"/><Relationship Id="rId28" Type="http://schemas.openxmlformats.org/officeDocument/2006/relationships/image" Target="../media/image147.wmf"/><Relationship Id="rId27" Type="http://schemas.openxmlformats.org/officeDocument/2006/relationships/oleObject" Target="../embeddings/oleObject193.bin"/><Relationship Id="rId26" Type="http://schemas.openxmlformats.org/officeDocument/2006/relationships/image" Target="../media/image146.wmf"/><Relationship Id="rId25" Type="http://schemas.openxmlformats.org/officeDocument/2006/relationships/oleObject" Target="../embeddings/oleObject192.bin"/><Relationship Id="rId24" Type="http://schemas.openxmlformats.org/officeDocument/2006/relationships/image" Target="../media/image145.wmf"/><Relationship Id="rId23" Type="http://schemas.openxmlformats.org/officeDocument/2006/relationships/oleObject" Target="../embeddings/oleObject191.bin"/><Relationship Id="rId22" Type="http://schemas.openxmlformats.org/officeDocument/2006/relationships/image" Target="../media/image144.wmf"/><Relationship Id="rId21" Type="http://schemas.openxmlformats.org/officeDocument/2006/relationships/oleObject" Target="../embeddings/oleObject190.bin"/><Relationship Id="rId20" Type="http://schemas.openxmlformats.org/officeDocument/2006/relationships/image" Target="../media/image143.wmf"/><Relationship Id="rId2" Type="http://schemas.openxmlformats.org/officeDocument/2006/relationships/image" Target="../media/image171.wmf"/><Relationship Id="rId19" Type="http://schemas.openxmlformats.org/officeDocument/2006/relationships/oleObject" Target="../embeddings/oleObject189.bin"/><Relationship Id="rId18" Type="http://schemas.openxmlformats.org/officeDocument/2006/relationships/image" Target="../media/image142.wmf"/><Relationship Id="rId17" Type="http://schemas.openxmlformats.org/officeDocument/2006/relationships/oleObject" Target="../embeddings/oleObject188.bin"/><Relationship Id="rId16" Type="http://schemas.openxmlformats.org/officeDocument/2006/relationships/image" Target="../media/image141.wmf"/><Relationship Id="rId15" Type="http://schemas.openxmlformats.org/officeDocument/2006/relationships/oleObject" Target="../embeddings/oleObject187.bin"/><Relationship Id="rId14" Type="http://schemas.openxmlformats.org/officeDocument/2006/relationships/image" Target="../media/image177.wmf"/><Relationship Id="rId13" Type="http://schemas.openxmlformats.org/officeDocument/2006/relationships/oleObject" Target="../embeddings/oleObject186.bin"/><Relationship Id="rId12" Type="http://schemas.openxmlformats.org/officeDocument/2006/relationships/image" Target="../media/image176.wmf"/><Relationship Id="rId11" Type="http://schemas.openxmlformats.org/officeDocument/2006/relationships/oleObject" Target="../embeddings/oleObject185.bin"/><Relationship Id="rId10" Type="http://schemas.openxmlformats.org/officeDocument/2006/relationships/image" Target="../media/image175.wmf"/><Relationship Id="rId1" Type="http://schemas.openxmlformats.org/officeDocument/2006/relationships/oleObject" Target="../embeddings/oleObject180.bin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9.wmf"/><Relationship Id="rId3" Type="http://schemas.openxmlformats.org/officeDocument/2006/relationships/oleObject" Target="../embeddings/oleObject197.bin"/><Relationship Id="rId2" Type="http://schemas.openxmlformats.org/officeDocument/2006/relationships/image" Target="../media/image178.wmf"/><Relationship Id="rId1" Type="http://schemas.openxmlformats.org/officeDocument/2006/relationships/oleObject" Target="../embeddings/oleObject19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/>
          <p:nvPr>
            <p:ph type="ctrTitle"/>
          </p:nvPr>
        </p:nvSpPr>
        <p:spPr>
          <a:xfrm>
            <a:off x="577850" y="1097280"/>
            <a:ext cx="5691505" cy="609600"/>
          </a:xfrm>
          <a:noFill/>
          <a:ln>
            <a:noFill/>
          </a:ln>
        </p:spPr>
        <p:txBody>
          <a:bodyPr wrap="square" lIns="91440" tIns="45720" rIns="91440" bIns="45720" anchor="t"/>
          <a:p>
            <a:pPr algn="l" eaLnBrk="1" hangingPunct="1"/>
            <a:r>
              <a:rPr lang="en-US" altLang="zh-CN" sz="3200" b="1" dirty="0">
                <a:solidFill>
                  <a:srgbClr val="000099"/>
                </a:solidFill>
                <a:latin typeface="华文新魏" pitchFamily="2" charset="-122"/>
                <a:ea typeface="华文新魏" pitchFamily="2" charset="-122"/>
              </a:rPr>
              <a:t>5-1</a:t>
            </a:r>
            <a:r>
              <a:rPr lang="zh-CN" altLang="en-US" sz="3200" b="1" dirty="0">
                <a:solidFill>
                  <a:srgbClr val="000099"/>
                </a:solidFill>
                <a:latin typeface="华文新魏" pitchFamily="2" charset="-122"/>
                <a:ea typeface="华文新魏" pitchFamily="2" charset="-122"/>
              </a:rPr>
              <a:t>放大电路的动态分析</a:t>
            </a:r>
            <a:endParaRPr lang="zh-CN" altLang="en-US" sz="3200" b="1" dirty="0">
              <a:solidFill>
                <a:srgbClr val="000099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533400" y="1778318"/>
            <a:ext cx="84582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动态：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放大电路有信号输入（</a:t>
            </a:r>
            <a:r>
              <a:rPr kumimoji="1" lang="en-US" altLang="zh-CN" sz="2800" b="1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i="0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1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</a:t>
            </a:r>
            <a:r>
              <a:rPr kumimoji="1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0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）时的工作状态。</a:t>
            </a:r>
            <a:endParaRPr kumimoji="1" lang="zh-CN" alt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457200" y="4196715"/>
            <a:ext cx="6323013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分析所用的电路：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放大电路的交流通路。</a:t>
            </a:r>
            <a:endParaRPr kumimoji="1" lang="zh-CN" alt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分析方法：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微变等效电路法，图解法。</a:t>
            </a:r>
            <a:endParaRPr kumimoji="1" lang="zh-CN" alt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533400" y="2578100"/>
            <a:ext cx="8458200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动态分析</a:t>
            </a:r>
            <a:r>
              <a:rPr kumimoji="1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: 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计算电压放大倍数</a:t>
            </a:r>
            <a:r>
              <a:rPr kumimoji="1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800" b="1" i="1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、输入电阻</a:t>
            </a:r>
            <a:r>
              <a:rPr kumimoji="1" lang="en-US" altLang="zh-CN" sz="2800" b="1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、输出电阻</a:t>
            </a:r>
            <a:r>
              <a:rPr kumimoji="1" lang="en-US" altLang="zh-CN" sz="2800" b="1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等。</a:t>
            </a:r>
            <a:endParaRPr kumimoji="1" lang="zh-CN" alt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878" name="Rectangle 6"/>
          <p:cNvSpPr>
            <a:spLocks noChangeArrowheads="1"/>
          </p:cNvSpPr>
          <p:nvPr/>
        </p:nvSpPr>
        <p:spPr bwMode="auto">
          <a:xfrm>
            <a:off x="457200" y="3531235"/>
            <a:ext cx="65055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分析对象：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各极电压和电流的交流分量。</a:t>
            </a:r>
            <a:endParaRPr kumimoji="1" lang="zh-CN" alt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879" name="Rectangle 7"/>
          <p:cNvSpPr>
            <a:spLocks noChangeArrowheads="1"/>
          </p:cNvSpPr>
          <p:nvPr/>
        </p:nvSpPr>
        <p:spPr bwMode="auto">
          <a:xfrm>
            <a:off x="419100" y="5438775"/>
            <a:ext cx="8686800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目的：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找出</a:t>
            </a:r>
            <a:r>
              <a:rPr kumimoji="1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800" b="1" i="1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 </a:t>
            </a:r>
            <a:r>
              <a:rPr kumimoji="1" lang="en-US" altLang="zh-CN" sz="2800" b="1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 </a:t>
            </a:r>
            <a:r>
              <a:rPr kumimoji="1" lang="en-US" altLang="zh-CN" sz="2800" b="1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与电路参数的关系，为设计打基础。</a:t>
            </a:r>
            <a:endParaRPr kumimoji="1" lang="zh-CN" alt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9710" y="394970"/>
            <a:ext cx="7655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3200" b="1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第五讲  共发射极放大电路及其分析</a:t>
            </a:r>
            <a:r>
              <a:rPr kumimoji="1" lang="en-US" altLang="zh-CN" sz="3200" b="1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(</a:t>
            </a:r>
            <a:r>
              <a:rPr kumimoji="1" lang="zh-CN" altLang="en-US" sz="3200" b="1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续</a:t>
            </a:r>
            <a:r>
              <a:rPr kumimoji="1" lang="en-US" altLang="zh-CN" sz="3200" b="1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)</a:t>
            </a:r>
            <a:endParaRPr lang="zh-CN" altLang="en-US" sz="32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987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ldLvl="0" animBg="1"/>
      <p:bldP spid="79876" grpId="0" bldLvl="0" animBg="1"/>
      <p:bldP spid="79877" grpId="0" bldLvl="0" animBg="1"/>
      <p:bldP spid="79878" grpId="0" build="p"/>
      <p:bldP spid="79879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2"/>
          <p:cNvSpPr/>
          <p:nvPr>
            <p:ph type="subTitle" idx="1"/>
          </p:nvPr>
        </p:nvSpPr>
        <p:spPr>
          <a:xfrm>
            <a:off x="533400" y="312738"/>
            <a:ext cx="3716338" cy="523875"/>
          </a:xfrm>
          <a:noFill/>
          <a:ln>
            <a:noFill/>
          </a:ln>
        </p:spPr>
        <p:txBody>
          <a:bodyPr anchor="t"/>
          <a:p>
            <a:pPr algn="l" eaLnBrk="1" hangingPunct="1"/>
            <a:r>
              <a:rPr kumimoji="1" lang="zh-CN" altLang="en-US" sz="2800" b="1" dirty="0">
                <a:solidFill>
                  <a:srgbClr val="000099"/>
                </a:solidFill>
                <a:latin typeface="+mn-lt"/>
                <a:ea typeface="+mn-ea"/>
                <a:cs typeface="+mn-cs"/>
              </a:rPr>
              <a:t>一、微变等效电路法</a:t>
            </a:r>
            <a:endParaRPr kumimoji="1" lang="zh-CN" altLang="en-US" sz="2800" b="1" dirty="0">
              <a:solidFill>
                <a:srgbClr val="000099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0899" name="Text Box 3"/>
          <p:cNvSpPr txBox="1"/>
          <p:nvPr/>
        </p:nvSpPr>
        <p:spPr>
          <a:xfrm>
            <a:off x="554038" y="1646238"/>
            <a:ext cx="8356600" cy="5619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lnSpc>
                <a:spcPct val="110000"/>
              </a:lnSpc>
            </a:pPr>
            <a:r>
              <a:rPr lang="en-US" altLang="zh-CN" sz="2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900" name="Rectangle 4"/>
          <p:cNvSpPr>
            <a:spLocks noChangeArrowheads="1"/>
          </p:cNvSpPr>
          <p:nvPr/>
        </p:nvSpPr>
        <p:spPr bwMode="auto">
          <a:xfrm>
            <a:off x="533400" y="827723"/>
            <a:ext cx="8351838" cy="1945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微变等效电路：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 把非线性元件晶体管所组成的放大电路等效为一个线性电路。即把非线性的晶体管有条件地线性化，等效为一个线性元件。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</a:endParaRPr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546100" y="2708275"/>
            <a:ext cx="8348663" cy="196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线性化的条件：</a:t>
            </a:r>
            <a:endParaRPr kumimoji="1" lang="zh-CN" altLang="en-US" sz="2800" b="1" kern="1200" cap="none" spc="0" normalizeH="0" baseline="0" noProof="0" smtClean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R="0" defTabSz="914400" rtl="0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800" b="1" kern="1200" cap="none" spc="0" normalizeH="0" baseline="0" noProof="0" smtClean="0">
                <a:solidFill>
                  <a:schemeClr val="tx2"/>
                </a:solidFill>
                <a:latin typeface="楷体" panose="02010609060101010101" charset="-122"/>
                <a:ea typeface="楷体" panose="02010609060101010101" charset="-122"/>
                <a:cs typeface="+mn-cs"/>
              </a:rPr>
              <a:t>晶体管在小信号（微变量）情况下工作。因此，在静态工作点附近小范围内的特性曲线可用直线近似代替。</a:t>
            </a:r>
            <a:endParaRPr kumimoji="1" lang="zh-CN" altLang="en-US" sz="2800" b="1" kern="1200" cap="none" spc="0" normalizeH="0" baseline="0" noProof="0" smtClean="0">
              <a:solidFill>
                <a:schemeClr val="tx2"/>
              </a:solidFill>
              <a:latin typeface="楷体" panose="02010609060101010101" charset="-122"/>
              <a:ea typeface="楷体" panose="02010609060101010101" charset="-122"/>
              <a:cs typeface="+mn-cs"/>
            </a:endParaRPr>
          </a:p>
        </p:txBody>
      </p:sp>
      <p:sp>
        <p:nvSpPr>
          <p:cNvPr id="80902" name="Rectangle 6"/>
          <p:cNvSpPr>
            <a:spLocks noChangeArrowheads="1"/>
          </p:cNvSpPr>
          <p:nvPr/>
        </p:nvSpPr>
        <p:spPr bwMode="auto">
          <a:xfrm>
            <a:off x="541338" y="4637088"/>
            <a:ext cx="8351838" cy="145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微变等效电路法：</a:t>
            </a:r>
            <a:endParaRPr kumimoji="1" lang="zh-CN" altLang="en-US" sz="2800" b="1" i="0" u="none" strike="noStrike" kern="1200" cap="none" spc="0" normalizeH="0" baseline="0" noProof="0" dirty="0" smtClean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利用放大电路的微变等效电路来分析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计算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放大电路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电压放大倍数</a:t>
            </a:r>
            <a:r>
              <a:rPr kumimoji="1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A</a:t>
            </a:r>
            <a:r>
              <a:rPr kumimoji="1" lang="en-US" altLang="zh-CN" sz="2800" b="1" i="1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u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、输入电阻</a:t>
            </a:r>
            <a:r>
              <a:rPr kumimoji="1" lang="en-US" altLang="zh-CN" sz="2800" b="1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r</a:t>
            </a:r>
            <a:r>
              <a:rPr kumimoji="1" lang="en-US" altLang="zh-CN" sz="2800" b="1" i="1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i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、输出电阻</a:t>
            </a:r>
            <a:r>
              <a:rPr kumimoji="1" lang="en-US" altLang="zh-CN" sz="2800" b="1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charset="-122"/>
                <a:cs typeface="+mn-cs"/>
              </a:rPr>
              <a:t>o</a:t>
            </a:r>
            <a:r>
              <a:rPr kumimoji="1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等。</a:t>
            </a:r>
            <a:endParaRPr kumimoji="1" lang="zh-CN" alt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/>
      <p:bldP spid="80900" grpId="0" bldLvl="0" animBg="1"/>
      <p:bldP spid="80901" grpId="0" bldLvl="0" animBg="1"/>
      <p:bldP spid="80902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Text Box 2"/>
          <p:cNvSpPr txBox="1">
            <a:spLocks noChangeArrowheads="1"/>
          </p:cNvSpPr>
          <p:nvPr/>
        </p:nvSpPr>
        <p:spPr bwMode="auto">
          <a:xfrm>
            <a:off x="523875" y="908050"/>
            <a:ext cx="8110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marR="0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晶体管的微变等效电路可从晶体管特性曲线得出。</a:t>
            </a:r>
            <a:endParaRPr kumimoji="1" lang="zh-CN" altLang="en-US" sz="2800" b="1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33" name="Text Box 13"/>
          <p:cNvSpPr txBox="1">
            <a:spLocks noChangeArrowheads="1"/>
          </p:cNvSpPr>
          <p:nvPr/>
        </p:nvSpPr>
        <p:spPr bwMode="auto">
          <a:xfrm>
            <a:off x="3232150" y="1589088"/>
            <a:ext cx="529907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sz="2800" b="1" kern="1200" cap="none" spc="0" normalizeH="0" baseline="0" noProof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charset="-122"/>
                <a:ea typeface="楷体" panose="02010609060101010101" charset="-122"/>
                <a:cs typeface="+mn-cs"/>
              </a:rPr>
              <a:t>当信号很小时，在静态工作点附近的输入特性在小范围内可近似线性化。</a:t>
            </a:r>
            <a:endParaRPr kumimoji="1" lang="zh-CN" altLang="en-US" sz="2800" b="1" kern="1200" cap="none" spc="0" normalizeH="0" baseline="0" noProof="0" smtClean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charset="-122"/>
              <a:ea typeface="楷体" panose="02010609060101010101" charset="-122"/>
              <a:cs typeface="+mn-cs"/>
            </a:endParaRPr>
          </a:p>
        </p:txBody>
      </p:sp>
      <p:grpSp>
        <p:nvGrpSpPr>
          <p:cNvPr id="81934" name="Group 14"/>
          <p:cNvGrpSpPr/>
          <p:nvPr/>
        </p:nvGrpSpPr>
        <p:grpSpPr>
          <a:xfrm>
            <a:off x="1600200" y="3032125"/>
            <a:ext cx="1047750" cy="1622425"/>
            <a:chOff x="1368" y="2484"/>
            <a:chExt cx="660" cy="1164"/>
          </a:xfrm>
        </p:grpSpPr>
        <p:grpSp>
          <p:nvGrpSpPr>
            <p:cNvPr id="17412" name="Group 15"/>
            <p:cNvGrpSpPr/>
            <p:nvPr/>
          </p:nvGrpSpPr>
          <p:grpSpPr>
            <a:xfrm>
              <a:off x="1644" y="2484"/>
              <a:ext cx="108" cy="1164"/>
              <a:chOff x="1644" y="2484"/>
              <a:chExt cx="108" cy="1164"/>
            </a:xfrm>
          </p:grpSpPr>
          <p:sp>
            <p:nvSpPr>
              <p:cNvPr id="81936" name="Line 16"/>
              <p:cNvSpPr>
                <a:spLocks noChangeShapeType="1"/>
              </p:cNvSpPr>
              <p:nvPr/>
            </p:nvSpPr>
            <p:spPr bwMode="auto">
              <a:xfrm>
                <a:off x="1644" y="2988"/>
                <a:ext cx="0" cy="64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1937" name="Line 17"/>
              <p:cNvSpPr>
                <a:spLocks noChangeShapeType="1"/>
              </p:cNvSpPr>
              <p:nvPr/>
            </p:nvSpPr>
            <p:spPr bwMode="auto">
              <a:xfrm>
                <a:off x="1752" y="2484"/>
                <a:ext cx="0" cy="116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7415" name="Group 18"/>
            <p:cNvGrpSpPr/>
            <p:nvPr/>
          </p:nvGrpSpPr>
          <p:grpSpPr>
            <a:xfrm>
              <a:off x="1368" y="3408"/>
              <a:ext cx="660" cy="12"/>
              <a:chOff x="1368" y="3408"/>
              <a:chExt cx="660" cy="12"/>
            </a:xfrm>
          </p:grpSpPr>
          <p:sp>
            <p:nvSpPr>
              <p:cNvPr id="81939" name="Line 19"/>
              <p:cNvSpPr>
                <a:spLocks noChangeShapeType="1"/>
              </p:cNvSpPr>
              <p:nvPr/>
            </p:nvSpPr>
            <p:spPr bwMode="auto">
              <a:xfrm>
                <a:off x="1368" y="3408"/>
                <a:ext cx="26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1940" name="Line 20"/>
              <p:cNvSpPr>
                <a:spLocks noChangeShapeType="1"/>
              </p:cNvSpPr>
              <p:nvPr/>
            </p:nvSpPr>
            <p:spPr bwMode="auto">
              <a:xfrm flipH="1">
                <a:off x="1764" y="3420"/>
                <a:ext cx="264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81941" name="Rectangle 21"/>
          <p:cNvSpPr/>
          <p:nvPr/>
        </p:nvSpPr>
        <p:spPr>
          <a:xfrm>
            <a:off x="381000" y="331312"/>
            <a:ext cx="4441825" cy="52324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1.</a:t>
            </a:r>
            <a:r>
              <a:rPr lang="zh-CN" altLang="en-US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晶体管的微变等效电路</a:t>
            </a:r>
            <a:endParaRPr lang="zh-CN" altLang="en-US" sz="2800" b="1" dirty="0">
              <a:solidFill>
                <a:srgbClr val="00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42" name="Text Box 22"/>
          <p:cNvSpPr txBox="1">
            <a:spLocks noChangeArrowheads="1"/>
          </p:cNvSpPr>
          <p:nvPr/>
        </p:nvSpPr>
        <p:spPr bwMode="auto">
          <a:xfrm>
            <a:off x="2166938" y="3875088"/>
            <a:ext cx="127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p>
            <a:pPr>
              <a:spcBef>
                <a:spcPct val="50000"/>
              </a:spcBef>
            </a:pPr>
            <a:r>
              <a:rPr lang="en-US" altLang="en-US" b="1" noProof="1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ea"/>
                <a:sym typeface="Symbol" panose="05050102010706020507" pitchFamily="18" charset="2"/>
              </a:rPr>
              <a:t></a:t>
            </a:r>
            <a:r>
              <a:rPr lang="en-US" altLang="zh-CN" b="1" i="1" noProof="1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ea"/>
              </a:rPr>
              <a:t>U</a:t>
            </a:r>
            <a:r>
              <a:rPr lang="en-US" altLang="zh-CN" b="1" baseline="-25000" noProof="1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ea"/>
              </a:rPr>
              <a:t>BE</a:t>
            </a:r>
            <a:endParaRPr lang="en-US" altLang="zh-CN" b="1" baseline="-25000" noProof="1" dirty="0">
              <a:solidFill>
                <a:schemeClr val="tx2"/>
              </a:solidFill>
              <a:effectLst>
                <a:outerShdw blurRad="38100" dist="38100" dir="2700000">
                  <a:srgbClr val="FFFFFF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81943" name="Group 23"/>
          <p:cNvGrpSpPr/>
          <p:nvPr/>
        </p:nvGrpSpPr>
        <p:grpSpPr>
          <a:xfrm>
            <a:off x="304800" y="3036888"/>
            <a:ext cx="1919288" cy="838200"/>
            <a:chOff x="456" y="2484"/>
            <a:chExt cx="1356" cy="528"/>
          </a:xfrm>
        </p:grpSpPr>
        <p:sp>
          <p:nvSpPr>
            <p:cNvPr id="81944" name="Line 24"/>
            <p:cNvSpPr>
              <a:spLocks noChangeShapeType="1"/>
            </p:cNvSpPr>
            <p:nvPr/>
          </p:nvSpPr>
          <p:spPr bwMode="auto">
            <a:xfrm>
              <a:off x="948" y="2484"/>
              <a:ext cx="0" cy="5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7422" name="Group 25"/>
            <p:cNvGrpSpPr/>
            <p:nvPr/>
          </p:nvGrpSpPr>
          <p:grpSpPr>
            <a:xfrm>
              <a:off x="456" y="2484"/>
              <a:ext cx="1356" cy="528"/>
              <a:chOff x="456" y="2484"/>
              <a:chExt cx="1356" cy="528"/>
            </a:xfrm>
          </p:grpSpPr>
          <p:grpSp>
            <p:nvGrpSpPr>
              <p:cNvPr id="17423" name="Group 26"/>
              <p:cNvGrpSpPr/>
              <p:nvPr/>
            </p:nvGrpSpPr>
            <p:grpSpPr>
              <a:xfrm>
                <a:off x="900" y="2484"/>
                <a:ext cx="912" cy="528"/>
                <a:chOff x="900" y="2484"/>
                <a:chExt cx="912" cy="528"/>
              </a:xfrm>
            </p:grpSpPr>
            <p:sp>
              <p:nvSpPr>
                <p:cNvPr id="81947" name="Line 27"/>
                <p:cNvSpPr>
                  <a:spLocks noChangeShapeType="1"/>
                </p:cNvSpPr>
                <p:nvPr/>
              </p:nvSpPr>
              <p:spPr bwMode="auto">
                <a:xfrm>
                  <a:off x="900" y="2484"/>
                  <a:ext cx="912" cy="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1948" name="Line 28"/>
                <p:cNvSpPr>
                  <a:spLocks noChangeShapeType="1"/>
                </p:cNvSpPr>
                <p:nvPr/>
              </p:nvSpPr>
              <p:spPr bwMode="auto">
                <a:xfrm>
                  <a:off x="900" y="3012"/>
                  <a:ext cx="912" cy="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81949" name="Text Box 29"/>
              <p:cNvSpPr txBox="1">
                <a:spLocks noChangeArrowheads="1"/>
              </p:cNvSpPr>
              <p:nvPr/>
            </p:nvSpPr>
            <p:spPr bwMode="auto">
              <a:xfrm>
                <a:off x="456" y="2597"/>
                <a:ext cx="6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noProof="1" dirty="0">
                    <a:solidFill>
                      <a:schemeClr val="tx2"/>
                    </a:solidFill>
                    <a:effectLst>
                      <a:outerShdw blurRad="38100" dist="38100" dir="2700000">
                        <a:srgbClr val="FFFFFF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  <a:cs typeface="+mn-ea"/>
                    <a:sym typeface="Symbol" panose="05050102010706020507" pitchFamily="18" charset="2"/>
                  </a:rPr>
                  <a:t></a:t>
                </a:r>
                <a:r>
                  <a:rPr lang="en-US" altLang="zh-CN" b="1" i="1" noProof="1" dirty="0">
                    <a:solidFill>
                      <a:schemeClr val="tx2"/>
                    </a:solidFill>
                    <a:effectLst>
                      <a:outerShdw blurRad="38100" dist="38100" dir="2700000">
                        <a:srgbClr val="FFFFFF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  <a:cs typeface="+mn-ea"/>
                    <a:sym typeface="Symbol" panose="05050102010706020507" pitchFamily="18" charset="2"/>
                  </a:rPr>
                  <a:t>I</a:t>
                </a:r>
                <a:r>
                  <a:rPr lang="en-US" altLang="zh-CN" b="1" baseline="-25000" noProof="1" dirty="0">
                    <a:solidFill>
                      <a:schemeClr val="tx2"/>
                    </a:solidFill>
                    <a:effectLst>
                      <a:outerShdw blurRad="38100" dist="38100" dir="2700000">
                        <a:srgbClr val="FFFFFF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  <a:cs typeface="+mn-ea"/>
                    <a:sym typeface="Symbol" panose="05050102010706020507" pitchFamily="18" charset="2"/>
                  </a:rPr>
                  <a:t>B</a:t>
                </a:r>
                <a:endParaRPr lang="en-US" altLang="zh-CN" b="1" baseline="-25000" noProof="1" dirty="0">
                  <a:solidFill>
                    <a:schemeClr val="tx2"/>
                  </a:solidFill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endParaRPr>
              </a:p>
            </p:txBody>
          </p:sp>
        </p:grpSp>
      </p:grpSp>
      <p:sp>
        <p:nvSpPr>
          <p:cNvPr id="81950" name="Rectangle 30"/>
          <p:cNvSpPr>
            <a:spLocks noChangeArrowheads="1"/>
          </p:cNvSpPr>
          <p:nvPr/>
        </p:nvSpPr>
        <p:spPr bwMode="auto">
          <a:xfrm>
            <a:off x="4308475" y="701675"/>
            <a:ext cx="517525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1" name="Text Box 31"/>
          <p:cNvSpPr txBox="1">
            <a:spLocks noChangeArrowheads="1"/>
          </p:cNvSpPr>
          <p:nvPr/>
        </p:nvSpPr>
        <p:spPr bwMode="auto">
          <a:xfrm>
            <a:off x="266700" y="5221288"/>
            <a:ext cx="3471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对于小功率三极管：</a:t>
            </a:r>
            <a:endParaRPr kumimoji="1" lang="zh-CN" altLang="en-US" sz="2800" b="1" kern="1200" cap="none" spc="0" normalizeH="0" baseline="0" noProof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1952" name="Object 32"/>
          <p:cNvGraphicFramePr>
            <a:graphicFrameLocks noChangeAspect="1"/>
          </p:cNvGraphicFramePr>
          <p:nvPr/>
        </p:nvGraphicFramePr>
        <p:xfrm>
          <a:off x="387350" y="5605463"/>
          <a:ext cx="40322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" name="" r:id="rId1" imgW="2540000" imgH="571500" progId="Equation.3">
                  <p:embed/>
                </p:oleObj>
              </mc:Choice>
              <mc:Fallback>
                <p:oleObj name="" r:id="rId1" imgW="2540000" imgH="571500" progId="Equation.3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7350" y="5605463"/>
                        <a:ext cx="4032250" cy="933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3" name="Rectangle 33"/>
          <p:cNvSpPr>
            <a:spLocks noChangeArrowheads="1"/>
          </p:cNvSpPr>
          <p:nvPr/>
        </p:nvSpPr>
        <p:spPr bwMode="auto">
          <a:xfrm>
            <a:off x="4471988" y="5675313"/>
            <a:ext cx="4492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-25000" noProof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一般为几百欧到几千欧。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6" name="Text Box 36"/>
          <p:cNvSpPr txBox="1">
            <a:spLocks noChangeArrowheads="1"/>
          </p:cNvSpPr>
          <p:nvPr/>
        </p:nvSpPr>
        <p:spPr bwMode="auto">
          <a:xfrm>
            <a:off x="531813" y="1538288"/>
            <a:ext cx="274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smtClean="0"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●</a:t>
            </a:r>
            <a:r>
              <a:rPr kumimoji="1" lang="en-US" altLang="zh-CN" sz="2800" b="1" kern="1200" cap="none" spc="0" normalizeH="0" baseline="0" noProof="0" smtClean="0"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800" b="1" kern="1200" cap="none" spc="0" normalizeH="0" baseline="0" noProof="0" smtClean="0"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输入回路</a:t>
            </a:r>
            <a:endParaRPr kumimoji="1" lang="zh-CN" altLang="en-US" sz="2800" b="1" kern="1200" cap="none" spc="0" normalizeH="0" baseline="0" noProof="0" smtClean="0">
              <a:solidFill>
                <a:srgbClr val="00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7" name="Text Box 37"/>
          <p:cNvSpPr txBox="1">
            <a:spLocks noChangeArrowheads="1"/>
          </p:cNvSpPr>
          <p:nvPr/>
        </p:nvSpPr>
        <p:spPr bwMode="auto">
          <a:xfrm>
            <a:off x="1785938" y="2995613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algn="ctr" defTabSz="914400" rtl="0">
              <a:buClrTx/>
              <a:buSzTx/>
              <a:buFontTx/>
              <a:buNone/>
              <a:defRPr/>
            </a:pPr>
            <a:r>
              <a:rPr kumimoji="1" lang="en-US" altLang="zh-CN" b="1" i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Q</a:t>
            </a:r>
            <a:endParaRPr kumimoji="1" lang="en-US" altLang="zh-CN" b="1" i="1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81960" name="Text Box 40"/>
          <p:cNvSpPr txBox="1">
            <a:spLocks noChangeArrowheads="1"/>
          </p:cNvSpPr>
          <p:nvPr/>
        </p:nvSpPr>
        <p:spPr bwMode="auto">
          <a:xfrm>
            <a:off x="1239838" y="47244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输入特性</a:t>
            </a:r>
            <a:endParaRPr kumimoji="1" lang="zh-CN" altLang="en-US" b="1" kern="1200" cap="none" spc="0" normalizeH="0" baseline="0" noProof="0" smtClean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1" name="Text Box 41"/>
          <p:cNvSpPr txBox="1">
            <a:spLocks noChangeArrowheads="1"/>
          </p:cNvSpPr>
          <p:nvPr/>
        </p:nvSpPr>
        <p:spPr bwMode="auto">
          <a:xfrm>
            <a:off x="3330575" y="2967038"/>
            <a:ext cx="17668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晶体管的</a:t>
            </a:r>
            <a:endParaRPr kumimoji="1" lang="zh-CN" altLang="en-US" sz="2800" b="1" kern="1200" cap="none" spc="0" normalizeH="0" baseline="0" noProof="0" smtClean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rtl="0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输入电阻</a:t>
            </a:r>
            <a:endParaRPr kumimoji="1" lang="zh-CN" altLang="en-US" sz="2800" b="1" kern="1200" cap="none" spc="0" normalizeH="0" baseline="0" noProof="0" smtClean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2" name="Text Box 42"/>
          <p:cNvSpPr txBox="1">
            <a:spLocks noChangeArrowheads="1"/>
          </p:cNvSpPr>
          <p:nvPr/>
        </p:nvSpPr>
        <p:spPr bwMode="auto">
          <a:xfrm>
            <a:off x="3648075" y="3954463"/>
            <a:ext cx="5316538" cy="138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marR="0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sz="2800" b="1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在这种情况下晶体管的输入回路</a:t>
            </a:r>
            <a:r>
              <a:rPr kumimoji="1" lang="en-US" altLang="zh-CN" sz="2800" b="1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(B</a:t>
            </a:r>
            <a:r>
              <a:rPr kumimoji="1" lang="zh-CN" altLang="en-US" sz="2800" b="1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b="1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kumimoji="1" lang="zh-CN" altLang="en-US" sz="2800" b="1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之间</a:t>
            </a:r>
            <a:r>
              <a:rPr kumimoji="1" lang="en-US" altLang="zh-CN" sz="2800" b="1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1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</a:t>
            </a:r>
            <a:r>
              <a:rPr kumimoji="1" lang="en-US" altLang="zh-CN" sz="2800" b="1" i="1" kern="1200" cap="none" spc="0" normalizeH="0" baseline="0" noProof="0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kern="1200" cap="none" spc="0" normalizeH="0" baseline="-25000" noProof="0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</a:t>
            </a:r>
            <a:r>
              <a:rPr kumimoji="1" lang="zh-CN" altLang="en-US" sz="2800" b="1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等效代替，即由</a:t>
            </a:r>
            <a:r>
              <a:rPr kumimoji="1" lang="en-US" altLang="zh-CN" sz="2800" b="1" i="1" kern="1200" cap="none" spc="0" normalizeH="0" baseline="0" noProof="0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kern="1200" cap="none" spc="0" normalizeH="0" baseline="-25000" noProof="0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</a:t>
            </a:r>
            <a:r>
              <a:rPr kumimoji="1" lang="zh-CN" altLang="en-US" sz="2800" b="1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来确定</a:t>
            </a:r>
            <a:r>
              <a:rPr kumimoji="1" lang="en-US" altLang="zh-CN" sz="2800" b="1" i="1" kern="1200" cap="none" spc="0" normalizeH="0" baseline="0" noProof="0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kern="1200" cap="none" spc="0" normalizeH="0" baseline="-25000" noProof="0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be</a:t>
            </a:r>
            <a:r>
              <a:rPr kumimoji="1" lang="zh-CN" altLang="en-US" sz="2800" b="1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 </a:t>
            </a:r>
            <a:r>
              <a:rPr kumimoji="1" lang="en-US" altLang="zh-CN" sz="2800" b="1" i="1" kern="1200" cap="none" spc="0" normalizeH="0" baseline="0" noProof="0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kern="1200" cap="none" spc="0" normalizeH="0" baseline="-25000" noProof="0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b="1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之间的关系。</a:t>
            </a:r>
            <a:endParaRPr kumimoji="1" lang="zh-CN" altLang="en-US" sz="2800" b="1" kern="1200" cap="none" spc="0" normalizeH="0" baseline="0" noProof="0" dirty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1968" name="Group 48"/>
          <p:cNvGrpSpPr/>
          <p:nvPr/>
        </p:nvGrpSpPr>
        <p:grpSpPr>
          <a:xfrm>
            <a:off x="838200" y="2286000"/>
            <a:ext cx="2576513" cy="2590800"/>
            <a:chOff x="528" y="1440"/>
            <a:chExt cx="1623" cy="1632"/>
          </a:xfrm>
        </p:grpSpPr>
        <p:sp>
          <p:nvSpPr>
            <p:cNvPr id="81924" name="Line 4"/>
            <p:cNvSpPr>
              <a:spLocks noChangeShapeType="1"/>
            </p:cNvSpPr>
            <p:nvPr/>
          </p:nvSpPr>
          <p:spPr bwMode="auto">
            <a:xfrm flipV="1">
              <a:off x="739" y="1563"/>
              <a:ext cx="0" cy="13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925" name="Line 5"/>
            <p:cNvSpPr>
              <a:spLocks noChangeShapeType="1"/>
            </p:cNvSpPr>
            <p:nvPr/>
          </p:nvSpPr>
          <p:spPr bwMode="auto">
            <a:xfrm flipV="1">
              <a:off x="739" y="2926"/>
              <a:ext cx="1032" cy="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926" name="Text Box 6"/>
            <p:cNvSpPr txBox="1">
              <a:spLocks noChangeArrowheads="1"/>
            </p:cNvSpPr>
            <p:nvPr/>
          </p:nvSpPr>
          <p:spPr bwMode="auto">
            <a:xfrm>
              <a:off x="672" y="1440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noProof="1" dirty="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ea"/>
                </a:rPr>
                <a:t>I</a:t>
              </a:r>
              <a:r>
                <a:rPr lang="en-US" altLang="zh-CN" b="1" baseline="-25000" noProof="1" dirty="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ea"/>
                </a:rPr>
                <a:t>B</a:t>
              </a:r>
              <a:endParaRPr lang="en-US" altLang="zh-CN" b="1" baseline="-25000" noProof="1" dirty="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1927" name="Text Box 7"/>
            <p:cNvSpPr txBox="1">
              <a:spLocks noChangeArrowheads="1"/>
            </p:cNvSpPr>
            <p:nvPr/>
          </p:nvSpPr>
          <p:spPr bwMode="auto">
            <a:xfrm>
              <a:off x="1728" y="2764"/>
              <a:ext cx="4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noProof="1" dirty="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ea"/>
                </a:rPr>
                <a:t>U</a:t>
              </a:r>
              <a:r>
                <a:rPr lang="en-US" altLang="zh-CN" b="1" baseline="-25000" noProof="1" dirty="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ea"/>
                </a:rPr>
                <a:t>BE</a:t>
              </a:r>
              <a:endParaRPr lang="en-US" altLang="zh-CN" b="1" baseline="-25000" noProof="1" dirty="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1928" name="Freeform 8"/>
            <p:cNvSpPr/>
            <p:nvPr/>
          </p:nvSpPr>
          <p:spPr bwMode="auto">
            <a:xfrm>
              <a:off x="739" y="1733"/>
              <a:ext cx="672" cy="1192"/>
            </a:xfrm>
            <a:custGeom>
              <a:avLst/>
              <a:gdLst>
                <a:gd name="T0" fmla="*/ 0 w 1344"/>
                <a:gd name="T1" fmla="*/ 2280 h 2280"/>
                <a:gd name="T2" fmla="*/ 456 w 1344"/>
                <a:gd name="T3" fmla="*/ 2256 h 2280"/>
                <a:gd name="T4" fmla="*/ 648 w 1344"/>
                <a:gd name="T5" fmla="*/ 2220 h 2280"/>
                <a:gd name="T6" fmla="*/ 900 w 1344"/>
                <a:gd name="T7" fmla="*/ 1968 h 2280"/>
                <a:gd name="T8" fmla="*/ 1080 w 1344"/>
                <a:gd name="T9" fmla="*/ 1308 h 2280"/>
                <a:gd name="T10" fmla="*/ 1344 w 1344"/>
                <a:gd name="T11" fmla="*/ 0 h 2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44" h="2280">
                  <a:moveTo>
                    <a:pt x="0" y="2280"/>
                  </a:moveTo>
                  <a:cubicBezTo>
                    <a:pt x="174" y="2273"/>
                    <a:pt x="348" y="2266"/>
                    <a:pt x="456" y="2256"/>
                  </a:cubicBezTo>
                  <a:cubicBezTo>
                    <a:pt x="564" y="2246"/>
                    <a:pt x="574" y="2268"/>
                    <a:pt x="648" y="2220"/>
                  </a:cubicBezTo>
                  <a:cubicBezTo>
                    <a:pt x="722" y="2172"/>
                    <a:pt x="828" y="2120"/>
                    <a:pt x="900" y="1968"/>
                  </a:cubicBezTo>
                  <a:cubicBezTo>
                    <a:pt x="972" y="1816"/>
                    <a:pt x="1006" y="1636"/>
                    <a:pt x="1080" y="1308"/>
                  </a:cubicBezTo>
                  <a:cubicBezTo>
                    <a:pt x="1154" y="980"/>
                    <a:pt x="1289" y="272"/>
                    <a:pt x="1344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929" name="Oval 9"/>
            <p:cNvSpPr>
              <a:spLocks noChangeArrowheads="1"/>
            </p:cNvSpPr>
            <p:nvPr/>
          </p:nvSpPr>
          <p:spPr bwMode="auto">
            <a:xfrm>
              <a:off x="1303" y="2134"/>
              <a:ext cx="72" cy="67"/>
            </a:xfrm>
            <a:prstGeom prst="ellipse">
              <a:avLst/>
            </a:prstGeom>
            <a:solidFill>
              <a:srgbClr val="FF3300"/>
            </a:solidFill>
            <a:ln w="38100">
              <a:solidFill>
                <a:srgbClr val="FF33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931" name="Line 11"/>
            <p:cNvSpPr>
              <a:spLocks noChangeShapeType="1"/>
            </p:cNvSpPr>
            <p:nvPr/>
          </p:nvSpPr>
          <p:spPr bwMode="auto">
            <a:xfrm>
              <a:off x="667" y="2162"/>
              <a:ext cx="756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932" name="Line 12"/>
            <p:cNvSpPr>
              <a:spLocks noChangeShapeType="1"/>
            </p:cNvSpPr>
            <p:nvPr/>
          </p:nvSpPr>
          <p:spPr bwMode="auto">
            <a:xfrm>
              <a:off x="1339" y="2134"/>
              <a:ext cx="0" cy="85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447" name="Text Box 46"/>
            <p:cNvSpPr txBox="1"/>
            <p:nvPr/>
          </p:nvSpPr>
          <p:spPr>
            <a:xfrm>
              <a:off x="528" y="2822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1958" name="Line 38"/>
          <p:cNvSpPr>
            <a:spLocks noChangeShapeType="1"/>
          </p:cNvSpPr>
          <p:nvPr/>
        </p:nvSpPr>
        <p:spPr bwMode="auto">
          <a:xfrm flipH="1">
            <a:off x="2011363" y="3043238"/>
            <a:ext cx="160338" cy="842963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4898390" y="2967990"/>
          <a:ext cx="1887855" cy="946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090420" imgH="832485" progId="Equation.KSEE3">
                  <p:embed/>
                </p:oleObj>
              </mc:Choice>
              <mc:Fallback>
                <p:oleObj name="" r:id="rId3" imgW="2090420" imgH="832485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98390" y="2967990"/>
                        <a:ext cx="1887855" cy="946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6746240" y="2963545"/>
          <a:ext cx="188785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5" imgW="1457325" imgH="831215" progId="Equation.KSEE3">
                  <p:embed/>
                </p:oleObj>
              </mc:Choice>
              <mc:Fallback>
                <p:oleObj name="" r:id="rId5" imgW="1457325" imgH="831215" progId="Equation.KSEE3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46240" y="2963545"/>
                        <a:ext cx="1887855" cy="968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1933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1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194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1942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8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1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1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bldLvl="0" animBg="1"/>
      <p:bldP spid="81933" grpId="0" build="p"/>
      <p:bldP spid="81941" grpId="0"/>
      <p:bldP spid="81942" grpId="0" advAuto="1000" build="p"/>
      <p:bldP spid="81951" grpId="0" bldLvl="0" animBg="1"/>
      <p:bldP spid="81953" grpId="0" bldLvl="0" animBg="1"/>
      <p:bldP spid="81956" grpId="0" bldLvl="0" animBg="1"/>
      <p:bldP spid="81957" grpId="0" bldLvl="0" animBg="1"/>
      <p:bldP spid="81960" grpId="0" bldLvl="0" animBg="1"/>
      <p:bldP spid="81961" grpId="0" bldLvl="0" animBg="1"/>
      <p:bldP spid="81962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Text Box 2"/>
          <p:cNvSpPr txBox="1">
            <a:spLocks noChangeArrowheads="1"/>
          </p:cNvSpPr>
          <p:nvPr/>
        </p:nvSpPr>
        <p:spPr bwMode="auto">
          <a:xfrm>
            <a:off x="609600" y="395288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smtClean="0"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●</a:t>
            </a:r>
            <a:r>
              <a:rPr kumimoji="1" lang="en-US" altLang="zh-CN" sz="2800" b="1" kern="1200" cap="none" spc="0" normalizeH="0" baseline="0" noProof="0" smtClean="0"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kern="1200" cap="none" spc="0" normalizeH="0" baseline="0" noProof="0" smtClean="0">
                <a:solidFill>
                  <a:srgbClr val="00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输出回路</a:t>
            </a:r>
            <a:endParaRPr kumimoji="1" lang="zh-CN" altLang="en-US" sz="2800" b="1" kern="1200" cap="none" spc="0" normalizeH="0" baseline="0" noProof="0" smtClean="0">
              <a:solidFill>
                <a:srgbClr val="00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5005705" y="4953000"/>
            <a:ext cx="4105910" cy="1405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defTabSz="914400" rtl="0" eaLnBrk="0" hangingPunct="0">
              <a:spcBef>
                <a:spcPct val="5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i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kern="1200" cap="none" spc="0" normalizeH="0" baseline="-2500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ce</a:t>
            </a:r>
            <a:r>
              <a:rPr kumimoji="1" lang="zh-CN" altLang="en-US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愈大，恒流特性愈好，</a:t>
            </a:r>
            <a:endParaRPr kumimoji="1" lang="zh-CN" altLang="en-US" sz="2800" b="1" kern="1200" cap="none" spc="0" normalizeH="0" baseline="0" noProof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R="0" defTabSz="914400" rtl="0" eaLnBrk="0" hangingPunct="0">
              <a:spcBef>
                <a:spcPct val="5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因</a:t>
            </a:r>
            <a:r>
              <a:rPr kumimoji="1" lang="en-US" altLang="zh-CN" sz="2800" b="1" i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kern="1200" cap="none" spc="0" normalizeH="0" baseline="-2500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ce</a:t>
            </a:r>
            <a:r>
              <a:rPr kumimoji="1" lang="zh-CN" altLang="en-US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阻值很高，一般忽略不计（认为无穷大）。</a:t>
            </a:r>
            <a:endParaRPr kumimoji="1" lang="zh-CN" altLang="en-US" sz="2800" b="1" kern="1200" cap="none" spc="0" normalizeH="0" baseline="0" noProof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49" name="Text Box 5"/>
          <p:cNvSpPr txBox="1">
            <a:spLocks noChangeArrowheads="1"/>
          </p:cNvSpPr>
          <p:nvPr/>
        </p:nvSpPr>
        <p:spPr bwMode="auto">
          <a:xfrm>
            <a:off x="465138" y="5097463"/>
            <a:ext cx="17303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 rtl="0" eaLnBrk="0" hangingPunct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晶体管的输出电阻</a:t>
            </a:r>
            <a:endParaRPr kumimoji="1" lang="zh-CN" altLang="en-US" sz="2800" b="1" kern="1200" cap="none" spc="0" normalizeH="0" baseline="0" noProof="0" smtClean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50" name="Text Box 6"/>
          <p:cNvSpPr txBox="1">
            <a:spLocks noChangeArrowheads="1"/>
          </p:cNvSpPr>
          <p:nvPr/>
        </p:nvSpPr>
        <p:spPr bwMode="auto">
          <a:xfrm>
            <a:off x="1371600" y="37338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输出特性</a:t>
            </a:r>
            <a:endParaRPr kumimoji="1" lang="zh-CN" altLang="en-US" b="1" kern="1200" cap="none" spc="0" normalizeH="0" baseline="0" noProof="0" smtClean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2951" name="Group 7"/>
          <p:cNvGrpSpPr/>
          <p:nvPr/>
        </p:nvGrpSpPr>
        <p:grpSpPr>
          <a:xfrm>
            <a:off x="381000" y="917575"/>
            <a:ext cx="3506788" cy="3186113"/>
            <a:chOff x="208" y="761"/>
            <a:chExt cx="2209" cy="2007"/>
          </a:xfrm>
        </p:grpSpPr>
        <p:sp>
          <p:nvSpPr>
            <p:cNvPr id="82952" name="Text Box 8"/>
            <p:cNvSpPr txBox="1">
              <a:spLocks noChangeArrowheads="1"/>
            </p:cNvSpPr>
            <p:nvPr/>
          </p:nvSpPr>
          <p:spPr bwMode="auto">
            <a:xfrm>
              <a:off x="208" y="761"/>
              <a:ext cx="3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noProof="1" dirty="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ea"/>
                </a:rPr>
                <a:t>I</a:t>
              </a:r>
              <a:r>
                <a:rPr lang="en-US" altLang="zh-CN" sz="2800" b="1" baseline="-25000" noProof="1" dirty="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ea"/>
                </a:rPr>
                <a:t>C</a:t>
              </a:r>
              <a:endParaRPr lang="en-US" altLang="zh-CN" sz="2800" b="1" baseline="-25000" noProof="1" dirty="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2953" name="Text Box 9"/>
            <p:cNvSpPr txBox="1">
              <a:spLocks noChangeArrowheads="1"/>
            </p:cNvSpPr>
            <p:nvPr/>
          </p:nvSpPr>
          <p:spPr bwMode="auto">
            <a:xfrm>
              <a:off x="1930" y="2441"/>
              <a:ext cx="4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00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noProof="1" dirty="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ea"/>
                </a:rPr>
                <a:t>U</a:t>
              </a:r>
              <a:r>
                <a:rPr lang="en-US" altLang="zh-CN" sz="2800" b="1" baseline="-25000" noProof="1" dirty="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ea"/>
                </a:rPr>
                <a:t>CE</a:t>
              </a:r>
              <a:endParaRPr lang="en-US" altLang="zh-CN" sz="2800" b="1" baseline="-25000" noProof="1" dirty="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2954" name="Line 10"/>
            <p:cNvSpPr>
              <a:spLocks noChangeShapeType="1"/>
            </p:cNvSpPr>
            <p:nvPr/>
          </p:nvSpPr>
          <p:spPr bwMode="auto">
            <a:xfrm flipV="1">
              <a:off x="494" y="2458"/>
              <a:ext cx="17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955" name="Line 11"/>
            <p:cNvSpPr>
              <a:spLocks noChangeShapeType="1"/>
            </p:cNvSpPr>
            <p:nvPr/>
          </p:nvSpPr>
          <p:spPr bwMode="auto">
            <a:xfrm flipH="1" flipV="1">
              <a:off x="507" y="878"/>
              <a:ext cx="0" cy="15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956" name="Freeform 12"/>
            <p:cNvSpPr/>
            <p:nvPr/>
          </p:nvSpPr>
          <p:spPr bwMode="auto">
            <a:xfrm>
              <a:off x="507" y="2164"/>
              <a:ext cx="1398" cy="284"/>
            </a:xfrm>
            <a:custGeom>
              <a:avLst/>
              <a:gdLst>
                <a:gd name="T0" fmla="*/ 0 w 2308"/>
                <a:gd name="T1" fmla="*/ 504 h 504"/>
                <a:gd name="T2" fmla="*/ 15 w 2308"/>
                <a:gd name="T3" fmla="*/ 314 h 504"/>
                <a:gd name="T4" fmla="*/ 52 w 2308"/>
                <a:gd name="T5" fmla="*/ 276 h 504"/>
                <a:gd name="T6" fmla="*/ 172 w 2308"/>
                <a:gd name="T7" fmla="*/ 156 h 504"/>
                <a:gd name="T8" fmla="*/ 340 w 2308"/>
                <a:gd name="T9" fmla="*/ 72 h 504"/>
                <a:gd name="T10" fmla="*/ 748 w 2308"/>
                <a:gd name="T11" fmla="*/ 48 h 504"/>
                <a:gd name="T12" fmla="*/ 2308 w 2308"/>
                <a:gd name="T13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08" h="504">
                  <a:moveTo>
                    <a:pt x="0" y="504"/>
                  </a:moveTo>
                  <a:cubicBezTo>
                    <a:pt x="3" y="472"/>
                    <a:pt x="6" y="352"/>
                    <a:pt x="15" y="314"/>
                  </a:cubicBezTo>
                  <a:cubicBezTo>
                    <a:pt x="24" y="276"/>
                    <a:pt x="26" y="302"/>
                    <a:pt x="52" y="276"/>
                  </a:cubicBezTo>
                  <a:cubicBezTo>
                    <a:pt x="78" y="250"/>
                    <a:pt x="124" y="190"/>
                    <a:pt x="172" y="156"/>
                  </a:cubicBezTo>
                  <a:cubicBezTo>
                    <a:pt x="220" y="122"/>
                    <a:pt x="244" y="90"/>
                    <a:pt x="340" y="72"/>
                  </a:cubicBezTo>
                  <a:cubicBezTo>
                    <a:pt x="436" y="54"/>
                    <a:pt x="420" y="60"/>
                    <a:pt x="748" y="48"/>
                  </a:cubicBezTo>
                  <a:cubicBezTo>
                    <a:pt x="1076" y="36"/>
                    <a:pt x="1983" y="10"/>
                    <a:pt x="2308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957" name="Freeform 13"/>
            <p:cNvSpPr/>
            <p:nvPr/>
          </p:nvSpPr>
          <p:spPr bwMode="auto">
            <a:xfrm>
              <a:off x="505" y="1834"/>
              <a:ext cx="1392" cy="614"/>
            </a:xfrm>
            <a:custGeom>
              <a:avLst/>
              <a:gdLst>
                <a:gd name="T0" fmla="*/ 0 w 2299"/>
                <a:gd name="T1" fmla="*/ 948 h 948"/>
                <a:gd name="T2" fmla="*/ 55 w 2299"/>
                <a:gd name="T3" fmla="*/ 408 h 948"/>
                <a:gd name="T4" fmla="*/ 211 w 2299"/>
                <a:gd name="T5" fmla="*/ 156 h 948"/>
                <a:gd name="T6" fmla="*/ 413 w 2299"/>
                <a:gd name="T7" fmla="*/ 69 h 948"/>
                <a:gd name="T8" fmla="*/ 1207 w 2299"/>
                <a:gd name="T9" fmla="*/ 12 h 948"/>
                <a:gd name="T10" fmla="*/ 2299 w 2299"/>
                <a:gd name="T11" fmla="*/ 0 h 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99" h="948">
                  <a:moveTo>
                    <a:pt x="0" y="948"/>
                  </a:moveTo>
                  <a:cubicBezTo>
                    <a:pt x="9" y="858"/>
                    <a:pt x="20" y="540"/>
                    <a:pt x="55" y="408"/>
                  </a:cubicBezTo>
                  <a:cubicBezTo>
                    <a:pt x="90" y="276"/>
                    <a:pt x="151" y="212"/>
                    <a:pt x="211" y="156"/>
                  </a:cubicBezTo>
                  <a:cubicBezTo>
                    <a:pt x="271" y="100"/>
                    <a:pt x="247" y="93"/>
                    <a:pt x="413" y="69"/>
                  </a:cubicBezTo>
                  <a:cubicBezTo>
                    <a:pt x="579" y="45"/>
                    <a:pt x="893" y="23"/>
                    <a:pt x="1207" y="12"/>
                  </a:cubicBezTo>
                  <a:cubicBezTo>
                    <a:pt x="1521" y="1"/>
                    <a:pt x="2072" y="2"/>
                    <a:pt x="2299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958" name="Freeform 14"/>
            <p:cNvSpPr/>
            <p:nvPr/>
          </p:nvSpPr>
          <p:spPr bwMode="auto">
            <a:xfrm>
              <a:off x="507" y="1107"/>
              <a:ext cx="1339" cy="1341"/>
            </a:xfrm>
            <a:custGeom>
              <a:avLst/>
              <a:gdLst>
                <a:gd name="T0" fmla="*/ 0 w 2212"/>
                <a:gd name="T1" fmla="*/ 2377 h 2377"/>
                <a:gd name="T2" fmla="*/ 93 w 2212"/>
                <a:gd name="T3" fmla="*/ 1248 h 2377"/>
                <a:gd name="T4" fmla="*/ 186 w 2212"/>
                <a:gd name="T5" fmla="*/ 369 h 2377"/>
                <a:gd name="T6" fmla="*/ 532 w 2212"/>
                <a:gd name="T7" fmla="*/ 61 h 2377"/>
                <a:gd name="T8" fmla="*/ 2212 w 2212"/>
                <a:gd name="T9" fmla="*/ 1 h 2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12" h="2377">
                  <a:moveTo>
                    <a:pt x="0" y="2377"/>
                  </a:moveTo>
                  <a:cubicBezTo>
                    <a:pt x="15" y="2189"/>
                    <a:pt x="62" y="1583"/>
                    <a:pt x="93" y="1248"/>
                  </a:cubicBezTo>
                  <a:cubicBezTo>
                    <a:pt x="124" y="914"/>
                    <a:pt x="113" y="567"/>
                    <a:pt x="186" y="369"/>
                  </a:cubicBezTo>
                  <a:cubicBezTo>
                    <a:pt x="259" y="171"/>
                    <a:pt x="194" y="122"/>
                    <a:pt x="532" y="61"/>
                  </a:cubicBezTo>
                  <a:cubicBezTo>
                    <a:pt x="870" y="0"/>
                    <a:pt x="1862" y="13"/>
                    <a:pt x="2212" y="1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959" name="Oval 15"/>
            <p:cNvSpPr>
              <a:spLocks noChangeArrowheads="1"/>
            </p:cNvSpPr>
            <p:nvPr/>
          </p:nvSpPr>
          <p:spPr bwMode="auto">
            <a:xfrm>
              <a:off x="1272" y="1810"/>
              <a:ext cx="45" cy="45"/>
            </a:xfrm>
            <a:prstGeom prst="ellipse">
              <a:avLst/>
            </a:prstGeom>
            <a:solidFill>
              <a:srgbClr val="FF3300"/>
            </a:solidFill>
            <a:ln w="38100">
              <a:solidFill>
                <a:srgbClr val="FF33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960" name="Freeform 16"/>
            <p:cNvSpPr/>
            <p:nvPr/>
          </p:nvSpPr>
          <p:spPr bwMode="auto">
            <a:xfrm>
              <a:off x="556" y="1455"/>
              <a:ext cx="1392" cy="614"/>
            </a:xfrm>
            <a:custGeom>
              <a:avLst/>
              <a:gdLst>
                <a:gd name="T0" fmla="*/ 0 w 2299"/>
                <a:gd name="T1" fmla="*/ 948 h 948"/>
                <a:gd name="T2" fmla="*/ 55 w 2299"/>
                <a:gd name="T3" fmla="*/ 408 h 948"/>
                <a:gd name="T4" fmla="*/ 211 w 2299"/>
                <a:gd name="T5" fmla="*/ 156 h 948"/>
                <a:gd name="T6" fmla="*/ 413 w 2299"/>
                <a:gd name="T7" fmla="*/ 69 h 948"/>
                <a:gd name="T8" fmla="*/ 1207 w 2299"/>
                <a:gd name="T9" fmla="*/ 12 h 948"/>
                <a:gd name="T10" fmla="*/ 2299 w 2299"/>
                <a:gd name="T11" fmla="*/ 0 h 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99" h="948">
                  <a:moveTo>
                    <a:pt x="0" y="948"/>
                  </a:moveTo>
                  <a:cubicBezTo>
                    <a:pt x="9" y="858"/>
                    <a:pt x="20" y="540"/>
                    <a:pt x="55" y="408"/>
                  </a:cubicBezTo>
                  <a:cubicBezTo>
                    <a:pt x="90" y="276"/>
                    <a:pt x="151" y="212"/>
                    <a:pt x="211" y="156"/>
                  </a:cubicBezTo>
                  <a:cubicBezTo>
                    <a:pt x="271" y="100"/>
                    <a:pt x="247" y="93"/>
                    <a:pt x="413" y="69"/>
                  </a:cubicBezTo>
                  <a:cubicBezTo>
                    <a:pt x="579" y="45"/>
                    <a:pt x="893" y="23"/>
                    <a:pt x="1207" y="12"/>
                  </a:cubicBezTo>
                  <a:cubicBezTo>
                    <a:pt x="1521" y="1"/>
                    <a:pt x="2072" y="2"/>
                    <a:pt x="2299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961" name="Text Box 17"/>
            <p:cNvSpPr txBox="1">
              <a:spLocks noChangeArrowheads="1"/>
            </p:cNvSpPr>
            <p:nvPr/>
          </p:nvSpPr>
          <p:spPr bwMode="auto">
            <a:xfrm>
              <a:off x="1035" y="1526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R="0" algn="ctr" defTabSz="914400" rtl="0">
                <a:buClrTx/>
                <a:buSzTx/>
                <a:buFontTx/>
                <a:buNone/>
                <a:defRPr/>
              </a:pPr>
              <a:r>
                <a:rPr kumimoji="1" lang="en-US" altLang="zh-CN" sz="2800" b="1" i="1" kern="1200" cap="none" spc="0" normalizeH="0" baseline="0" noProof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Q</a:t>
              </a:r>
              <a:endParaRPr kumimoji="1" lang="en-US" altLang="zh-CN" sz="2800" b="1" i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82962" name="Text Box 18"/>
          <p:cNvSpPr txBox="1">
            <a:spLocks noChangeArrowheads="1"/>
          </p:cNvSpPr>
          <p:nvPr/>
        </p:nvSpPr>
        <p:spPr bwMode="auto">
          <a:xfrm>
            <a:off x="3886200" y="490538"/>
            <a:ext cx="4689475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sz="2800" b="1" kern="1200" cap="none" spc="0" normalizeH="0" baseline="0" noProof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输出特性在线性工作区是</a:t>
            </a:r>
            <a:endParaRPr kumimoji="1" lang="zh-CN" altLang="en-US" sz="2800" b="1" kern="1200" cap="none" spc="0" normalizeH="0" baseline="0" noProof="0" smtClean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rtl="0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一组近似等距的平行直线。</a:t>
            </a:r>
            <a:endParaRPr kumimoji="1" lang="zh-CN" altLang="en-US" sz="2800" b="1" kern="1200" cap="none" spc="0" normalizeH="0" baseline="0" noProof="0" smtClean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64" name="Text Box 20"/>
          <p:cNvSpPr txBox="1">
            <a:spLocks noChangeArrowheads="1"/>
          </p:cNvSpPr>
          <p:nvPr/>
        </p:nvSpPr>
        <p:spPr bwMode="auto">
          <a:xfrm>
            <a:off x="3913188" y="1485900"/>
            <a:ext cx="22320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晶体管的电流放大系数</a:t>
            </a:r>
            <a:endParaRPr kumimoji="1" lang="zh-CN" altLang="en-US" sz="2800" b="1" kern="1200" cap="none" spc="0" normalizeH="0" baseline="0" noProof="0" smtClean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65" name="Text Box 21"/>
          <p:cNvSpPr txBox="1">
            <a:spLocks noChangeArrowheads="1"/>
          </p:cNvSpPr>
          <p:nvPr/>
        </p:nvSpPr>
        <p:spPr bwMode="auto">
          <a:xfrm>
            <a:off x="3983038" y="2582863"/>
            <a:ext cx="4932363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晶体管的输出回路</a:t>
            </a:r>
            <a:r>
              <a:rPr kumimoji="1" lang="en-US" altLang="zh-CN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(C</a:t>
            </a:r>
            <a:r>
              <a:rPr kumimoji="1" lang="zh-CN" altLang="en-US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kumimoji="1" lang="zh-CN" altLang="en-US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之</a:t>
            </a:r>
            <a:endParaRPr kumimoji="1" lang="zh-CN" altLang="en-US" sz="2800" b="1" kern="1200" cap="none" spc="0" normalizeH="0" baseline="0" noProof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rtl="0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间</a:t>
            </a:r>
            <a:r>
              <a:rPr kumimoji="1" lang="en-US" altLang="zh-CN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可用一</a:t>
            </a:r>
            <a:r>
              <a:rPr kumimoji="1" lang="zh-CN" altLang="en-US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受控电流源</a:t>
            </a:r>
            <a:r>
              <a:rPr kumimoji="1" lang="zh-CN" altLang="en-US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800" b="1" i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kern="1200" cap="none" spc="0" normalizeH="0" baseline="-2500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en-US" altLang="zh-CN" sz="2800" b="1" i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 i</a:t>
            </a:r>
            <a:r>
              <a:rPr kumimoji="1" lang="en-US" altLang="zh-CN" sz="2800" b="1" kern="1200" cap="none" spc="0" normalizeH="0" baseline="-2500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endParaRPr kumimoji="1" lang="en-US" altLang="zh-CN" sz="2800" b="1" kern="1200" cap="none" spc="0" normalizeH="0" baseline="-25000" noProof="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rtl="0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等效代替，即由</a:t>
            </a:r>
            <a:r>
              <a:rPr kumimoji="1" lang="zh-CN" altLang="en-US" sz="2800" b="1" i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</a:t>
            </a:r>
            <a:r>
              <a:rPr kumimoji="1" lang="zh-CN" altLang="en-US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来确定</a:t>
            </a:r>
            <a:r>
              <a:rPr kumimoji="1" lang="en-US" altLang="zh-CN" sz="2800" b="1" i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kern="1200" cap="none" spc="0" normalizeH="0" baseline="-2500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 </a:t>
            </a:r>
            <a:endParaRPr kumimoji="1" lang="zh-CN" altLang="en-US" sz="2800" b="1" kern="1200" cap="none" spc="0" normalizeH="0" baseline="0" noProof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rtl="0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en-US" altLang="zh-CN" sz="2800" b="1" i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kern="1200" cap="none" spc="0" normalizeH="0" baseline="-2500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之间的关系。</a:t>
            </a:r>
            <a:endParaRPr kumimoji="1" lang="zh-CN" altLang="en-US" sz="2800" b="1" kern="1200" cap="none" spc="0" normalizeH="0" baseline="0" noProof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66" name="Line 22"/>
          <p:cNvSpPr>
            <a:spLocks noChangeShapeType="1"/>
          </p:cNvSpPr>
          <p:nvPr/>
        </p:nvSpPr>
        <p:spPr bwMode="auto">
          <a:xfrm>
            <a:off x="2111375" y="2022475"/>
            <a:ext cx="0" cy="1614488"/>
          </a:xfrm>
          <a:prstGeom prst="line">
            <a:avLst/>
          </a:prstGeom>
          <a:noFill/>
          <a:ln w="28575">
            <a:solidFill>
              <a:srgbClr val="3399FF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67" name="Rectangle 23"/>
          <p:cNvSpPr>
            <a:spLocks noChangeArrowheads="1"/>
          </p:cNvSpPr>
          <p:nvPr/>
        </p:nvSpPr>
        <p:spPr bwMode="auto">
          <a:xfrm>
            <a:off x="593725" y="4473575"/>
            <a:ext cx="736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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一般在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～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之间，在手册中常用</a:t>
            </a:r>
            <a:r>
              <a:rPr kumimoji="1" lang="en-US" altLang="zh-CN" sz="2800" b="1" i="1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</a:t>
            </a:r>
            <a:r>
              <a:rPr kumimoji="1" lang="en-US" altLang="zh-CN" sz="2800" b="1" i="0" u="none" strike="noStrike" kern="1200" cap="none" spc="0" normalizeH="0" baseline="-25000" noProof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fe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表示。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73" name="Text Box 29"/>
          <p:cNvSpPr txBox="1"/>
          <p:nvPr/>
        </p:nvSpPr>
        <p:spPr>
          <a:xfrm>
            <a:off x="533400" y="3413125"/>
            <a:ext cx="36830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en-US" altLang="zh-CN" sz="20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5890260" y="1485265"/>
          <a:ext cx="1257935" cy="1097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1682750" imgH="883920" progId="Equation.KSEE3">
                  <p:embed/>
                </p:oleObj>
              </mc:Choice>
              <mc:Fallback>
                <p:oleObj name="" r:id="rId1" imgW="1682750" imgH="883920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890260" y="1485265"/>
                        <a:ext cx="1257935" cy="1097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7139305" y="1522095"/>
          <a:ext cx="143637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1202690" imgH="883920" progId="Equation.KSEE3">
                  <p:embed/>
                </p:oleObj>
              </mc:Choice>
              <mc:Fallback>
                <p:oleObj name="" r:id="rId3" imgW="1202690" imgH="883920" progId="Equation.KSEE3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39305" y="1522095"/>
                        <a:ext cx="143637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2135505" y="5179695"/>
          <a:ext cx="1522730" cy="864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5" imgW="838200" imgH="508000" progId="Equation.KSEE3">
                  <p:embed/>
                </p:oleObj>
              </mc:Choice>
              <mc:Fallback>
                <p:oleObj name="" r:id="rId5" imgW="838200" imgH="508000" progId="Equation.KSEE3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5505" y="5179695"/>
                        <a:ext cx="1522730" cy="864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3657600" y="5179695"/>
          <a:ext cx="1348740" cy="930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7" imgW="1261745" imgH="864235" progId="Equation.KSEE3">
                  <p:embed/>
                </p:oleObj>
              </mc:Choice>
              <mc:Fallback>
                <p:oleObj name="" r:id="rId7" imgW="1261745" imgH="864235" progId="Equation.KSEE3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57600" y="5179695"/>
                        <a:ext cx="1348740" cy="930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296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2962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>
                                            <p:txEl>
                                              <p:charRg st="16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2962">
                                            <p:txEl>
                                              <p:charRg st="16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8" grpId="0" bldLvl="0" animBg="1"/>
      <p:bldP spid="82949" grpId="0" bldLvl="0" animBg="1"/>
      <p:bldP spid="82950" grpId="0" bldLvl="0" animBg="1"/>
      <p:bldP spid="82962" grpId="0" build="p"/>
      <p:bldP spid="82964" grpId="0" bldLvl="0" animBg="1"/>
      <p:bldP spid="82965" grpId="0" bldLvl="0" animBg="1"/>
      <p:bldP spid="82967" grpId="0" bldLvl="0" animBg="1"/>
      <p:bldP spid="8297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3970" name="Group 2"/>
          <p:cNvGrpSpPr/>
          <p:nvPr/>
        </p:nvGrpSpPr>
        <p:grpSpPr>
          <a:xfrm>
            <a:off x="914400" y="2483485"/>
            <a:ext cx="2819400" cy="2590800"/>
            <a:chOff x="576" y="1528"/>
            <a:chExt cx="1776" cy="1632"/>
          </a:xfrm>
        </p:grpSpPr>
        <p:sp>
          <p:nvSpPr>
            <p:cNvPr id="83971" name="Line 3"/>
            <p:cNvSpPr>
              <a:spLocks noChangeShapeType="1"/>
            </p:cNvSpPr>
            <p:nvPr/>
          </p:nvSpPr>
          <p:spPr bwMode="auto">
            <a:xfrm>
              <a:off x="642" y="2300"/>
              <a:ext cx="564" cy="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72" name="Line 4"/>
            <p:cNvSpPr>
              <a:spLocks noChangeShapeType="1"/>
            </p:cNvSpPr>
            <p:nvPr/>
          </p:nvSpPr>
          <p:spPr bwMode="auto">
            <a:xfrm>
              <a:off x="1194" y="2123"/>
              <a:ext cx="0" cy="3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73" name="Line 5"/>
            <p:cNvSpPr>
              <a:spLocks noChangeShapeType="1"/>
            </p:cNvSpPr>
            <p:nvPr/>
          </p:nvSpPr>
          <p:spPr bwMode="auto">
            <a:xfrm>
              <a:off x="1194" y="2358"/>
              <a:ext cx="198" cy="1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74" name="Line 6"/>
            <p:cNvSpPr>
              <a:spLocks noChangeShapeType="1"/>
            </p:cNvSpPr>
            <p:nvPr/>
          </p:nvSpPr>
          <p:spPr bwMode="auto">
            <a:xfrm flipV="1">
              <a:off x="1194" y="2074"/>
              <a:ext cx="198" cy="1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75" name="Line 7"/>
            <p:cNvSpPr>
              <a:spLocks noChangeShapeType="1"/>
            </p:cNvSpPr>
            <p:nvPr/>
          </p:nvSpPr>
          <p:spPr bwMode="auto">
            <a:xfrm flipH="1">
              <a:off x="1392" y="1564"/>
              <a:ext cx="0" cy="5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76" name="Line 8"/>
            <p:cNvSpPr>
              <a:spLocks noChangeShapeType="1"/>
            </p:cNvSpPr>
            <p:nvPr/>
          </p:nvSpPr>
          <p:spPr bwMode="auto">
            <a:xfrm flipH="1">
              <a:off x="1392" y="2544"/>
              <a:ext cx="0" cy="6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77" name="Line 9"/>
            <p:cNvSpPr>
              <a:spLocks noChangeShapeType="1"/>
            </p:cNvSpPr>
            <p:nvPr/>
          </p:nvSpPr>
          <p:spPr bwMode="auto">
            <a:xfrm>
              <a:off x="648" y="3124"/>
              <a:ext cx="16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78" name="Line 10"/>
            <p:cNvSpPr>
              <a:spLocks noChangeShapeType="1"/>
            </p:cNvSpPr>
            <p:nvPr/>
          </p:nvSpPr>
          <p:spPr bwMode="auto">
            <a:xfrm>
              <a:off x="1392" y="1564"/>
              <a:ext cx="8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79" name="Oval 11"/>
            <p:cNvSpPr>
              <a:spLocks noChangeArrowheads="1"/>
            </p:cNvSpPr>
            <p:nvPr/>
          </p:nvSpPr>
          <p:spPr bwMode="auto">
            <a:xfrm>
              <a:off x="576" y="2272"/>
              <a:ext cx="72" cy="7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80" name="Oval 12"/>
            <p:cNvSpPr>
              <a:spLocks noChangeArrowheads="1"/>
            </p:cNvSpPr>
            <p:nvPr/>
          </p:nvSpPr>
          <p:spPr bwMode="auto">
            <a:xfrm>
              <a:off x="588" y="3088"/>
              <a:ext cx="72" cy="7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81" name="Oval 13"/>
            <p:cNvSpPr>
              <a:spLocks noChangeArrowheads="1"/>
            </p:cNvSpPr>
            <p:nvPr/>
          </p:nvSpPr>
          <p:spPr bwMode="auto">
            <a:xfrm>
              <a:off x="2280" y="3088"/>
              <a:ext cx="72" cy="7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82" name="Oval 14"/>
            <p:cNvSpPr>
              <a:spLocks noChangeArrowheads="1"/>
            </p:cNvSpPr>
            <p:nvPr/>
          </p:nvSpPr>
          <p:spPr bwMode="auto">
            <a:xfrm>
              <a:off x="2196" y="1528"/>
              <a:ext cx="72" cy="7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3983" name="Group 15"/>
          <p:cNvGrpSpPr/>
          <p:nvPr/>
        </p:nvGrpSpPr>
        <p:grpSpPr>
          <a:xfrm>
            <a:off x="1123950" y="3012123"/>
            <a:ext cx="1219200" cy="603250"/>
            <a:chOff x="708" y="1660"/>
            <a:chExt cx="768" cy="380"/>
          </a:xfrm>
        </p:grpSpPr>
        <p:sp>
          <p:nvSpPr>
            <p:cNvPr id="83984" name="Line 16"/>
            <p:cNvSpPr>
              <a:spLocks noChangeShapeType="1"/>
            </p:cNvSpPr>
            <p:nvPr/>
          </p:nvSpPr>
          <p:spPr bwMode="auto">
            <a:xfrm>
              <a:off x="768" y="2040"/>
              <a:ext cx="26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72" name="Text Box 17"/>
            <p:cNvSpPr txBox="1"/>
            <p:nvPr/>
          </p:nvSpPr>
          <p:spPr>
            <a:xfrm>
              <a:off x="708" y="1660"/>
              <a:ext cx="76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83986" name="Group 18"/>
          <p:cNvGrpSpPr/>
          <p:nvPr/>
        </p:nvGrpSpPr>
        <p:grpSpPr>
          <a:xfrm>
            <a:off x="2324100" y="1815148"/>
            <a:ext cx="1371600" cy="603250"/>
            <a:chOff x="1464" y="928"/>
            <a:chExt cx="864" cy="380"/>
          </a:xfrm>
        </p:grpSpPr>
        <p:sp>
          <p:nvSpPr>
            <p:cNvPr id="83987" name="Line 19"/>
            <p:cNvSpPr>
              <a:spLocks noChangeShapeType="1"/>
            </p:cNvSpPr>
            <p:nvPr/>
          </p:nvSpPr>
          <p:spPr bwMode="auto">
            <a:xfrm flipH="1">
              <a:off x="1464" y="1308"/>
              <a:ext cx="408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75" name="Text Box 20"/>
            <p:cNvSpPr txBox="1"/>
            <p:nvPr/>
          </p:nvSpPr>
          <p:spPr>
            <a:xfrm>
              <a:off x="1548" y="928"/>
              <a:ext cx="78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83989" name="Group 21"/>
          <p:cNvGrpSpPr/>
          <p:nvPr/>
        </p:nvGrpSpPr>
        <p:grpSpPr>
          <a:xfrm>
            <a:off x="7620000" y="1691323"/>
            <a:ext cx="1012825" cy="603250"/>
            <a:chOff x="1464" y="928"/>
            <a:chExt cx="864" cy="380"/>
          </a:xfrm>
        </p:grpSpPr>
        <p:sp>
          <p:nvSpPr>
            <p:cNvPr id="83990" name="Line 22"/>
            <p:cNvSpPr>
              <a:spLocks noChangeShapeType="1"/>
            </p:cNvSpPr>
            <p:nvPr/>
          </p:nvSpPr>
          <p:spPr bwMode="auto">
            <a:xfrm flipH="1">
              <a:off x="1464" y="1308"/>
              <a:ext cx="408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78" name="Text Box 23"/>
            <p:cNvSpPr txBox="1"/>
            <p:nvPr/>
          </p:nvSpPr>
          <p:spPr>
            <a:xfrm>
              <a:off x="1548" y="928"/>
              <a:ext cx="78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2800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83992" name="Line 24"/>
          <p:cNvSpPr>
            <a:spLocks noChangeShapeType="1"/>
          </p:cNvSpPr>
          <p:nvPr/>
        </p:nvSpPr>
        <p:spPr bwMode="auto">
          <a:xfrm>
            <a:off x="4191000" y="2419985"/>
            <a:ext cx="0" cy="3962400"/>
          </a:xfrm>
          <a:prstGeom prst="line">
            <a:avLst/>
          </a:prstGeom>
          <a:noFill/>
          <a:ln w="76200" cmpd="tri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993" name="AutoShape 25"/>
          <p:cNvSpPr>
            <a:spLocks noChangeArrowheads="1"/>
          </p:cNvSpPr>
          <p:nvPr/>
        </p:nvSpPr>
        <p:spPr bwMode="auto">
          <a:xfrm>
            <a:off x="3352800" y="913765"/>
            <a:ext cx="1981200" cy="412750"/>
          </a:xfrm>
          <a:prstGeom prst="curvedDownArrow">
            <a:avLst>
              <a:gd name="adj1" fmla="val 96000"/>
              <a:gd name="adj2" fmla="val 192000"/>
              <a:gd name="adj3" fmla="val 33333"/>
            </a:avLst>
          </a:prstGeom>
          <a:gradFill rotWithShape="0">
            <a:gsLst>
              <a:gs pos="0">
                <a:srgbClr val="005200"/>
              </a:gs>
              <a:gs pos="50000">
                <a:srgbClr val="CC0000"/>
              </a:gs>
              <a:gs pos="100000">
                <a:srgbClr val="005200"/>
              </a:gs>
            </a:gsLst>
            <a:lin ang="0" scaled="1"/>
          </a:gradFill>
          <a:ln w="38100">
            <a:solidFill>
              <a:srgbClr val="3399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3994" name="Group 26"/>
          <p:cNvGrpSpPr/>
          <p:nvPr/>
        </p:nvGrpSpPr>
        <p:grpSpPr>
          <a:xfrm>
            <a:off x="557213" y="2277110"/>
            <a:ext cx="3548062" cy="3221038"/>
            <a:chOff x="351" y="1398"/>
            <a:chExt cx="2235" cy="2029"/>
          </a:xfrm>
        </p:grpSpPr>
        <p:sp>
          <p:nvSpPr>
            <p:cNvPr id="19482" name="Text Box 27"/>
            <p:cNvSpPr txBox="1"/>
            <p:nvPr/>
          </p:nvSpPr>
          <p:spPr>
            <a:xfrm>
              <a:off x="351" y="2146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83" name="Text Box 28"/>
            <p:cNvSpPr txBox="1"/>
            <p:nvPr/>
          </p:nvSpPr>
          <p:spPr>
            <a:xfrm>
              <a:off x="2250" y="1398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84" name="Text Box 29"/>
            <p:cNvSpPr txBox="1"/>
            <p:nvPr/>
          </p:nvSpPr>
          <p:spPr>
            <a:xfrm>
              <a:off x="1248" y="3100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3998" name="Group 30"/>
          <p:cNvGrpSpPr/>
          <p:nvPr/>
        </p:nvGrpSpPr>
        <p:grpSpPr>
          <a:xfrm>
            <a:off x="5076825" y="1730693"/>
            <a:ext cx="614363" cy="579437"/>
            <a:chOff x="3165" y="931"/>
            <a:chExt cx="387" cy="365"/>
          </a:xfrm>
        </p:grpSpPr>
        <p:sp>
          <p:nvSpPr>
            <p:cNvPr id="83999" name="Line 31"/>
            <p:cNvSpPr>
              <a:spLocks noChangeShapeType="1"/>
            </p:cNvSpPr>
            <p:nvPr/>
          </p:nvSpPr>
          <p:spPr bwMode="auto">
            <a:xfrm>
              <a:off x="3165" y="1296"/>
              <a:ext cx="387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487" name="Text Box 32"/>
            <p:cNvSpPr txBox="1"/>
            <p:nvPr/>
          </p:nvSpPr>
          <p:spPr>
            <a:xfrm>
              <a:off x="3168" y="931"/>
              <a:ext cx="28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2800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84001" name="Line 33"/>
          <p:cNvSpPr>
            <a:spLocks noChangeShapeType="1"/>
          </p:cNvSpPr>
          <p:nvPr/>
        </p:nvSpPr>
        <p:spPr bwMode="auto">
          <a:xfrm flipH="1">
            <a:off x="6788150" y="2871788"/>
            <a:ext cx="0" cy="6286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002" name="Text Box 34"/>
          <p:cNvSpPr txBox="1"/>
          <p:nvPr/>
        </p:nvSpPr>
        <p:spPr>
          <a:xfrm>
            <a:off x="6750050" y="2783999"/>
            <a:ext cx="1257300" cy="52324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 i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b</a:t>
            </a:r>
            <a:endParaRPr lang="en-US" altLang="zh-CN" sz="2800" b="1" baseline="-250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84003" name="Text Box 35" descr="40%"/>
          <p:cNvSpPr txBox="1"/>
          <p:nvPr/>
        </p:nvSpPr>
        <p:spPr>
          <a:xfrm>
            <a:off x="304800" y="882015"/>
            <a:ext cx="2093913" cy="519113"/>
          </a:xfrm>
          <a:prstGeom prst="rect">
            <a:avLst/>
          </a:prstGeom>
          <a:pattFill prst="pct40">
            <a:fgClr>
              <a:srgbClr val="FFFF00"/>
            </a:fgClr>
            <a:bgClr>
              <a:srgbClr val="FFFFFF"/>
            </a:bgClr>
          </a:pattFill>
          <a:ln w="9525">
            <a:noFill/>
          </a:ln>
        </p:spPr>
        <p:txBody>
          <a:bodyPr anchor="t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晶体三极管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004" name="Text Box 36" descr="40%"/>
          <p:cNvSpPr txBox="1"/>
          <p:nvPr/>
        </p:nvSpPr>
        <p:spPr>
          <a:xfrm>
            <a:off x="6096000" y="835978"/>
            <a:ext cx="2457450" cy="521970"/>
          </a:xfrm>
          <a:prstGeom prst="rect">
            <a:avLst/>
          </a:prstGeom>
          <a:pattFill prst="pct40">
            <a:fgClr>
              <a:srgbClr val="FFCCCC"/>
            </a:fgClr>
            <a:bgClr>
              <a:srgbClr val="FFFFFF"/>
            </a:bgClr>
          </a:pattFill>
          <a:ln w="9525">
            <a:noFill/>
          </a:ln>
        </p:spPr>
        <p:txBody>
          <a:bodyPr anchor="t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微变等效模型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005" name="Rectangle 37"/>
          <p:cNvSpPr>
            <a:spLocks noChangeArrowheads="1"/>
          </p:cNvSpPr>
          <p:nvPr/>
        </p:nvSpPr>
        <p:spPr bwMode="auto">
          <a:xfrm>
            <a:off x="5029200" y="2213610"/>
            <a:ext cx="2286000" cy="327660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4006" name="Group 38"/>
          <p:cNvGrpSpPr/>
          <p:nvPr/>
        </p:nvGrpSpPr>
        <p:grpSpPr>
          <a:xfrm>
            <a:off x="647700" y="3785553"/>
            <a:ext cx="723900" cy="1281112"/>
            <a:chOff x="408" y="2179"/>
            <a:chExt cx="456" cy="807"/>
          </a:xfrm>
        </p:grpSpPr>
        <p:sp>
          <p:nvSpPr>
            <p:cNvPr id="19494" name="Text Box 39"/>
            <p:cNvSpPr txBox="1"/>
            <p:nvPr/>
          </p:nvSpPr>
          <p:spPr>
            <a:xfrm>
              <a:off x="408" y="2392"/>
              <a:ext cx="45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8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495" name="Text Box 40" descr="新闻纸"/>
            <p:cNvSpPr txBox="1"/>
            <p:nvPr/>
          </p:nvSpPr>
          <p:spPr>
            <a:xfrm>
              <a:off x="432" y="2179"/>
              <a:ext cx="38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496" name="Text Box 41" descr="新闻纸"/>
            <p:cNvSpPr txBox="1"/>
            <p:nvPr/>
          </p:nvSpPr>
          <p:spPr>
            <a:xfrm>
              <a:off x="432" y="2659"/>
              <a:ext cx="38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4010" name="Group 42"/>
          <p:cNvGrpSpPr/>
          <p:nvPr/>
        </p:nvGrpSpPr>
        <p:grpSpPr>
          <a:xfrm>
            <a:off x="3370263" y="2638108"/>
            <a:ext cx="896937" cy="2470150"/>
            <a:chOff x="2064" y="1430"/>
            <a:chExt cx="565" cy="1556"/>
          </a:xfrm>
        </p:grpSpPr>
        <p:sp>
          <p:nvSpPr>
            <p:cNvPr id="19498" name="Text Box 43"/>
            <p:cNvSpPr txBox="1"/>
            <p:nvPr/>
          </p:nvSpPr>
          <p:spPr>
            <a:xfrm>
              <a:off x="2064" y="2032"/>
              <a:ext cx="56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8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499" name="Text Box 44" descr="新闻纸"/>
            <p:cNvSpPr txBox="1"/>
            <p:nvPr/>
          </p:nvSpPr>
          <p:spPr>
            <a:xfrm>
              <a:off x="2064" y="1430"/>
              <a:ext cx="38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500" name="Text Box 45" descr="新闻纸"/>
            <p:cNvSpPr txBox="1"/>
            <p:nvPr/>
          </p:nvSpPr>
          <p:spPr>
            <a:xfrm>
              <a:off x="2112" y="2659"/>
              <a:ext cx="38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4014" name="Group 46"/>
          <p:cNvGrpSpPr/>
          <p:nvPr/>
        </p:nvGrpSpPr>
        <p:grpSpPr>
          <a:xfrm>
            <a:off x="4419600" y="2566353"/>
            <a:ext cx="762000" cy="2454275"/>
            <a:chOff x="2784" y="1411"/>
            <a:chExt cx="480" cy="1546"/>
          </a:xfrm>
        </p:grpSpPr>
        <p:sp>
          <p:nvSpPr>
            <p:cNvPr id="19502" name="Text Box 47"/>
            <p:cNvSpPr txBox="1"/>
            <p:nvPr/>
          </p:nvSpPr>
          <p:spPr>
            <a:xfrm>
              <a:off x="2784" y="2056"/>
              <a:ext cx="45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8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503" name="Text Box 48" descr="新闻纸"/>
            <p:cNvSpPr txBox="1"/>
            <p:nvPr/>
          </p:nvSpPr>
          <p:spPr>
            <a:xfrm>
              <a:off x="2880" y="1411"/>
              <a:ext cx="38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504" name="Text Box 49" descr="新闻纸"/>
            <p:cNvSpPr txBox="1"/>
            <p:nvPr/>
          </p:nvSpPr>
          <p:spPr>
            <a:xfrm>
              <a:off x="2856" y="2630"/>
              <a:ext cx="38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4018" name="Group 50"/>
          <p:cNvGrpSpPr/>
          <p:nvPr/>
        </p:nvGrpSpPr>
        <p:grpSpPr>
          <a:xfrm>
            <a:off x="7900988" y="2469198"/>
            <a:ext cx="896937" cy="2554287"/>
            <a:chOff x="2064" y="1437"/>
            <a:chExt cx="565" cy="1542"/>
          </a:xfrm>
        </p:grpSpPr>
        <p:sp>
          <p:nvSpPr>
            <p:cNvPr id="19506" name="Text Box 51"/>
            <p:cNvSpPr txBox="1"/>
            <p:nvPr/>
          </p:nvSpPr>
          <p:spPr>
            <a:xfrm>
              <a:off x="2064" y="2039"/>
              <a:ext cx="565" cy="313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8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507" name="Text Box 52" descr="新闻纸"/>
            <p:cNvSpPr txBox="1"/>
            <p:nvPr/>
          </p:nvSpPr>
          <p:spPr>
            <a:xfrm>
              <a:off x="2064" y="1437"/>
              <a:ext cx="384" cy="313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508" name="Text Box 53" descr="新闻纸"/>
            <p:cNvSpPr txBox="1"/>
            <p:nvPr/>
          </p:nvSpPr>
          <p:spPr>
            <a:xfrm>
              <a:off x="2112" y="2666"/>
              <a:ext cx="384" cy="313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84022" name="Oval 54"/>
          <p:cNvSpPr>
            <a:spLocks noChangeArrowheads="1"/>
          </p:cNvSpPr>
          <p:nvPr/>
        </p:nvSpPr>
        <p:spPr bwMode="auto">
          <a:xfrm>
            <a:off x="1447800" y="3069590"/>
            <a:ext cx="1295400" cy="1371600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4024" name="Group 56"/>
          <p:cNvGrpSpPr/>
          <p:nvPr/>
        </p:nvGrpSpPr>
        <p:grpSpPr>
          <a:xfrm>
            <a:off x="4572000" y="1931035"/>
            <a:ext cx="3505200" cy="3567113"/>
            <a:chOff x="2880" y="1180"/>
            <a:chExt cx="2208" cy="2247"/>
          </a:xfrm>
        </p:grpSpPr>
        <p:sp>
          <p:nvSpPr>
            <p:cNvPr id="19511" name="Text Box 57"/>
            <p:cNvSpPr txBox="1"/>
            <p:nvPr/>
          </p:nvSpPr>
          <p:spPr>
            <a:xfrm>
              <a:off x="3084" y="2112"/>
              <a:ext cx="56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sz="2800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4026" name="Oval 58"/>
            <p:cNvSpPr>
              <a:spLocks noChangeArrowheads="1"/>
            </p:cNvSpPr>
            <p:nvPr/>
          </p:nvSpPr>
          <p:spPr bwMode="auto">
            <a:xfrm>
              <a:off x="3024" y="3055"/>
              <a:ext cx="72" cy="7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027" name="Oval 59"/>
            <p:cNvSpPr>
              <a:spLocks noChangeArrowheads="1"/>
            </p:cNvSpPr>
            <p:nvPr/>
          </p:nvSpPr>
          <p:spPr bwMode="auto">
            <a:xfrm>
              <a:off x="3024" y="1495"/>
              <a:ext cx="72" cy="7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028" name="Line 60"/>
            <p:cNvSpPr>
              <a:spLocks noChangeShapeType="1"/>
            </p:cNvSpPr>
            <p:nvPr/>
          </p:nvSpPr>
          <p:spPr bwMode="auto">
            <a:xfrm flipV="1">
              <a:off x="3072" y="3100"/>
              <a:ext cx="20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029" name="Line 61"/>
            <p:cNvSpPr>
              <a:spLocks noChangeShapeType="1"/>
            </p:cNvSpPr>
            <p:nvPr/>
          </p:nvSpPr>
          <p:spPr bwMode="auto">
            <a:xfrm>
              <a:off x="3108" y="1531"/>
              <a:ext cx="5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030" name="Line 62"/>
            <p:cNvSpPr>
              <a:spLocks noChangeShapeType="1"/>
            </p:cNvSpPr>
            <p:nvPr/>
          </p:nvSpPr>
          <p:spPr bwMode="auto">
            <a:xfrm flipV="1">
              <a:off x="3648" y="1519"/>
              <a:ext cx="0" cy="5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031" name="Rectangle 63"/>
            <p:cNvSpPr>
              <a:spLocks noChangeArrowheads="1"/>
            </p:cNvSpPr>
            <p:nvPr/>
          </p:nvSpPr>
          <p:spPr bwMode="auto">
            <a:xfrm>
              <a:off x="3588" y="2119"/>
              <a:ext cx="132" cy="37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518" name="Text Box 64"/>
            <p:cNvSpPr txBox="1"/>
            <p:nvPr/>
          </p:nvSpPr>
          <p:spPr>
            <a:xfrm>
              <a:off x="2880" y="1180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19" name="Text Box 65"/>
            <p:cNvSpPr txBox="1"/>
            <p:nvPr/>
          </p:nvSpPr>
          <p:spPr>
            <a:xfrm>
              <a:off x="3696" y="3100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034" name="Line 66"/>
            <p:cNvSpPr>
              <a:spLocks noChangeShapeType="1"/>
            </p:cNvSpPr>
            <p:nvPr/>
          </p:nvSpPr>
          <p:spPr bwMode="auto">
            <a:xfrm flipV="1">
              <a:off x="3643" y="2485"/>
              <a:ext cx="0" cy="5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4035" name="Group 67"/>
          <p:cNvGrpSpPr/>
          <p:nvPr/>
        </p:nvGrpSpPr>
        <p:grpSpPr>
          <a:xfrm>
            <a:off x="6310313" y="2165985"/>
            <a:ext cx="2373312" cy="2873375"/>
            <a:chOff x="3975" y="1317"/>
            <a:chExt cx="1495" cy="1810"/>
          </a:xfrm>
        </p:grpSpPr>
        <p:sp>
          <p:nvSpPr>
            <p:cNvPr id="84036" name="Oval 68"/>
            <p:cNvSpPr>
              <a:spLocks noChangeArrowheads="1"/>
            </p:cNvSpPr>
            <p:nvPr/>
          </p:nvSpPr>
          <p:spPr bwMode="auto">
            <a:xfrm>
              <a:off x="5090" y="1448"/>
              <a:ext cx="72" cy="7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037" name="Oval 69"/>
            <p:cNvSpPr>
              <a:spLocks noChangeArrowheads="1"/>
            </p:cNvSpPr>
            <p:nvPr/>
          </p:nvSpPr>
          <p:spPr bwMode="auto">
            <a:xfrm>
              <a:off x="5105" y="3053"/>
              <a:ext cx="72" cy="7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038" name="Line 70"/>
            <p:cNvSpPr>
              <a:spLocks noChangeShapeType="1"/>
            </p:cNvSpPr>
            <p:nvPr/>
          </p:nvSpPr>
          <p:spPr bwMode="auto">
            <a:xfrm flipV="1">
              <a:off x="4106" y="1469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039" name="AutoShape 71"/>
            <p:cNvSpPr>
              <a:spLocks noChangeArrowheads="1"/>
            </p:cNvSpPr>
            <p:nvPr/>
          </p:nvSpPr>
          <p:spPr bwMode="auto">
            <a:xfrm>
              <a:off x="3975" y="2040"/>
              <a:ext cx="264" cy="433"/>
            </a:xfrm>
            <a:prstGeom prst="diamond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040" name="Line 72"/>
            <p:cNvSpPr>
              <a:spLocks noChangeShapeType="1"/>
            </p:cNvSpPr>
            <p:nvPr/>
          </p:nvSpPr>
          <p:spPr bwMode="auto">
            <a:xfrm>
              <a:off x="3998" y="2263"/>
              <a:ext cx="2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041" name="Line 73"/>
            <p:cNvSpPr>
              <a:spLocks noChangeShapeType="1"/>
            </p:cNvSpPr>
            <p:nvPr/>
          </p:nvSpPr>
          <p:spPr bwMode="auto">
            <a:xfrm>
              <a:off x="4106" y="1469"/>
              <a:ext cx="10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528" name="Text Box 74"/>
            <p:cNvSpPr txBox="1"/>
            <p:nvPr/>
          </p:nvSpPr>
          <p:spPr>
            <a:xfrm>
              <a:off x="5134" y="1317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043" name="Line 75"/>
            <p:cNvSpPr>
              <a:spLocks noChangeShapeType="1"/>
            </p:cNvSpPr>
            <p:nvPr/>
          </p:nvSpPr>
          <p:spPr bwMode="auto">
            <a:xfrm flipV="1">
              <a:off x="4111" y="2446"/>
              <a:ext cx="0" cy="6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4044" name="Text Box 76"/>
          <p:cNvSpPr txBox="1"/>
          <p:nvPr/>
        </p:nvSpPr>
        <p:spPr>
          <a:xfrm>
            <a:off x="401638" y="5431473"/>
            <a:ext cx="3527425" cy="94615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晶体管的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之间可用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等效代替。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045" name="Text Box 77"/>
          <p:cNvSpPr txBox="1"/>
          <p:nvPr/>
        </p:nvSpPr>
        <p:spPr>
          <a:xfrm>
            <a:off x="4237038" y="5513706"/>
            <a:ext cx="4638675" cy="95440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晶体管的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之间可用一受控电流源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 i</a:t>
            </a:r>
            <a:r>
              <a:rPr lang="en-US" altLang="zh-CN" sz="28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等效代替。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4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3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3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4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3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8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84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8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84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8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8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8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840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840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84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84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93" grpId="0" bldLvl="0" animBg="1"/>
      <p:bldP spid="84002" grpId="0"/>
      <p:bldP spid="84003" grpId="0" bldLvl="0" animBg="1"/>
      <p:bldP spid="84004" grpId="0" bldLvl="0" animBg="1"/>
      <p:bldP spid="84005" grpId="0" bldLvl="0" animBg="1"/>
      <p:bldP spid="84022" grpId="0" bldLvl="0" animBg="1"/>
      <p:bldP spid="84044" grpId="0"/>
      <p:bldP spid="840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Text Box 2"/>
          <p:cNvSpPr txBox="1">
            <a:spLocks noChangeArrowheads="1"/>
          </p:cNvSpPr>
          <p:nvPr/>
        </p:nvSpPr>
        <p:spPr bwMode="auto">
          <a:xfrm>
            <a:off x="299720" y="387985"/>
            <a:ext cx="3578860" cy="523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marR="0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smtClean="0"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2.</a:t>
            </a:r>
            <a:r>
              <a:rPr kumimoji="1" lang="zh-CN" altLang="en-US" sz="2800" b="1" kern="1200" cap="none" spc="0" normalizeH="0" baseline="0" noProof="0" smtClean="0"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微变等效电路法</a:t>
            </a:r>
            <a:endParaRPr kumimoji="1" lang="zh-CN" altLang="en-US" sz="2800" b="1" kern="1200" cap="none" spc="0" normalizeH="0" baseline="0" noProof="0" smtClean="0">
              <a:solidFill>
                <a:srgbClr val="2E2EB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6327775" y="762000"/>
            <a:ext cx="833438" cy="2590800"/>
          </a:xfrm>
          <a:prstGeom prst="rect">
            <a:avLst/>
          </a:prstGeom>
          <a:noFill/>
          <a:ln w="28575">
            <a:solidFill>
              <a:srgbClr val="CC0066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2743200" y="3429000"/>
            <a:ext cx="1725613" cy="2438400"/>
          </a:xfrm>
          <a:prstGeom prst="rect">
            <a:avLst/>
          </a:prstGeom>
          <a:noFill/>
          <a:ln w="28575">
            <a:solidFill>
              <a:srgbClr val="CC0066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561975" y="1201738"/>
            <a:ext cx="3629025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sz="28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charset="-122"/>
                <a:ea typeface="楷体" panose="02010609060101010101" charset="-122"/>
                <a:cs typeface="+mn-cs"/>
              </a:rPr>
              <a:t>将交流通路中的晶</a:t>
            </a:r>
            <a:endParaRPr kumimoji="1" lang="zh-CN" altLang="en-US" sz="2800" b="1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charset="-122"/>
              <a:ea typeface="楷体" panose="02010609060101010101" charset="-122"/>
              <a:cs typeface="+mn-cs"/>
            </a:endParaRPr>
          </a:p>
          <a:p>
            <a:pPr marR="0" defTabSz="914400" rtl="0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charset="-122"/>
                <a:ea typeface="楷体" panose="02010609060101010101" charset="-122"/>
                <a:cs typeface="+mn-cs"/>
              </a:rPr>
              <a:t>体管用晶体管微变等</a:t>
            </a:r>
            <a:endParaRPr kumimoji="1" lang="zh-CN" altLang="en-US" sz="2800" b="1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charset="-122"/>
              <a:ea typeface="楷体" panose="02010609060101010101" charset="-122"/>
              <a:cs typeface="+mn-cs"/>
            </a:endParaRPr>
          </a:p>
          <a:p>
            <a:pPr marR="0" defTabSz="914400" rtl="0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charset="-122"/>
                <a:ea typeface="楷体" panose="02010609060101010101" charset="-122"/>
                <a:cs typeface="+mn-cs"/>
              </a:rPr>
              <a:t>效电路代替即可得放</a:t>
            </a:r>
            <a:endParaRPr kumimoji="1" lang="zh-CN" altLang="en-US" sz="2800" b="1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charset="-122"/>
              <a:ea typeface="楷体" panose="02010609060101010101" charset="-122"/>
              <a:cs typeface="+mn-cs"/>
            </a:endParaRPr>
          </a:p>
          <a:p>
            <a:pPr marR="0" defTabSz="914400" rtl="0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charset="-122"/>
                <a:ea typeface="楷体" panose="02010609060101010101" charset="-122"/>
                <a:cs typeface="+mn-cs"/>
              </a:rPr>
              <a:t>大电路的微变等效电</a:t>
            </a:r>
            <a:endParaRPr kumimoji="1" lang="zh-CN" altLang="en-US" sz="2800" b="1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charset="-122"/>
              <a:ea typeface="楷体" panose="02010609060101010101" charset="-122"/>
              <a:cs typeface="+mn-cs"/>
            </a:endParaRPr>
          </a:p>
          <a:p>
            <a:pPr marR="0" defTabSz="914400" rtl="0"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charset="-122"/>
                <a:ea typeface="楷体" panose="02010609060101010101" charset="-122"/>
                <a:cs typeface="+mn-cs"/>
              </a:rPr>
              <a:t>路。</a:t>
            </a:r>
            <a:endParaRPr kumimoji="1" lang="zh-CN" altLang="en-US" sz="2800" b="1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charset="-122"/>
              <a:ea typeface="楷体" panose="02010609060101010101" charset="-122"/>
              <a:cs typeface="+mn-cs"/>
            </a:endParaRPr>
          </a:p>
        </p:txBody>
      </p:sp>
      <p:grpSp>
        <p:nvGrpSpPr>
          <p:cNvPr id="85110" name="Group 118"/>
          <p:cNvGrpSpPr/>
          <p:nvPr/>
        </p:nvGrpSpPr>
        <p:grpSpPr>
          <a:xfrm>
            <a:off x="904875" y="3352800"/>
            <a:ext cx="5267325" cy="2608263"/>
            <a:chOff x="528" y="2112"/>
            <a:chExt cx="3318" cy="1643"/>
          </a:xfrm>
        </p:grpSpPr>
        <p:sp>
          <p:nvSpPr>
            <p:cNvPr id="20486" name="Text Box 7"/>
            <p:cNvSpPr txBox="1"/>
            <p:nvPr/>
          </p:nvSpPr>
          <p:spPr>
            <a:xfrm>
              <a:off x="1617" y="2112"/>
              <a:ext cx="28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487" name="Text Box 8"/>
            <p:cNvSpPr txBox="1"/>
            <p:nvPr/>
          </p:nvSpPr>
          <p:spPr>
            <a:xfrm>
              <a:off x="2493" y="2114"/>
              <a:ext cx="37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488" name="Text Box 9"/>
            <p:cNvSpPr txBox="1"/>
            <p:nvPr/>
          </p:nvSpPr>
          <p:spPr>
            <a:xfrm>
              <a:off x="528" y="3155"/>
              <a:ext cx="45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r>
                <a:rPr lang="en-US" altLang="zh-CN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5002" name="Line 10"/>
            <p:cNvSpPr>
              <a:spLocks noChangeShapeType="1"/>
            </p:cNvSpPr>
            <p:nvPr/>
          </p:nvSpPr>
          <p:spPr bwMode="auto">
            <a:xfrm flipV="1">
              <a:off x="969" y="3631"/>
              <a:ext cx="24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3" name="Line 11"/>
            <p:cNvSpPr>
              <a:spLocks noChangeShapeType="1"/>
            </p:cNvSpPr>
            <p:nvPr/>
          </p:nvSpPr>
          <p:spPr bwMode="auto">
            <a:xfrm flipH="1" flipV="1">
              <a:off x="2512" y="2470"/>
              <a:ext cx="0" cy="4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4" name="Line 12"/>
            <p:cNvSpPr>
              <a:spLocks noChangeShapeType="1"/>
            </p:cNvSpPr>
            <p:nvPr/>
          </p:nvSpPr>
          <p:spPr bwMode="auto">
            <a:xfrm flipV="1">
              <a:off x="969" y="2488"/>
              <a:ext cx="96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492" name="Group 13"/>
            <p:cNvGrpSpPr/>
            <p:nvPr/>
          </p:nvGrpSpPr>
          <p:grpSpPr>
            <a:xfrm>
              <a:off x="2401" y="2881"/>
              <a:ext cx="222" cy="313"/>
              <a:chOff x="4164" y="1968"/>
              <a:chExt cx="264" cy="420"/>
            </a:xfrm>
          </p:grpSpPr>
          <p:sp>
            <p:nvSpPr>
              <p:cNvPr id="85006" name="AutoShape 14"/>
              <p:cNvSpPr>
                <a:spLocks noChangeArrowheads="1"/>
              </p:cNvSpPr>
              <p:nvPr/>
            </p:nvSpPr>
            <p:spPr bwMode="auto">
              <a:xfrm>
                <a:off x="4164" y="1968"/>
                <a:ext cx="264" cy="420"/>
              </a:xfrm>
              <a:prstGeom prst="diamond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5007" name="Line 15"/>
              <p:cNvSpPr>
                <a:spLocks noChangeShapeType="1"/>
              </p:cNvSpPr>
              <p:nvPr/>
            </p:nvSpPr>
            <p:spPr bwMode="auto">
              <a:xfrm>
                <a:off x="4176" y="2184"/>
                <a:ext cx="2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5008" name="Line 16"/>
            <p:cNvSpPr>
              <a:spLocks noChangeShapeType="1"/>
            </p:cNvSpPr>
            <p:nvPr/>
          </p:nvSpPr>
          <p:spPr bwMode="auto">
            <a:xfrm flipV="1">
              <a:off x="1926" y="2474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09" name="Rectangle 17"/>
            <p:cNvSpPr>
              <a:spLocks noChangeArrowheads="1"/>
            </p:cNvSpPr>
            <p:nvPr/>
          </p:nvSpPr>
          <p:spPr bwMode="auto">
            <a:xfrm>
              <a:off x="1874" y="2917"/>
              <a:ext cx="98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10" name="Line 18"/>
            <p:cNvSpPr>
              <a:spLocks noChangeShapeType="1"/>
            </p:cNvSpPr>
            <p:nvPr/>
          </p:nvSpPr>
          <p:spPr bwMode="auto">
            <a:xfrm>
              <a:off x="2505" y="2457"/>
              <a:ext cx="9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11" name="Line 19"/>
            <p:cNvSpPr>
              <a:spLocks noChangeShapeType="1"/>
            </p:cNvSpPr>
            <p:nvPr/>
          </p:nvSpPr>
          <p:spPr bwMode="auto">
            <a:xfrm flipV="1">
              <a:off x="2993" y="2470"/>
              <a:ext cx="0" cy="4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12" name="Rectangle 20"/>
            <p:cNvSpPr>
              <a:spLocks noChangeArrowheads="1"/>
            </p:cNvSpPr>
            <p:nvPr/>
          </p:nvSpPr>
          <p:spPr bwMode="auto">
            <a:xfrm>
              <a:off x="2941" y="2917"/>
              <a:ext cx="98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00" name="Text Box 21"/>
            <p:cNvSpPr txBox="1"/>
            <p:nvPr/>
          </p:nvSpPr>
          <p:spPr>
            <a:xfrm>
              <a:off x="1884" y="2887"/>
              <a:ext cx="47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5014" name="Line 22"/>
            <p:cNvSpPr>
              <a:spLocks noChangeShapeType="1"/>
            </p:cNvSpPr>
            <p:nvPr/>
          </p:nvSpPr>
          <p:spPr bwMode="auto">
            <a:xfrm>
              <a:off x="2357" y="2917"/>
              <a:ext cx="0" cy="30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02" name="Text Box 23"/>
            <p:cNvSpPr txBox="1"/>
            <p:nvPr/>
          </p:nvSpPr>
          <p:spPr>
            <a:xfrm>
              <a:off x="2154" y="2635"/>
              <a:ext cx="5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i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b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5016" name="Line 24"/>
            <p:cNvSpPr>
              <a:spLocks noChangeShapeType="1"/>
            </p:cNvSpPr>
            <p:nvPr/>
          </p:nvSpPr>
          <p:spPr bwMode="auto">
            <a:xfrm flipV="1">
              <a:off x="1619" y="2416"/>
              <a:ext cx="29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04" name="Text Box 25"/>
            <p:cNvSpPr txBox="1"/>
            <p:nvPr/>
          </p:nvSpPr>
          <p:spPr>
            <a:xfrm>
              <a:off x="2579" y="2919"/>
              <a:ext cx="68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endParaRPr lang="zh-CN" altLang="zh-CN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5018" name="Line 26"/>
            <p:cNvSpPr>
              <a:spLocks noChangeShapeType="1"/>
            </p:cNvSpPr>
            <p:nvPr/>
          </p:nvSpPr>
          <p:spPr bwMode="auto">
            <a:xfrm flipH="1">
              <a:off x="2465" y="2403"/>
              <a:ext cx="30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06" name="Text Box 27"/>
            <p:cNvSpPr txBox="1"/>
            <p:nvPr/>
          </p:nvSpPr>
          <p:spPr>
            <a:xfrm>
              <a:off x="1434" y="2879"/>
              <a:ext cx="50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5020" name="Line 28"/>
            <p:cNvSpPr>
              <a:spLocks noChangeShapeType="1"/>
            </p:cNvSpPr>
            <p:nvPr/>
          </p:nvSpPr>
          <p:spPr bwMode="auto">
            <a:xfrm flipV="1">
              <a:off x="3419" y="2448"/>
              <a:ext cx="0" cy="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21" name="Rectangle 29"/>
            <p:cNvSpPr>
              <a:spLocks noChangeArrowheads="1"/>
            </p:cNvSpPr>
            <p:nvPr/>
          </p:nvSpPr>
          <p:spPr bwMode="auto">
            <a:xfrm>
              <a:off x="3370" y="2894"/>
              <a:ext cx="98" cy="27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09" name="Text Box 30"/>
            <p:cNvSpPr txBox="1"/>
            <p:nvPr/>
          </p:nvSpPr>
          <p:spPr>
            <a:xfrm>
              <a:off x="2554" y="2894"/>
              <a:ext cx="4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510" name="Text Box 31"/>
            <p:cNvSpPr txBox="1"/>
            <p:nvPr/>
          </p:nvSpPr>
          <p:spPr>
            <a:xfrm>
              <a:off x="2963" y="2879"/>
              <a:ext cx="54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511" name="Text Box 32"/>
            <p:cNvSpPr txBox="1"/>
            <p:nvPr/>
          </p:nvSpPr>
          <p:spPr>
            <a:xfrm>
              <a:off x="2293" y="3366"/>
              <a:ext cx="241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512" name="Text Box 33"/>
            <p:cNvSpPr txBox="1"/>
            <p:nvPr/>
          </p:nvSpPr>
          <p:spPr>
            <a:xfrm>
              <a:off x="1383" y="2230"/>
              <a:ext cx="24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513" name="Text Box 34"/>
            <p:cNvSpPr txBox="1"/>
            <p:nvPr/>
          </p:nvSpPr>
          <p:spPr>
            <a:xfrm>
              <a:off x="2719" y="2204"/>
              <a:ext cx="240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5027" name="Line 35"/>
            <p:cNvSpPr>
              <a:spLocks noChangeShapeType="1"/>
            </p:cNvSpPr>
            <p:nvPr/>
          </p:nvSpPr>
          <p:spPr bwMode="auto">
            <a:xfrm flipV="1">
              <a:off x="1500" y="2479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15" name="Text Box 36"/>
            <p:cNvSpPr txBox="1"/>
            <p:nvPr/>
          </p:nvSpPr>
          <p:spPr>
            <a:xfrm>
              <a:off x="1088" y="2871"/>
              <a:ext cx="36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800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2800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516" name="Text Box 37" descr="新闻纸"/>
            <p:cNvSpPr txBox="1"/>
            <p:nvPr/>
          </p:nvSpPr>
          <p:spPr>
            <a:xfrm>
              <a:off x="1096" y="2464"/>
              <a:ext cx="323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517" name="Text Box 38" descr="新闻纸"/>
            <p:cNvSpPr txBox="1"/>
            <p:nvPr/>
          </p:nvSpPr>
          <p:spPr>
            <a:xfrm>
              <a:off x="1086" y="3387"/>
              <a:ext cx="3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5031" name="Rectangle 39"/>
            <p:cNvSpPr>
              <a:spLocks noChangeArrowheads="1"/>
            </p:cNvSpPr>
            <p:nvPr/>
          </p:nvSpPr>
          <p:spPr bwMode="auto">
            <a:xfrm>
              <a:off x="1451" y="2890"/>
              <a:ext cx="99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519" name="Group 40"/>
            <p:cNvGrpSpPr/>
            <p:nvPr/>
          </p:nvGrpSpPr>
          <p:grpSpPr>
            <a:xfrm>
              <a:off x="3481" y="2514"/>
              <a:ext cx="365" cy="982"/>
              <a:chOff x="4316" y="1859"/>
              <a:chExt cx="436" cy="1319"/>
            </a:xfrm>
          </p:grpSpPr>
          <p:sp>
            <p:nvSpPr>
              <p:cNvPr id="20520" name="Text Box 41"/>
              <p:cNvSpPr txBox="1"/>
              <p:nvPr/>
            </p:nvSpPr>
            <p:spPr>
              <a:xfrm>
                <a:off x="4319" y="2311"/>
                <a:ext cx="433" cy="38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i="1" dirty="0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u</a:t>
                </a:r>
                <a:r>
                  <a:rPr lang="en-US" altLang="zh-CN" b="1" baseline="-25000" dirty="0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o</a:t>
                </a:r>
                <a:endParaRPr lang="en-US" altLang="zh-CN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0521" name="Rectangle 42" descr="新闻纸"/>
              <p:cNvSpPr/>
              <p:nvPr/>
            </p:nvSpPr>
            <p:spPr>
              <a:xfrm>
                <a:off x="4316" y="1859"/>
                <a:ext cx="252" cy="38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  <a:endPara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0522" name="Rectangle 43" descr="新闻纸"/>
              <p:cNvSpPr/>
              <p:nvPr/>
            </p:nvSpPr>
            <p:spPr>
              <a:xfrm>
                <a:off x="4316" y="2791"/>
                <a:ext cx="252" cy="38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-</a:t>
                </a:r>
                <a:endPara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523" name="Group 44"/>
            <p:cNvGrpSpPr/>
            <p:nvPr/>
          </p:nvGrpSpPr>
          <p:grpSpPr>
            <a:xfrm>
              <a:off x="2442" y="3615"/>
              <a:ext cx="197" cy="140"/>
              <a:chOff x="6645" y="4036"/>
              <a:chExt cx="198" cy="188"/>
            </a:xfrm>
          </p:grpSpPr>
          <p:sp>
            <p:nvSpPr>
              <p:cNvPr id="85037" name="Line 45"/>
              <p:cNvSpPr>
                <a:spLocks noChangeShapeType="1"/>
              </p:cNvSpPr>
              <p:nvPr/>
            </p:nvSpPr>
            <p:spPr bwMode="auto">
              <a:xfrm>
                <a:off x="6724" y="4036"/>
                <a:ext cx="0" cy="1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5038" name="Line 46"/>
              <p:cNvSpPr>
                <a:spLocks noChangeShapeType="1"/>
              </p:cNvSpPr>
              <p:nvPr/>
            </p:nvSpPr>
            <p:spPr bwMode="auto">
              <a:xfrm>
                <a:off x="6645" y="4224"/>
                <a:ext cx="1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5039" name="Line 47"/>
            <p:cNvSpPr>
              <a:spLocks noChangeShapeType="1"/>
            </p:cNvSpPr>
            <p:nvPr/>
          </p:nvSpPr>
          <p:spPr bwMode="auto">
            <a:xfrm flipH="1" flipV="1">
              <a:off x="3424" y="3168"/>
              <a:ext cx="0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40" name="Line 48"/>
            <p:cNvSpPr>
              <a:spLocks noChangeShapeType="1"/>
            </p:cNvSpPr>
            <p:nvPr/>
          </p:nvSpPr>
          <p:spPr bwMode="auto">
            <a:xfrm flipV="1">
              <a:off x="2991" y="3197"/>
              <a:ext cx="0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41" name="Line 49"/>
            <p:cNvSpPr>
              <a:spLocks noChangeShapeType="1"/>
            </p:cNvSpPr>
            <p:nvPr/>
          </p:nvSpPr>
          <p:spPr bwMode="auto">
            <a:xfrm flipV="1">
              <a:off x="1920" y="3197"/>
              <a:ext cx="0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42" name="Line 50"/>
            <p:cNvSpPr>
              <a:spLocks noChangeShapeType="1"/>
            </p:cNvSpPr>
            <p:nvPr/>
          </p:nvSpPr>
          <p:spPr bwMode="auto">
            <a:xfrm flipV="1">
              <a:off x="1500" y="3160"/>
              <a:ext cx="0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43" name="Line 51"/>
            <p:cNvSpPr>
              <a:spLocks noChangeShapeType="1"/>
            </p:cNvSpPr>
            <p:nvPr/>
          </p:nvSpPr>
          <p:spPr bwMode="auto">
            <a:xfrm flipH="1" flipV="1">
              <a:off x="2516" y="3196"/>
              <a:ext cx="3" cy="4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44" name="Line 52"/>
            <p:cNvSpPr>
              <a:spLocks noChangeShapeType="1"/>
            </p:cNvSpPr>
            <p:nvPr/>
          </p:nvSpPr>
          <p:spPr bwMode="auto">
            <a:xfrm flipH="1">
              <a:off x="972" y="2945"/>
              <a:ext cx="0" cy="70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45" name="Rectangle 53"/>
            <p:cNvSpPr>
              <a:spLocks noChangeArrowheads="1"/>
            </p:cNvSpPr>
            <p:nvPr/>
          </p:nvSpPr>
          <p:spPr bwMode="auto">
            <a:xfrm>
              <a:off x="933" y="2699"/>
              <a:ext cx="84" cy="25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46" name="Line 54"/>
            <p:cNvSpPr>
              <a:spLocks noChangeShapeType="1"/>
            </p:cNvSpPr>
            <p:nvPr/>
          </p:nvSpPr>
          <p:spPr bwMode="auto">
            <a:xfrm flipH="1">
              <a:off x="972" y="2484"/>
              <a:ext cx="0" cy="21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47" name="Oval 55"/>
            <p:cNvSpPr>
              <a:spLocks noChangeArrowheads="1"/>
            </p:cNvSpPr>
            <p:nvPr/>
          </p:nvSpPr>
          <p:spPr bwMode="auto">
            <a:xfrm>
              <a:off x="863" y="3235"/>
              <a:ext cx="208" cy="207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35" name="Rectangle 56" descr="新闻纸"/>
            <p:cNvSpPr/>
            <p:nvPr/>
          </p:nvSpPr>
          <p:spPr>
            <a:xfrm>
              <a:off x="749" y="2997"/>
              <a:ext cx="227" cy="32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536" name="Rectangle 57"/>
            <p:cNvSpPr/>
            <p:nvPr/>
          </p:nvSpPr>
          <p:spPr>
            <a:xfrm>
              <a:off x="738" y="3314"/>
              <a:ext cx="2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537" name="Text Box 58"/>
            <p:cNvSpPr txBox="1"/>
            <p:nvPr/>
          </p:nvSpPr>
          <p:spPr>
            <a:xfrm>
              <a:off x="565" y="2655"/>
              <a:ext cx="45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5051" name="Oval 59"/>
            <p:cNvSpPr>
              <a:spLocks noChangeArrowheads="1"/>
            </p:cNvSpPr>
            <p:nvPr/>
          </p:nvSpPr>
          <p:spPr bwMode="auto">
            <a:xfrm>
              <a:off x="2488" y="3595"/>
              <a:ext cx="60" cy="6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52" name="Line 60"/>
            <p:cNvSpPr>
              <a:spLocks noChangeShapeType="1"/>
            </p:cNvSpPr>
            <p:nvPr/>
          </p:nvSpPr>
          <p:spPr bwMode="auto">
            <a:xfrm flipV="1">
              <a:off x="967" y="2422"/>
              <a:ext cx="3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40" name="Rectangle 61"/>
            <p:cNvSpPr/>
            <p:nvPr/>
          </p:nvSpPr>
          <p:spPr>
            <a:xfrm>
              <a:off x="973" y="2118"/>
              <a:ext cx="205" cy="28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85054" name="Text Box 62"/>
          <p:cNvSpPr txBox="1">
            <a:spLocks noChangeArrowheads="1"/>
          </p:cNvSpPr>
          <p:nvPr/>
        </p:nvSpPr>
        <p:spPr bwMode="auto">
          <a:xfrm>
            <a:off x="5943600" y="34290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交流通路</a:t>
            </a:r>
            <a:endParaRPr kumimoji="1" lang="zh-CN" altLang="en-US" b="1" kern="1200" cap="none" spc="0" normalizeH="0" baseline="0" noProof="0" smtClean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5055" name="Text Box 63"/>
          <p:cNvSpPr txBox="1">
            <a:spLocks noChangeArrowheads="1"/>
          </p:cNvSpPr>
          <p:nvPr/>
        </p:nvSpPr>
        <p:spPr bwMode="auto">
          <a:xfrm>
            <a:off x="2590800" y="6019800"/>
            <a:ext cx="2259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微变等效电路</a:t>
            </a:r>
            <a:endParaRPr kumimoji="1" lang="zh-CN" altLang="en-US" b="1" kern="1200" cap="none" spc="0" normalizeH="0" baseline="0" noProof="0" smtClean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5059" name="AutoShape 67"/>
          <p:cNvSpPr>
            <a:spLocks noChangeArrowheads="1"/>
          </p:cNvSpPr>
          <p:nvPr/>
        </p:nvSpPr>
        <p:spPr bwMode="auto">
          <a:xfrm rot="8318427">
            <a:off x="6248400" y="4181475"/>
            <a:ext cx="2038350" cy="779463"/>
          </a:xfrm>
          <a:prstGeom prst="curvedDownArrow">
            <a:avLst>
              <a:gd name="adj1" fmla="val 52301"/>
              <a:gd name="adj2" fmla="val 104603"/>
              <a:gd name="adj3" fmla="val 33333"/>
            </a:avLst>
          </a:prstGeom>
          <a:gradFill rotWithShape="0">
            <a:gsLst>
              <a:gs pos="0">
                <a:srgbClr val="66FF33"/>
              </a:gs>
              <a:gs pos="100000">
                <a:srgbClr val="4DC04D"/>
              </a:gs>
            </a:gsLst>
            <a:lin ang="0" scaled="1"/>
          </a:gradFill>
          <a:ln w="38100">
            <a:solidFill>
              <a:srgbClr val="005C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4" name="Group 117"/>
          <p:cNvGrpSpPr/>
          <p:nvPr/>
        </p:nvGrpSpPr>
        <p:grpSpPr>
          <a:xfrm>
            <a:off x="4343400" y="693738"/>
            <a:ext cx="4344988" cy="2735262"/>
            <a:chOff x="2736" y="437"/>
            <a:chExt cx="2737" cy="1723"/>
          </a:xfrm>
        </p:grpSpPr>
        <p:sp>
          <p:nvSpPr>
            <p:cNvPr id="85061" name="Line 69"/>
            <p:cNvSpPr>
              <a:spLocks noChangeShapeType="1"/>
            </p:cNvSpPr>
            <p:nvPr/>
          </p:nvSpPr>
          <p:spPr bwMode="auto">
            <a:xfrm flipV="1">
              <a:off x="4637" y="1511"/>
              <a:ext cx="0" cy="5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46" name="Text Box 70"/>
            <p:cNvSpPr txBox="1"/>
            <p:nvPr/>
          </p:nvSpPr>
          <p:spPr>
            <a:xfrm>
              <a:off x="3705" y="1470"/>
              <a:ext cx="456" cy="289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5063" name="Line 71"/>
            <p:cNvSpPr>
              <a:spLocks noChangeShapeType="1"/>
            </p:cNvSpPr>
            <p:nvPr/>
          </p:nvSpPr>
          <p:spPr bwMode="auto">
            <a:xfrm>
              <a:off x="3740" y="1199"/>
              <a:ext cx="0" cy="2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64" name="Line 72"/>
            <p:cNvSpPr>
              <a:spLocks noChangeShapeType="1"/>
            </p:cNvSpPr>
            <p:nvPr/>
          </p:nvSpPr>
          <p:spPr bwMode="auto">
            <a:xfrm flipV="1">
              <a:off x="3740" y="1776"/>
              <a:ext cx="1" cy="2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65" name="Rectangle 73"/>
            <p:cNvSpPr>
              <a:spLocks noChangeArrowheads="1"/>
            </p:cNvSpPr>
            <p:nvPr/>
          </p:nvSpPr>
          <p:spPr bwMode="auto">
            <a:xfrm>
              <a:off x="3697" y="1492"/>
              <a:ext cx="84" cy="27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66" name="Line 74"/>
            <p:cNvSpPr>
              <a:spLocks noChangeShapeType="1"/>
            </p:cNvSpPr>
            <p:nvPr/>
          </p:nvSpPr>
          <p:spPr bwMode="auto">
            <a:xfrm>
              <a:off x="3186" y="1192"/>
              <a:ext cx="89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67" name="Line 75"/>
            <p:cNvSpPr>
              <a:spLocks noChangeShapeType="1"/>
            </p:cNvSpPr>
            <p:nvPr/>
          </p:nvSpPr>
          <p:spPr bwMode="auto">
            <a:xfrm>
              <a:off x="4085" y="1065"/>
              <a:ext cx="0" cy="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68" name="Line 76"/>
            <p:cNvSpPr>
              <a:spLocks noChangeShapeType="1"/>
            </p:cNvSpPr>
            <p:nvPr/>
          </p:nvSpPr>
          <p:spPr bwMode="auto">
            <a:xfrm>
              <a:off x="4093" y="1226"/>
              <a:ext cx="127" cy="1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69" name="Line 77"/>
            <p:cNvSpPr>
              <a:spLocks noChangeShapeType="1"/>
            </p:cNvSpPr>
            <p:nvPr/>
          </p:nvSpPr>
          <p:spPr bwMode="auto">
            <a:xfrm>
              <a:off x="4220" y="789"/>
              <a:ext cx="0" cy="2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70" name="Line 78"/>
            <p:cNvSpPr>
              <a:spLocks noChangeShapeType="1"/>
            </p:cNvSpPr>
            <p:nvPr/>
          </p:nvSpPr>
          <p:spPr bwMode="auto">
            <a:xfrm>
              <a:off x="3189" y="2006"/>
              <a:ext cx="1906" cy="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71" name="Line 79"/>
            <p:cNvSpPr>
              <a:spLocks noChangeShapeType="1"/>
            </p:cNvSpPr>
            <p:nvPr/>
          </p:nvSpPr>
          <p:spPr bwMode="auto">
            <a:xfrm flipH="1" flipV="1">
              <a:off x="4220" y="804"/>
              <a:ext cx="8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56" name="Text Box 80"/>
            <p:cNvSpPr txBox="1"/>
            <p:nvPr/>
          </p:nvSpPr>
          <p:spPr>
            <a:xfrm>
              <a:off x="4278" y="1222"/>
              <a:ext cx="334" cy="28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20557" name="Group 81"/>
            <p:cNvGrpSpPr/>
            <p:nvPr/>
          </p:nvGrpSpPr>
          <p:grpSpPr>
            <a:xfrm>
              <a:off x="4153" y="1996"/>
              <a:ext cx="136" cy="164"/>
              <a:chOff x="2898" y="3648"/>
              <a:chExt cx="204" cy="240"/>
            </a:xfrm>
          </p:grpSpPr>
          <p:grpSp>
            <p:nvGrpSpPr>
              <p:cNvPr id="20558" name="Group 82"/>
              <p:cNvGrpSpPr/>
              <p:nvPr/>
            </p:nvGrpSpPr>
            <p:grpSpPr>
              <a:xfrm>
                <a:off x="2898" y="3684"/>
                <a:ext cx="204" cy="204"/>
                <a:chOff x="2898" y="3684"/>
                <a:chExt cx="204" cy="204"/>
              </a:xfrm>
            </p:grpSpPr>
            <p:sp>
              <p:nvSpPr>
                <p:cNvPr id="85075" name="Line 83"/>
                <p:cNvSpPr>
                  <a:spLocks noChangeShapeType="1"/>
                </p:cNvSpPr>
                <p:nvPr/>
              </p:nvSpPr>
              <p:spPr bwMode="auto">
                <a:xfrm>
                  <a:off x="3000" y="3684"/>
                  <a:ext cx="0" cy="20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5076" name="Line 84"/>
                <p:cNvSpPr>
                  <a:spLocks noChangeShapeType="1"/>
                </p:cNvSpPr>
                <p:nvPr/>
              </p:nvSpPr>
              <p:spPr bwMode="auto">
                <a:xfrm>
                  <a:off x="2898" y="3876"/>
                  <a:ext cx="204" cy="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85077" name="Oval 85"/>
              <p:cNvSpPr>
                <a:spLocks noChangeArrowheads="1"/>
              </p:cNvSpPr>
              <p:nvPr/>
            </p:nvSpPr>
            <p:spPr bwMode="auto">
              <a:xfrm>
                <a:off x="2976" y="3648"/>
                <a:ext cx="47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5078" name="Line 86"/>
            <p:cNvSpPr>
              <a:spLocks noChangeShapeType="1"/>
            </p:cNvSpPr>
            <p:nvPr/>
          </p:nvSpPr>
          <p:spPr bwMode="auto">
            <a:xfrm>
              <a:off x="4637" y="804"/>
              <a:ext cx="0" cy="4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63" name="Text Box 87"/>
            <p:cNvSpPr txBox="1"/>
            <p:nvPr/>
          </p:nvSpPr>
          <p:spPr>
            <a:xfrm>
              <a:off x="3337" y="1416"/>
              <a:ext cx="30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800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2800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564" name="Text Box 88"/>
            <p:cNvSpPr txBox="1"/>
            <p:nvPr/>
          </p:nvSpPr>
          <p:spPr>
            <a:xfrm>
              <a:off x="5061" y="1182"/>
              <a:ext cx="4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000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  <a:endParaRPr lang="en-US" altLang="zh-CN" sz="2000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5081" name="Line 89"/>
            <p:cNvSpPr>
              <a:spLocks noChangeShapeType="1"/>
            </p:cNvSpPr>
            <p:nvPr/>
          </p:nvSpPr>
          <p:spPr bwMode="auto">
            <a:xfrm>
              <a:off x="5093" y="1503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82" name="Line 90"/>
            <p:cNvSpPr>
              <a:spLocks noChangeShapeType="1"/>
            </p:cNvSpPr>
            <p:nvPr/>
          </p:nvSpPr>
          <p:spPr bwMode="auto">
            <a:xfrm flipV="1">
              <a:off x="5082" y="804"/>
              <a:ext cx="0" cy="4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67" name="Text Box 91"/>
            <p:cNvSpPr txBox="1"/>
            <p:nvPr/>
          </p:nvSpPr>
          <p:spPr>
            <a:xfrm>
              <a:off x="4742" y="1222"/>
              <a:ext cx="327" cy="28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568" name="Rectangle 92" descr="新闻纸"/>
            <p:cNvSpPr/>
            <p:nvPr/>
          </p:nvSpPr>
          <p:spPr>
            <a:xfrm>
              <a:off x="3375" y="1107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569" name="Rectangle 93" descr="新闻纸"/>
            <p:cNvSpPr/>
            <p:nvPr/>
          </p:nvSpPr>
          <p:spPr>
            <a:xfrm>
              <a:off x="5139" y="775"/>
              <a:ext cx="22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5086" name="Rectangle 94"/>
            <p:cNvSpPr>
              <a:spLocks noChangeArrowheads="1"/>
            </p:cNvSpPr>
            <p:nvPr/>
          </p:nvSpPr>
          <p:spPr bwMode="auto">
            <a:xfrm>
              <a:off x="4599" y="1236"/>
              <a:ext cx="84" cy="27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87" name="Rectangle 95"/>
            <p:cNvSpPr>
              <a:spLocks noChangeArrowheads="1"/>
            </p:cNvSpPr>
            <p:nvPr/>
          </p:nvSpPr>
          <p:spPr bwMode="auto">
            <a:xfrm>
              <a:off x="5046" y="1236"/>
              <a:ext cx="83" cy="27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72" name="Rectangle 96"/>
            <p:cNvSpPr/>
            <p:nvPr/>
          </p:nvSpPr>
          <p:spPr>
            <a:xfrm>
              <a:off x="3349" y="1750"/>
              <a:ext cx="2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573" name="Rectangle 97"/>
            <p:cNvSpPr/>
            <p:nvPr/>
          </p:nvSpPr>
          <p:spPr>
            <a:xfrm>
              <a:off x="5117" y="1574"/>
              <a:ext cx="2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5090" name="Line 98"/>
            <p:cNvSpPr>
              <a:spLocks noChangeShapeType="1"/>
            </p:cNvSpPr>
            <p:nvPr/>
          </p:nvSpPr>
          <p:spPr bwMode="auto">
            <a:xfrm>
              <a:off x="3191" y="1585"/>
              <a:ext cx="0" cy="43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91" name="Rectangle 99"/>
            <p:cNvSpPr>
              <a:spLocks noChangeArrowheads="1"/>
            </p:cNvSpPr>
            <p:nvPr/>
          </p:nvSpPr>
          <p:spPr bwMode="auto">
            <a:xfrm>
              <a:off x="3152" y="1329"/>
              <a:ext cx="83" cy="25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92" name="Line 100"/>
            <p:cNvSpPr>
              <a:spLocks noChangeShapeType="1"/>
            </p:cNvSpPr>
            <p:nvPr/>
          </p:nvSpPr>
          <p:spPr bwMode="auto">
            <a:xfrm>
              <a:off x="3191" y="1195"/>
              <a:ext cx="0" cy="12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093" name="Oval 101"/>
            <p:cNvSpPr>
              <a:spLocks noChangeArrowheads="1"/>
            </p:cNvSpPr>
            <p:nvPr/>
          </p:nvSpPr>
          <p:spPr bwMode="auto">
            <a:xfrm>
              <a:off x="3084" y="1692"/>
              <a:ext cx="206" cy="206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78" name="Text Box 102"/>
            <p:cNvSpPr txBox="1"/>
            <p:nvPr/>
          </p:nvSpPr>
          <p:spPr>
            <a:xfrm>
              <a:off x="2783" y="1271"/>
              <a:ext cx="45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579" name="Text Box 103"/>
            <p:cNvSpPr txBox="1"/>
            <p:nvPr/>
          </p:nvSpPr>
          <p:spPr>
            <a:xfrm>
              <a:off x="2736" y="1622"/>
              <a:ext cx="45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r>
                <a:rPr lang="en-US" altLang="zh-CN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580" name="Rectangle 104" descr="新闻纸"/>
            <p:cNvSpPr/>
            <p:nvPr/>
          </p:nvSpPr>
          <p:spPr>
            <a:xfrm>
              <a:off x="2957" y="1453"/>
              <a:ext cx="22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581" name="Rectangle 105"/>
            <p:cNvSpPr/>
            <p:nvPr/>
          </p:nvSpPr>
          <p:spPr>
            <a:xfrm>
              <a:off x="2946" y="1769"/>
              <a:ext cx="2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5098" name="Line 106"/>
            <p:cNvSpPr>
              <a:spLocks noChangeShapeType="1"/>
            </p:cNvSpPr>
            <p:nvPr/>
          </p:nvSpPr>
          <p:spPr bwMode="auto">
            <a:xfrm flipV="1">
              <a:off x="3802" y="1120"/>
              <a:ext cx="29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3" name="Text Box 107"/>
            <p:cNvSpPr txBox="1"/>
            <p:nvPr/>
          </p:nvSpPr>
          <p:spPr>
            <a:xfrm>
              <a:off x="3798" y="813"/>
              <a:ext cx="280" cy="289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5100" name="Line 108"/>
            <p:cNvSpPr>
              <a:spLocks noChangeShapeType="1"/>
            </p:cNvSpPr>
            <p:nvPr/>
          </p:nvSpPr>
          <p:spPr bwMode="auto">
            <a:xfrm flipH="1">
              <a:off x="4247" y="732"/>
              <a:ext cx="3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5" name="Text Box 109"/>
            <p:cNvSpPr txBox="1"/>
            <p:nvPr/>
          </p:nvSpPr>
          <p:spPr>
            <a:xfrm>
              <a:off x="4319" y="437"/>
              <a:ext cx="369" cy="289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586" name="Text Box 110"/>
            <p:cNvSpPr txBox="1"/>
            <p:nvPr/>
          </p:nvSpPr>
          <p:spPr>
            <a:xfrm>
              <a:off x="3601" y="917"/>
              <a:ext cx="24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587" name="Text Box 111"/>
            <p:cNvSpPr txBox="1"/>
            <p:nvPr/>
          </p:nvSpPr>
          <p:spPr>
            <a:xfrm>
              <a:off x="4498" y="555"/>
              <a:ext cx="23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588" name="Text Box 112"/>
            <p:cNvSpPr txBox="1"/>
            <p:nvPr/>
          </p:nvSpPr>
          <p:spPr>
            <a:xfrm>
              <a:off x="4207" y="1749"/>
              <a:ext cx="24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5105" name="Line 113"/>
            <p:cNvSpPr>
              <a:spLocks noChangeShapeType="1"/>
            </p:cNvSpPr>
            <p:nvPr/>
          </p:nvSpPr>
          <p:spPr bwMode="auto">
            <a:xfrm flipV="1">
              <a:off x="3190" y="1138"/>
              <a:ext cx="29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90" name="Text Box 114"/>
            <p:cNvSpPr txBox="1"/>
            <p:nvPr/>
          </p:nvSpPr>
          <p:spPr>
            <a:xfrm>
              <a:off x="3173" y="832"/>
              <a:ext cx="28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5107" name="Line 115"/>
            <p:cNvSpPr>
              <a:spLocks noChangeShapeType="1"/>
            </p:cNvSpPr>
            <p:nvPr/>
          </p:nvSpPr>
          <p:spPr bwMode="auto">
            <a:xfrm flipH="1">
              <a:off x="4087" y="1013"/>
              <a:ext cx="136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108" name="Line 116"/>
            <p:cNvSpPr>
              <a:spLocks noChangeShapeType="1"/>
            </p:cNvSpPr>
            <p:nvPr/>
          </p:nvSpPr>
          <p:spPr bwMode="auto">
            <a:xfrm>
              <a:off x="4225" y="1397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8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5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4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4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animBg="1"/>
      <p:bldP spid="84996" grpId="0" animBg="1"/>
      <p:bldP spid="84997" grpId="0" bldLvl="0" animBg="1"/>
      <p:bldP spid="85055" grpId="0"/>
      <p:bldP spid="8505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Text Box 2"/>
          <p:cNvSpPr txBox="1"/>
          <p:nvPr/>
        </p:nvSpPr>
        <p:spPr>
          <a:xfrm>
            <a:off x="533400" y="3657600"/>
            <a:ext cx="3573463" cy="180022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solidFill>
                  <a:srgbClr val="000099"/>
                </a:solidFill>
                <a:latin typeface="楷体" panose="02010609060101010101" charset="-122"/>
                <a:ea typeface="楷体" panose="02010609060101010101" charset="-122"/>
              </a:rPr>
              <a:t>分析时假设输入为正弦交流，所以等效电路中的电压与电流可用相量表示。</a:t>
            </a:r>
            <a:endParaRPr lang="zh-CN" altLang="en-US" sz="2800" b="1" dirty="0">
              <a:solidFill>
                <a:srgbClr val="000099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6132" name="Text Box 116"/>
          <p:cNvSpPr txBox="1">
            <a:spLocks noChangeArrowheads="1"/>
          </p:cNvSpPr>
          <p:nvPr/>
        </p:nvSpPr>
        <p:spPr bwMode="auto">
          <a:xfrm>
            <a:off x="5721350" y="3081338"/>
            <a:ext cx="2259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b="1" kern="1200" cap="none" spc="0" normalizeH="0" baseline="0" noProof="0" smtClean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微变等效电路</a:t>
            </a:r>
            <a:endParaRPr kumimoji="1" lang="zh-CN" altLang="en-US" b="1" kern="1200" cap="none" spc="0" normalizeH="0" baseline="0" noProof="0" smtClean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138" name="AutoShape 122"/>
          <p:cNvSpPr>
            <a:spLocks noChangeArrowheads="1"/>
          </p:cNvSpPr>
          <p:nvPr/>
        </p:nvSpPr>
        <p:spPr bwMode="auto">
          <a:xfrm rot="26970260">
            <a:off x="7972425" y="3363913"/>
            <a:ext cx="1117600" cy="450850"/>
          </a:xfrm>
          <a:prstGeom prst="curvedDownArrow">
            <a:avLst>
              <a:gd name="adj1" fmla="val 49577"/>
              <a:gd name="adj2" fmla="val 99155"/>
              <a:gd name="adj3" fmla="val 57713"/>
            </a:avLst>
          </a:prstGeom>
          <a:gradFill rotWithShape="0">
            <a:gsLst>
              <a:gs pos="0">
                <a:srgbClr val="006600"/>
              </a:gs>
              <a:gs pos="100000">
                <a:srgbClr val="CC0000"/>
              </a:gs>
            </a:gsLst>
            <a:lin ang="0" scaled="1"/>
          </a:gradFill>
          <a:ln w="38100">
            <a:solidFill>
              <a:srgbClr val="005C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6139" name="Group 123"/>
          <p:cNvGrpSpPr/>
          <p:nvPr/>
        </p:nvGrpSpPr>
        <p:grpSpPr>
          <a:xfrm>
            <a:off x="3800475" y="406400"/>
            <a:ext cx="5267325" cy="2608263"/>
            <a:chOff x="528" y="2112"/>
            <a:chExt cx="3318" cy="1643"/>
          </a:xfrm>
        </p:grpSpPr>
        <p:sp>
          <p:nvSpPr>
            <p:cNvPr id="21510" name="Text Box 124"/>
            <p:cNvSpPr txBox="1"/>
            <p:nvPr/>
          </p:nvSpPr>
          <p:spPr>
            <a:xfrm>
              <a:off x="1617" y="2112"/>
              <a:ext cx="28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511" name="Text Box 125"/>
            <p:cNvSpPr txBox="1"/>
            <p:nvPr/>
          </p:nvSpPr>
          <p:spPr>
            <a:xfrm>
              <a:off x="2493" y="2114"/>
              <a:ext cx="37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512" name="Text Box 126"/>
            <p:cNvSpPr txBox="1"/>
            <p:nvPr/>
          </p:nvSpPr>
          <p:spPr>
            <a:xfrm>
              <a:off x="528" y="3155"/>
              <a:ext cx="45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r>
                <a:rPr lang="en-US" altLang="zh-CN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6143" name="Line 127"/>
            <p:cNvSpPr>
              <a:spLocks noChangeShapeType="1"/>
            </p:cNvSpPr>
            <p:nvPr/>
          </p:nvSpPr>
          <p:spPr bwMode="auto">
            <a:xfrm flipV="1">
              <a:off x="969" y="3631"/>
              <a:ext cx="24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144" name="Line 128"/>
            <p:cNvSpPr>
              <a:spLocks noChangeShapeType="1"/>
            </p:cNvSpPr>
            <p:nvPr/>
          </p:nvSpPr>
          <p:spPr bwMode="auto">
            <a:xfrm flipH="1" flipV="1">
              <a:off x="2512" y="2470"/>
              <a:ext cx="0" cy="4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145" name="Line 129"/>
            <p:cNvSpPr>
              <a:spLocks noChangeShapeType="1"/>
            </p:cNvSpPr>
            <p:nvPr/>
          </p:nvSpPr>
          <p:spPr bwMode="auto">
            <a:xfrm flipV="1">
              <a:off x="969" y="2488"/>
              <a:ext cx="96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1516" name="Group 130"/>
            <p:cNvGrpSpPr/>
            <p:nvPr/>
          </p:nvGrpSpPr>
          <p:grpSpPr>
            <a:xfrm>
              <a:off x="2401" y="2881"/>
              <a:ext cx="222" cy="313"/>
              <a:chOff x="4164" y="1968"/>
              <a:chExt cx="264" cy="420"/>
            </a:xfrm>
          </p:grpSpPr>
          <p:sp>
            <p:nvSpPr>
              <p:cNvPr id="86147" name="AutoShape 131"/>
              <p:cNvSpPr>
                <a:spLocks noChangeArrowheads="1"/>
              </p:cNvSpPr>
              <p:nvPr/>
            </p:nvSpPr>
            <p:spPr bwMode="auto">
              <a:xfrm>
                <a:off x="4164" y="1968"/>
                <a:ext cx="264" cy="420"/>
              </a:xfrm>
              <a:prstGeom prst="diamond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6148" name="Line 132"/>
              <p:cNvSpPr>
                <a:spLocks noChangeShapeType="1"/>
              </p:cNvSpPr>
              <p:nvPr/>
            </p:nvSpPr>
            <p:spPr bwMode="auto">
              <a:xfrm>
                <a:off x="4176" y="2184"/>
                <a:ext cx="2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6149" name="Line 133"/>
            <p:cNvSpPr>
              <a:spLocks noChangeShapeType="1"/>
            </p:cNvSpPr>
            <p:nvPr/>
          </p:nvSpPr>
          <p:spPr bwMode="auto">
            <a:xfrm flipV="1">
              <a:off x="1926" y="2474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150" name="Rectangle 134"/>
            <p:cNvSpPr>
              <a:spLocks noChangeArrowheads="1"/>
            </p:cNvSpPr>
            <p:nvPr/>
          </p:nvSpPr>
          <p:spPr bwMode="auto">
            <a:xfrm>
              <a:off x="1874" y="2917"/>
              <a:ext cx="98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151" name="Line 135"/>
            <p:cNvSpPr>
              <a:spLocks noChangeShapeType="1"/>
            </p:cNvSpPr>
            <p:nvPr/>
          </p:nvSpPr>
          <p:spPr bwMode="auto">
            <a:xfrm>
              <a:off x="2505" y="2457"/>
              <a:ext cx="9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152" name="Line 136"/>
            <p:cNvSpPr>
              <a:spLocks noChangeShapeType="1"/>
            </p:cNvSpPr>
            <p:nvPr/>
          </p:nvSpPr>
          <p:spPr bwMode="auto">
            <a:xfrm flipV="1">
              <a:off x="2993" y="2470"/>
              <a:ext cx="0" cy="4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153" name="Rectangle 137"/>
            <p:cNvSpPr>
              <a:spLocks noChangeArrowheads="1"/>
            </p:cNvSpPr>
            <p:nvPr/>
          </p:nvSpPr>
          <p:spPr bwMode="auto">
            <a:xfrm>
              <a:off x="2941" y="2917"/>
              <a:ext cx="98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24" name="Text Box 138"/>
            <p:cNvSpPr txBox="1"/>
            <p:nvPr/>
          </p:nvSpPr>
          <p:spPr>
            <a:xfrm>
              <a:off x="1884" y="2887"/>
              <a:ext cx="47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6155" name="Line 139"/>
            <p:cNvSpPr>
              <a:spLocks noChangeShapeType="1"/>
            </p:cNvSpPr>
            <p:nvPr/>
          </p:nvSpPr>
          <p:spPr bwMode="auto">
            <a:xfrm>
              <a:off x="2357" y="2917"/>
              <a:ext cx="0" cy="30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26" name="Text Box 140"/>
            <p:cNvSpPr txBox="1"/>
            <p:nvPr/>
          </p:nvSpPr>
          <p:spPr>
            <a:xfrm>
              <a:off x="2154" y="2635"/>
              <a:ext cx="5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i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b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86157" name="Line 141"/>
            <p:cNvSpPr>
              <a:spLocks noChangeShapeType="1"/>
            </p:cNvSpPr>
            <p:nvPr/>
          </p:nvSpPr>
          <p:spPr bwMode="auto">
            <a:xfrm flipV="1">
              <a:off x="1619" y="2416"/>
              <a:ext cx="29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28" name="Text Box 142"/>
            <p:cNvSpPr txBox="1"/>
            <p:nvPr/>
          </p:nvSpPr>
          <p:spPr>
            <a:xfrm>
              <a:off x="2579" y="2919"/>
              <a:ext cx="68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endParaRPr lang="zh-CN" altLang="zh-CN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6159" name="Line 143"/>
            <p:cNvSpPr>
              <a:spLocks noChangeShapeType="1"/>
            </p:cNvSpPr>
            <p:nvPr/>
          </p:nvSpPr>
          <p:spPr bwMode="auto">
            <a:xfrm flipH="1">
              <a:off x="2465" y="2403"/>
              <a:ext cx="30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30" name="Text Box 144"/>
            <p:cNvSpPr txBox="1"/>
            <p:nvPr/>
          </p:nvSpPr>
          <p:spPr>
            <a:xfrm>
              <a:off x="1434" y="2879"/>
              <a:ext cx="50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6161" name="Line 145"/>
            <p:cNvSpPr>
              <a:spLocks noChangeShapeType="1"/>
            </p:cNvSpPr>
            <p:nvPr/>
          </p:nvSpPr>
          <p:spPr bwMode="auto">
            <a:xfrm flipV="1">
              <a:off x="3419" y="2448"/>
              <a:ext cx="0" cy="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162" name="Rectangle 146"/>
            <p:cNvSpPr>
              <a:spLocks noChangeArrowheads="1"/>
            </p:cNvSpPr>
            <p:nvPr/>
          </p:nvSpPr>
          <p:spPr bwMode="auto">
            <a:xfrm>
              <a:off x="3370" y="2894"/>
              <a:ext cx="98" cy="27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33" name="Text Box 147"/>
            <p:cNvSpPr txBox="1"/>
            <p:nvPr/>
          </p:nvSpPr>
          <p:spPr>
            <a:xfrm>
              <a:off x="2554" y="2894"/>
              <a:ext cx="4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534" name="Text Box 148"/>
            <p:cNvSpPr txBox="1"/>
            <p:nvPr/>
          </p:nvSpPr>
          <p:spPr>
            <a:xfrm>
              <a:off x="2963" y="2879"/>
              <a:ext cx="54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535" name="Text Box 149"/>
            <p:cNvSpPr txBox="1"/>
            <p:nvPr/>
          </p:nvSpPr>
          <p:spPr>
            <a:xfrm>
              <a:off x="2293" y="3366"/>
              <a:ext cx="241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536" name="Text Box 150"/>
            <p:cNvSpPr txBox="1"/>
            <p:nvPr/>
          </p:nvSpPr>
          <p:spPr>
            <a:xfrm>
              <a:off x="1383" y="2230"/>
              <a:ext cx="24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537" name="Text Box 151"/>
            <p:cNvSpPr txBox="1"/>
            <p:nvPr/>
          </p:nvSpPr>
          <p:spPr>
            <a:xfrm>
              <a:off x="2719" y="2204"/>
              <a:ext cx="240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6168" name="Line 152"/>
            <p:cNvSpPr>
              <a:spLocks noChangeShapeType="1"/>
            </p:cNvSpPr>
            <p:nvPr/>
          </p:nvSpPr>
          <p:spPr bwMode="auto">
            <a:xfrm flipV="1">
              <a:off x="1500" y="2479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39" name="Text Box 153"/>
            <p:cNvSpPr txBox="1"/>
            <p:nvPr/>
          </p:nvSpPr>
          <p:spPr>
            <a:xfrm>
              <a:off x="1088" y="2871"/>
              <a:ext cx="36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800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2800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540" name="Text Box 154" descr="新闻纸"/>
            <p:cNvSpPr txBox="1"/>
            <p:nvPr/>
          </p:nvSpPr>
          <p:spPr>
            <a:xfrm>
              <a:off x="1096" y="2464"/>
              <a:ext cx="323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541" name="Text Box 155" descr="新闻纸"/>
            <p:cNvSpPr txBox="1"/>
            <p:nvPr/>
          </p:nvSpPr>
          <p:spPr>
            <a:xfrm>
              <a:off x="1086" y="3387"/>
              <a:ext cx="3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6172" name="Rectangle 156"/>
            <p:cNvSpPr>
              <a:spLocks noChangeArrowheads="1"/>
            </p:cNvSpPr>
            <p:nvPr/>
          </p:nvSpPr>
          <p:spPr bwMode="auto">
            <a:xfrm>
              <a:off x="1451" y="2890"/>
              <a:ext cx="99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1543" name="Group 157"/>
            <p:cNvGrpSpPr/>
            <p:nvPr/>
          </p:nvGrpSpPr>
          <p:grpSpPr>
            <a:xfrm>
              <a:off x="3481" y="2514"/>
              <a:ext cx="365" cy="982"/>
              <a:chOff x="4316" y="1859"/>
              <a:chExt cx="436" cy="1319"/>
            </a:xfrm>
          </p:grpSpPr>
          <p:sp>
            <p:nvSpPr>
              <p:cNvPr id="21544" name="Text Box 158"/>
              <p:cNvSpPr txBox="1"/>
              <p:nvPr/>
            </p:nvSpPr>
            <p:spPr>
              <a:xfrm>
                <a:off x="4319" y="2311"/>
                <a:ext cx="433" cy="38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i="1" dirty="0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u</a:t>
                </a:r>
                <a:r>
                  <a:rPr lang="en-US" altLang="zh-CN" b="1" baseline="-25000" dirty="0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o</a:t>
                </a:r>
                <a:endParaRPr lang="en-US" altLang="zh-CN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1545" name="Rectangle 159" descr="新闻纸"/>
              <p:cNvSpPr/>
              <p:nvPr/>
            </p:nvSpPr>
            <p:spPr>
              <a:xfrm>
                <a:off x="4316" y="1859"/>
                <a:ext cx="252" cy="38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  <a:endPara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1546" name="Rectangle 160" descr="新闻纸"/>
              <p:cNvSpPr/>
              <p:nvPr/>
            </p:nvSpPr>
            <p:spPr>
              <a:xfrm>
                <a:off x="4316" y="2791"/>
                <a:ext cx="252" cy="38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-</a:t>
                </a:r>
                <a:endPara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1547" name="Group 161"/>
            <p:cNvGrpSpPr/>
            <p:nvPr/>
          </p:nvGrpSpPr>
          <p:grpSpPr>
            <a:xfrm>
              <a:off x="2442" y="3615"/>
              <a:ext cx="197" cy="140"/>
              <a:chOff x="6645" y="4036"/>
              <a:chExt cx="198" cy="188"/>
            </a:xfrm>
          </p:grpSpPr>
          <p:sp>
            <p:nvSpPr>
              <p:cNvPr id="86178" name="Line 162"/>
              <p:cNvSpPr>
                <a:spLocks noChangeShapeType="1"/>
              </p:cNvSpPr>
              <p:nvPr/>
            </p:nvSpPr>
            <p:spPr bwMode="auto">
              <a:xfrm>
                <a:off x="6724" y="4036"/>
                <a:ext cx="0" cy="1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6179" name="Line 163"/>
              <p:cNvSpPr>
                <a:spLocks noChangeShapeType="1"/>
              </p:cNvSpPr>
              <p:nvPr/>
            </p:nvSpPr>
            <p:spPr bwMode="auto">
              <a:xfrm>
                <a:off x="6645" y="4224"/>
                <a:ext cx="1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6180" name="Line 164"/>
            <p:cNvSpPr>
              <a:spLocks noChangeShapeType="1"/>
            </p:cNvSpPr>
            <p:nvPr/>
          </p:nvSpPr>
          <p:spPr bwMode="auto">
            <a:xfrm flipH="1" flipV="1">
              <a:off x="3424" y="3168"/>
              <a:ext cx="0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181" name="Line 165"/>
            <p:cNvSpPr>
              <a:spLocks noChangeShapeType="1"/>
            </p:cNvSpPr>
            <p:nvPr/>
          </p:nvSpPr>
          <p:spPr bwMode="auto">
            <a:xfrm flipV="1">
              <a:off x="2991" y="3197"/>
              <a:ext cx="0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182" name="Line 166"/>
            <p:cNvSpPr>
              <a:spLocks noChangeShapeType="1"/>
            </p:cNvSpPr>
            <p:nvPr/>
          </p:nvSpPr>
          <p:spPr bwMode="auto">
            <a:xfrm flipV="1">
              <a:off x="1920" y="3197"/>
              <a:ext cx="0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183" name="Line 167"/>
            <p:cNvSpPr>
              <a:spLocks noChangeShapeType="1"/>
            </p:cNvSpPr>
            <p:nvPr/>
          </p:nvSpPr>
          <p:spPr bwMode="auto">
            <a:xfrm flipV="1">
              <a:off x="1500" y="3160"/>
              <a:ext cx="0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184" name="Line 168"/>
            <p:cNvSpPr>
              <a:spLocks noChangeShapeType="1"/>
            </p:cNvSpPr>
            <p:nvPr/>
          </p:nvSpPr>
          <p:spPr bwMode="auto">
            <a:xfrm flipH="1" flipV="1">
              <a:off x="2516" y="3196"/>
              <a:ext cx="3" cy="4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185" name="Line 169"/>
            <p:cNvSpPr>
              <a:spLocks noChangeShapeType="1"/>
            </p:cNvSpPr>
            <p:nvPr/>
          </p:nvSpPr>
          <p:spPr bwMode="auto">
            <a:xfrm flipH="1">
              <a:off x="972" y="2945"/>
              <a:ext cx="0" cy="70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186" name="Rectangle 170"/>
            <p:cNvSpPr>
              <a:spLocks noChangeArrowheads="1"/>
            </p:cNvSpPr>
            <p:nvPr/>
          </p:nvSpPr>
          <p:spPr bwMode="auto">
            <a:xfrm>
              <a:off x="933" y="2699"/>
              <a:ext cx="84" cy="25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187" name="Line 171"/>
            <p:cNvSpPr>
              <a:spLocks noChangeShapeType="1"/>
            </p:cNvSpPr>
            <p:nvPr/>
          </p:nvSpPr>
          <p:spPr bwMode="auto">
            <a:xfrm flipH="1">
              <a:off x="972" y="2484"/>
              <a:ext cx="0" cy="21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188" name="Oval 172"/>
            <p:cNvSpPr>
              <a:spLocks noChangeArrowheads="1"/>
            </p:cNvSpPr>
            <p:nvPr/>
          </p:nvSpPr>
          <p:spPr bwMode="auto">
            <a:xfrm>
              <a:off x="863" y="3235"/>
              <a:ext cx="208" cy="207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59" name="Rectangle 173" descr="新闻纸"/>
            <p:cNvSpPr/>
            <p:nvPr/>
          </p:nvSpPr>
          <p:spPr>
            <a:xfrm>
              <a:off x="749" y="2997"/>
              <a:ext cx="227" cy="32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560" name="Rectangle 174"/>
            <p:cNvSpPr/>
            <p:nvPr/>
          </p:nvSpPr>
          <p:spPr>
            <a:xfrm>
              <a:off x="738" y="3314"/>
              <a:ext cx="2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561" name="Text Box 175"/>
            <p:cNvSpPr txBox="1"/>
            <p:nvPr/>
          </p:nvSpPr>
          <p:spPr>
            <a:xfrm>
              <a:off x="565" y="2655"/>
              <a:ext cx="45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6192" name="Oval 176"/>
            <p:cNvSpPr>
              <a:spLocks noChangeArrowheads="1"/>
            </p:cNvSpPr>
            <p:nvPr/>
          </p:nvSpPr>
          <p:spPr bwMode="auto">
            <a:xfrm>
              <a:off x="2488" y="3595"/>
              <a:ext cx="60" cy="6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193" name="Line 177"/>
            <p:cNvSpPr>
              <a:spLocks noChangeShapeType="1"/>
            </p:cNvSpPr>
            <p:nvPr/>
          </p:nvSpPr>
          <p:spPr bwMode="auto">
            <a:xfrm flipV="1">
              <a:off x="967" y="2422"/>
              <a:ext cx="3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64" name="Rectangle 178"/>
            <p:cNvSpPr/>
            <p:nvPr/>
          </p:nvSpPr>
          <p:spPr>
            <a:xfrm>
              <a:off x="973" y="2118"/>
              <a:ext cx="205" cy="28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b="1" baseline="-25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86268" name="Group 252"/>
          <p:cNvGrpSpPr/>
          <p:nvPr/>
        </p:nvGrpSpPr>
        <p:grpSpPr>
          <a:xfrm>
            <a:off x="3886200" y="3657600"/>
            <a:ext cx="4964113" cy="2667000"/>
            <a:chOff x="2160" y="4896"/>
            <a:chExt cx="3127" cy="1680"/>
          </a:xfrm>
        </p:grpSpPr>
        <p:sp>
          <p:nvSpPr>
            <p:cNvPr id="86199" name="Line 183"/>
            <p:cNvSpPr>
              <a:spLocks noChangeShapeType="1"/>
            </p:cNvSpPr>
            <p:nvPr/>
          </p:nvSpPr>
          <p:spPr bwMode="auto">
            <a:xfrm flipV="1">
              <a:off x="2564" y="6452"/>
              <a:ext cx="24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200" name="Line 184"/>
            <p:cNvSpPr>
              <a:spLocks noChangeShapeType="1"/>
            </p:cNvSpPr>
            <p:nvPr/>
          </p:nvSpPr>
          <p:spPr bwMode="auto">
            <a:xfrm flipH="1" flipV="1">
              <a:off x="4107" y="5291"/>
              <a:ext cx="0" cy="4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201" name="Line 185"/>
            <p:cNvSpPr>
              <a:spLocks noChangeShapeType="1"/>
            </p:cNvSpPr>
            <p:nvPr/>
          </p:nvSpPr>
          <p:spPr bwMode="auto">
            <a:xfrm flipV="1">
              <a:off x="2564" y="5309"/>
              <a:ext cx="96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1569" name="Group 186"/>
            <p:cNvGrpSpPr/>
            <p:nvPr/>
          </p:nvGrpSpPr>
          <p:grpSpPr>
            <a:xfrm>
              <a:off x="3996" y="5702"/>
              <a:ext cx="222" cy="313"/>
              <a:chOff x="4164" y="1968"/>
              <a:chExt cx="264" cy="420"/>
            </a:xfrm>
          </p:grpSpPr>
          <p:sp>
            <p:nvSpPr>
              <p:cNvPr id="86203" name="AutoShape 187"/>
              <p:cNvSpPr>
                <a:spLocks noChangeArrowheads="1"/>
              </p:cNvSpPr>
              <p:nvPr/>
            </p:nvSpPr>
            <p:spPr bwMode="auto">
              <a:xfrm>
                <a:off x="4164" y="1968"/>
                <a:ext cx="264" cy="420"/>
              </a:xfrm>
              <a:prstGeom prst="diamond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6204" name="Line 188"/>
              <p:cNvSpPr>
                <a:spLocks noChangeShapeType="1"/>
              </p:cNvSpPr>
              <p:nvPr/>
            </p:nvSpPr>
            <p:spPr bwMode="auto">
              <a:xfrm>
                <a:off x="4176" y="2184"/>
                <a:ext cx="2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6205" name="Line 189"/>
            <p:cNvSpPr>
              <a:spLocks noChangeShapeType="1"/>
            </p:cNvSpPr>
            <p:nvPr/>
          </p:nvSpPr>
          <p:spPr bwMode="auto">
            <a:xfrm flipV="1">
              <a:off x="3521" y="5295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206" name="Rectangle 190"/>
            <p:cNvSpPr>
              <a:spLocks noChangeArrowheads="1"/>
            </p:cNvSpPr>
            <p:nvPr/>
          </p:nvSpPr>
          <p:spPr bwMode="auto">
            <a:xfrm>
              <a:off x="3469" y="5738"/>
              <a:ext cx="98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207" name="Line 191"/>
            <p:cNvSpPr>
              <a:spLocks noChangeShapeType="1"/>
            </p:cNvSpPr>
            <p:nvPr/>
          </p:nvSpPr>
          <p:spPr bwMode="auto">
            <a:xfrm>
              <a:off x="4100" y="5278"/>
              <a:ext cx="9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208" name="Line 192"/>
            <p:cNvSpPr>
              <a:spLocks noChangeShapeType="1"/>
            </p:cNvSpPr>
            <p:nvPr/>
          </p:nvSpPr>
          <p:spPr bwMode="auto">
            <a:xfrm flipV="1">
              <a:off x="4588" y="5291"/>
              <a:ext cx="0" cy="4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209" name="Rectangle 193"/>
            <p:cNvSpPr>
              <a:spLocks noChangeArrowheads="1"/>
            </p:cNvSpPr>
            <p:nvPr/>
          </p:nvSpPr>
          <p:spPr bwMode="auto">
            <a:xfrm>
              <a:off x="4536" y="5738"/>
              <a:ext cx="98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77" name="Text Box 194"/>
            <p:cNvSpPr txBox="1"/>
            <p:nvPr/>
          </p:nvSpPr>
          <p:spPr>
            <a:xfrm>
              <a:off x="3479" y="5708"/>
              <a:ext cx="47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6211" name="Line 195"/>
            <p:cNvSpPr>
              <a:spLocks noChangeShapeType="1"/>
            </p:cNvSpPr>
            <p:nvPr/>
          </p:nvSpPr>
          <p:spPr bwMode="auto">
            <a:xfrm>
              <a:off x="3952" y="5738"/>
              <a:ext cx="0" cy="30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213" name="Line 197"/>
            <p:cNvSpPr>
              <a:spLocks noChangeShapeType="1"/>
            </p:cNvSpPr>
            <p:nvPr/>
          </p:nvSpPr>
          <p:spPr bwMode="auto">
            <a:xfrm flipV="1">
              <a:off x="3214" y="5237"/>
              <a:ext cx="29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80" name="Text Box 198"/>
            <p:cNvSpPr txBox="1"/>
            <p:nvPr/>
          </p:nvSpPr>
          <p:spPr>
            <a:xfrm>
              <a:off x="4174" y="5740"/>
              <a:ext cx="68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endParaRPr lang="zh-CN" altLang="zh-CN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6215" name="Line 199"/>
            <p:cNvSpPr>
              <a:spLocks noChangeShapeType="1"/>
            </p:cNvSpPr>
            <p:nvPr/>
          </p:nvSpPr>
          <p:spPr bwMode="auto">
            <a:xfrm flipH="1">
              <a:off x="4060" y="5224"/>
              <a:ext cx="30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82" name="Text Box 200"/>
            <p:cNvSpPr txBox="1"/>
            <p:nvPr/>
          </p:nvSpPr>
          <p:spPr>
            <a:xfrm>
              <a:off x="3029" y="5700"/>
              <a:ext cx="50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6217" name="Line 201"/>
            <p:cNvSpPr>
              <a:spLocks noChangeShapeType="1"/>
            </p:cNvSpPr>
            <p:nvPr/>
          </p:nvSpPr>
          <p:spPr bwMode="auto">
            <a:xfrm flipV="1">
              <a:off x="5014" y="5269"/>
              <a:ext cx="0" cy="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218" name="Rectangle 202"/>
            <p:cNvSpPr>
              <a:spLocks noChangeArrowheads="1"/>
            </p:cNvSpPr>
            <p:nvPr/>
          </p:nvSpPr>
          <p:spPr bwMode="auto">
            <a:xfrm>
              <a:off x="4965" y="5715"/>
              <a:ext cx="98" cy="27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85" name="Text Box 203"/>
            <p:cNvSpPr txBox="1"/>
            <p:nvPr/>
          </p:nvSpPr>
          <p:spPr>
            <a:xfrm>
              <a:off x="4149" y="5715"/>
              <a:ext cx="4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586" name="Text Box 204"/>
            <p:cNvSpPr txBox="1"/>
            <p:nvPr/>
          </p:nvSpPr>
          <p:spPr>
            <a:xfrm>
              <a:off x="4558" y="5700"/>
              <a:ext cx="54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587" name="Text Box 205"/>
            <p:cNvSpPr txBox="1"/>
            <p:nvPr/>
          </p:nvSpPr>
          <p:spPr>
            <a:xfrm>
              <a:off x="3888" y="6187"/>
              <a:ext cx="241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588" name="Text Box 206"/>
            <p:cNvSpPr txBox="1"/>
            <p:nvPr/>
          </p:nvSpPr>
          <p:spPr>
            <a:xfrm>
              <a:off x="2978" y="5051"/>
              <a:ext cx="24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589" name="Text Box 207"/>
            <p:cNvSpPr txBox="1"/>
            <p:nvPr/>
          </p:nvSpPr>
          <p:spPr>
            <a:xfrm>
              <a:off x="4314" y="5025"/>
              <a:ext cx="240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6224" name="Line 208"/>
            <p:cNvSpPr>
              <a:spLocks noChangeShapeType="1"/>
            </p:cNvSpPr>
            <p:nvPr/>
          </p:nvSpPr>
          <p:spPr bwMode="auto">
            <a:xfrm flipV="1">
              <a:off x="3095" y="5300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91" name="Text Box 210" descr="新闻纸"/>
            <p:cNvSpPr txBox="1"/>
            <p:nvPr/>
          </p:nvSpPr>
          <p:spPr>
            <a:xfrm>
              <a:off x="2691" y="5285"/>
              <a:ext cx="323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592" name="Text Box 211" descr="新闻纸"/>
            <p:cNvSpPr txBox="1"/>
            <p:nvPr/>
          </p:nvSpPr>
          <p:spPr>
            <a:xfrm>
              <a:off x="2681" y="6208"/>
              <a:ext cx="3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6228" name="Rectangle 212"/>
            <p:cNvSpPr>
              <a:spLocks noChangeArrowheads="1"/>
            </p:cNvSpPr>
            <p:nvPr/>
          </p:nvSpPr>
          <p:spPr bwMode="auto">
            <a:xfrm>
              <a:off x="3046" y="5711"/>
              <a:ext cx="99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594" name="Rectangle 215" descr="新闻纸"/>
            <p:cNvSpPr/>
            <p:nvPr/>
          </p:nvSpPr>
          <p:spPr>
            <a:xfrm>
              <a:off x="5076" y="5335"/>
              <a:ext cx="21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595" name="Rectangle 216" descr="新闻纸"/>
            <p:cNvSpPr/>
            <p:nvPr/>
          </p:nvSpPr>
          <p:spPr>
            <a:xfrm>
              <a:off x="5076" y="6029"/>
              <a:ext cx="21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1596" name="Group 217"/>
            <p:cNvGrpSpPr/>
            <p:nvPr/>
          </p:nvGrpSpPr>
          <p:grpSpPr>
            <a:xfrm>
              <a:off x="4037" y="6436"/>
              <a:ext cx="197" cy="140"/>
              <a:chOff x="6645" y="4036"/>
              <a:chExt cx="198" cy="188"/>
            </a:xfrm>
          </p:grpSpPr>
          <p:sp>
            <p:nvSpPr>
              <p:cNvPr id="86234" name="Line 218"/>
              <p:cNvSpPr>
                <a:spLocks noChangeShapeType="1"/>
              </p:cNvSpPr>
              <p:nvPr/>
            </p:nvSpPr>
            <p:spPr bwMode="auto">
              <a:xfrm>
                <a:off x="6724" y="4036"/>
                <a:ext cx="0" cy="1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6235" name="Line 219"/>
              <p:cNvSpPr>
                <a:spLocks noChangeShapeType="1"/>
              </p:cNvSpPr>
              <p:nvPr/>
            </p:nvSpPr>
            <p:spPr bwMode="auto">
              <a:xfrm>
                <a:off x="6645" y="4224"/>
                <a:ext cx="1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6236" name="Line 220"/>
            <p:cNvSpPr>
              <a:spLocks noChangeShapeType="1"/>
            </p:cNvSpPr>
            <p:nvPr/>
          </p:nvSpPr>
          <p:spPr bwMode="auto">
            <a:xfrm flipH="1" flipV="1">
              <a:off x="5019" y="5989"/>
              <a:ext cx="0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237" name="Line 221"/>
            <p:cNvSpPr>
              <a:spLocks noChangeShapeType="1"/>
            </p:cNvSpPr>
            <p:nvPr/>
          </p:nvSpPr>
          <p:spPr bwMode="auto">
            <a:xfrm flipV="1">
              <a:off x="4586" y="6018"/>
              <a:ext cx="0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238" name="Line 222"/>
            <p:cNvSpPr>
              <a:spLocks noChangeShapeType="1"/>
            </p:cNvSpPr>
            <p:nvPr/>
          </p:nvSpPr>
          <p:spPr bwMode="auto">
            <a:xfrm flipV="1">
              <a:off x="3515" y="6018"/>
              <a:ext cx="0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239" name="Line 223"/>
            <p:cNvSpPr>
              <a:spLocks noChangeShapeType="1"/>
            </p:cNvSpPr>
            <p:nvPr/>
          </p:nvSpPr>
          <p:spPr bwMode="auto">
            <a:xfrm flipV="1">
              <a:off x="3095" y="5981"/>
              <a:ext cx="0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240" name="Line 224"/>
            <p:cNvSpPr>
              <a:spLocks noChangeShapeType="1"/>
            </p:cNvSpPr>
            <p:nvPr/>
          </p:nvSpPr>
          <p:spPr bwMode="auto">
            <a:xfrm flipH="1" flipV="1">
              <a:off x="4111" y="6017"/>
              <a:ext cx="3" cy="4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241" name="Line 225"/>
            <p:cNvSpPr>
              <a:spLocks noChangeShapeType="1"/>
            </p:cNvSpPr>
            <p:nvPr/>
          </p:nvSpPr>
          <p:spPr bwMode="auto">
            <a:xfrm flipH="1">
              <a:off x="2567" y="5766"/>
              <a:ext cx="0" cy="70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242" name="Rectangle 226"/>
            <p:cNvSpPr>
              <a:spLocks noChangeArrowheads="1"/>
            </p:cNvSpPr>
            <p:nvPr/>
          </p:nvSpPr>
          <p:spPr bwMode="auto">
            <a:xfrm>
              <a:off x="2528" y="5520"/>
              <a:ext cx="84" cy="25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243" name="Line 227"/>
            <p:cNvSpPr>
              <a:spLocks noChangeShapeType="1"/>
            </p:cNvSpPr>
            <p:nvPr/>
          </p:nvSpPr>
          <p:spPr bwMode="auto">
            <a:xfrm flipH="1">
              <a:off x="2567" y="5305"/>
              <a:ext cx="0" cy="21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244" name="Oval 228"/>
            <p:cNvSpPr>
              <a:spLocks noChangeArrowheads="1"/>
            </p:cNvSpPr>
            <p:nvPr/>
          </p:nvSpPr>
          <p:spPr bwMode="auto">
            <a:xfrm>
              <a:off x="2458" y="6056"/>
              <a:ext cx="208" cy="207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608" name="Rectangle 229" descr="新闻纸"/>
            <p:cNvSpPr/>
            <p:nvPr/>
          </p:nvSpPr>
          <p:spPr>
            <a:xfrm>
              <a:off x="2344" y="5818"/>
              <a:ext cx="227" cy="32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609" name="Rectangle 230"/>
            <p:cNvSpPr/>
            <p:nvPr/>
          </p:nvSpPr>
          <p:spPr>
            <a:xfrm>
              <a:off x="2333" y="6135"/>
              <a:ext cx="2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610" name="Text Box 231"/>
            <p:cNvSpPr txBox="1"/>
            <p:nvPr/>
          </p:nvSpPr>
          <p:spPr>
            <a:xfrm>
              <a:off x="2160" y="5476"/>
              <a:ext cx="45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6248" name="Oval 232"/>
            <p:cNvSpPr>
              <a:spLocks noChangeArrowheads="1"/>
            </p:cNvSpPr>
            <p:nvPr/>
          </p:nvSpPr>
          <p:spPr bwMode="auto">
            <a:xfrm>
              <a:off x="4083" y="6416"/>
              <a:ext cx="60" cy="6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249" name="Line 233"/>
            <p:cNvSpPr>
              <a:spLocks noChangeShapeType="1"/>
            </p:cNvSpPr>
            <p:nvPr/>
          </p:nvSpPr>
          <p:spPr bwMode="auto">
            <a:xfrm flipV="1">
              <a:off x="2562" y="5243"/>
              <a:ext cx="3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1613" name="Object 245"/>
            <p:cNvGraphicFramePr>
              <a:graphicFrameLocks noChangeAspect="1"/>
            </p:cNvGraphicFramePr>
            <p:nvPr/>
          </p:nvGraphicFramePr>
          <p:xfrm>
            <a:off x="2172" y="6000"/>
            <a:ext cx="22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1" imgW="352425" imgH="476250" progId="Paint.Picture">
                    <p:embed/>
                  </p:oleObj>
                </mc:Choice>
                <mc:Fallback>
                  <p:oleObj name="" r:id="rId1" imgW="352425" imgH="476250" progId="Paint.Picture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172" y="6000"/>
                          <a:ext cx="222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14" name="Object 246"/>
            <p:cNvGraphicFramePr>
              <a:graphicFrameLocks noChangeAspect="1"/>
            </p:cNvGraphicFramePr>
            <p:nvPr/>
          </p:nvGraphicFramePr>
          <p:xfrm>
            <a:off x="2736" y="5712"/>
            <a:ext cx="19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3" imgW="314325" imgH="466725" progId="Paint.Picture">
                    <p:embed/>
                  </p:oleObj>
                </mc:Choice>
                <mc:Fallback>
                  <p:oleObj name="" r:id="rId3" imgW="314325" imgH="466725" progId="Paint.Picture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36" y="5712"/>
                          <a:ext cx="198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15" name="Object 247"/>
            <p:cNvGraphicFramePr>
              <a:graphicFrameLocks noChangeAspect="1"/>
            </p:cNvGraphicFramePr>
            <p:nvPr/>
          </p:nvGraphicFramePr>
          <p:xfrm>
            <a:off x="2640" y="4896"/>
            <a:ext cx="138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5" imgW="219075" imgH="504825" progId="Paint.Picture">
                    <p:embed/>
                  </p:oleObj>
                </mc:Choice>
                <mc:Fallback>
                  <p:oleObj name="" r:id="rId5" imgW="219075" imgH="504825" progId="Paint.Picture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40" y="4896"/>
                          <a:ext cx="138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16" name="Object 248"/>
            <p:cNvGraphicFramePr>
              <a:graphicFrameLocks noChangeAspect="1"/>
            </p:cNvGraphicFramePr>
            <p:nvPr/>
          </p:nvGraphicFramePr>
          <p:xfrm>
            <a:off x="3216" y="4896"/>
            <a:ext cx="18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7" imgW="285750" imgH="485775" progId="Paint.Picture">
                    <p:embed/>
                  </p:oleObj>
                </mc:Choice>
                <mc:Fallback>
                  <p:oleObj name="" r:id="rId7" imgW="285750" imgH="485775" progId="Paint.Picture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16" y="4896"/>
                          <a:ext cx="180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17" name="Object 249"/>
            <p:cNvGraphicFramePr>
              <a:graphicFrameLocks noChangeAspect="1"/>
            </p:cNvGraphicFramePr>
            <p:nvPr/>
          </p:nvGraphicFramePr>
          <p:xfrm>
            <a:off x="3792" y="5424"/>
            <a:ext cx="2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9" imgW="438150" imgH="457200" progId="Paint.Picture">
                    <p:embed/>
                  </p:oleObj>
                </mc:Choice>
                <mc:Fallback>
                  <p:oleObj name="" r:id="rId9" imgW="438150" imgH="457200" progId="Paint.Picture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792" y="5424"/>
                          <a:ext cx="27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18" name="Object 250"/>
            <p:cNvGraphicFramePr>
              <a:graphicFrameLocks noChangeAspect="1"/>
            </p:cNvGraphicFramePr>
            <p:nvPr/>
          </p:nvGraphicFramePr>
          <p:xfrm>
            <a:off x="4128" y="4896"/>
            <a:ext cx="144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11" imgW="228600" imgH="447675" progId="Paint.Picture">
                    <p:embed/>
                  </p:oleObj>
                </mc:Choice>
                <mc:Fallback>
                  <p:oleObj name="" r:id="rId11" imgW="228600" imgH="447675" progId="Paint.Picture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128" y="4896"/>
                          <a:ext cx="144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19" name="Object 251"/>
            <p:cNvGraphicFramePr>
              <a:graphicFrameLocks noChangeAspect="1"/>
            </p:cNvGraphicFramePr>
            <p:nvPr/>
          </p:nvGraphicFramePr>
          <p:xfrm>
            <a:off x="5100" y="5712"/>
            <a:ext cx="180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13" imgW="285750" imgH="428625" progId="Paint.Picture">
                    <p:embed/>
                  </p:oleObj>
                </mc:Choice>
                <mc:Fallback>
                  <p:oleObj name="" r:id="rId13" imgW="285750" imgH="428625" progId="Paint.Picture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100" y="5712"/>
                          <a:ext cx="180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6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6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/>
      <p:bldP spid="86132" grpId="0"/>
      <p:bldP spid="861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65405" y="226378"/>
            <a:ext cx="4443730" cy="523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marR="0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kern="1200" cap="none" spc="0" normalizeH="0" baseline="0" noProof="0" smtClean="0"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b="1" kern="1200" cap="none" spc="0" normalizeH="0" baseline="0" noProof="0" smtClean="0"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）电压放大倍数的计算</a:t>
            </a:r>
            <a:endParaRPr kumimoji="1" lang="zh-CN" altLang="en-US" sz="2800" b="1" kern="1200" cap="none" spc="0" normalizeH="0" baseline="0" noProof="0" smtClean="0">
              <a:solidFill>
                <a:srgbClr val="2E2EB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251" name="Rectangle 211"/>
          <p:cNvSpPr>
            <a:spLocks noChangeArrowheads="1"/>
          </p:cNvSpPr>
          <p:nvPr/>
        </p:nvSpPr>
        <p:spPr bwMode="auto">
          <a:xfrm>
            <a:off x="1895475" y="-2058987"/>
            <a:ext cx="4127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endParaRPr kumimoji="1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7045" name="Object 5"/>
          <p:cNvGraphicFramePr>
            <a:graphicFrameLocks noChangeAspect="1"/>
          </p:cNvGraphicFramePr>
          <p:nvPr/>
        </p:nvGraphicFramePr>
        <p:xfrm>
          <a:off x="517525" y="3543300"/>
          <a:ext cx="2090738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1079500" imgH="571500" progId="Equation.3">
                  <p:embed/>
                </p:oleObj>
              </mc:Choice>
              <mc:Fallback>
                <p:oleObj name="" r:id="rId1" imgW="1079500" imgH="5715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7525" y="3543300"/>
                        <a:ext cx="2090738" cy="110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6" name="Object 6"/>
          <p:cNvGraphicFramePr>
            <a:graphicFrameLocks noChangeAspect="1"/>
          </p:cNvGraphicFramePr>
          <p:nvPr/>
        </p:nvGraphicFramePr>
        <p:xfrm>
          <a:off x="7086600" y="2992438"/>
          <a:ext cx="19050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" imgW="876300" imgH="228600" progId="Equation.3">
                  <p:embed/>
                </p:oleObj>
              </mc:Choice>
              <mc:Fallback>
                <p:oleObj name="" r:id="rId3" imgW="876300" imgH="2286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86600" y="2992438"/>
                        <a:ext cx="190500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457200" y="4597400"/>
            <a:ext cx="581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当放大电路输出端开路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未接</a:t>
            </a:r>
            <a:r>
              <a:rPr kumimoji="1" lang="en-US" altLang="zh-CN" sz="2800" b="1" i="1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-2500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L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时，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268" name="Rectangle 228"/>
          <p:cNvSpPr>
            <a:spLocks noChangeArrowheads="1"/>
          </p:cNvSpPr>
          <p:nvPr/>
        </p:nvSpPr>
        <p:spPr bwMode="auto">
          <a:xfrm>
            <a:off x="1123950" y="-1835150"/>
            <a:ext cx="57467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endParaRPr kumimoji="1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050" name="Rectangle 10"/>
          <p:cNvSpPr>
            <a:spLocks noChangeArrowheads="1"/>
          </p:cNvSpPr>
          <p:nvPr/>
        </p:nvSpPr>
        <p:spPr bwMode="auto">
          <a:xfrm>
            <a:off x="3352800" y="5638800"/>
            <a:ext cx="5181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因</a:t>
            </a:r>
            <a:r>
              <a:rPr kumimoji="1" lang="en-US" altLang="zh-CN" sz="2800" b="1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-25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be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</a:t>
            </a:r>
            <a:r>
              <a:rPr kumimoji="1" lang="en-US" altLang="zh-CN" sz="2800" b="1" i="1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2500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有关，故放大倍数与静态 </a:t>
            </a:r>
            <a:r>
              <a:rPr kumimoji="1" lang="en-US" altLang="zh-CN" sz="2800" b="1" i="1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2500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有关。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051" name="AutoShape 11"/>
          <p:cNvSpPr/>
          <p:nvPr/>
        </p:nvSpPr>
        <p:spPr bwMode="auto">
          <a:xfrm rot="-5400000">
            <a:off x="7846219" y="2623344"/>
            <a:ext cx="250825" cy="661988"/>
          </a:xfrm>
          <a:prstGeom prst="leftBrace">
            <a:avLst>
              <a:gd name="adj1" fmla="val 21994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052" name="Rectangle 12"/>
          <p:cNvSpPr>
            <a:spLocks noChangeArrowheads="1"/>
          </p:cNvSpPr>
          <p:nvPr/>
        </p:nvSpPr>
        <p:spPr bwMode="auto">
          <a:xfrm>
            <a:off x="3292475" y="5114925"/>
            <a:ext cx="5180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负载电阻愈小，放大倍数愈小。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7053" name="Object 13"/>
          <p:cNvGraphicFramePr>
            <a:graphicFrameLocks noChangeAspect="1"/>
          </p:cNvGraphicFramePr>
          <p:nvPr/>
        </p:nvGraphicFramePr>
        <p:xfrm>
          <a:off x="549275" y="5070475"/>
          <a:ext cx="204152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5" imgW="1066800" imgH="571500" progId="Equation.3">
                  <p:embed/>
                </p:oleObj>
              </mc:Choice>
              <mc:Fallback>
                <p:oleObj name="" r:id="rId5" imgW="1066800" imgH="5715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9275" y="5070475"/>
                        <a:ext cx="2041525" cy="1098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4" name="Rectangle 14"/>
          <p:cNvSpPr>
            <a:spLocks noChangeArrowheads="1"/>
          </p:cNvSpPr>
          <p:nvPr/>
        </p:nvSpPr>
        <p:spPr bwMode="auto">
          <a:xfrm>
            <a:off x="3224213" y="3533775"/>
            <a:ext cx="55387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式中的负号表示输出电压的相位与输入相反。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055" name="Text Box 15"/>
          <p:cNvSpPr txBox="1">
            <a:spLocks noChangeArrowheads="1"/>
          </p:cNvSpPr>
          <p:nvPr/>
        </p:nvSpPr>
        <p:spPr bwMode="auto">
          <a:xfrm>
            <a:off x="3276600" y="896938"/>
            <a:ext cx="1127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sz="2800" b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87232" name="Group 192"/>
          <p:cNvGrpSpPr/>
          <p:nvPr/>
        </p:nvGrpSpPr>
        <p:grpSpPr>
          <a:xfrm>
            <a:off x="3810000" y="304800"/>
            <a:ext cx="4964113" cy="2667000"/>
            <a:chOff x="2352" y="4848"/>
            <a:chExt cx="3127" cy="1680"/>
          </a:xfrm>
        </p:grpSpPr>
        <p:sp>
          <p:nvSpPr>
            <p:cNvPr id="87178" name="Line 138"/>
            <p:cNvSpPr>
              <a:spLocks noChangeShapeType="1"/>
            </p:cNvSpPr>
            <p:nvPr/>
          </p:nvSpPr>
          <p:spPr bwMode="auto">
            <a:xfrm flipV="1">
              <a:off x="2756" y="6404"/>
              <a:ext cx="24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79" name="Line 139"/>
            <p:cNvSpPr>
              <a:spLocks noChangeShapeType="1"/>
            </p:cNvSpPr>
            <p:nvPr/>
          </p:nvSpPr>
          <p:spPr bwMode="auto">
            <a:xfrm flipH="1" flipV="1">
              <a:off x="4299" y="5243"/>
              <a:ext cx="0" cy="4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80" name="Line 140"/>
            <p:cNvSpPr>
              <a:spLocks noChangeShapeType="1"/>
            </p:cNvSpPr>
            <p:nvPr/>
          </p:nvSpPr>
          <p:spPr bwMode="auto">
            <a:xfrm flipV="1">
              <a:off x="2756" y="5261"/>
              <a:ext cx="96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2545" name="Group 141"/>
            <p:cNvGrpSpPr/>
            <p:nvPr/>
          </p:nvGrpSpPr>
          <p:grpSpPr>
            <a:xfrm>
              <a:off x="4188" y="5654"/>
              <a:ext cx="222" cy="313"/>
              <a:chOff x="4164" y="1968"/>
              <a:chExt cx="264" cy="420"/>
            </a:xfrm>
          </p:grpSpPr>
          <p:sp>
            <p:nvSpPr>
              <p:cNvPr id="87182" name="AutoShape 142"/>
              <p:cNvSpPr>
                <a:spLocks noChangeArrowheads="1"/>
              </p:cNvSpPr>
              <p:nvPr/>
            </p:nvSpPr>
            <p:spPr bwMode="auto">
              <a:xfrm>
                <a:off x="4164" y="1968"/>
                <a:ext cx="264" cy="420"/>
              </a:xfrm>
              <a:prstGeom prst="diamond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183" name="Line 143"/>
              <p:cNvSpPr>
                <a:spLocks noChangeShapeType="1"/>
              </p:cNvSpPr>
              <p:nvPr/>
            </p:nvSpPr>
            <p:spPr bwMode="auto">
              <a:xfrm>
                <a:off x="4176" y="2184"/>
                <a:ext cx="2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7184" name="Line 144"/>
            <p:cNvSpPr>
              <a:spLocks noChangeShapeType="1"/>
            </p:cNvSpPr>
            <p:nvPr/>
          </p:nvSpPr>
          <p:spPr bwMode="auto">
            <a:xfrm flipV="1">
              <a:off x="3713" y="5247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85" name="Rectangle 145"/>
            <p:cNvSpPr>
              <a:spLocks noChangeArrowheads="1"/>
            </p:cNvSpPr>
            <p:nvPr/>
          </p:nvSpPr>
          <p:spPr bwMode="auto">
            <a:xfrm>
              <a:off x="3661" y="5690"/>
              <a:ext cx="98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86" name="Line 146"/>
            <p:cNvSpPr>
              <a:spLocks noChangeShapeType="1"/>
            </p:cNvSpPr>
            <p:nvPr/>
          </p:nvSpPr>
          <p:spPr bwMode="auto">
            <a:xfrm>
              <a:off x="4292" y="5230"/>
              <a:ext cx="9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87" name="Line 147"/>
            <p:cNvSpPr>
              <a:spLocks noChangeShapeType="1"/>
            </p:cNvSpPr>
            <p:nvPr/>
          </p:nvSpPr>
          <p:spPr bwMode="auto">
            <a:xfrm flipV="1">
              <a:off x="4780" y="5243"/>
              <a:ext cx="0" cy="4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88" name="Rectangle 148"/>
            <p:cNvSpPr>
              <a:spLocks noChangeArrowheads="1"/>
            </p:cNvSpPr>
            <p:nvPr/>
          </p:nvSpPr>
          <p:spPr bwMode="auto">
            <a:xfrm>
              <a:off x="4728" y="5690"/>
              <a:ext cx="98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53" name="Text Box 149"/>
            <p:cNvSpPr txBox="1"/>
            <p:nvPr/>
          </p:nvSpPr>
          <p:spPr>
            <a:xfrm>
              <a:off x="3671" y="5660"/>
              <a:ext cx="47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7190" name="Line 150"/>
            <p:cNvSpPr>
              <a:spLocks noChangeShapeType="1"/>
            </p:cNvSpPr>
            <p:nvPr/>
          </p:nvSpPr>
          <p:spPr bwMode="auto">
            <a:xfrm>
              <a:off x="4144" y="5690"/>
              <a:ext cx="0" cy="30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91" name="Line 151"/>
            <p:cNvSpPr>
              <a:spLocks noChangeShapeType="1"/>
            </p:cNvSpPr>
            <p:nvPr/>
          </p:nvSpPr>
          <p:spPr bwMode="auto">
            <a:xfrm flipV="1">
              <a:off x="3406" y="5189"/>
              <a:ext cx="29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56" name="Text Box 152"/>
            <p:cNvSpPr txBox="1"/>
            <p:nvPr/>
          </p:nvSpPr>
          <p:spPr>
            <a:xfrm>
              <a:off x="4366" y="5692"/>
              <a:ext cx="68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endParaRPr lang="zh-CN" altLang="zh-CN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7193" name="Line 153"/>
            <p:cNvSpPr>
              <a:spLocks noChangeShapeType="1"/>
            </p:cNvSpPr>
            <p:nvPr/>
          </p:nvSpPr>
          <p:spPr bwMode="auto">
            <a:xfrm flipH="1">
              <a:off x="4252" y="5176"/>
              <a:ext cx="30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58" name="Text Box 154"/>
            <p:cNvSpPr txBox="1"/>
            <p:nvPr/>
          </p:nvSpPr>
          <p:spPr>
            <a:xfrm>
              <a:off x="3221" y="5652"/>
              <a:ext cx="50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7195" name="Line 155"/>
            <p:cNvSpPr>
              <a:spLocks noChangeShapeType="1"/>
            </p:cNvSpPr>
            <p:nvPr/>
          </p:nvSpPr>
          <p:spPr bwMode="auto">
            <a:xfrm flipV="1">
              <a:off x="5206" y="5221"/>
              <a:ext cx="0" cy="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96" name="Rectangle 156"/>
            <p:cNvSpPr>
              <a:spLocks noChangeArrowheads="1"/>
            </p:cNvSpPr>
            <p:nvPr/>
          </p:nvSpPr>
          <p:spPr bwMode="auto">
            <a:xfrm>
              <a:off x="5157" y="5667"/>
              <a:ext cx="98" cy="27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61" name="Text Box 157"/>
            <p:cNvSpPr txBox="1"/>
            <p:nvPr/>
          </p:nvSpPr>
          <p:spPr>
            <a:xfrm>
              <a:off x="4341" y="5667"/>
              <a:ext cx="4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62" name="Text Box 158"/>
            <p:cNvSpPr txBox="1"/>
            <p:nvPr/>
          </p:nvSpPr>
          <p:spPr>
            <a:xfrm>
              <a:off x="4750" y="5652"/>
              <a:ext cx="54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63" name="Text Box 159"/>
            <p:cNvSpPr txBox="1"/>
            <p:nvPr/>
          </p:nvSpPr>
          <p:spPr>
            <a:xfrm>
              <a:off x="4080" y="6139"/>
              <a:ext cx="241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64" name="Text Box 160"/>
            <p:cNvSpPr txBox="1"/>
            <p:nvPr/>
          </p:nvSpPr>
          <p:spPr>
            <a:xfrm>
              <a:off x="3170" y="5003"/>
              <a:ext cx="24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65" name="Text Box 161"/>
            <p:cNvSpPr txBox="1"/>
            <p:nvPr/>
          </p:nvSpPr>
          <p:spPr>
            <a:xfrm>
              <a:off x="4506" y="4977"/>
              <a:ext cx="240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7202" name="Line 162"/>
            <p:cNvSpPr>
              <a:spLocks noChangeShapeType="1"/>
            </p:cNvSpPr>
            <p:nvPr/>
          </p:nvSpPr>
          <p:spPr bwMode="auto">
            <a:xfrm flipV="1">
              <a:off x="3287" y="5252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67" name="Text Box 163" descr="新闻纸"/>
            <p:cNvSpPr txBox="1"/>
            <p:nvPr/>
          </p:nvSpPr>
          <p:spPr>
            <a:xfrm>
              <a:off x="2883" y="5237"/>
              <a:ext cx="323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568" name="Text Box 164" descr="新闻纸"/>
            <p:cNvSpPr txBox="1"/>
            <p:nvPr/>
          </p:nvSpPr>
          <p:spPr>
            <a:xfrm>
              <a:off x="2873" y="6160"/>
              <a:ext cx="3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7205" name="Rectangle 165"/>
            <p:cNvSpPr>
              <a:spLocks noChangeArrowheads="1"/>
            </p:cNvSpPr>
            <p:nvPr/>
          </p:nvSpPr>
          <p:spPr bwMode="auto">
            <a:xfrm>
              <a:off x="3238" y="5663"/>
              <a:ext cx="99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70" name="Rectangle 166" descr="新闻纸"/>
            <p:cNvSpPr/>
            <p:nvPr/>
          </p:nvSpPr>
          <p:spPr>
            <a:xfrm>
              <a:off x="5268" y="5287"/>
              <a:ext cx="21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571" name="Rectangle 167" descr="新闻纸"/>
            <p:cNvSpPr/>
            <p:nvPr/>
          </p:nvSpPr>
          <p:spPr>
            <a:xfrm>
              <a:off x="5268" y="5981"/>
              <a:ext cx="21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2572" name="Group 168"/>
            <p:cNvGrpSpPr/>
            <p:nvPr/>
          </p:nvGrpSpPr>
          <p:grpSpPr>
            <a:xfrm>
              <a:off x="4229" y="6388"/>
              <a:ext cx="197" cy="140"/>
              <a:chOff x="6645" y="4036"/>
              <a:chExt cx="198" cy="188"/>
            </a:xfrm>
          </p:grpSpPr>
          <p:sp>
            <p:nvSpPr>
              <p:cNvPr id="87209" name="Line 169"/>
              <p:cNvSpPr>
                <a:spLocks noChangeShapeType="1"/>
              </p:cNvSpPr>
              <p:nvPr/>
            </p:nvSpPr>
            <p:spPr bwMode="auto">
              <a:xfrm>
                <a:off x="6724" y="4036"/>
                <a:ext cx="0" cy="1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210" name="Line 170"/>
              <p:cNvSpPr>
                <a:spLocks noChangeShapeType="1"/>
              </p:cNvSpPr>
              <p:nvPr/>
            </p:nvSpPr>
            <p:spPr bwMode="auto">
              <a:xfrm>
                <a:off x="6645" y="4224"/>
                <a:ext cx="1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7211" name="Line 171"/>
            <p:cNvSpPr>
              <a:spLocks noChangeShapeType="1"/>
            </p:cNvSpPr>
            <p:nvPr/>
          </p:nvSpPr>
          <p:spPr bwMode="auto">
            <a:xfrm flipH="1" flipV="1">
              <a:off x="5211" y="5941"/>
              <a:ext cx="0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212" name="Line 172"/>
            <p:cNvSpPr>
              <a:spLocks noChangeShapeType="1"/>
            </p:cNvSpPr>
            <p:nvPr/>
          </p:nvSpPr>
          <p:spPr bwMode="auto">
            <a:xfrm flipV="1">
              <a:off x="4778" y="5970"/>
              <a:ext cx="0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213" name="Line 173"/>
            <p:cNvSpPr>
              <a:spLocks noChangeShapeType="1"/>
            </p:cNvSpPr>
            <p:nvPr/>
          </p:nvSpPr>
          <p:spPr bwMode="auto">
            <a:xfrm flipV="1">
              <a:off x="3707" y="5970"/>
              <a:ext cx="0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214" name="Line 174"/>
            <p:cNvSpPr>
              <a:spLocks noChangeShapeType="1"/>
            </p:cNvSpPr>
            <p:nvPr/>
          </p:nvSpPr>
          <p:spPr bwMode="auto">
            <a:xfrm flipV="1">
              <a:off x="3287" y="5933"/>
              <a:ext cx="0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215" name="Line 175"/>
            <p:cNvSpPr>
              <a:spLocks noChangeShapeType="1"/>
            </p:cNvSpPr>
            <p:nvPr/>
          </p:nvSpPr>
          <p:spPr bwMode="auto">
            <a:xfrm flipH="1" flipV="1">
              <a:off x="4303" y="5969"/>
              <a:ext cx="3" cy="4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216" name="Line 176"/>
            <p:cNvSpPr>
              <a:spLocks noChangeShapeType="1"/>
            </p:cNvSpPr>
            <p:nvPr/>
          </p:nvSpPr>
          <p:spPr bwMode="auto">
            <a:xfrm flipH="1">
              <a:off x="2759" y="5718"/>
              <a:ext cx="0" cy="70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217" name="Rectangle 177"/>
            <p:cNvSpPr>
              <a:spLocks noChangeArrowheads="1"/>
            </p:cNvSpPr>
            <p:nvPr/>
          </p:nvSpPr>
          <p:spPr bwMode="auto">
            <a:xfrm>
              <a:off x="2720" y="5472"/>
              <a:ext cx="84" cy="25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218" name="Line 178"/>
            <p:cNvSpPr>
              <a:spLocks noChangeShapeType="1"/>
            </p:cNvSpPr>
            <p:nvPr/>
          </p:nvSpPr>
          <p:spPr bwMode="auto">
            <a:xfrm flipH="1">
              <a:off x="2759" y="5257"/>
              <a:ext cx="0" cy="21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219" name="Oval 179"/>
            <p:cNvSpPr>
              <a:spLocks noChangeArrowheads="1"/>
            </p:cNvSpPr>
            <p:nvPr/>
          </p:nvSpPr>
          <p:spPr bwMode="auto">
            <a:xfrm>
              <a:off x="2650" y="6008"/>
              <a:ext cx="208" cy="207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84" name="Rectangle 180" descr="新闻纸"/>
            <p:cNvSpPr/>
            <p:nvPr/>
          </p:nvSpPr>
          <p:spPr>
            <a:xfrm>
              <a:off x="2536" y="5770"/>
              <a:ext cx="227" cy="32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585" name="Rectangle 181"/>
            <p:cNvSpPr/>
            <p:nvPr/>
          </p:nvSpPr>
          <p:spPr>
            <a:xfrm>
              <a:off x="2525" y="6087"/>
              <a:ext cx="2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586" name="Text Box 182"/>
            <p:cNvSpPr txBox="1"/>
            <p:nvPr/>
          </p:nvSpPr>
          <p:spPr>
            <a:xfrm>
              <a:off x="2352" y="5428"/>
              <a:ext cx="45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7223" name="Oval 183"/>
            <p:cNvSpPr>
              <a:spLocks noChangeArrowheads="1"/>
            </p:cNvSpPr>
            <p:nvPr/>
          </p:nvSpPr>
          <p:spPr bwMode="auto">
            <a:xfrm>
              <a:off x="4275" y="6368"/>
              <a:ext cx="60" cy="6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224" name="Line 184"/>
            <p:cNvSpPr>
              <a:spLocks noChangeShapeType="1"/>
            </p:cNvSpPr>
            <p:nvPr/>
          </p:nvSpPr>
          <p:spPr bwMode="auto">
            <a:xfrm flipV="1">
              <a:off x="2754" y="5195"/>
              <a:ext cx="3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2589" name="Object 185"/>
            <p:cNvGraphicFramePr>
              <a:graphicFrameLocks noChangeAspect="1"/>
            </p:cNvGraphicFramePr>
            <p:nvPr/>
          </p:nvGraphicFramePr>
          <p:xfrm>
            <a:off x="2376" y="5952"/>
            <a:ext cx="216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7" imgW="342900" imgH="438150" progId="Paint.Picture">
                    <p:embed/>
                  </p:oleObj>
                </mc:Choice>
                <mc:Fallback>
                  <p:oleObj name="" r:id="rId7" imgW="342900" imgH="438150" progId="Paint.Picture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76" y="5952"/>
                          <a:ext cx="216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0" name="Object 186"/>
            <p:cNvGraphicFramePr>
              <a:graphicFrameLocks noChangeAspect="1"/>
            </p:cNvGraphicFramePr>
            <p:nvPr/>
          </p:nvGraphicFramePr>
          <p:xfrm>
            <a:off x="2832" y="4848"/>
            <a:ext cx="15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9" imgW="238125" imgH="485775" progId="Paint.Picture">
                    <p:embed/>
                  </p:oleObj>
                </mc:Choice>
                <mc:Fallback>
                  <p:oleObj name="" r:id="rId9" imgW="238125" imgH="485775" progId="Paint.Picture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832" y="4848"/>
                          <a:ext cx="150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1" name="Object 187"/>
            <p:cNvGraphicFramePr>
              <a:graphicFrameLocks noChangeAspect="1"/>
            </p:cNvGraphicFramePr>
            <p:nvPr/>
          </p:nvGraphicFramePr>
          <p:xfrm>
            <a:off x="3456" y="4848"/>
            <a:ext cx="174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11" imgW="276225" imgH="476250" progId="Paint.Picture">
                    <p:embed/>
                  </p:oleObj>
                </mc:Choice>
                <mc:Fallback>
                  <p:oleObj name="" r:id="rId11" imgW="276225" imgH="476250" progId="Paint.Picture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456" y="4848"/>
                          <a:ext cx="174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2" name="Object 188"/>
            <p:cNvGraphicFramePr>
              <a:graphicFrameLocks noChangeAspect="1"/>
            </p:cNvGraphicFramePr>
            <p:nvPr/>
          </p:nvGraphicFramePr>
          <p:xfrm>
            <a:off x="2976" y="5664"/>
            <a:ext cx="168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13" imgW="266700" imgH="438150" progId="Paint.Picture">
                    <p:embed/>
                  </p:oleObj>
                </mc:Choice>
                <mc:Fallback>
                  <p:oleObj name="" r:id="rId13" imgW="266700" imgH="438150" progId="Paint.Picture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976" y="5664"/>
                          <a:ext cx="168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3" name="Object 189"/>
            <p:cNvGraphicFramePr>
              <a:graphicFrameLocks noChangeAspect="1"/>
            </p:cNvGraphicFramePr>
            <p:nvPr/>
          </p:nvGraphicFramePr>
          <p:xfrm>
            <a:off x="3936" y="5376"/>
            <a:ext cx="28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15" imgW="447675" imgH="457200" progId="Paint.Picture">
                    <p:embed/>
                  </p:oleObj>
                </mc:Choice>
                <mc:Fallback>
                  <p:oleObj name="" r:id="rId15" imgW="447675" imgH="457200" progId="Paint.Picture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936" y="5376"/>
                          <a:ext cx="282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4" name="Object 190"/>
            <p:cNvGraphicFramePr>
              <a:graphicFrameLocks noChangeAspect="1"/>
            </p:cNvGraphicFramePr>
            <p:nvPr/>
          </p:nvGraphicFramePr>
          <p:xfrm>
            <a:off x="4320" y="4848"/>
            <a:ext cx="16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17" imgW="257175" imgH="457200" progId="Paint.Picture">
                    <p:embed/>
                  </p:oleObj>
                </mc:Choice>
                <mc:Fallback>
                  <p:oleObj name="" r:id="rId17" imgW="257175" imgH="457200" progId="Paint.Picture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320" y="4848"/>
                          <a:ext cx="162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95" name="Object 191"/>
            <p:cNvGraphicFramePr>
              <a:graphicFrameLocks noChangeAspect="1"/>
            </p:cNvGraphicFramePr>
            <p:nvPr/>
          </p:nvGraphicFramePr>
          <p:xfrm>
            <a:off x="5280" y="5664"/>
            <a:ext cx="16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19" imgW="266700" imgH="447675" progId="Paint.Picture">
                    <p:embed/>
                  </p:oleObj>
                </mc:Choice>
                <mc:Fallback>
                  <p:oleObj name="" r:id="rId19" imgW="266700" imgH="447675" progId="Paint.Picture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280" y="5664"/>
                          <a:ext cx="168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7249" name="Group 209"/>
          <p:cNvGrpSpPr/>
          <p:nvPr/>
        </p:nvGrpSpPr>
        <p:grpSpPr>
          <a:xfrm>
            <a:off x="609600" y="704850"/>
            <a:ext cx="2337435" cy="939800"/>
            <a:chOff x="1321" y="-1488"/>
            <a:chExt cx="1547" cy="714"/>
          </a:xfrm>
        </p:grpSpPr>
        <p:sp>
          <p:nvSpPr>
            <p:cNvPr id="87236" name="Rectangle 196"/>
            <p:cNvSpPr>
              <a:spLocks noChangeArrowheads="1"/>
            </p:cNvSpPr>
            <p:nvPr/>
          </p:nvSpPr>
          <p:spPr bwMode="auto">
            <a:xfrm>
              <a:off x="1896" y="-1284"/>
              <a:ext cx="120" cy="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</a:t>
              </a:r>
              <a:endParaRPr kumimoji="1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237" name="Rectangle 197"/>
            <p:cNvSpPr>
              <a:spLocks noChangeArrowheads="1"/>
            </p:cNvSpPr>
            <p:nvPr/>
          </p:nvSpPr>
          <p:spPr bwMode="auto">
            <a:xfrm>
              <a:off x="1841" y="-1284"/>
              <a:ext cx="80" cy="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  <a:endParaRPr kumimoji="1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245" name="Rectangle 205"/>
            <p:cNvSpPr>
              <a:spLocks noChangeArrowheads="1"/>
            </p:cNvSpPr>
            <p:nvPr/>
          </p:nvSpPr>
          <p:spPr bwMode="auto">
            <a:xfrm>
              <a:off x="1321" y="-1277"/>
              <a:ext cx="575" cy="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定义</a:t>
              </a: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2600" name="Object 208"/>
            <p:cNvGraphicFramePr>
              <a:graphicFrameLocks noChangeAspect="1"/>
            </p:cNvGraphicFramePr>
            <p:nvPr/>
          </p:nvGraphicFramePr>
          <p:xfrm>
            <a:off x="1968" y="-1488"/>
            <a:ext cx="900" cy="7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21" imgW="1428750" imgH="1133475" progId="Paint.Picture">
                    <p:embed/>
                  </p:oleObj>
                </mc:Choice>
                <mc:Fallback>
                  <p:oleObj name="" r:id="rId21" imgW="1428750" imgH="1133475" progId="Paint.Picture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968" y="-1488"/>
                          <a:ext cx="900" cy="7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7250" name="Object 210"/>
          <p:cNvGraphicFramePr>
            <a:graphicFrameLocks noChangeAspect="1"/>
          </p:cNvGraphicFramePr>
          <p:nvPr/>
        </p:nvGraphicFramePr>
        <p:xfrm>
          <a:off x="609600" y="1752600"/>
          <a:ext cx="16192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23" imgW="1619250" imgH="600075" progId="Paint.Picture">
                  <p:embed/>
                </p:oleObj>
              </mc:Choice>
              <mc:Fallback>
                <p:oleObj name="" r:id="rId23" imgW="1619250" imgH="600075" progId="Paint.Picture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09600" y="1752600"/>
                        <a:ext cx="1619250" cy="60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264" name="Object 224"/>
          <p:cNvGraphicFramePr>
            <a:graphicFrameLocks noChangeAspect="1"/>
          </p:cNvGraphicFramePr>
          <p:nvPr/>
        </p:nvGraphicFramePr>
        <p:xfrm>
          <a:off x="533400" y="2419350"/>
          <a:ext cx="17145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25" imgW="1714500" imgH="581025" progId="Paint.Picture">
                  <p:embed/>
                </p:oleObj>
              </mc:Choice>
              <mc:Fallback>
                <p:oleObj name="" r:id="rId25" imgW="1714500" imgH="581025" progId="Paint.Picture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33400" y="2419350"/>
                        <a:ext cx="1714500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277" name="Object 237"/>
          <p:cNvGraphicFramePr>
            <a:graphicFrameLocks noChangeAspect="1"/>
          </p:cNvGraphicFramePr>
          <p:nvPr/>
        </p:nvGraphicFramePr>
        <p:xfrm>
          <a:off x="990600" y="3028950"/>
          <a:ext cx="16097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27" imgW="1609725" imgH="504825" progId="Paint.Picture">
                  <p:embed/>
                </p:oleObj>
              </mc:Choice>
              <mc:Fallback>
                <p:oleObj name="" r:id="rId27" imgW="1609725" imgH="504825" progId="Paint.Picture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90600" y="3028950"/>
                        <a:ext cx="1609725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101850" y="2408238"/>
            <a:ext cx="514350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rtl="0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</a:t>
            </a:r>
            <a:endParaRPr kumimoji="1" lang="zh-CN" altLang="en-US" kern="1200" cap="none" spc="0" normalizeH="0" baseline="0" noProof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2432050" y="3006725"/>
            <a:ext cx="514350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rtl="0">
              <a:buClrTx/>
              <a:buSzTx/>
              <a:buFontTx/>
              <a:buNone/>
              <a:defRPr/>
            </a:pPr>
            <a:r>
              <a:rPr kumimoji="1" lang="zh-CN" altLang="en-US" kern="1200" cap="none" spc="0" normalizeH="0" baseline="0" noProof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'</a:t>
            </a:r>
            <a:endParaRPr kumimoji="1" lang="zh-CN" altLang="en-US" kern="1200" cap="none" spc="0" normalizeH="0" baseline="0" noProof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7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7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7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7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7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7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7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7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87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7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7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7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7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7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87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7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87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87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 bldLvl="0" animBg="1"/>
      <p:bldP spid="87048" grpId="0"/>
      <p:bldP spid="87050" grpId="0"/>
      <p:bldP spid="87051" grpId="0" animBg="1"/>
      <p:bldP spid="87052" grpId="0"/>
      <p:bldP spid="87054" grpId="0"/>
      <p:bldP spid="87055" grpId="0"/>
      <p:bldP spid="2" grpId="0"/>
      <p:bldP spid="7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2626" name="Rectangle 2"/>
          <p:cNvSpPr>
            <a:spLocks noGrp="1"/>
          </p:cNvSpPr>
          <p:nvPr>
            <p:ph type="title"/>
          </p:nvPr>
        </p:nvSpPr>
        <p:spPr>
          <a:xfrm>
            <a:off x="181293" y="549275"/>
            <a:ext cx="2530475" cy="561975"/>
          </a:xfrm>
          <a:noFill/>
          <a:ln>
            <a:noFill/>
          </a:ln>
        </p:spPr>
        <p:txBody>
          <a:bodyPr anchor="t"/>
          <a:p>
            <a:pPr algn="l" eaLnBrk="1" hangingPunct="1"/>
            <a:r>
              <a:rPr lang="zh-CN" altLang="en-US" sz="2800" b="1" dirty="0"/>
              <a:t>有射极电阻时</a:t>
            </a:r>
            <a:r>
              <a:rPr lang="en-US" altLang="zh-CN" sz="2800" b="1" dirty="0"/>
              <a:t>:</a:t>
            </a:r>
            <a:endParaRPr lang="en-US" altLang="zh-CN" sz="2800" b="1" dirty="0"/>
          </a:p>
        </p:txBody>
      </p:sp>
      <p:grpSp>
        <p:nvGrpSpPr>
          <p:cNvPr id="282628" name="Group 4"/>
          <p:cNvGrpSpPr/>
          <p:nvPr/>
        </p:nvGrpSpPr>
        <p:grpSpPr>
          <a:xfrm>
            <a:off x="107950" y="1916113"/>
            <a:ext cx="4267200" cy="3541712"/>
            <a:chOff x="567" y="572"/>
            <a:chExt cx="2688" cy="2231"/>
          </a:xfrm>
        </p:grpSpPr>
        <p:sp>
          <p:nvSpPr>
            <p:cNvPr id="282629" name="Line 5"/>
            <p:cNvSpPr>
              <a:spLocks noChangeShapeType="1"/>
            </p:cNvSpPr>
            <p:nvPr/>
          </p:nvSpPr>
          <p:spPr bwMode="auto">
            <a:xfrm flipH="1" flipV="1">
              <a:off x="2255" y="600"/>
              <a:ext cx="0" cy="1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30" name="Line 6"/>
            <p:cNvSpPr>
              <a:spLocks noChangeShapeType="1"/>
            </p:cNvSpPr>
            <p:nvPr/>
          </p:nvSpPr>
          <p:spPr bwMode="auto">
            <a:xfrm flipV="1">
              <a:off x="1623" y="595"/>
              <a:ext cx="12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57" name="Rectangle 7"/>
            <p:cNvSpPr/>
            <p:nvPr/>
          </p:nvSpPr>
          <p:spPr>
            <a:xfrm>
              <a:off x="2624" y="595"/>
              <a:ext cx="63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+U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CC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58" name="Text Box 8"/>
            <p:cNvSpPr txBox="1"/>
            <p:nvPr/>
          </p:nvSpPr>
          <p:spPr>
            <a:xfrm>
              <a:off x="567" y="1773"/>
              <a:ext cx="36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59" name="Text Box 9"/>
            <p:cNvSpPr txBox="1"/>
            <p:nvPr/>
          </p:nvSpPr>
          <p:spPr>
            <a:xfrm>
              <a:off x="609" y="2253"/>
              <a:ext cx="25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r>
                <a:rPr lang="en-US" altLang="zh-CN" b="1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82634" name="Line 10"/>
            <p:cNvSpPr>
              <a:spLocks noChangeShapeType="1"/>
            </p:cNvSpPr>
            <p:nvPr/>
          </p:nvSpPr>
          <p:spPr bwMode="auto">
            <a:xfrm flipV="1">
              <a:off x="1623" y="1328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35" name="Line 11"/>
            <p:cNvSpPr>
              <a:spLocks noChangeShapeType="1"/>
            </p:cNvSpPr>
            <p:nvPr/>
          </p:nvSpPr>
          <p:spPr bwMode="auto">
            <a:xfrm rot="5400000">
              <a:off x="1407" y="811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36" name="Line 12"/>
            <p:cNvSpPr>
              <a:spLocks noChangeShapeType="1"/>
            </p:cNvSpPr>
            <p:nvPr/>
          </p:nvSpPr>
          <p:spPr bwMode="auto">
            <a:xfrm>
              <a:off x="2111" y="1539"/>
              <a:ext cx="0" cy="26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37" name="Line 13"/>
            <p:cNvSpPr>
              <a:spLocks noChangeShapeType="1"/>
            </p:cNvSpPr>
            <p:nvPr/>
          </p:nvSpPr>
          <p:spPr bwMode="auto">
            <a:xfrm rot="-266974">
              <a:off x="2113" y="1702"/>
              <a:ext cx="137" cy="1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38" name="Line 14"/>
            <p:cNvSpPr>
              <a:spLocks noChangeShapeType="1"/>
            </p:cNvSpPr>
            <p:nvPr/>
          </p:nvSpPr>
          <p:spPr bwMode="auto">
            <a:xfrm flipV="1">
              <a:off x="2111" y="1507"/>
              <a:ext cx="137" cy="1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39" name="Line 15"/>
            <p:cNvSpPr>
              <a:spLocks noChangeShapeType="1"/>
            </p:cNvSpPr>
            <p:nvPr/>
          </p:nvSpPr>
          <p:spPr bwMode="auto">
            <a:xfrm flipV="1">
              <a:off x="924" y="2641"/>
              <a:ext cx="19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66" name="Text Box 16"/>
            <p:cNvSpPr txBox="1"/>
            <p:nvPr/>
          </p:nvSpPr>
          <p:spPr>
            <a:xfrm>
              <a:off x="1287" y="931"/>
              <a:ext cx="32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82641" name="Rectangle 17"/>
            <p:cNvSpPr>
              <a:spLocks noChangeArrowheads="1"/>
            </p:cNvSpPr>
            <p:nvPr/>
          </p:nvSpPr>
          <p:spPr bwMode="auto">
            <a:xfrm>
              <a:off x="2204" y="771"/>
              <a:ext cx="92" cy="30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42" name="Rectangle 18"/>
            <p:cNvSpPr>
              <a:spLocks noChangeArrowheads="1"/>
            </p:cNvSpPr>
            <p:nvPr/>
          </p:nvSpPr>
          <p:spPr bwMode="auto">
            <a:xfrm>
              <a:off x="1575" y="1027"/>
              <a:ext cx="92" cy="30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3569" name="Group 19"/>
            <p:cNvGrpSpPr/>
            <p:nvPr/>
          </p:nvGrpSpPr>
          <p:grpSpPr>
            <a:xfrm>
              <a:off x="1262" y="1549"/>
              <a:ext cx="67" cy="245"/>
              <a:chOff x="3454" y="2018"/>
              <a:chExt cx="96" cy="328"/>
            </a:xfrm>
          </p:grpSpPr>
          <p:sp>
            <p:nvSpPr>
              <p:cNvPr id="282644" name="Line 20"/>
              <p:cNvSpPr>
                <a:spLocks noChangeShapeType="1"/>
              </p:cNvSpPr>
              <p:nvPr/>
            </p:nvSpPr>
            <p:spPr bwMode="auto">
              <a:xfrm>
                <a:off x="3454" y="2018"/>
                <a:ext cx="0" cy="3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2645" name="Line 21"/>
              <p:cNvSpPr>
                <a:spLocks noChangeShapeType="1"/>
              </p:cNvSpPr>
              <p:nvPr/>
            </p:nvSpPr>
            <p:spPr bwMode="auto">
              <a:xfrm>
                <a:off x="3550" y="2018"/>
                <a:ext cx="0" cy="3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82646" name="Line 22"/>
            <p:cNvSpPr>
              <a:spLocks noChangeShapeType="1"/>
            </p:cNvSpPr>
            <p:nvPr/>
          </p:nvSpPr>
          <p:spPr bwMode="auto">
            <a:xfrm flipV="1">
              <a:off x="924" y="1673"/>
              <a:ext cx="3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3573" name="Group 23"/>
            <p:cNvGrpSpPr/>
            <p:nvPr/>
          </p:nvGrpSpPr>
          <p:grpSpPr>
            <a:xfrm flipH="1">
              <a:off x="2558" y="1124"/>
              <a:ext cx="67" cy="245"/>
              <a:chOff x="3454" y="2018"/>
              <a:chExt cx="96" cy="328"/>
            </a:xfrm>
          </p:grpSpPr>
          <p:sp>
            <p:nvSpPr>
              <p:cNvPr id="282648" name="Line 24"/>
              <p:cNvSpPr>
                <a:spLocks noChangeShapeType="1"/>
              </p:cNvSpPr>
              <p:nvPr/>
            </p:nvSpPr>
            <p:spPr bwMode="auto">
              <a:xfrm>
                <a:off x="3454" y="2018"/>
                <a:ext cx="0" cy="3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2649" name="Line 25"/>
              <p:cNvSpPr>
                <a:spLocks noChangeShapeType="1"/>
              </p:cNvSpPr>
              <p:nvPr/>
            </p:nvSpPr>
            <p:spPr bwMode="auto">
              <a:xfrm>
                <a:off x="3550" y="2018"/>
                <a:ext cx="0" cy="3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82650" name="Line 26"/>
            <p:cNvSpPr>
              <a:spLocks noChangeShapeType="1"/>
            </p:cNvSpPr>
            <p:nvPr/>
          </p:nvSpPr>
          <p:spPr bwMode="auto">
            <a:xfrm flipH="1">
              <a:off x="2625" y="1231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51" name="Line 27"/>
            <p:cNvSpPr>
              <a:spLocks noChangeShapeType="1"/>
            </p:cNvSpPr>
            <p:nvPr/>
          </p:nvSpPr>
          <p:spPr bwMode="auto">
            <a:xfrm flipV="1">
              <a:off x="2247" y="1232"/>
              <a:ext cx="3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78" name="Text Box 28"/>
            <p:cNvSpPr txBox="1"/>
            <p:nvPr/>
          </p:nvSpPr>
          <p:spPr>
            <a:xfrm>
              <a:off x="1890" y="749"/>
              <a:ext cx="33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79" name="Text Box 29"/>
            <p:cNvSpPr txBox="1"/>
            <p:nvPr/>
          </p:nvSpPr>
          <p:spPr>
            <a:xfrm>
              <a:off x="1166" y="1249"/>
              <a:ext cx="30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80" name="Text Box 30"/>
            <p:cNvSpPr txBox="1"/>
            <p:nvPr/>
          </p:nvSpPr>
          <p:spPr>
            <a:xfrm>
              <a:off x="2474" y="866"/>
              <a:ext cx="30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81" name="Text Box 31"/>
            <p:cNvSpPr txBox="1"/>
            <p:nvPr/>
          </p:nvSpPr>
          <p:spPr>
            <a:xfrm>
              <a:off x="2151" y="1536"/>
              <a:ext cx="24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T</a:t>
              </a:r>
              <a:endParaRPr lang="en-US" altLang="zh-CN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82" name="Text Box 32"/>
            <p:cNvSpPr txBox="1"/>
            <p:nvPr/>
          </p:nvSpPr>
          <p:spPr>
            <a:xfrm>
              <a:off x="1317" y="1436"/>
              <a:ext cx="3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3" name="Text Box 33"/>
            <p:cNvSpPr txBox="1"/>
            <p:nvPr/>
          </p:nvSpPr>
          <p:spPr>
            <a:xfrm>
              <a:off x="2373" y="994"/>
              <a:ext cx="3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2658" name="Line 34"/>
            <p:cNvSpPr>
              <a:spLocks noChangeShapeType="1"/>
            </p:cNvSpPr>
            <p:nvPr/>
          </p:nvSpPr>
          <p:spPr bwMode="auto">
            <a:xfrm>
              <a:off x="924" y="2095"/>
              <a:ext cx="0" cy="5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59" name="Rectangle 35"/>
            <p:cNvSpPr>
              <a:spLocks noChangeArrowheads="1"/>
            </p:cNvSpPr>
            <p:nvPr/>
          </p:nvSpPr>
          <p:spPr bwMode="auto">
            <a:xfrm>
              <a:off x="880" y="1798"/>
              <a:ext cx="92" cy="30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60" name="Oval 36"/>
            <p:cNvSpPr>
              <a:spLocks noChangeArrowheads="1"/>
            </p:cNvSpPr>
            <p:nvPr/>
          </p:nvSpPr>
          <p:spPr bwMode="auto">
            <a:xfrm>
              <a:off x="807" y="2319"/>
              <a:ext cx="227" cy="22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87" name="Text Box 37"/>
            <p:cNvSpPr txBox="1"/>
            <p:nvPr/>
          </p:nvSpPr>
          <p:spPr>
            <a:xfrm>
              <a:off x="757" y="2087"/>
              <a:ext cx="2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88" name="Text Box 38"/>
            <p:cNvSpPr txBox="1"/>
            <p:nvPr/>
          </p:nvSpPr>
          <p:spPr>
            <a:xfrm>
              <a:off x="757" y="2433"/>
              <a:ext cx="13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82663" name="Line 39"/>
            <p:cNvSpPr>
              <a:spLocks noChangeShapeType="1"/>
            </p:cNvSpPr>
            <p:nvPr/>
          </p:nvSpPr>
          <p:spPr bwMode="auto">
            <a:xfrm>
              <a:off x="2912" y="2138"/>
              <a:ext cx="0" cy="5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64" name="Rectangle 40"/>
            <p:cNvSpPr>
              <a:spLocks noChangeArrowheads="1"/>
            </p:cNvSpPr>
            <p:nvPr/>
          </p:nvSpPr>
          <p:spPr bwMode="auto">
            <a:xfrm>
              <a:off x="2863" y="1834"/>
              <a:ext cx="92" cy="30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91" name="Text Box 41"/>
            <p:cNvSpPr txBox="1"/>
            <p:nvPr/>
          </p:nvSpPr>
          <p:spPr>
            <a:xfrm>
              <a:off x="2587" y="1787"/>
              <a:ext cx="32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82666" name="Line 42"/>
            <p:cNvSpPr>
              <a:spLocks noChangeShapeType="1"/>
            </p:cNvSpPr>
            <p:nvPr/>
          </p:nvSpPr>
          <p:spPr bwMode="auto">
            <a:xfrm flipV="1">
              <a:off x="1322" y="1677"/>
              <a:ext cx="7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93" name="Rectangle 43"/>
            <p:cNvSpPr/>
            <p:nvPr/>
          </p:nvSpPr>
          <p:spPr>
            <a:xfrm>
              <a:off x="951" y="1981"/>
              <a:ext cx="43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1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b="1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94" name="Rectangle 44"/>
            <p:cNvSpPr/>
            <p:nvPr/>
          </p:nvSpPr>
          <p:spPr>
            <a:xfrm>
              <a:off x="1063" y="1659"/>
              <a:ext cx="22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95" name="Rectangle 45"/>
            <p:cNvSpPr/>
            <p:nvPr/>
          </p:nvSpPr>
          <p:spPr>
            <a:xfrm>
              <a:off x="1067" y="2368"/>
              <a:ext cx="21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96" name="Rectangle 46"/>
            <p:cNvSpPr/>
            <p:nvPr/>
          </p:nvSpPr>
          <p:spPr>
            <a:xfrm>
              <a:off x="2944" y="1830"/>
              <a:ext cx="28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1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  <a:endParaRPr lang="en-US" altLang="zh-CN" b="1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97" name="Rectangle 47"/>
            <p:cNvSpPr/>
            <p:nvPr/>
          </p:nvSpPr>
          <p:spPr>
            <a:xfrm>
              <a:off x="2959" y="1603"/>
              <a:ext cx="22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82672" name="Rectangle 48"/>
            <p:cNvSpPr>
              <a:spLocks noChangeArrowheads="1"/>
            </p:cNvSpPr>
            <p:nvPr/>
          </p:nvSpPr>
          <p:spPr bwMode="auto">
            <a:xfrm>
              <a:off x="2969" y="2110"/>
              <a:ext cx="2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b="1" dirty="0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82673" name="Line 49"/>
            <p:cNvSpPr>
              <a:spLocks noChangeShapeType="1"/>
            </p:cNvSpPr>
            <p:nvPr/>
          </p:nvSpPr>
          <p:spPr bwMode="auto">
            <a:xfrm flipH="1">
              <a:off x="2912" y="1239"/>
              <a:ext cx="1" cy="5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74" name="Line 50"/>
            <p:cNvSpPr>
              <a:spLocks noChangeShapeType="1"/>
            </p:cNvSpPr>
            <p:nvPr/>
          </p:nvSpPr>
          <p:spPr bwMode="auto">
            <a:xfrm>
              <a:off x="2247" y="2611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75" name="Line 51"/>
            <p:cNvSpPr>
              <a:spLocks noChangeShapeType="1"/>
            </p:cNvSpPr>
            <p:nvPr/>
          </p:nvSpPr>
          <p:spPr bwMode="auto">
            <a:xfrm>
              <a:off x="2151" y="2803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76" name="Oval 52"/>
            <p:cNvSpPr>
              <a:spLocks noChangeArrowheads="1"/>
            </p:cNvSpPr>
            <p:nvPr/>
          </p:nvSpPr>
          <p:spPr bwMode="auto">
            <a:xfrm>
              <a:off x="2220" y="2611"/>
              <a:ext cx="48" cy="4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77" name="Line 53"/>
            <p:cNvSpPr>
              <a:spLocks noChangeShapeType="1"/>
            </p:cNvSpPr>
            <p:nvPr/>
          </p:nvSpPr>
          <p:spPr bwMode="auto">
            <a:xfrm>
              <a:off x="925" y="1668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78" name="Line 54"/>
            <p:cNvSpPr>
              <a:spLocks noChangeShapeType="1"/>
            </p:cNvSpPr>
            <p:nvPr/>
          </p:nvSpPr>
          <p:spPr bwMode="auto">
            <a:xfrm>
              <a:off x="2247" y="1075"/>
              <a:ext cx="0" cy="4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79" name="Line 55"/>
            <p:cNvSpPr>
              <a:spLocks noChangeShapeType="1"/>
            </p:cNvSpPr>
            <p:nvPr/>
          </p:nvSpPr>
          <p:spPr bwMode="auto">
            <a:xfrm>
              <a:off x="2247" y="1820"/>
              <a:ext cx="0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80" name="Oval 56"/>
            <p:cNvSpPr>
              <a:spLocks noChangeArrowheads="1"/>
            </p:cNvSpPr>
            <p:nvPr/>
          </p:nvSpPr>
          <p:spPr bwMode="auto">
            <a:xfrm>
              <a:off x="2848" y="572"/>
              <a:ext cx="48" cy="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81" name="Rectangle 57"/>
            <p:cNvSpPr>
              <a:spLocks noChangeArrowheads="1"/>
            </p:cNvSpPr>
            <p:nvPr/>
          </p:nvSpPr>
          <p:spPr bwMode="auto">
            <a:xfrm>
              <a:off x="2200" y="2069"/>
              <a:ext cx="92" cy="305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08" name="Text Box 58"/>
            <p:cNvSpPr txBox="1"/>
            <p:nvPr/>
          </p:nvSpPr>
          <p:spPr>
            <a:xfrm>
              <a:off x="1882" y="2069"/>
              <a:ext cx="32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282683" name="Text Box 59" descr="40%"/>
          <p:cNvSpPr txBox="1">
            <a:spLocks noChangeArrowheads="1"/>
          </p:cNvSpPr>
          <p:nvPr/>
        </p:nvSpPr>
        <p:spPr bwMode="auto">
          <a:xfrm>
            <a:off x="4618990" y="1194753"/>
            <a:ext cx="4131310" cy="523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pct40">
                  <a:fgClr>
                    <a:srgbClr val="FFCCCC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marR="0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交流通路及微变等效电路</a:t>
            </a:r>
            <a:endParaRPr kumimoji="1" lang="zh-CN" altLang="en-US" sz="2800" b="1" kern="1200" cap="none" spc="0" normalizeH="0" baseline="0" noProof="0" smtClean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82755" name="Group 131"/>
          <p:cNvGrpSpPr/>
          <p:nvPr/>
        </p:nvGrpSpPr>
        <p:grpSpPr>
          <a:xfrm>
            <a:off x="4470400" y="1752600"/>
            <a:ext cx="4616450" cy="3224213"/>
            <a:chOff x="2160" y="4848"/>
            <a:chExt cx="2908" cy="2031"/>
          </a:xfrm>
        </p:grpSpPr>
        <p:sp>
          <p:nvSpPr>
            <p:cNvPr id="282685" name="AutoShape 61"/>
            <p:cNvSpPr/>
            <p:nvPr/>
          </p:nvSpPr>
          <p:spPr bwMode="auto">
            <a:xfrm rot="-5400000">
              <a:off x="4532" y="6586"/>
              <a:ext cx="158" cy="417"/>
            </a:xfrm>
            <a:prstGeom prst="leftBrace">
              <a:avLst>
                <a:gd name="adj1" fmla="val 21994"/>
                <a:gd name="adj2" fmla="val 50000"/>
              </a:avLst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86" name="Line 62"/>
            <p:cNvSpPr>
              <a:spLocks noChangeShapeType="1"/>
            </p:cNvSpPr>
            <p:nvPr/>
          </p:nvSpPr>
          <p:spPr bwMode="auto">
            <a:xfrm flipV="1">
              <a:off x="2535" y="6711"/>
              <a:ext cx="22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87" name="Line 63"/>
            <p:cNvSpPr>
              <a:spLocks noChangeShapeType="1"/>
            </p:cNvSpPr>
            <p:nvPr/>
          </p:nvSpPr>
          <p:spPr bwMode="auto">
            <a:xfrm flipH="1" flipV="1">
              <a:off x="3965" y="5251"/>
              <a:ext cx="0" cy="2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88" name="Line 64"/>
            <p:cNvSpPr>
              <a:spLocks noChangeShapeType="1"/>
            </p:cNvSpPr>
            <p:nvPr/>
          </p:nvSpPr>
          <p:spPr bwMode="auto">
            <a:xfrm flipV="1">
              <a:off x="2535" y="5268"/>
              <a:ext cx="8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3615" name="Group 65"/>
            <p:cNvGrpSpPr/>
            <p:nvPr/>
          </p:nvGrpSpPr>
          <p:grpSpPr>
            <a:xfrm>
              <a:off x="3862" y="5511"/>
              <a:ext cx="206" cy="290"/>
              <a:chOff x="4164" y="1968"/>
              <a:chExt cx="264" cy="420"/>
            </a:xfrm>
          </p:grpSpPr>
          <p:sp>
            <p:nvSpPr>
              <p:cNvPr id="282690" name="AutoShape 66"/>
              <p:cNvSpPr>
                <a:spLocks noChangeArrowheads="1"/>
              </p:cNvSpPr>
              <p:nvPr/>
            </p:nvSpPr>
            <p:spPr bwMode="auto">
              <a:xfrm>
                <a:off x="4164" y="1968"/>
                <a:ext cx="264" cy="420"/>
              </a:xfrm>
              <a:prstGeom prst="diamond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2691" name="Line 67"/>
              <p:cNvSpPr>
                <a:spLocks noChangeShapeType="1"/>
              </p:cNvSpPr>
              <p:nvPr/>
            </p:nvSpPr>
            <p:spPr bwMode="auto">
              <a:xfrm>
                <a:off x="4176" y="2184"/>
                <a:ext cx="2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82692" name="Line 68"/>
            <p:cNvSpPr>
              <a:spLocks noChangeShapeType="1"/>
            </p:cNvSpPr>
            <p:nvPr/>
          </p:nvSpPr>
          <p:spPr bwMode="auto">
            <a:xfrm flipV="1">
              <a:off x="3422" y="5251"/>
              <a:ext cx="0" cy="2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93" name="Rectangle 69"/>
            <p:cNvSpPr>
              <a:spLocks noChangeArrowheads="1"/>
            </p:cNvSpPr>
            <p:nvPr/>
          </p:nvSpPr>
          <p:spPr bwMode="auto">
            <a:xfrm>
              <a:off x="3374" y="5544"/>
              <a:ext cx="91" cy="25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94" name="Line 70"/>
            <p:cNvSpPr>
              <a:spLocks noChangeShapeType="1"/>
            </p:cNvSpPr>
            <p:nvPr/>
          </p:nvSpPr>
          <p:spPr bwMode="auto">
            <a:xfrm>
              <a:off x="3950" y="5239"/>
              <a:ext cx="86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95" name="Line 71"/>
            <p:cNvSpPr>
              <a:spLocks noChangeShapeType="1"/>
            </p:cNvSpPr>
            <p:nvPr/>
          </p:nvSpPr>
          <p:spPr bwMode="auto">
            <a:xfrm flipV="1">
              <a:off x="4411" y="5251"/>
              <a:ext cx="0" cy="5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96" name="Rectangle 72"/>
            <p:cNvSpPr>
              <a:spLocks noChangeArrowheads="1"/>
            </p:cNvSpPr>
            <p:nvPr/>
          </p:nvSpPr>
          <p:spPr bwMode="auto">
            <a:xfrm>
              <a:off x="4363" y="5841"/>
              <a:ext cx="91" cy="25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23" name="Text Box 73"/>
            <p:cNvSpPr txBox="1"/>
            <p:nvPr/>
          </p:nvSpPr>
          <p:spPr>
            <a:xfrm>
              <a:off x="3383" y="5505"/>
              <a:ext cx="43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82698" name="Line 74"/>
            <p:cNvSpPr>
              <a:spLocks noChangeShapeType="1"/>
            </p:cNvSpPr>
            <p:nvPr/>
          </p:nvSpPr>
          <p:spPr bwMode="auto">
            <a:xfrm>
              <a:off x="3811" y="5544"/>
              <a:ext cx="0" cy="2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699" name="Line 75"/>
            <p:cNvSpPr>
              <a:spLocks noChangeShapeType="1"/>
            </p:cNvSpPr>
            <p:nvPr/>
          </p:nvSpPr>
          <p:spPr bwMode="auto">
            <a:xfrm flipV="1">
              <a:off x="3137" y="5201"/>
              <a:ext cx="27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26" name="Text Box 76"/>
            <p:cNvSpPr txBox="1"/>
            <p:nvPr/>
          </p:nvSpPr>
          <p:spPr>
            <a:xfrm>
              <a:off x="4027" y="5657"/>
              <a:ext cx="63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endParaRPr lang="zh-CN" altLang="zh-CN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82701" name="Line 77"/>
            <p:cNvSpPr>
              <a:spLocks noChangeShapeType="1"/>
            </p:cNvSpPr>
            <p:nvPr/>
          </p:nvSpPr>
          <p:spPr bwMode="auto">
            <a:xfrm flipH="1">
              <a:off x="3922" y="5189"/>
              <a:ext cx="2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28" name="Text Box 78"/>
            <p:cNvSpPr txBox="1"/>
            <p:nvPr/>
          </p:nvSpPr>
          <p:spPr>
            <a:xfrm>
              <a:off x="2988" y="5846"/>
              <a:ext cx="46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82703" name="Line 79"/>
            <p:cNvSpPr>
              <a:spLocks noChangeShapeType="1"/>
            </p:cNvSpPr>
            <p:nvPr/>
          </p:nvSpPr>
          <p:spPr bwMode="auto">
            <a:xfrm flipV="1">
              <a:off x="4805" y="5230"/>
              <a:ext cx="0" cy="5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704" name="Rectangle 80"/>
            <p:cNvSpPr>
              <a:spLocks noChangeArrowheads="1"/>
            </p:cNvSpPr>
            <p:nvPr/>
          </p:nvSpPr>
          <p:spPr bwMode="auto">
            <a:xfrm>
              <a:off x="4761" y="5820"/>
              <a:ext cx="91" cy="25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31" name="Text Box 81"/>
            <p:cNvSpPr txBox="1"/>
            <p:nvPr/>
          </p:nvSpPr>
          <p:spPr>
            <a:xfrm>
              <a:off x="4005" y="5801"/>
              <a:ext cx="45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632" name="Text Box 82"/>
            <p:cNvSpPr txBox="1"/>
            <p:nvPr/>
          </p:nvSpPr>
          <p:spPr>
            <a:xfrm>
              <a:off x="4383" y="5796"/>
              <a:ext cx="5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633" name="Text Box 83"/>
            <p:cNvSpPr txBox="1"/>
            <p:nvPr/>
          </p:nvSpPr>
          <p:spPr>
            <a:xfrm>
              <a:off x="3582" y="5742"/>
              <a:ext cx="22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634" name="Text Box 84"/>
            <p:cNvSpPr txBox="1"/>
            <p:nvPr/>
          </p:nvSpPr>
          <p:spPr>
            <a:xfrm>
              <a:off x="2919" y="5017"/>
              <a:ext cx="22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635" name="Text Box 85"/>
            <p:cNvSpPr txBox="1"/>
            <p:nvPr/>
          </p:nvSpPr>
          <p:spPr>
            <a:xfrm>
              <a:off x="4157" y="4993"/>
              <a:ext cx="22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82710" name="Line 86"/>
            <p:cNvSpPr>
              <a:spLocks noChangeShapeType="1"/>
            </p:cNvSpPr>
            <p:nvPr/>
          </p:nvSpPr>
          <p:spPr bwMode="auto">
            <a:xfrm flipV="1">
              <a:off x="3018" y="5259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37" name="Text Box 87" descr="新闻纸"/>
            <p:cNvSpPr txBox="1"/>
            <p:nvPr/>
          </p:nvSpPr>
          <p:spPr>
            <a:xfrm>
              <a:off x="2653" y="5234"/>
              <a:ext cx="29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38" name="Text Box 88" descr="新闻纸"/>
            <p:cNvSpPr txBox="1"/>
            <p:nvPr/>
          </p:nvSpPr>
          <p:spPr>
            <a:xfrm>
              <a:off x="2655" y="6464"/>
              <a:ext cx="29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2713" name="Rectangle 89"/>
            <p:cNvSpPr>
              <a:spLocks noChangeArrowheads="1"/>
            </p:cNvSpPr>
            <p:nvPr/>
          </p:nvSpPr>
          <p:spPr bwMode="auto">
            <a:xfrm>
              <a:off x="2982" y="5871"/>
              <a:ext cx="91" cy="25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40" name="Rectangle 90" descr="新闻纸"/>
            <p:cNvSpPr/>
            <p:nvPr/>
          </p:nvSpPr>
          <p:spPr>
            <a:xfrm>
              <a:off x="4856" y="521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41" name="Rectangle 91" descr="新闻纸"/>
            <p:cNvSpPr/>
            <p:nvPr/>
          </p:nvSpPr>
          <p:spPr>
            <a:xfrm>
              <a:off x="4856" y="6388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3642" name="Group 92"/>
            <p:cNvGrpSpPr/>
            <p:nvPr/>
          </p:nvGrpSpPr>
          <p:grpSpPr>
            <a:xfrm>
              <a:off x="3617" y="6707"/>
              <a:ext cx="160" cy="119"/>
              <a:chOff x="4069" y="2202"/>
              <a:chExt cx="160" cy="119"/>
            </a:xfrm>
          </p:grpSpPr>
          <p:sp>
            <p:nvSpPr>
              <p:cNvPr id="282717" name="Line 93"/>
              <p:cNvSpPr>
                <a:spLocks noChangeShapeType="1"/>
              </p:cNvSpPr>
              <p:nvPr/>
            </p:nvSpPr>
            <p:spPr bwMode="auto">
              <a:xfrm>
                <a:off x="4145" y="2202"/>
                <a:ext cx="0" cy="11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2718" name="Line 94"/>
              <p:cNvSpPr>
                <a:spLocks noChangeShapeType="1"/>
              </p:cNvSpPr>
              <p:nvPr/>
            </p:nvSpPr>
            <p:spPr bwMode="auto">
              <a:xfrm>
                <a:off x="4069" y="2321"/>
                <a:ext cx="1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82719" name="Line 95"/>
            <p:cNvSpPr>
              <a:spLocks noChangeShapeType="1"/>
            </p:cNvSpPr>
            <p:nvPr/>
          </p:nvSpPr>
          <p:spPr bwMode="auto">
            <a:xfrm flipH="1" flipV="1">
              <a:off x="4800" y="6062"/>
              <a:ext cx="0" cy="6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720" name="Line 96"/>
            <p:cNvSpPr>
              <a:spLocks noChangeShapeType="1"/>
            </p:cNvSpPr>
            <p:nvPr/>
          </p:nvSpPr>
          <p:spPr bwMode="auto">
            <a:xfrm flipV="1">
              <a:off x="4409" y="6101"/>
              <a:ext cx="0" cy="6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721" name="Line 97"/>
            <p:cNvSpPr>
              <a:spLocks noChangeShapeType="1"/>
            </p:cNvSpPr>
            <p:nvPr/>
          </p:nvSpPr>
          <p:spPr bwMode="auto">
            <a:xfrm flipH="1" flipV="1">
              <a:off x="3427" y="5812"/>
              <a:ext cx="1" cy="2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722" name="Line 98"/>
            <p:cNvSpPr>
              <a:spLocks noChangeShapeType="1"/>
            </p:cNvSpPr>
            <p:nvPr/>
          </p:nvSpPr>
          <p:spPr bwMode="auto">
            <a:xfrm flipH="1" flipV="1">
              <a:off x="3019" y="6122"/>
              <a:ext cx="1" cy="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723" name="Line 99"/>
            <p:cNvSpPr>
              <a:spLocks noChangeShapeType="1"/>
            </p:cNvSpPr>
            <p:nvPr/>
          </p:nvSpPr>
          <p:spPr bwMode="auto">
            <a:xfrm flipH="1" flipV="1">
              <a:off x="3965" y="5767"/>
              <a:ext cx="0" cy="2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724" name="Line 100"/>
            <p:cNvSpPr>
              <a:spLocks noChangeShapeType="1"/>
            </p:cNvSpPr>
            <p:nvPr/>
          </p:nvSpPr>
          <p:spPr bwMode="auto">
            <a:xfrm flipH="1">
              <a:off x="2538" y="5826"/>
              <a:ext cx="0" cy="89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725" name="Rectangle 101"/>
            <p:cNvSpPr>
              <a:spLocks noChangeArrowheads="1"/>
            </p:cNvSpPr>
            <p:nvPr/>
          </p:nvSpPr>
          <p:spPr bwMode="auto">
            <a:xfrm>
              <a:off x="2501" y="5598"/>
              <a:ext cx="78" cy="23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726" name="Line 102"/>
            <p:cNvSpPr>
              <a:spLocks noChangeShapeType="1"/>
            </p:cNvSpPr>
            <p:nvPr/>
          </p:nvSpPr>
          <p:spPr bwMode="auto">
            <a:xfrm flipH="1">
              <a:off x="2538" y="5283"/>
              <a:ext cx="0" cy="317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727" name="Oval 103"/>
            <p:cNvSpPr>
              <a:spLocks noChangeArrowheads="1"/>
            </p:cNvSpPr>
            <p:nvPr/>
          </p:nvSpPr>
          <p:spPr bwMode="auto">
            <a:xfrm>
              <a:off x="2448" y="6163"/>
              <a:ext cx="192" cy="192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54" name="Rectangle 104" descr="新闻纸"/>
            <p:cNvSpPr/>
            <p:nvPr/>
          </p:nvSpPr>
          <p:spPr>
            <a:xfrm>
              <a:off x="2334" y="5930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55" name="Rectangle 105"/>
            <p:cNvSpPr/>
            <p:nvPr/>
          </p:nvSpPr>
          <p:spPr>
            <a:xfrm>
              <a:off x="2323" y="6236"/>
              <a:ext cx="2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656" name="Text Box 106"/>
            <p:cNvSpPr txBox="1"/>
            <p:nvPr/>
          </p:nvSpPr>
          <p:spPr>
            <a:xfrm>
              <a:off x="2160" y="5569"/>
              <a:ext cx="42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82731" name="Oval 107"/>
            <p:cNvSpPr>
              <a:spLocks noChangeArrowheads="1"/>
            </p:cNvSpPr>
            <p:nvPr/>
          </p:nvSpPr>
          <p:spPr bwMode="auto">
            <a:xfrm>
              <a:off x="3661" y="6677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738" name="Line 114"/>
            <p:cNvSpPr>
              <a:spLocks noChangeShapeType="1"/>
            </p:cNvSpPr>
            <p:nvPr/>
          </p:nvSpPr>
          <p:spPr bwMode="auto">
            <a:xfrm flipV="1">
              <a:off x="2533" y="5218"/>
              <a:ext cx="27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740" name="Line 116"/>
            <p:cNvSpPr>
              <a:spLocks noChangeShapeType="1"/>
            </p:cNvSpPr>
            <p:nvPr/>
          </p:nvSpPr>
          <p:spPr bwMode="auto">
            <a:xfrm>
              <a:off x="3427" y="6006"/>
              <a:ext cx="54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741" name="Rectangle 117"/>
            <p:cNvSpPr>
              <a:spLocks noChangeArrowheads="1"/>
            </p:cNvSpPr>
            <p:nvPr/>
          </p:nvSpPr>
          <p:spPr bwMode="auto">
            <a:xfrm>
              <a:off x="3651" y="6237"/>
              <a:ext cx="91" cy="25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742" name="Line 118"/>
            <p:cNvSpPr>
              <a:spLocks noChangeShapeType="1"/>
            </p:cNvSpPr>
            <p:nvPr/>
          </p:nvSpPr>
          <p:spPr bwMode="auto">
            <a:xfrm>
              <a:off x="3697" y="6001"/>
              <a:ext cx="0" cy="2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743" name="Line 119"/>
            <p:cNvSpPr>
              <a:spLocks noChangeShapeType="1"/>
            </p:cNvSpPr>
            <p:nvPr/>
          </p:nvSpPr>
          <p:spPr bwMode="auto">
            <a:xfrm>
              <a:off x="3692" y="6487"/>
              <a:ext cx="0" cy="2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2744" name="Line 120"/>
            <p:cNvSpPr>
              <a:spLocks noChangeShapeType="1"/>
            </p:cNvSpPr>
            <p:nvPr/>
          </p:nvSpPr>
          <p:spPr bwMode="auto">
            <a:xfrm>
              <a:off x="3816" y="6227"/>
              <a:ext cx="0" cy="2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64" name="Text Box 122"/>
            <p:cNvSpPr txBox="1"/>
            <p:nvPr/>
          </p:nvSpPr>
          <p:spPr>
            <a:xfrm>
              <a:off x="3287" y="6233"/>
              <a:ext cx="46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23665" name="Object 123"/>
            <p:cNvGraphicFramePr>
              <a:graphicFrameLocks noChangeAspect="1"/>
            </p:cNvGraphicFramePr>
            <p:nvPr/>
          </p:nvGraphicFramePr>
          <p:xfrm>
            <a:off x="3852" y="6240"/>
            <a:ext cx="168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1" imgW="266700" imgH="438150" progId="Paint.Picture">
                    <p:embed/>
                  </p:oleObj>
                </mc:Choice>
                <mc:Fallback>
                  <p:oleObj name="" r:id="rId1" imgW="266700" imgH="438150" progId="Paint.Picture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52" y="6240"/>
                          <a:ext cx="168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66" name="Object 124"/>
            <p:cNvGraphicFramePr>
              <a:graphicFrameLocks noChangeAspect="1"/>
            </p:cNvGraphicFramePr>
            <p:nvPr/>
          </p:nvGraphicFramePr>
          <p:xfrm>
            <a:off x="2160" y="6144"/>
            <a:ext cx="198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3" imgW="314325" imgH="428625" progId="Paint.Picture">
                    <p:embed/>
                  </p:oleObj>
                </mc:Choice>
                <mc:Fallback>
                  <p:oleObj name="" r:id="rId3" imgW="314325" imgH="428625" progId="Paint.Picture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60" y="6144"/>
                          <a:ext cx="198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67" name="Object 125"/>
            <p:cNvGraphicFramePr>
              <a:graphicFrameLocks noChangeAspect="1"/>
            </p:cNvGraphicFramePr>
            <p:nvPr/>
          </p:nvGraphicFramePr>
          <p:xfrm>
            <a:off x="2544" y="4848"/>
            <a:ext cx="156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5" imgW="247650" imgH="504825" progId="Paint.Picture">
                    <p:embed/>
                  </p:oleObj>
                </mc:Choice>
                <mc:Fallback>
                  <p:oleObj name="" r:id="rId5" imgW="247650" imgH="504825" progId="Paint.Picture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44" y="4848"/>
                          <a:ext cx="156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68" name="Object 126"/>
            <p:cNvGraphicFramePr>
              <a:graphicFrameLocks noChangeAspect="1"/>
            </p:cNvGraphicFramePr>
            <p:nvPr/>
          </p:nvGraphicFramePr>
          <p:xfrm>
            <a:off x="3168" y="4896"/>
            <a:ext cx="16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7" imgW="257175" imgH="447675" progId="Paint.Picture">
                    <p:embed/>
                  </p:oleObj>
                </mc:Choice>
                <mc:Fallback>
                  <p:oleObj name="" r:id="rId7" imgW="257175" imgH="447675" progId="Paint.Picture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168" y="4896"/>
                          <a:ext cx="162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69" name="Object 127"/>
            <p:cNvGraphicFramePr>
              <a:graphicFrameLocks noChangeAspect="1"/>
            </p:cNvGraphicFramePr>
            <p:nvPr/>
          </p:nvGraphicFramePr>
          <p:xfrm>
            <a:off x="2688" y="5808"/>
            <a:ext cx="16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9" imgW="266700" imgH="457200" progId="Paint.Picture">
                    <p:embed/>
                  </p:oleObj>
                </mc:Choice>
                <mc:Fallback>
                  <p:oleObj name="" r:id="rId9" imgW="266700" imgH="457200" progId="Paint.Picture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688" y="5808"/>
                          <a:ext cx="168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70" name="Object 128"/>
            <p:cNvGraphicFramePr>
              <a:graphicFrameLocks noChangeAspect="1"/>
            </p:cNvGraphicFramePr>
            <p:nvPr/>
          </p:nvGraphicFramePr>
          <p:xfrm>
            <a:off x="3648" y="5232"/>
            <a:ext cx="270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11" imgW="428625" imgH="476250" progId="Paint.Picture">
                    <p:embed/>
                  </p:oleObj>
                </mc:Choice>
                <mc:Fallback>
                  <p:oleObj name="" r:id="rId11" imgW="428625" imgH="476250" progId="Paint.Picture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648" y="5232"/>
                          <a:ext cx="270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71" name="Object 129"/>
            <p:cNvGraphicFramePr>
              <a:graphicFrameLocks noChangeAspect="1"/>
            </p:cNvGraphicFramePr>
            <p:nvPr/>
          </p:nvGraphicFramePr>
          <p:xfrm>
            <a:off x="3984" y="4848"/>
            <a:ext cx="14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13" imgW="228600" imgH="457200" progId="Paint.Picture">
                    <p:embed/>
                  </p:oleObj>
                </mc:Choice>
                <mc:Fallback>
                  <p:oleObj name="" r:id="rId13" imgW="228600" imgH="457200" progId="Paint.Picture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984" y="4848"/>
                          <a:ext cx="144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72" name="Object 130"/>
            <p:cNvGraphicFramePr>
              <a:graphicFrameLocks noChangeAspect="1"/>
            </p:cNvGraphicFramePr>
            <p:nvPr/>
          </p:nvGraphicFramePr>
          <p:xfrm>
            <a:off x="4896" y="5808"/>
            <a:ext cx="16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15" imgW="266700" imgH="447675" progId="Paint.Picture">
                    <p:embed/>
                  </p:oleObj>
                </mc:Choice>
                <mc:Fallback>
                  <p:oleObj name="" r:id="rId15" imgW="266700" imgH="447675" progId="Paint.Picture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896" y="5808"/>
                          <a:ext cx="168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2756" name="Object 132"/>
          <p:cNvGraphicFramePr>
            <a:graphicFrameLocks noChangeAspect="1"/>
          </p:cNvGraphicFramePr>
          <p:nvPr/>
        </p:nvGraphicFramePr>
        <p:xfrm>
          <a:off x="7124700" y="5029200"/>
          <a:ext cx="19050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7" imgW="876300" imgH="228600" progId="Equation.3">
                  <p:embed/>
                </p:oleObj>
              </mc:Choice>
              <mc:Fallback>
                <p:oleObj name="" r:id="rId17" imgW="876300" imgH="2286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24700" y="5029200"/>
                        <a:ext cx="1905000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2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2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2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2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2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2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2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2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6" grpId="0"/>
      <p:bldP spid="28268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8068" name="Object 4"/>
          <p:cNvGraphicFramePr>
            <a:graphicFrameLocks noChangeAspect="1"/>
          </p:cNvGraphicFramePr>
          <p:nvPr/>
        </p:nvGraphicFramePr>
        <p:xfrm>
          <a:off x="7086600" y="3678238"/>
          <a:ext cx="1525588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" imgW="876300" imgH="228600" progId="Equation.3">
                  <p:embed/>
                </p:oleObj>
              </mc:Choice>
              <mc:Fallback>
                <p:oleObj name="" r:id="rId1" imgW="876300" imgH="2286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86600" y="3678238"/>
                        <a:ext cx="1525588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136" name="Object 72"/>
          <p:cNvGraphicFramePr>
            <a:graphicFrameLocks noChangeAspect="1"/>
          </p:cNvGraphicFramePr>
          <p:nvPr/>
        </p:nvGraphicFramePr>
        <p:xfrm>
          <a:off x="838200" y="3814763"/>
          <a:ext cx="3500438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" imgW="1879600" imgH="571500" progId="Equation.3">
                  <p:embed/>
                </p:oleObj>
              </mc:Choice>
              <mc:Fallback>
                <p:oleObj name="" r:id="rId3" imgW="1879600" imgH="5715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38200" y="3814763"/>
                        <a:ext cx="3500438" cy="110013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 cap="flat" cmpd="sng">
                        <a:solidFill>
                          <a:srgbClr val="0066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137" name="Text Box 73"/>
          <p:cNvSpPr txBox="1">
            <a:spLocks noChangeArrowheads="1"/>
          </p:cNvSpPr>
          <p:nvPr/>
        </p:nvSpPr>
        <p:spPr bwMode="auto">
          <a:xfrm>
            <a:off x="3738563" y="896938"/>
            <a:ext cx="985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lang="zh-CN" altLang="en-US" sz="2800" b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8138" name="Rectangle 74"/>
          <p:cNvSpPr>
            <a:spLocks noChangeArrowheads="1"/>
          </p:cNvSpPr>
          <p:nvPr/>
        </p:nvSpPr>
        <p:spPr bwMode="auto">
          <a:xfrm>
            <a:off x="506413" y="5080000"/>
            <a:ext cx="822642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由例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、例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可知，当电路不同时，计算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电压放大倍数 </a:t>
            </a:r>
            <a:r>
              <a:rPr kumimoji="1" lang="en-US" altLang="zh-CN" sz="2800" b="1" i="1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800" b="1" i="1" u="none" strike="noStrike" kern="1200" cap="none" spc="0" normalizeH="0" baseline="-2500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的公式也不同。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要根据微变等效电路找出 </a:t>
            </a:r>
            <a:r>
              <a:rPr kumimoji="1" lang="en-US" altLang="zh-CN" sz="2800" b="1" i="1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u</a:t>
            </a:r>
            <a:r>
              <a:rPr kumimoji="1" lang="en-US" altLang="zh-CN" sz="2800" b="1" i="0" u="none" strike="noStrike" kern="1200" cap="none" spc="0" normalizeH="0" baseline="-2500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</a:t>
            </a:r>
            <a:r>
              <a:rPr kumimoji="1" lang="en-US" altLang="zh-CN" sz="2800" b="1" i="1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2500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b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的关系、 </a:t>
            </a:r>
            <a:r>
              <a:rPr kumimoji="1" lang="en-US" altLang="zh-CN" sz="2800" b="1" i="1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u</a:t>
            </a:r>
            <a:r>
              <a:rPr kumimoji="1" lang="en-US" altLang="zh-CN" sz="2800" b="1" i="0" u="none" strike="noStrike" kern="1200" cap="none" spc="0" normalizeH="0" baseline="-2500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</a:t>
            </a:r>
            <a:r>
              <a:rPr kumimoji="1" lang="en-US" altLang="zh-CN" sz="2800" b="1" i="1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2500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</a:t>
            </a:r>
            <a:r>
              <a:rPr kumimoji="1" lang="en-US" altLang="zh-CN" sz="2800" b="1" i="1" u="none" strike="noStrike" kern="1200" cap="none" spc="0" normalizeH="0" baseline="-2500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的关系。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8145" name="Group 81"/>
          <p:cNvGrpSpPr/>
          <p:nvPr/>
        </p:nvGrpSpPr>
        <p:grpSpPr>
          <a:xfrm>
            <a:off x="4356100" y="457200"/>
            <a:ext cx="4616450" cy="3224213"/>
            <a:chOff x="2160" y="4848"/>
            <a:chExt cx="2908" cy="2031"/>
          </a:xfrm>
        </p:grpSpPr>
        <p:sp>
          <p:nvSpPr>
            <p:cNvPr id="88146" name="AutoShape 82"/>
            <p:cNvSpPr/>
            <p:nvPr/>
          </p:nvSpPr>
          <p:spPr bwMode="auto">
            <a:xfrm rot="-5400000">
              <a:off x="4532" y="6586"/>
              <a:ext cx="158" cy="417"/>
            </a:xfrm>
            <a:prstGeom prst="leftBrace">
              <a:avLst>
                <a:gd name="adj1" fmla="val 21994"/>
                <a:gd name="adj2" fmla="val 50000"/>
              </a:avLst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47" name="Line 83"/>
            <p:cNvSpPr>
              <a:spLocks noChangeShapeType="1"/>
            </p:cNvSpPr>
            <p:nvPr/>
          </p:nvSpPr>
          <p:spPr bwMode="auto">
            <a:xfrm flipV="1">
              <a:off x="2535" y="6711"/>
              <a:ext cx="22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48" name="Line 84"/>
            <p:cNvSpPr>
              <a:spLocks noChangeShapeType="1"/>
            </p:cNvSpPr>
            <p:nvPr/>
          </p:nvSpPr>
          <p:spPr bwMode="auto">
            <a:xfrm flipH="1" flipV="1">
              <a:off x="3965" y="5251"/>
              <a:ext cx="0" cy="2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49" name="Line 85"/>
            <p:cNvSpPr>
              <a:spLocks noChangeShapeType="1"/>
            </p:cNvSpPr>
            <p:nvPr/>
          </p:nvSpPr>
          <p:spPr bwMode="auto">
            <a:xfrm flipV="1">
              <a:off x="2535" y="5268"/>
              <a:ext cx="8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4586" name="Group 86"/>
            <p:cNvGrpSpPr/>
            <p:nvPr/>
          </p:nvGrpSpPr>
          <p:grpSpPr>
            <a:xfrm>
              <a:off x="3862" y="5511"/>
              <a:ext cx="206" cy="290"/>
              <a:chOff x="4164" y="1968"/>
              <a:chExt cx="264" cy="420"/>
            </a:xfrm>
          </p:grpSpPr>
          <p:sp>
            <p:nvSpPr>
              <p:cNvPr id="88151" name="AutoShape 87"/>
              <p:cNvSpPr>
                <a:spLocks noChangeArrowheads="1"/>
              </p:cNvSpPr>
              <p:nvPr/>
            </p:nvSpPr>
            <p:spPr bwMode="auto">
              <a:xfrm>
                <a:off x="4164" y="1968"/>
                <a:ext cx="264" cy="420"/>
              </a:xfrm>
              <a:prstGeom prst="diamond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8152" name="Line 88"/>
              <p:cNvSpPr>
                <a:spLocks noChangeShapeType="1"/>
              </p:cNvSpPr>
              <p:nvPr/>
            </p:nvSpPr>
            <p:spPr bwMode="auto">
              <a:xfrm>
                <a:off x="4176" y="2184"/>
                <a:ext cx="2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8153" name="Line 89"/>
            <p:cNvSpPr>
              <a:spLocks noChangeShapeType="1"/>
            </p:cNvSpPr>
            <p:nvPr/>
          </p:nvSpPr>
          <p:spPr bwMode="auto">
            <a:xfrm flipV="1">
              <a:off x="3422" y="5251"/>
              <a:ext cx="0" cy="2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54" name="Rectangle 90"/>
            <p:cNvSpPr>
              <a:spLocks noChangeArrowheads="1"/>
            </p:cNvSpPr>
            <p:nvPr/>
          </p:nvSpPr>
          <p:spPr bwMode="auto">
            <a:xfrm>
              <a:off x="3374" y="5544"/>
              <a:ext cx="91" cy="25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55" name="Line 91"/>
            <p:cNvSpPr>
              <a:spLocks noChangeShapeType="1"/>
            </p:cNvSpPr>
            <p:nvPr/>
          </p:nvSpPr>
          <p:spPr bwMode="auto">
            <a:xfrm>
              <a:off x="3950" y="5239"/>
              <a:ext cx="86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56" name="Line 92"/>
            <p:cNvSpPr>
              <a:spLocks noChangeShapeType="1"/>
            </p:cNvSpPr>
            <p:nvPr/>
          </p:nvSpPr>
          <p:spPr bwMode="auto">
            <a:xfrm flipV="1">
              <a:off x="4411" y="5251"/>
              <a:ext cx="0" cy="5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57" name="Rectangle 93"/>
            <p:cNvSpPr>
              <a:spLocks noChangeArrowheads="1"/>
            </p:cNvSpPr>
            <p:nvPr/>
          </p:nvSpPr>
          <p:spPr bwMode="auto">
            <a:xfrm>
              <a:off x="4363" y="5841"/>
              <a:ext cx="91" cy="25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94" name="Text Box 94"/>
            <p:cNvSpPr txBox="1"/>
            <p:nvPr/>
          </p:nvSpPr>
          <p:spPr>
            <a:xfrm>
              <a:off x="3383" y="5505"/>
              <a:ext cx="43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8159" name="Line 95"/>
            <p:cNvSpPr>
              <a:spLocks noChangeShapeType="1"/>
            </p:cNvSpPr>
            <p:nvPr/>
          </p:nvSpPr>
          <p:spPr bwMode="auto">
            <a:xfrm>
              <a:off x="3811" y="5544"/>
              <a:ext cx="0" cy="2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60" name="Line 96"/>
            <p:cNvSpPr>
              <a:spLocks noChangeShapeType="1"/>
            </p:cNvSpPr>
            <p:nvPr/>
          </p:nvSpPr>
          <p:spPr bwMode="auto">
            <a:xfrm flipV="1">
              <a:off x="3137" y="5201"/>
              <a:ext cx="27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97" name="Text Box 97"/>
            <p:cNvSpPr txBox="1"/>
            <p:nvPr/>
          </p:nvSpPr>
          <p:spPr>
            <a:xfrm>
              <a:off x="4027" y="5657"/>
              <a:ext cx="63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endParaRPr lang="zh-CN" altLang="zh-CN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8162" name="Line 98"/>
            <p:cNvSpPr>
              <a:spLocks noChangeShapeType="1"/>
            </p:cNvSpPr>
            <p:nvPr/>
          </p:nvSpPr>
          <p:spPr bwMode="auto">
            <a:xfrm flipH="1">
              <a:off x="3922" y="5189"/>
              <a:ext cx="2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99" name="Text Box 99"/>
            <p:cNvSpPr txBox="1"/>
            <p:nvPr/>
          </p:nvSpPr>
          <p:spPr>
            <a:xfrm>
              <a:off x="2988" y="5846"/>
              <a:ext cx="46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8164" name="Line 100"/>
            <p:cNvSpPr>
              <a:spLocks noChangeShapeType="1"/>
            </p:cNvSpPr>
            <p:nvPr/>
          </p:nvSpPr>
          <p:spPr bwMode="auto">
            <a:xfrm flipV="1">
              <a:off x="4805" y="5230"/>
              <a:ext cx="0" cy="59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65" name="Rectangle 101"/>
            <p:cNvSpPr>
              <a:spLocks noChangeArrowheads="1"/>
            </p:cNvSpPr>
            <p:nvPr/>
          </p:nvSpPr>
          <p:spPr bwMode="auto">
            <a:xfrm>
              <a:off x="4761" y="5820"/>
              <a:ext cx="91" cy="25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02" name="Text Box 102"/>
            <p:cNvSpPr txBox="1"/>
            <p:nvPr/>
          </p:nvSpPr>
          <p:spPr>
            <a:xfrm>
              <a:off x="4005" y="5801"/>
              <a:ext cx="45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4603" name="Text Box 103"/>
            <p:cNvSpPr txBox="1"/>
            <p:nvPr/>
          </p:nvSpPr>
          <p:spPr>
            <a:xfrm>
              <a:off x="4383" y="5796"/>
              <a:ext cx="5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4604" name="Text Box 104"/>
            <p:cNvSpPr txBox="1"/>
            <p:nvPr/>
          </p:nvSpPr>
          <p:spPr>
            <a:xfrm>
              <a:off x="3582" y="5742"/>
              <a:ext cx="22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4605" name="Text Box 105"/>
            <p:cNvSpPr txBox="1"/>
            <p:nvPr/>
          </p:nvSpPr>
          <p:spPr>
            <a:xfrm>
              <a:off x="2919" y="5017"/>
              <a:ext cx="22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4606" name="Text Box 106"/>
            <p:cNvSpPr txBox="1"/>
            <p:nvPr/>
          </p:nvSpPr>
          <p:spPr>
            <a:xfrm>
              <a:off x="4157" y="4993"/>
              <a:ext cx="22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8171" name="Line 107"/>
            <p:cNvSpPr>
              <a:spLocks noChangeShapeType="1"/>
            </p:cNvSpPr>
            <p:nvPr/>
          </p:nvSpPr>
          <p:spPr bwMode="auto">
            <a:xfrm flipV="1">
              <a:off x="3018" y="5259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08" name="Text Box 108" descr="新闻纸"/>
            <p:cNvSpPr txBox="1"/>
            <p:nvPr/>
          </p:nvSpPr>
          <p:spPr>
            <a:xfrm>
              <a:off x="2653" y="5234"/>
              <a:ext cx="29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609" name="Text Box 109" descr="新闻纸"/>
            <p:cNvSpPr txBox="1"/>
            <p:nvPr/>
          </p:nvSpPr>
          <p:spPr>
            <a:xfrm>
              <a:off x="2655" y="6464"/>
              <a:ext cx="29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8174" name="Rectangle 110"/>
            <p:cNvSpPr>
              <a:spLocks noChangeArrowheads="1"/>
            </p:cNvSpPr>
            <p:nvPr/>
          </p:nvSpPr>
          <p:spPr bwMode="auto">
            <a:xfrm>
              <a:off x="2982" y="5871"/>
              <a:ext cx="91" cy="25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11" name="Rectangle 111" descr="新闻纸"/>
            <p:cNvSpPr/>
            <p:nvPr/>
          </p:nvSpPr>
          <p:spPr>
            <a:xfrm>
              <a:off x="4856" y="5214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612" name="Rectangle 112" descr="新闻纸"/>
            <p:cNvSpPr/>
            <p:nvPr/>
          </p:nvSpPr>
          <p:spPr>
            <a:xfrm>
              <a:off x="4856" y="6388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4613" name="Group 113"/>
            <p:cNvGrpSpPr/>
            <p:nvPr/>
          </p:nvGrpSpPr>
          <p:grpSpPr>
            <a:xfrm>
              <a:off x="3617" y="6707"/>
              <a:ext cx="160" cy="119"/>
              <a:chOff x="4069" y="2202"/>
              <a:chExt cx="160" cy="119"/>
            </a:xfrm>
          </p:grpSpPr>
          <p:sp>
            <p:nvSpPr>
              <p:cNvPr id="88178" name="Line 114"/>
              <p:cNvSpPr>
                <a:spLocks noChangeShapeType="1"/>
              </p:cNvSpPr>
              <p:nvPr/>
            </p:nvSpPr>
            <p:spPr bwMode="auto">
              <a:xfrm>
                <a:off x="4145" y="2202"/>
                <a:ext cx="0" cy="11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8179" name="Line 115"/>
              <p:cNvSpPr>
                <a:spLocks noChangeShapeType="1"/>
              </p:cNvSpPr>
              <p:nvPr/>
            </p:nvSpPr>
            <p:spPr bwMode="auto">
              <a:xfrm>
                <a:off x="4069" y="2321"/>
                <a:ext cx="1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8180" name="Line 116"/>
            <p:cNvSpPr>
              <a:spLocks noChangeShapeType="1"/>
            </p:cNvSpPr>
            <p:nvPr/>
          </p:nvSpPr>
          <p:spPr bwMode="auto">
            <a:xfrm flipH="1" flipV="1">
              <a:off x="4800" y="6062"/>
              <a:ext cx="0" cy="6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81" name="Line 117"/>
            <p:cNvSpPr>
              <a:spLocks noChangeShapeType="1"/>
            </p:cNvSpPr>
            <p:nvPr/>
          </p:nvSpPr>
          <p:spPr bwMode="auto">
            <a:xfrm flipV="1">
              <a:off x="4409" y="6101"/>
              <a:ext cx="0" cy="6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82" name="Line 118"/>
            <p:cNvSpPr>
              <a:spLocks noChangeShapeType="1"/>
            </p:cNvSpPr>
            <p:nvPr/>
          </p:nvSpPr>
          <p:spPr bwMode="auto">
            <a:xfrm flipH="1" flipV="1">
              <a:off x="3427" y="5812"/>
              <a:ext cx="1" cy="2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83" name="Line 119"/>
            <p:cNvSpPr>
              <a:spLocks noChangeShapeType="1"/>
            </p:cNvSpPr>
            <p:nvPr/>
          </p:nvSpPr>
          <p:spPr bwMode="auto">
            <a:xfrm flipH="1" flipV="1">
              <a:off x="3019" y="6122"/>
              <a:ext cx="1" cy="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84" name="Line 120"/>
            <p:cNvSpPr>
              <a:spLocks noChangeShapeType="1"/>
            </p:cNvSpPr>
            <p:nvPr/>
          </p:nvSpPr>
          <p:spPr bwMode="auto">
            <a:xfrm flipH="1" flipV="1">
              <a:off x="3965" y="5767"/>
              <a:ext cx="0" cy="2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85" name="Line 121"/>
            <p:cNvSpPr>
              <a:spLocks noChangeShapeType="1"/>
            </p:cNvSpPr>
            <p:nvPr/>
          </p:nvSpPr>
          <p:spPr bwMode="auto">
            <a:xfrm flipH="1">
              <a:off x="2538" y="5826"/>
              <a:ext cx="0" cy="89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86" name="Rectangle 122"/>
            <p:cNvSpPr>
              <a:spLocks noChangeArrowheads="1"/>
            </p:cNvSpPr>
            <p:nvPr/>
          </p:nvSpPr>
          <p:spPr bwMode="auto">
            <a:xfrm>
              <a:off x="2501" y="5598"/>
              <a:ext cx="78" cy="23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87" name="Line 123"/>
            <p:cNvSpPr>
              <a:spLocks noChangeShapeType="1"/>
            </p:cNvSpPr>
            <p:nvPr/>
          </p:nvSpPr>
          <p:spPr bwMode="auto">
            <a:xfrm flipH="1">
              <a:off x="2538" y="5283"/>
              <a:ext cx="0" cy="317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88" name="Oval 124"/>
            <p:cNvSpPr>
              <a:spLocks noChangeArrowheads="1"/>
            </p:cNvSpPr>
            <p:nvPr/>
          </p:nvSpPr>
          <p:spPr bwMode="auto">
            <a:xfrm>
              <a:off x="2448" y="6163"/>
              <a:ext cx="192" cy="192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25" name="Rectangle 125" descr="新闻纸"/>
            <p:cNvSpPr/>
            <p:nvPr/>
          </p:nvSpPr>
          <p:spPr>
            <a:xfrm>
              <a:off x="2334" y="5930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626" name="Rectangle 126"/>
            <p:cNvSpPr/>
            <p:nvPr/>
          </p:nvSpPr>
          <p:spPr>
            <a:xfrm>
              <a:off x="2323" y="6236"/>
              <a:ext cx="23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627" name="Text Box 127"/>
            <p:cNvSpPr txBox="1"/>
            <p:nvPr/>
          </p:nvSpPr>
          <p:spPr>
            <a:xfrm>
              <a:off x="2160" y="5569"/>
              <a:ext cx="42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8192" name="Oval 128"/>
            <p:cNvSpPr>
              <a:spLocks noChangeArrowheads="1"/>
            </p:cNvSpPr>
            <p:nvPr/>
          </p:nvSpPr>
          <p:spPr bwMode="auto">
            <a:xfrm>
              <a:off x="3661" y="6677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93" name="Line 129"/>
            <p:cNvSpPr>
              <a:spLocks noChangeShapeType="1"/>
            </p:cNvSpPr>
            <p:nvPr/>
          </p:nvSpPr>
          <p:spPr bwMode="auto">
            <a:xfrm flipV="1">
              <a:off x="2533" y="5218"/>
              <a:ext cx="27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94" name="Line 130"/>
            <p:cNvSpPr>
              <a:spLocks noChangeShapeType="1"/>
            </p:cNvSpPr>
            <p:nvPr/>
          </p:nvSpPr>
          <p:spPr bwMode="auto">
            <a:xfrm>
              <a:off x="3427" y="6006"/>
              <a:ext cx="54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95" name="Rectangle 131"/>
            <p:cNvSpPr>
              <a:spLocks noChangeArrowheads="1"/>
            </p:cNvSpPr>
            <p:nvPr/>
          </p:nvSpPr>
          <p:spPr bwMode="auto">
            <a:xfrm>
              <a:off x="3651" y="6237"/>
              <a:ext cx="91" cy="25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96" name="Line 132"/>
            <p:cNvSpPr>
              <a:spLocks noChangeShapeType="1"/>
            </p:cNvSpPr>
            <p:nvPr/>
          </p:nvSpPr>
          <p:spPr bwMode="auto">
            <a:xfrm>
              <a:off x="3697" y="6001"/>
              <a:ext cx="0" cy="2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97" name="Line 133"/>
            <p:cNvSpPr>
              <a:spLocks noChangeShapeType="1"/>
            </p:cNvSpPr>
            <p:nvPr/>
          </p:nvSpPr>
          <p:spPr bwMode="auto">
            <a:xfrm>
              <a:off x="3692" y="6487"/>
              <a:ext cx="0" cy="2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198" name="Line 134"/>
            <p:cNvSpPr>
              <a:spLocks noChangeShapeType="1"/>
            </p:cNvSpPr>
            <p:nvPr/>
          </p:nvSpPr>
          <p:spPr bwMode="auto">
            <a:xfrm>
              <a:off x="3816" y="6227"/>
              <a:ext cx="0" cy="2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35" name="Text Box 135"/>
            <p:cNvSpPr txBox="1"/>
            <p:nvPr/>
          </p:nvSpPr>
          <p:spPr>
            <a:xfrm>
              <a:off x="3287" y="6233"/>
              <a:ext cx="46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24636" name="Object 136"/>
            <p:cNvGraphicFramePr>
              <a:graphicFrameLocks noChangeAspect="1"/>
            </p:cNvGraphicFramePr>
            <p:nvPr/>
          </p:nvGraphicFramePr>
          <p:xfrm>
            <a:off x="3852" y="6240"/>
            <a:ext cx="168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5" imgW="266700" imgH="438150" progId="Paint.Picture">
                    <p:embed/>
                  </p:oleObj>
                </mc:Choice>
                <mc:Fallback>
                  <p:oleObj name="" r:id="rId5" imgW="266700" imgH="438150" progId="Paint.Picture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52" y="6240"/>
                          <a:ext cx="168" cy="2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7" name="Object 137"/>
            <p:cNvGraphicFramePr>
              <a:graphicFrameLocks noChangeAspect="1"/>
            </p:cNvGraphicFramePr>
            <p:nvPr/>
          </p:nvGraphicFramePr>
          <p:xfrm>
            <a:off x="2160" y="6144"/>
            <a:ext cx="198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" name="" r:id="rId7" imgW="314325" imgH="428625" progId="Paint.Picture">
                    <p:embed/>
                  </p:oleObj>
                </mc:Choice>
                <mc:Fallback>
                  <p:oleObj name="" r:id="rId7" imgW="314325" imgH="428625" progId="Paint.Picture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60" y="6144"/>
                          <a:ext cx="198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8" name="Object 138"/>
            <p:cNvGraphicFramePr>
              <a:graphicFrameLocks noChangeAspect="1"/>
            </p:cNvGraphicFramePr>
            <p:nvPr/>
          </p:nvGraphicFramePr>
          <p:xfrm>
            <a:off x="2544" y="4848"/>
            <a:ext cx="156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" r:id="rId9" imgW="247650" imgH="504825" progId="Paint.Picture">
                    <p:embed/>
                  </p:oleObj>
                </mc:Choice>
                <mc:Fallback>
                  <p:oleObj name="" r:id="rId9" imgW="247650" imgH="504825" progId="Paint.Picture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544" y="4848"/>
                          <a:ext cx="156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9" name="Object 139"/>
            <p:cNvGraphicFramePr>
              <a:graphicFrameLocks noChangeAspect="1"/>
            </p:cNvGraphicFramePr>
            <p:nvPr/>
          </p:nvGraphicFramePr>
          <p:xfrm>
            <a:off x="3168" y="4896"/>
            <a:ext cx="16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" r:id="rId11" imgW="257175" imgH="447675" progId="Paint.Picture">
                    <p:embed/>
                  </p:oleObj>
                </mc:Choice>
                <mc:Fallback>
                  <p:oleObj name="" r:id="rId11" imgW="257175" imgH="447675" progId="Paint.Picture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168" y="4896"/>
                          <a:ext cx="162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40" name="Object 140"/>
            <p:cNvGraphicFramePr>
              <a:graphicFrameLocks noChangeAspect="1"/>
            </p:cNvGraphicFramePr>
            <p:nvPr/>
          </p:nvGraphicFramePr>
          <p:xfrm>
            <a:off x="2688" y="5808"/>
            <a:ext cx="16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" r:id="rId13" imgW="266700" imgH="457200" progId="Paint.Picture">
                    <p:embed/>
                  </p:oleObj>
                </mc:Choice>
                <mc:Fallback>
                  <p:oleObj name="" r:id="rId13" imgW="266700" imgH="457200" progId="Paint.Picture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688" y="5808"/>
                          <a:ext cx="168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41" name="Object 141"/>
            <p:cNvGraphicFramePr>
              <a:graphicFrameLocks noChangeAspect="1"/>
            </p:cNvGraphicFramePr>
            <p:nvPr/>
          </p:nvGraphicFramePr>
          <p:xfrm>
            <a:off x="3648" y="5232"/>
            <a:ext cx="270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15" imgW="428625" imgH="476250" progId="Paint.Picture">
                    <p:embed/>
                  </p:oleObj>
                </mc:Choice>
                <mc:Fallback>
                  <p:oleObj name="" r:id="rId15" imgW="428625" imgH="476250" progId="Paint.Picture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648" y="5232"/>
                          <a:ext cx="270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42" name="Object 142"/>
            <p:cNvGraphicFramePr>
              <a:graphicFrameLocks noChangeAspect="1"/>
            </p:cNvGraphicFramePr>
            <p:nvPr/>
          </p:nvGraphicFramePr>
          <p:xfrm>
            <a:off x="3984" y="4848"/>
            <a:ext cx="14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" r:id="rId17" imgW="228600" imgH="457200" progId="Paint.Picture">
                    <p:embed/>
                  </p:oleObj>
                </mc:Choice>
                <mc:Fallback>
                  <p:oleObj name="" r:id="rId17" imgW="228600" imgH="457200" progId="Paint.Picture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984" y="4848"/>
                          <a:ext cx="144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43" name="Object 143"/>
            <p:cNvGraphicFramePr>
              <a:graphicFrameLocks noChangeAspect="1"/>
            </p:cNvGraphicFramePr>
            <p:nvPr/>
          </p:nvGraphicFramePr>
          <p:xfrm>
            <a:off x="4896" y="5808"/>
            <a:ext cx="16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" r:id="rId19" imgW="266700" imgH="447675" progId="Paint.Picture">
                    <p:embed/>
                  </p:oleObj>
                </mc:Choice>
                <mc:Fallback>
                  <p:oleObj name="" r:id="rId19" imgW="266700" imgH="447675" progId="Paint.Picture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896" y="5808"/>
                          <a:ext cx="168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8208" name="Group 144"/>
          <p:cNvGrpSpPr/>
          <p:nvPr/>
        </p:nvGrpSpPr>
        <p:grpSpPr>
          <a:xfrm>
            <a:off x="419100" y="266700"/>
            <a:ext cx="2455863" cy="1133475"/>
            <a:chOff x="1321" y="-1488"/>
            <a:chExt cx="1547" cy="714"/>
          </a:xfrm>
        </p:grpSpPr>
        <p:sp>
          <p:nvSpPr>
            <p:cNvPr id="88209" name="Rectangle 145"/>
            <p:cNvSpPr>
              <a:spLocks noChangeArrowheads="1"/>
            </p:cNvSpPr>
            <p:nvPr/>
          </p:nvSpPr>
          <p:spPr bwMode="auto">
            <a:xfrm>
              <a:off x="1896" y="-1284"/>
              <a:ext cx="1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</a:t>
              </a:r>
              <a:endParaRPr kumimoji="1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210" name="Rectangle 146"/>
            <p:cNvSpPr>
              <a:spLocks noChangeArrowheads="1"/>
            </p:cNvSpPr>
            <p:nvPr/>
          </p:nvSpPr>
          <p:spPr bwMode="auto">
            <a:xfrm>
              <a:off x="1841" y="-1284"/>
              <a:ext cx="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  <a:endParaRPr kumimoji="1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211" name="Rectangle 147"/>
            <p:cNvSpPr>
              <a:spLocks noChangeArrowheads="1"/>
            </p:cNvSpPr>
            <p:nvPr/>
          </p:nvSpPr>
          <p:spPr bwMode="auto">
            <a:xfrm>
              <a:off x="1321" y="-1277"/>
              <a:ext cx="4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定义</a:t>
              </a: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4648" name="Object 148"/>
            <p:cNvGraphicFramePr>
              <a:graphicFrameLocks noChangeAspect="1"/>
            </p:cNvGraphicFramePr>
            <p:nvPr/>
          </p:nvGraphicFramePr>
          <p:xfrm>
            <a:off x="1968" y="-1488"/>
            <a:ext cx="900" cy="7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" name="" r:id="rId21" imgW="1428750" imgH="1133475" progId="Paint.Picture">
                    <p:embed/>
                  </p:oleObj>
                </mc:Choice>
                <mc:Fallback>
                  <p:oleObj name="" r:id="rId21" imgW="1428750" imgH="1133475" progId="Paint.Picture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968" y="-1488"/>
                          <a:ext cx="900" cy="7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8230" name="Object 166"/>
          <p:cNvGraphicFramePr>
            <a:graphicFrameLocks noChangeAspect="1"/>
          </p:cNvGraphicFramePr>
          <p:nvPr/>
        </p:nvGraphicFramePr>
        <p:xfrm>
          <a:off x="457200" y="1428750"/>
          <a:ext cx="30003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23" imgW="3000375" imgH="619125" progId="Paint.Picture">
                  <p:embed/>
                </p:oleObj>
              </mc:Choice>
              <mc:Fallback>
                <p:oleObj name="" r:id="rId23" imgW="3000375" imgH="619125" progId="Paint.Picture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57200" y="1428750"/>
                        <a:ext cx="3000375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251" name="Object 187"/>
          <p:cNvGraphicFramePr>
            <a:graphicFrameLocks noChangeAspect="1"/>
          </p:cNvGraphicFramePr>
          <p:nvPr/>
        </p:nvGraphicFramePr>
        <p:xfrm>
          <a:off x="971550" y="2095500"/>
          <a:ext cx="32004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25" imgW="3200400" imgH="552450" progId="Paint.Picture">
                  <p:embed/>
                </p:oleObj>
              </mc:Choice>
              <mc:Fallback>
                <p:oleObj name="" r:id="rId25" imgW="3200400" imgH="552450" progId="Paint.Picture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71550" y="2095500"/>
                        <a:ext cx="3200400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277" name="Object 213"/>
          <p:cNvGraphicFramePr>
            <a:graphicFrameLocks noChangeAspect="1"/>
          </p:cNvGraphicFramePr>
          <p:nvPr/>
        </p:nvGraphicFramePr>
        <p:xfrm>
          <a:off x="533400" y="2895600"/>
          <a:ext cx="341947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27" imgW="3419475" imgH="590550" progId="Paint.Picture">
                  <p:embed/>
                </p:oleObj>
              </mc:Choice>
              <mc:Fallback>
                <p:oleObj name="" r:id="rId27" imgW="3419475" imgH="590550" progId="Paint.Picture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33400" y="2895600"/>
                        <a:ext cx="3419475" cy="590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9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8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8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8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8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8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8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8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137" grpId="0"/>
      <p:bldP spid="881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Text Box 2"/>
          <p:cNvSpPr txBox="1">
            <a:spLocks noChangeArrowheads="1"/>
          </p:cNvSpPr>
          <p:nvPr/>
        </p:nvSpPr>
        <p:spPr bwMode="auto">
          <a:xfrm>
            <a:off x="381000" y="75724"/>
            <a:ext cx="6858000" cy="523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kern="1200" cap="none" spc="0" normalizeH="0" baseline="0" noProof="0" smtClean="0"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800" b="1" kern="1200" cap="none" spc="0" normalizeH="0" baseline="0" noProof="0" smtClean="0"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）放大电路输入电阻的计算</a:t>
            </a:r>
            <a:endParaRPr kumimoji="1" lang="zh-CN" altLang="en-US" sz="2800" b="1" kern="1200" cap="none" spc="0" normalizeH="0" baseline="0" noProof="0" smtClean="0">
              <a:solidFill>
                <a:srgbClr val="2E2EB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315913" y="484188"/>
            <a:ext cx="84201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indent="571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952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放大电路对信号源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或对前级放大电路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来说，是一个负载，可用一个电阻来等效代替。这个电阻是信号源的负载电阻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,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也就是放大电路的输入电阻。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anose="02010609060101010101" charset="-122"/>
              <a:ea typeface="楷体" panose="02010609060101010101" charset="-122"/>
              <a:cs typeface="+mn-cs"/>
            </a:endParaRPr>
          </a:p>
        </p:txBody>
      </p:sp>
      <p:sp>
        <p:nvSpPr>
          <p:cNvPr id="89092" name="Text Box 4"/>
          <p:cNvSpPr txBox="1">
            <a:spLocks noChangeArrowheads="1"/>
          </p:cNvSpPr>
          <p:nvPr/>
        </p:nvSpPr>
        <p:spPr bwMode="auto">
          <a:xfrm>
            <a:off x="566738" y="3703638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algn="ctr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定义：</a:t>
            </a:r>
            <a:endParaRPr kumimoji="1" lang="zh-CN" altLang="en-US" sz="2800" b="1" kern="1200" cap="none" spc="0" normalizeH="0" baseline="0" noProof="0" smtClean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9093" name="Text Box 5"/>
          <p:cNvSpPr txBox="1">
            <a:spLocks noChangeArrowheads="1"/>
          </p:cNvSpPr>
          <p:nvPr/>
        </p:nvSpPr>
        <p:spPr bwMode="auto">
          <a:xfrm>
            <a:off x="5829300" y="1889125"/>
            <a:ext cx="33147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800" b="1" kern="1200" cap="none" spc="0" normalizeH="0" baseline="0" noProof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输入电阻是对交流信号而言的，是动态电阻。</a:t>
            </a:r>
            <a:endParaRPr kumimoji="1" lang="zh-CN" altLang="en-US" sz="2800" b="1" kern="1200" cap="none" spc="0" normalizeH="0" baseline="0" noProof="0" smtClean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457200" y="1858963"/>
            <a:ext cx="48768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9097" name="AutoShape 9" descr="水滴"/>
          <p:cNvSpPr>
            <a:spLocks noChangeArrowheads="1"/>
          </p:cNvSpPr>
          <p:nvPr/>
        </p:nvSpPr>
        <p:spPr bwMode="auto">
          <a:xfrm rot="-2692639">
            <a:off x="4935538" y="2230438"/>
            <a:ext cx="457200" cy="1143000"/>
          </a:xfrm>
          <a:prstGeom prst="curvedLeftArrow">
            <a:avLst>
              <a:gd name="adj1" fmla="val 50000"/>
              <a:gd name="adj2" fmla="val 100000"/>
              <a:gd name="adj3" fmla="val 33333"/>
            </a:avLst>
          </a:prstGeom>
          <a:blipFill dpi="0" rotWithShape="0">
            <a:blip r:embed="rId1"/>
            <a:srcRect/>
            <a:tile tx="0" ty="0" sx="100000" sy="100000" flip="none" algn="tl"/>
          </a:blipFill>
          <a:ln w="38100">
            <a:solidFill>
              <a:srgbClr val="00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9142" name="Text Box 54"/>
          <p:cNvSpPr txBox="1">
            <a:spLocks noChangeArrowheads="1"/>
          </p:cNvSpPr>
          <p:nvPr/>
        </p:nvSpPr>
        <p:spPr bwMode="auto">
          <a:xfrm>
            <a:off x="342900" y="5183188"/>
            <a:ext cx="88011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indent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57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047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66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输入电阻是表明放大电路从信号源吸取电流大小的参数。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电路的输入电阻愈大，从信号源取得的电流愈小，因此一般总是希望得到较大的输入电阻。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9095" name="Rectangle 7"/>
          <p:cNvSpPr>
            <a:spLocks noChangeArrowheads="1"/>
          </p:cNvSpPr>
          <p:nvPr/>
        </p:nvSpPr>
        <p:spPr bwMode="auto">
          <a:xfrm>
            <a:off x="4267200" y="3124200"/>
            <a:ext cx="48768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9151" name="Group 63"/>
          <p:cNvGrpSpPr/>
          <p:nvPr/>
        </p:nvGrpSpPr>
        <p:grpSpPr>
          <a:xfrm>
            <a:off x="457200" y="1828800"/>
            <a:ext cx="3940175" cy="1820863"/>
            <a:chOff x="192" y="-1728"/>
            <a:chExt cx="2482" cy="1147"/>
          </a:xfrm>
        </p:grpSpPr>
        <p:sp>
          <p:nvSpPr>
            <p:cNvPr id="89102" name="Text Box 14" descr="新闻纸"/>
            <p:cNvSpPr txBox="1">
              <a:spLocks noChangeArrowheads="1"/>
            </p:cNvSpPr>
            <p:nvPr/>
          </p:nvSpPr>
          <p:spPr bwMode="auto">
            <a:xfrm>
              <a:off x="271" y="-1455"/>
              <a:ext cx="281" cy="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2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R="0" algn="ctr" defTabSz="914400" rtl="0">
                <a:spcBef>
                  <a:spcPct val="2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b="1" kern="1200" cap="none" spc="0" normalizeH="0" baseline="0" noProof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+</a:t>
              </a:r>
              <a:endParaRPr kumimoji="1" lang="en-US" altLang="zh-CN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  <a:p>
              <a:pPr marR="0" algn="ctr" defTabSz="914400" rtl="0">
                <a:spcBef>
                  <a:spcPct val="2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b="1" kern="1200" cap="none" spc="0" normalizeH="0" baseline="0" noProof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-</a:t>
              </a:r>
              <a:endParaRPr kumimoji="1" lang="en-US" altLang="zh-CN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04" name="Rectangle 16" descr="草皮"/>
            <p:cNvSpPr>
              <a:spLocks noChangeArrowheads="1"/>
            </p:cNvSpPr>
            <p:nvPr/>
          </p:nvSpPr>
          <p:spPr bwMode="auto">
            <a:xfrm>
              <a:off x="192" y="-1680"/>
              <a:ext cx="913" cy="1099"/>
            </a:xfrm>
            <a:prstGeom prst="rect">
              <a:avLst/>
            </a:prstGeom>
            <a:noFill/>
            <a:ln w="28575">
              <a:solidFill>
                <a:srgbClr val="006600"/>
              </a:solidFill>
              <a:prstDash val="dash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pattFill prst="divot">
                    <a:fgClr>
                      <a:srgbClr val="66FF66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05" name="Text Box 17" descr="新闻纸"/>
            <p:cNvSpPr txBox="1">
              <a:spLocks noChangeArrowheads="1"/>
            </p:cNvSpPr>
            <p:nvPr/>
          </p:nvSpPr>
          <p:spPr bwMode="auto">
            <a:xfrm>
              <a:off x="231" y="-946"/>
              <a:ext cx="9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2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R="0" algn="ctr" defTabSz="914400" rtl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b="1" kern="1200" cap="none" spc="0" normalizeH="0" baseline="0" noProof="0" smtClean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信号源</a:t>
              </a:r>
              <a:endParaRPr kumimoji="1" lang="zh-CN" altLang="en-US" sz="2800" b="1" kern="1200" cap="none" spc="0" normalizeH="0" baseline="0" noProof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07" name="Text Box 19" descr="新闻纸"/>
            <p:cNvSpPr txBox="1">
              <a:spLocks noChangeArrowheads="1"/>
            </p:cNvSpPr>
            <p:nvPr/>
          </p:nvSpPr>
          <p:spPr bwMode="auto">
            <a:xfrm>
              <a:off x="1441" y="-1441"/>
              <a:ext cx="1233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2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R="0" algn="ctr" defTabSz="914400" rtl="0">
                <a:buClrTx/>
                <a:buSzTx/>
                <a:buFontTx/>
                <a:buNone/>
                <a:defRPr/>
              </a:pPr>
              <a:r>
                <a:rPr kumimoji="1" lang="en-US" altLang="zh-CN" sz="2800" b="1" i="1" kern="1200" cap="none" spc="0" normalizeH="0" baseline="0" noProof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1" lang="en-US" altLang="zh-CN" sz="2800" b="1" i="1" kern="1200" cap="none" spc="0" normalizeH="0" baseline="-25000" noProof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endParaRPr kumimoji="1" lang="en-US" altLang="zh-CN" sz="2800" b="1" i="1" kern="1200" cap="none" spc="0" normalizeH="0" baseline="-2500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R="0" algn="ctr" defTabSz="914400" rtl="0">
                <a:buClrTx/>
                <a:buSzTx/>
                <a:buFontTx/>
                <a:buNone/>
                <a:defRPr/>
              </a:pPr>
              <a:r>
                <a:rPr kumimoji="1" lang="zh-CN" altLang="en-US" sz="2800" b="1" kern="1200" cap="none" spc="0" normalizeH="0" baseline="0" noProof="0" smtClean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放大电路</a:t>
              </a:r>
              <a:endParaRPr kumimoji="1" lang="zh-CN" altLang="en-US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08" name="Rectangle 20" descr="新闻纸"/>
            <p:cNvSpPr>
              <a:spLocks noChangeArrowheads="1"/>
            </p:cNvSpPr>
            <p:nvPr/>
          </p:nvSpPr>
          <p:spPr bwMode="auto">
            <a:xfrm>
              <a:off x="1552" y="-1423"/>
              <a:ext cx="1000" cy="571"/>
            </a:xfrm>
            <a:prstGeom prst="rect">
              <a:avLst/>
            </a:prstGeom>
            <a:noFill/>
            <a:ln w="38100">
              <a:solidFill>
                <a:srgbClr val="0066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2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09" name="Rectangle 21"/>
            <p:cNvSpPr>
              <a:spLocks noChangeArrowheads="1"/>
            </p:cNvSpPr>
            <p:nvPr/>
          </p:nvSpPr>
          <p:spPr bwMode="auto">
            <a:xfrm>
              <a:off x="730" y="-1382"/>
              <a:ext cx="239" cy="8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10" name="Oval 22" descr="新闻纸"/>
            <p:cNvSpPr>
              <a:spLocks noChangeArrowheads="1"/>
            </p:cNvSpPr>
            <p:nvPr/>
          </p:nvSpPr>
          <p:spPr bwMode="auto">
            <a:xfrm>
              <a:off x="413" y="-1218"/>
              <a:ext cx="188" cy="19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2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5617" name="Object 24"/>
            <p:cNvGraphicFramePr>
              <a:graphicFrameLocks noChangeAspect="1"/>
            </p:cNvGraphicFramePr>
            <p:nvPr/>
          </p:nvGraphicFramePr>
          <p:xfrm>
            <a:off x="736" y="-1655"/>
            <a:ext cx="24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3" imgW="203200" imgH="228600" progId="Equation.3">
                    <p:embed/>
                  </p:oleObj>
                </mc:Choice>
                <mc:Fallback>
                  <p:oleObj name="" r:id="rId3" imgW="203200" imgH="2286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36" y="-1655"/>
                          <a:ext cx="248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113" name="Line 25"/>
            <p:cNvSpPr>
              <a:spLocks noChangeShapeType="1"/>
            </p:cNvSpPr>
            <p:nvPr/>
          </p:nvSpPr>
          <p:spPr bwMode="auto">
            <a:xfrm>
              <a:off x="1192" y="-1402"/>
              <a:ext cx="24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16" name="Text Box 28" descr="新闻纸"/>
            <p:cNvSpPr txBox="1">
              <a:spLocks noChangeArrowheads="1"/>
            </p:cNvSpPr>
            <p:nvPr/>
          </p:nvSpPr>
          <p:spPr bwMode="auto">
            <a:xfrm>
              <a:off x="1221" y="-1433"/>
              <a:ext cx="28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2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R="0" algn="ctr" defTabSz="914400" rtl="0">
                <a:spcBef>
                  <a:spcPct val="6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b="1" kern="1200" cap="none" spc="0" normalizeH="0" baseline="0" noProof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+-</a:t>
              </a:r>
              <a:endParaRPr kumimoji="1" lang="en-US" altLang="zh-CN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17" name="Line 29"/>
            <p:cNvSpPr>
              <a:spLocks noChangeShapeType="1"/>
            </p:cNvSpPr>
            <p:nvPr/>
          </p:nvSpPr>
          <p:spPr bwMode="auto">
            <a:xfrm>
              <a:off x="496" y="-1341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18" name="Line 30"/>
            <p:cNvSpPr>
              <a:spLocks noChangeShapeType="1"/>
            </p:cNvSpPr>
            <p:nvPr/>
          </p:nvSpPr>
          <p:spPr bwMode="auto">
            <a:xfrm>
              <a:off x="496" y="-1346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19" name="Line 31"/>
            <p:cNvSpPr>
              <a:spLocks noChangeShapeType="1"/>
            </p:cNvSpPr>
            <p:nvPr/>
          </p:nvSpPr>
          <p:spPr bwMode="auto">
            <a:xfrm>
              <a:off x="496" y="-910"/>
              <a:ext cx="10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20" name="Line 32"/>
            <p:cNvSpPr>
              <a:spLocks noChangeShapeType="1"/>
            </p:cNvSpPr>
            <p:nvPr/>
          </p:nvSpPr>
          <p:spPr bwMode="auto">
            <a:xfrm>
              <a:off x="976" y="-134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5624" name="Object 60"/>
            <p:cNvGraphicFramePr>
              <a:graphicFrameLocks noChangeAspect="1"/>
            </p:cNvGraphicFramePr>
            <p:nvPr/>
          </p:nvGraphicFramePr>
          <p:xfrm>
            <a:off x="192" y="-1248"/>
            <a:ext cx="210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2" name="" r:id="rId5" imgW="333375" imgH="447675" progId="Paint.Picture">
                    <p:embed/>
                  </p:oleObj>
                </mc:Choice>
                <mc:Fallback>
                  <p:oleObj name="" r:id="rId5" imgW="333375" imgH="447675" progId="Paint.Picture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2" y="-1248"/>
                          <a:ext cx="210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5" name="Object 61"/>
            <p:cNvGraphicFramePr>
              <a:graphicFrameLocks noChangeAspect="1"/>
            </p:cNvGraphicFramePr>
            <p:nvPr/>
          </p:nvGraphicFramePr>
          <p:xfrm>
            <a:off x="1248" y="-1728"/>
            <a:ext cx="150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3" name="" r:id="rId7" imgW="238125" imgH="504825" progId="Paint.Picture">
                    <p:embed/>
                  </p:oleObj>
                </mc:Choice>
                <mc:Fallback>
                  <p:oleObj name="" r:id="rId7" imgW="238125" imgH="504825" progId="Paint.Picture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48" y="-1728"/>
                          <a:ext cx="150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6" name="Object 62"/>
            <p:cNvGraphicFramePr>
              <a:graphicFrameLocks noChangeAspect="1"/>
            </p:cNvGraphicFramePr>
            <p:nvPr/>
          </p:nvGraphicFramePr>
          <p:xfrm>
            <a:off x="1152" y="-1248"/>
            <a:ext cx="174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9" imgW="276225" imgH="428625" progId="Paint.Picture">
                    <p:embed/>
                  </p:oleObj>
                </mc:Choice>
                <mc:Fallback>
                  <p:oleObj name="" r:id="rId9" imgW="276225" imgH="428625" progId="Paint.Picture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52" y="-1248"/>
                          <a:ext cx="174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9155" name="Group 67"/>
          <p:cNvGrpSpPr/>
          <p:nvPr/>
        </p:nvGrpSpPr>
        <p:grpSpPr>
          <a:xfrm>
            <a:off x="4495800" y="3276600"/>
            <a:ext cx="4092575" cy="1873250"/>
            <a:chOff x="2976" y="-1872"/>
            <a:chExt cx="2578" cy="1180"/>
          </a:xfrm>
        </p:grpSpPr>
        <p:sp>
          <p:nvSpPr>
            <p:cNvPr id="89122" name="Text Box 34"/>
            <p:cNvSpPr txBox="1">
              <a:spLocks noChangeArrowheads="1"/>
            </p:cNvSpPr>
            <p:nvPr/>
          </p:nvSpPr>
          <p:spPr bwMode="auto">
            <a:xfrm>
              <a:off x="4899" y="-1530"/>
              <a:ext cx="625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R="0" algn="ctr" defTabSz="914400" rtl="0">
                <a:spcBef>
                  <a:spcPct val="1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b="1" kern="1200" cap="none" spc="0" normalizeH="0" baseline="0" noProof="0" smtClean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放大电路</a:t>
              </a:r>
              <a:endParaRPr kumimoji="1" lang="zh-CN" altLang="en-US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23" name="Rectangle 35"/>
            <p:cNvSpPr>
              <a:spLocks noChangeArrowheads="1"/>
            </p:cNvSpPr>
            <p:nvPr/>
          </p:nvSpPr>
          <p:spPr bwMode="auto">
            <a:xfrm>
              <a:off x="4414" y="-1561"/>
              <a:ext cx="1140" cy="672"/>
            </a:xfrm>
            <a:prstGeom prst="rect">
              <a:avLst/>
            </a:prstGeom>
            <a:noFill/>
            <a:ln w="38100">
              <a:solidFill>
                <a:srgbClr val="0066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24" name="Rectangle 36"/>
            <p:cNvSpPr>
              <a:spLocks noChangeArrowheads="1"/>
            </p:cNvSpPr>
            <p:nvPr/>
          </p:nvSpPr>
          <p:spPr bwMode="auto">
            <a:xfrm rot="5400000">
              <a:off x="4539" y="-1281"/>
              <a:ext cx="263" cy="1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26" name="Rectangle 38" descr="草皮"/>
            <p:cNvSpPr>
              <a:spLocks noChangeArrowheads="1"/>
            </p:cNvSpPr>
            <p:nvPr/>
          </p:nvSpPr>
          <p:spPr bwMode="auto">
            <a:xfrm>
              <a:off x="3054" y="-1791"/>
              <a:ext cx="913" cy="1099"/>
            </a:xfrm>
            <a:prstGeom prst="rect">
              <a:avLst/>
            </a:prstGeom>
            <a:noFill/>
            <a:ln w="28575">
              <a:solidFill>
                <a:srgbClr val="006600"/>
              </a:solidFill>
              <a:prstDash val="dash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pattFill prst="divot">
                    <a:fgClr>
                      <a:srgbClr val="66FF66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27" name="Text Box 39" descr="新闻纸"/>
            <p:cNvSpPr txBox="1">
              <a:spLocks noChangeArrowheads="1"/>
            </p:cNvSpPr>
            <p:nvPr/>
          </p:nvSpPr>
          <p:spPr bwMode="auto">
            <a:xfrm>
              <a:off x="3093" y="-1057"/>
              <a:ext cx="9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2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R="0" algn="ctr" defTabSz="914400" rtl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zh-CN" altLang="en-US" sz="2800" b="1" kern="1200" cap="none" spc="0" normalizeH="0" baseline="0" noProof="0" smtClean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信号源</a:t>
              </a:r>
              <a:endParaRPr kumimoji="1" lang="zh-CN" altLang="en-US" sz="2800" b="1" kern="1200" cap="none" spc="0" normalizeH="0" baseline="0" noProof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28" name="Rectangle 40"/>
            <p:cNvSpPr>
              <a:spLocks noChangeArrowheads="1"/>
            </p:cNvSpPr>
            <p:nvPr/>
          </p:nvSpPr>
          <p:spPr bwMode="auto">
            <a:xfrm>
              <a:off x="3592" y="-1493"/>
              <a:ext cx="239" cy="8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29" name="Oval 41" descr="新闻纸"/>
            <p:cNvSpPr>
              <a:spLocks noChangeArrowheads="1"/>
            </p:cNvSpPr>
            <p:nvPr/>
          </p:nvSpPr>
          <p:spPr bwMode="auto">
            <a:xfrm>
              <a:off x="3275" y="-1329"/>
              <a:ext cx="188" cy="192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2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5636" name="Object 43"/>
            <p:cNvGraphicFramePr>
              <a:graphicFrameLocks noChangeAspect="1"/>
            </p:cNvGraphicFramePr>
            <p:nvPr/>
          </p:nvGraphicFramePr>
          <p:xfrm>
            <a:off x="3549" y="-1766"/>
            <a:ext cx="24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11" imgW="203200" imgH="228600" progId="Equation.3">
                    <p:embed/>
                  </p:oleObj>
                </mc:Choice>
                <mc:Fallback>
                  <p:oleObj name="" r:id="rId11" imgW="203200" imgH="228600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49" y="-1766"/>
                          <a:ext cx="248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9132" name="Line 44"/>
            <p:cNvSpPr>
              <a:spLocks noChangeShapeType="1"/>
            </p:cNvSpPr>
            <p:nvPr/>
          </p:nvSpPr>
          <p:spPr bwMode="auto">
            <a:xfrm>
              <a:off x="4054" y="-1513"/>
              <a:ext cx="24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35" name="Text Box 47" descr="新闻纸"/>
            <p:cNvSpPr txBox="1">
              <a:spLocks noChangeArrowheads="1"/>
            </p:cNvSpPr>
            <p:nvPr/>
          </p:nvSpPr>
          <p:spPr bwMode="auto">
            <a:xfrm>
              <a:off x="4083" y="-1544"/>
              <a:ext cx="28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2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R="0" algn="ctr" defTabSz="914400" rtl="0">
                <a:spcBef>
                  <a:spcPct val="6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b="1" kern="1200" cap="none" spc="0" normalizeH="0" baseline="0" noProof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+-</a:t>
              </a:r>
              <a:endParaRPr kumimoji="1" lang="en-US" altLang="zh-CN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36" name="Line 48"/>
            <p:cNvSpPr>
              <a:spLocks noChangeShapeType="1"/>
            </p:cNvSpPr>
            <p:nvPr/>
          </p:nvSpPr>
          <p:spPr bwMode="auto">
            <a:xfrm>
              <a:off x="3358" y="-1452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37" name="Line 49"/>
            <p:cNvSpPr>
              <a:spLocks noChangeShapeType="1"/>
            </p:cNvSpPr>
            <p:nvPr/>
          </p:nvSpPr>
          <p:spPr bwMode="auto">
            <a:xfrm>
              <a:off x="3358" y="-1457"/>
              <a:ext cx="0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38" name="Line 50"/>
            <p:cNvSpPr>
              <a:spLocks noChangeShapeType="1"/>
            </p:cNvSpPr>
            <p:nvPr/>
          </p:nvSpPr>
          <p:spPr bwMode="auto">
            <a:xfrm>
              <a:off x="3333" y="-1023"/>
              <a:ext cx="13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39" name="Line 51"/>
            <p:cNvSpPr>
              <a:spLocks noChangeShapeType="1"/>
            </p:cNvSpPr>
            <p:nvPr/>
          </p:nvSpPr>
          <p:spPr bwMode="auto">
            <a:xfrm>
              <a:off x="3838" y="-1457"/>
              <a:ext cx="84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40" name="Line 52"/>
            <p:cNvSpPr>
              <a:spLocks noChangeShapeType="1"/>
            </p:cNvSpPr>
            <p:nvPr/>
          </p:nvSpPr>
          <p:spPr bwMode="auto">
            <a:xfrm>
              <a:off x="4675" y="-1455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41" name="Line 53"/>
            <p:cNvSpPr>
              <a:spLocks noChangeShapeType="1"/>
            </p:cNvSpPr>
            <p:nvPr/>
          </p:nvSpPr>
          <p:spPr bwMode="auto">
            <a:xfrm>
              <a:off x="4675" y="-1113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146" name="Text Box 58" descr="新闻纸"/>
            <p:cNvSpPr txBox="1">
              <a:spLocks noChangeArrowheads="1"/>
            </p:cNvSpPr>
            <p:nvPr/>
          </p:nvSpPr>
          <p:spPr bwMode="auto">
            <a:xfrm>
              <a:off x="3117" y="-1551"/>
              <a:ext cx="28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2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R="0" algn="ctr" defTabSz="914400" rtl="0">
                <a:spcBef>
                  <a:spcPct val="6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b="1" kern="1200" cap="none" spc="0" normalizeH="0" baseline="0" noProof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+-</a:t>
              </a:r>
              <a:endParaRPr kumimoji="1" lang="en-US" altLang="zh-CN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5646" name="Object 64"/>
            <p:cNvGraphicFramePr>
              <a:graphicFrameLocks noChangeAspect="1"/>
            </p:cNvGraphicFramePr>
            <p:nvPr/>
          </p:nvGraphicFramePr>
          <p:xfrm>
            <a:off x="3984" y="-1368"/>
            <a:ext cx="174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" name="" r:id="rId12" imgW="276225" imgH="428625" progId="Paint.Picture">
                    <p:embed/>
                  </p:oleObj>
                </mc:Choice>
                <mc:Fallback>
                  <p:oleObj name="" r:id="rId12" imgW="276225" imgH="428625" progId="Paint.Picture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984" y="-1368"/>
                          <a:ext cx="174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7" name="Object 65"/>
            <p:cNvGraphicFramePr>
              <a:graphicFrameLocks noChangeAspect="1"/>
            </p:cNvGraphicFramePr>
            <p:nvPr/>
          </p:nvGraphicFramePr>
          <p:xfrm>
            <a:off x="2976" y="-1392"/>
            <a:ext cx="210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" name="" r:id="rId13" imgW="333375" imgH="466725" progId="Paint.Picture">
                    <p:embed/>
                  </p:oleObj>
                </mc:Choice>
                <mc:Fallback>
                  <p:oleObj name="" r:id="rId13" imgW="333375" imgH="466725" progId="Paint.Picture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976" y="-1392"/>
                          <a:ext cx="210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8" name="Object 66"/>
            <p:cNvGraphicFramePr>
              <a:graphicFrameLocks noChangeAspect="1"/>
            </p:cNvGraphicFramePr>
            <p:nvPr/>
          </p:nvGraphicFramePr>
          <p:xfrm>
            <a:off x="4080" y="-1872"/>
            <a:ext cx="168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8" name="" r:id="rId15" imgW="266700" imgH="504825" progId="Paint.Picture">
                    <p:embed/>
                  </p:oleObj>
                </mc:Choice>
                <mc:Fallback>
                  <p:oleObj name="" r:id="rId15" imgW="266700" imgH="504825" progId="Paint.Picture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080" y="-1872"/>
                          <a:ext cx="168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9169" name="Object 81"/>
          <p:cNvGraphicFramePr>
            <a:graphicFrameLocks noChangeAspect="1"/>
          </p:cNvGraphicFramePr>
          <p:nvPr/>
        </p:nvGraphicFramePr>
        <p:xfrm>
          <a:off x="1352550" y="4152900"/>
          <a:ext cx="292417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7" imgW="2924175" imgH="1133475" progId="Paint.Picture">
                  <p:embed/>
                </p:oleObj>
              </mc:Choice>
              <mc:Fallback>
                <p:oleObj name="" r:id="rId17" imgW="2924175" imgH="1133475" progId="Paint.Picture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52550" y="4152900"/>
                        <a:ext cx="2924175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7328535" y="3943350"/>
          <a:ext cx="496570" cy="627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9" imgW="332105" imgH="498475" progId="Equation.KSEE3">
                  <p:embed/>
                </p:oleObj>
              </mc:Choice>
              <mc:Fallback>
                <p:oleObj name="" r:id="rId19" imgW="332105" imgH="498475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328535" y="3943350"/>
                        <a:ext cx="496570" cy="627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9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9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9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9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9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9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9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9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9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9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9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bldLvl="0" animBg="1"/>
      <p:bldP spid="89091" grpId="0" bldLvl="0" animBg="1"/>
      <p:bldP spid="89092" grpId="0"/>
      <p:bldP spid="89093" grpId="0"/>
      <p:bldP spid="89097" grpId="0" animBg="1"/>
      <p:bldP spid="891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6625" name="Object 2"/>
          <p:cNvGraphicFramePr>
            <a:graphicFrameLocks noChangeAspect="1"/>
          </p:cNvGraphicFramePr>
          <p:nvPr/>
        </p:nvGraphicFramePr>
        <p:xfrm>
          <a:off x="5589588" y="614363"/>
          <a:ext cx="1231900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" imgW="647700" imgH="609600" progId="Equation.3">
                  <p:embed/>
                </p:oleObj>
              </mc:Choice>
              <mc:Fallback>
                <p:oleObj name="" r:id="rId1" imgW="647700" imgH="6096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89588" y="614363"/>
                        <a:ext cx="1231900" cy="1169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6" name="Object 4"/>
          <p:cNvGraphicFramePr>
            <a:graphicFrameLocks noChangeAspect="1"/>
          </p:cNvGraphicFramePr>
          <p:nvPr/>
        </p:nvGraphicFramePr>
        <p:xfrm>
          <a:off x="5562600" y="2114550"/>
          <a:ext cx="226218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3" imgW="1257300" imgH="304800" progId="Equation.3">
                  <p:embed/>
                </p:oleObj>
              </mc:Choice>
              <mc:Fallback>
                <p:oleObj name="" r:id="rId3" imgW="1257300" imgH="3048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62600" y="2114550"/>
                        <a:ext cx="2262188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7" name="Rectangle 5" descr="新闻纸"/>
          <p:cNvSpPr>
            <a:spLocks noChangeArrowheads="1"/>
          </p:cNvSpPr>
          <p:nvPr/>
        </p:nvSpPr>
        <p:spPr bwMode="auto">
          <a:xfrm>
            <a:off x="1771650" y="414338"/>
            <a:ext cx="3421063" cy="2338388"/>
          </a:xfrm>
          <a:prstGeom prst="rect">
            <a:avLst/>
          </a:prstGeom>
          <a:noFill/>
          <a:ln w="38100">
            <a:solidFill>
              <a:srgbClr val="0066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5"/>
                  <a:srcRect/>
                  <a:tile tx="0" ty="0" sx="100000" sy="100000" flip="none" algn="tl"/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80" name="Rectangle 68" descr="新闻纸"/>
          <p:cNvSpPr>
            <a:spLocks noChangeArrowheads="1"/>
          </p:cNvSpPr>
          <p:nvPr/>
        </p:nvSpPr>
        <p:spPr bwMode="auto">
          <a:xfrm>
            <a:off x="1778000" y="3074988"/>
            <a:ext cx="3421063" cy="3019425"/>
          </a:xfrm>
          <a:prstGeom prst="rect">
            <a:avLst/>
          </a:prstGeom>
          <a:noFill/>
          <a:ln w="38100">
            <a:solidFill>
              <a:srgbClr val="0066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5"/>
                  <a:srcRect/>
                  <a:tile tx="0" ty="0" sx="100000" sy="100000" flip="none" algn="tl"/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0382" name="Group 270"/>
          <p:cNvGrpSpPr/>
          <p:nvPr/>
        </p:nvGrpSpPr>
        <p:grpSpPr>
          <a:xfrm>
            <a:off x="141288" y="2895600"/>
            <a:ext cx="5040312" cy="3063875"/>
            <a:chOff x="96" y="1824"/>
            <a:chExt cx="3175" cy="1930"/>
          </a:xfrm>
        </p:grpSpPr>
        <p:grpSp>
          <p:nvGrpSpPr>
            <p:cNvPr id="26637" name="Group 269"/>
            <p:cNvGrpSpPr/>
            <p:nvPr/>
          </p:nvGrpSpPr>
          <p:grpSpPr>
            <a:xfrm>
              <a:off x="363" y="1824"/>
              <a:ext cx="2908" cy="1930"/>
              <a:chOff x="363" y="1824"/>
              <a:chExt cx="2908" cy="1930"/>
            </a:xfrm>
          </p:grpSpPr>
          <p:sp>
            <p:nvSpPr>
              <p:cNvPr id="90319" name="Line 207"/>
              <p:cNvSpPr>
                <a:spLocks noChangeShapeType="1"/>
              </p:cNvSpPr>
              <p:nvPr/>
            </p:nvSpPr>
            <p:spPr bwMode="auto">
              <a:xfrm flipV="1">
                <a:off x="738" y="3639"/>
                <a:ext cx="22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20" name="Line 208"/>
              <p:cNvSpPr>
                <a:spLocks noChangeShapeType="1"/>
              </p:cNvSpPr>
              <p:nvPr/>
            </p:nvSpPr>
            <p:spPr bwMode="auto">
              <a:xfrm flipH="1" flipV="1">
                <a:off x="2168" y="2179"/>
                <a:ext cx="0" cy="27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21" name="Line 209"/>
              <p:cNvSpPr>
                <a:spLocks noChangeShapeType="1"/>
              </p:cNvSpPr>
              <p:nvPr/>
            </p:nvSpPr>
            <p:spPr bwMode="auto">
              <a:xfrm flipV="1">
                <a:off x="738" y="2196"/>
                <a:ext cx="89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6641" name="Group 210"/>
              <p:cNvGrpSpPr/>
              <p:nvPr/>
            </p:nvGrpSpPr>
            <p:grpSpPr>
              <a:xfrm>
                <a:off x="2065" y="2439"/>
                <a:ext cx="206" cy="290"/>
                <a:chOff x="4164" y="1968"/>
                <a:chExt cx="264" cy="420"/>
              </a:xfrm>
            </p:grpSpPr>
            <p:sp>
              <p:nvSpPr>
                <p:cNvPr id="90323" name="AutoShape 211"/>
                <p:cNvSpPr>
                  <a:spLocks noChangeArrowheads="1"/>
                </p:cNvSpPr>
                <p:nvPr/>
              </p:nvSpPr>
              <p:spPr bwMode="auto">
                <a:xfrm>
                  <a:off x="4164" y="1968"/>
                  <a:ext cx="264" cy="420"/>
                </a:xfrm>
                <a:prstGeom prst="diamond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66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0324" name="Line 212"/>
                <p:cNvSpPr>
                  <a:spLocks noChangeShapeType="1"/>
                </p:cNvSpPr>
                <p:nvPr/>
              </p:nvSpPr>
              <p:spPr bwMode="auto">
                <a:xfrm>
                  <a:off x="4176" y="2184"/>
                  <a:ext cx="25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90325" name="Line 213"/>
              <p:cNvSpPr>
                <a:spLocks noChangeShapeType="1"/>
              </p:cNvSpPr>
              <p:nvPr/>
            </p:nvSpPr>
            <p:spPr bwMode="auto">
              <a:xfrm flipV="1">
                <a:off x="1625" y="2179"/>
                <a:ext cx="0" cy="29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26" name="Rectangle 214"/>
              <p:cNvSpPr>
                <a:spLocks noChangeArrowheads="1"/>
              </p:cNvSpPr>
              <p:nvPr/>
            </p:nvSpPr>
            <p:spPr bwMode="auto">
              <a:xfrm>
                <a:off x="1577" y="2472"/>
                <a:ext cx="91" cy="2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27" name="Line 215"/>
              <p:cNvSpPr>
                <a:spLocks noChangeShapeType="1"/>
              </p:cNvSpPr>
              <p:nvPr/>
            </p:nvSpPr>
            <p:spPr bwMode="auto">
              <a:xfrm>
                <a:off x="2153" y="2167"/>
                <a:ext cx="86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28" name="Line 216"/>
              <p:cNvSpPr>
                <a:spLocks noChangeShapeType="1"/>
              </p:cNvSpPr>
              <p:nvPr/>
            </p:nvSpPr>
            <p:spPr bwMode="auto">
              <a:xfrm flipV="1">
                <a:off x="2614" y="2179"/>
                <a:ext cx="0" cy="5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29" name="Rectangle 217"/>
              <p:cNvSpPr>
                <a:spLocks noChangeArrowheads="1"/>
              </p:cNvSpPr>
              <p:nvPr/>
            </p:nvSpPr>
            <p:spPr bwMode="auto">
              <a:xfrm>
                <a:off x="2566" y="2769"/>
                <a:ext cx="91" cy="2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49" name="Text Box 218"/>
              <p:cNvSpPr txBox="1"/>
              <p:nvPr/>
            </p:nvSpPr>
            <p:spPr>
              <a:xfrm>
                <a:off x="1586" y="2433"/>
                <a:ext cx="439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  <a:ea typeface="楷体_GB2312" pitchFamily="49" charset="-122"/>
                  </a:rPr>
                  <a:t>r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楷体_GB2312" pitchFamily="49" charset="-122"/>
                  </a:rPr>
                  <a:t>be</a:t>
                </a:r>
                <a:endPara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0331" name="Line 219"/>
              <p:cNvSpPr>
                <a:spLocks noChangeShapeType="1"/>
              </p:cNvSpPr>
              <p:nvPr/>
            </p:nvSpPr>
            <p:spPr bwMode="auto">
              <a:xfrm>
                <a:off x="2014" y="2472"/>
                <a:ext cx="0" cy="281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32" name="Line 220"/>
              <p:cNvSpPr>
                <a:spLocks noChangeShapeType="1"/>
              </p:cNvSpPr>
              <p:nvPr/>
            </p:nvSpPr>
            <p:spPr bwMode="auto">
              <a:xfrm flipV="1">
                <a:off x="1340" y="2129"/>
                <a:ext cx="27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52" name="Text Box 221"/>
              <p:cNvSpPr txBox="1"/>
              <p:nvPr/>
            </p:nvSpPr>
            <p:spPr>
              <a:xfrm>
                <a:off x="2230" y="2585"/>
                <a:ext cx="63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>
                  <a:spcBef>
                    <a:spcPct val="50000"/>
                  </a:spcBef>
                </a:pPr>
                <a:endParaRPr lang="zh-CN" altLang="zh-CN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0334" name="Line 222"/>
              <p:cNvSpPr>
                <a:spLocks noChangeShapeType="1"/>
              </p:cNvSpPr>
              <p:nvPr/>
            </p:nvSpPr>
            <p:spPr bwMode="auto">
              <a:xfrm flipH="1">
                <a:off x="2125" y="2117"/>
                <a:ext cx="280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54" name="Text Box 223"/>
              <p:cNvSpPr txBox="1"/>
              <p:nvPr/>
            </p:nvSpPr>
            <p:spPr>
              <a:xfrm>
                <a:off x="1191" y="2774"/>
                <a:ext cx="466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 dirty="0">
                    <a:latin typeface="Times New Roman" panose="02020603050405020304" pitchFamily="18" charset="0"/>
                    <a:ea typeface="楷体_GB2312" pitchFamily="49" charset="-122"/>
                  </a:rPr>
                  <a:t>R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0336" name="Line 224"/>
              <p:cNvSpPr>
                <a:spLocks noChangeShapeType="1"/>
              </p:cNvSpPr>
              <p:nvPr/>
            </p:nvSpPr>
            <p:spPr bwMode="auto">
              <a:xfrm flipV="1">
                <a:off x="3008" y="2158"/>
                <a:ext cx="0" cy="5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37" name="Rectangle 225"/>
              <p:cNvSpPr>
                <a:spLocks noChangeArrowheads="1"/>
              </p:cNvSpPr>
              <p:nvPr/>
            </p:nvSpPr>
            <p:spPr bwMode="auto">
              <a:xfrm>
                <a:off x="2964" y="2748"/>
                <a:ext cx="91" cy="25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57" name="Text Box 226"/>
              <p:cNvSpPr txBox="1"/>
              <p:nvPr/>
            </p:nvSpPr>
            <p:spPr>
              <a:xfrm>
                <a:off x="2208" y="2729"/>
                <a:ext cx="45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 dirty="0">
                    <a:latin typeface="Times New Roman" panose="02020603050405020304" pitchFamily="18" charset="0"/>
                    <a:ea typeface="楷体_GB2312" pitchFamily="49" charset="-122"/>
                  </a:rPr>
                  <a:t>R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楷体_GB2312" pitchFamily="49" charset="-122"/>
                  </a:rPr>
                  <a:t>C</a:t>
                </a:r>
                <a:endPara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6658" name="Text Box 227"/>
              <p:cNvSpPr txBox="1"/>
              <p:nvPr/>
            </p:nvSpPr>
            <p:spPr>
              <a:xfrm>
                <a:off x="2586" y="2724"/>
                <a:ext cx="508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 dirty="0">
                    <a:latin typeface="Times New Roman" panose="02020603050405020304" pitchFamily="18" charset="0"/>
                    <a:ea typeface="楷体_GB2312" pitchFamily="49" charset="-122"/>
                  </a:rPr>
                  <a:t>R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楷体_GB2312" pitchFamily="49" charset="-122"/>
                  </a:rPr>
                  <a:t>L</a:t>
                </a:r>
                <a:endPara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6659" name="Text Box 228"/>
              <p:cNvSpPr txBox="1"/>
              <p:nvPr/>
            </p:nvSpPr>
            <p:spPr>
              <a:xfrm>
                <a:off x="1785" y="2670"/>
                <a:ext cx="22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  <a:endPara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6660" name="Text Box 229"/>
              <p:cNvSpPr txBox="1"/>
              <p:nvPr/>
            </p:nvSpPr>
            <p:spPr>
              <a:xfrm>
                <a:off x="1122" y="1945"/>
                <a:ext cx="22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6661" name="Text Box 230"/>
              <p:cNvSpPr txBox="1"/>
              <p:nvPr/>
            </p:nvSpPr>
            <p:spPr>
              <a:xfrm>
                <a:off x="2360" y="1921"/>
                <a:ext cx="223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C</a:t>
                </a:r>
                <a:endPara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0343" name="Line 231"/>
              <p:cNvSpPr>
                <a:spLocks noChangeShapeType="1"/>
              </p:cNvSpPr>
              <p:nvPr/>
            </p:nvSpPr>
            <p:spPr bwMode="auto">
              <a:xfrm flipV="1">
                <a:off x="1221" y="2187"/>
                <a:ext cx="0" cy="6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63" name="Text Box 232" descr="新闻纸"/>
              <p:cNvSpPr txBox="1"/>
              <p:nvPr/>
            </p:nvSpPr>
            <p:spPr>
              <a:xfrm>
                <a:off x="856" y="2162"/>
                <a:ext cx="299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  <a:endPara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6664" name="Text Box 233" descr="新闻纸"/>
              <p:cNvSpPr txBox="1"/>
              <p:nvPr/>
            </p:nvSpPr>
            <p:spPr>
              <a:xfrm>
                <a:off x="858" y="3392"/>
                <a:ext cx="299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-</a:t>
                </a:r>
                <a:endPara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90346" name="Rectangle 234"/>
              <p:cNvSpPr>
                <a:spLocks noChangeArrowheads="1"/>
              </p:cNvSpPr>
              <p:nvPr/>
            </p:nvSpPr>
            <p:spPr bwMode="auto">
              <a:xfrm>
                <a:off x="1185" y="2799"/>
                <a:ext cx="91" cy="2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66" name="Rectangle 235" descr="新闻纸"/>
              <p:cNvSpPr/>
              <p:nvPr/>
            </p:nvSpPr>
            <p:spPr>
              <a:xfrm>
                <a:off x="3059" y="2142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  <a:endPara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6667" name="Rectangle 236" descr="新闻纸"/>
              <p:cNvSpPr/>
              <p:nvPr/>
            </p:nvSpPr>
            <p:spPr>
              <a:xfrm>
                <a:off x="3059" y="3316"/>
                <a:ext cx="21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-</a:t>
                </a:r>
                <a:endPara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26668" name="Group 237"/>
              <p:cNvGrpSpPr/>
              <p:nvPr/>
            </p:nvGrpSpPr>
            <p:grpSpPr>
              <a:xfrm>
                <a:off x="1820" y="3635"/>
                <a:ext cx="160" cy="119"/>
                <a:chOff x="4069" y="2202"/>
                <a:chExt cx="160" cy="119"/>
              </a:xfrm>
            </p:grpSpPr>
            <p:sp>
              <p:nvSpPr>
                <p:cNvPr id="90350" name="Line 238"/>
                <p:cNvSpPr>
                  <a:spLocks noChangeShapeType="1"/>
                </p:cNvSpPr>
                <p:nvPr/>
              </p:nvSpPr>
              <p:spPr bwMode="auto">
                <a:xfrm>
                  <a:off x="4145" y="2202"/>
                  <a:ext cx="0" cy="11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0351" name="Line 239"/>
                <p:cNvSpPr>
                  <a:spLocks noChangeShapeType="1"/>
                </p:cNvSpPr>
                <p:nvPr/>
              </p:nvSpPr>
              <p:spPr bwMode="auto">
                <a:xfrm>
                  <a:off x="4069" y="2321"/>
                  <a:ext cx="16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90352" name="Line 240"/>
              <p:cNvSpPr>
                <a:spLocks noChangeShapeType="1"/>
              </p:cNvSpPr>
              <p:nvPr/>
            </p:nvSpPr>
            <p:spPr bwMode="auto">
              <a:xfrm flipH="1" flipV="1">
                <a:off x="3003" y="2990"/>
                <a:ext cx="0" cy="64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53" name="Line 241"/>
              <p:cNvSpPr>
                <a:spLocks noChangeShapeType="1"/>
              </p:cNvSpPr>
              <p:nvPr/>
            </p:nvSpPr>
            <p:spPr bwMode="auto">
              <a:xfrm flipV="1">
                <a:off x="2612" y="3029"/>
                <a:ext cx="0" cy="60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54" name="Line 242"/>
              <p:cNvSpPr>
                <a:spLocks noChangeShapeType="1"/>
              </p:cNvSpPr>
              <p:nvPr/>
            </p:nvSpPr>
            <p:spPr bwMode="auto">
              <a:xfrm flipH="1" flipV="1">
                <a:off x="1630" y="2740"/>
                <a:ext cx="1" cy="21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55" name="Line 243"/>
              <p:cNvSpPr>
                <a:spLocks noChangeShapeType="1"/>
              </p:cNvSpPr>
              <p:nvPr/>
            </p:nvSpPr>
            <p:spPr bwMode="auto">
              <a:xfrm flipH="1" flipV="1">
                <a:off x="1222" y="3050"/>
                <a:ext cx="1" cy="6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56" name="Line 244"/>
              <p:cNvSpPr>
                <a:spLocks noChangeShapeType="1"/>
              </p:cNvSpPr>
              <p:nvPr/>
            </p:nvSpPr>
            <p:spPr bwMode="auto">
              <a:xfrm flipH="1" flipV="1">
                <a:off x="2168" y="2695"/>
                <a:ext cx="0" cy="25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57" name="Line 245"/>
              <p:cNvSpPr>
                <a:spLocks noChangeShapeType="1"/>
              </p:cNvSpPr>
              <p:nvPr/>
            </p:nvSpPr>
            <p:spPr bwMode="auto">
              <a:xfrm flipH="1">
                <a:off x="741" y="2754"/>
                <a:ext cx="0" cy="891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58" name="Rectangle 246"/>
              <p:cNvSpPr>
                <a:spLocks noChangeArrowheads="1"/>
              </p:cNvSpPr>
              <p:nvPr/>
            </p:nvSpPr>
            <p:spPr bwMode="auto">
              <a:xfrm>
                <a:off x="704" y="2526"/>
                <a:ext cx="78" cy="23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59" name="Line 247"/>
              <p:cNvSpPr>
                <a:spLocks noChangeShapeType="1"/>
              </p:cNvSpPr>
              <p:nvPr/>
            </p:nvSpPr>
            <p:spPr bwMode="auto">
              <a:xfrm flipH="1">
                <a:off x="741" y="2211"/>
                <a:ext cx="0" cy="317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60" name="Oval 248"/>
              <p:cNvSpPr>
                <a:spLocks noChangeArrowheads="1"/>
              </p:cNvSpPr>
              <p:nvPr/>
            </p:nvSpPr>
            <p:spPr bwMode="auto">
              <a:xfrm>
                <a:off x="651" y="3091"/>
                <a:ext cx="192" cy="192"/>
              </a:xfrm>
              <a:prstGeom prst="ellipse">
                <a:avLst/>
              </a:prstGeom>
              <a:noFill/>
              <a:ln w="38100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80" name="Rectangle 249" descr="新闻纸"/>
              <p:cNvSpPr/>
              <p:nvPr/>
            </p:nvSpPr>
            <p:spPr>
              <a:xfrm>
                <a:off x="537" y="2858"/>
                <a:ext cx="228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  <a:endPara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6681" name="Rectangle 250"/>
              <p:cNvSpPr/>
              <p:nvPr/>
            </p:nvSpPr>
            <p:spPr>
              <a:xfrm>
                <a:off x="526" y="3164"/>
                <a:ext cx="23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pPr algn="ctr"/>
                <a:r>
                  <a:rPr lang="en-US" altLang="zh-CN" sz="28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-</a:t>
                </a:r>
                <a:endPara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6682" name="Text Box 251"/>
              <p:cNvSpPr txBox="1"/>
              <p:nvPr/>
            </p:nvSpPr>
            <p:spPr>
              <a:xfrm>
                <a:off x="363" y="2497"/>
                <a:ext cx="42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 dirty="0">
                    <a:latin typeface="Times New Roman" panose="02020603050405020304" pitchFamily="18" charset="0"/>
                    <a:ea typeface="楷体_GB2312" pitchFamily="49" charset="-122"/>
                  </a:rPr>
                  <a:t>R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楷体_GB2312" pitchFamily="49" charset="-122"/>
                  </a:rPr>
                  <a:t>S</a:t>
                </a:r>
                <a:endPara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0364" name="Oval 252"/>
              <p:cNvSpPr>
                <a:spLocks noChangeArrowheads="1"/>
              </p:cNvSpPr>
              <p:nvPr/>
            </p:nvSpPr>
            <p:spPr bwMode="auto">
              <a:xfrm>
                <a:off x="1864" y="3605"/>
                <a:ext cx="56" cy="5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2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26684" name="Object 253"/>
              <p:cNvGraphicFramePr>
                <a:graphicFrameLocks noChangeAspect="1"/>
              </p:cNvGraphicFramePr>
              <p:nvPr/>
            </p:nvGraphicFramePr>
            <p:xfrm>
              <a:off x="884" y="2772"/>
              <a:ext cx="181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3" name="" r:id="rId6" imgW="254000" imgH="304800" progId="Equation.3">
                      <p:embed/>
                    </p:oleObj>
                  </mc:Choice>
                  <mc:Fallback>
                    <p:oleObj name="" r:id="rId6" imgW="254000" imgH="304800" progId="Equation.3">
                      <p:embed/>
                      <p:pic>
                        <p:nvPicPr>
                          <p:cNvPr id="0" name="图片 3152"/>
                          <p:cNvPicPr/>
                          <p:nvPr/>
                        </p:nvPicPr>
                        <p:blipFill>
                          <a:blip r:embed="rId7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884" y="2772"/>
                            <a:ext cx="181" cy="28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85" name="Object 254"/>
              <p:cNvGraphicFramePr>
                <a:graphicFrameLocks noChangeAspect="1"/>
              </p:cNvGraphicFramePr>
              <p:nvPr/>
            </p:nvGraphicFramePr>
            <p:xfrm>
              <a:off x="759" y="1858"/>
              <a:ext cx="150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6" name="" r:id="rId8" imgW="203200" imgH="304800" progId="Equation.3">
                      <p:embed/>
                    </p:oleObj>
                  </mc:Choice>
                  <mc:Fallback>
                    <p:oleObj name="" r:id="rId8" imgW="203200" imgH="304800" progId="Equation.3">
                      <p:embed/>
                      <p:pic>
                        <p:nvPicPr>
                          <p:cNvPr id="0" name="图片 3155"/>
                          <p:cNvPicPr/>
                          <p:nvPr/>
                        </p:nvPicPr>
                        <p:blipFill>
                          <a:blip r:embed="rId9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759" y="1858"/>
                            <a:ext cx="150" cy="2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86" name="Object 255"/>
              <p:cNvGraphicFramePr>
                <a:graphicFrameLocks noChangeAspect="1"/>
              </p:cNvGraphicFramePr>
              <p:nvPr/>
            </p:nvGraphicFramePr>
            <p:xfrm>
              <a:off x="1361" y="1845"/>
              <a:ext cx="177" cy="3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0" name="" r:id="rId10" imgW="241300" imgH="317500" progId="Equation.3">
                      <p:embed/>
                    </p:oleObj>
                  </mc:Choice>
                  <mc:Fallback>
                    <p:oleObj name="" r:id="rId10" imgW="241300" imgH="317500" progId="Equation.3">
                      <p:embed/>
                      <p:pic>
                        <p:nvPicPr>
                          <p:cNvPr id="0" name="图片 3149"/>
                          <p:cNvPicPr/>
                          <p:nvPr/>
                        </p:nvPicPr>
                        <p:blipFill>
                          <a:blip r:embed="rId11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361" y="1845"/>
                            <a:ext cx="177" cy="31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87" name="Object 256"/>
              <p:cNvGraphicFramePr>
                <a:graphicFrameLocks noChangeAspect="1"/>
              </p:cNvGraphicFramePr>
              <p:nvPr/>
            </p:nvGraphicFramePr>
            <p:xfrm>
              <a:off x="2203" y="1824"/>
              <a:ext cx="161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2" name="" r:id="rId12" imgW="215900" imgH="317500" progId="Equation.3">
                      <p:embed/>
                    </p:oleObj>
                  </mc:Choice>
                  <mc:Fallback>
                    <p:oleObj name="" r:id="rId12" imgW="215900" imgH="317500" progId="Equation.3">
                      <p:embed/>
                      <p:pic>
                        <p:nvPicPr>
                          <p:cNvPr id="0" name="图片 3151"/>
                          <p:cNvPicPr/>
                          <p:nvPr/>
                        </p:nvPicPr>
                        <p:blipFill>
                          <a:blip r:embed="rId13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203" y="1824"/>
                            <a:ext cx="161" cy="30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88" name="Object 257"/>
              <p:cNvGraphicFramePr>
                <a:graphicFrameLocks noChangeAspect="1"/>
              </p:cNvGraphicFramePr>
              <p:nvPr/>
            </p:nvGraphicFramePr>
            <p:xfrm>
              <a:off x="3078" y="2756"/>
              <a:ext cx="181" cy="2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1" name="" r:id="rId14" imgW="266700" imgH="317500" progId="Equation.3">
                      <p:embed/>
                    </p:oleObj>
                  </mc:Choice>
                  <mc:Fallback>
                    <p:oleObj name="" r:id="rId14" imgW="266700" imgH="317500" progId="Equation.3">
                      <p:embed/>
                      <p:pic>
                        <p:nvPicPr>
                          <p:cNvPr id="0" name="图片 3150"/>
                          <p:cNvPicPr/>
                          <p:nvPr/>
                        </p:nvPicPr>
                        <p:blipFill>
                          <a:blip r:embed="rId15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078" y="2756"/>
                            <a:ext cx="181" cy="28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689" name="Object 258"/>
              <p:cNvGraphicFramePr>
                <a:graphicFrameLocks noChangeAspect="1"/>
              </p:cNvGraphicFramePr>
              <p:nvPr/>
            </p:nvGraphicFramePr>
            <p:xfrm>
              <a:off x="1847" y="2224"/>
              <a:ext cx="320" cy="3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4" name="" r:id="rId16" imgW="342900" imgH="317500" progId="Equation.3">
                      <p:embed/>
                    </p:oleObj>
                  </mc:Choice>
                  <mc:Fallback>
                    <p:oleObj name="" r:id="rId16" imgW="342900" imgH="317500" progId="Equation.3">
                      <p:embed/>
                      <p:pic>
                        <p:nvPicPr>
                          <p:cNvPr id="0" name="图片 3153"/>
                          <p:cNvPicPr/>
                          <p:nvPr/>
                        </p:nvPicPr>
                        <p:blipFill>
                          <a:blip r:embed="rId17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847" y="2224"/>
                            <a:ext cx="320" cy="31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0371" name="Line 259"/>
              <p:cNvSpPr>
                <a:spLocks noChangeShapeType="1"/>
              </p:cNvSpPr>
              <p:nvPr/>
            </p:nvSpPr>
            <p:spPr bwMode="auto">
              <a:xfrm flipV="1">
                <a:off x="736" y="2146"/>
                <a:ext cx="27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26691" name="Object 260"/>
              <p:cNvGraphicFramePr>
                <a:graphicFrameLocks noChangeAspect="1"/>
              </p:cNvGraphicFramePr>
              <p:nvPr/>
            </p:nvGraphicFramePr>
            <p:xfrm>
              <a:off x="425" y="3031"/>
              <a:ext cx="205" cy="2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5" name="" r:id="rId18" imgW="292100" imgH="317500" progId="Equation.3">
                      <p:embed/>
                    </p:oleObj>
                  </mc:Choice>
                  <mc:Fallback>
                    <p:oleObj name="" r:id="rId18" imgW="292100" imgH="317500" progId="Equation.3">
                      <p:embed/>
                      <p:pic>
                        <p:nvPicPr>
                          <p:cNvPr id="0" name="图片 3154"/>
                          <p:cNvPicPr/>
                          <p:nvPr/>
                        </p:nvPicPr>
                        <p:blipFill>
                          <a:blip r:embed="rId19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25" y="3031"/>
                            <a:ext cx="205" cy="29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0373" name="Line 261"/>
              <p:cNvSpPr>
                <a:spLocks noChangeShapeType="1"/>
              </p:cNvSpPr>
              <p:nvPr/>
            </p:nvSpPr>
            <p:spPr bwMode="auto">
              <a:xfrm>
                <a:off x="1630" y="2934"/>
                <a:ext cx="54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74" name="Rectangle 262"/>
              <p:cNvSpPr>
                <a:spLocks noChangeArrowheads="1"/>
              </p:cNvSpPr>
              <p:nvPr/>
            </p:nvSpPr>
            <p:spPr bwMode="auto">
              <a:xfrm>
                <a:off x="1854" y="3165"/>
                <a:ext cx="91" cy="2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75" name="Line 263"/>
              <p:cNvSpPr>
                <a:spLocks noChangeShapeType="1"/>
              </p:cNvSpPr>
              <p:nvPr/>
            </p:nvSpPr>
            <p:spPr bwMode="auto">
              <a:xfrm>
                <a:off x="1900" y="2929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76" name="Line 264"/>
              <p:cNvSpPr>
                <a:spLocks noChangeShapeType="1"/>
              </p:cNvSpPr>
              <p:nvPr/>
            </p:nvSpPr>
            <p:spPr bwMode="auto">
              <a:xfrm>
                <a:off x="1895" y="3415"/>
                <a:ext cx="0" cy="21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77" name="Line 265"/>
              <p:cNvSpPr>
                <a:spLocks noChangeShapeType="1"/>
              </p:cNvSpPr>
              <p:nvPr/>
            </p:nvSpPr>
            <p:spPr bwMode="auto">
              <a:xfrm>
                <a:off x="2019" y="3155"/>
                <a:ext cx="0" cy="281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26697" name="Object 266"/>
              <p:cNvGraphicFramePr>
                <a:graphicFrameLocks noChangeAspect="1"/>
              </p:cNvGraphicFramePr>
              <p:nvPr/>
            </p:nvGraphicFramePr>
            <p:xfrm>
              <a:off x="2040" y="3138"/>
              <a:ext cx="164" cy="3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7" name="" r:id="rId20" imgW="215900" imgH="317500" progId="Equation.3">
                      <p:embed/>
                    </p:oleObj>
                  </mc:Choice>
                  <mc:Fallback>
                    <p:oleObj name="" r:id="rId20" imgW="215900" imgH="317500" progId="Equation.3">
                      <p:embed/>
                      <p:pic>
                        <p:nvPicPr>
                          <p:cNvPr id="0" name="图片 3156"/>
                          <p:cNvPicPr/>
                          <p:nvPr/>
                        </p:nvPicPr>
                        <p:blipFill>
                          <a:blip r:embed="rId21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040" y="3138"/>
                            <a:ext cx="164" cy="31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98" name="Text Box 267"/>
              <p:cNvSpPr txBox="1"/>
              <p:nvPr/>
            </p:nvSpPr>
            <p:spPr>
              <a:xfrm>
                <a:off x="1490" y="3161"/>
                <a:ext cx="466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 dirty="0">
                    <a:latin typeface="Times New Roman" panose="02020603050405020304" pitchFamily="18" charset="0"/>
                    <a:ea typeface="楷体_GB2312" pitchFamily="49" charset="-122"/>
                  </a:rPr>
                  <a:t>R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楷体_GB2312" pitchFamily="49" charset="-122"/>
                  </a:rPr>
                  <a:t>E</a:t>
                </a:r>
                <a:endPara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90380" name="Text Box 268"/>
            <p:cNvSpPr txBox="1">
              <a:spLocks noChangeArrowheads="1"/>
            </p:cNvSpPr>
            <p:nvPr/>
          </p:nvSpPr>
          <p:spPr bwMode="auto">
            <a:xfrm>
              <a:off x="96" y="1968"/>
              <a:ext cx="621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CC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  </a:t>
              </a:r>
              <a:r>
                <a:rPr lang="zh-CN" altLang="en-US" sz="2800" b="1" dirty="0">
                  <a:solidFill>
                    <a:srgbClr val="CC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例：</a:t>
              </a:r>
              <a:endParaRPr lang="zh-CN" altLang="en-US" sz="2800" b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26700" name="Group 274"/>
          <p:cNvGrpSpPr/>
          <p:nvPr/>
        </p:nvGrpSpPr>
        <p:grpSpPr>
          <a:xfrm>
            <a:off x="446088" y="76200"/>
            <a:ext cx="4964112" cy="2590800"/>
            <a:chOff x="2383" y="2400"/>
            <a:chExt cx="3127" cy="1632"/>
          </a:xfrm>
        </p:grpSpPr>
        <p:graphicFrame>
          <p:nvGraphicFramePr>
            <p:cNvPr id="26701" name="Object 275"/>
            <p:cNvGraphicFramePr>
              <a:graphicFrameLocks noChangeAspect="1"/>
            </p:cNvGraphicFramePr>
            <p:nvPr/>
          </p:nvGraphicFramePr>
          <p:xfrm>
            <a:off x="2976" y="3224"/>
            <a:ext cx="181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22" imgW="254000" imgH="304800" progId="Equation.3">
                    <p:embed/>
                  </p:oleObj>
                </mc:Choice>
                <mc:Fallback>
                  <p:oleObj name="" r:id="rId22" imgW="254000" imgH="304800" progId="Equation.3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76" y="3224"/>
                          <a:ext cx="181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702" name="Object 276"/>
            <p:cNvGraphicFramePr>
              <a:graphicFrameLocks noChangeAspect="1"/>
            </p:cNvGraphicFramePr>
            <p:nvPr/>
          </p:nvGraphicFramePr>
          <p:xfrm>
            <a:off x="2832" y="2400"/>
            <a:ext cx="150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" name="" r:id="rId24" imgW="203200" imgH="304800" progId="Equation.3">
                    <p:embed/>
                  </p:oleObj>
                </mc:Choice>
                <mc:Fallback>
                  <p:oleObj name="" r:id="rId24" imgW="203200" imgH="304800" progId="Equation.3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25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32" y="2400"/>
                          <a:ext cx="150" cy="2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703" name="Object 277"/>
            <p:cNvGraphicFramePr>
              <a:graphicFrameLocks noChangeAspect="1"/>
            </p:cNvGraphicFramePr>
            <p:nvPr/>
          </p:nvGraphicFramePr>
          <p:xfrm>
            <a:off x="3456" y="2400"/>
            <a:ext cx="177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1" name="" r:id="rId26" imgW="241300" imgH="317500" progId="Equation.3">
                    <p:embed/>
                  </p:oleObj>
                </mc:Choice>
                <mc:Fallback>
                  <p:oleObj name="" r:id="rId26" imgW="241300" imgH="317500" progId="Equation.3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27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56" y="2400"/>
                          <a:ext cx="177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704" name="Object 278"/>
            <p:cNvGraphicFramePr>
              <a:graphicFrameLocks noChangeAspect="1"/>
            </p:cNvGraphicFramePr>
            <p:nvPr/>
          </p:nvGraphicFramePr>
          <p:xfrm>
            <a:off x="4368" y="2400"/>
            <a:ext cx="16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" name="" r:id="rId28" imgW="215900" imgH="317500" progId="Equation.3">
                    <p:embed/>
                  </p:oleObj>
                </mc:Choice>
                <mc:Fallback>
                  <p:oleObj name="" r:id="rId28" imgW="215900" imgH="317500" progId="Equation.3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29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68" y="2400"/>
                          <a:ext cx="161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705" name="Object 279"/>
            <p:cNvGraphicFramePr>
              <a:graphicFrameLocks noChangeAspect="1"/>
            </p:cNvGraphicFramePr>
            <p:nvPr/>
          </p:nvGraphicFramePr>
          <p:xfrm>
            <a:off x="5328" y="3173"/>
            <a:ext cx="181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" name="" r:id="rId30" imgW="266700" imgH="317500" progId="Equation.3">
                    <p:embed/>
                  </p:oleObj>
                </mc:Choice>
                <mc:Fallback>
                  <p:oleObj name="" r:id="rId30" imgW="266700" imgH="317500" progId="Equation.3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31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328" y="3173"/>
                          <a:ext cx="181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706" name="Object 280"/>
            <p:cNvGraphicFramePr>
              <a:graphicFrameLocks noChangeAspect="1"/>
            </p:cNvGraphicFramePr>
            <p:nvPr/>
          </p:nvGraphicFramePr>
          <p:xfrm>
            <a:off x="4032" y="2951"/>
            <a:ext cx="288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8" name="" r:id="rId32" imgW="342900" imgH="317500" progId="Equation.3">
                    <p:embed/>
                  </p:oleObj>
                </mc:Choice>
                <mc:Fallback>
                  <p:oleObj name="" r:id="rId32" imgW="342900" imgH="317500" progId="Equation.3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33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32" y="2951"/>
                          <a:ext cx="288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707" name="Object 281"/>
            <p:cNvGraphicFramePr>
              <a:graphicFrameLocks noChangeAspect="1"/>
            </p:cNvGraphicFramePr>
            <p:nvPr/>
          </p:nvGraphicFramePr>
          <p:xfrm>
            <a:off x="2471" y="3456"/>
            <a:ext cx="217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3" name="" r:id="rId34" imgW="304800" imgH="317500" progId="Equation.3">
                    <p:embed/>
                  </p:oleObj>
                </mc:Choice>
                <mc:Fallback>
                  <p:oleObj name="" r:id="rId34" imgW="304800" imgH="317500" progId="Equation.3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35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71" y="3456"/>
                          <a:ext cx="217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394" name="Line 282"/>
            <p:cNvSpPr>
              <a:spLocks noChangeShapeType="1"/>
            </p:cNvSpPr>
            <p:nvPr/>
          </p:nvSpPr>
          <p:spPr bwMode="auto">
            <a:xfrm flipV="1">
              <a:off x="2787" y="3908"/>
              <a:ext cx="24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395" name="Line 283"/>
            <p:cNvSpPr>
              <a:spLocks noChangeShapeType="1"/>
            </p:cNvSpPr>
            <p:nvPr/>
          </p:nvSpPr>
          <p:spPr bwMode="auto">
            <a:xfrm flipH="1" flipV="1">
              <a:off x="4330" y="2747"/>
              <a:ext cx="0" cy="4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396" name="Line 284"/>
            <p:cNvSpPr>
              <a:spLocks noChangeShapeType="1"/>
            </p:cNvSpPr>
            <p:nvPr/>
          </p:nvSpPr>
          <p:spPr bwMode="auto">
            <a:xfrm flipV="1">
              <a:off x="2787" y="2765"/>
              <a:ext cx="96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6711" name="Group 285"/>
            <p:cNvGrpSpPr/>
            <p:nvPr/>
          </p:nvGrpSpPr>
          <p:grpSpPr>
            <a:xfrm>
              <a:off x="4219" y="3158"/>
              <a:ext cx="222" cy="313"/>
              <a:chOff x="4164" y="1968"/>
              <a:chExt cx="264" cy="420"/>
            </a:xfrm>
          </p:grpSpPr>
          <p:sp>
            <p:nvSpPr>
              <p:cNvPr id="90398" name="AutoShape 286"/>
              <p:cNvSpPr>
                <a:spLocks noChangeArrowheads="1"/>
              </p:cNvSpPr>
              <p:nvPr/>
            </p:nvSpPr>
            <p:spPr bwMode="auto">
              <a:xfrm>
                <a:off x="4164" y="1968"/>
                <a:ext cx="264" cy="420"/>
              </a:xfrm>
              <a:prstGeom prst="diamond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399" name="Line 287"/>
              <p:cNvSpPr>
                <a:spLocks noChangeShapeType="1"/>
              </p:cNvSpPr>
              <p:nvPr/>
            </p:nvSpPr>
            <p:spPr bwMode="auto">
              <a:xfrm>
                <a:off x="4176" y="2184"/>
                <a:ext cx="2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0400" name="Line 288"/>
            <p:cNvSpPr>
              <a:spLocks noChangeShapeType="1"/>
            </p:cNvSpPr>
            <p:nvPr/>
          </p:nvSpPr>
          <p:spPr bwMode="auto">
            <a:xfrm flipV="1">
              <a:off x="3744" y="2751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401" name="Rectangle 289"/>
            <p:cNvSpPr>
              <a:spLocks noChangeArrowheads="1"/>
            </p:cNvSpPr>
            <p:nvPr/>
          </p:nvSpPr>
          <p:spPr bwMode="auto">
            <a:xfrm>
              <a:off x="3692" y="3194"/>
              <a:ext cx="98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402" name="Line 290"/>
            <p:cNvSpPr>
              <a:spLocks noChangeShapeType="1"/>
            </p:cNvSpPr>
            <p:nvPr/>
          </p:nvSpPr>
          <p:spPr bwMode="auto">
            <a:xfrm>
              <a:off x="4323" y="2734"/>
              <a:ext cx="9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403" name="Line 291"/>
            <p:cNvSpPr>
              <a:spLocks noChangeShapeType="1"/>
            </p:cNvSpPr>
            <p:nvPr/>
          </p:nvSpPr>
          <p:spPr bwMode="auto">
            <a:xfrm flipV="1">
              <a:off x="4811" y="2747"/>
              <a:ext cx="0" cy="4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404" name="Rectangle 292"/>
            <p:cNvSpPr>
              <a:spLocks noChangeArrowheads="1"/>
            </p:cNvSpPr>
            <p:nvPr/>
          </p:nvSpPr>
          <p:spPr bwMode="auto">
            <a:xfrm>
              <a:off x="4759" y="3194"/>
              <a:ext cx="98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19" name="Text Box 293"/>
            <p:cNvSpPr txBox="1"/>
            <p:nvPr/>
          </p:nvSpPr>
          <p:spPr>
            <a:xfrm>
              <a:off x="3702" y="3164"/>
              <a:ext cx="47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406" name="Line 294"/>
            <p:cNvSpPr>
              <a:spLocks noChangeShapeType="1"/>
            </p:cNvSpPr>
            <p:nvPr/>
          </p:nvSpPr>
          <p:spPr bwMode="auto">
            <a:xfrm>
              <a:off x="4175" y="3194"/>
              <a:ext cx="0" cy="30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407" name="Line 295"/>
            <p:cNvSpPr>
              <a:spLocks noChangeShapeType="1"/>
            </p:cNvSpPr>
            <p:nvPr/>
          </p:nvSpPr>
          <p:spPr bwMode="auto">
            <a:xfrm flipV="1">
              <a:off x="3437" y="2693"/>
              <a:ext cx="29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2" name="Text Box 296"/>
            <p:cNvSpPr txBox="1"/>
            <p:nvPr/>
          </p:nvSpPr>
          <p:spPr>
            <a:xfrm>
              <a:off x="4397" y="3196"/>
              <a:ext cx="68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endParaRPr lang="zh-CN" altLang="zh-CN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409" name="Line 297"/>
            <p:cNvSpPr>
              <a:spLocks noChangeShapeType="1"/>
            </p:cNvSpPr>
            <p:nvPr/>
          </p:nvSpPr>
          <p:spPr bwMode="auto">
            <a:xfrm flipH="1">
              <a:off x="4283" y="2680"/>
              <a:ext cx="30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4" name="Text Box 298"/>
            <p:cNvSpPr txBox="1"/>
            <p:nvPr/>
          </p:nvSpPr>
          <p:spPr>
            <a:xfrm>
              <a:off x="3252" y="3156"/>
              <a:ext cx="50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411" name="Line 299"/>
            <p:cNvSpPr>
              <a:spLocks noChangeShapeType="1"/>
            </p:cNvSpPr>
            <p:nvPr/>
          </p:nvSpPr>
          <p:spPr bwMode="auto">
            <a:xfrm flipV="1">
              <a:off x="5237" y="2725"/>
              <a:ext cx="0" cy="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412" name="Rectangle 300"/>
            <p:cNvSpPr>
              <a:spLocks noChangeArrowheads="1"/>
            </p:cNvSpPr>
            <p:nvPr/>
          </p:nvSpPr>
          <p:spPr bwMode="auto">
            <a:xfrm>
              <a:off x="5188" y="3171"/>
              <a:ext cx="98" cy="27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27" name="Text Box 301"/>
            <p:cNvSpPr txBox="1"/>
            <p:nvPr/>
          </p:nvSpPr>
          <p:spPr>
            <a:xfrm>
              <a:off x="4372" y="3171"/>
              <a:ext cx="4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6728" name="Text Box 302"/>
            <p:cNvSpPr txBox="1"/>
            <p:nvPr/>
          </p:nvSpPr>
          <p:spPr>
            <a:xfrm>
              <a:off x="4781" y="3156"/>
              <a:ext cx="54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6729" name="Text Box 303"/>
            <p:cNvSpPr txBox="1"/>
            <p:nvPr/>
          </p:nvSpPr>
          <p:spPr>
            <a:xfrm>
              <a:off x="4111" y="3643"/>
              <a:ext cx="241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6730" name="Text Box 304"/>
            <p:cNvSpPr txBox="1"/>
            <p:nvPr/>
          </p:nvSpPr>
          <p:spPr>
            <a:xfrm>
              <a:off x="3201" y="2507"/>
              <a:ext cx="24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6731" name="Text Box 305"/>
            <p:cNvSpPr txBox="1"/>
            <p:nvPr/>
          </p:nvSpPr>
          <p:spPr>
            <a:xfrm>
              <a:off x="4537" y="2481"/>
              <a:ext cx="240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418" name="Line 306"/>
            <p:cNvSpPr>
              <a:spLocks noChangeShapeType="1"/>
            </p:cNvSpPr>
            <p:nvPr/>
          </p:nvSpPr>
          <p:spPr bwMode="auto">
            <a:xfrm flipV="1">
              <a:off x="3318" y="2756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33" name="Text Box 307" descr="新闻纸"/>
            <p:cNvSpPr txBox="1"/>
            <p:nvPr/>
          </p:nvSpPr>
          <p:spPr>
            <a:xfrm>
              <a:off x="2914" y="2741"/>
              <a:ext cx="323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6734" name="Text Box 308" descr="新闻纸"/>
            <p:cNvSpPr txBox="1"/>
            <p:nvPr/>
          </p:nvSpPr>
          <p:spPr>
            <a:xfrm>
              <a:off x="2904" y="3664"/>
              <a:ext cx="3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0421" name="Rectangle 309"/>
            <p:cNvSpPr>
              <a:spLocks noChangeArrowheads="1"/>
            </p:cNvSpPr>
            <p:nvPr/>
          </p:nvSpPr>
          <p:spPr bwMode="auto">
            <a:xfrm>
              <a:off x="3269" y="3167"/>
              <a:ext cx="99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36" name="Rectangle 310" descr="新闻纸"/>
            <p:cNvSpPr/>
            <p:nvPr/>
          </p:nvSpPr>
          <p:spPr>
            <a:xfrm>
              <a:off x="5299" y="2791"/>
              <a:ext cx="21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6737" name="Rectangle 311" descr="新闻纸"/>
            <p:cNvSpPr/>
            <p:nvPr/>
          </p:nvSpPr>
          <p:spPr>
            <a:xfrm>
              <a:off x="5299" y="3485"/>
              <a:ext cx="21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6738" name="Group 312"/>
            <p:cNvGrpSpPr/>
            <p:nvPr/>
          </p:nvGrpSpPr>
          <p:grpSpPr>
            <a:xfrm>
              <a:off x="4260" y="3892"/>
              <a:ext cx="197" cy="140"/>
              <a:chOff x="6645" y="4036"/>
              <a:chExt cx="198" cy="188"/>
            </a:xfrm>
          </p:grpSpPr>
          <p:sp>
            <p:nvSpPr>
              <p:cNvPr id="90425" name="Line 313"/>
              <p:cNvSpPr>
                <a:spLocks noChangeShapeType="1"/>
              </p:cNvSpPr>
              <p:nvPr/>
            </p:nvSpPr>
            <p:spPr bwMode="auto">
              <a:xfrm>
                <a:off x="6724" y="4036"/>
                <a:ext cx="0" cy="1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426" name="Line 314"/>
              <p:cNvSpPr>
                <a:spLocks noChangeShapeType="1"/>
              </p:cNvSpPr>
              <p:nvPr/>
            </p:nvSpPr>
            <p:spPr bwMode="auto">
              <a:xfrm>
                <a:off x="6645" y="4224"/>
                <a:ext cx="1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0427" name="Line 315"/>
            <p:cNvSpPr>
              <a:spLocks noChangeShapeType="1"/>
            </p:cNvSpPr>
            <p:nvPr/>
          </p:nvSpPr>
          <p:spPr bwMode="auto">
            <a:xfrm flipH="1" flipV="1">
              <a:off x="5242" y="3445"/>
              <a:ext cx="0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428" name="Line 316"/>
            <p:cNvSpPr>
              <a:spLocks noChangeShapeType="1"/>
            </p:cNvSpPr>
            <p:nvPr/>
          </p:nvSpPr>
          <p:spPr bwMode="auto">
            <a:xfrm flipV="1">
              <a:off x="4809" y="3474"/>
              <a:ext cx="0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429" name="Line 317"/>
            <p:cNvSpPr>
              <a:spLocks noChangeShapeType="1"/>
            </p:cNvSpPr>
            <p:nvPr/>
          </p:nvSpPr>
          <p:spPr bwMode="auto">
            <a:xfrm flipV="1">
              <a:off x="3738" y="3474"/>
              <a:ext cx="0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430" name="Line 318"/>
            <p:cNvSpPr>
              <a:spLocks noChangeShapeType="1"/>
            </p:cNvSpPr>
            <p:nvPr/>
          </p:nvSpPr>
          <p:spPr bwMode="auto">
            <a:xfrm flipV="1">
              <a:off x="3318" y="3437"/>
              <a:ext cx="0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431" name="Line 319"/>
            <p:cNvSpPr>
              <a:spLocks noChangeShapeType="1"/>
            </p:cNvSpPr>
            <p:nvPr/>
          </p:nvSpPr>
          <p:spPr bwMode="auto">
            <a:xfrm flipH="1" flipV="1">
              <a:off x="4334" y="3473"/>
              <a:ext cx="3" cy="4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432" name="Line 320"/>
            <p:cNvSpPr>
              <a:spLocks noChangeShapeType="1"/>
            </p:cNvSpPr>
            <p:nvPr/>
          </p:nvSpPr>
          <p:spPr bwMode="auto">
            <a:xfrm flipH="1">
              <a:off x="2790" y="3222"/>
              <a:ext cx="0" cy="70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433" name="Rectangle 321"/>
            <p:cNvSpPr>
              <a:spLocks noChangeArrowheads="1"/>
            </p:cNvSpPr>
            <p:nvPr/>
          </p:nvSpPr>
          <p:spPr bwMode="auto">
            <a:xfrm>
              <a:off x="2751" y="2976"/>
              <a:ext cx="84" cy="25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434" name="Line 322"/>
            <p:cNvSpPr>
              <a:spLocks noChangeShapeType="1"/>
            </p:cNvSpPr>
            <p:nvPr/>
          </p:nvSpPr>
          <p:spPr bwMode="auto">
            <a:xfrm flipH="1">
              <a:off x="2790" y="2761"/>
              <a:ext cx="0" cy="21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435" name="Oval 323"/>
            <p:cNvSpPr>
              <a:spLocks noChangeArrowheads="1"/>
            </p:cNvSpPr>
            <p:nvPr/>
          </p:nvSpPr>
          <p:spPr bwMode="auto">
            <a:xfrm>
              <a:off x="2681" y="3512"/>
              <a:ext cx="208" cy="207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50" name="Rectangle 324" descr="新闻纸"/>
            <p:cNvSpPr/>
            <p:nvPr/>
          </p:nvSpPr>
          <p:spPr>
            <a:xfrm>
              <a:off x="2567" y="3274"/>
              <a:ext cx="227" cy="32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6751" name="Rectangle 325"/>
            <p:cNvSpPr/>
            <p:nvPr/>
          </p:nvSpPr>
          <p:spPr>
            <a:xfrm>
              <a:off x="2556" y="3591"/>
              <a:ext cx="2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6752" name="Text Box 326"/>
            <p:cNvSpPr txBox="1"/>
            <p:nvPr/>
          </p:nvSpPr>
          <p:spPr>
            <a:xfrm>
              <a:off x="2383" y="2932"/>
              <a:ext cx="45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0439" name="Oval 327"/>
            <p:cNvSpPr>
              <a:spLocks noChangeArrowheads="1"/>
            </p:cNvSpPr>
            <p:nvPr/>
          </p:nvSpPr>
          <p:spPr bwMode="auto">
            <a:xfrm>
              <a:off x="4306" y="3872"/>
              <a:ext cx="60" cy="6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0440" name="Line 328"/>
            <p:cNvSpPr>
              <a:spLocks noChangeShapeType="1"/>
            </p:cNvSpPr>
            <p:nvPr/>
          </p:nvSpPr>
          <p:spPr bwMode="auto">
            <a:xfrm flipV="1">
              <a:off x="2785" y="2699"/>
              <a:ext cx="3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0441" name="Rectangle 329"/>
          <p:cNvSpPr>
            <a:spLocks noChangeArrowheads="1"/>
          </p:cNvSpPr>
          <p:nvPr/>
        </p:nvSpPr>
        <p:spPr bwMode="auto">
          <a:xfrm>
            <a:off x="152400" y="381000"/>
            <a:ext cx="89852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例：</a:t>
            </a:r>
            <a:endParaRPr lang="zh-CN" altLang="en-US" sz="2800" b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90443" name="Group 331"/>
          <p:cNvGrpSpPr/>
          <p:nvPr/>
        </p:nvGrpSpPr>
        <p:grpSpPr>
          <a:xfrm>
            <a:off x="1371600" y="2160588"/>
            <a:ext cx="439738" cy="796925"/>
            <a:chOff x="875" y="1361"/>
            <a:chExt cx="277" cy="502"/>
          </a:xfrm>
        </p:grpSpPr>
        <p:sp>
          <p:nvSpPr>
            <p:cNvPr id="90120" name="AutoShape 8"/>
            <p:cNvSpPr>
              <a:spLocks noChangeArrowheads="1"/>
            </p:cNvSpPr>
            <p:nvPr/>
          </p:nvSpPr>
          <p:spPr bwMode="auto">
            <a:xfrm>
              <a:off x="875" y="1361"/>
              <a:ext cx="179" cy="390"/>
            </a:xfrm>
            <a:custGeom>
              <a:avLst/>
              <a:gdLst>
                <a:gd name="G0" fmla="+- 15126 0 0"/>
                <a:gd name="G1" fmla="+- 2912 0 0"/>
                <a:gd name="G2" fmla="+- 12158 0 2912"/>
                <a:gd name="G3" fmla="+- G2 0 2912"/>
                <a:gd name="G4" fmla="*/ G3 32768 32059"/>
                <a:gd name="G5" fmla="*/ G4 1 2"/>
                <a:gd name="G6" fmla="+- 21600 0 15126"/>
                <a:gd name="G7" fmla="*/ G6 2912 6079"/>
                <a:gd name="G8" fmla="+- G7 15126 0"/>
                <a:gd name="T0" fmla="*/ 15126 w 21600"/>
                <a:gd name="T1" fmla="*/ 0 h 21600"/>
                <a:gd name="T2" fmla="*/ 15126 w 21600"/>
                <a:gd name="T3" fmla="*/ 12158 h 21600"/>
                <a:gd name="T4" fmla="*/ 3237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FF0000"/>
                </a:gs>
              </a:gsLst>
              <a:lin ang="18900000" scaled="1"/>
            </a:gradFill>
            <a:ln w="38100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58" name="Rectangle 330"/>
            <p:cNvSpPr/>
            <p:nvPr/>
          </p:nvSpPr>
          <p:spPr>
            <a:xfrm>
              <a:off x="907" y="1536"/>
              <a:ext cx="2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800" b="1" i="1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2800" b="1" baseline="-250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2800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90444" name="Group 332"/>
          <p:cNvGrpSpPr/>
          <p:nvPr/>
        </p:nvGrpSpPr>
        <p:grpSpPr>
          <a:xfrm>
            <a:off x="1389063" y="5410200"/>
            <a:ext cx="439737" cy="796925"/>
            <a:chOff x="875" y="1361"/>
            <a:chExt cx="277" cy="502"/>
          </a:xfrm>
        </p:grpSpPr>
        <p:sp>
          <p:nvSpPr>
            <p:cNvPr id="90445" name="AutoShape 333"/>
            <p:cNvSpPr>
              <a:spLocks noChangeArrowheads="1"/>
            </p:cNvSpPr>
            <p:nvPr/>
          </p:nvSpPr>
          <p:spPr bwMode="auto">
            <a:xfrm>
              <a:off x="875" y="1361"/>
              <a:ext cx="179" cy="390"/>
            </a:xfrm>
            <a:custGeom>
              <a:avLst/>
              <a:gdLst>
                <a:gd name="G0" fmla="+- 15126 0 0"/>
                <a:gd name="G1" fmla="+- 2912 0 0"/>
                <a:gd name="G2" fmla="+- 12158 0 2912"/>
                <a:gd name="G3" fmla="+- G2 0 2912"/>
                <a:gd name="G4" fmla="*/ G3 32768 32059"/>
                <a:gd name="G5" fmla="*/ G4 1 2"/>
                <a:gd name="G6" fmla="+- 21600 0 15126"/>
                <a:gd name="G7" fmla="*/ G6 2912 6079"/>
                <a:gd name="G8" fmla="+- G7 15126 0"/>
                <a:gd name="T0" fmla="*/ 15126 w 21600"/>
                <a:gd name="T1" fmla="*/ 0 h 21600"/>
                <a:gd name="T2" fmla="*/ 15126 w 21600"/>
                <a:gd name="T3" fmla="*/ 12158 h 21600"/>
                <a:gd name="T4" fmla="*/ 3237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FF0000"/>
                </a:gs>
              </a:gsLst>
              <a:lin ang="18900000" scaled="1"/>
            </a:gradFill>
            <a:ln w="38100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61" name="Rectangle 334"/>
            <p:cNvSpPr/>
            <p:nvPr/>
          </p:nvSpPr>
          <p:spPr>
            <a:xfrm>
              <a:off x="907" y="1536"/>
              <a:ext cx="2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800" b="1" i="1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sz="2800" b="1" baseline="-250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lang="en-US" altLang="zh-CN" sz="2800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90450" name="Group 338"/>
          <p:cNvGrpSpPr/>
          <p:nvPr/>
        </p:nvGrpSpPr>
        <p:grpSpPr>
          <a:xfrm>
            <a:off x="2057400" y="685800"/>
            <a:ext cx="547688" cy="533400"/>
            <a:chOff x="1296" y="432"/>
            <a:chExt cx="345" cy="336"/>
          </a:xfrm>
        </p:grpSpPr>
        <p:sp>
          <p:nvSpPr>
            <p:cNvPr id="90447" name="Line 335"/>
            <p:cNvSpPr>
              <a:spLocks noChangeShapeType="1"/>
            </p:cNvSpPr>
            <p:nvPr/>
          </p:nvSpPr>
          <p:spPr bwMode="auto">
            <a:xfrm>
              <a:off x="1296" y="480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6764" name="Object 336"/>
            <p:cNvGraphicFramePr>
              <a:graphicFrameLocks noChangeAspect="1"/>
            </p:cNvGraphicFramePr>
            <p:nvPr/>
          </p:nvGraphicFramePr>
          <p:xfrm>
            <a:off x="1305" y="432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" name="" r:id="rId36" imgW="342900" imgH="342900" progId="Equation.3">
                    <p:embed/>
                  </p:oleObj>
                </mc:Choice>
                <mc:Fallback>
                  <p:oleObj name="" r:id="rId36" imgW="342900" imgH="342900" progId="Equation.3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37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05" y="432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0451" name="Group 339"/>
          <p:cNvGrpSpPr/>
          <p:nvPr/>
        </p:nvGrpSpPr>
        <p:grpSpPr>
          <a:xfrm>
            <a:off x="2057400" y="3581400"/>
            <a:ext cx="457200" cy="533400"/>
            <a:chOff x="1296" y="432"/>
            <a:chExt cx="345" cy="336"/>
          </a:xfrm>
        </p:grpSpPr>
        <p:sp>
          <p:nvSpPr>
            <p:cNvPr id="90452" name="Line 340"/>
            <p:cNvSpPr>
              <a:spLocks noChangeShapeType="1"/>
            </p:cNvSpPr>
            <p:nvPr/>
          </p:nvSpPr>
          <p:spPr bwMode="auto">
            <a:xfrm>
              <a:off x="1296" y="480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6767" name="Object 341"/>
            <p:cNvGraphicFramePr>
              <a:graphicFrameLocks noChangeAspect="1"/>
            </p:cNvGraphicFramePr>
            <p:nvPr/>
          </p:nvGraphicFramePr>
          <p:xfrm>
            <a:off x="1305" y="432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" name="" r:id="rId38" imgW="342900" imgH="342900" progId="Equation.3">
                    <p:embed/>
                  </p:oleObj>
                </mc:Choice>
                <mc:Fallback>
                  <p:oleObj name="" r:id="rId38" imgW="342900" imgH="342900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39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05" y="432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/>
          <p:nvPr/>
        </p:nvGraphicFramePr>
        <p:xfrm>
          <a:off x="6821805" y="649605"/>
          <a:ext cx="206946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0" imgW="1492885" imgH="960120" progId="Equation.KSEE3">
                  <p:embed/>
                </p:oleObj>
              </mc:Choice>
              <mc:Fallback>
                <p:oleObj name="" r:id="rId40" imgW="1492885" imgH="960120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6821805" y="649605"/>
                        <a:ext cx="2069465" cy="1073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5932805" y="1678940"/>
          <a:ext cx="1892300" cy="57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42" imgW="1284605" imgH="417830" progId="Equation.KSEE3">
                  <p:embed/>
                </p:oleObj>
              </mc:Choice>
              <mc:Fallback>
                <p:oleObj name="" r:id="rId42" imgW="1284605" imgH="417830" progId="Equation.KSEE3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932805" y="1678940"/>
                        <a:ext cx="1892300" cy="579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5675630" y="2667000"/>
          <a:ext cx="1626870" cy="652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44" imgW="1782445" imgH="539115" progId="Equation.KSEE3">
                  <p:embed/>
                </p:oleObj>
              </mc:Choice>
              <mc:Fallback>
                <p:oleObj name="" r:id="rId44" imgW="1782445" imgH="539115" progId="Equation.KSEE3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5675630" y="2667000"/>
                        <a:ext cx="1626870" cy="652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5537835" y="3259455"/>
          <a:ext cx="266763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46" imgW="2263140" imgH="488950" progId="Equation.KSEE3">
                  <p:embed/>
                </p:oleObj>
              </mc:Choice>
              <mc:Fallback>
                <p:oleObj name="" r:id="rId46" imgW="2263140" imgH="488950" progId="Equation.KSEE3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5537835" y="3259455"/>
                        <a:ext cx="2667635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/>
        </p:nvGraphicFramePr>
        <p:xfrm>
          <a:off x="5575935" y="3889375"/>
          <a:ext cx="2629535" cy="531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48" imgW="2562860" imgH="539750" progId="Equation.KSEE3">
                  <p:embed/>
                </p:oleObj>
              </mc:Choice>
              <mc:Fallback>
                <p:oleObj name="" r:id="rId48" imgW="2562860" imgH="539750" progId="Equation.KSEE3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5575935" y="3889375"/>
                        <a:ext cx="2629535" cy="531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/>
          <p:nvPr/>
        </p:nvGraphicFramePr>
        <p:xfrm>
          <a:off x="5482590" y="4399915"/>
          <a:ext cx="3030855" cy="812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50" imgW="2745740" imgH="922655" progId="Equation.KSEE3">
                  <p:embed/>
                </p:oleObj>
              </mc:Choice>
              <mc:Fallback>
                <p:oleObj name="" r:id="rId50" imgW="2745740" imgH="922655" progId="Equation.KSEE3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5482590" y="4399915"/>
                        <a:ext cx="3030855" cy="812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/>
          <p:nvPr/>
        </p:nvGraphicFramePr>
        <p:xfrm>
          <a:off x="5410200" y="5541645"/>
          <a:ext cx="3582035" cy="553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52" imgW="3146425" imgH="513080" progId="Equation.KSEE3">
                  <p:embed/>
                </p:oleObj>
              </mc:Choice>
              <mc:Fallback>
                <p:oleObj name="" r:id="rId52" imgW="3146425" imgH="513080" progId="Equation.KSEE3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5410200" y="5541645"/>
                        <a:ext cx="3582035" cy="553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9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0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0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0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0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0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9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7" grpId="0" animBg="1"/>
      <p:bldP spid="9018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Text Box 2"/>
          <p:cNvSpPr txBox="1">
            <a:spLocks noChangeArrowheads="1"/>
          </p:cNvSpPr>
          <p:nvPr/>
        </p:nvSpPr>
        <p:spPr bwMode="auto">
          <a:xfrm>
            <a:off x="323850" y="2381"/>
            <a:ext cx="6032500" cy="608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kern="1200" cap="none" spc="0" normalizeH="0" baseline="0" noProof="0" smtClean="0"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800" b="1" kern="1200" cap="none" spc="0" normalizeH="0" baseline="0" noProof="0" smtClean="0">
                <a:solidFill>
                  <a:srgbClr val="2E2EB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）放大电路输出电阻的计算</a:t>
            </a:r>
            <a:endParaRPr kumimoji="1" lang="zh-CN" altLang="en-US" sz="2800" b="1" kern="1200" cap="none" spc="0" normalizeH="0" baseline="0" noProof="0" smtClean="0">
              <a:solidFill>
                <a:srgbClr val="2E2EB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361950" y="527050"/>
            <a:ext cx="878205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 indent="4762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666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4762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放大电路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对负载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或对后级放大电路</a:t>
            </a: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)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来说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，是一个信号源，可以将它进行戴维宁等效，等效电源的内阻即为放大电路的输出电阻。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anose="02010609060101010101" charset="-122"/>
              <a:ea typeface="楷体" panose="02010609060101010101" charset="-122"/>
              <a:cs typeface="+mn-cs"/>
            </a:endParaRPr>
          </a:p>
        </p:txBody>
      </p:sp>
      <p:grpSp>
        <p:nvGrpSpPr>
          <p:cNvPr id="91205" name="Group 69"/>
          <p:cNvGrpSpPr/>
          <p:nvPr/>
        </p:nvGrpSpPr>
        <p:grpSpPr>
          <a:xfrm>
            <a:off x="5257800" y="3363913"/>
            <a:ext cx="3324225" cy="1741487"/>
            <a:chOff x="3312" y="2112"/>
            <a:chExt cx="2094" cy="1097"/>
          </a:xfrm>
        </p:grpSpPr>
        <p:sp>
          <p:nvSpPr>
            <p:cNvPr id="91141" name="Rectangle 5" descr="棚架"/>
            <p:cNvSpPr>
              <a:spLocks noChangeArrowheads="1"/>
            </p:cNvSpPr>
            <p:nvPr/>
          </p:nvSpPr>
          <p:spPr bwMode="auto">
            <a:xfrm>
              <a:off x="3312" y="2140"/>
              <a:ext cx="1263" cy="1069"/>
            </a:xfrm>
            <a:prstGeom prst="rect">
              <a:avLst/>
            </a:prstGeom>
            <a:noFill/>
            <a:ln w="38100">
              <a:solidFill>
                <a:srgbClr val="006600"/>
              </a:solidFill>
              <a:prstDash val="dash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pattFill prst="trellis">
                    <a:fgClr>
                      <a:srgbClr val="FFFF66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142" name="Line 6" descr="小网格"/>
            <p:cNvSpPr>
              <a:spLocks noChangeShapeType="1"/>
            </p:cNvSpPr>
            <p:nvPr/>
          </p:nvSpPr>
          <p:spPr bwMode="auto">
            <a:xfrm flipH="1">
              <a:off x="4272" y="2496"/>
              <a:ext cx="4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144" name="Line 8" descr="小网格"/>
            <p:cNvSpPr>
              <a:spLocks noChangeShapeType="1"/>
            </p:cNvSpPr>
            <p:nvPr/>
          </p:nvSpPr>
          <p:spPr bwMode="auto">
            <a:xfrm flipV="1">
              <a:off x="3835" y="3072"/>
              <a:ext cx="8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145" name="Line 9" descr="小网格"/>
            <p:cNvSpPr>
              <a:spLocks noChangeShapeType="1"/>
            </p:cNvSpPr>
            <p:nvPr/>
          </p:nvSpPr>
          <p:spPr bwMode="auto">
            <a:xfrm>
              <a:off x="3835" y="2494"/>
              <a:ext cx="1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146" name="Text Box 10" descr="小网格"/>
            <p:cNvSpPr txBox="1">
              <a:spLocks noChangeArrowheads="1"/>
            </p:cNvSpPr>
            <p:nvPr/>
          </p:nvSpPr>
          <p:spPr bwMode="auto">
            <a:xfrm>
              <a:off x="3639" y="2410"/>
              <a:ext cx="200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smGrid">
                    <a:fgClr>
                      <a:srgbClr val="99FFCC"/>
                    </a:fgClr>
                    <a:bgClr>
                      <a:srgbClr val="FFFFFF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R="0" algn="ctr" defTabSz="914400" rtl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kern="1200" cap="none" spc="0" normalizeH="0" baseline="-25000" noProof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+</a:t>
              </a:r>
              <a:endParaRPr kumimoji="1" lang="en-US" altLang="zh-CN" sz="2800" kern="1200" cap="none" spc="0" normalizeH="0" baseline="-2500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91147" name="Text Box 11" descr="小网格"/>
            <p:cNvSpPr txBox="1">
              <a:spLocks noChangeArrowheads="1"/>
            </p:cNvSpPr>
            <p:nvPr/>
          </p:nvSpPr>
          <p:spPr bwMode="auto">
            <a:xfrm>
              <a:off x="3627" y="2668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smGrid">
                    <a:fgClr>
                      <a:srgbClr val="99FFCC"/>
                    </a:fgClr>
                    <a:bgClr>
                      <a:srgbClr val="FFFFFF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R="0" algn="ctr" defTabSz="914400" rtl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b="1" kern="1200" cap="none" spc="0" normalizeH="0" baseline="0" noProof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_</a:t>
              </a:r>
              <a:endParaRPr kumimoji="1" lang="en-US" altLang="zh-CN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91148" name="Text Box 12" descr="小网格"/>
            <p:cNvSpPr txBox="1">
              <a:spLocks noChangeArrowheads="1"/>
            </p:cNvSpPr>
            <p:nvPr/>
          </p:nvSpPr>
          <p:spPr bwMode="auto">
            <a:xfrm>
              <a:off x="4618" y="2631"/>
              <a:ext cx="5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smGrid">
                    <a:fgClr>
                      <a:srgbClr val="99FFCC"/>
                    </a:fgClr>
                    <a:bgClr>
                      <a:srgbClr val="FFFFFF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noProof="1" dirty="0">
                  <a:solidFill>
                    <a:schemeClr val="tx2"/>
                  </a:solidFill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ea"/>
                </a:rPr>
                <a:t>R</a:t>
              </a:r>
              <a:r>
                <a:rPr lang="en-US" altLang="zh-CN" b="1" baseline="-25000" noProof="1" dirty="0">
                  <a:solidFill>
                    <a:schemeClr val="tx2"/>
                  </a:solidFill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ea"/>
                </a:rPr>
                <a:t>L</a:t>
              </a:r>
              <a:endParaRPr lang="en-US" altLang="zh-CN" b="1" baseline="-25000" noProof="1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1149" name="Line 13" descr="小网格"/>
            <p:cNvSpPr>
              <a:spLocks noChangeShapeType="1"/>
            </p:cNvSpPr>
            <p:nvPr/>
          </p:nvSpPr>
          <p:spPr bwMode="auto">
            <a:xfrm>
              <a:off x="4724" y="2494"/>
              <a:ext cx="37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150" name="Rectangle 14"/>
            <p:cNvSpPr>
              <a:spLocks noChangeArrowheads="1"/>
            </p:cNvSpPr>
            <p:nvPr/>
          </p:nvSpPr>
          <p:spPr bwMode="auto">
            <a:xfrm>
              <a:off x="5042" y="2649"/>
              <a:ext cx="98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151" name="Line 15" descr="小网格"/>
            <p:cNvSpPr>
              <a:spLocks noChangeShapeType="1"/>
            </p:cNvSpPr>
            <p:nvPr/>
          </p:nvSpPr>
          <p:spPr bwMode="auto">
            <a:xfrm>
              <a:off x="5097" y="2897"/>
              <a:ext cx="0" cy="1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152" name="Line 16" descr="小网格"/>
            <p:cNvSpPr>
              <a:spLocks noChangeShapeType="1"/>
            </p:cNvSpPr>
            <p:nvPr/>
          </p:nvSpPr>
          <p:spPr bwMode="auto">
            <a:xfrm>
              <a:off x="5097" y="2494"/>
              <a:ext cx="0" cy="1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7663" name="Object 17" descr="小网格"/>
            <p:cNvGraphicFramePr>
              <a:graphicFrameLocks noChangeAspect="1"/>
            </p:cNvGraphicFramePr>
            <p:nvPr/>
          </p:nvGraphicFramePr>
          <p:xfrm>
            <a:off x="5167" y="2688"/>
            <a:ext cx="23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7" name="" r:id="rId1" imgW="266700" imgH="317500" progId="Equation.3">
                    <p:embed/>
                  </p:oleObj>
                </mc:Choice>
                <mc:Fallback>
                  <p:oleObj name="" r:id="rId1" imgW="266700" imgH="317500" progId="Equation.3">
                    <p:embed/>
                    <p:pic>
                      <p:nvPicPr>
                        <p:cNvPr id="0" name="图片 3166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67" y="2688"/>
                          <a:ext cx="239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154" name="Rectangle 18"/>
            <p:cNvSpPr>
              <a:spLocks noChangeArrowheads="1"/>
            </p:cNvSpPr>
            <p:nvPr/>
          </p:nvSpPr>
          <p:spPr bwMode="auto">
            <a:xfrm rot="5400000">
              <a:off x="4080" y="2356"/>
              <a:ext cx="100" cy="251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155" name="Line 19" descr="小网格"/>
            <p:cNvSpPr>
              <a:spLocks noChangeShapeType="1"/>
            </p:cNvSpPr>
            <p:nvPr/>
          </p:nvSpPr>
          <p:spPr bwMode="auto">
            <a:xfrm>
              <a:off x="4747" y="3073"/>
              <a:ext cx="35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156" name="Oval 20" descr="小网格"/>
            <p:cNvSpPr>
              <a:spLocks noChangeArrowheads="1"/>
            </p:cNvSpPr>
            <p:nvPr/>
          </p:nvSpPr>
          <p:spPr bwMode="auto">
            <a:xfrm>
              <a:off x="4678" y="2471"/>
              <a:ext cx="45" cy="4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pattFill prst="smGrid">
                    <a:fgClr>
                      <a:srgbClr val="99FFCC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157" name="Oval 21" descr="小网格"/>
            <p:cNvSpPr>
              <a:spLocks noChangeArrowheads="1"/>
            </p:cNvSpPr>
            <p:nvPr/>
          </p:nvSpPr>
          <p:spPr bwMode="auto">
            <a:xfrm>
              <a:off x="4704" y="3049"/>
              <a:ext cx="45" cy="4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pattFill prst="smGrid">
                    <a:fgClr>
                      <a:srgbClr val="99FFCC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158" name="Oval 22" descr="小网格"/>
            <p:cNvSpPr>
              <a:spLocks noChangeArrowheads="1"/>
            </p:cNvSpPr>
            <p:nvPr/>
          </p:nvSpPr>
          <p:spPr bwMode="auto">
            <a:xfrm>
              <a:off x="3723" y="2649"/>
              <a:ext cx="243" cy="24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pattFill prst="smGrid">
                    <a:fgClr>
                      <a:srgbClr val="99FFCC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159" name="Line 23" descr="小网格"/>
            <p:cNvSpPr>
              <a:spLocks noChangeShapeType="1"/>
            </p:cNvSpPr>
            <p:nvPr/>
          </p:nvSpPr>
          <p:spPr bwMode="auto">
            <a:xfrm flipH="1">
              <a:off x="3835" y="2492"/>
              <a:ext cx="0" cy="5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7670" name="Object 24" descr="小网格"/>
            <p:cNvGraphicFramePr>
              <a:graphicFrameLocks noChangeAspect="1"/>
            </p:cNvGraphicFramePr>
            <p:nvPr/>
          </p:nvGraphicFramePr>
          <p:xfrm>
            <a:off x="3495" y="2640"/>
            <a:ext cx="23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8" name="" r:id="rId3" imgW="266700" imgH="317500" progId="Equation.3">
                    <p:embed/>
                  </p:oleObj>
                </mc:Choice>
                <mc:Fallback>
                  <p:oleObj name="" r:id="rId3" imgW="266700" imgH="317500" progId="Equation.3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95" y="2640"/>
                          <a:ext cx="239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161" name="Rectangle 25"/>
            <p:cNvSpPr>
              <a:spLocks noChangeArrowheads="1"/>
            </p:cNvSpPr>
            <p:nvPr/>
          </p:nvSpPr>
          <p:spPr bwMode="auto">
            <a:xfrm>
              <a:off x="3970" y="2112"/>
              <a:ext cx="2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1" u="none" strike="noStrike" kern="1200" cap="none" spc="0" normalizeH="0" baseline="0" noProof="0" smtClean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r</a:t>
              </a:r>
              <a:r>
                <a:rPr kumimoji="1" lang="en-US" altLang="zh-CN" sz="2800" b="1" i="0" u="none" strike="noStrike" kern="1200" cap="none" spc="0" normalizeH="0" baseline="-25000" noProof="0" smtClean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o</a:t>
              </a:r>
              <a:endParaRPr kumimoji="1" lang="en-US" altLang="zh-CN" sz="2800" b="1" i="0" u="none" strike="noStrike" kern="1200" cap="none" spc="0" normalizeH="0" baseline="-2500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91162" name="Text Box 26" descr="小网格"/>
            <p:cNvSpPr txBox="1">
              <a:spLocks noChangeArrowheads="1"/>
            </p:cNvSpPr>
            <p:nvPr/>
          </p:nvSpPr>
          <p:spPr bwMode="auto">
            <a:xfrm>
              <a:off x="5128" y="2448"/>
              <a:ext cx="200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smGrid">
                    <a:fgClr>
                      <a:srgbClr val="99FFCC"/>
                    </a:fgClr>
                    <a:bgClr>
                      <a:srgbClr val="FFFFFF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R="0" algn="ctr" defTabSz="914400" rtl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kern="1200" cap="none" spc="0" normalizeH="0" baseline="-25000" noProof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+</a:t>
              </a:r>
              <a:endParaRPr kumimoji="1" lang="en-US" altLang="zh-CN" sz="2800" kern="1200" cap="none" spc="0" normalizeH="0" baseline="-2500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91163" name="Text Box 27" descr="小网格"/>
            <p:cNvSpPr txBox="1">
              <a:spLocks noChangeArrowheads="1"/>
            </p:cNvSpPr>
            <p:nvPr/>
          </p:nvSpPr>
          <p:spPr bwMode="auto">
            <a:xfrm>
              <a:off x="5123" y="2688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smGrid">
                    <a:fgClr>
                      <a:srgbClr val="99FFCC"/>
                    </a:fgClr>
                    <a:bgClr>
                      <a:srgbClr val="FFFFFF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R="0" algn="ctr" defTabSz="914400" rtl="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b="1" kern="1200" cap="none" spc="0" normalizeH="0" baseline="0" noProof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_</a:t>
              </a:r>
              <a:endParaRPr kumimoji="1" lang="en-US" altLang="zh-CN" sz="2800" b="1" kern="1200" cap="none" spc="0" normalizeH="0" baseline="0" noProof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91164" name="Rectangle 28" descr="30%"/>
          <p:cNvSpPr>
            <a:spLocks noChangeArrowheads="1"/>
          </p:cNvSpPr>
          <p:nvPr/>
        </p:nvSpPr>
        <p:spPr bwMode="auto">
          <a:xfrm>
            <a:off x="304800" y="4191000"/>
            <a:ext cx="58674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pct30">
                  <a:fgClr>
                    <a:srgbClr val="FFFF00"/>
                  </a:fgClr>
                  <a:bgClr>
                    <a:schemeClr val="bg1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65" name="Rectangle 29" descr="30%"/>
          <p:cNvSpPr>
            <a:spLocks noChangeArrowheads="1"/>
          </p:cNvSpPr>
          <p:nvPr/>
        </p:nvSpPr>
        <p:spPr bwMode="auto">
          <a:xfrm>
            <a:off x="520700" y="1960563"/>
            <a:ext cx="3535363" cy="1849438"/>
          </a:xfrm>
          <a:prstGeom prst="rect">
            <a:avLst/>
          </a:prstGeom>
          <a:noFill/>
          <a:ln w="38100">
            <a:solidFill>
              <a:srgbClr val="0066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pattFill prst="pct30">
                  <a:fgClr>
                    <a:srgbClr val="FFFF00"/>
                  </a:fgClr>
                  <a:bgClr>
                    <a:schemeClr val="bg1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66" name="AutoShape 30" descr="水滴"/>
          <p:cNvSpPr>
            <a:spLocks noChangeArrowheads="1"/>
          </p:cNvSpPr>
          <p:nvPr/>
        </p:nvSpPr>
        <p:spPr bwMode="auto">
          <a:xfrm rot="-2692639">
            <a:off x="5651500" y="2008188"/>
            <a:ext cx="646113" cy="1420813"/>
          </a:xfrm>
          <a:prstGeom prst="curvedLeftArrow">
            <a:avLst>
              <a:gd name="adj1" fmla="val 43980"/>
              <a:gd name="adj2" fmla="val 87961"/>
              <a:gd name="adj3" fmla="val 33333"/>
            </a:avLst>
          </a:prstGeom>
          <a:blipFill dpi="0" rotWithShape="0">
            <a:blip r:embed="rId5"/>
            <a:srcRect/>
            <a:tile tx="0" ty="0" sx="100000" sy="100000" flip="none" algn="tl"/>
          </a:blipFill>
          <a:ln w="38100">
            <a:solidFill>
              <a:srgbClr val="00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67" name="Text Box 31"/>
          <p:cNvSpPr txBox="1">
            <a:spLocks noChangeArrowheads="1"/>
          </p:cNvSpPr>
          <p:nvPr/>
        </p:nvSpPr>
        <p:spPr bwMode="auto">
          <a:xfrm>
            <a:off x="523875" y="3830638"/>
            <a:ext cx="18161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定义：</a:t>
            </a:r>
            <a:endParaRPr kumimoji="1" lang="zh-CN" altLang="en-US" sz="2800" b="1" kern="1200" cap="none" spc="0" normalizeH="0" baseline="0" noProof="0" smtClean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69" name="Text Box 33"/>
          <p:cNvSpPr txBox="1">
            <a:spLocks noChangeArrowheads="1"/>
          </p:cNvSpPr>
          <p:nvPr/>
        </p:nvSpPr>
        <p:spPr bwMode="auto">
          <a:xfrm>
            <a:off x="6400800" y="1600200"/>
            <a:ext cx="274320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输出电阻是动态电阻，与负载无关。</a:t>
            </a:r>
            <a:endParaRPr kumimoji="1" lang="zh-CN" altLang="en-US" sz="2800" b="1" kern="1200" cap="none" spc="0" normalizeH="0" baseline="0" noProof="0" smtClean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74" name="Rectangle 38"/>
          <p:cNvSpPr>
            <a:spLocks noChangeArrowheads="1"/>
          </p:cNvSpPr>
          <p:nvPr/>
        </p:nvSpPr>
        <p:spPr bwMode="auto">
          <a:xfrm>
            <a:off x="304800" y="5118100"/>
            <a:ext cx="8458200" cy="143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输出电阻是表明放大电路带负载能力的参数。</a:t>
            </a:r>
            <a:r>
              <a:rPr kumimoji="1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电路的输出电阻愈小，负载变化时输出电压的变化愈小，因此一般总是希望得到较小的输出电阻。</a:t>
            </a:r>
            <a:endParaRPr kumimoji="1" lang="zh-CN" altLang="en-US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1203" name="Group 67"/>
          <p:cNvGrpSpPr/>
          <p:nvPr/>
        </p:nvGrpSpPr>
        <p:grpSpPr>
          <a:xfrm>
            <a:off x="608013" y="1947863"/>
            <a:ext cx="4795837" cy="1709737"/>
            <a:chOff x="383" y="1152"/>
            <a:chExt cx="3021" cy="1077"/>
          </a:xfrm>
        </p:grpSpPr>
        <p:sp>
          <p:nvSpPr>
            <p:cNvPr id="91176" name="Rectangle 40" descr="30%"/>
            <p:cNvSpPr>
              <a:spLocks noChangeArrowheads="1"/>
            </p:cNvSpPr>
            <p:nvPr/>
          </p:nvSpPr>
          <p:spPr bwMode="auto">
            <a:xfrm>
              <a:off x="955" y="1152"/>
              <a:ext cx="3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pattFill prst="pct30">
                    <a:fgClr>
                      <a:srgbClr val="FFFF00"/>
                    </a:fgClr>
                    <a:bgClr>
                      <a:schemeClr val="bg1"/>
                    </a:bgClr>
                  </a:patt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1200" cap="none" spc="0" normalizeH="0" baseline="0" noProof="0" smtClean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 smtClean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</a:t>
              </a:r>
              <a:endParaRPr kumimoji="1" lang="en-US" altLang="zh-CN" sz="2400" b="1" i="0" u="none" strike="noStrike" kern="1200" cap="none" spc="0" normalizeH="0" baseline="-2500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27682" name="Group 66"/>
            <p:cNvGrpSpPr/>
            <p:nvPr/>
          </p:nvGrpSpPr>
          <p:grpSpPr>
            <a:xfrm>
              <a:off x="383" y="1394"/>
              <a:ext cx="3021" cy="835"/>
              <a:chOff x="383" y="1394"/>
              <a:chExt cx="3021" cy="835"/>
            </a:xfrm>
          </p:grpSpPr>
          <p:sp>
            <p:nvSpPr>
              <p:cNvPr id="91178" name="Oval 42" descr="30%"/>
              <p:cNvSpPr>
                <a:spLocks noChangeArrowheads="1"/>
              </p:cNvSpPr>
              <p:nvPr/>
            </p:nvSpPr>
            <p:spPr bwMode="auto">
              <a:xfrm>
                <a:off x="1347" y="1477"/>
                <a:ext cx="50" cy="48"/>
              </a:xfrm>
              <a:prstGeom prst="ellips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pct30">
                      <a:fgClr>
                        <a:srgbClr val="FFFF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179" name="Line 43" descr="30%"/>
              <p:cNvSpPr>
                <a:spLocks noChangeShapeType="1"/>
              </p:cNvSpPr>
              <p:nvPr/>
            </p:nvSpPr>
            <p:spPr bwMode="auto">
              <a:xfrm flipH="1">
                <a:off x="2256" y="1514"/>
                <a:ext cx="792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180" name="Line 44" descr="30%"/>
              <p:cNvSpPr>
                <a:spLocks noChangeShapeType="1"/>
              </p:cNvSpPr>
              <p:nvPr/>
            </p:nvSpPr>
            <p:spPr bwMode="auto">
              <a:xfrm flipH="1">
                <a:off x="2255" y="2119"/>
                <a:ext cx="792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181" name="Text Box 45" descr="30%"/>
              <p:cNvSpPr txBox="1">
                <a:spLocks noChangeArrowheads="1"/>
              </p:cNvSpPr>
              <p:nvPr/>
            </p:nvSpPr>
            <p:spPr bwMode="auto">
              <a:xfrm>
                <a:off x="2518" y="1647"/>
                <a:ext cx="55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pct30">
                      <a:fgClr>
                        <a:srgbClr val="FFFF00"/>
                      </a:fgClr>
                      <a:bgClr>
                        <a:schemeClr val="bg1"/>
                      </a:bgClr>
                    </a:patt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 noProof="1" dirty="0">
                    <a:solidFill>
                      <a:schemeClr val="tx2"/>
                    </a:solidFill>
                    <a:effectLst>
                      <a:outerShdw blurRad="38100" dist="38100" dir="2700000">
                        <a:srgbClr val="FFFFFF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  <a:cs typeface="+mn-ea"/>
                  </a:rPr>
                  <a:t>R</a:t>
                </a:r>
                <a:r>
                  <a:rPr lang="en-US" altLang="zh-CN" b="1" baseline="-25000" noProof="1" dirty="0">
                    <a:solidFill>
                      <a:schemeClr val="tx2"/>
                    </a:solidFill>
                    <a:effectLst>
                      <a:outerShdw blurRad="38100" dist="38100" dir="2700000">
                        <a:srgbClr val="FFFFFF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  <a:cs typeface="+mn-ea"/>
                  </a:rPr>
                  <a:t>L</a:t>
                </a:r>
                <a:endParaRPr lang="en-US" altLang="zh-CN" b="1" baseline="-25000" noProof="1" dirty="0">
                  <a:solidFill>
                    <a:schemeClr val="tx2"/>
                  </a:solidFill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91182" name="Rectangle 46"/>
              <p:cNvSpPr>
                <a:spLocks noChangeArrowheads="1"/>
              </p:cNvSpPr>
              <p:nvPr/>
            </p:nvSpPr>
            <p:spPr bwMode="auto">
              <a:xfrm>
                <a:off x="2980" y="1667"/>
                <a:ext cx="107" cy="258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183" name="Line 47" descr="30%"/>
              <p:cNvSpPr>
                <a:spLocks noChangeShapeType="1"/>
              </p:cNvSpPr>
              <p:nvPr/>
            </p:nvSpPr>
            <p:spPr bwMode="auto">
              <a:xfrm>
                <a:off x="3044" y="1914"/>
                <a:ext cx="0" cy="20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184" name="Line 48" descr="30%"/>
              <p:cNvSpPr>
                <a:spLocks noChangeShapeType="1"/>
              </p:cNvSpPr>
              <p:nvPr/>
            </p:nvSpPr>
            <p:spPr bwMode="auto">
              <a:xfrm>
                <a:off x="3039" y="1511"/>
                <a:ext cx="0" cy="15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27690" name="Object 49" descr="30%"/>
              <p:cNvGraphicFramePr>
                <a:graphicFrameLocks noChangeAspect="1"/>
              </p:cNvGraphicFramePr>
              <p:nvPr/>
            </p:nvGraphicFramePr>
            <p:xfrm>
              <a:off x="3147" y="1680"/>
              <a:ext cx="257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69" name="" r:id="rId6" imgW="266700" imgH="317500" progId="Equation.3">
                      <p:embed/>
                    </p:oleObj>
                  </mc:Choice>
                  <mc:Fallback>
                    <p:oleObj name="" r:id="rId6" imgW="266700" imgH="317500" progId="Equation.3">
                      <p:embed/>
                      <p:pic>
                        <p:nvPicPr>
                          <p:cNvPr id="0" name="图片 3168"/>
                          <p:cNvPicPr/>
                          <p:nvPr/>
                        </p:nvPicPr>
                        <p:blipFill>
                          <a:blip r:embed="rId7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147" y="1680"/>
                            <a:ext cx="257" cy="2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1186" name="Rectangle 50"/>
              <p:cNvSpPr>
                <a:spLocks noChangeArrowheads="1"/>
              </p:cNvSpPr>
              <p:nvPr/>
            </p:nvSpPr>
            <p:spPr bwMode="auto">
              <a:xfrm rot="5400000">
                <a:off x="1056" y="1363"/>
                <a:ext cx="101" cy="272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hlink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187" name="Oval 51" descr="30%"/>
              <p:cNvSpPr>
                <a:spLocks noChangeArrowheads="1"/>
              </p:cNvSpPr>
              <p:nvPr/>
            </p:nvSpPr>
            <p:spPr bwMode="auto">
              <a:xfrm>
                <a:off x="1347" y="2034"/>
                <a:ext cx="50" cy="48"/>
              </a:xfrm>
              <a:prstGeom prst="ellips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pct30">
                      <a:fgClr>
                        <a:srgbClr val="FFFF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188" name="Oval 52" descr="30%"/>
              <p:cNvSpPr>
                <a:spLocks noChangeArrowheads="1"/>
              </p:cNvSpPr>
              <p:nvPr/>
            </p:nvSpPr>
            <p:spPr bwMode="auto">
              <a:xfrm>
                <a:off x="2611" y="1488"/>
                <a:ext cx="49" cy="48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pct30">
                      <a:fgClr>
                        <a:srgbClr val="FFFF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189" name="Oval 53" descr="30%"/>
              <p:cNvSpPr>
                <a:spLocks noChangeArrowheads="1"/>
              </p:cNvSpPr>
              <p:nvPr/>
            </p:nvSpPr>
            <p:spPr bwMode="auto">
              <a:xfrm>
                <a:off x="2613" y="2085"/>
                <a:ext cx="49" cy="48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pct30">
                      <a:fgClr>
                        <a:srgbClr val="FFFF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190" name="Rectangle 54" descr="30%"/>
              <p:cNvSpPr>
                <a:spLocks noChangeArrowheads="1"/>
              </p:cNvSpPr>
              <p:nvPr/>
            </p:nvSpPr>
            <p:spPr bwMode="auto">
              <a:xfrm>
                <a:off x="3132" y="1431"/>
                <a:ext cx="200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pct30">
                      <a:fgClr>
                        <a:srgbClr val="FFFF00"/>
                      </a:fgClr>
                      <a:bgClr>
                        <a:schemeClr val="bg1"/>
                      </a:bgClr>
                    </a:patt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0" i="0" u="none" strike="noStrike" kern="1200" cap="none" spc="0" normalizeH="0" baseline="-25000" noProof="0" smtClean="0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+</a:t>
                </a:r>
                <a:endParaRPr kumimoji="1" lang="en-US" altLang="zh-CN" sz="2800" b="0" i="0" u="none" strike="noStrike" kern="1200" cap="none" spc="0" normalizeH="0" baseline="-25000" noProof="0" smtClean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endParaRPr>
              </a:p>
            </p:txBody>
          </p:sp>
          <p:sp>
            <p:nvSpPr>
              <p:cNvPr id="91191" name="Rectangle 55" descr="30%"/>
              <p:cNvSpPr>
                <a:spLocks noChangeArrowheads="1"/>
              </p:cNvSpPr>
              <p:nvPr/>
            </p:nvSpPr>
            <p:spPr bwMode="auto">
              <a:xfrm>
                <a:off x="3102" y="1738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pct30">
                      <a:fgClr>
                        <a:srgbClr val="FFFF00"/>
                      </a:fgClr>
                      <a:bgClr>
                        <a:schemeClr val="bg1"/>
                      </a:bgClr>
                    </a:patt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_</a:t>
                </a:r>
                <a:endParaRPr kumimoji="1" lang="en-US" altLang="zh-CN" sz="2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endParaRPr>
              </a:p>
            </p:txBody>
          </p:sp>
          <p:sp>
            <p:nvSpPr>
              <p:cNvPr id="91192" name="Text Box 56" descr="小网格"/>
              <p:cNvSpPr txBox="1">
                <a:spLocks noChangeArrowheads="1"/>
              </p:cNvSpPr>
              <p:nvPr/>
            </p:nvSpPr>
            <p:spPr bwMode="auto">
              <a:xfrm>
                <a:off x="1620" y="1394"/>
                <a:ext cx="631" cy="83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smGrid">
                      <a:fgClr>
                        <a:srgbClr val="99FFCC"/>
                      </a:fgClr>
                      <a:bgClr>
                        <a:srgbClr val="FFFFFF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p>
                <a:pPr algn="ctr"/>
                <a:r>
                  <a:rPr lang="en-US" altLang="zh-CN" sz="2800" b="1" i="1" noProof="1" dirty="0">
                    <a:solidFill>
                      <a:srgbClr val="FF0000"/>
                    </a:solidFill>
                    <a:effectLst>
                      <a:outerShdw blurRad="38100" dist="38100" dir="2700000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  <a:cs typeface="+mn-ea"/>
                  </a:rPr>
                  <a:t>A</a:t>
                </a:r>
                <a:r>
                  <a:rPr lang="en-US" altLang="zh-CN" sz="2800" b="1" i="1" baseline="-25000" noProof="1" dirty="0">
                    <a:solidFill>
                      <a:srgbClr val="FF0000"/>
                    </a:solidFill>
                    <a:effectLst>
                      <a:outerShdw blurRad="38100" dist="38100" dir="2700000">
                        <a:srgbClr val="00000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  <a:cs typeface="+mn-ea"/>
                  </a:rPr>
                  <a:t>u</a:t>
                </a:r>
                <a:endParaRPr lang="en-US" altLang="zh-CN" sz="2800" b="1" i="1" baseline="-25000" noProof="1" dirty="0">
                  <a:solidFill>
                    <a:srgbClr val="FF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zh-CN" altLang="en-US" sz="2800" b="1" noProof="1" dirty="0">
                    <a:solidFill>
                      <a:srgbClr val="CC0000"/>
                    </a:solidFill>
                    <a:effectLst>
                      <a:outerShdw blurRad="38100" dist="38100" dir="2700000">
                        <a:srgbClr val="00000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ea"/>
                  </a:rPr>
                  <a:t>放大</a:t>
                </a:r>
                <a:endParaRPr lang="zh-CN" altLang="en-US" sz="2800" b="1" noProof="1" dirty="0">
                  <a:solidFill>
                    <a:srgbClr val="CC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zh-CN" altLang="en-US" sz="2800" b="1" noProof="1" dirty="0">
                    <a:solidFill>
                      <a:srgbClr val="CC0000"/>
                    </a:solidFill>
                    <a:effectLst>
                      <a:outerShdw blurRad="38100" dist="38100" dir="2700000">
                        <a:srgbClr val="00000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+mn-ea"/>
                  </a:rPr>
                  <a:t>电路</a:t>
                </a:r>
                <a:endParaRPr lang="zh-CN" altLang="en-US" sz="2800" b="1" noProof="1" dirty="0">
                  <a:solidFill>
                    <a:srgbClr val="CC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193" name="Text Box 57" descr="30%"/>
              <p:cNvSpPr txBox="1">
                <a:spLocks noChangeArrowheads="1"/>
              </p:cNvSpPr>
              <p:nvPr/>
            </p:nvSpPr>
            <p:spPr bwMode="auto">
              <a:xfrm>
                <a:off x="561" y="1416"/>
                <a:ext cx="200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pct30">
                      <a:fgClr>
                        <a:srgbClr val="FFFF00"/>
                      </a:fgClr>
                      <a:bgClr>
                        <a:schemeClr val="bg1"/>
                      </a:bgClr>
                    </a:patt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R="0" algn="ctr" defTabSz="914400" rtl="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1" lang="en-US" altLang="zh-CN" sz="2800" kern="1200" cap="none" spc="0" normalizeH="0" baseline="-25000" noProof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+</a:t>
                </a:r>
                <a:endParaRPr kumimoji="1" lang="en-US" altLang="zh-CN" sz="2800" kern="1200" cap="none" spc="0" normalizeH="0" baseline="-25000" noProof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cs"/>
                </a:endParaRPr>
              </a:p>
            </p:txBody>
          </p:sp>
          <p:sp>
            <p:nvSpPr>
              <p:cNvPr id="91194" name="Text Box 58" descr="30%"/>
              <p:cNvSpPr txBox="1">
                <a:spLocks noChangeArrowheads="1"/>
              </p:cNvSpPr>
              <p:nvPr/>
            </p:nvSpPr>
            <p:spPr bwMode="auto">
              <a:xfrm>
                <a:off x="578" y="1737"/>
                <a:ext cx="18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pct30">
                      <a:fgClr>
                        <a:srgbClr val="FFFF00"/>
                      </a:fgClr>
                      <a:bgClr>
                        <a:schemeClr val="bg1"/>
                      </a:bgClr>
                    </a:patt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R="0" algn="ctr" defTabSz="914400" rtl="0"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kumimoji="1" lang="en-US" altLang="zh-CN" sz="1800" b="1" kern="1200" cap="none" spc="0" normalizeH="0" baseline="0" noProof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_</a:t>
                </a:r>
                <a:endParaRPr kumimoji="1" lang="en-US" altLang="zh-CN" sz="1800" b="1" kern="1200" cap="none" spc="0" normalizeH="0" baseline="0" noProof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cs"/>
                </a:endParaRPr>
              </a:p>
            </p:txBody>
          </p:sp>
          <p:sp>
            <p:nvSpPr>
              <p:cNvPr id="91195" name="Oval 59" descr="30%"/>
              <p:cNvSpPr>
                <a:spLocks noChangeArrowheads="1"/>
              </p:cNvSpPr>
              <p:nvPr/>
            </p:nvSpPr>
            <p:spPr bwMode="auto">
              <a:xfrm>
                <a:off x="642" y="1656"/>
                <a:ext cx="265" cy="249"/>
              </a:xfrm>
              <a:prstGeom prst="ellips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pct30">
                      <a:fgClr>
                        <a:srgbClr val="FFFF00"/>
                      </a:fgClr>
                      <a:bgClr>
                        <a:schemeClr val="bg1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196" name="Line 60" descr="30%"/>
              <p:cNvSpPr>
                <a:spLocks noChangeShapeType="1"/>
              </p:cNvSpPr>
              <p:nvPr/>
            </p:nvSpPr>
            <p:spPr bwMode="auto">
              <a:xfrm flipH="1">
                <a:off x="764" y="1498"/>
                <a:ext cx="0" cy="583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27702" name="Object 61" descr="30%"/>
              <p:cNvGraphicFramePr>
                <a:graphicFrameLocks noChangeAspect="1"/>
              </p:cNvGraphicFramePr>
              <p:nvPr/>
            </p:nvGraphicFramePr>
            <p:xfrm>
              <a:off x="383" y="1614"/>
              <a:ext cx="289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70" name="" r:id="rId8" imgW="292100" imgH="317500" progId="Equation.3">
                      <p:embed/>
                    </p:oleObj>
                  </mc:Choice>
                  <mc:Fallback>
                    <p:oleObj name="" r:id="rId8" imgW="292100" imgH="317500" progId="Equation.3">
                      <p:embed/>
                      <p:pic>
                        <p:nvPicPr>
                          <p:cNvPr id="0" name="图片 3169"/>
                          <p:cNvPicPr/>
                          <p:nvPr/>
                        </p:nvPicPr>
                        <p:blipFill>
                          <a:blip r:embed="rId9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83" y="1614"/>
                            <a:ext cx="289" cy="30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1198" name="Line 62"/>
              <p:cNvSpPr>
                <a:spLocks noChangeShapeType="1"/>
              </p:cNvSpPr>
              <p:nvPr/>
            </p:nvSpPr>
            <p:spPr bwMode="auto">
              <a:xfrm>
                <a:off x="769" y="1509"/>
                <a:ext cx="20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199" name="Line 63"/>
              <p:cNvSpPr>
                <a:spLocks noChangeShapeType="1"/>
              </p:cNvSpPr>
              <p:nvPr/>
            </p:nvSpPr>
            <p:spPr bwMode="auto">
              <a:xfrm>
                <a:off x="1248" y="1509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1200" name="Line 64"/>
              <p:cNvSpPr>
                <a:spLocks noChangeShapeType="1"/>
              </p:cNvSpPr>
              <p:nvPr/>
            </p:nvSpPr>
            <p:spPr bwMode="auto">
              <a:xfrm>
                <a:off x="768" y="2064"/>
                <a:ext cx="86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91206" name="Text Box 70"/>
          <p:cNvSpPr txBox="1">
            <a:spLocks noChangeArrowheads="1"/>
          </p:cNvSpPr>
          <p:nvPr/>
        </p:nvSpPr>
        <p:spPr bwMode="auto">
          <a:xfrm>
            <a:off x="1476375" y="4005263"/>
            <a:ext cx="3382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1" lang="zh-CN" altLang="zh-CN" kern="1200" cap="none" spc="0" normalizeH="0" baseline="0" noProof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1207" name="Object 71"/>
          <p:cNvGraphicFramePr>
            <a:graphicFrameLocks noChangeAspect="1"/>
          </p:cNvGraphicFramePr>
          <p:nvPr/>
        </p:nvGraphicFramePr>
        <p:xfrm>
          <a:off x="1476375" y="3933825"/>
          <a:ext cx="3527425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10" imgW="2286000" imgH="809625" progId="Paint.Picture">
                  <p:embed/>
                </p:oleObj>
              </mc:Choice>
              <mc:Fallback>
                <p:oleObj name="" r:id="rId10" imgW="2286000" imgH="809625" progId="Paint.Picture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76375" y="3933825"/>
                        <a:ext cx="3527425" cy="1223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39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1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1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91167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116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build="p"/>
      <p:bldP spid="91165" grpId="0" animBg="1"/>
      <p:bldP spid="91166" grpId="0" animBg="1"/>
      <p:bldP spid="91167" grpId="0" build="p"/>
      <p:bldP spid="91169" grpId="0" build="p"/>
      <p:bldP spid="9117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8673" name="Group 89"/>
          <p:cNvGrpSpPr/>
          <p:nvPr/>
        </p:nvGrpSpPr>
        <p:grpSpPr>
          <a:xfrm>
            <a:off x="631825" y="762000"/>
            <a:ext cx="4645025" cy="2590800"/>
            <a:chOff x="2383" y="2400"/>
            <a:chExt cx="3135" cy="1632"/>
          </a:xfrm>
        </p:grpSpPr>
        <p:graphicFrame>
          <p:nvGraphicFramePr>
            <p:cNvPr id="28674" name="Object 90"/>
            <p:cNvGraphicFramePr>
              <a:graphicFrameLocks noChangeAspect="1"/>
            </p:cNvGraphicFramePr>
            <p:nvPr/>
          </p:nvGraphicFramePr>
          <p:xfrm>
            <a:off x="2976" y="3224"/>
            <a:ext cx="181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1" name="" r:id="rId1" imgW="254000" imgH="304800" progId="Equation.3">
                    <p:embed/>
                  </p:oleObj>
                </mc:Choice>
                <mc:Fallback>
                  <p:oleObj name="" r:id="rId1" imgW="254000" imgH="304800" progId="Equation.3">
                    <p:embed/>
                    <p:pic>
                      <p:nvPicPr>
                        <p:cNvPr id="0" name="图片 3170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76" y="3224"/>
                          <a:ext cx="181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5" name="Object 91"/>
            <p:cNvGraphicFramePr>
              <a:graphicFrameLocks noChangeAspect="1"/>
            </p:cNvGraphicFramePr>
            <p:nvPr/>
          </p:nvGraphicFramePr>
          <p:xfrm>
            <a:off x="2832" y="2400"/>
            <a:ext cx="150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" name="" r:id="rId3" imgW="203200" imgH="304800" progId="Equation.3">
                    <p:embed/>
                  </p:oleObj>
                </mc:Choice>
                <mc:Fallback>
                  <p:oleObj name="" r:id="rId3" imgW="203200" imgH="304800" progId="Equation.3">
                    <p:embed/>
                    <p:pic>
                      <p:nvPicPr>
                        <p:cNvPr id="0" name="图片 3174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32" y="2400"/>
                          <a:ext cx="150" cy="2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6" name="Object 92"/>
            <p:cNvGraphicFramePr>
              <a:graphicFrameLocks noChangeAspect="1"/>
            </p:cNvGraphicFramePr>
            <p:nvPr/>
          </p:nvGraphicFramePr>
          <p:xfrm>
            <a:off x="3456" y="2400"/>
            <a:ext cx="177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" name="" r:id="rId5" imgW="241300" imgH="317500" progId="Equation.3">
                    <p:embed/>
                  </p:oleObj>
                </mc:Choice>
                <mc:Fallback>
                  <p:oleObj name="" r:id="rId5" imgW="241300" imgH="317500" progId="Equation.3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56" y="2400"/>
                          <a:ext cx="177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7" name="Object 93"/>
            <p:cNvGraphicFramePr>
              <a:graphicFrameLocks noChangeAspect="1"/>
            </p:cNvGraphicFramePr>
            <p:nvPr/>
          </p:nvGraphicFramePr>
          <p:xfrm>
            <a:off x="4368" y="2400"/>
            <a:ext cx="16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3" name="" r:id="rId7" imgW="215900" imgH="317500" progId="Equation.3">
                    <p:embed/>
                  </p:oleObj>
                </mc:Choice>
                <mc:Fallback>
                  <p:oleObj name="" r:id="rId7" imgW="215900" imgH="317500" progId="Equation.3">
                    <p:embed/>
                    <p:pic>
                      <p:nvPicPr>
                        <p:cNvPr id="0" name="图片 3172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68" y="2400"/>
                          <a:ext cx="161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8" name="Object 94"/>
            <p:cNvGraphicFramePr>
              <a:graphicFrameLocks noChangeAspect="1"/>
            </p:cNvGraphicFramePr>
            <p:nvPr/>
          </p:nvGraphicFramePr>
          <p:xfrm>
            <a:off x="5328" y="3173"/>
            <a:ext cx="181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" name="" r:id="rId9" imgW="266700" imgH="317500" progId="Equation.3">
                    <p:embed/>
                  </p:oleObj>
                </mc:Choice>
                <mc:Fallback>
                  <p:oleObj name="" r:id="rId9" imgW="266700" imgH="317500" progId="Equation.3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328" y="3173"/>
                          <a:ext cx="181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9" name="Object 95"/>
            <p:cNvGraphicFramePr>
              <a:graphicFrameLocks noChangeAspect="1"/>
            </p:cNvGraphicFramePr>
            <p:nvPr/>
          </p:nvGraphicFramePr>
          <p:xfrm>
            <a:off x="4032" y="2951"/>
            <a:ext cx="288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" name="" r:id="rId11" imgW="342900" imgH="317500" progId="Equation.3">
                    <p:embed/>
                  </p:oleObj>
                </mc:Choice>
                <mc:Fallback>
                  <p:oleObj name="" r:id="rId11" imgW="342900" imgH="317500" progId="Equation.3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32" y="2951"/>
                          <a:ext cx="288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" name="Object 96"/>
            <p:cNvGraphicFramePr>
              <a:graphicFrameLocks noChangeAspect="1"/>
            </p:cNvGraphicFramePr>
            <p:nvPr/>
          </p:nvGraphicFramePr>
          <p:xfrm>
            <a:off x="2471" y="3456"/>
            <a:ext cx="217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" name="" r:id="rId13" imgW="304800" imgH="317500" progId="Equation.3">
                    <p:embed/>
                  </p:oleObj>
                </mc:Choice>
                <mc:Fallback>
                  <p:oleObj name="" r:id="rId13" imgW="304800" imgH="317500" progId="Equation.3">
                    <p:embed/>
                    <p:pic>
                      <p:nvPicPr>
                        <p:cNvPr id="0" name="图片 3177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71" y="3456"/>
                          <a:ext cx="217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57" name="Line 97"/>
            <p:cNvSpPr>
              <a:spLocks noChangeShapeType="1"/>
            </p:cNvSpPr>
            <p:nvPr/>
          </p:nvSpPr>
          <p:spPr bwMode="auto">
            <a:xfrm flipV="1">
              <a:off x="2787" y="3908"/>
              <a:ext cx="24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58" name="Line 98"/>
            <p:cNvSpPr>
              <a:spLocks noChangeShapeType="1"/>
            </p:cNvSpPr>
            <p:nvPr/>
          </p:nvSpPr>
          <p:spPr bwMode="auto">
            <a:xfrm flipH="1" flipV="1">
              <a:off x="4330" y="2747"/>
              <a:ext cx="0" cy="4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59" name="Line 99"/>
            <p:cNvSpPr>
              <a:spLocks noChangeShapeType="1"/>
            </p:cNvSpPr>
            <p:nvPr/>
          </p:nvSpPr>
          <p:spPr bwMode="auto">
            <a:xfrm flipV="1">
              <a:off x="2787" y="2765"/>
              <a:ext cx="96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8684" name="Group 100"/>
            <p:cNvGrpSpPr/>
            <p:nvPr/>
          </p:nvGrpSpPr>
          <p:grpSpPr>
            <a:xfrm>
              <a:off x="4219" y="3158"/>
              <a:ext cx="222" cy="313"/>
              <a:chOff x="4164" y="1968"/>
              <a:chExt cx="264" cy="420"/>
            </a:xfrm>
          </p:grpSpPr>
          <p:sp>
            <p:nvSpPr>
              <p:cNvPr id="92261" name="AutoShape 101"/>
              <p:cNvSpPr>
                <a:spLocks noChangeArrowheads="1"/>
              </p:cNvSpPr>
              <p:nvPr/>
            </p:nvSpPr>
            <p:spPr bwMode="auto">
              <a:xfrm>
                <a:off x="4164" y="1968"/>
                <a:ext cx="264" cy="420"/>
              </a:xfrm>
              <a:prstGeom prst="diamond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62" name="Line 102"/>
              <p:cNvSpPr>
                <a:spLocks noChangeShapeType="1"/>
              </p:cNvSpPr>
              <p:nvPr/>
            </p:nvSpPr>
            <p:spPr bwMode="auto">
              <a:xfrm>
                <a:off x="4176" y="2184"/>
                <a:ext cx="2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2263" name="Line 103"/>
            <p:cNvSpPr>
              <a:spLocks noChangeShapeType="1"/>
            </p:cNvSpPr>
            <p:nvPr/>
          </p:nvSpPr>
          <p:spPr bwMode="auto">
            <a:xfrm flipV="1">
              <a:off x="3744" y="2751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64" name="Rectangle 104"/>
            <p:cNvSpPr>
              <a:spLocks noChangeArrowheads="1"/>
            </p:cNvSpPr>
            <p:nvPr/>
          </p:nvSpPr>
          <p:spPr bwMode="auto">
            <a:xfrm>
              <a:off x="3692" y="3194"/>
              <a:ext cx="98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65" name="Line 105"/>
            <p:cNvSpPr>
              <a:spLocks noChangeShapeType="1"/>
            </p:cNvSpPr>
            <p:nvPr/>
          </p:nvSpPr>
          <p:spPr bwMode="auto">
            <a:xfrm>
              <a:off x="4323" y="2734"/>
              <a:ext cx="9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66" name="Line 106"/>
            <p:cNvSpPr>
              <a:spLocks noChangeShapeType="1"/>
            </p:cNvSpPr>
            <p:nvPr/>
          </p:nvSpPr>
          <p:spPr bwMode="auto">
            <a:xfrm flipV="1">
              <a:off x="4811" y="2747"/>
              <a:ext cx="0" cy="4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67" name="Rectangle 107"/>
            <p:cNvSpPr>
              <a:spLocks noChangeArrowheads="1"/>
            </p:cNvSpPr>
            <p:nvPr/>
          </p:nvSpPr>
          <p:spPr bwMode="auto">
            <a:xfrm>
              <a:off x="4759" y="3194"/>
              <a:ext cx="98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2" name="Text Box 108"/>
            <p:cNvSpPr txBox="1"/>
            <p:nvPr/>
          </p:nvSpPr>
          <p:spPr>
            <a:xfrm>
              <a:off x="3702" y="3164"/>
              <a:ext cx="47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2269" name="Line 109"/>
            <p:cNvSpPr>
              <a:spLocks noChangeShapeType="1"/>
            </p:cNvSpPr>
            <p:nvPr/>
          </p:nvSpPr>
          <p:spPr bwMode="auto">
            <a:xfrm>
              <a:off x="4175" y="3194"/>
              <a:ext cx="0" cy="30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70" name="Line 110"/>
            <p:cNvSpPr>
              <a:spLocks noChangeShapeType="1"/>
            </p:cNvSpPr>
            <p:nvPr/>
          </p:nvSpPr>
          <p:spPr bwMode="auto">
            <a:xfrm flipV="1">
              <a:off x="3437" y="2693"/>
              <a:ext cx="29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5" name="Text Box 111"/>
            <p:cNvSpPr txBox="1"/>
            <p:nvPr/>
          </p:nvSpPr>
          <p:spPr>
            <a:xfrm>
              <a:off x="4397" y="3196"/>
              <a:ext cx="68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endParaRPr lang="zh-CN" altLang="zh-CN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2272" name="Line 112"/>
            <p:cNvSpPr>
              <a:spLocks noChangeShapeType="1"/>
            </p:cNvSpPr>
            <p:nvPr/>
          </p:nvSpPr>
          <p:spPr bwMode="auto">
            <a:xfrm flipH="1">
              <a:off x="4283" y="2680"/>
              <a:ext cx="30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7" name="Text Box 113"/>
            <p:cNvSpPr txBox="1"/>
            <p:nvPr/>
          </p:nvSpPr>
          <p:spPr>
            <a:xfrm>
              <a:off x="3252" y="3156"/>
              <a:ext cx="50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2274" name="Line 114"/>
            <p:cNvSpPr>
              <a:spLocks noChangeShapeType="1"/>
            </p:cNvSpPr>
            <p:nvPr/>
          </p:nvSpPr>
          <p:spPr bwMode="auto">
            <a:xfrm flipV="1">
              <a:off x="5237" y="2725"/>
              <a:ext cx="0" cy="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75" name="Rectangle 115"/>
            <p:cNvSpPr>
              <a:spLocks noChangeArrowheads="1"/>
            </p:cNvSpPr>
            <p:nvPr/>
          </p:nvSpPr>
          <p:spPr bwMode="auto">
            <a:xfrm>
              <a:off x="5188" y="3171"/>
              <a:ext cx="98" cy="27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0" name="Text Box 116"/>
            <p:cNvSpPr txBox="1"/>
            <p:nvPr/>
          </p:nvSpPr>
          <p:spPr>
            <a:xfrm>
              <a:off x="4372" y="3171"/>
              <a:ext cx="48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8701" name="Text Box 117"/>
            <p:cNvSpPr txBox="1"/>
            <p:nvPr/>
          </p:nvSpPr>
          <p:spPr>
            <a:xfrm>
              <a:off x="4781" y="3156"/>
              <a:ext cx="54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8702" name="Text Box 118"/>
            <p:cNvSpPr txBox="1"/>
            <p:nvPr/>
          </p:nvSpPr>
          <p:spPr>
            <a:xfrm>
              <a:off x="4111" y="3643"/>
              <a:ext cx="241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8703" name="Text Box 119"/>
            <p:cNvSpPr txBox="1"/>
            <p:nvPr/>
          </p:nvSpPr>
          <p:spPr>
            <a:xfrm>
              <a:off x="3201" y="2507"/>
              <a:ext cx="24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8704" name="Text Box 120"/>
            <p:cNvSpPr txBox="1"/>
            <p:nvPr/>
          </p:nvSpPr>
          <p:spPr>
            <a:xfrm>
              <a:off x="4537" y="2481"/>
              <a:ext cx="240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2281" name="Line 121"/>
            <p:cNvSpPr>
              <a:spLocks noChangeShapeType="1"/>
            </p:cNvSpPr>
            <p:nvPr/>
          </p:nvSpPr>
          <p:spPr bwMode="auto">
            <a:xfrm flipV="1">
              <a:off x="3318" y="2756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6" name="Text Box 122" descr="新闻纸"/>
            <p:cNvSpPr txBox="1"/>
            <p:nvPr/>
          </p:nvSpPr>
          <p:spPr>
            <a:xfrm>
              <a:off x="2914" y="2741"/>
              <a:ext cx="323" cy="28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707" name="Text Box 123" descr="新闻纸"/>
            <p:cNvSpPr txBox="1"/>
            <p:nvPr/>
          </p:nvSpPr>
          <p:spPr>
            <a:xfrm>
              <a:off x="2904" y="3664"/>
              <a:ext cx="32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2284" name="Rectangle 124"/>
            <p:cNvSpPr>
              <a:spLocks noChangeArrowheads="1"/>
            </p:cNvSpPr>
            <p:nvPr/>
          </p:nvSpPr>
          <p:spPr bwMode="auto">
            <a:xfrm>
              <a:off x="3269" y="3167"/>
              <a:ext cx="99" cy="2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9" name="Rectangle 125" descr="新闻纸"/>
            <p:cNvSpPr/>
            <p:nvPr/>
          </p:nvSpPr>
          <p:spPr>
            <a:xfrm>
              <a:off x="5292" y="2791"/>
              <a:ext cx="22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710" name="Rectangle 126" descr="新闻纸"/>
            <p:cNvSpPr/>
            <p:nvPr/>
          </p:nvSpPr>
          <p:spPr>
            <a:xfrm>
              <a:off x="5292" y="3485"/>
              <a:ext cx="22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8711" name="Group 127"/>
            <p:cNvGrpSpPr/>
            <p:nvPr/>
          </p:nvGrpSpPr>
          <p:grpSpPr>
            <a:xfrm>
              <a:off x="4260" y="3892"/>
              <a:ext cx="197" cy="140"/>
              <a:chOff x="6645" y="4036"/>
              <a:chExt cx="198" cy="188"/>
            </a:xfrm>
          </p:grpSpPr>
          <p:sp>
            <p:nvSpPr>
              <p:cNvPr id="92288" name="Line 128"/>
              <p:cNvSpPr>
                <a:spLocks noChangeShapeType="1"/>
              </p:cNvSpPr>
              <p:nvPr/>
            </p:nvSpPr>
            <p:spPr bwMode="auto">
              <a:xfrm>
                <a:off x="6724" y="4036"/>
                <a:ext cx="0" cy="1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2289" name="Line 129"/>
              <p:cNvSpPr>
                <a:spLocks noChangeShapeType="1"/>
              </p:cNvSpPr>
              <p:nvPr/>
            </p:nvSpPr>
            <p:spPr bwMode="auto">
              <a:xfrm>
                <a:off x="6645" y="4224"/>
                <a:ext cx="1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2290" name="Line 130"/>
            <p:cNvSpPr>
              <a:spLocks noChangeShapeType="1"/>
            </p:cNvSpPr>
            <p:nvPr/>
          </p:nvSpPr>
          <p:spPr bwMode="auto">
            <a:xfrm flipH="1" flipV="1">
              <a:off x="5242" y="3445"/>
              <a:ext cx="0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91" name="Line 131"/>
            <p:cNvSpPr>
              <a:spLocks noChangeShapeType="1"/>
            </p:cNvSpPr>
            <p:nvPr/>
          </p:nvSpPr>
          <p:spPr bwMode="auto">
            <a:xfrm flipV="1">
              <a:off x="4809" y="3474"/>
              <a:ext cx="0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92" name="Line 132"/>
            <p:cNvSpPr>
              <a:spLocks noChangeShapeType="1"/>
            </p:cNvSpPr>
            <p:nvPr/>
          </p:nvSpPr>
          <p:spPr bwMode="auto">
            <a:xfrm flipV="1">
              <a:off x="3738" y="3474"/>
              <a:ext cx="0" cy="4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93" name="Line 133"/>
            <p:cNvSpPr>
              <a:spLocks noChangeShapeType="1"/>
            </p:cNvSpPr>
            <p:nvPr/>
          </p:nvSpPr>
          <p:spPr bwMode="auto">
            <a:xfrm flipV="1">
              <a:off x="3318" y="3437"/>
              <a:ext cx="0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94" name="Line 134"/>
            <p:cNvSpPr>
              <a:spLocks noChangeShapeType="1"/>
            </p:cNvSpPr>
            <p:nvPr/>
          </p:nvSpPr>
          <p:spPr bwMode="auto">
            <a:xfrm flipH="1" flipV="1">
              <a:off x="4334" y="3473"/>
              <a:ext cx="3" cy="4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95" name="Line 135"/>
            <p:cNvSpPr>
              <a:spLocks noChangeShapeType="1"/>
            </p:cNvSpPr>
            <p:nvPr/>
          </p:nvSpPr>
          <p:spPr bwMode="auto">
            <a:xfrm flipH="1">
              <a:off x="2790" y="3222"/>
              <a:ext cx="0" cy="70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96" name="Rectangle 136"/>
            <p:cNvSpPr>
              <a:spLocks noChangeArrowheads="1"/>
            </p:cNvSpPr>
            <p:nvPr/>
          </p:nvSpPr>
          <p:spPr bwMode="auto">
            <a:xfrm>
              <a:off x="2751" y="2976"/>
              <a:ext cx="84" cy="25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97" name="Line 137"/>
            <p:cNvSpPr>
              <a:spLocks noChangeShapeType="1"/>
            </p:cNvSpPr>
            <p:nvPr/>
          </p:nvSpPr>
          <p:spPr bwMode="auto">
            <a:xfrm flipH="1">
              <a:off x="2790" y="2761"/>
              <a:ext cx="0" cy="21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98" name="Oval 138"/>
            <p:cNvSpPr>
              <a:spLocks noChangeArrowheads="1"/>
            </p:cNvSpPr>
            <p:nvPr/>
          </p:nvSpPr>
          <p:spPr bwMode="auto">
            <a:xfrm>
              <a:off x="2681" y="3512"/>
              <a:ext cx="208" cy="207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3" name="Rectangle 139" descr="新闻纸"/>
            <p:cNvSpPr/>
            <p:nvPr/>
          </p:nvSpPr>
          <p:spPr>
            <a:xfrm>
              <a:off x="2558" y="3274"/>
              <a:ext cx="24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724" name="Rectangle 140"/>
            <p:cNvSpPr/>
            <p:nvPr/>
          </p:nvSpPr>
          <p:spPr>
            <a:xfrm>
              <a:off x="2548" y="3591"/>
              <a:ext cx="2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725" name="Text Box 141"/>
            <p:cNvSpPr txBox="1"/>
            <p:nvPr/>
          </p:nvSpPr>
          <p:spPr>
            <a:xfrm>
              <a:off x="2383" y="2932"/>
              <a:ext cx="45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2302" name="Oval 142"/>
            <p:cNvSpPr>
              <a:spLocks noChangeArrowheads="1"/>
            </p:cNvSpPr>
            <p:nvPr/>
          </p:nvSpPr>
          <p:spPr bwMode="auto">
            <a:xfrm>
              <a:off x="4306" y="3872"/>
              <a:ext cx="60" cy="6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303" name="Line 143"/>
            <p:cNvSpPr>
              <a:spLocks noChangeShapeType="1"/>
            </p:cNvSpPr>
            <p:nvPr/>
          </p:nvSpPr>
          <p:spPr bwMode="auto">
            <a:xfrm flipV="1">
              <a:off x="2785" y="2699"/>
              <a:ext cx="3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2220" name="Text Box 60"/>
          <p:cNvSpPr txBox="1">
            <a:spLocks noChangeArrowheads="1"/>
          </p:cNvSpPr>
          <p:nvPr/>
        </p:nvSpPr>
        <p:spPr bwMode="auto">
          <a:xfrm>
            <a:off x="5334000" y="1752600"/>
            <a:ext cx="3810000" cy="205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R="0" defTabSz="914400" rtl="0">
              <a:lnSpc>
                <a:spcPct val="115000"/>
              </a:lnSpc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共射极放大电路特点：</a:t>
            </a:r>
            <a:r>
              <a:rPr kumimoji="1" lang="zh-CN" altLang="en-US" sz="2800" b="1" kern="1200" cap="none" spc="0" normalizeH="0" baseline="0" noProof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endParaRPr kumimoji="1" lang="zh-CN" altLang="en-US" sz="2800" b="1" kern="1200" cap="none" spc="0" normalizeH="0" baseline="0" noProof="0" smtClean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R="0" defTabSz="914400" rtl="0">
              <a:lnSpc>
                <a:spcPct val="115000"/>
              </a:lnSpc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1" lang="zh-CN" altLang="en-US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放大倍数高</a:t>
            </a:r>
            <a:r>
              <a:rPr kumimoji="1" lang="en-US" altLang="zh-CN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800" b="1" kern="1200" cap="none" spc="0" normalizeH="0" baseline="0" noProof="0" smtClean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R="0" defTabSz="914400" rtl="0">
              <a:lnSpc>
                <a:spcPct val="115000"/>
              </a:lnSpc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1" lang="zh-CN" altLang="en-US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输入电阻低</a:t>
            </a:r>
            <a:r>
              <a:rPr kumimoji="1" lang="en-US" altLang="zh-CN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800" b="1" kern="1200" cap="none" spc="0" normalizeH="0" baseline="0" noProof="0" smtClean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R="0" defTabSz="914400" rtl="0">
              <a:lnSpc>
                <a:spcPct val="115000"/>
              </a:lnSpc>
              <a:buClrTx/>
              <a:buSzTx/>
              <a:buFontTx/>
              <a:buNone/>
              <a:defRPr/>
            </a:pPr>
            <a:r>
              <a:rPr kumimoji="1" lang="en-US" altLang="zh-CN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3. </a:t>
            </a:r>
            <a:r>
              <a:rPr kumimoji="1" lang="zh-CN" altLang="en-US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输出电阻高</a:t>
            </a:r>
            <a:r>
              <a:rPr kumimoji="1" lang="en-US" altLang="zh-CN" sz="2800" b="1" kern="1200" cap="none" spc="0" normalizeH="0" baseline="0" noProof="0" smtClean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.</a:t>
            </a:r>
            <a:endParaRPr kumimoji="1" lang="en-US" altLang="zh-CN" sz="2800" b="1" kern="1200" cap="none" spc="0" normalizeH="0" baseline="0" noProof="0" smtClean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2221" name="Object 61"/>
          <p:cNvGraphicFramePr>
            <a:graphicFrameLocks noChangeAspect="1"/>
          </p:cNvGraphicFramePr>
          <p:nvPr/>
        </p:nvGraphicFramePr>
        <p:xfrm>
          <a:off x="6085523" y="5250180"/>
          <a:ext cx="2119312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15" imgW="1117600" imgH="609600" progId="Equation.3">
                  <p:embed/>
                </p:oleObj>
              </mc:Choice>
              <mc:Fallback>
                <p:oleObj name="" r:id="rId15" imgW="1117600" imgH="609600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85523" y="5250180"/>
                        <a:ext cx="2119312" cy="1154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2" name="Rectangle 62" descr="新闻纸"/>
          <p:cNvSpPr>
            <a:spLocks noChangeArrowheads="1"/>
          </p:cNvSpPr>
          <p:nvPr/>
        </p:nvSpPr>
        <p:spPr bwMode="auto">
          <a:xfrm>
            <a:off x="728663" y="762000"/>
            <a:ext cx="3636963" cy="2667000"/>
          </a:xfrm>
          <a:prstGeom prst="rect">
            <a:avLst/>
          </a:prstGeom>
          <a:noFill/>
          <a:ln w="38100">
            <a:solidFill>
              <a:srgbClr val="0066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7"/>
                  <a:srcRect/>
                  <a:tile tx="0" ty="0" sx="100000" sy="100000" flip="none" algn="tl"/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31" name="Text Box 63"/>
          <p:cNvSpPr txBox="1"/>
          <p:nvPr/>
        </p:nvSpPr>
        <p:spPr>
          <a:xfrm>
            <a:off x="233363" y="298450"/>
            <a:ext cx="985837" cy="5175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例：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2224" name="Text Box 64"/>
          <p:cNvSpPr txBox="1"/>
          <p:nvPr/>
        </p:nvSpPr>
        <p:spPr>
          <a:xfrm>
            <a:off x="722948" y="3516630"/>
            <a:ext cx="3429000" cy="10318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r>
              <a:rPr lang="en-US" altLang="zh-CN" sz="2800" b="1" i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的步骤：</a:t>
            </a:r>
            <a:endParaRPr lang="zh-CN" altLang="en-US" sz="2800" b="1" dirty="0"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1)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断开负载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endParaRPr lang="en-US" altLang="zh-CN" sz="2800" b="1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2226" name="Group 66"/>
          <p:cNvGrpSpPr/>
          <p:nvPr/>
        </p:nvGrpSpPr>
        <p:grpSpPr>
          <a:xfrm>
            <a:off x="693738" y="4967288"/>
            <a:ext cx="2506662" cy="595312"/>
            <a:chOff x="471" y="3081"/>
            <a:chExt cx="1579" cy="375"/>
          </a:xfrm>
        </p:grpSpPr>
        <p:graphicFrame>
          <p:nvGraphicFramePr>
            <p:cNvPr id="28734" name="Object 67"/>
            <p:cNvGraphicFramePr>
              <a:graphicFrameLocks noChangeAspect="1"/>
            </p:cNvGraphicFramePr>
            <p:nvPr/>
          </p:nvGraphicFramePr>
          <p:xfrm>
            <a:off x="1728" y="3120"/>
            <a:ext cx="32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" name="" r:id="rId18" imgW="266700" imgH="317500" progId="Equation.3">
                    <p:embed/>
                  </p:oleObj>
                </mc:Choice>
                <mc:Fallback>
                  <p:oleObj name="" r:id="rId18" imgW="266700" imgH="317500" progId="Equation.3">
                    <p:embed/>
                    <p:pic>
                      <p:nvPicPr>
                        <p:cNvPr id="0" name="图片 3179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CC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28" y="3120"/>
                          <a:ext cx="322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35" name="Rectangle 68"/>
            <p:cNvSpPr/>
            <p:nvPr/>
          </p:nvSpPr>
          <p:spPr>
            <a:xfrm>
              <a:off x="471" y="3081"/>
              <a:ext cx="125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2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3) 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外加电压</a:t>
              </a:r>
              <a:endPara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92229" name="Group 69"/>
          <p:cNvGrpSpPr/>
          <p:nvPr/>
        </p:nvGrpSpPr>
        <p:grpSpPr>
          <a:xfrm>
            <a:off x="685800" y="5486400"/>
            <a:ext cx="1239838" cy="565150"/>
            <a:chOff x="432" y="3379"/>
            <a:chExt cx="781" cy="356"/>
          </a:xfrm>
        </p:grpSpPr>
        <p:graphicFrame>
          <p:nvGraphicFramePr>
            <p:cNvPr id="28737" name="Object 70"/>
            <p:cNvGraphicFramePr>
              <a:graphicFrameLocks noChangeAspect="1"/>
            </p:cNvGraphicFramePr>
            <p:nvPr/>
          </p:nvGraphicFramePr>
          <p:xfrm>
            <a:off x="969" y="3416"/>
            <a:ext cx="244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" name="" r:id="rId20" imgW="165100" imgH="241300" progId="Equation.3">
                    <p:embed/>
                  </p:oleObj>
                </mc:Choice>
                <mc:Fallback>
                  <p:oleObj name="" r:id="rId20" imgW="165100" imgH="241300" progId="Equation.3">
                    <p:embed/>
                    <p:pic>
                      <p:nvPicPr>
                        <p:cNvPr id="0" name="图片 3182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69" y="3416"/>
                          <a:ext cx="244" cy="3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38" name="Rectangle 71"/>
            <p:cNvSpPr/>
            <p:nvPr/>
          </p:nvSpPr>
          <p:spPr>
            <a:xfrm>
              <a:off x="432" y="3379"/>
              <a:ext cx="58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2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4) 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求</a:t>
              </a:r>
              <a:endPara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92232" name="Rectangle 72"/>
          <p:cNvSpPr>
            <a:spLocks noChangeArrowheads="1"/>
          </p:cNvSpPr>
          <p:nvPr/>
        </p:nvSpPr>
        <p:spPr bwMode="auto">
          <a:xfrm>
            <a:off x="4419600" y="1541463"/>
            <a:ext cx="609600" cy="1162050"/>
          </a:xfrm>
          <a:prstGeom prst="rect">
            <a:avLst/>
          </a:prstGeom>
          <a:solidFill>
            <a:srgbClr val="F6FAE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2233" name="Group 73"/>
          <p:cNvGrpSpPr/>
          <p:nvPr/>
        </p:nvGrpSpPr>
        <p:grpSpPr>
          <a:xfrm>
            <a:off x="4419600" y="2851150"/>
            <a:ext cx="354013" cy="882650"/>
            <a:chOff x="2717" y="1440"/>
            <a:chExt cx="223" cy="556"/>
          </a:xfrm>
        </p:grpSpPr>
        <p:sp>
          <p:nvSpPr>
            <p:cNvPr id="92234" name="AutoShape 74"/>
            <p:cNvSpPr>
              <a:spLocks noChangeArrowheads="1"/>
            </p:cNvSpPr>
            <p:nvPr/>
          </p:nvSpPr>
          <p:spPr bwMode="auto">
            <a:xfrm flipH="1">
              <a:off x="2761" y="1440"/>
              <a:ext cx="179" cy="390"/>
            </a:xfrm>
            <a:custGeom>
              <a:avLst/>
              <a:gdLst>
                <a:gd name="G0" fmla="+- 15126 0 0"/>
                <a:gd name="G1" fmla="+- 2912 0 0"/>
                <a:gd name="G2" fmla="+- 12158 0 2912"/>
                <a:gd name="G3" fmla="+- G2 0 2912"/>
                <a:gd name="G4" fmla="*/ G3 32768 32059"/>
                <a:gd name="G5" fmla="*/ G4 1 2"/>
                <a:gd name="G6" fmla="+- 21600 0 15126"/>
                <a:gd name="G7" fmla="*/ G6 2912 6079"/>
                <a:gd name="G8" fmla="+- G7 15126 0"/>
                <a:gd name="T0" fmla="*/ 15126 w 21600"/>
                <a:gd name="T1" fmla="*/ 0 h 21600"/>
                <a:gd name="T2" fmla="*/ 15126 w 21600"/>
                <a:gd name="T3" fmla="*/ 12158 h 21600"/>
                <a:gd name="T4" fmla="*/ 3237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FF0000"/>
                </a:gs>
              </a:gsLst>
              <a:lin ang="18900000" scaled="1"/>
            </a:gradFill>
            <a:ln w="38100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8742" name="Object 75"/>
            <p:cNvGraphicFramePr>
              <a:graphicFrameLocks noChangeAspect="1"/>
            </p:cNvGraphicFramePr>
            <p:nvPr/>
          </p:nvGraphicFramePr>
          <p:xfrm>
            <a:off x="2717" y="1657"/>
            <a:ext cx="209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" name="" r:id="rId22" imgW="190500" imgH="304800" progId="Equation.3">
                    <p:embed/>
                  </p:oleObj>
                </mc:Choice>
                <mc:Fallback>
                  <p:oleObj name="" r:id="rId22" imgW="190500" imgH="304800" progId="Equation.3">
                    <p:embed/>
                    <p:pic>
                      <p:nvPicPr>
                        <p:cNvPr id="0" name="图片 3181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17" y="1657"/>
                          <a:ext cx="209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36" name="Rectangle 76"/>
          <p:cNvSpPr>
            <a:spLocks noChangeArrowheads="1"/>
          </p:cNvSpPr>
          <p:nvPr/>
        </p:nvSpPr>
        <p:spPr bwMode="auto">
          <a:xfrm>
            <a:off x="752475" y="2106613"/>
            <a:ext cx="679450" cy="784225"/>
          </a:xfrm>
          <a:prstGeom prst="rect">
            <a:avLst/>
          </a:prstGeom>
          <a:solidFill>
            <a:srgbClr val="F6FAE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37" name="Line 77"/>
          <p:cNvSpPr>
            <a:spLocks noChangeShapeType="1"/>
          </p:cNvSpPr>
          <p:nvPr/>
        </p:nvSpPr>
        <p:spPr bwMode="auto">
          <a:xfrm>
            <a:off x="1244600" y="2068513"/>
            <a:ext cx="0" cy="9032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38" name="AutoShape 78"/>
          <p:cNvSpPr/>
          <p:nvPr/>
        </p:nvSpPr>
        <p:spPr>
          <a:xfrm>
            <a:off x="5334000" y="990600"/>
            <a:ext cx="1076325" cy="592138"/>
          </a:xfrm>
          <a:prstGeom prst="wedgeRoundRectCallout">
            <a:avLst>
              <a:gd name="adj1" fmla="val -55458"/>
              <a:gd name="adj2" fmla="val 120778"/>
              <a:gd name="adj3" fmla="val 16667"/>
            </a:avLst>
          </a:prstGeom>
          <a:noFill/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外加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92304" name="Group 144"/>
          <p:cNvGrpSpPr/>
          <p:nvPr/>
        </p:nvGrpSpPr>
        <p:grpSpPr>
          <a:xfrm>
            <a:off x="4389438" y="723900"/>
            <a:ext cx="444500" cy="488950"/>
            <a:chOff x="2765" y="456"/>
            <a:chExt cx="280" cy="308"/>
          </a:xfrm>
        </p:grpSpPr>
        <p:sp>
          <p:nvSpPr>
            <p:cNvPr id="92240" name="Line 80"/>
            <p:cNvSpPr>
              <a:spLocks noChangeShapeType="1"/>
            </p:cNvSpPr>
            <p:nvPr/>
          </p:nvSpPr>
          <p:spPr bwMode="auto">
            <a:xfrm flipH="1">
              <a:off x="2765" y="749"/>
              <a:ext cx="2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8748" name="Object 81"/>
            <p:cNvGraphicFramePr>
              <a:graphicFrameLocks noChangeAspect="1"/>
            </p:cNvGraphicFramePr>
            <p:nvPr/>
          </p:nvGraphicFramePr>
          <p:xfrm>
            <a:off x="2844" y="456"/>
            <a:ext cx="16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" name="" r:id="rId24" imgW="215900" imgH="317500" progId="Equation.3">
                    <p:embed/>
                  </p:oleObj>
                </mc:Choice>
                <mc:Fallback>
                  <p:oleObj name="" r:id="rId24" imgW="215900" imgH="317500" progId="Equation.3">
                    <p:embed/>
                    <p:pic>
                      <p:nvPicPr>
                        <p:cNvPr id="0" name="图片 3180"/>
                        <p:cNvPicPr/>
                        <p:nvPr/>
                      </p:nvPicPr>
                      <p:blipFill>
                        <a:blip r:embed="rId25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44" y="456"/>
                          <a:ext cx="162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243" name="Object 83"/>
          <p:cNvGraphicFramePr>
            <a:graphicFrameLocks noChangeAspect="1"/>
          </p:cNvGraphicFramePr>
          <p:nvPr/>
        </p:nvGraphicFramePr>
        <p:xfrm>
          <a:off x="4010184" y="4586288"/>
          <a:ext cx="138557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26" imgW="698500" imgH="241300" progId="Equation.3">
                  <p:embed/>
                </p:oleObj>
              </mc:Choice>
              <mc:Fallback>
                <p:oleObj name="" r:id="rId26" imgW="698500" imgH="241300" progId="Equation.3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2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10184" y="4586288"/>
                        <a:ext cx="138557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309" name="Group 149"/>
          <p:cNvGrpSpPr/>
          <p:nvPr/>
        </p:nvGrpSpPr>
        <p:grpSpPr>
          <a:xfrm>
            <a:off x="304800" y="4518025"/>
            <a:ext cx="3363913" cy="573088"/>
            <a:chOff x="192" y="2776"/>
            <a:chExt cx="2119" cy="361"/>
          </a:xfrm>
        </p:grpSpPr>
        <p:sp>
          <p:nvSpPr>
            <p:cNvPr id="28754" name="Rectangle 65"/>
            <p:cNvSpPr/>
            <p:nvPr/>
          </p:nvSpPr>
          <p:spPr>
            <a:xfrm>
              <a:off x="192" y="2776"/>
              <a:ext cx="186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2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2) </a:t>
              </a:r>
              <a:r>
                <a: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令     或</a:t>
              </a:r>
              <a:endPara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8755" name="Object 146"/>
            <p:cNvGraphicFramePr>
              <a:graphicFrameLocks noChangeAspect="1"/>
            </p:cNvGraphicFramePr>
            <p:nvPr/>
          </p:nvGraphicFramePr>
          <p:xfrm>
            <a:off x="990" y="2795"/>
            <a:ext cx="517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" name="" r:id="rId28" imgW="419100" imgH="228600" progId="Equation.3">
                    <p:embed/>
                  </p:oleObj>
                </mc:Choice>
                <mc:Fallback>
                  <p:oleObj name="" r:id="rId28" imgW="419100" imgH="228600" progId="Equation.3">
                    <p:embed/>
                    <p:pic>
                      <p:nvPicPr>
                        <p:cNvPr id="0" name="图片 3187"/>
                        <p:cNvPicPr/>
                        <p:nvPr/>
                      </p:nvPicPr>
                      <p:blipFill>
                        <a:blip r:embed="rId29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90" y="2795"/>
                          <a:ext cx="517" cy="3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56" name="Object 147"/>
            <p:cNvGraphicFramePr>
              <a:graphicFrameLocks noChangeAspect="1"/>
            </p:cNvGraphicFramePr>
            <p:nvPr/>
          </p:nvGraphicFramePr>
          <p:xfrm>
            <a:off x="1770" y="2796"/>
            <a:ext cx="541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30" imgW="431800" imgH="241300" progId="Equation.3">
                    <p:embed/>
                  </p:oleObj>
                </mc:Choice>
                <mc:Fallback>
                  <p:oleObj name="" r:id="rId30" imgW="431800" imgH="241300" progId="Equation.3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3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70" y="2796"/>
                          <a:ext cx="541" cy="3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/>
          <p:nvPr/>
        </p:nvGraphicFramePr>
        <p:xfrm>
          <a:off x="3962400" y="3983355"/>
          <a:ext cx="1524635" cy="534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2" imgW="774065" imgH="254000" progId="Equation.KSEE3">
                  <p:embed/>
                </p:oleObj>
              </mc:Choice>
              <mc:Fallback>
                <p:oleObj name="" r:id="rId32" imgW="774065" imgH="254000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3962400" y="3983355"/>
                        <a:ext cx="1524635" cy="534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1595755" y="4610735"/>
          <a:ext cx="796925" cy="424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4" imgW="770255" imgH="383540" progId="Equation.KSEE3">
                  <p:embed/>
                </p:oleObj>
              </mc:Choice>
              <mc:Fallback>
                <p:oleObj name="" r:id="rId34" imgW="770255" imgH="383540" progId="Equation.KSEE3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595755" y="4610735"/>
                        <a:ext cx="796925" cy="424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2813050" y="4579620"/>
          <a:ext cx="867410" cy="511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6" imgW="431800" imgH="241300" progId="Equation.KSEE3">
                  <p:embed/>
                </p:oleObj>
              </mc:Choice>
              <mc:Fallback>
                <p:oleObj name="" r:id="rId36" imgW="431800" imgH="241300" progId="Equation.KSEE3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813050" y="4579620"/>
                        <a:ext cx="867410" cy="511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/>
          <p:nvPr/>
        </p:nvGraphicFramePr>
        <p:xfrm>
          <a:off x="4009390" y="4587240"/>
          <a:ext cx="1254125" cy="541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8" imgW="1266825" imgH="519430" progId="Equation.KSEE3">
                  <p:embed/>
                </p:oleObj>
              </mc:Choice>
              <mc:Fallback>
                <p:oleObj name="" r:id="rId38" imgW="1266825" imgH="519430" progId="Equation.KSEE3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009390" y="4587240"/>
                        <a:ext cx="1254125" cy="541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/>
        </p:nvGraphicFramePr>
        <p:xfrm>
          <a:off x="5882640" y="4518025"/>
          <a:ext cx="2801620" cy="611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40" imgW="2130425" imgH="488315" progId="Equation.KSEE3">
                  <p:embed/>
                </p:oleObj>
              </mc:Choice>
              <mc:Fallback>
                <p:oleObj name="" r:id="rId40" imgW="2130425" imgH="488315" progId="Equation.KSEE3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882640" y="4518025"/>
                        <a:ext cx="2801620" cy="611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/>
          <p:nvPr/>
        </p:nvGraphicFramePr>
        <p:xfrm>
          <a:off x="1510665" y="5545455"/>
          <a:ext cx="433705" cy="507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42" imgW="403225" imgH="561975" progId="Equation.KSEE3">
                  <p:embed/>
                </p:oleObj>
              </mc:Choice>
              <mc:Fallback>
                <p:oleObj name="" r:id="rId42" imgW="403225" imgH="561975" progId="Equation.KSEE3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10665" y="5545455"/>
                        <a:ext cx="433705" cy="507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/>
          <p:nvPr/>
        </p:nvGraphicFramePr>
        <p:xfrm>
          <a:off x="3352165" y="5381625"/>
          <a:ext cx="2239010" cy="1022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44" imgW="1439545" imgH="857885" progId="Equation.KSEE3">
                  <p:embed/>
                </p:oleObj>
              </mc:Choice>
              <mc:Fallback>
                <p:oleObj name="" r:id="rId44" imgW="1439545" imgH="857885" progId="Equation.KSEE3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3352165" y="5381625"/>
                        <a:ext cx="2239010" cy="1022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3" dur="500"/>
                                        <p:tgtEl>
                                          <p:spTgt spid="9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4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2224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4">
                                            <p:txEl>
                                              <p:charRg st="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2224">
                                            <p:txEl>
                                              <p:charRg st="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9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3" dur="500"/>
                                        <p:tgtEl>
                                          <p:spTgt spid="9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9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9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9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Par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7" dur="500"/>
                                        <p:tgtEl>
                                          <p:spTgt spid="9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92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0" grpId="0"/>
      <p:bldP spid="92222" grpId="0" animBg="1"/>
      <p:bldP spid="92224" grpId="0" build="p"/>
      <p:bldP spid="92232" grpId="0" animBg="1"/>
      <p:bldP spid="92236" grpId="0" animBg="1"/>
      <p:bldP spid="922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9697" name="Group 166"/>
          <p:cNvGrpSpPr/>
          <p:nvPr/>
        </p:nvGrpSpPr>
        <p:grpSpPr>
          <a:xfrm>
            <a:off x="228600" y="762000"/>
            <a:ext cx="4219575" cy="3095625"/>
            <a:chOff x="222" y="480"/>
            <a:chExt cx="2658" cy="1950"/>
          </a:xfrm>
        </p:grpSpPr>
        <p:sp>
          <p:nvSpPr>
            <p:cNvPr id="93351" name="Line 167"/>
            <p:cNvSpPr>
              <a:spLocks noChangeShapeType="1"/>
            </p:cNvSpPr>
            <p:nvPr/>
          </p:nvSpPr>
          <p:spPr bwMode="auto">
            <a:xfrm flipV="1">
              <a:off x="597" y="2315"/>
              <a:ext cx="22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352" name="Line 168"/>
            <p:cNvSpPr>
              <a:spLocks noChangeShapeType="1"/>
            </p:cNvSpPr>
            <p:nvPr/>
          </p:nvSpPr>
          <p:spPr bwMode="auto">
            <a:xfrm flipH="1" flipV="1">
              <a:off x="2027" y="855"/>
              <a:ext cx="0" cy="2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353" name="Line 169"/>
            <p:cNvSpPr>
              <a:spLocks noChangeShapeType="1"/>
            </p:cNvSpPr>
            <p:nvPr/>
          </p:nvSpPr>
          <p:spPr bwMode="auto">
            <a:xfrm flipV="1">
              <a:off x="597" y="860"/>
              <a:ext cx="8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9701" name="Group 170"/>
            <p:cNvGrpSpPr/>
            <p:nvPr/>
          </p:nvGrpSpPr>
          <p:grpSpPr>
            <a:xfrm>
              <a:off x="1913" y="1027"/>
              <a:ext cx="206" cy="290"/>
              <a:chOff x="4164" y="1968"/>
              <a:chExt cx="264" cy="420"/>
            </a:xfrm>
          </p:grpSpPr>
          <p:sp>
            <p:nvSpPr>
              <p:cNvPr id="93355" name="AutoShape 171"/>
              <p:cNvSpPr>
                <a:spLocks noChangeArrowheads="1"/>
              </p:cNvSpPr>
              <p:nvPr/>
            </p:nvSpPr>
            <p:spPr bwMode="auto">
              <a:xfrm>
                <a:off x="4164" y="1968"/>
                <a:ext cx="264" cy="420"/>
              </a:xfrm>
              <a:prstGeom prst="diamond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66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3356" name="Line 172"/>
              <p:cNvSpPr>
                <a:spLocks noChangeShapeType="1"/>
              </p:cNvSpPr>
              <p:nvPr/>
            </p:nvSpPr>
            <p:spPr bwMode="auto">
              <a:xfrm>
                <a:off x="4176" y="2184"/>
                <a:ext cx="2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3357" name="Rectangle 173"/>
            <p:cNvSpPr>
              <a:spLocks noChangeArrowheads="1"/>
            </p:cNvSpPr>
            <p:nvPr/>
          </p:nvSpPr>
          <p:spPr bwMode="auto">
            <a:xfrm>
              <a:off x="1436" y="1071"/>
              <a:ext cx="91" cy="25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358" name="Line 174"/>
            <p:cNvSpPr>
              <a:spLocks noChangeShapeType="1"/>
            </p:cNvSpPr>
            <p:nvPr/>
          </p:nvSpPr>
          <p:spPr bwMode="auto">
            <a:xfrm>
              <a:off x="2019" y="843"/>
              <a:ext cx="86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06" name="Text Box 175"/>
            <p:cNvSpPr txBox="1"/>
            <p:nvPr/>
          </p:nvSpPr>
          <p:spPr>
            <a:xfrm>
              <a:off x="1086" y="980"/>
              <a:ext cx="4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3360" name="Line 176"/>
            <p:cNvSpPr>
              <a:spLocks noChangeShapeType="1"/>
            </p:cNvSpPr>
            <p:nvPr/>
          </p:nvSpPr>
          <p:spPr bwMode="auto">
            <a:xfrm>
              <a:off x="1873" y="1049"/>
              <a:ext cx="0" cy="28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08" name="Text Box 177"/>
            <p:cNvSpPr txBox="1"/>
            <p:nvPr/>
          </p:nvSpPr>
          <p:spPr>
            <a:xfrm>
              <a:off x="1050" y="1450"/>
              <a:ext cx="46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3362" name="Line 178"/>
            <p:cNvSpPr>
              <a:spLocks noChangeShapeType="1"/>
            </p:cNvSpPr>
            <p:nvPr/>
          </p:nvSpPr>
          <p:spPr bwMode="auto">
            <a:xfrm flipV="1">
              <a:off x="2867" y="851"/>
              <a:ext cx="1" cy="147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10" name="Text Box 179"/>
            <p:cNvSpPr txBox="1"/>
            <p:nvPr/>
          </p:nvSpPr>
          <p:spPr>
            <a:xfrm>
              <a:off x="1792" y="1875"/>
              <a:ext cx="508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711" name="Text Box 180"/>
            <p:cNvSpPr txBox="1"/>
            <p:nvPr/>
          </p:nvSpPr>
          <p:spPr>
            <a:xfrm>
              <a:off x="1644" y="1225"/>
              <a:ext cx="22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712" name="Text Box 181"/>
            <p:cNvSpPr txBox="1"/>
            <p:nvPr/>
          </p:nvSpPr>
          <p:spPr>
            <a:xfrm>
              <a:off x="981" y="621"/>
              <a:ext cx="224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713" name="Text Box 182"/>
            <p:cNvSpPr txBox="1"/>
            <p:nvPr/>
          </p:nvSpPr>
          <p:spPr>
            <a:xfrm>
              <a:off x="2219" y="597"/>
              <a:ext cx="22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3367" name="Line 183"/>
            <p:cNvSpPr>
              <a:spLocks noChangeShapeType="1"/>
            </p:cNvSpPr>
            <p:nvPr/>
          </p:nvSpPr>
          <p:spPr bwMode="auto">
            <a:xfrm flipV="1">
              <a:off x="1080" y="863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15" name="Text Box 184" descr="新闻纸"/>
            <p:cNvSpPr txBox="1"/>
            <p:nvPr/>
          </p:nvSpPr>
          <p:spPr>
            <a:xfrm>
              <a:off x="715" y="838"/>
              <a:ext cx="29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716" name="Text Box 185" descr="新闻纸"/>
            <p:cNvSpPr txBox="1"/>
            <p:nvPr/>
          </p:nvSpPr>
          <p:spPr>
            <a:xfrm>
              <a:off x="717" y="2068"/>
              <a:ext cx="299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3370" name="Rectangle 186"/>
            <p:cNvSpPr>
              <a:spLocks noChangeArrowheads="1"/>
            </p:cNvSpPr>
            <p:nvPr/>
          </p:nvSpPr>
          <p:spPr bwMode="auto">
            <a:xfrm>
              <a:off x="1044" y="1475"/>
              <a:ext cx="91" cy="25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18" name="Rectangle 187" descr="新闻纸"/>
            <p:cNvSpPr/>
            <p:nvPr/>
          </p:nvSpPr>
          <p:spPr>
            <a:xfrm>
              <a:off x="2274" y="1629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719" name="Rectangle 188" descr="新闻纸"/>
            <p:cNvSpPr/>
            <p:nvPr/>
          </p:nvSpPr>
          <p:spPr>
            <a:xfrm>
              <a:off x="2275" y="2103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29720" name="Group 189"/>
            <p:cNvGrpSpPr/>
            <p:nvPr/>
          </p:nvGrpSpPr>
          <p:grpSpPr>
            <a:xfrm>
              <a:off x="1669" y="2311"/>
              <a:ext cx="160" cy="119"/>
              <a:chOff x="4403" y="3875"/>
              <a:chExt cx="160" cy="119"/>
            </a:xfrm>
          </p:grpSpPr>
          <p:sp>
            <p:nvSpPr>
              <p:cNvPr id="93374" name="Line 190"/>
              <p:cNvSpPr>
                <a:spLocks noChangeShapeType="1"/>
              </p:cNvSpPr>
              <p:nvPr/>
            </p:nvSpPr>
            <p:spPr bwMode="auto">
              <a:xfrm>
                <a:off x="4489" y="3875"/>
                <a:ext cx="0" cy="11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3375" name="Line 191"/>
              <p:cNvSpPr>
                <a:spLocks noChangeShapeType="1"/>
              </p:cNvSpPr>
              <p:nvPr/>
            </p:nvSpPr>
            <p:spPr bwMode="auto">
              <a:xfrm>
                <a:off x="4403" y="3994"/>
                <a:ext cx="1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3376" name="Line 192"/>
            <p:cNvSpPr>
              <a:spLocks noChangeShapeType="1"/>
            </p:cNvSpPr>
            <p:nvPr/>
          </p:nvSpPr>
          <p:spPr bwMode="auto">
            <a:xfrm flipV="1">
              <a:off x="1479" y="1327"/>
              <a:ext cx="0" cy="1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377" name="Line 193"/>
            <p:cNvSpPr>
              <a:spLocks noChangeShapeType="1"/>
            </p:cNvSpPr>
            <p:nvPr/>
          </p:nvSpPr>
          <p:spPr bwMode="auto">
            <a:xfrm flipH="1" flipV="1">
              <a:off x="1081" y="1726"/>
              <a:ext cx="1" cy="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378" name="Line 194"/>
            <p:cNvSpPr>
              <a:spLocks noChangeShapeType="1"/>
            </p:cNvSpPr>
            <p:nvPr/>
          </p:nvSpPr>
          <p:spPr bwMode="auto">
            <a:xfrm flipV="1">
              <a:off x="2020" y="1304"/>
              <a:ext cx="0" cy="1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379" name="Line 195"/>
            <p:cNvSpPr>
              <a:spLocks noChangeShapeType="1"/>
            </p:cNvSpPr>
            <p:nvPr/>
          </p:nvSpPr>
          <p:spPr bwMode="auto">
            <a:xfrm flipH="1">
              <a:off x="600" y="1430"/>
              <a:ext cx="0" cy="89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380" name="Rectangle 196"/>
            <p:cNvSpPr>
              <a:spLocks noChangeArrowheads="1"/>
            </p:cNvSpPr>
            <p:nvPr/>
          </p:nvSpPr>
          <p:spPr bwMode="auto">
            <a:xfrm>
              <a:off x="563" y="1202"/>
              <a:ext cx="78" cy="23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381" name="Line 197"/>
            <p:cNvSpPr>
              <a:spLocks noChangeShapeType="1"/>
            </p:cNvSpPr>
            <p:nvPr/>
          </p:nvSpPr>
          <p:spPr bwMode="auto">
            <a:xfrm flipH="1">
              <a:off x="600" y="846"/>
              <a:ext cx="0" cy="35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382" name="Oval 198"/>
            <p:cNvSpPr>
              <a:spLocks noChangeArrowheads="1"/>
            </p:cNvSpPr>
            <p:nvPr/>
          </p:nvSpPr>
          <p:spPr bwMode="auto">
            <a:xfrm>
              <a:off x="510" y="1767"/>
              <a:ext cx="192" cy="192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30" name="Rectangle 199" descr="新闻纸"/>
            <p:cNvSpPr/>
            <p:nvPr/>
          </p:nvSpPr>
          <p:spPr>
            <a:xfrm>
              <a:off x="404" y="1553"/>
              <a:ext cx="21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731" name="Rectangle 200"/>
            <p:cNvSpPr/>
            <p:nvPr/>
          </p:nvSpPr>
          <p:spPr>
            <a:xfrm>
              <a:off x="393" y="1873"/>
              <a:ext cx="21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732" name="Text Box 201"/>
            <p:cNvSpPr txBox="1"/>
            <p:nvPr/>
          </p:nvSpPr>
          <p:spPr>
            <a:xfrm>
              <a:off x="222" y="1173"/>
              <a:ext cx="42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3386" name="Oval 202"/>
            <p:cNvSpPr>
              <a:spLocks noChangeArrowheads="1"/>
            </p:cNvSpPr>
            <p:nvPr/>
          </p:nvSpPr>
          <p:spPr bwMode="auto">
            <a:xfrm>
              <a:off x="1723" y="2281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9734" name="Object 203"/>
            <p:cNvGraphicFramePr>
              <a:graphicFrameLocks noChangeAspect="1"/>
            </p:cNvGraphicFramePr>
            <p:nvPr/>
          </p:nvGraphicFramePr>
          <p:xfrm>
            <a:off x="743" y="1448"/>
            <a:ext cx="181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" name="" r:id="rId1" imgW="254000" imgH="304800" progId="Equation.3">
                    <p:embed/>
                  </p:oleObj>
                </mc:Choice>
                <mc:Fallback>
                  <p:oleObj name="" r:id="rId1" imgW="254000" imgH="304800" progId="Equation.3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43" y="1448"/>
                          <a:ext cx="181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388" name="Line 204"/>
            <p:cNvSpPr>
              <a:spLocks noChangeShapeType="1"/>
            </p:cNvSpPr>
            <p:nvPr/>
          </p:nvSpPr>
          <p:spPr bwMode="auto">
            <a:xfrm flipV="1">
              <a:off x="1234" y="805"/>
              <a:ext cx="2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9736" name="Object 205"/>
            <p:cNvGraphicFramePr>
              <a:graphicFrameLocks noChangeAspect="1"/>
            </p:cNvGraphicFramePr>
            <p:nvPr/>
          </p:nvGraphicFramePr>
          <p:xfrm>
            <a:off x="1220" y="521"/>
            <a:ext cx="177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4" name="" r:id="rId3" imgW="241300" imgH="317500" progId="Equation.3">
                    <p:embed/>
                  </p:oleObj>
                </mc:Choice>
                <mc:Fallback>
                  <p:oleObj name="" r:id="rId3" imgW="241300" imgH="317500" progId="Equation.3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20" y="521"/>
                          <a:ext cx="177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390" name="Line 206"/>
            <p:cNvSpPr>
              <a:spLocks noChangeShapeType="1"/>
            </p:cNvSpPr>
            <p:nvPr/>
          </p:nvSpPr>
          <p:spPr bwMode="auto">
            <a:xfrm flipH="1">
              <a:off x="2046" y="793"/>
              <a:ext cx="2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9738" name="Object 207"/>
            <p:cNvGraphicFramePr>
              <a:graphicFrameLocks noChangeAspect="1"/>
            </p:cNvGraphicFramePr>
            <p:nvPr/>
          </p:nvGraphicFramePr>
          <p:xfrm>
            <a:off x="2074" y="480"/>
            <a:ext cx="260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" name="" r:id="rId5" imgW="355600" imgH="317500" progId="Equation.3">
                    <p:embed/>
                  </p:oleObj>
                </mc:Choice>
                <mc:Fallback>
                  <p:oleObj name="" r:id="rId5" imgW="355600" imgH="317500" progId="Equation.3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74" y="480"/>
                          <a:ext cx="260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9" name="Object 208"/>
            <p:cNvGraphicFramePr>
              <a:graphicFrameLocks noChangeAspect="1"/>
            </p:cNvGraphicFramePr>
            <p:nvPr/>
          </p:nvGraphicFramePr>
          <p:xfrm>
            <a:off x="2293" y="1923"/>
            <a:ext cx="181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6" name="" r:id="rId7" imgW="266700" imgH="317500" progId="Equation.3">
                    <p:embed/>
                  </p:oleObj>
                </mc:Choice>
                <mc:Fallback>
                  <p:oleObj name="" r:id="rId7" imgW="266700" imgH="317500" progId="Equation.3">
                    <p:embed/>
                    <p:pic>
                      <p:nvPicPr>
                        <p:cNvPr id="0" name="图片 3195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93" y="1923"/>
                          <a:ext cx="181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40" name="Object 209"/>
            <p:cNvGraphicFramePr>
              <a:graphicFrameLocks noChangeAspect="1"/>
            </p:cNvGraphicFramePr>
            <p:nvPr/>
          </p:nvGraphicFramePr>
          <p:xfrm>
            <a:off x="1662" y="798"/>
            <a:ext cx="300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" name="" r:id="rId9" imgW="342900" imgH="317500" progId="Equation.3">
                    <p:embed/>
                  </p:oleObj>
                </mc:Choice>
                <mc:Fallback>
                  <p:oleObj name="" r:id="rId9" imgW="342900" imgH="317500" progId="Equation.3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62" y="798"/>
                          <a:ext cx="300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41" name="Object 210"/>
            <p:cNvGraphicFramePr>
              <a:graphicFrameLocks noChangeAspect="1"/>
            </p:cNvGraphicFramePr>
            <p:nvPr/>
          </p:nvGraphicFramePr>
          <p:xfrm>
            <a:off x="284" y="1707"/>
            <a:ext cx="205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2" name="" r:id="rId11" imgW="292100" imgH="317500" progId="Equation.3">
                    <p:embed/>
                  </p:oleObj>
                </mc:Choice>
                <mc:Fallback>
                  <p:oleObj name="" r:id="rId11" imgW="292100" imgH="317500" progId="Equation.3">
                    <p:embed/>
                    <p:pic>
                      <p:nvPicPr>
                        <p:cNvPr id="0" name="图片 3191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4" y="1707"/>
                          <a:ext cx="205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395" name="Rectangle 211"/>
            <p:cNvSpPr>
              <a:spLocks noChangeArrowheads="1"/>
            </p:cNvSpPr>
            <p:nvPr/>
          </p:nvSpPr>
          <p:spPr bwMode="auto">
            <a:xfrm>
              <a:off x="1713" y="1918"/>
              <a:ext cx="91" cy="25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396" name="Line 212"/>
            <p:cNvSpPr>
              <a:spLocks noChangeShapeType="1"/>
            </p:cNvSpPr>
            <p:nvPr/>
          </p:nvSpPr>
          <p:spPr bwMode="auto">
            <a:xfrm>
              <a:off x="1759" y="1464"/>
              <a:ext cx="0" cy="4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397" name="Line 213"/>
            <p:cNvSpPr>
              <a:spLocks noChangeShapeType="1"/>
            </p:cNvSpPr>
            <p:nvPr/>
          </p:nvSpPr>
          <p:spPr bwMode="auto">
            <a:xfrm>
              <a:off x="1754" y="2182"/>
              <a:ext cx="0" cy="12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398" name="Line 214"/>
            <p:cNvSpPr>
              <a:spLocks noChangeShapeType="1"/>
            </p:cNvSpPr>
            <p:nvPr/>
          </p:nvSpPr>
          <p:spPr bwMode="auto">
            <a:xfrm>
              <a:off x="1721" y="1486"/>
              <a:ext cx="0" cy="21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9746" name="Object 215"/>
            <p:cNvGraphicFramePr>
              <a:graphicFrameLocks noChangeAspect="1"/>
            </p:cNvGraphicFramePr>
            <p:nvPr/>
          </p:nvGraphicFramePr>
          <p:xfrm>
            <a:off x="1547" y="1460"/>
            <a:ext cx="163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" name="" r:id="rId13" imgW="241300" imgH="355600" progId="Equation.3">
                    <p:embed/>
                  </p:oleObj>
                </mc:Choice>
                <mc:Fallback>
                  <p:oleObj name="" r:id="rId13" imgW="241300" imgH="355600" progId="Equation.3">
                    <p:embed/>
                    <p:pic>
                      <p:nvPicPr>
                        <p:cNvPr id="0" name="图片 3189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47" y="1460"/>
                          <a:ext cx="163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47" name="Text Box 216"/>
            <p:cNvSpPr txBox="1"/>
            <p:nvPr/>
          </p:nvSpPr>
          <p:spPr>
            <a:xfrm>
              <a:off x="1349" y="1893"/>
              <a:ext cx="46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3401" name="Rectangle 217"/>
            <p:cNvSpPr>
              <a:spLocks noChangeArrowheads="1"/>
            </p:cNvSpPr>
            <p:nvPr/>
          </p:nvSpPr>
          <p:spPr bwMode="auto">
            <a:xfrm>
              <a:off x="2171" y="1913"/>
              <a:ext cx="91" cy="25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402" name="Line 218"/>
            <p:cNvSpPr>
              <a:spLocks noChangeShapeType="1"/>
            </p:cNvSpPr>
            <p:nvPr/>
          </p:nvSpPr>
          <p:spPr bwMode="auto">
            <a:xfrm>
              <a:off x="2217" y="1700"/>
              <a:ext cx="0" cy="2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403" name="Line 219"/>
            <p:cNvSpPr>
              <a:spLocks noChangeShapeType="1"/>
            </p:cNvSpPr>
            <p:nvPr/>
          </p:nvSpPr>
          <p:spPr bwMode="auto">
            <a:xfrm>
              <a:off x="2212" y="2165"/>
              <a:ext cx="0" cy="1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404" name="Line 220"/>
            <p:cNvSpPr>
              <a:spLocks noChangeShapeType="1"/>
            </p:cNvSpPr>
            <p:nvPr/>
          </p:nvSpPr>
          <p:spPr bwMode="auto">
            <a:xfrm>
              <a:off x="1764" y="1700"/>
              <a:ext cx="465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405" name="Line 221"/>
            <p:cNvSpPr>
              <a:spLocks noChangeShapeType="1"/>
            </p:cNvSpPr>
            <p:nvPr/>
          </p:nvSpPr>
          <p:spPr bwMode="auto">
            <a:xfrm>
              <a:off x="1481" y="1470"/>
              <a:ext cx="5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406" name="Line 222"/>
            <p:cNvSpPr>
              <a:spLocks noChangeShapeType="1"/>
            </p:cNvSpPr>
            <p:nvPr/>
          </p:nvSpPr>
          <p:spPr bwMode="auto">
            <a:xfrm>
              <a:off x="1493" y="84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407" name="Line 223"/>
            <p:cNvSpPr>
              <a:spLocks noChangeShapeType="1"/>
            </p:cNvSpPr>
            <p:nvPr/>
          </p:nvSpPr>
          <p:spPr bwMode="auto">
            <a:xfrm flipV="1">
              <a:off x="624" y="816"/>
              <a:ext cx="2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9755" name="Object 224"/>
            <p:cNvGraphicFramePr>
              <a:graphicFrameLocks noChangeAspect="1"/>
            </p:cNvGraphicFramePr>
            <p:nvPr/>
          </p:nvGraphicFramePr>
          <p:xfrm>
            <a:off x="624" y="528"/>
            <a:ext cx="15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7" name="" r:id="rId15" imgW="203200" imgH="304800" progId="Equation.3">
                    <p:embed/>
                  </p:oleObj>
                </mc:Choice>
                <mc:Fallback>
                  <p:oleObj name="" r:id="rId15" imgW="203200" imgH="304800" progId="Equation.3">
                    <p:embed/>
                    <p:pic>
                      <p:nvPicPr>
                        <p:cNvPr id="0" name="图片 3196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24" y="528"/>
                          <a:ext cx="151" cy="2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3188" name="Rectangle 4" descr="新闻纸"/>
          <p:cNvSpPr>
            <a:spLocks noChangeArrowheads="1"/>
          </p:cNvSpPr>
          <p:nvPr/>
        </p:nvSpPr>
        <p:spPr bwMode="auto">
          <a:xfrm>
            <a:off x="304800" y="838200"/>
            <a:ext cx="2971800" cy="3124200"/>
          </a:xfrm>
          <a:prstGeom prst="rect">
            <a:avLst/>
          </a:prstGeom>
          <a:noFill/>
          <a:ln w="28575">
            <a:solidFill>
              <a:srgbClr val="0066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7"/>
                  <a:srcRect/>
                  <a:tile tx="0" ty="0" sx="100000" sy="100000" flip="none" algn="tl"/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270" name="AutoShape 86"/>
          <p:cNvSpPr/>
          <p:nvPr/>
        </p:nvSpPr>
        <p:spPr>
          <a:xfrm>
            <a:off x="4562475" y="3217863"/>
            <a:ext cx="1076325" cy="592137"/>
          </a:xfrm>
          <a:prstGeom prst="wedgeRoundRectCallout">
            <a:avLst>
              <a:gd name="adj1" fmla="val -121384"/>
              <a:gd name="adj2" fmla="val -41690"/>
              <a:gd name="adj3" fmla="val 16667"/>
            </a:avLst>
          </a:prstGeom>
          <a:noFill/>
          <a:ln w="38100" cap="flat" cmpd="sng">
            <a:solidFill>
              <a:srgbClr val="339933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外加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3334" name="Text Box 150"/>
          <p:cNvSpPr txBox="1">
            <a:spLocks noChangeArrowheads="1"/>
          </p:cNvSpPr>
          <p:nvPr/>
        </p:nvSpPr>
        <p:spPr bwMode="auto">
          <a:xfrm>
            <a:off x="304800" y="228600"/>
            <a:ext cx="35198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例：输出电阻计算</a:t>
            </a:r>
            <a:endParaRPr lang="en-US" altLang="zh-CN" sz="2800" b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3246" name="Rectangle 62"/>
          <p:cNvSpPr>
            <a:spLocks noChangeArrowheads="1"/>
          </p:cNvSpPr>
          <p:nvPr/>
        </p:nvSpPr>
        <p:spPr bwMode="auto">
          <a:xfrm>
            <a:off x="2971800" y="2819400"/>
            <a:ext cx="533400" cy="762000"/>
          </a:xfrm>
          <a:prstGeom prst="rect">
            <a:avLst/>
          </a:prstGeom>
          <a:solidFill>
            <a:srgbClr val="F6FAE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335" name="Rectangle 151"/>
          <p:cNvSpPr>
            <a:spLocks noChangeArrowheads="1"/>
          </p:cNvSpPr>
          <p:nvPr/>
        </p:nvSpPr>
        <p:spPr bwMode="auto">
          <a:xfrm>
            <a:off x="381000" y="2590800"/>
            <a:ext cx="685800" cy="784225"/>
          </a:xfrm>
          <a:prstGeom prst="rect">
            <a:avLst/>
          </a:prstGeom>
          <a:solidFill>
            <a:srgbClr val="F6FAE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336" name="Line 152"/>
          <p:cNvSpPr>
            <a:spLocks noChangeShapeType="1"/>
          </p:cNvSpPr>
          <p:nvPr/>
        </p:nvSpPr>
        <p:spPr bwMode="auto">
          <a:xfrm>
            <a:off x="827088" y="2514600"/>
            <a:ext cx="1588" cy="9032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3337" name="Group 153"/>
          <p:cNvGrpSpPr/>
          <p:nvPr/>
        </p:nvGrpSpPr>
        <p:grpSpPr>
          <a:xfrm>
            <a:off x="2971800" y="2133600"/>
            <a:ext cx="444500" cy="488950"/>
            <a:chOff x="2765" y="456"/>
            <a:chExt cx="280" cy="308"/>
          </a:xfrm>
        </p:grpSpPr>
        <p:sp>
          <p:nvSpPr>
            <p:cNvPr id="93338" name="Line 154"/>
            <p:cNvSpPr>
              <a:spLocks noChangeShapeType="1"/>
            </p:cNvSpPr>
            <p:nvPr/>
          </p:nvSpPr>
          <p:spPr bwMode="auto">
            <a:xfrm flipH="1">
              <a:off x="2765" y="749"/>
              <a:ext cx="2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9767" name="Object 155"/>
            <p:cNvGraphicFramePr>
              <a:graphicFrameLocks noChangeAspect="1"/>
            </p:cNvGraphicFramePr>
            <p:nvPr/>
          </p:nvGraphicFramePr>
          <p:xfrm>
            <a:off x="2844" y="456"/>
            <a:ext cx="16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2" name="" r:id="rId18" imgW="215900" imgH="317500" progId="Equation.3">
                    <p:embed/>
                  </p:oleObj>
                </mc:Choice>
                <mc:Fallback>
                  <p:oleObj name="" r:id="rId18" imgW="215900" imgH="317500" progId="Equation.3">
                    <p:embed/>
                    <p:pic>
                      <p:nvPicPr>
                        <p:cNvPr id="0" name="图片 3201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FF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44" y="456"/>
                          <a:ext cx="162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3412" name="Group 228"/>
          <p:cNvGrpSpPr/>
          <p:nvPr/>
        </p:nvGrpSpPr>
        <p:grpSpPr>
          <a:xfrm>
            <a:off x="3124200" y="3384550"/>
            <a:ext cx="354013" cy="882650"/>
            <a:chOff x="1968" y="2132"/>
            <a:chExt cx="223" cy="556"/>
          </a:xfrm>
        </p:grpSpPr>
        <p:sp>
          <p:nvSpPr>
            <p:cNvPr id="93258" name="AutoShape 74"/>
            <p:cNvSpPr>
              <a:spLocks noChangeArrowheads="1"/>
            </p:cNvSpPr>
            <p:nvPr/>
          </p:nvSpPr>
          <p:spPr bwMode="auto">
            <a:xfrm flipH="1">
              <a:off x="2012" y="2132"/>
              <a:ext cx="179" cy="390"/>
            </a:xfrm>
            <a:custGeom>
              <a:avLst/>
              <a:gdLst>
                <a:gd name="G0" fmla="+- 15126 0 0"/>
                <a:gd name="G1" fmla="+- 2912 0 0"/>
                <a:gd name="G2" fmla="+- 12158 0 2912"/>
                <a:gd name="G3" fmla="+- G2 0 2912"/>
                <a:gd name="G4" fmla="*/ G3 32768 32059"/>
                <a:gd name="G5" fmla="*/ G4 1 2"/>
                <a:gd name="G6" fmla="+- 21600 0 15126"/>
                <a:gd name="G7" fmla="*/ G6 2912 6079"/>
                <a:gd name="G8" fmla="+- G7 15126 0"/>
                <a:gd name="T0" fmla="*/ 15126 w 21600"/>
                <a:gd name="T1" fmla="*/ 0 h 21600"/>
                <a:gd name="T2" fmla="*/ 15126 w 21600"/>
                <a:gd name="T3" fmla="*/ 12158 h 21600"/>
                <a:gd name="T4" fmla="*/ 3237 w 21600"/>
                <a:gd name="T5" fmla="*/ 21600 h 21600"/>
                <a:gd name="T6" fmla="*/ 21600 w 21600"/>
                <a:gd name="T7" fmla="*/ 6079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G1 h 21600"/>
                <a:gd name="T14" fmla="*/ G8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FF0000"/>
                </a:gs>
              </a:gsLst>
              <a:lin ang="18900000" scaled="1"/>
            </a:gradFill>
            <a:ln w="38100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9770" name="Object 75"/>
            <p:cNvGraphicFramePr>
              <a:graphicFrameLocks noChangeAspect="1"/>
            </p:cNvGraphicFramePr>
            <p:nvPr/>
          </p:nvGraphicFramePr>
          <p:xfrm>
            <a:off x="1968" y="2349"/>
            <a:ext cx="209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3" name="" r:id="rId20" imgW="190500" imgH="304800" progId="Equation.3">
                    <p:embed/>
                  </p:oleObj>
                </mc:Choice>
                <mc:Fallback>
                  <p:oleObj name="" r:id="rId20" imgW="190500" imgH="304800" progId="Equation.3">
                    <p:embed/>
                    <p:pic>
                      <p:nvPicPr>
                        <p:cNvPr id="0" name="图片 3202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68" y="2349"/>
                          <a:ext cx="209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771" name="Group 165"/>
          <p:cNvGrpSpPr/>
          <p:nvPr/>
        </p:nvGrpSpPr>
        <p:grpSpPr>
          <a:xfrm>
            <a:off x="5181600" y="565150"/>
            <a:ext cx="3810000" cy="2420938"/>
            <a:chOff x="3264" y="356"/>
            <a:chExt cx="2400" cy="1525"/>
          </a:xfrm>
        </p:grpSpPr>
        <p:sp>
          <p:nvSpPr>
            <p:cNvPr id="93261" name="Text Box 77"/>
            <p:cNvSpPr txBox="1">
              <a:spLocks noChangeArrowheads="1"/>
            </p:cNvSpPr>
            <p:nvPr/>
          </p:nvSpPr>
          <p:spPr bwMode="auto">
            <a:xfrm>
              <a:off x="3504" y="356"/>
              <a:ext cx="2160" cy="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R="0" defTabSz="914400" rtl="0">
                <a:lnSpc>
                  <a:spcPct val="110000"/>
                </a:lnSpc>
                <a:buClrTx/>
                <a:buSzTx/>
                <a:buFontTx/>
                <a:buNone/>
                <a:defRPr/>
              </a:pPr>
              <a:r>
                <a:rPr kumimoji="1" lang="zh-CN" altLang="en-US" sz="2800" b="1" kern="1200" cap="none" spc="0" normalizeH="0" baseline="0" noProof="0" smtClean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求</a:t>
              </a:r>
              <a:r>
                <a:rPr kumimoji="1" lang="en-US" altLang="zh-CN" sz="2800" b="1" i="1" kern="1200" cap="none" spc="0" normalizeH="0" baseline="0" noProof="0" smtClean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  <a:r>
                <a:rPr kumimoji="1" lang="en-US" altLang="zh-CN" sz="2800" b="1" kern="1200" cap="none" spc="0" normalizeH="0" baseline="-25000" noProof="0" smtClean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</a:t>
              </a:r>
              <a:r>
                <a:rPr kumimoji="1" lang="zh-CN" altLang="en-US" sz="2800" b="1" kern="1200" cap="none" spc="0" normalizeH="0" baseline="0" noProof="0" smtClean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的步骤：</a:t>
              </a:r>
              <a:endParaRPr kumimoji="1" lang="zh-CN" altLang="en-US" sz="2800" b="1" kern="1200" cap="none" spc="0" normalizeH="0" baseline="0" noProof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  <a:p>
              <a:pPr marR="0" defTabSz="914400" rtl="0">
                <a:lnSpc>
                  <a:spcPct val="110000"/>
                </a:lnSpc>
                <a:buClrTx/>
                <a:buSzTx/>
                <a:buFontTx/>
                <a:buNone/>
                <a:defRPr/>
              </a:pPr>
              <a:r>
                <a:rPr kumimoji="1" lang="en-US" altLang="zh-CN" sz="2800" b="1" kern="1200" cap="none" spc="0" normalizeH="0" baseline="0" noProof="0" smtClean="0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1)</a:t>
              </a:r>
              <a:r>
                <a:rPr kumimoji="1" lang="en-US" altLang="zh-CN" sz="2800" b="1" kern="1200" cap="none" spc="0" normalizeH="0" baseline="0" noProof="0" smtClean="0"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zh-CN" altLang="en-US" sz="2800" b="1" kern="1200" cap="none" spc="0" normalizeH="0" baseline="0" noProof="0" smtClean="0"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断开负载</a:t>
              </a:r>
              <a:r>
                <a:rPr kumimoji="1" lang="en-US" altLang="zh-CN" sz="2800" b="1" i="1" kern="1200" cap="none" spc="0" normalizeH="0" baseline="0" noProof="0" smtClean="0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  <a:r>
                <a:rPr kumimoji="1" lang="en-US" altLang="zh-CN" sz="2800" b="1" kern="1200" cap="none" spc="0" normalizeH="0" baseline="-25000" noProof="0" smtClean="0"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</a:t>
              </a:r>
              <a:endParaRPr kumimoji="1" lang="en-US" altLang="zh-CN" sz="2800" b="1" kern="1200" cap="none" spc="0" normalizeH="0" baseline="-25000" noProof="0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9773" name="Group 79"/>
            <p:cNvGrpSpPr/>
            <p:nvPr/>
          </p:nvGrpSpPr>
          <p:grpSpPr>
            <a:xfrm>
              <a:off x="3509" y="1214"/>
              <a:ext cx="1579" cy="388"/>
              <a:chOff x="471" y="3068"/>
              <a:chExt cx="1579" cy="388"/>
            </a:xfrm>
          </p:grpSpPr>
          <p:graphicFrame>
            <p:nvGraphicFramePr>
              <p:cNvPr id="29774" name="Object 80"/>
              <p:cNvGraphicFramePr>
                <a:graphicFrameLocks noChangeAspect="1"/>
              </p:cNvGraphicFramePr>
              <p:nvPr/>
            </p:nvGraphicFramePr>
            <p:xfrm>
              <a:off x="1728" y="3120"/>
              <a:ext cx="322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4" name="" r:id="rId22" imgW="266700" imgH="317500" progId="Equation.3">
                      <p:embed/>
                    </p:oleObj>
                  </mc:Choice>
                  <mc:Fallback>
                    <p:oleObj name="" r:id="rId22" imgW="266700" imgH="317500" progId="Equation.3">
                      <p:embed/>
                      <p:pic>
                        <p:nvPicPr>
                          <p:cNvPr id="0" name="图片 3203"/>
                          <p:cNvPicPr/>
                          <p:nvPr/>
                        </p:nvPicPr>
                        <p:blipFill>
                          <a:blip r:embed="rId23">
                            <a:clrChange>
                              <a:clrFrom>
                                <a:srgbClr val="000000"/>
                              </a:clrFrom>
                              <a:clrTo>
                                <a:srgbClr val="CC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728" y="3120"/>
                            <a:ext cx="322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75" name="Rectangle 81"/>
              <p:cNvSpPr/>
              <p:nvPr/>
            </p:nvSpPr>
            <p:spPr>
              <a:xfrm>
                <a:off x="471" y="3068"/>
                <a:ext cx="1257" cy="3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3) </a:t>
                </a:r>
                <a:r>
                  <a:rPr lang="zh-CN" altLang="en-US" sz="28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外加电压</a:t>
                </a:r>
                <a:endPara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9776" name="Group 82"/>
            <p:cNvGrpSpPr/>
            <p:nvPr/>
          </p:nvGrpSpPr>
          <p:grpSpPr>
            <a:xfrm>
              <a:off x="3531" y="1512"/>
              <a:ext cx="781" cy="369"/>
              <a:chOff x="432" y="3366"/>
              <a:chExt cx="781" cy="369"/>
            </a:xfrm>
          </p:grpSpPr>
          <p:graphicFrame>
            <p:nvGraphicFramePr>
              <p:cNvPr id="29777" name="Object 83"/>
              <p:cNvGraphicFramePr>
                <a:graphicFrameLocks noChangeAspect="1"/>
              </p:cNvGraphicFramePr>
              <p:nvPr/>
            </p:nvGraphicFramePr>
            <p:xfrm>
              <a:off x="969" y="3416"/>
              <a:ext cx="244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5" name="" r:id="rId24" imgW="165100" imgH="241300" progId="Equation.3">
                      <p:embed/>
                    </p:oleObj>
                  </mc:Choice>
                  <mc:Fallback>
                    <p:oleObj name="" r:id="rId24" imgW="165100" imgH="241300" progId="Equation.3">
                      <p:embed/>
                      <p:pic>
                        <p:nvPicPr>
                          <p:cNvPr id="0" name="图片 3204"/>
                          <p:cNvPicPr/>
                          <p:nvPr/>
                        </p:nvPicPr>
                        <p:blipFill>
                          <a:blip r:embed="rId25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969" y="3416"/>
                            <a:ext cx="244" cy="31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78" name="Rectangle 84"/>
              <p:cNvSpPr/>
              <p:nvPr/>
            </p:nvSpPr>
            <p:spPr>
              <a:xfrm>
                <a:off x="432" y="3366"/>
                <a:ext cx="583" cy="35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4) </a:t>
                </a:r>
                <a:r>
                  <a:rPr lang="zh-CN" altLang="en-US" sz="28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求</a:t>
                </a:r>
                <a:endPara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9779" name="Group 157"/>
            <p:cNvGrpSpPr/>
            <p:nvPr/>
          </p:nvGrpSpPr>
          <p:grpSpPr>
            <a:xfrm>
              <a:off x="3264" y="960"/>
              <a:ext cx="2119" cy="361"/>
              <a:chOff x="192" y="2776"/>
              <a:chExt cx="2119" cy="361"/>
            </a:xfrm>
          </p:grpSpPr>
          <p:sp>
            <p:nvSpPr>
              <p:cNvPr id="29780" name="Rectangle 158"/>
              <p:cNvSpPr/>
              <p:nvPr/>
            </p:nvSpPr>
            <p:spPr>
              <a:xfrm>
                <a:off x="192" y="2776"/>
                <a:ext cx="1863" cy="32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2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2) </a:t>
                </a:r>
                <a:r>
                  <a:rPr lang="zh-CN" altLang="en-US" sz="28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令     或</a:t>
                </a:r>
                <a:endParaRPr lang="zh-CN" altLang="en-US" sz="28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29781" name="Object 159"/>
              <p:cNvGraphicFramePr>
                <a:graphicFrameLocks noChangeAspect="1"/>
              </p:cNvGraphicFramePr>
              <p:nvPr/>
            </p:nvGraphicFramePr>
            <p:xfrm>
              <a:off x="990" y="2795"/>
              <a:ext cx="517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6" name="" r:id="rId26" imgW="419100" imgH="228600" progId="Equation.3">
                      <p:embed/>
                    </p:oleObj>
                  </mc:Choice>
                  <mc:Fallback>
                    <p:oleObj name="" r:id="rId26" imgW="419100" imgH="228600" progId="Equation.3">
                      <p:embed/>
                      <p:pic>
                        <p:nvPicPr>
                          <p:cNvPr id="0" name="图片 3205"/>
                          <p:cNvPicPr/>
                          <p:nvPr/>
                        </p:nvPicPr>
                        <p:blipFill>
                          <a:blip r:embed="rId27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990" y="2795"/>
                            <a:ext cx="517" cy="3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82" name="Object 160"/>
              <p:cNvGraphicFramePr>
                <a:graphicFrameLocks noChangeAspect="1"/>
              </p:cNvGraphicFramePr>
              <p:nvPr/>
            </p:nvGraphicFramePr>
            <p:xfrm>
              <a:off x="1770" y="2796"/>
              <a:ext cx="541" cy="3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0" name="" r:id="rId28" imgW="431800" imgH="241300" progId="Equation.3">
                      <p:embed/>
                    </p:oleObj>
                  </mc:Choice>
                  <mc:Fallback>
                    <p:oleObj name="" r:id="rId28" imgW="431800" imgH="241300" progId="Equation.3">
                      <p:embed/>
                      <p:pic>
                        <p:nvPicPr>
                          <p:cNvPr id="0" name="图片 3199"/>
                          <p:cNvPicPr/>
                          <p:nvPr/>
                        </p:nvPicPr>
                        <p:blipFill>
                          <a:blip r:embed="rId29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770" y="2796"/>
                            <a:ext cx="541" cy="34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93411" name="Group 227"/>
          <p:cNvGrpSpPr/>
          <p:nvPr/>
        </p:nvGrpSpPr>
        <p:grpSpPr>
          <a:xfrm>
            <a:off x="2819400" y="2971800"/>
            <a:ext cx="685800" cy="534988"/>
            <a:chOff x="1776" y="1920"/>
            <a:chExt cx="432" cy="337"/>
          </a:xfrm>
        </p:grpSpPr>
        <p:sp>
          <p:nvSpPr>
            <p:cNvPr id="93409" name="Line 225"/>
            <p:cNvSpPr>
              <a:spLocks noChangeShapeType="1"/>
            </p:cNvSpPr>
            <p:nvPr/>
          </p:nvSpPr>
          <p:spPr bwMode="auto">
            <a:xfrm>
              <a:off x="1776" y="1968"/>
              <a:ext cx="0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9785" name="Object 226"/>
            <p:cNvGraphicFramePr>
              <a:graphicFrameLocks noChangeAspect="1"/>
            </p:cNvGraphicFramePr>
            <p:nvPr/>
          </p:nvGraphicFramePr>
          <p:xfrm>
            <a:off x="1776" y="1920"/>
            <a:ext cx="432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7" name="" r:id="rId30" imgW="469900" imgH="342900" progId="Equation.3">
                    <p:embed/>
                  </p:oleObj>
                </mc:Choice>
                <mc:Fallback>
                  <p:oleObj name="" r:id="rId30" imgW="469900" imgH="342900" progId="Equation.3">
                    <p:embed/>
                    <p:pic>
                      <p:nvPicPr>
                        <p:cNvPr id="0" name="图片 3206"/>
                        <p:cNvPicPr/>
                        <p:nvPr/>
                      </p:nvPicPr>
                      <p:blipFill>
                        <a:blip r:embed="rId31">
                          <a:clrChange>
                            <a:clrFrom>
                              <a:srgbClr val="000000"/>
                            </a:clrFrom>
                            <a:clrTo>
                              <a:srgbClr val="0000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76" y="1920"/>
                          <a:ext cx="432" cy="3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对象 1"/>
          <p:cNvGraphicFramePr/>
          <p:nvPr/>
        </p:nvGraphicFramePr>
        <p:xfrm>
          <a:off x="6444615" y="1577340"/>
          <a:ext cx="824230" cy="449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2" imgW="419100" imgH="228600" progId="Equation.KSEE3">
                  <p:embed/>
                </p:oleObj>
              </mc:Choice>
              <mc:Fallback>
                <p:oleObj name="" r:id="rId32" imgW="419100" imgH="228600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444615" y="1577340"/>
                        <a:ext cx="824230" cy="449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7691120" y="1564005"/>
          <a:ext cx="876935" cy="521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4" imgW="431800" imgH="241300" progId="Equation.KSEE3">
                  <p:embed/>
                </p:oleObj>
              </mc:Choice>
              <mc:Fallback>
                <p:oleObj name="" r:id="rId34" imgW="431800" imgH="241300" progId="Equation.KSEE3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7691120" y="1564005"/>
                        <a:ext cx="876935" cy="521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6457950" y="2489200"/>
          <a:ext cx="387350" cy="48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6" imgW="165100" imgH="241300" progId="Equation.KSEE3">
                  <p:embed/>
                </p:oleObj>
              </mc:Choice>
              <mc:Fallback>
                <p:oleObj name="" r:id="rId36" imgW="165100" imgH="241300" progId="Equation.KSEE3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6457950" y="2489200"/>
                        <a:ext cx="387350" cy="487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/>
        </p:nvGraphicFramePr>
        <p:xfrm>
          <a:off x="808990" y="4401820"/>
          <a:ext cx="2385060" cy="619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38" imgW="1371600" imgH="254000" progId="Equation.KSEE3">
                  <p:embed/>
                </p:oleObj>
              </mc:Choice>
              <mc:Fallback>
                <p:oleObj name="" r:id="rId38" imgW="1371600" imgH="254000" progId="Equation.KSEE3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808990" y="4401820"/>
                        <a:ext cx="2385060" cy="619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/>
          <p:nvPr/>
        </p:nvGraphicFramePr>
        <p:xfrm>
          <a:off x="1106805" y="5130800"/>
          <a:ext cx="3658870" cy="986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40" imgW="2273300" imgH="457200" progId="Equation.KSEE3">
                  <p:embed/>
                </p:oleObj>
              </mc:Choice>
              <mc:Fallback>
                <p:oleObj name="" r:id="rId40" imgW="2273300" imgH="457200" progId="Equation.KSEE3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106805" y="5130800"/>
                        <a:ext cx="3658870" cy="986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/>
          <p:nvPr/>
        </p:nvGraphicFramePr>
        <p:xfrm>
          <a:off x="5803900" y="5021580"/>
          <a:ext cx="2945765" cy="1096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42" imgW="1435100" imgH="622300" progId="Equation.KSEE3">
                  <p:embed/>
                </p:oleObj>
              </mc:Choice>
              <mc:Fallback>
                <p:oleObj name="" r:id="rId42" imgW="1435100" imgH="622300" progId="Equation.KSEE3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5803900" y="5021580"/>
                        <a:ext cx="2945765" cy="1096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93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9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9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9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9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8" grpId="0" animBg="1"/>
      <p:bldP spid="93270" grpId="0" animBg="1"/>
      <p:bldP spid="93246" grpId="0" animBg="1"/>
      <p:bldP spid="933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22" name="标题 286721"/>
          <p:cNvSpPr/>
          <p:nvPr>
            <p:ph type="title"/>
          </p:nvPr>
        </p:nvSpPr>
        <p:spPr>
          <a:xfrm>
            <a:off x="457200" y="0"/>
            <a:ext cx="3886200" cy="533400"/>
          </a:xfrm>
          <a:noFill/>
          <a:ln>
            <a:noFill/>
          </a:ln>
        </p:spPr>
        <p:txBody>
          <a:bodyPr/>
          <a:p>
            <a:pPr algn="l" fontAlgn="base"/>
            <a:r>
              <a:rPr lang="zh-CN" altLang="en-US" sz="2800" b="1" strike="noStrike" noProof="1" dirty="0">
                <a:solidFill>
                  <a:srgbClr val="2E2EB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二、动态分析图解法</a:t>
            </a:r>
            <a:endParaRPr lang="zh-CN" altLang="en-US" sz="2800" b="1" strike="noStrike" noProof="1" dirty="0">
              <a:solidFill>
                <a:srgbClr val="2E2EB6"/>
              </a:solidFill>
              <a:effectLst>
                <a:outerShdw blurRad="38100" dist="38100" dir="2700000">
                  <a:srgbClr val="00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286723" name="组合 286722"/>
          <p:cNvGrpSpPr/>
          <p:nvPr/>
        </p:nvGrpSpPr>
        <p:grpSpPr>
          <a:xfrm>
            <a:off x="381000" y="598488"/>
            <a:ext cx="8686800" cy="4659312"/>
            <a:chOff x="240" y="377"/>
            <a:chExt cx="5472" cy="2935"/>
          </a:xfrm>
        </p:grpSpPr>
        <p:sp>
          <p:nvSpPr>
            <p:cNvPr id="30723" name="任意多边形 286723"/>
            <p:cNvSpPr/>
            <p:nvPr/>
          </p:nvSpPr>
          <p:spPr>
            <a:xfrm>
              <a:off x="1407" y="1997"/>
              <a:ext cx="1288" cy="88"/>
            </a:xfrm>
            <a:custGeom>
              <a:avLst/>
              <a:gdLst/>
              <a:ahLst/>
              <a:cxnLst/>
              <a:pathLst>
                <a:path w="2387" h="131">
                  <a:moveTo>
                    <a:pt x="19" y="131"/>
                  </a:moveTo>
                  <a:cubicBezTo>
                    <a:pt x="27" y="125"/>
                    <a:pt x="0" y="113"/>
                    <a:pt x="69" y="95"/>
                  </a:cubicBezTo>
                  <a:cubicBezTo>
                    <a:pt x="138" y="77"/>
                    <a:pt x="45" y="40"/>
                    <a:pt x="431" y="24"/>
                  </a:cubicBezTo>
                  <a:cubicBezTo>
                    <a:pt x="817" y="8"/>
                    <a:pt x="1980" y="5"/>
                    <a:pt x="2387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24" name="任意多边形 286724"/>
            <p:cNvSpPr/>
            <p:nvPr/>
          </p:nvSpPr>
          <p:spPr>
            <a:xfrm>
              <a:off x="1417" y="1745"/>
              <a:ext cx="1246" cy="341"/>
            </a:xfrm>
            <a:custGeom>
              <a:avLst/>
              <a:gdLst/>
              <a:ahLst/>
              <a:cxnLst/>
              <a:pathLst>
                <a:path w="2308" h="504">
                  <a:moveTo>
                    <a:pt x="0" y="504"/>
                  </a:moveTo>
                  <a:cubicBezTo>
                    <a:pt x="3" y="472"/>
                    <a:pt x="6" y="352"/>
                    <a:pt x="15" y="314"/>
                  </a:cubicBezTo>
                  <a:cubicBezTo>
                    <a:pt x="24" y="276"/>
                    <a:pt x="26" y="302"/>
                    <a:pt x="52" y="276"/>
                  </a:cubicBezTo>
                  <a:cubicBezTo>
                    <a:pt x="78" y="250"/>
                    <a:pt x="124" y="190"/>
                    <a:pt x="172" y="156"/>
                  </a:cubicBezTo>
                  <a:cubicBezTo>
                    <a:pt x="220" y="122"/>
                    <a:pt x="244" y="90"/>
                    <a:pt x="340" y="72"/>
                  </a:cubicBezTo>
                  <a:cubicBezTo>
                    <a:pt x="436" y="54"/>
                    <a:pt x="420" y="60"/>
                    <a:pt x="748" y="48"/>
                  </a:cubicBezTo>
                  <a:cubicBezTo>
                    <a:pt x="1076" y="36"/>
                    <a:pt x="1983" y="10"/>
                    <a:pt x="2308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25" name="任意多边形 286725"/>
            <p:cNvSpPr/>
            <p:nvPr/>
          </p:nvSpPr>
          <p:spPr>
            <a:xfrm>
              <a:off x="1416" y="1444"/>
              <a:ext cx="1240" cy="642"/>
            </a:xfrm>
            <a:custGeom>
              <a:avLst/>
              <a:gdLst/>
              <a:ahLst/>
              <a:cxnLst/>
              <a:pathLst>
                <a:path w="2299" h="948">
                  <a:moveTo>
                    <a:pt x="0" y="948"/>
                  </a:moveTo>
                  <a:cubicBezTo>
                    <a:pt x="9" y="858"/>
                    <a:pt x="20" y="540"/>
                    <a:pt x="55" y="408"/>
                  </a:cubicBezTo>
                  <a:cubicBezTo>
                    <a:pt x="90" y="276"/>
                    <a:pt x="151" y="212"/>
                    <a:pt x="211" y="156"/>
                  </a:cubicBezTo>
                  <a:cubicBezTo>
                    <a:pt x="271" y="100"/>
                    <a:pt x="247" y="93"/>
                    <a:pt x="413" y="69"/>
                  </a:cubicBezTo>
                  <a:cubicBezTo>
                    <a:pt x="579" y="45"/>
                    <a:pt x="893" y="23"/>
                    <a:pt x="1207" y="12"/>
                  </a:cubicBezTo>
                  <a:cubicBezTo>
                    <a:pt x="1521" y="1"/>
                    <a:pt x="2072" y="2"/>
                    <a:pt x="2299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26" name="任意多边形 286726"/>
            <p:cNvSpPr/>
            <p:nvPr/>
          </p:nvSpPr>
          <p:spPr>
            <a:xfrm>
              <a:off x="1417" y="1128"/>
              <a:ext cx="1220" cy="934"/>
            </a:xfrm>
            <a:custGeom>
              <a:avLst/>
              <a:gdLst/>
              <a:ahLst/>
              <a:cxnLst/>
              <a:pathLst>
                <a:path w="2260" h="1380">
                  <a:moveTo>
                    <a:pt x="0" y="1380"/>
                  </a:moveTo>
                  <a:cubicBezTo>
                    <a:pt x="12" y="1237"/>
                    <a:pt x="48" y="729"/>
                    <a:pt x="73" y="525"/>
                  </a:cubicBezTo>
                  <a:cubicBezTo>
                    <a:pt x="99" y="321"/>
                    <a:pt x="86" y="236"/>
                    <a:pt x="155" y="157"/>
                  </a:cubicBezTo>
                  <a:cubicBezTo>
                    <a:pt x="223" y="77"/>
                    <a:pt x="132" y="76"/>
                    <a:pt x="483" y="50"/>
                  </a:cubicBezTo>
                  <a:cubicBezTo>
                    <a:pt x="834" y="24"/>
                    <a:pt x="1890" y="10"/>
                    <a:pt x="2260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27" name="任意多边形 286727"/>
            <p:cNvSpPr/>
            <p:nvPr/>
          </p:nvSpPr>
          <p:spPr>
            <a:xfrm>
              <a:off x="1417" y="851"/>
              <a:ext cx="1200" cy="1211"/>
            </a:xfrm>
            <a:custGeom>
              <a:avLst/>
              <a:gdLst/>
              <a:ahLst/>
              <a:cxnLst/>
              <a:pathLst>
                <a:path w="2224" h="1788">
                  <a:moveTo>
                    <a:pt x="0" y="1788"/>
                  </a:moveTo>
                  <a:cubicBezTo>
                    <a:pt x="15" y="1616"/>
                    <a:pt x="70" y="1000"/>
                    <a:pt x="89" y="754"/>
                  </a:cubicBezTo>
                  <a:cubicBezTo>
                    <a:pt x="108" y="508"/>
                    <a:pt x="92" y="417"/>
                    <a:pt x="112" y="312"/>
                  </a:cubicBezTo>
                  <a:cubicBezTo>
                    <a:pt x="132" y="207"/>
                    <a:pt x="121" y="171"/>
                    <a:pt x="209" y="125"/>
                  </a:cubicBezTo>
                  <a:cubicBezTo>
                    <a:pt x="297" y="79"/>
                    <a:pt x="304" y="57"/>
                    <a:pt x="640" y="36"/>
                  </a:cubicBezTo>
                  <a:cubicBezTo>
                    <a:pt x="976" y="15"/>
                    <a:pt x="1894" y="8"/>
                    <a:pt x="2224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28" name="矩形 286728"/>
            <p:cNvSpPr/>
            <p:nvPr/>
          </p:nvSpPr>
          <p:spPr>
            <a:xfrm>
              <a:off x="3003" y="1795"/>
              <a:ext cx="11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endParaRPr lang="zh-CN" altLang="en-US" sz="2800" b="1" baseline="-25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729" name="直接连接符 286729"/>
            <p:cNvSpPr/>
            <p:nvPr/>
          </p:nvSpPr>
          <p:spPr>
            <a:xfrm flipH="1">
              <a:off x="418" y="1440"/>
              <a:ext cx="2208" cy="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0730" name="直接连接符 286730"/>
            <p:cNvSpPr/>
            <p:nvPr/>
          </p:nvSpPr>
          <p:spPr>
            <a:xfrm flipH="1">
              <a:off x="2060" y="1394"/>
              <a:ext cx="15" cy="1534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0731" name="矩形 286731"/>
            <p:cNvSpPr/>
            <p:nvPr/>
          </p:nvSpPr>
          <p:spPr>
            <a:xfrm>
              <a:off x="2038" y="1180"/>
              <a:ext cx="25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b="1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2" name="文本框 286732"/>
            <p:cNvSpPr txBox="1"/>
            <p:nvPr/>
          </p:nvSpPr>
          <p:spPr>
            <a:xfrm>
              <a:off x="2496" y="2328"/>
              <a:ext cx="69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CE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/V</a:t>
              </a:r>
              <a:endPara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3" name="直接连接符 286733"/>
            <p:cNvSpPr/>
            <p:nvPr/>
          </p:nvSpPr>
          <p:spPr>
            <a:xfrm rot="-5400000">
              <a:off x="2218" y="1583"/>
              <a:ext cx="0" cy="15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0734" name="直接连接符 286734"/>
            <p:cNvSpPr/>
            <p:nvPr/>
          </p:nvSpPr>
          <p:spPr>
            <a:xfrm flipH="1">
              <a:off x="1423" y="2374"/>
              <a:ext cx="0" cy="8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0735" name="文本框 286735"/>
            <p:cNvSpPr txBox="1"/>
            <p:nvPr/>
          </p:nvSpPr>
          <p:spPr>
            <a:xfrm>
              <a:off x="1229" y="3024"/>
              <a:ext cx="16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6" name="直接连接符 286736"/>
            <p:cNvSpPr/>
            <p:nvPr/>
          </p:nvSpPr>
          <p:spPr>
            <a:xfrm>
              <a:off x="2062" y="2376"/>
              <a:ext cx="0" cy="86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0737" name="直接连接符 286737"/>
            <p:cNvSpPr/>
            <p:nvPr/>
          </p:nvSpPr>
          <p:spPr>
            <a:xfrm flipV="1">
              <a:off x="2681" y="1440"/>
              <a:ext cx="2057" cy="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0738" name="矩形 286738"/>
            <p:cNvSpPr/>
            <p:nvPr/>
          </p:nvSpPr>
          <p:spPr>
            <a:xfrm>
              <a:off x="3890" y="2016"/>
              <a:ext cx="1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9" name="直接连接符 286739"/>
            <p:cNvSpPr/>
            <p:nvPr/>
          </p:nvSpPr>
          <p:spPr>
            <a:xfrm flipV="1">
              <a:off x="3266" y="918"/>
              <a:ext cx="0" cy="117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0740" name="文本框 286740"/>
            <p:cNvSpPr txBox="1"/>
            <p:nvPr/>
          </p:nvSpPr>
          <p:spPr>
            <a:xfrm>
              <a:off x="3270" y="777"/>
              <a:ext cx="55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="1" baseline="-25000" err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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41" name="直接连接符 286741"/>
            <p:cNvSpPr/>
            <p:nvPr/>
          </p:nvSpPr>
          <p:spPr>
            <a:xfrm flipV="1">
              <a:off x="3266" y="2089"/>
              <a:ext cx="783" cy="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0742" name="直接连接符 286742"/>
            <p:cNvSpPr/>
            <p:nvPr/>
          </p:nvSpPr>
          <p:spPr>
            <a:xfrm>
              <a:off x="3266" y="1437"/>
              <a:ext cx="652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30743" name="组合 286743"/>
            <p:cNvGrpSpPr/>
            <p:nvPr/>
          </p:nvGrpSpPr>
          <p:grpSpPr>
            <a:xfrm>
              <a:off x="3872" y="1440"/>
              <a:ext cx="274" cy="672"/>
              <a:chOff x="3502" y="2448"/>
              <a:chExt cx="274" cy="672"/>
            </a:xfrm>
          </p:grpSpPr>
          <p:sp>
            <p:nvSpPr>
              <p:cNvPr id="30744" name="矩形 286744"/>
              <p:cNvSpPr/>
              <p:nvPr/>
            </p:nvSpPr>
            <p:spPr>
              <a:xfrm>
                <a:off x="3502" y="2611"/>
                <a:ext cx="274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b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45" name="直接连接符 286745"/>
              <p:cNvSpPr/>
              <p:nvPr/>
            </p:nvSpPr>
            <p:spPr>
              <a:xfrm>
                <a:off x="3507" y="2448"/>
                <a:ext cx="0" cy="672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arrow" w="med" len="med"/>
                <a:tailEnd type="arrow" w="med" len="med"/>
              </a:ln>
            </p:spPr>
          </p:sp>
        </p:grpSp>
        <p:sp>
          <p:nvSpPr>
            <p:cNvPr id="30746" name="直接连接符 286746"/>
            <p:cNvSpPr/>
            <p:nvPr/>
          </p:nvSpPr>
          <p:spPr>
            <a:xfrm flipV="1">
              <a:off x="433" y="1438"/>
              <a:ext cx="76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0747" name="矩形 286747"/>
            <p:cNvSpPr/>
            <p:nvPr/>
          </p:nvSpPr>
          <p:spPr>
            <a:xfrm>
              <a:off x="1042" y="2064"/>
              <a:ext cx="1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48" name="文本框 286748"/>
            <p:cNvSpPr txBox="1"/>
            <p:nvPr/>
          </p:nvSpPr>
          <p:spPr>
            <a:xfrm>
              <a:off x="424" y="768"/>
              <a:ext cx="666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 err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</a:t>
              </a:r>
              <a:r>
                <a:rPr lang="en-US" altLang="zh-CN" b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/mA</a:t>
              </a:r>
              <a:endParaRPr lang="en-US" altLang="zh-CN" b="1" err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49" name="直接连接符 286749"/>
            <p:cNvSpPr/>
            <p:nvPr/>
          </p:nvSpPr>
          <p:spPr>
            <a:xfrm>
              <a:off x="443" y="2112"/>
              <a:ext cx="7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0750" name="直接连接符 286750"/>
            <p:cNvSpPr/>
            <p:nvPr/>
          </p:nvSpPr>
          <p:spPr>
            <a:xfrm flipV="1">
              <a:off x="441" y="912"/>
              <a:ext cx="0" cy="119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grpSp>
          <p:nvGrpSpPr>
            <p:cNvPr id="30751" name="组合 286751"/>
            <p:cNvGrpSpPr/>
            <p:nvPr/>
          </p:nvGrpSpPr>
          <p:grpSpPr>
            <a:xfrm>
              <a:off x="1085" y="1440"/>
              <a:ext cx="281" cy="672"/>
              <a:chOff x="1147" y="1344"/>
              <a:chExt cx="281" cy="672"/>
            </a:xfrm>
          </p:grpSpPr>
          <p:sp>
            <p:nvSpPr>
              <p:cNvPr id="30752" name="矩形 286752"/>
              <p:cNvSpPr/>
              <p:nvPr/>
            </p:nvSpPr>
            <p:spPr>
              <a:xfrm>
                <a:off x="1147" y="1507"/>
                <a:ext cx="281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b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53" name="直接连接符 286753"/>
              <p:cNvSpPr/>
              <p:nvPr/>
            </p:nvSpPr>
            <p:spPr>
              <a:xfrm>
                <a:off x="1152" y="1344"/>
                <a:ext cx="0" cy="672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arrow" w="med" len="med"/>
                <a:tailEnd type="arrow" w="med" len="med"/>
              </a:ln>
            </p:spPr>
          </p:sp>
        </p:grpSp>
        <p:sp>
          <p:nvSpPr>
            <p:cNvPr id="30754" name="直接连接符 286754"/>
            <p:cNvSpPr/>
            <p:nvPr/>
          </p:nvSpPr>
          <p:spPr>
            <a:xfrm>
              <a:off x="1392" y="864"/>
              <a:ext cx="1392" cy="124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755" name="直接连接符 286755"/>
            <p:cNvSpPr/>
            <p:nvPr/>
          </p:nvSpPr>
          <p:spPr>
            <a:xfrm flipV="1">
              <a:off x="4210" y="528"/>
              <a:ext cx="0" cy="15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med"/>
            </a:ln>
          </p:spPr>
        </p:sp>
        <p:sp>
          <p:nvSpPr>
            <p:cNvPr id="30756" name="文本框 286756"/>
            <p:cNvSpPr txBox="1"/>
            <p:nvPr/>
          </p:nvSpPr>
          <p:spPr>
            <a:xfrm>
              <a:off x="4210" y="403"/>
              <a:ext cx="6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 err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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57" name="直接连接符 286757"/>
            <p:cNvSpPr/>
            <p:nvPr/>
          </p:nvSpPr>
          <p:spPr>
            <a:xfrm>
              <a:off x="4194" y="2098"/>
              <a:ext cx="128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med"/>
            </a:ln>
          </p:spPr>
        </p:sp>
        <p:sp>
          <p:nvSpPr>
            <p:cNvPr id="30758" name="文本框 286758"/>
            <p:cNvSpPr txBox="1"/>
            <p:nvPr/>
          </p:nvSpPr>
          <p:spPr>
            <a:xfrm>
              <a:off x="4992" y="2041"/>
              <a:ext cx="58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BE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/V</a:t>
              </a:r>
              <a:endPara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59" name="任意多边形 286759"/>
            <p:cNvSpPr/>
            <p:nvPr/>
          </p:nvSpPr>
          <p:spPr>
            <a:xfrm>
              <a:off x="4202" y="745"/>
              <a:ext cx="651" cy="1341"/>
            </a:xfrm>
            <a:custGeom>
              <a:avLst/>
              <a:gdLst/>
              <a:ahLst/>
              <a:cxnLst/>
              <a:pathLst>
                <a:path w="651" h="1341">
                  <a:moveTo>
                    <a:pt x="0" y="1341"/>
                  </a:moveTo>
                  <a:cubicBezTo>
                    <a:pt x="74" y="1338"/>
                    <a:pt x="149" y="1336"/>
                    <a:pt x="207" y="1311"/>
                  </a:cubicBezTo>
                  <a:cubicBezTo>
                    <a:pt x="265" y="1286"/>
                    <a:pt x="296" y="1283"/>
                    <a:pt x="348" y="1193"/>
                  </a:cubicBezTo>
                  <a:cubicBezTo>
                    <a:pt x="400" y="1103"/>
                    <a:pt x="468" y="969"/>
                    <a:pt x="518" y="770"/>
                  </a:cubicBezTo>
                  <a:cubicBezTo>
                    <a:pt x="568" y="571"/>
                    <a:pt x="629" y="128"/>
                    <a:pt x="651" y="0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60" name="直接连接符 286760"/>
            <p:cNvSpPr/>
            <p:nvPr/>
          </p:nvSpPr>
          <p:spPr>
            <a:xfrm flipH="1">
              <a:off x="4713" y="1440"/>
              <a:ext cx="0" cy="144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0761" name="直接连接符 286761"/>
            <p:cNvSpPr/>
            <p:nvPr/>
          </p:nvSpPr>
          <p:spPr>
            <a:xfrm flipH="1">
              <a:off x="4714" y="2353"/>
              <a:ext cx="0" cy="71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0762" name="直接连接符 286762"/>
            <p:cNvSpPr/>
            <p:nvPr/>
          </p:nvSpPr>
          <p:spPr>
            <a:xfrm>
              <a:off x="4204" y="2352"/>
              <a:ext cx="0" cy="91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0763" name="直接连接符 286763"/>
            <p:cNvSpPr/>
            <p:nvPr/>
          </p:nvSpPr>
          <p:spPr>
            <a:xfrm>
              <a:off x="4210" y="2368"/>
              <a:ext cx="1240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0764" name="文本框 286764"/>
            <p:cNvSpPr txBox="1"/>
            <p:nvPr/>
          </p:nvSpPr>
          <p:spPr>
            <a:xfrm>
              <a:off x="4022" y="3024"/>
              <a:ext cx="16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65" name="矩形 286765"/>
            <p:cNvSpPr/>
            <p:nvPr/>
          </p:nvSpPr>
          <p:spPr>
            <a:xfrm>
              <a:off x="4848" y="2328"/>
              <a:ext cx="8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BE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/V</a:t>
              </a:r>
              <a:endPara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66" name="矩形 286766"/>
            <p:cNvSpPr/>
            <p:nvPr/>
          </p:nvSpPr>
          <p:spPr>
            <a:xfrm>
              <a:off x="4242" y="2688"/>
              <a:ext cx="4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BE</a:t>
              </a:r>
              <a:endParaRPr lang="en-US" altLang="zh-CN" b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67" name="直接连接符 286767"/>
            <p:cNvSpPr/>
            <p:nvPr/>
          </p:nvSpPr>
          <p:spPr>
            <a:xfrm>
              <a:off x="4222" y="2976"/>
              <a:ext cx="480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grpSp>
          <p:nvGrpSpPr>
            <p:cNvPr id="30768" name="组合 286768"/>
            <p:cNvGrpSpPr/>
            <p:nvPr/>
          </p:nvGrpSpPr>
          <p:grpSpPr>
            <a:xfrm>
              <a:off x="1426" y="2688"/>
              <a:ext cx="624" cy="288"/>
              <a:chOff x="2592" y="2592"/>
              <a:chExt cx="624" cy="288"/>
            </a:xfrm>
          </p:grpSpPr>
          <p:sp>
            <p:nvSpPr>
              <p:cNvPr id="30769" name="直接连接符 286769"/>
              <p:cNvSpPr/>
              <p:nvPr/>
            </p:nvSpPr>
            <p:spPr>
              <a:xfrm>
                <a:off x="2592" y="2880"/>
                <a:ext cx="624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arrow" w="med" len="med"/>
                <a:tailEnd type="arrow" w="med" len="med"/>
              </a:ln>
            </p:spPr>
          </p:sp>
          <p:sp>
            <p:nvSpPr>
              <p:cNvPr id="30770" name="矩形 286770"/>
              <p:cNvSpPr/>
              <p:nvPr/>
            </p:nvSpPr>
            <p:spPr>
              <a:xfrm>
                <a:off x="2669" y="2592"/>
                <a:ext cx="430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CE</a:t>
                </a:r>
                <a:endParaRPr lang="en-US" altLang="zh-CN" b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0771" name="文本框 286771"/>
            <p:cNvSpPr txBox="1"/>
            <p:nvPr/>
          </p:nvSpPr>
          <p:spPr>
            <a:xfrm>
              <a:off x="1426" y="377"/>
              <a:ext cx="78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 err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</a:t>
              </a:r>
              <a:r>
                <a:rPr lang="en-US" altLang="zh-CN" b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/mA</a:t>
              </a:r>
              <a:endParaRPr lang="en-US" altLang="zh-CN" b="1" err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72" name="直接连接符 286772"/>
            <p:cNvSpPr/>
            <p:nvPr/>
          </p:nvSpPr>
          <p:spPr>
            <a:xfrm flipV="1">
              <a:off x="1402" y="454"/>
              <a:ext cx="0" cy="16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med"/>
            </a:ln>
          </p:spPr>
        </p:sp>
        <p:sp>
          <p:nvSpPr>
            <p:cNvPr id="30773" name="矩形 286773"/>
            <p:cNvSpPr/>
            <p:nvPr/>
          </p:nvSpPr>
          <p:spPr>
            <a:xfrm>
              <a:off x="2592" y="2064"/>
              <a:ext cx="59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err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CE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/V</a:t>
              </a:r>
              <a:endPara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74" name="直接连接符 286774"/>
            <p:cNvSpPr/>
            <p:nvPr/>
          </p:nvSpPr>
          <p:spPr>
            <a:xfrm>
              <a:off x="1378" y="2110"/>
              <a:ext cx="1728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med"/>
            </a:ln>
          </p:spPr>
        </p:sp>
        <p:sp>
          <p:nvSpPr>
            <p:cNvPr id="30775" name="任意多边形 286775"/>
            <p:cNvSpPr/>
            <p:nvPr/>
          </p:nvSpPr>
          <p:spPr>
            <a:xfrm>
              <a:off x="1426" y="1440"/>
              <a:ext cx="1296" cy="672"/>
            </a:xfrm>
            <a:custGeom>
              <a:avLst/>
              <a:gdLst/>
              <a:ahLst/>
              <a:cxnLst/>
              <a:pathLst>
                <a:path w="2299" h="948">
                  <a:moveTo>
                    <a:pt x="0" y="948"/>
                  </a:moveTo>
                  <a:cubicBezTo>
                    <a:pt x="9" y="858"/>
                    <a:pt x="20" y="540"/>
                    <a:pt x="55" y="408"/>
                  </a:cubicBezTo>
                  <a:cubicBezTo>
                    <a:pt x="90" y="276"/>
                    <a:pt x="151" y="212"/>
                    <a:pt x="211" y="156"/>
                  </a:cubicBezTo>
                  <a:cubicBezTo>
                    <a:pt x="271" y="100"/>
                    <a:pt x="247" y="93"/>
                    <a:pt x="413" y="69"/>
                  </a:cubicBezTo>
                  <a:cubicBezTo>
                    <a:pt x="579" y="45"/>
                    <a:pt x="893" y="23"/>
                    <a:pt x="1207" y="12"/>
                  </a:cubicBezTo>
                  <a:cubicBezTo>
                    <a:pt x="1521" y="1"/>
                    <a:pt x="2072" y="2"/>
                    <a:pt x="2299" y="0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sm" len="sm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76" name="椭圆 286776"/>
            <p:cNvSpPr/>
            <p:nvPr/>
          </p:nvSpPr>
          <p:spPr>
            <a:xfrm>
              <a:off x="2046" y="1412"/>
              <a:ext cx="72" cy="84"/>
            </a:xfrm>
            <a:prstGeom prst="ellipse">
              <a:avLst/>
            </a:prstGeom>
            <a:solidFill>
              <a:schemeClr val="tx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77" name="椭圆 286777"/>
            <p:cNvSpPr/>
            <p:nvPr/>
          </p:nvSpPr>
          <p:spPr>
            <a:xfrm>
              <a:off x="4680" y="1413"/>
              <a:ext cx="82" cy="75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78" name="文本框 286778"/>
            <p:cNvSpPr txBox="1"/>
            <p:nvPr/>
          </p:nvSpPr>
          <p:spPr>
            <a:xfrm>
              <a:off x="1209" y="2016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0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79" name="文本框 286779"/>
            <p:cNvSpPr txBox="1"/>
            <p:nvPr/>
          </p:nvSpPr>
          <p:spPr>
            <a:xfrm>
              <a:off x="4018" y="1968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0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0" name="文本框 286780"/>
            <p:cNvSpPr txBox="1"/>
            <p:nvPr/>
          </p:nvSpPr>
          <p:spPr>
            <a:xfrm>
              <a:off x="3080" y="1968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0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1" name="文本框 286781"/>
            <p:cNvSpPr txBox="1"/>
            <p:nvPr/>
          </p:nvSpPr>
          <p:spPr>
            <a:xfrm>
              <a:off x="4018" y="2198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0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2" name="文本框 286782"/>
            <p:cNvSpPr txBox="1"/>
            <p:nvPr/>
          </p:nvSpPr>
          <p:spPr>
            <a:xfrm>
              <a:off x="1234" y="2246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0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3" name="文本框 286783"/>
            <p:cNvSpPr txBox="1"/>
            <p:nvPr/>
          </p:nvSpPr>
          <p:spPr>
            <a:xfrm>
              <a:off x="240" y="2006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0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4" name="矩形 286784"/>
            <p:cNvSpPr/>
            <p:nvPr/>
          </p:nvSpPr>
          <p:spPr>
            <a:xfrm>
              <a:off x="4738" y="1248"/>
              <a:ext cx="25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b="1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6786" name="组合 286785"/>
          <p:cNvGrpSpPr/>
          <p:nvPr/>
        </p:nvGrpSpPr>
        <p:grpSpPr>
          <a:xfrm>
            <a:off x="692150" y="1828800"/>
            <a:ext cx="3470275" cy="985838"/>
            <a:chOff x="502" y="1056"/>
            <a:chExt cx="2186" cy="621"/>
          </a:xfrm>
        </p:grpSpPr>
        <p:sp>
          <p:nvSpPr>
            <p:cNvPr id="30786" name="直接连接符 286786"/>
            <p:cNvSpPr/>
            <p:nvPr/>
          </p:nvSpPr>
          <p:spPr>
            <a:xfrm>
              <a:off x="502" y="1056"/>
              <a:ext cx="2186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0787" name="直接连接符 286787"/>
            <p:cNvSpPr/>
            <p:nvPr/>
          </p:nvSpPr>
          <p:spPr>
            <a:xfrm>
              <a:off x="506" y="1677"/>
              <a:ext cx="213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pSp>
        <p:nvGrpSpPr>
          <p:cNvPr id="286789" name="组合 286788"/>
          <p:cNvGrpSpPr/>
          <p:nvPr/>
        </p:nvGrpSpPr>
        <p:grpSpPr>
          <a:xfrm>
            <a:off x="2743200" y="1817688"/>
            <a:ext cx="1028700" cy="3249612"/>
            <a:chOff x="1728" y="1145"/>
            <a:chExt cx="648" cy="2047"/>
          </a:xfrm>
        </p:grpSpPr>
        <p:sp>
          <p:nvSpPr>
            <p:cNvPr id="30789" name="直接连接符 286789"/>
            <p:cNvSpPr/>
            <p:nvPr/>
          </p:nvSpPr>
          <p:spPr>
            <a:xfrm>
              <a:off x="1728" y="1145"/>
              <a:ext cx="0" cy="204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0790" name="直接连接符 286790"/>
            <p:cNvSpPr/>
            <p:nvPr/>
          </p:nvSpPr>
          <p:spPr>
            <a:xfrm>
              <a:off x="2376" y="1725"/>
              <a:ext cx="0" cy="146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pSp>
        <p:nvGrpSpPr>
          <p:cNvPr id="286792" name="组合 286791"/>
          <p:cNvGrpSpPr/>
          <p:nvPr/>
        </p:nvGrpSpPr>
        <p:grpSpPr>
          <a:xfrm>
            <a:off x="7326313" y="1752600"/>
            <a:ext cx="301625" cy="2743200"/>
            <a:chOff x="4681" y="1008"/>
            <a:chExt cx="190" cy="1728"/>
          </a:xfrm>
        </p:grpSpPr>
        <p:sp>
          <p:nvSpPr>
            <p:cNvPr id="30792" name="直接连接符 286792"/>
            <p:cNvSpPr/>
            <p:nvPr/>
          </p:nvSpPr>
          <p:spPr>
            <a:xfrm>
              <a:off x="4681" y="1680"/>
              <a:ext cx="0" cy="105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0793" name="直接连接符 286793"/>
            <p:cNvSpPr/>
            <p:nvPr/>
          </p:nvSpPr>
          <p:spPr>
            <a:xfrm flipH="1">
              <a:off x="4871" y="1008"/>
              <a:ext cx="0" cy="144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pSp>
        <p:nvGrpSpPr>
          <p:cNvPr id="286795" name="组合 286794"/>
          <p:cNvGrpSpPr/>
          <p:nvPr/>
        </p:nvGrpSpPr>
        <p:grpSpPr>
          <a:xfrm>
            <a:off x="4225925" y="1828800"/>
            <a:ext cx="3317875" cy="990600"/>
            <a:chOff x="2728" y="1056"/>
            <a:chExt cx="2085" cy="624"/>
          </a:xfrm>
        </p:grpSpPr>
        <p:sp>
          <p:nvSpPr>
            <p:cNvPr id="30795" name="直接连接符 286795"/>
            <p:cNvSpPr/>
            <p:nvPr/>
          </p:nvSpPr>
          <p:spPr>
            <a:xfrm>
              <a:off x="2728" y="1056"/>
              <a:ext cx="2085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0796" name="直接连接符 286796"/>
            <p:cNvSpPr/>
            <p:nvPr/>
          </p:nvSpPr>
          <p:spPr>
            <a:xfrm>
              <a:off x="2749" y="1668"/>
              <a:ext cx="1955" cy="1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pSp>
        <p:nvGrpSpPr>
          <p:cNvPr id="286798" name="组合 286797"/>
          <p:cNvGrpSpPr/>
          <p:nvPr/>
        </p:nvGrpSpPr>
        <p:grpSpPr>
          <a:xfrm>
            <a:off x="206375" y="1828800"/>
            <a:ext cx="395288" cy="998538"/>
            <a:chOff x="2436" y="2245"/>
            <a:chExt cx="249" cy="629"/>
          </a:xfrm>
        </p:grpSpPr>
        <p:sp>
          <p:nvSpPr>
            <p:cNvPr id="30798" name="直接连接符 286798"/>
            <p:cNvSpPr/>
            <p:nvPr/>
          </p:nvSpPr>
          <p:spPr>
            <a:xfrm>
              <a:off x="2685" y="2245"/>
              <a:ext cx="0" cy="629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30799" name="矩形 286799"/>
            <p:cNvSpPr/>
            <p:nvPr/>
          </p:nvSpPr>
          <p:spPr>
            <a:xfrm>
              <a:off x="2436" y="2365"/>
              <a:ext cx="23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 err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6801" name="组合 286800"/>
          <p:cNvGrpSpPr/>
          <p:nvPr/>
        </p:nvGrpSpPr>
        <p:grpSpPr>
          <a:xfrm>
            <a:off x="2667000" y="1327150"/>
            <a:ext cx="528638" cy="882650"/>
            <a:chOff x="1680" y="836"/>
            <a:chExt cx="333" cy="556"/>
          </a:xfrm>
        </p:grpSpPr>
        <p:grpSp>
          <p:nvGrpSpPr>
            <p:cNvPr id="30801" name="组合 286801"/>
            <p:cNvGrpSpPr/>
            <p:nvPr/>
          </p:nvGrpSpPr>
          <p:grpSpPr>
            <a:xfrm>
              <a:off x="1680" y="836"/>
              <a:ext cx="333" cy="356"/>
              <a:chOff x="1808" y="1340"/>
              <a:chExt cx="333" cy="356"/>
            </a:xfrm>
          </p:grpSpPr>
          <p:sp>
            <p:nvSpPr>
              <p:cNvPr id="30802" name="矩形 286802"/>
              <p:cNvSpPr/>
              <p:nvPr/>
            </p:nvSpPr>
            <p:spPr>
              <a:xfrm>
                <a:off x="1824" y="1340"/>
                <a:ext cx="31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803" name="椭圆 286803"/>
              <p:cNvSpPr/>
              <p:nvPr/>
            </p:nvSpPr>
            <p:spPr>
              <a:xfrm>
                <a:off x="1808" y="1612"/>
                <a:ext cx="72" cy="84"/>
              </a:xfrm>
              <a:prstGeom prst="ellipse">
                <a:avLst/>
              </a:prstGeom>
              <a:solidFill>
                <a:srgbClr val="FF3300"/>
              </a:solidFill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0804" name="直接连接符 286804"/>
            <p:cNvSpPr/>
            <p:nvPr/>
          </p:nvSpPr>
          <p:spPr>
            <a:xfrm flipH="1" flipV="1">
              <a:off x="1687" y="1229"/>
              <a:ext cx="185" cy="163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86806" name="组合 286805"/>
          <p:cNvGrpSpPr/>
          <p:nvPr/>
        </p:nvGrpSpPr>
        <p:grpSpPr>
          <a:xfrm>
            <a:off x="3276600" y="2303463"/>
            <a:ext cx="990600" cy="554037"/>
            <a:chOff x="2064" y="1451"/>
            <a:chExt cx="624" cy="349"/>
          </a:xfrm>
        </p:grpSpPr>
        <p:grpSp>
          <p:nvGrpSpPr>
            <p:cNvPr id="30806" name="组合 286806"/>
            <p:cNvGrpSpPr/>
            <p:nvPr/>
          </p:nvGrpSpPr>
          <p:grpSpPr>
            <a:xfrm>
              <a:off x="2343" y="1451"/>
              <a:ext cx="345" cy="349"/>
              <a:chOff x="2260" y="1955"/>
              <a:chExt cx="345" cy="349"/>
            </a:xfrm>
          </p:grpSpPr>
          <p:sp>
            <p:nvSpPr>
              <p:cNvPr id="30807" name="矩形 286807"/>
              <p:cNvSpPr/>
              <p:nvPr/>
            </p:nvSpPr>
            <p:spPr>
              <a:xfrm>
                <a:off x="2288" y="1955"/>
                <a:ext cx="31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808" name="椭圆 286808"/>
              <p:cNvSpPr/>
              <p:nvPr/>
            </p:nvSpPr>
            <p:spPr>
              <a:xfrm>
                <a:off x="2260" y="2220"/>
                <a:ext cx="72" cy="84"/>
              </a:xfrm>
              <a:prstGeom prst="ellipse">
                <a:avLst/>
              </a:prstGeom>
              <a:solidFill>
                <a:srgbClr val="FF3300"/>
              </a:solidFill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0809" name="直接连接符 286809"/>
            <p:cNvSpPr/>
            <p:nvPr/>
          </p:nvSpPr>
          <p:spPr>
            <a:xfrm flipH="1" flipV="1">
              <a:off x="2064" y="1584"/>
              <a:ext cx="227" cy="165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  <p:grpSp>
        <p:nvGrpSpPr>
          <p:cNvPr id="286811" name="组合 286810"/>
          <p:cNvGrpSpPr/>
          <p:nvPr/>
        </p:nvGrpSpPr>
        <p:grpSpPr>
          <a:xfrm>
            <a:off x="4527550" y="1820863"/>
            <a:ext cx="417513" cy="998537"/>
            <a:chOff x="2422" y="2245"/>
            <a:chExt cx="263" cy="629"/>
          </a:xfrm>
        </p:grpSpPr>
        <p:sp>
          <p:nvSpPr>
            <p:cNvPr id="30811" name="直接连接符 286811"/>
            <p:cNvSpPr/>
            <p:nvPr/>
          </p:nvSpPr>
          <p:spPr>
            <a:xfrm>
              <a:off x="2685" y="2245"/>
              <a:ext cx="0" cy="629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30812" name="矩形 286812"/>
            <p:cNvSpPr/>
            <p:nvPr/>
          </p:nvSpPr>
          <p:spPr>
            <a:xfrm>
              <a:off x="2422" y="2365"/>
              <a:ext cx="26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="1" baseline="-25000" err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 b="1" baseline="-2500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6814" name="组合 286813"/>
          <p:cNvGrpSpPr/>
          <p:nvPr/>
        </p:nvGrpSpPr>
        <p:grpSpPr>
          <a:xfrm>
            <a:off x="7362825" y="3754438"/>
            <a:ext cx="600075" cy="931862"/>
            <a:chOff x="4698" y="2269"/>
            <a:chExt cx="378" cy="587"/>
          </a:xfrm>
        </p:grpSpPr>
        <p:sp>
          <p:nvSpPr>
            <p:cNvPr id="30814" name="文本框 286814"/>
            <p:cNvSpPr txBox="1"/>
            <p:nvPr/>
          </p:nvSpPr>
          <p:spPr>
            <a:xfrm>
              <a:off x="4819" y="2419"/>
              <a:ext cx="25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0815" name="组合 286815"/>
            <p:cNvGrpSpPr/>
            <p:nvPr/>
          </p:nvGrpSpPr>
          <p:grpSpPr>
            <a:xfrm>
              <a:off x="4698" y="2269"/>
              <a:ext cx="150" cy="587"/>
              <a:chOff x="3678" y="3347"/>
              <a:chExt cx="147" cy="423"/>
            </a:xfrm>
          </p:grpSpPr>
          <p:sp>
            <p:nvSpPr>
              <p:cNvPr id="30816" name="任意多边形 286816"/>
              <p:cNvSpPr/>
              <p:nvPr/>
            </p:nvSpPr>
            <p:spPr>
              <a:xfrm rot="5400000" flipV="1">
                <a:off x="3605" y="3608"/>
                <a:ext cx="222" cy="89"/>
              </a:xfrm>
              <a:custGeom>
                <a:avLst/>
                <a:gdLst/>
                <a:ahLst/>
                <a:cxnLst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817" name="任意多边形 286817"/>
              <p:cNvSpPr/>
              <p:nvPr/>
            </p:nvSpPr>
            <p:spPr>
              <a:xfrm rot="-5400000" flipH="1" flipV="1">
                <a:off x="3663" y="3407"/>
                <a:ext cx="222" cy="89"/>
              </a:xfrm>
              <a:custGeom>
                <a:avLst/>
                <a:gdLst/>
                <a:ahLst/>
                <a:cxnLst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286819" name="组合 286818"/>
          <p:cNvGrpSpPr/>
          <p:nvPr/>
        </p:nvGrpSpPr>
        <p:grpSpPr>
          <a:xfrm>
            <a:off x="2743200" y="3808413"/>
            <a:ext cx="1492250" cy="915987"/>
            <a:chOff x="1805" y="2303"/>
            <a:chExt cx="692" cy="577"/>
          </a:xfrm>
        </p:grpSpPr>
        <p:sp>
          <p:nvSpPr>
            <p:cNvPr id="30819" name="任意多边形 286819"/>
            <p:cNvSpPr/>
            <p:nvPr/>
          </p:nvSpPr>
          <p:spPr>
            <a:xfrm rot="5400000" flipV="1">
              <a:off x="1769" y="2326"/>
              <a:ext cx="288" cy="229"/>
            </a:xfrm>
            <a:custGeom>
              <a:avLst/>
              <a:gdLst/>
              <a:ahLst/>
              <a:cxnLst/>
              <a:pathLst>
                <a:path w="659" h="433">
                  <a:moveTo>
                    <a:pt x="0" y="432"/>
                  </a:moveTo>
                  <a:lnTo>
                    <a:pt x="56" y="314"/>
                  </a:lnTo>
                  <a:lnTo>
                    <a:pt x="111" y="212"/>
                  </a:lnTo>
                  <a:lnTo>
                    <a:pt x="167" y="124"/>
                  </a:lnTo>
                  <a:lnTo>
                    <a:pt x="222" y="51"/>
                  </a:lnTo>
                  <a:lnTo>
                    <a:pt x="269" y="14"/>
                  </a:lnTo>
                  <a:lnTo>
                    <a:pt x="324" y="0"/>
                  </a:lnTo>
                  <a:lnTo>
                    <a:pt x="380" y="14"/>
                  </a:lnTo>
                  <a:lnTo>
                    <a:pt x="436" y="51"/>
                  </a:lnTo>
                  <a:lnTo>
                    <a:pt x="491" y="124"/>
                  </a:lnTo>
                  <a:lnTo>
                    <a:pt x="547" y="212"/>
                  </a:lnTo>
                  <a:lnTo>
                    <a:pt x="603" y="322"/>
                  </a:lnTo>
                  <a:lnTo>
                    <a:pt x="658" y="432"/>
                  </a:lnTo>
                </a:path>
              </a:pathLst>
            </a:custGeom>
            <a:noFill/>
            <a:ln w="38100" cap="rnd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820" name="任意多边形 286820"/>
            <p:cNvSpPr/>
            <p:nvPr/>
          </p:nvSpPr>
          <p:spPr>
            <a:xfrm rot="5400000" flipH="1">
              <a:off x="2017" y="2614"/>
              <a:ext cx="288" cy="229"/>
            </a:xfrm>
            <a:custGeom>
              <a:avLst/>
              <a:gdLst/>
              <a:ahLst/>
              <a:cxnLst/>
              <a:pathLst>
                <a:path w="659" h="433">
                  <a:moveTo>
                    <a:pt x="0" y="432"/>
                  </a:moveTo>
                  <a:lnTo>
                    <a:pt x="56" y="314"/>
                  </a:lnTo>
                  <a:lnTo>
                    <a:pt x="111" y="212"/>
                  </a:lnTo>
                  <a:lnTo>
                    <a:pt x="167" y="124"/>
                  </a:lnTo>
                  <a:lnTo>
                    <a:pt x="222" y="51"/>
                  </a:lnTo>
                  <a:lnTo>
                    <a:pt x="269" y="14"/>
                  </a:lnTo>
                  <a:lnTo>
                    <a:pt x="324" y="0"/>
                  </a:lnTo>
                  <a:lnTo>
                    <a:pt x="380" y="14"/>
                  </a:lnTo>
                  <a:lnTo>
                    <a:pt x="436" y="51"/>
                  </a:lnTo>
                  <a:lnTo>
                    <a:pt x="491" y="124"/>
                  </a:lnTo>
                  <a:lnTo>
                    <a:pt x="547" y="212"/>
                  </a:lnTo>
                  <a:lnTo>
                    <a:pt x="603" y="322"/>
                  </a:lnTo>
                  <a:lnTo>
                    <a:pt x="658" y="432"/>
                  </a:lnTo>
                </a:path>
              </a:pathLst>
            </a:custGeom>
            <a:noFill/>
            <a:ln w="38100" cap="rnd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821" name="矩形 286821"/>
            <p:cNvSpPr/>
            <p:nvPr/>
          </p:nvSpPr>
          <p:spPr>
            <a:xfrm>
              <a:off x="2286" y="2592"/>
              <a:ext cx="21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86823" name="矩形 286822"/>
          <p:cNvSpPr/>
          <p:nvPr/>
        </p:nvSpPr>
        <p:spPr>
          <a:xfrm>
            <a:off x="7961313" y="1752600"/>
            <a:ext cx="1106488" cy="538163"/>
          </a:xfrm>
          <a:prstGeom prst="rect">
            <a:avLst/>
          </a:prstGeom>
          <a:pattFill prst="pct90">
            <a:fgClr>
              <a:srgbClr val="00FF00"/>
            </a:fgClr>
            <a:bgClr>
              <a:srgbClr val="FFFFFF"/>
            </a:bgClr>
          </a:pattFill>
          <a:ln w="1905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p>
            <a:pPr lvl="0" algn="ctr" fontAlgn="base">
              <a:spcBef>
                <a:spcPct val="50000"/>
              </a:spcBef>
            </a:pPr>
            <a:r>
              <a:rPr lang="en-US" altLang="zh-CN" sz="2800" b="1" i="1" strike="noStrike" noProof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R</a:t>
            </a:r>
            <a:r>
              <a:rPr lang="en-US" altLang="zh-CN" sz="2800" b="1" strike="noStrike" baseline="-25000" noProof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L</a:t>
            </a:r>
            <a:r>
              <a:rPr lang="en-US" altLang="zh-CN" sz="2800" b="1" strike="noStrike" noProof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=</a:t>
            </a:r>
            <a:r>
              <a:rPr lang="en-US" altLang="zh-CN" sz="2800" b="1" strike="noStrike" noProof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Symbol" panose="05050102010706020507" pitchFamily="18" charset="2"/>
              </a:rPr>
              <a:t></a:t>
            </a:r>
            <a:endParaRPr lang="en-US" altLang="zh-CN" sz="2800" b="1" strike="noStrike" noProof="1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86824" name="矩形 286823"/>
          <p:cNvSpPr/>
          <p:nvPr/>
        </p:nvSpPr>
        <p:spPr>
          <a:xfrm>
            <a:off x="457200" y="5334000"/>
            <a:ext cx="8256588" cy="9461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>
            <a:spAutoFit/>
          </a:bodyPr>
          <a:p>
            <a:pPr lvl="0" fontAlgn="base">
              <a:spcBef>
                <a:spcPct val="50000"/>
              </a:spcBef>
            </a:pPr>
            <a:r>
              <a:rPr lang="zh-CN" altLang="zh-CN" sz="2800" b="1" strike="noStrike" noProof="1" dirty="0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 由</a:t>
            </a:r>
            <a:r>
              <a:rPr lang="en-US" altLang="zh-CN" sz="2800" b="1" i="1" strike="noStrike" noProof="1" err="1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u</a:t>
            </a:r>
            <a:r>
              <a:rPr lang="en-US" altLang="zh-CN" b="1" strike="noStrike" baseline="-25000" noProof="1" err="1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o</a:t>
            </a:r>
            <a:r>
              <a:rPr lang="zh-CN" altLang="zh-CN" sz="2800" b="1" strike="noStrike" noProof="1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和</a:t>
            </a:r>
            <a:r>
              <a:rPr lang="en-US" altLang="zh-CN" sz="2800" b="1" i="1" strike="noStrike" noProof="1" err="1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u</a:t>
            </a:r>
            <a:r>
              <a:rPr lang="en-US" altLang="zh-CN" sz="2800" b="1" strike="noStrike" baseline="-25000" noProof="1" err="1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</a:t>
            </a:r>
            <a:r>
              <a:rPr lang="zh-CN" altLang="en-US" sz="2800" b="1" strike="noStrike" noProof="1" dirty="0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的峰值（或峰峰值）之比可得放大电路的电压放大倍数。</a:t>
            </a:r>
            <a:endParaRPr lang="zh-CN" altLang="en-US" sz="2800" b="1" strike="noStrike" noProof="1" dirty="0">
              <a:solidFill>
                <a:srgbClr val="0066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86825" name="组合 286824"/>
          <p:cNvGrpSpPr/>
          <p:nvPr/>
        </p:nvGrpSpPr>
        <p:grpSpPr>
          <a:xfrm>
            <a:off x="706438" y="1816100"/>
            <a:ext cx="914400" cy="989013"/>
            <a:chOff x="720" y="1056"/>
            <a:chExt cx="576" cy="599"/>
          </a:xfrm>
        </p:grpSpPr>
        <p:sp>
          <p:nvSpPr>
            <p:cNvPr id="30825" name="任意多边形 286825"/>
            <p:cNvSpPr/>
            <p:nvPr/>
          </p:nvSpPr>
          <p:spPr>
            <a:xfrm>
              <a:off x="720" y="1056"/>
              <a:ext cx="288" cy="288"/>
            </a:xfrm>
            <a:custGeom>
              <a:avLst/>
              <a:gdLst/>
              <a:ahLst/>
              <a:cxnLst/>
              <a:pathLst>
                <a:path w="659" h="433">
                  <a:moveTo>
                    <a:pt x="0" y="432"/>
                  </a:moveTo>
                  <a:lnTo>
                    <a:pt x="56" y="314"/>
                  </a:lnTo>
                  <a:lnTo>
                    <a:pt x="111" y="212"/>
                  </a:lnTo>
                  <a:lnTo>
                    <a:pt x="167" y="124"/>
                  </a:lnTo>
                  <a:lnTo>
                    <a:pt x="222" y="51"/>
                  </a:lnTo>
                  <a:lnTo>
                    <a:pt x="269" y="14"/>
                  </a:lnTo>
                  <a:lnTo>
                    <a:pt x="324" y="0"/>
                  </a:lnTo>
                  <a:lnTo>
                    <a:pt x="380" y="14"/>
                  </a:lnTo>
                  <a:lnTo>
                    <a:pt x="436" y="51"/>
                  </a:lnTo>
                  <a:lnTo>
                    <a:pt x="491" y="124"/>
                  </a:lnTo>
                  <a:lnTo>
                    <a:pt x="547" y="212"/>
                  </a:lnTo>
                  <a:lnTo>
                    <a:pt x="603" y="322"/>
                  </a:lnTo>
                  <a:lnTo>
                    <a:pt x="658" y="432"/>
                  </a:lnTo>
                </a:path>
              </a:pathLst>
            </a:custGeom>
            <a:noFill/>
            <a:ln w="38100" cap="rnd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826" name="任意多边形 286826"/>
            <p:cNvSpPr/>
            <p:nvPr/>
          </p:nvSpPr>
          <p:spPr>
            <a:xfrm flipH="1" flipV="1">
              <a:off x="1008" y="1367"/>
              <a:ext cx="288" cy="288"/>
            </a:xfrm>
            <a:custGeom>
              <a:avLst/>
              <a:gdLst/>
              <a:ahLst/>
              <a:cxnLst/>
              <a:pathLst>
                <a:path w="659" h="433">
                  <a:moveTo>
                    <a:pt x="0" y="432"/>
                  </a:moveTo>
                  <a:lnTo>
                    <a:pt x="56" y="314"/>
                  </a:lnTo>
                  <a:lnTo>
                    <a:pt x="111" y="212"/>
                  </a:lnTo>
                  <a:lnTo>
                    <a:pt x="167" y="124"/>
                  </a:lnTo>
                  <a:lnTo>
                    <a:pt x="222" y="51"/>
                  </a:lnTo>
                  <a:lnTo>
                    <a:pt x="269" y="14"/>
                  </a:lnTo>
                  <a:lnTo>
                    <a:pt x="324" y="0"/>
                  </a:lnTo>
                  <a:lnTo>
                    <a:pt x="380" y="14"/>
                  </a:lnTo>
                  <a:lnTo>
                    <a:pt x="436" y="51"/>
                  </a:lnTo>
                  <a:lnTo>
                    <a:pt x="491" y="124"/>
                  </a:lnTo>
                  <a:lnTo>
                    <a:pt x="547" y="212"/>
                  </a:lnTo>
                  <a:lnTo>
                    <a:pt x="603" y="322"/>
                  </a:lnTo>
                  <a:lnTo>
                    <a:pt x="658" y="432"/>
                  </a:lnTo>
                </a:path>
              </a:pathLst>
            </a:custGeom>
            <a:noFill/>
            <a:ln w="38100" cap="rnd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86828" name="组合 286827"/>
          <p:cNvGrpSpPr/>
          <p:nvPr/>
        </p:nvGrpSpPr>
        <p:grpSpPr>
          <a:xfrm>
            <a:off x="5189538" y="1809750"/>
            <a:ext cx="914400" cy="1008063"/>
            <a:chOff x="720" y="1056"/>
            <a:chExt cx="576" cy="599"/>
          </a:xfrm>
        </p:grpSpPr>
        <p:sp>
          <p:nvSpPr>
            <p:cNvPr id="30828" name="任意多边形 286828"/>
            <p:cNvSpPr/>
            <p:nvPr/>
          </p:nvSpPr>
          <p:spPr>
            <a:xfrm>
              <a:off x="720" y="1056"/>
              <a:ext cx="288" cy="288"/>
            </a:xfrm>
            <a:custGeom>
              <a:avLst/>
              <a:gdLst/>
              <a:ahLst/>
              <a:cxnLst/>
              <a:pathLst>
                <a:path w="659" h="433">
                  <a:moveTo>
                    <a:pt x="0" y="432"/>
                  </a:moveTo>
                  <a:lnTo>
                    <a:pt x="56" y="314"/>
                  </a:lnTo>
                  <a:lnTo>
                    <a:pt x="111" y="212"/>
                  </a:lnTo>
                  <a:lnTo>
                    <a:pt x="167" y="124"/>
                  </a:lnTo>
                  <a:lnTo>
                    <a:pt x="222" y="51"/>
                  </a:lnTo>
                  <a:lnTo>
                    <a:pt x="269" y="14"/>
                  </a:lnTo>
                  <a:lnTo>
                    <a:pt x="324" y="0"/>
                  </a:lnTo>
                  <a:lnTo>
                    <a:pt x="380" y="14"/>
                  </a:lnTo>
                  <a:lnTo>
                    <a:pt x="436" y="51"/>
                  </a:lnTo>
                  <a:lnTo>
                    <a:pt x="491" y="124"/>
                  </a:lnTo>
                  <a:lnTo>
                    <a:pt x="547" y="212"/>
                  </a:lnTo>
                  <a:lnTo>
                    <a:pt x="603" y="322"/>
                  </a:lnTo>
                  <a:lnTo>
                    <a:pt x="658" y="432"/>
                  </a:lnTo>
                </a:path>
              </a:pathLst>
            </a:custGeom>
            <a:noFill/>
            <a:ln w="38100" cap="rnd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829" name="任意多边形 286829"/>
            <p:cNvSpPr/>
            <p:nvPr/>
          </p:nvSpPr>
          <p:spPr>
            <a:xfrm flipH="1" flipV="1">
              <a:off x="1008" y="1367"/>
              <a:ext cx="288" cy="288"/>
            </a:xfrm>
            <a:custGeom>
              <a:avLst/>
              <a:gdLst/>
              <a:ahLst/>
              <a:cxnLst/>
              <a:pathLst>
                <a:path w="659" h="433">
                  <a:moveTo>
                    <a:pt x="0" y="432"/>
                  </a:moveTo>
                  <a:lnTo>
                    <a:pt x="56" y="314"/>
                  </a:lnTo>
                  <a:lnTo>
                    <a:pt x="111" y="212"/>
                  </a:lnTo>
                  <a:lnTo>
                    <a:pt x="167" y="124"/>
                  </a:lnTo>
                  <a:lnTo>
                    <a:pt x="222" y="51"/>
                  </a:lnTo>
                  <a:lnTo>
                    <a:pt x="269" y="14"/>
                  </a:lnTo>
                  <a:lnTo>
                    <a:pt x="324" y="0"/>
                  </a:lnTo>
                  <a:lnTo>
                    <a:pt x="380" y="14"/>
                  </a:lnTo>
                  <a:lnTo>
                    <a:pt x="436" y="51"/>
                  </a:lnTo>
                  <a:lnTo>
                    <a:pt x="491" y="124"/>
                  </a:lnTo>
                  <a:lnTo>
                    <a:pt x="547" y="212"/>
                  </a:lnTo>
                  <a:lnTo>
                    <a:pt x="603" y="322"/>
                  </a:lnTo>
                  <a:lnTo>
                    <a:pt x="658" y="432"/>
                  </a:lnTo>
                </a:path>
              </a:pathLst>
            </a:custGeom>
            <a:noFill/>
            <a:ln w="38100" cap="rnd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6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6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6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6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6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86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28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4" dur="500"/>
                                        <p:tgtEl>
                                          <p:spTgt spid="286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28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86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6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3" dur="500"/>
                                        <p:tgtEl>
                                          <p:spTgt spid="286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86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8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286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23" grpId="0" bldLvl="0" animBg="1"/>
      <p:bldP spid="2868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标题 287745"/>
          <p:cNvSpPr/>
          <p:nvPr>
            <p:ph type="title"/>
          </p:nvPr>
        </p:nvSpPr>
        <p:spPr>
          <a:xfrm>
            <a:off x="381000" y="228600"/>
            <a:ext cx="4343400" cy="457200"/>
          </a:xfrm>
          <a:noFill/>
          <a:ln>
            <a:noFill/>
          </a:ln>
        </p:spPr>
        <p:txBody>
          <a:bodyPr anchor="t"/>
          <a:p>
            <a:pPr algn="l"/>
            <a:r>
              <a:rPr lang="en-US" altLang="zh-CN" sz="2800" b="1" dirty="0">
                <a:solidFill>
                  <a:srgbClr val="000099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800" b="1" dirty="0">
                <a:solidFill>
                  <a:srgbClr val="000099"/>
                </a:solidFill>
                <a:latin typeface="宋体" panose="02010600030101010101" pitchFamily="2" charset="-122"/>
              </a:rPr>
              <a:t>非线性饱和失真</a:t>
            </a:r>
            <a:endParaRPr lang="zh-CN" altLang="en-US" sz="2800" b="1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sp>
        <p:nvSpPr>
          <p:cNvPr id="287747" name="矩形 287746"/>
          <p:cNvSpPr/>
          <p:nvPr/>
        </p:nvSpPr>
        <p:spPr>
          <a:xfrm>
            <a:off x="533400" y="917575"/>
            <a:ext cx="8305800" cy="98742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lvl="0" fontAlgn="base">
              <a:lnSpc>
                <a:spcPct val="105000"/>
              </a:lnSpc>
              <a:spcBef>
                <a:spcPct val="5000"/>
              </a:spcBef>
            </a:pPr>
            <a:r>
              <a:rPr lang="en-US" altLang="zh-CN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 </a:t>
            </a:r>
            <a:r>
              <a:rPr lang="zh-CN" altLang="en-US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如果</a:t>
            </a:r>
            <a:r>
              <a:rPr lang="en-US" altLang="zh-CN" sz="2800" b="1" i="1" strike="noStrike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Q</a:t>
            </a:r>
            <a:r>
              <a:rPr lang="zh-CN" altLang="en-US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设置不合适，晶体管进入截止区或饱和区工作，将造成</a:t>
            </a:r>
            <a:r>
              <a:rPr lang="zh-CN" altLang="en-US" sz="2800" b="1" strike="noStrike" noProof="1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非线性失真</a:t>
            </a:r>
            <a:r>
              <a:rPr lang="zh-CN" altLang="en-US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。</a:t>
            </a:r>
            <a:endParaRPr lang="zh-CN" altLang="en-US" sz="2800" b="1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7748" name="矩形 287747"/>
          <p:cNvSpPr/>
          <p:nvPr/>
        </p:nvSpPr>
        <p:spPr>
          <a:xfrm>
            <a:off x="457200" y="2028825"/>
            <a:ext cx="2890838" cy="5619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lvl="0" fontAlgn="base">
              <a:lnSpc>
                <a:spcPct val="110000"/>
              </a:lnSpc>
              <a:spcBef>
                <a:spcPct val="20000"/>
              </a:spcBef>
            </a:pPr>
            <a:r>
              <a:rPr lang="zh-CN" altLang="en-US" sz="2800" b="1" strike="noStrike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若</a:t>
            </a:r>
            <a:r>
              <a:rPr lang="en-US" altLang="zh-CN" sz="2800" b="1" i="1" strike="noStrike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Q</a:t>
            </a:r>
            <a:r>
              <a:rPr lang="zh-CN" altLang="en-US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设置过高，</a:t>
            </a:r>
            <a:endParaRPr lang="zh-CN" altLang="en-US" sz="2800" b="1" strike="noStrike" noProof="1" dirty="0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7749" name="矩形 287748"/>
          <p:cNvSpPr/>
          <p:nvPr/>
        </p:nvSpPr>
        <p:spPr>
          <a:xfrm>
            <a:off x="323850" y="2613025"/>
            <a:ext cx="2876550" cy="15017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lvl="0" fontAlgn="base">
              <a:lnSpc>
                <a:spcPct val="110000"/>
              </a:lnSpc>
              <a:spcBef>
                <a:spcPct val="20000"/>
              </a:spcBef>
            </a:pPr>
            <a:r>
              <a:rPr lang="en-US" altLang="zh-CN" sz="2800" b="1" strike="noStrike" noProof="1" dirty="0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 </a:t>
            </a:r>
            <a:r>
              <a:rPr lang="zh-CN" altLang="en-US" sz="2800" b="1" strike="noStrike" noProof="1" dirty="0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晶体管进入饱和区工作，造成饱和失真。</a:t>
            </a:r>
            <a:endParaRPr lang="zh-CN" altLang="en-US" sz="2800" b="1" strike="noStrike" noProof="1" dirty="0">
              <a:solidFill>
                <a:srgbClr val="0066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87750" name="组合 287749"/>
          <p:cNvGrpSpPr/>
          <p:nvPr/>
        </p:nvGrpSpPr>
        <p:grpSpPr>
          <a:xfrm>
            <a:off x="3937000" y="2667000"/>
            <a:ext cx="3394075" cy="762000"/>
            <a:chOff x="436" y="960"/>
            <a:chExt cx="2138" cy="480"/>
          </a:xfrm>
        </p:grpSpPr>
        <p:sp>
          <p:nvSpPr>
            <p:cNvPr id="31750" name="直接连接符 287750"/>
            <p:cNvSpPr/>
            <p:nvPr/>
          </p:nvSpPr>
          <p:spPr>
            <a:xfrm>
              <a:off x="436" y="960"/>
              <a:ext cx="105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1751" name="直接连接符 287751"/>
            <p:cNvSpPr/>
            <p:nvPr/>
          </p:nvSpPr>
          <p:spPr>
            <a:xfrm>
              <a:off x="440" y="1440"/>
              <a:ext cx="213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pSp>
        <p:nvGrpSpPr>
          <p:cNvPr id="287753" name="组合 287752"/>
          <p:cNvGrpSpPr/>
          <p:nvPr/>
        </p:nvGrpSpPr>
        <p:grpSpPr>
          <a:xfrm>
            <a:off x="5645150" y="2667000"/>
            <a:ext cx="800100" cy="3352800"/>
            <a:chOff x="1512" y="960"/>
            <a:chExt cx="504" cy="2112"/>
          </a:xfrm>
        </p:grpSpPr>
        <p:sp>
          <p:nvSpPr>
            <p:cNvPr id="31753" name="直接连接符 287753"/>
            <p:cNvSpPr/>
            <p:nvPr/>
          </p:nvSpPr>
          <p:spPr>
            <a:xfrm>
              <a:off x="1512" y="960"/>
              <a:ext cx="0" cy="204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1754" name="直接连接符 287754"/>
            <p:cNvSpPr/>
            <p:nvPr/>
          </p:nvSpPr>
          <p:spPr>
            <a:xfrm>
              <a:off x="2016" y="1461"/>
              <a:ext cx="0" cy="161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pSp>
        <p:nvGrpSpPr>
          <p:cNvPr id="287756" name="组合 287755"/>
          <p:cNvGrpSpPr/>
          <p:nvPr/>
        </p:nvGrpSpPr>
        <p:grpSpPr>
          <a:xfrm>
            <a:off x="6008688" y="2951163"/>
            <a:ext cx="893762" cy="554037"/>
            <a:chOff x="1741" y="1139"/>
            <a:chExt cx="563" cy="349"/>
          </a:xfrm>
        </p:grpSpPr>
        <p:grpSp>
          <p:nvGrpSpPr>
            <p:cNvPr id="31756" name="组合 287756"/>
            <p:cNvGrpSpPr/>
            <p:nvPr/>
          </p:nvGrpSpPr>
          <p:grpSpPr>
            <a:xfrm>
              <a:off x="1987" y="1139"/>
              <a:ext cx="317" cy="349"/>
              <a:chOff x="1987" y="1139"/>
              <a:chExt cx="317" cy="349"/>
            </a:xfrm>
          </p:grpSpPr>
          <p:sp>
            <p:nvSpPr>
              <p:cNvPr id="31757" name="矩形 287757"/>
              <p:cNvSpPr/>
              <p:nvPr/>
            </p:nvSpPr>
            <p:spPr>
              <a:xfrm>
                <a:off x="1987" y="1139"/>
                <a:ext cx="31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58" name="椭圆 287758"/>
              <p:cNvSpPr/>
              <p:nvPr/>
            </p:nvSpPr>
            <p:spPr>
              <a:xfrm>
                <a:off x="1992" y="1404"/>
                <a:ext cx="72" cy="84"/>
              </a:xfrm>
              <a:prstGeom prst="ellipse">
                <a:avLst/>
              </a:prstGeom>
              <a:solidFill>
                <a:srgbClr val="FF3300"/>
              </a:solidFill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1759" name="直接连接符 287759"/>
            <p:cNvSpPr/>
            <p:nvPr/>
          </p:nvSpPr>
          <p:spPr>
            <a:xfrm flipH="1" flipV="1">
              <a:off x="1741" y="1275"/>
              <a:ext cx="227" cy="165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  <p:grpSp>
        <p:nvGrpSpPr>
          <p:cNvPr id="287761" name="组合 287760"/>
          <p:cNvGrpSpPr/>
          <p:nvPr/>
        </p:nvGrpSpPr>
        <p:grpSpPr>
          <a:xfrm>
            <a:off x="5622925" y="4951413"/>
            <a:ext cx="1277938" cy="915987"/>
            <a:chOff x="1498" y="2399"/>
            <a:chExt cx="805" cy="577"/>
          </a:xfrm>
        </p:grpSpPr>
        <p:sp>
          <p:nvSpPr>
            <p:cNvPr id="31761" name="任意多边形 287761"/>
            <p:cNvSpPr/>
            <p:nvPr/>
          </p:nvSpPr>
          <p:spPr>
            <a:xfrm>
              <a:off x="1498" y="2399"/>
              <a:ext cx="228" cy="288"/>
            </a:xfrm>
            <a:custGeom>
              <a:avLst/>
              <a:gdLst/>
              <a:ahLst/>
              <a:cxnLst/>
              <a:pathLst>
                <a:path w="228" h="288">
                  <a:moveTo>
                    <a:pt x="228" y="0"/>
                  </a:moveTo>
                  <a:lnTo>
                    <a:pt x="144" y="24"/>
                  </a:lnTo>
                  <a:lnTo>
                    <a:pt x="70" y="49"/>
                  </a:lnTo>
                  <a:lnTo>
                    <a:pt x="9" y="78"/>
                  </a:lnTo>
                  <a:lnTo>
                    <a:pt x="9" y="97"/>
                  </a:lnTo>
                  <a:lnTo>
                    <a:pt x="9" y="126"/>
                  </a:lnTo>
                  <a:lnTo>
                    <a:pt x="0" y="129"/>
                  </a:lnTo>
                  <a:lnTo>
                    <a:pt x="6" y="142"/>
                  </a:lnTo>
                  <a:lnTo>
                    <a:pt x="9" y="155"/>
                  </a:lnTo>
                  <a:lnTo>
                    <a:pt x="6" y="180"/>
                  </a:lnTo>
                  <a:lnTo>
                    <a:pt x="7" y="215"/>
                  </a:lnTo>
                  <a:lnTo>
                    <a:pt x="70" y="239"/>
                  </a:lnTo>
                  <a:lnTo>
                    <a:pt x="149" y="264"/>
                  </a:lnTo>
                  <a:lnTo>
                    <a:pt x="228" y="288"/>
                  </a:lnTo>
                </a:path>
              </a:pathLst>
            </a:custGeom>
            <a:noFill/>
            <a:ln w="38100" cap="rnd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62" name="任意多边形 287762"/>
            <p:cNvSpPr/>
            <p:nvPr/>
          </p:nvSpPr>
          <p:spPr>
            <a:xfrm rot="5400000" flipH="1">
              <a:off x="1718" y="2686"/>
              <a:ext cx="288" cy="288"/>
            </a:xfrm>
            <a:custGeom>
              <a:avLst/>
              <a:gdLst/>
              <a:ahLst/>
              <a:cxnLst/>
              <a:pathLst>
                <a:path w="659" h="433">
                  <a:moveTo>
                    <a:pt x="0" y="432"/>
                  </a:moveTo>
                  <a:lnTo>
                    <a:pt x="56" y="314"/>
                  </a:lnTo>
                  <a:lnTo>
                    <a:pt x="111" y="212"/>
                  </a:lnTo>
                  <a:lnTo>
                    <a:pt x="167" y="124"/>
                  </a:lnTo>
                  <a:lnTo>
                    <a:pt x="222" y="51"/>
                  </a:lnTo>
                  <a:lnTo>
                    <a:pt x="269" y="14"/>
                  </a:lnTo>
                  <a:lnTo>
                    <a:pt x="324" y="0"/>
                  </a:lnTo>
                  <a:lnTo>
                    <a:pt x="380" y="14"/>
                  </a:lnTo>
                  <a:lnTo>
                    <a:pt x="436" y="51"/>
                  </a:lnTo>
                  <a:lnTo>
                    <a:pt x="491" y="124"/>
                  </a:lnTo>
                  <a:lnTo>
                    <a:pt x="547" y="212"/>
                  </a:lnTo>
                  <a:lnTo>
                    <a:pt x="603" y="322"/>
                  </a:lnTo>
                  <a:lnTo>
                    <a:pt x="658" y="432"/>
                  </a:lnTo>
                </a:path>
              </a:pathLst>
            </a:custGeom>
            <a:noFill/>
            <a:ln w="38100" cap="rnd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63" name="矩形 287763"/>
            <p:cNvSpPr/>
            <p:nvPr/>
          </p:nvSpPr>
          <p:spPr>
            <a:xfrm>
              <a:off x="2016" y="2688"/>
              <a:ext cx="28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7765" name="组合 287764"/>
          <p:cNvGrpSpPr/>
          <p:nvPr/>
        </p:nvGrpSpPr>
        <p:grpSpPr>
          <a:xfrm>
            <a:off x="3951288" y="2651125"/>
            <a:ext cx="914400" cy="784225"/>
            <a:chOff x="445" y="950"/>
            <a:chExt cx="576" cy="539"/>
          </a:xfrm>
        </p:grpSpPr>
        <p:sp>
          <p:nvSpPr>
            <p:cNvPr id="31765" name="任意多边形 287765"/>
            <p:cNvSpPr/>
            <p:nvPr/>
          </p:nvSpPr>
          <p:spPr>
            <a:xfrm>
              <a:off x="445" y="950"/>
              <a:ext cx="288" cy="217"/>
            </a:xfrm>
            <a:custGeom>
              <a:avLst/>
              <a:gdLst/>
              <a:ahLst/>
              <a:cxnLst/>
              <a:pathLst>
                <a:path w="288" h="217">
                  <a:moveTo>
                    <a:pt x="0" y="217"/>
                  </a:moveTo>
                  <a:lnTo>
                    <a:pt x="24" y="136"/>
                  </a:lnTo>
                  <a:lnTo>
                    <a:pt x="49" y="65"/>
                  </a:lnTo>
                  <a:lnTo>
                    <a:pt x="73" y="4"/>
                  </a:lnTo>
                  <a:lnTo>
                    <a:pt x="107" y="3"/>
                  </a:lnTo>
                  <a:lnTo>
                    <a:pt x="121" y="3"/>
                  </a:lnTo>
                  <a:lnTo>
                    <a:pt x="133" y="3"/>
                  </a:lnTo>
                  <a:lnTo>
                    <a:pt x="165" y="5"/>
                  </a:lnTo>
                  <a:lnTo>
                    <a:pt x="196" y="0"/>
                  </a:lnTo>
                  <a:lnTo>
                    <a:pt x="213" y="8"/>
                  </a:lnTo>
                  <a:lnTo>
                    <a:pt x="215" y="4"/>
                  </a:lnTo>
                  <a:lnTo>
                    <a:pt x="239" y="65"/>
                  </a:lnTo>
                  <a:lnTo>
                    <a:pt x="264" y="141"/>
                  </a:lnTo>
                  <a:lnTo>
                    <a:pt x="288" y="217"/>
                  </a:lnTo>
                </a:path>
              </a:pathLst>
            </a:custGeom>
            <a:noFill/>
            <a:ln w="38100" cap="rnd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66" name="任意多边形 287766"/>
            <p:cNvSpPr/>
            <p:nvPr/>
          </p:nvSpPr>
          <p:spPr>
            <a:xfrm flipH="1" flipV="1">
              <a:off x="733" y="1167"/>
              <a:ext cx="288" cy="322"/>
            </a:xfrm>
            <a:custGeom>
              <a:avLst/>
              <a:gdLst/>
              <a:ahLst/>
              <a:cxnLst/>
              <a:pathLst>
                <a:path w="659" h="433">
                  <a:moveTo>
                    <a:pt x="0" y="432"/>
                  </a:moveTo>
                  <a:lnTo>
                    <a:pt x="56" y="314"/>
                  </a:lnTo>
                  <a:lnTo>
                    <a:pt x="111" y="212"/>
                  </a:lnTo>
                  <a:lnTo>
                    <a:pt x="167" y="124"/>
                  </a:lnTo>
                  <a:lnTo>
                    <a:pt x="222" y="51"/>
                  </a:lnTo>
                  <a:lnTo>
                    <a:pt x="269" y="14"/>
                  </a:lnTo>
                  <a:lnTo>
                    <a:pt x="324" y="0"/>
                  </a:lnTo>
                  <a:lnTo>
                    <a:pt x="380" y="14"/>
                  </a:lnTo>
                  <a:lnTo>
                    <a:pt x="436" y="51"/>
                  </a:lnTo>
                  <a:lnTo>
                    <a:pt x="491" y="124"/>
                  </a:lnTo>
                  <a:lnTo>
                    <a:pt x="547" y="212"/>
                  </a:lnTo>
                  <a:lnTo>
                    <a:pt x="603" y="322"/>
                  </a:lnTo>
                  <a:lnTo>
                    <a:pt x="658" y="432"/>
                  </a:lnTo>
                </a:path>
              </a:pathLst>
            </a:custGeom>
            <a:noFill/>
            <a:ln w="38100" cap="rnd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87768" name="矩形 287767"/>
          <p:cNvSpPr/>
          <p:nvPr/>
        </p:nvSpPr>
        <p:spPr>
          <a:xfrm>
            <a:off x="533400" y="4137025"/>
            <a:ext cx="2667000" cy="15017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lvl="0" fontAlgn="base">
              <a:lnSpc>
                <a:spcPct val="110000"/>
              </a:lnSpc>
              <a:spcBef>
                <a:spcPct val="20000"/>
              </a:spcBef>
            </a:pPr>
            <a:r>
              <a:rPr lang="en-US" altLang="zh-CN" sz="2800" b="1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 </a:t>
            </a:r>
            <a:r>
              <a:rPr lang="zh-CN" altLang="en-US" sz="2800" b="1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适当减小基极电流可消除失真。</a:t>
            </a:r>
            <a:endParaRPr lang="zh-CN" altLang="en-US" sz="2800" b="1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87769" name="组合 287768"/>
          <p:cNvGrpSpPr/>
          <p:nvPr/>
        </p:nvGrpSpPr>
        <p:grpSpPr>
          <a:xfrm>
            <a:off x="3625850" y="1741488"/>
            <a:ext cx="4679950" cy="4659312"/>
            <a:chOff x="2284" y="1097"/>
            <a:chExt cx="2948" cy="2935"/>
          </a:xfrm>
        </p:grpSpPr>
        <p:grpSp>
          <p:nvGrpSpPr>
            <p:cNvPr id="31769" name="组合 287769"/>
            <p:cNvGrpSpPr/>
            <p:nvPr/>
          </p:nvGrpSpPr>
          <p:grpSpPr>
            <a:xfrm>
              <a:off x="3384" y="3504"/>
              <a:ext cx="430" cy="336"/>
              <a:chOff x="3384" y="3504"/>
              <a:chExt cx="430" cy="336"/>
            </a:xfrm>
          </p:grpSpPr>
          <p:sp>
            <p:nvSpPr>
              <p:cNvPr id="31770" name="直接连接符 287770"/>
              <p:cNvSpPr/>
              <p:nvPr/>
            </p:nvSpPr>
            <p:spPr>
              <a:xfrm>
                <a:off x="3456" y="3840"/>
                <a:ext cx="288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arrow" w="med" len="med"/>
                <a:tailEnd type="arrow" w="med" len="med"/>
              </a:ln>
            </p:spPr>
          </p:sp>
          <p:sp>
            <p:nvSpPr>
              <p:cNvPr id="31771" name="矩形 287771"/>
              <p:cNvSpPr/>
              <p:nvPr/>
            </p:nvSpPr>
            <p:spPr>
              <a:xfrm>
                <a:off x="3384" y="3504"/>
                <a:ext cx="430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CE</a:t>
                </a:r>
                <a:endParaRPr lang="en-US" altLang="zh-CN" b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1772" name="组合 287772"/>
            <p:cNvGrpSpPr/>
            <p:nvPr/>
          </p:nvGrpSpPr>
          <p:grpSpPr>
            <a:xfrm>
              <a:off x="2284" y="1097"/>
              <a:ext cx="2948" cy="2935"/>
              <a:chOff x="2284" y="1097"/>
              <a:chExt cx="2948" cy="2935"/>
            </a:xfrm>
          </p:grpSpPr>
          <p:sp>
            <p:nvSpPr>
              <p:cNvPr id="31773" name="任意多边形 287773"/>
              <p:cNvSpPr/>
              <p:nvPr/>
            </p:nvSpPr>
            <p:spPr>
              <a:xfrm>
                <a:off x="3451" y="2717"/>
                <a:ext cx="1288" cy="88"/>
              </a:xfrm>
              <a:custGeom>
                <a:avLst/>
                <a:gdLst/>
                <a:ahLst/>
                <a:cxnLst/>
                <a:pathLst>
                  <a:path w="2387" h="131">
                    <a:moveTo>
                      <a:pt x="19" y="131"/>
                    </a:moveTo>
                    <a:cubicBezTo>
                      <a:pt x="27" y="125"/>
                      <a:pt x="0" y="113"/>
                      <a:pt x="69" y="95"/>
                    </a:cubicBezTo>
                    <a:cubicBezTo>
                      <a:pt x="138" y="77"/>
                      <a:pt x="45" y="40"/>
                      <a:pt x="431" y="24"/>
                    </a:cubicBezTo>
                    <a:cubicBezTo>
                      <a:pt x="817" y="8"/>
                      <a:pt x="1980" y="5"/>
                      <a:pt x="2387" y="0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74" name="任意多边形 287774"/>
              <p:cNvSpPr/>
              <p:nvPr/>
            </p:nvSpPr>
            <p:spPr>
              <a:xfrm>
                <a:off x="3461" y="2465"/>
                <a:ext cx="1246" cy="341"/>
              </a:xfrm>
              <a:custGeom>
                <a:avLst/>
                <a:gdLst/>
                <a:ahLst/>
                <a:cxnLst/>
                <a:pathLst>
                  <a:path w="2308" h="504">
                    <a:moveTo>
                      <a:pt x="0" y="504"/>
                    </a:moveTo>
                    <a:cubicBezTo>
                      <a:pt x="3" y="472"/>
                      <a:pt x="6" y="352"/>
                      <a:pt x="15" y="314"/>
                    </a:cubicBezTo>
                    <a:cubicBezTo>
                      <a:pt x="24" y="276"/>
                      <a:pt x="26" y="302"/>
                      <a:pt x="52" y="276"/>
                    </a:cubicBezTo>
                    <a:cubicBezTo>
                      <a:pt x="78" y="250"/>
                      <a:pt x="124" y="190"/>
                      <a:pt x="172" y="156"/>
                    </a:cubicBezTo>
                    <a:cubicBezTo>
                      <a:pt x="220" y="122"/>
                      <a:pt x="244" y="90"/>
                      <a:pt x="340" y="72"/>
                    </a:cubicBezTo>
                    <a:cubicBezTo>
                      <a:pt x="436" y="54"/>
                      <a:pt x="420" y="60"/>
                      <a:pt x="748" y="48"/>
                    </a:cubicBezTo>
                    <a:cubicBezTo>
                      <a:pt x="1076" y="36"/>
                      <a:pt x="1983" y="10"/>
                      <a:pt x="2308" y="0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75" name="任意多边形 287775"/>
              <p:cNvSpPr/>
              <p:nvPr/>
            </p:nvSpPr>
            <p:spPr>
              <a:xfrm>
                <a:off x="3460" y="2164"/>
                <a:ext cx="1240" cy="642"/>
              </a:xfrm>
              <a:custGeom>
                <a:avLst/>
                <a:gdLst/>
                <a:ahLst/>
                <a:cxnLst/>
                <a:pathLst>
                  <a:path w="2299" h="948">
                    <a:moveTo>
                      <a:pt x="0" y="948"/>
                    </a:moveTo>
                    <a:cubicBezTo>
                      <a:pt x="9" y="858"/>
                      <a:pt x="20" y="540"/>
                      <a:pt x="55" y="408"/>
                    </a:cubicBezTo>
                    <a:cubicBezTo>
                      <a:pt x="90" y="276"/>
                      <a:pt x="151" y="212"/>
                      <a:pt x="211" y="156"/>
                    </a:cubicBezTo>
                    <a:cubicBezTo>
                      <a:pt x="271" y="100"/>
                      <a:pt x="247" y="93"/>
                      <a:pt x="413" y="69"/>
                    </a:cubicBezTo>
                    <a:cubicBezTo>
                      <a:pt x="579" y="45"/>
                      <a:pt x="893" y="23"/>
                      <a:pt x="1207" y="12"/>
                    </a:cubicBezTo>
                    <a:cubicBezTo>
                      <a:pt x="1521" y="1"/>
                      <a:pt x="2072" y="2"/>
                      <a:pt x="2299" y="0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76" name="任意多边形 287776"/>
              <p:cNvSpPr/>
              <p:nvPr/>
            </p:nvSpPr>
            <p:spPr>
              <a:xfrm>
                <a:off x="3461" y="1571"/>
                <a:ext cx="1200" cy="1211"/>
              </a:xfrm>
              <a:custGeom>
                <a:avLst/>
                <a:gdLst/>
                <a:ahLst/>
                <a:cxnLst/>
                <a:pathLst>
                  <a:path w="2224" h="1788">
                    <a:moveTo>
                      <a:pt x="0" y="1788"/>
                    </a:moveTo>
                    <a:cubicBezTo>
                      <a:pt x="15" y="1616"/>
                      <a:pt x="70" y="1000"/>
                      <a:pt x="89" y="754"/>
                    </a:cubicBezTo>
                    <a:cubicBezTo>
                      <a:pt x="108" y="508"/>
                      <a:pt x="92" y="417"/>
                      <a:pt x="112" y="312"/>
                    </a:cubicBezTo>
                    <a:cubicBezTo>
                      <a:pt x="132" y="207"/>
                      <a:pt x="121" y="171"/>
                      <a:pt x="209" y="125"/>
                    </a:cubicBezTo>
                    <a:cubicBezTo>
                      <a:pt x="297" y="79"/>
                      <a:pt x="304" y="57"/>
                      <a:pt x="640" y="36"/>
                    </a:cubicBezTo>
                    <a:cubicBezTo>
                      <a:pt x="976" y="15"/>
                      <a:pt x="1894" y="8"/>
                      <a:pt x="2224" y="0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777" name="矩形 287777"/>
              <p:cNvSpPr/>
              <p:nvPr/>
            </p:nvSpPr>
            <p:spPr>
              <a:xfrm>
                <a:off x="5047" y="2515"/>
                <a:ext cx="114" cy="2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endParaRPr lang="zh-CN" altLang="en-US" sz="2800" b="1" baseline="-250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1778" name="直接连接符 287778"/>
              <p:cNvSpPr/>
              <p:nvPr/>
            </p:nvSpPr>
            <p:spPr>
              <a:xfrm flipH="1">
                <a:off x="2462" y="1872"/>
                <a:ext cx="1330" cy="14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79" name="直接连接符 287779"/>
              <p:cNvSpPr/>
              <p:nvPr/>
            </p:nvSpPr>
            <p:spPr>
              <a:xfrm flipH="1">
                <a:off x="3772" y="1872"/>
                <a:ext cx="15" cy="192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80" name="矩形 287780"/>
              <p:cNvSpPr/>
              <p:nvPr/>
            </p:nvSpPr>
            <p:spPr>
              <a:xfrm>
                <a:off x="3772" y="1606"/>
                <a:ext cx="25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endParaRPr lang="en-US" altLang="zh-CN" b="1" i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81" name="文本框 287781"/>
              <p:cNvSpPr txBox="1"/>
              <p:nvPr/>
            </p:nvSpPr>
            <p:spPr>
              <a:xfrm>
                <a:off x="4540" y="3048"/>
                <a:ext cx="692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b="1" baseline="-25000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CE</a:t>
                </a:r>
                <a:r>
                  <a:rPr lang="en-US" altLang="zh-CN" b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/V</a:t>
                </a:r>
                <a:endPara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82" name="直接连接符 287782"/>
              <p:cNvSpPr/>
              <p:nvPr/>
            </p:nvSpPr>
            <p:spPr>
              <a:xfrm rot="-5400000">
                <a:off x="4262" y="2303"/>
                <a:ext cx="0" cy="158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31783" name="直接连接符 287783"/>
              <p:cNvSpPr/>
              <p:nvPr/>
            </p:nvSpPr>
            <p:spPr>
              <a:xfrm flipH="1">
                <a:off x="3467" y="3094"/>
                <a:ext cx="0" cy="86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31784" name="文本框 287784"/>
              <p:cNvSpPr txBox="1"/>
              <p:nvPr/>
            </p:nvSpPr>
            <p:spPr>
              <a:xfrm>
                <a:off x="3273" y="3744"/>
                <a:ext cx="167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85" name="直接连接符 287785"/>
              <p:cNvSpPr/>
              <p:nvPr/>
            </p:nvSpPr>
            <p:spPr>
              <a:xfrm>
                <a:off x="3772" y="3096"/>
                <a:ext cx="0" cy="864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86" name="直接连接符 287786"/>
              <p:cNvSpPr/>
              <p:nvPr/>
            </p:nvSpPr>
            <p:spPr>
              <a:xfrm flipV="1">
                <a:off x="2477" y="1882"/>
                <a:ext cx="768" cy="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87" name="矩形 287787"/>
              <p:cNvSpPr/>
              <p:nvPr/>
            </p:nvSpPr>
            <p:spPr>
              <a:xfrm>
                <a:off x="3086" y="2784"/>
                <a:ext cx="16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endPara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88" name="文本框 287788"/>
              <p:cNvSpPr txBox="1"/>
              <p:nvPr/>
            </p:nvSpPr>
            <p:spPr>
              <a:xfrm>
                <a:off x="2468" y="1248"/>
                <a:ext cx="666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b="1" baseline="-25000" err="1"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C</a:t>
                </a:r>
                <a:r>
                  <a:rPr lang="en-US" altLang="zh-CN" b="1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/mA</a:t>
                </a:r>
                <a:endParaRPr lang="en-US" altLang="zh-CN" b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89" name="直接连接符 287789"/>
              <p:cNvSpPr/>
              <p:nvPr/>
            </p:nvSpPr>
            <p:spPr>
              <a:xfrm>
                <a:off x="2487" y="2832"/>
                <a:ext cx="72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31790" name="直接连接符 287790"/>
              <p:cNvSpPr/>
              <p:nvPr/>
            </p:nvSpPr>
            <p:spPr>
              <a:xfrm flipV="1">
                <a:off x="2485" y="1418"/>
                <a:ext cx="0" cy="142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grpSp>
            <p:nvGrpSpPr>
              <p:cNvPr id="31791" name="组合 287791"/>
              <p:cNvGrpSpPr/>
              <p:nvPr/>
            </p:nvGrpSpPr>
            <p:grpSpPr>
              <a:xfrm>
                <a:off x="3129" y="1872"/>
                <a:ext cx="281" cy="960"/>
                <a:chOff x="1147" y="1344"/>
                <a:chExt cx="281" cy="672"/>
              </a:xfrm>
            </p:grpSpPr>
            <p:sp>
              <p:nvSpPr>
                <p:cNvPr id="31792" name="矩形 287792"/>
                <p:cNvSpPr/>
                <p:nvPr/>
              </p:nvSpPr>
              <p:spPr>
                <a:xfrm>
                  <a:off x="1147" y="1550"/>
                  <a:ext cx="281" cy="201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lIns="90000" tIns="46800" rIns="90000" bIns="46800" anchor="ctr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1" i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I</a:t>
                  </a:r>
                  <a:r>
                    <a:rPr lang="en-US" altLang="zh-CN" b="1" baseline="-2500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C</a:t>
                  </a:r>
                  <a:endParaRPr lang="en-US" altLang="zh-CN" b="1" baseline="-2500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1793" name="直接连接符 287793"/>
                <p:cNvSpPr/>
                <p:nvPr/>
              </p:nvSpPr>
              <p:spPr>
                <a:xfrm>
                  <a:off x="1152" y="1344"/>
                  <a:ext cx="0" cy="672"/>
                </a:xfrm>
                <a:prstGeom prst="line">
                  <a:avLst/>
                </a:prstGeom>
                <a:ln w="19050" cap="flat" cmpd="sng">
                  <a:solidFill>
                    <a:srgbClr val="FF0000"/>
                  </a:solidFill>
                  <a:prstDash val="solid"/>
                  <a:round/>
                  <a:headEnd type="arrow" w="med" len="med"/>
                  <a:tailEnd type="arrow" w="med" len="med"/>
                </a:ln>
              </p:spPr>
            </p:sp>
          </p:grpSp>
          <p:sp>
            <p:nvSpPr>
              <p:cNvPr id="31794" name="直接连接符 287794"/>
              <p:cNvSpPr/>
              <p:nvPr/>
            </p:nvSpPr>
            <p:spPr>
              <a:xfrm>
                <a:off x="3436" y="1584"/>
                <a:ext cx="1392" cy="1248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95" name="文本框 287795"/>
              <p:cNvSpPr txBox="1"/>
              <p:nvPr/>
            </p:nvSpPr>
            <p:spPr>
              <a:xfrm>
                <a:off x="3470" y="1097"/>
                <a:ext cx="781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90000" tIns="46800" rIns="90000" bIns="46800" anchor="ctr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i="1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b="1" baseline="-25000" err="1"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C</a:t>
                </a:r>
                <a:r>
                  <a:rPr lang="en-US" altLang="zh-CN" b="1" err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/mA</a:t>
                </a:r>
                <a:endParaRPr lang="en-US" altLang="zh-CN" b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96" name="直接连接符 287796"/>
              <p:cNvSpPr/>
              <p:nvPr/>
            </p:nvSpPr>
            <p:spPr>
              <a:xfrm flipV="1">
                <a:off x="3446" y="1174"/>
                <a:ext cx="0" cy="168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triangle" w="sm" len="med"/>
              </a:ln>
            </p:spPr>
          </p:sp>
          <p:sp>
            <p:nvSpPr>
              <p:cNvPr id="31797" name="矩形 287797"/>
              <p:cNvSpPr/>
              <p:nvPr/>
            </p:nvSpPr>
            <p:spPr>
              <a:xfrm>
                <a:off x="4636" y="2784"/>
                <a:ext cx="590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r>
                  <a:rPr lang="en-US" altLang="zh-CN" b="1" baseline="-2500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CE</a:t>
                </a:r>
                <a:r>
                  <a:rPr lang="en-US" altLang="zh-CN" b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/V</a:t>
                </a:r>
                <a:endPara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98" name="直接连接符 287798"/>
              <p:cNvSpPr/>
              <p:nvPr/>
            </p:nvSpPr>
            <p:spPr>
              <a:xfrm>
                <a:off x="3422" y="2830"/>
                <a:ext cx="1728" cy="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triangle" w="sm" len="med"/>
              </a:ln>
            </p:spPr>
          </p:sp>
          <p:sp>
            <p:nvSpPr>
              <p:cNvPr id="31799" name="文本框 287799"/>
              <p:cNvSpPr txBox="1"/>
              <p:nvPr/>
            </p:nvSpPr>
            <p:spPr>
              <a:xfrm>
                <a:off x="3253" y="2736"/>
                <a:ext cx="23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sz="2000" b="1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lang="en-US" altLang="zh-CN" sz="2000" b="1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800" name="文本框 287800"/>
              <p:cNvSpPr txBox="1"/>
              <p:nvPr/>
            </p:nvSpPr>
            <p:spPr>
              <a:xfrm>
                <a:off x="3278" y="2966"/>
                <a:ext cx="23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sz="2000" b="1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lang="en-US" altLang="zh-CN" sz="2000" b="1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801" name="文本框 287801"/>
              <p:cNvSpPr txBox="1"/>
              <p:nvPr/>
            </p:nvSpPr>
            <p:spPr>
              <a:xfrm>
                <a:off x="2284" y="2726"/>
                <a:ext cx="232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en-US" altLang="zh-CN" sz="2000" b="1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lang="en-US" altLang="zh-CN" sz="2000" b="1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802" name="任意多边形 287802"/>
              <p:cNvSpPr/>
              <p:nvPr/>
            </p:nvSpPr>
            <p:spPr>
              <a:xfrm>
                <a:off x="3461" y="1848"/>
                <a:ext cx="1220" cy="934"/>
              </a:xfrm>
              <a:custGeom>
                <a:avLst/>
                <a:gdLst/>
                <a:ahLst/>
                <a:cxnLst/>
                <a:pathLst>
                  <a:path w="2260" h="1380">
                    <a:moveTo>
                      <a:pt x="0" y="1380"/>
                    </a:moveTo>
                    <a:cubicBezTo>
                      <a:pt x="12" y="1237"/>
                      <a:pt x="48" y="729"/>
                      <a:pt x="73" y="525"/>
                    </a:cubicBezTo>
                    <a:cubicBezTo>
                      <a:pt x="99" y="321"/>
                      <a:pt x="86" y="236"/>
                      <a:pt x="155" y="157"/>
                    </a:cubicBezTo>
                    <a:cubicBezTo>
                      <a:pt x="223" y="77"/>
                      <a:pt x="132" y="76"/>
                      <a:pt x="483" y="50"/>
                    </a:cubicBezTo>
                    <a:cubicBezTo>
                      <a:pt x="834" y="24"/>
                      <a:pt x="1890" y="10"/>
                      <a:pt x="2260" y="0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med" len="lg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1803" name="椭圆 287803"/>
              <p:cNvSpPr/>
              <p:nvPr/>
            </p:nvSpPr>
            <p:spPr>
              <a:xfrm>
                <a:off x="3746" y="1846"/>
                <a:ext cx="72" cy="84"/>
              </a:xfrm>
              <a:prstGeom prst="ellipse">
                <a:avLst/>
              </a:prstGeom>
              <a:solidFill>
                <a:schemeClr val="tx1"/>
              </a:solidFill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87805" name="组合 287804"/>
          <p:cNvGrpSpPr/>
          <p:nvPr/>
        </p:nvGrpSpPr>
        <p:grpSpPr>
          <a:xfrm>
            <a:off x="5572125" y="2168525"/>
            <a:ext cx="528638" cy="882650"/>
            <a:chOff x="1680" y="836"/>
            <a:chExt cx="333" cy="556"/>
          </a:xfrm>
        </p:grpSpPr>
        <p:grpSp>
          <p:nvGrpSpPr>
            <p:cNvPr id="31805" name="组合 287805"/>
            <p:cNvGrpSpPr/>
            <p:nvPr/>
          </p:nvGrpSpPr>
          <p:grpSpPr>
            <a:xfrm>
              <a:off x="1680" y="836"/>
              <a:ext cx="333" cy="356"/>
              <a:chOff x="1808" y="1340"/>
              <a:chExt cx="333" cy="356"/>
            </a:xfrm>
          </p:grpSpPr>
          <p:sp>
            <p:nvSpPr>
              <p:cNvPr id="31806" name="矩形 287806"/>
              <p:cNvSpPr/>
              <p:nvPr/>
            </p:nvSpPr>
            <p:spPr>
              <a:xfrm>
                <a:off x="1824" y="1340"/>
                <a:ext cx="31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i="1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Q</a:t>
                </a:r>
                <a:r>
                  <a:rPr lang="en-US" altLang="zh-CN" b="1" baseline="-25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807" name="椭圆 287807"/>
              <p:cNvSpPr/>
              <p:nvPr/>
            </p:nvSpPr>
            <p:spPr>
              <a:xfrm>
                <a:off x="1808" y="1612"/>
                <a:ext cx="72" cy="84"/>
              </a:xfrm>
              <a:prstGeom prst="ellipse">
                <a:avLst/>
              </a:prstGeom>
              <a:solidFill>
                <a:srgbClr val="FF3300"/>
              </a:solidFill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1808" name="直接连接符 287808"/>
            <p:cNvSpPr/>
            <p:nvPr/>
          </p:nvSpPr>
          <p:spPr>
            <a:xfrm flipH="1" flipV="1">
              <a:off x="1687" y="1229"/>
              <a:ext cx="185" cy="163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7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8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" dur="500"/>
                                        <p:tgtEl>
                                          <p:spTgt spid="287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87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8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87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87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7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7" grpId="0"/>
      <p:bldP spid="287748" grpId="0"/>
      <p:bldP spid="287749" grpId="0"/>
      <p:bldP spid="28776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标题 288769"/>
          <p:cNvSpPr/>
          <p:nvPr>
            <p:ph type="title"/>
          </p:nvPr>
        </p:nvSpPr>
        <p:spPr>
          <a:xfrm>
            <a:off x="381000" y="228600"/>
            <a:ext cx="3352800" cy="457200"/>
          </a:xfrm>
          <a:noFill/>
          <a:ln>
            <a:noFill/>
          </a:ln>
        </p:spPr>
        <p:txBody>
          <a:bodyPr anchor="t"/>
          <a:p>
            <a:pPr algn="l"/>
            <a:r>
              <a:rPr lang="en-US" altLang="zh-CN" sz="2800" b="1" dirty="0">
                <a:solidFill>
                  <a:srgbClr val="2E2EB6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800" b="1" dirty="0">
                <a:solidFill>
                  <a:srgbClr val="2E2EB6"/>
                </a:solidFill>
                <a:latin typeface="宋体" panose="02010600030101010101" pitchFamily="2" charset="-122"/>
              </a:rPr>
              <a:t>非线性截止失真</a:t>
            </a:r>
            <a:endParaRPr lang="zh-CN" altLang="en-US" sz="2800" b="1" dirty="0">
              <a:solidFill>
                <a:srgbClr val="2E2EB6"/>
              </a:solidFill>
              <a:latin typeface="宋体" panose="02010600030101010101" pitchFamily="2" charset="-122"/>
            </a:endParaRPr>
          </a:p>
        </p:txBody>
      </p:sp>
      <p:sp>
        <p:nvSpPr>
          <p:cNvPr id="288771" name="矩形 288770"/>
          <p:cNvSpPr/>
          <p:nvPr/>
        </p:nvSpPr>
        <p:spPr>
          <a:xfrm>
            <a:off x="1981200" y="762000"/>
            <a:ext cx="2878138" cy="5619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lvl="0" fontAlgn="base">
              <a:lnSpc>
                <a:spcPct val="110000"/>
              </a:lnSpc>
              <a:spcBef>
                <a:spcPct val="20000"/>
              </a:spcBef>
            </a:pPr>
            <a:r>
              <a:rPr lang="zh-CN" altLang="en-US" sz="2800" b="1" strike="noStrike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若</a:t>
            </a:r>
            <a:r>
              <a:rPr lang="en-US" altLang="zh-CN" sz="2800" b="1" i="1" strike="noStrike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Q</a:t>
            </a:r>
            <a:r>
              <a:rPr lang="zh-CN" altLang="en-US" sz="2800" b="1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设置过低，</a:t>
            </a:r>
            <a:endParaRPr lang="zh-CN" altLang="en-US" sz="2800" b="1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8773" name="矩形 288772"/>
          <p:cNvSpPr/>
          <p:nvPr/>
        </p:nvSpPr>
        <p:spPr>
          <a:xfrm>
            <a:off x="6248400" y="533400"/>
            <a:ext cx="2895600" cy="15017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lvl="0" fontAlgn="base">
              <a:lnSpc>
                <a:spcPct val="110000"/>
              </a:lnSpc>
              <a:spcBef>
                <a:spcPct val="20000"/>
              </a:spcBef>
            </a:pPr>
            <a:r>
              <a:rPr lang="en-US" altLang="zh-CN" sz="2800" b="1" strike="noStrike" noProof="1" dirty="0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</a:t>
            </a:r>
            <a:r>
              <a:rPr lang="zh-CN" altLang="en-US" sz="2800" b="1" strike="noStrike" noProof="1" dirty="0">
                <a:solidFill>
                  <a:srgbClr val="0066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晶体管进入截止区工作，造成截止失真。</a:t>
            </a:r>
            <a:endParaRPr lang="zh-CN" altLang="en-US" sz="2800" b="1" strike="noStrike" noProof="1" dirty="0">
              <a:solidFill>
                <a:srgbClr val="0066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8774" name="矩形 288773"/>
          <p:cNvSpPr/>
          <p:nvPr/>
        </p:nvSpPr>
        <p:spPr>
          <a:xfrm>
            <a:off x="6156325" y="2162175"/>
            <a:ext cx="2987675" cy="10318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lvl="0" fontAlgn="base">
              <a:lnSpc>
                <a:spcPct val="110000"/>
              </a:lnSpc>
              <a:spcBef>
                <a:spcPct val="20000"/>
              </a:spcBef>
            </a:pPr>
            <a:r>
              <a:rPr lang="en-US" altLang="zh-CN" sz="2800" b="1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</a:t>
            </a:r>
            <a:r>
              <a:rPr lang="zh-CN" altLang="en-US" sz="2800" b="1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适当增加基极电流可消除失真。</a:t>
            </a:r>
            <a:endParaRPr lang="zh-CN" altLang="en-US" sz="2800" b="1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88775" name="组合 288774"/>
          <p:cNvGrpSpPr/>
          <p:nvPr/>
        </p:nvGrpSpPr>
        <p:grpSpPr>
          <a:xfrm>
            <a:off x="5486400" y="3089275"/>
            <a:ext cx="338138" cy="1676400"/>
            <a:chOff x="4368" y="1776"/>
            <a:chExt cx="213" cy="1056"/>
          </a:xfrm>
        </p:grpSpPr>
        <p:sp>
          <p:nvSpPr>
            <p:cNvPr id="32774" name="直接连接符 288775"/>
            <p:cNvSpPr/>
            <p:nvPr/>
          </p:nvSpPr>
          <p:spPr>
            <a:xfrm>
              <a:off x="4368" y="2064"/>
              <a:ext cx="0" cy="76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2775" name="直接连接符 288776"/>
            <p:cNvSpPr/>
            <p:nvPr/>
          </p:nvSpPr>
          <p:spPr>
            <a:xfrm flipH="1">
              <a:off x="4581" y="1776"/>
              <a:ext cx="0" cy="76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pSp>
        <p:nvGrpSpPr>
          <p:cNvPr id="288778" name="组合 288777"/>
          <p:cNvGrpSpPr/>
          <p:nvPr/>
        </p:nvGrpSpPr>
        <p:grpSpPr>
          <a:xfrm>
            <a:off x="2320925" y="3089275"/>
            <a:ext cx="3470275" cy="457200"/>
            <a:chOff x="2374" y="1776"/>
            <a:chExt cx="2186" cy="288"/>
          </a:xfrm>
        </p:grpSpPr>
        <p:sp>
          <p:nvSpPr>
            <p:cNvPr id="32777" name="直接连接符 288778"/>
            <p:cNvSpPr/>
            <p:nvPr/>
          </p:nvSpPr>
          <p:spPr>
            <a:xfrm>
              <a:off x="2374" y="1776"/>
              <a:ext cx="2186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2778" name="直接连接符 288779"/>
            <p:cNvSpPr/>
            <p:nvPr/>
          </p:nvSpPr>
          <p:spPr>
            <a:xfrm>
              <a:off x="2736" y="2064"/>
              <a:ext cx="1619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pSp>
        <p:nvGrpSpPr>
          <p:cNvPr id="288781" name="组合 288780"/>
          <p:cNvGrpSpPr/>
          <p:nvPr/>
        </p:nvGrpSpPr>
        <p:grpSpPr>
          <a:xfrm>
            <a:off x="5508625" y="4024313"/>
            <a:ext cx="684213" cy="931862"/>
            <a:chOff x="4698" y="2269"/>
            <a:chExt cx="355" cy="587"/>
          </a:xfrm>
        </p:grpSpPr>
        <p:sp>
          <p:nvSpPr>
            <p:cNvPr id="32780" name="文本框 288781"/>
            <p:cNvSpPr txBox="1"/>
            <p:nvPr/>
          </p:nvSpPr>
          <p:spPr>
            <a:xfrm>
              <a:off x="4841" y="2419"/>
              <a:ext cx="21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2781" name="组合 288782"/>
            <p:cNvGrpSpPr/>
            <p:nvPr/>
          </p:nvGrpSpPr>
          <p:grpSpPr>
            <a:xfrm>
              <a:off x="4698" y="2269"/>
              <a:ext cx="150" cy="587"/>
              <a:chOff x="3678" y="3347"/>
              <a:chExt cx="147" cy="423"/>
            </a:xfrm>
          </p:grpSpPr>
          <p:sp>
            <p:nvSpPr>
              <p:cNvPr id="32782" name="任意多边形 288783"/>
              <p:cNvSpPr/>
              <p:nvPr/>
            </p:nvSpPr>
            <p:spPr>
              <a:xfrm rot="5400000" flipV="1">
                <a:off x="3605" y="3608"/>
                <a:ext cx="222" cy="89"/>
              </a:xfrm>
              <a:custGeom>
                <a:avLst/>
                <a:gdLst/>
                <a:ahLst/>
                <a:cxnLst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2783" name="任意多边形 288784"/>
              <p:cNvSpPr/>
              <p:nvPr/>
            </p:nvSpPr>
            <p:spPr>
              <a:xfrm rot="-5400000" flipH="1" flipV="1">
                <a:off x="3663" y="3407"/>
                <a:ext cx="222" cy="89"/>
              </a:xfrm>
              <a:custGeom>
                <a:avLst/>
                <a:gdLst/>
                <a:ahLst/>
                <a:cxnLst/>
                <a:pathLst>
                  <a:path w="912" h="398">
                    <a:moveTo>
                      <a:pt x="0" y="398"/>
                    </a:moveTo>
                    <a:cubicBezTo>
                      <a:pt x="18" y="372"/>
                      <a:pt x="60" y="296"/>
                      <a:pt x="108" y="242"/>
                    </a:cubicBezTo>
                    <a:cubicBezTo>
                      <a:pt x="156" y="188"/>
                      <a:pt x="230" y="114"/>
                      <a:pt x="288" y="74"/>
                    </a:cubicBezTo>
                    <a:cubicBezTo>
                      <a:pt x="346" y="34"/>
                      <a:pt x="398" y="0"/>
                      <a:pt x="456" y="2"/>
                    </a:cubicBezTo>
                    <a:cubicBezTo>
                      <a:pt x="514" y="4"/>
                      <a:pt x="582" y="52"/>
                      <a:pt x="636" y="86"/>
                    </a:cubicBezTo>
                    <a:cubicBezTo>
                      <a:pt x="690" y="120"/>
                      <a:pt x="734" y="154"/>
                      <a:pt x="780" y="206"/>
                    </a:cubicBezTo>
                    <a:cubicBezTo>
                      <a:pt x="826" y="258"/>
                      <a:pt x="884" y="358"/>
                      <a:pt x="912" y="398"/>
                    </a:cubicBezTo>
                  </a:path>
                </a:pathLst>
              </a:custGeom>
              <a:noFill/>
              <a:ln w="38100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288786" name="组合 288785"/>
          <p:cNvGrpSpPr/>
          <p:nvPr/>
        </p:nvGrpSpPr>
        <p:grpSpPr>
          <a:xfrm>
            <a:off x="2359025" y="4002088"/>
            <a:ext cx="917575" cy="971550"/>
            <a:chOff x="2398" y="2351"/>
            <a:chExt cx="578" cy="612"/>
          </a:xfrm>
        </p:grpSpPr>
        <p:sp>
          <p:nvSpPr>
            <p:cNvPr id="32785" name="任意多边形 288786"/>
            <p:cNvSpPr/>
            <p:nvPr/>
          </p:nvSpPr>
          <p:spPr>
            <a:xfrm flipH="1" flipV="1">
              <a:off x="2607" y="2675"/>
              <a:ext cx="100" cy="288"/>
            </a:xfrm>
            <a:custGeom>
              <a:avLst/>
              <a:gdLst/>
              <a:ahLst/>
              <a:cxnLst/>
              <a:pathLst>
                <a:path w="228" h="288">
                  <a:moveTo>
                    <a:pt x="228" y="0"/>
                  </a:moveTo>
                  <a:lnTo>
                    <a:pt x="144" y="24"/>
                  </a:lnTo>
                  <a:lnTo>
                    <a:pt x="70" y="49"/>
                  </a:lnTo>
                  <a:lnTo>
                    <a:pt x="9" y="78"/>
                  </a:lnTo>
                  <a:lnTo>
                    <a:pt x="9" y="97"/>
                  </a:lnTo>
                  <a:lnTo>
                    <a:pt x="9" y="126"/>
                  </a:lnTo>
                  <a:lnTo>
                    <a:pt x="0" y="129"/>
                  </a:lnTo>
                  <a:lnTo>
                    <a:pt x="6" y="142"/>
                  </a:lnTo>
                  <a:lnTo>
                    <a:pt x="9" y="155"/>
                  </a:lnTo>
                  <a:lnTo>
                    <a:pt x="6" y="180"/>
                  </a:lnTo>
                  <a:lnTo>
                    <a:pt x="7" y="215"/>
                  </a:lnTo>
                  <a:lnTo>
                    <a:pt x="70" y="239"/>
                  </a:lnTo>
                  <a:lnTo>
                    <a:pt x="149" y="264"/>
                  </a:lnTo>
                  <a:lnTo>
                    <a:pt x="228" y="288"/>
                  </a:lnTo>
                </a:path>
              </a:pathLst>
            </a:custGeom>
            <a:noFill/>
            <a:ln w="38100" cap="rnd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786" name="任意多边形 288787"/>
            <p:cNvSpPr/>
            <p:nvPr/>
          </p:nvSpPr>
          <p:spPr>
            <a:xfrm rot="5400000" flipV="1">
              <a:off x="2348" y="2401"/>
              <a:ext cx="311" cy="211"/>
            </a:xfrm>
            <a:custGeom>
              <a:avLst/>
              <a:gdLst/>
              <a:ahLst/>
              <a:cxnLst/>
              <a:pathLst>
                <a:path w="659" h="433">
                  <a:moveTo>
                    <a:pt x="0" y="432"/>
                  </a:moveTo>
                  <a:lnTo>
                    <a:pt x="56" y="314"/>
                  </a:lnTo>
                  <a:lnTo>
                    <a:pt x="111" y="212"/>
                  </a:lnTo>
                  <a:lnTo>
                    <a:pt x="167" y="124"/>
                  </a:lnTo>
                  <a:lnTo>
                    <a:pt x="222" y="51"/>
                  </a:lnTo>
                  <a:lnTo>
                    <a:pt x="269" y="14"/>
                  </a:lnTo>
                  <a:lnTo>
                    <a:pt x="324" y="0"/>
                  </a:lnTo>
                  <a:lnTo>
                    <a:pt x="380" y="14"/>
                  </a:lnTo>
                  <a:lnTo>
                    <a:pt x="436" y="51"/>
                  </a:lnTo>
                  <a:lnTo>
                    <a:pt x="491" y="124"/>
                  </a:lnTo>
                  <a:lnTo>
                    <a:pt x="547" y="212"/>
                  </a:lnTo>
                  <a:lnTo>
                    <a:pt x="603" y="322"/>
                  </a:lnTo>
                  <a:lnTo>
                    <a:pt x="658" y="432"/>
                  </a:lnTo>
                </a:path>
              </a:pathLst>
            </a:custGeom>
            <a:noFill/>
            <a:ln w="38100" cap="rnd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787" name="矩形 288788"/>
            <p:cNvSpPr/>
            <p:nvPr/>
          </p:nvSpPr>
          <p:spPr>
            <a:xfrm>
              <a:off x="2689" y="2640"/>
              <a:ext cx="28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8790" name="组合 288789"/>
          <p:cNvGrpSpPr/>
          <p:nvPr/>
        </p:nvGrpSpPr>
        <p:grpSpPr>
          <a:xfrm>
            <a:off x="2362200" y="3089275"/>
            <a:ext cx="465138" cy="1752600"/>
            <a:chOff x="2400" y="1776"/>
            <a:chExt cx="293" cy="1104"/>
          </a:xfrm>
        </p:grpSpPr>
        <p:sp>
          <p:nvSpPr>
            <p:cNvPr id="32789" name="直接连接符 288790"/>
            <p:cNvSpPr/>
            <p:nvPr/>
          </p:nvSpPr>
          <p:spPr>
            <a:xfrm>
              <a:off x="2693" y="1997"/>
              <a:ext cx="0" cy="883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2790" name="直接连接符 288791"/>
            <p:cNvSpPr/>
            <p:nvPr/>
          </p:nvSpPr>
          <p:spPr>
            <a:xfrm flipH="1">
              <a:off x="2400" y="1776"/>
              <a:ext cx="0" cy="72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grpSp>
        <p:nvGrpSpPr>
          <p:cNvPr id="288793" name="组合 288792"/>
          <p:cNvGrpSpPr/>
          <p:nvPr/>
        </p:nvGrpSpPr>
        <p:grpSpPr>
          <a:xfrm>
            <a:off x="457200" y="838200"/>
            <a:ext cx="7162800" cy="4689475"/>
            <a:chOff x="1200" y="358"/>
            <a:chExt cx="4512" cy="2954"/>
          </a:xfrm>
        </p:grpSpPr>
        <p:sp>
          <p:nvSpPr>
            <p:cNvPr id="32792" name="矩形 288793"/>
            <p:cNvSpPr/>
            <p:nvPr/>
          </p:nvSpPr>
          <p:spPr>
            <a:xfrm>
              <a:off x="3003" y="1795"/>
              <a:ext cx="11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endParaRPr lang="zh-CN" altLang="en-US" sz="2800" b="1" baseline="-25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793" name="直接连接符 288794"/>
            <p:cNvSpPr/>
            <p:nvPr/>
          </p:nvSpPr>
          <p:spPr>
            <a:xfrm flipV="1">
              <a:off x="2640" y="1961"/>
              <a:ext cx="1865" cy="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2794" name="矩形 288795"/>
            <p:cNvSpPr/>
            <p:nvPr/>
          </p:nvSpPr>
          <p:spPr>
            <a:xfrm>
              <a:off x="3890" y="2016"/>
              <a:ext cx="1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95" name="直接连接符 288796"/>
            <p:cNvSpPr/>
            <p:nvPr/>
          </p:nvSpPr>
          <p:spPr>
            <a:xfrm flipV="1">
              <a:off x="3266" y="918"/>
              <a:ext cx="0" cy="117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2796" name="文本框 288797"/>
            <p:cNvSpPr txBox="1"/>
            <p:nvPr/>
          </p:nvSpPr>
          <p:spPr>
            <a:xfrm>
              <a:off x="3270" y="777"/>
              <a:ext cx="55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="1" baseline="-25000" err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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97" name="直接连接符 288798"/>
            <p:cNvSpPr/>
            <p:nvPr/>
          </p:nvSpPr>
          <p:spPr>
            <a:xfrm flipV="1">
              <a:off x="3266" y="2089"/>
              <a:ext cx="783" cy="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2798" name="直接连接符 288799"/>
            <p:cNvSpPr/>
            <p:nvPr/>
          </p:nvSpPr>
          <p:spPr>
            <a:xfrm>
              <a:off x="3266" y="1968"/>
              <a:ext cx="652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2799" name="直接连接符 288800"/>
            <p:cNvSpPr/>
            <p:nvPr/>
          </p:nvSpPr>
          <p:spPr>
            <a:xfrm flipV="1">
              <a:off x="4210" y="528"/>
              <a:ext cx="0" cy="15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med"/>
            </a:ln>
          </p:spPr>
        </p:sp>
        <p:sp>
          <p:nvSpPr>
            <p:cNvPr id="32800" name="文本框 288801"/>
            <p:cNvSpPr txBox="1"/>
            <p:nvPr/>
          </p:nvSpPr>
          <p:spPr>
            <a:xfrm>
              <a:off x="4210" y="403"/>
              <a:ext cx="67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 err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B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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01" name="直接连接符 288802"/>
            <p:cNvSpPr/>
            <p:nvPr/>
          </p:nvSpPr>
          <p:spPr>
            <a:xfrm>
              <a:off x="4194" y="2098"/>
              <a:ext cx="128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med"/>
            </a:ln>
          </p:spPr>
        </p:sp>
        <p:sp>
          <p:nvSpPr>
            <p:cNvPr id="32802" name="文本框 288803"/>
            <p:cNvSpPr txBox="1"/>
            <p:nvPr/>
          </p:nvSpPr>
          <p:spPr>
            <a:xfrm>
              <a:off x="4992" y="2041"/>
              <a:ext cx="583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BE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/V</a:t>
              </a:r>
              <a:endPara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03" name="任意多边形 288804"/>
            <p:cNvSpPr/>
            <p:nvPr/>
          </p:nvSpPr>
          <p:spPr>
            <a:xfrm>
              <a:off x="4202" y="745"/>
              <a:ext cx="550" cy="1341"/>
            </a:xfrm>
            <a:custGeom>
              <a:avLst/>
              <a:gdLst/>
              <a:ahLst/>
              <a:cxnLst/>
              <a:pathLst>
                <a:path w="651" h="1341">
                  <a:moveTo>
                    <a:pt x="0" y="1341"/>
                  </a:moveTo>
                  <a:cubicBezTo>
                    <a:pt x="74" y="1338"/>
                    <a:pt x="149" y="1336"/>
                    <a:pt x="207" y="1311"/>
                  </a:cubicBezTo>
                  <a:cubicBezTo>
                    <a:pt x="265" y="1286"/>
                    <a:pt x="296" y="1283"/>
                    <a:pt x="348" y="1193"/>
                  </a:cubicBezTo>
                  <a:cubicBezTo>
                    <a:pt x="400" y="1103"/>
                    <a:pt x="468" y="969"/>
                    <a:pt x="518" y="770"/>
                  </a:cubicBezTo>
                  <a:cubicBezTo>
                    <a:pt x="568" y="571"/>
                    <a:pt x="629" y="128"/>
                    <a:pt x="651" y="0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804" name="直接连接符 288805"/>
            <p:cNvSpPr/>
            <p:nvPr/>
          </p:nvSpPr>
          <p:spPr>
            <a:xfrm flipH="1">
              <a:off x="4464" y="2016"/>
              <a:ext cx="0" cy="105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2805" name="直接连接符 288806"/>
            <p:cNvSpPr/>
            <p:nvPr/>
          </p:nvSpPr>
          <p:spPr>
            <a:xfrm flipH="1">
              <a:off x="4464" y="2353"/>
              <a:ext cx="0" cy="71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2806" name="直接连接符 288807"/>
            <p:cNvSpPr/>
            <p:nvPr/>
          </p:nvSpPr>
          <p:spPr>
            <a:xfrm>
              <a:off x="4204" y="2352"/>
              <a:ext cx="0" cy="91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2807" name="直接连接符 288808"/>
            <p:cNvSpPr/>
            <p:nvPr/>
          </p:nvSpPr>
          <p:spPr>
            <a:xfrm>
              <a:off x="4210" y="2368"/>
              <a:ext cx="1240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2808" name="文本框 288809"/>
            <p:cNvSpPr txBox="1"/>
            <p:nvPr/>
          </p:nvSpPr>
          <p:spPr>
            <a:xfrm>
              <a:off x="4022" y="3024"/>
              <a:ext cx="16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09" name="矩形 288810"/>
            <p:cNvSpPr/>
            <p:nvPr/>
          </p:nvSpPr>
          <p:spPr>
            <a:xfrm>
              <a:off x="4848" y="2328"/>
              <a:ext cx="8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BE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/V</a:t>
              </a:r>
              <a:endPara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10" name="矩形 288811"/>
            <p:cNvSpPr/>
            <p:nvPr/>
          </p:nvSpPr>
          <p:spPr>
            <a:xfrm>
              <a:off x="4224" y="2976"/>
              <a:ext cx="4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BE</a:t>
              </a:r>
              <a:endParaRPr lang="en-US" altLang="zh-CN" b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11" name="直接连接符 288812"/>
            <p:cNvSpPr/>
            <p:nvPr/>
          </p:nvSpPr>
          <p:spPr>
            <a:xfrm>
              <a:off x="4222" y="2976"/>
              <a:ext cx="242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32812" name="椭圆 288813"/>
            <p:cNvSpPr/>
            <p:nvPr/>
          </p:nvSpPr>
          <p:spPr>
            <a:xfrm>
              <a:off x="4416" y="1949"/>
              <a:ext cx="82" cy="75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13" name="文本框 288814"/>
            <p:cNvSpPr txBox="1"/>
            <p:nvPr/>
          </p:nvSpPr>
          <p:spPr>
            <a:xfrm>
              <a:off x="4018" y="1968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0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14" name="文本框 288815"/>
            <p:cNvSpPr txBox="1"/>
            <p:nvPr/>
          </p:nvSpPr>
          <p:spPr>
            <a:xfrm>
              <a:off x="3080" y="1968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0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15" name="文本框 288816"/>
            <p:cNvSpPr txBox="1"/>
            <p:nvPr/>
          </p:nvSpPr>
          <p:spPr>
            <a:xfrm>
              <a:off x="4018" y="2198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0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16" name="矩形 288817"/>
            <p:cNvSpPr/>
            <p:nvPr/>
          </p:nvSpPr>
          <p:spPr>
            <a:xfrm>
              <a:off x="4307" y="1680"/>
              <a:ext cx="25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b="1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17" name="直接连接符 288818"/>
            <p:cNvSpPr/>
            <p:nvPr/>
          </p:nvSpPr>
          <p:spPr>
            <a:xfrm>
              <a:off x="2613" y="1937"/>
              <a:ext cx="0" cy="123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2818" name="任意多边形 288819"/>
            <p:cNvSpPr/>
            <p:nvPr/>
          </p:nvSpPr>
          <p:spPr>
            <a:xfrm>
              <a:off x="1398" y="2016"/>
              <a:ext cx="1434" cy="50"/>
            </a:xfrm>
            <a:custGeom>
              <a:avLst/>
              <a:gdLst/>
              <a:ahLst/>
              <a:cxnLst/>
              <a:pathLst>
                <a:path w="2387" h="131">
                  <a:moveTo>
                    <a:pt x="19" y="131"/>
                  </a:moveTo>
                  <a:cubicBezTo>
                    <a:pt x="27" y="125"/>
                    <a:pt x="0" y="113"/>
                    <a:pt x="69" y="95"/>
                  </a:cubicBezTo>
                  <a:cubicBezTo>
                    <a:pt x="138" y="77"/>
                    <a:pt x="45" y="40"/>
                    <a:pt x="431" y="24"/>
                  </a:cubicBezTo>
                  <a:cubicBezTo>
                    <a:pt x="817" y="8"/>
                    <a:pt x="1980" y="5"/>
                    <a:pt x="2387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819" name="任意多边形 288820"/>
            <p:cNvSpPr/>
            <p:nvPr/>
          </p:nvSpPr>
          <p:spPr>
            <a:xfrm>
              <a:off x="1408" y="1757"/>
              <a:ext cx="1246" cy="310"/>
            </a:xfrm>
            <a:custGeom>
              <a:avLst/>
              <a:gdLst/>
              <a:ahLst/>
              <a:cxnLst/>
              <a:pathLst>
                <a:path w="2308" h="504">
                  <a:moveTo>
                    <a:pt x="0" y="504"/>
                  </a:moveTo>
                  <a:cubicBezTo>
                    <a:pt x="3" y="472"/>
                    <a:pt x="6" y="352"/>
                    <a:pt x="15" y="314"/>
                  </a:cubicBezTo>
                  <a:cubicBezTo>
                    <a:pt x="24" y="276"/>
                    <a:pt x="26" y="302"/>
                    <a:pt x="52" y="276"/>
                  </a:cubicBezTo>
                  <a:cubicBezTo>
                    <a:pt x="78" y="250"/>
                    <a:pt x="124" y="190"/>
                    <a:pt x="172" y="156"/>
                  </a:cubicBezTo>
                  <a:cubicBezTo>
                    <a:pt x="220" y="122"/>
                    <a:pt x="244" y="90"/>
                    <a:pt x="340" y="72"/>
                  </a:cubicBezTo>
                  <a:cubicBezTo>
                    <a:pt x="436" y="54"/>
                    <a:pt x="420" y="60"/>
                    <a:pt x="748" y="48"/>
                  </a:cubicBezTo>
                  <a:cubicBezTo>
                    <a:pt x="1076" y="36"/>
                    <a:pt x="1983" y="10"/>
                    <a:pt x="2308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820" name="任意多边形 288821"/>
            <p:cNvSpPr/>
            <p:nvPr/>
          </p:nvSpPr>
          <p:spPr>
            <a:xfrm>
              <a:off x="1407" y="1469"/>
              <a:ext cx="1240" cy="598"/>
            </a:xfrm>
            <a:custGeom>
              <a:avLst/>
              <a:gdLst/>
              <a:ahLst/>
              <a:cxnLst/>
              <a:pathLst>
                <a:path w="2299" h="948">
                  <a:moveTo>
                    <a:pt x="0" y="948"/>
                  </a:moveTo>
                  <a:cubicBezTo>
                    <a:pt x="9" y="858"/>
                    <a:pt x="20" y="540"/>
                    <a:pt x="55" y="408"/>
                  </a:cubicBezTo>
                  <a:cubicBezTo>
                    <a:pt x="90" y="276"/>
                    <a:pt x="151" y="212"/>
                    <a:pt x="211" y="156"/>
                  </a:cubicBezTo>
                  <a:cubicBezTo>
                    <a:pt x="271" y="100"/>
                    <a:pt x="247" y="93"/>
                    <a:pt x="413" y="69"/>
                  </a:cubicBezTo>
                  <a:cubicBezTo>
                    <a:pt x="579" y="45"/>
                    <a:pt x="893" y="23"/>
                    <a:pt x="1207" y="12"/>
                  </a:cubicBezTo>
                  <a:cubicBezTo>
                    <a:pt x="1521" y="1"/>
                    <a:pt x="2072" y="2"/>
                    <a:pt x="2299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821" name="任意多边形 288822"/>
            <p:cNvSpPr/>
            <p:nvPr/>
          </p:nvSpPr>
          <p:spPr>
            <a:xfrm>
              <a:off x="1408" y="1109"/>
              <a:ext cx="1220" cy="934"/>
            </a:xfrm>
            <a:custGeom>
              <a:avLst/>
              <a:gdLst/>
              <a:ahLst/>
              <a:cxnLst/>
              <a:pathLst>
                <a:path w="2260" h="1380">
                  <a:moveTo>
                    <a:pt x="0" y="1380"/>
                  </a:moveTo>
                  <a:cubicBezTo>
                    <a:pt x="12" y="1237"/>
                    <a:pt x="48" y="729"/>
                    <a:pt x="73" y="525"/>
                  </a:cubicBezTo>
                  <a:cubicBezTo>
                    <a:pt x="99" y="321"/>
                    <a:pt x="86" y="236"/>
                    <a:pt x="155" y="157"/>
                  </a:cubicBezTo>
                  <a:cubicBezTo>
                    <a:pt x="223" y="77"/>
                    <a:pt x="132" y="76"/>
                    <a:pt x="483" y="50"/>
                  </a:cubicBezTo>
                  <a:cubicBezTo>
                    <a:pt x="834" y="24"/>
                    <a:pt x="1890" y="10"/>
                    <a:pt x="2260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822" name="任意多边形 288823"/>
            <p:cNvSpPr/>
            <p:nvPr/>
          </p:nvSpPr>
          <p:spPr>
            <a:xfrm>
              <a:off x="1408" y="832"/>
              <a:ext cx="1200" cy="1211"/>
            </a:xfrm>
            <a:custGeom>
              <a:avLst/>
              <a:gdLst/>
              <a:ahLst/>
              <a:cxnLst/>
              <a:pathLst>
                <a:path w="2224" h="1788">
                  <a:moveTo>
                    <a:pt x="0" y="1788"/>
                  </a:moveTo>
                  <a:cubicBezTo>
                    <a:pt x="15" y="1616"/>
                    <a:pt x="70" y="1000"/>
                    <a:pt x="89" y="754"/>
                  </a:cubicBezTo>
                  <a:cubicBezTo>
                    <a:pt x="108" y="508"/>
                    <a:pt x="92" y="417"/>
                    <a:pt x="112" y="312"/>
                  </a:cubicBezTo>
                  <a:cubicBezTo>
                    <a:pt x="132" y="207"/>
                    <a:pt x="121" y="171"/>
                    <a:pt x="209" y="125"/>
                  </a:cubicBezTo>
                  <a:cubicBezTo>
                    <a:pt x="297" y="79"/>
                    <a:pt x="304" y="57"/>
                    <a:pt x="640" y="36"/>
                  </a:cubicBezTo>
                  <a:cubicBezTo>
                    <a:pt x="976" y="15"/>
                    <a:pt x="1894" y="8"/>
                    <a:pt x="2224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823" name="矩形 288824"/>
            <p:cNvSpPr/>
            <p:nvPr/>
          </p:nvSpPr>
          <p:spPr>
            <a:xfrm>
              <a:off x="2994" y="1776"/>
              <a:ext cx="114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endParaRPr lang="zh-CN" altLang="en-US" sz="2800" b="1" baseline="-25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824" name="矩形 288825"/>
            <p:cNvSpPr/>
            <p:nvPr/>
          </p:nvSpPr>
          <p:spPr>
            <a:xfrm>
              <a:off x="2592" y="1680"/>
              <a:ext cx="32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b="1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25" name="文本框 288826"/>
            <p:cNvSpPr txBox="1"/>
            <p:nvPr/>
          </p:nvSpPr>
          <p:spPr>
            <a:xfrm>
              <a:off x="2620" y="2309"/>
              <a:ext cx="692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CE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/V</a:t>
              </a:r>
              <a:endPara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26" name="直接连接符 288827"/>
            <p:cNvSpPr/>
            <p:nvPr/>
          </p:nvSpPr>
          <p:spPr>
            <a:xfrm rot="-5400000">
              <a:off x="2209" y="1564"/>
              <a:ext cx="0" cy="158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2827" name="直接连接符 288828"/>
            <p:cNvSpPr/>
            <p:nvPr/>
          </p:nvSpPr>
          <p:spPr>
            <a:xfrm flipH="1">
              <a:off x="1414" y="2355"/>
              <a:ext cx="0" cy="8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2828" name="文本框 288829"/>
            <p:cNvSpPr txBox="1"/>
            <p:nvPr/>
          </p:nvSpPr>
          <p:spPr>
            <a:xfrm>
              <a:off x="1220" y="3005"/>
              <a:ext cx="167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29" name="直接连接符 288830"/>
            <p:cNvSpPr/>
            <p:nvPr/>
          </p:nvSpPr>
          <p:spPr>
            <a:xfrm>
              <a:off x="2618" y="2352"/>
              <a:ext cx="0" cy="72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2830" name="直接连接符 288831"/>
            <p:cNvSpPr/>
            <p:nvPr/>
          </p:nvSpPr>
          <p:spPr>
            <a:xfrm>
              <a:off x="1383" y="845"/>
              <a:ext cx="1392" cy="124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31" name="文本框 288832"/>
            <p:cNvSpPr txBox="1"/>
            <p:nvPr/>
          </p:nvSpPr>
          <p:spPr>
            <a:xfrm>
              <a:off x="1417" y="358"/>
              <a:ext cx="781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1" baseline="-25000" err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</a:t>
              </a:r>
              <a:r>
                <a:rPr lang="en-US" altLang="zh-CN" b="1" err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/mA</a:t>
              </a:r>
              <a:endParaRPr lang="en-US" altLang="zh-CN" b="1" err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32" name="直接连接符 288833"/>
            <p:cNvSpPr/>
            <p:nvPr/>
          </p:nvSpPr>
          <p:spPr>
            <a:xfrm flipV="1">
              <a:off x="1393" y="435"/>
              <a:ext cx="0" cy="16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med"/>
            </a:ln>
          </p:spPr>
        </p:sp>
        <p:sp>
          <p:nvSpPr>
            <p:cNvPr id="32833" name="矩形 288834"/>
            <p:cNvSpPr/>
            <p:nvPr/>
          </p:nvSpPr>
          <p:spPr>
            <a:xfrm>
              <a:off x="2583" y="2045"/>
              <a:ext cx="590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 err="1"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 err="1">
                  <a:latin typeface="Times New Roman" panose="02020603050405020304" pitchFamily="18" charset="0"/>
                  <a:ea typeface="宋体" panose="02010600030101010101" pitchFamily="2" charset="-122"/>
                </a:rPr>
                <a:t>CE</a:t>
              </a:r>
              <a:r>
                <a:rPr lang="en-US" altLang="zh-CN" b="1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/V</a:t>
              </a:r>
              <a:endPara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34" name="直接连接符 288835"/>
            <p:cNvSpPr/>
            <p:nvPr/>
          </p:nvSpPr>
          <p:spPr>
            <a:xfrm>
              <a:off x="1369" y="2091"/>
              <a:ext cx="1728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med"/>
            </a:ln>
          </p:spPr>
        </p:sp>
        <p:sp>
          <p:nvSpPr>
            <p:cNvPr id="32835" name="椭圆 288836"/>
            <p:cNvSpPr/>
            <p:nvPr/>
          </p:nvSpPr>
          <p:spPr>
            <a:xfrm>
              <a:off x="2592" y="1920"/>
              <a:ext cx="72" cy="84"/>
            </a:xfrm>
            <a:prstGeom prst="ellipse">
              <a:avLst/>
            </a:prstGeom>
            <a:solidFill>
              <a:schemeClr val="tx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36" name="文本框 288837"/>
            <p:cNvSpPr txBox="1"/>
            <p:nvPr/>
          </p:nvSpPr>
          <p:spPr>
            <a:xfrm>
              <a:off x="1200" y="1997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0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37" name="文本框 288838"/>
            <p:cNvSpPr txBox="1"/>
            <p:nvPr/>
          </p:nvSpPr>
          <p:spPr>
            <a:xfrm>
              <a:off x="1225" y="2227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0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38" name="直接连接符 288839"/>
            <p:cNvSpPr/>
            <p:nvPr/>
          </p:nvSpPr>
          <p:spPr>
            <a:xfrm>
              <a:off x="1403" y="3101"/>
              <a:ext cx="1189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32839" name="矩形 288840"/>
            <p:cNvSpPr/>
            <p:nvPr/>
          </p:nvSpPr>
          <p:spPr>
            <a:xfrm>
              <a:off x="1776" y="2784"/>
              <a:ext cx="445" cy="288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CE</a:t>
              </a:r>
              <a:endParaRPr lang="en-US" altLang="zh-CN" b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8842" name="组合 288841"/>
          <p:cNvGrpSpPr/>
          <p:nvPr/>
        </p:nvGrpSpPr>
        <p:grpSpPr>
          <a:xfrm flipH="1" flipV="1">
            <a:off x="3756025" y="3089275"/>
            <a:ext cx="914400" cy="457200"/>
            <a:chOff x="445" y="950"/>
            <a:chExt cx="576" cy="539"/>
          </a:xfrm>
        </p:grpSpPr>
        <p:sp>
          <p:nvSpPr>
            <p:cNvPr id="32841" name="任意多边形 288842"/>
            <p:cNvSpPr/>
            <p:nvPr/>
          </p:nvSpPr>
          <p:spPr>
            <a:xfrm>
              <a:off x="445" y="950"/>
              <a:ext cx="288" cy="217"/>
            </a:xfrm>
            <a:custGeom>
              <a:avLst/>
              <a:gdLst/>
              <a:ahLst/>
              <a:cxnLst/>
              <a:pathLst>
                <a:path w="288" h="217">
                  <a:moveTo>
                    <a:pt x="0" y="217"/>
                  </a:moveTo>
                  <a:lnTo>
                    <a:pt x="24" y="136"/>
                  </a:lnTo>
                  <a:lnTo>
                    <a:pt x="49" y="65"/>
                  </a:lnTo>
                  <a:lnTo>
                    <a:pt x="73" y="4"/>
                  </a:lnTo>
                  <a:lnTo>
                    <a:pt x="107" y="3"/>
                  </a:lnTo>
                  <a:lnTo>
                    <a:pt x="121" y="3"/>
                  </a:lnTo>
                  <a:lnTo>
                    <a:pt x="133" y="3"/>
                  </a:lnTo>
                  <a:lnTo>
                    <a:pt x="165" y="5"/>
                  </a:lnTo>
                  <a:lnTo>
                    <a:pt x="196" y="0"/>
                  </a:lnTo>
                  <a:lnTo>
                    <a:pt x="213" y="8"/>
                  </a:lnTo>
                  <a:lnTo>
                    <a:pt x="215" y="4"/>
                  </a:lnTo>
                  <a:lnTo>
                    <a:pt x="239" y="65"/>
                  </a:lnTo>
                  <a:lnTo>
                    <a:pt x="264" y="141"/>
                  </a:lnTo>
                  <a:lnTo>
                    <a:pt x="288" y="217"/>
                  </a:lnTo>
                </a:path>
              </a:pathLst>
            </a:custGeom>
            <a:noFill/>
            <a:ln w="38100" cap="rnd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842" name="任意多边形 288843"/>
            <p:cNvSpPr/>
            <p:nvPr/>
          </p:nvSpPr>
          <p:spPr>
            <a:xfrm flipH="1" flipV="1">
              <a:off x="733" y="1167"/>
              <a:ext cx="288" cy="322"/>
            </a:xfrm>
            <a:custGeom>
              <a:avLst/>
              <a:gdLst/>
              <a:ahLst/>
              <a:cxnLst/>
              <a:pathLst>
                <a:path w="659" h="433">
                  <a:moveTo>
                    <a:pt x="0" y="432"/>
                  </a:moveTo>
                  <a:lnTo>
                    <a:pt x="56" y="314"/>
                  </a:lnTo>
                  <a:lnTo>
                    <a:pt x="111" y="212"/>
                  </a:lnTo>
                  <a:lnTo>
                    <a:pt x="167" y="124"/>
                  </a:lnTo>
                  <a:lnTo>
                    <a:pt x="222" y="51"/>
                  </a:lnTo>
                  <a:lnTo>
                    <a:pt x="269" y="14"/>
                  </a:lnTo>
                  <a:lnTo>
                    <a:pt x="324" y="0"/>
                  </a:lnTo>
                  <a:lnTo>
                    <a:pt x="380" y="14"/>
                  </a:lnTo>
                  <a:lnTo>
                    <a:pt x="436" y="51"/>
                  </a:lnTo>
                  <a:lnTo>
                    <a:pt x="491" y="124"/>
                  </a:lnTo>
                  <a:lnTo>
                    <a:pt x="547" y="212"/>
                  </a:lnTo>
                  <a:lnTo>
                    <a:pt x="603" y="322"/>
                  </a:lnTo>
                  <a:lnTo>
                    <a:pt x="658" y="432"/>
                  </a:lnTo>
                </a:path>
              </a:pathLst>
            </a:custGeom>
            <a:noFill/>
            <a:ln w="38100" cap="rnd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88845" name="矩形 288844"/>
          <p:cNvSpPr/>
          <p:nvPr/>
        </p:nvSpPr>
        <p:spPr>
          <a:xfrm>
            <a:off x="609600" y="5410200"/>
            <a:ext cx="8077200" cy="10318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lvl="0" fontAlgn="base">
              <a:lnSpc>
                <a:spcPct val="110000"/>
              </a:lnSpc>
              <a:spcBef>
                <a:spcPct val="20000"/>
              </a:spcBef>
            </a:pPr>
            <a:r>
              <a:rPr lang="en-US" altLang="zh-CN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 </a:t>
            </a:r>
            <a:r>
              <a:rPr lang="zh-CN" altLang="en-US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如果</a:t>
            </a:r>
            <a:r>
              <a:rPr lang="en-US" altLang="zh-CN" sz="2800" b="1" i="1" strike="noStrike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Q</a:t>
            </a:r>
            <a:r>
              <a:rPr lang="zh-CN" altLang="en-US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设置合适，</a:t>
            </a:r>
            <a:r>
              <a:rPr lang="zh-CN" altLang="en-US" sz="2800" b="1" strike="noStrike" noProof="1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信号幅值过大</a:t>
            </a:r>
            <a:r>
              <a:rPr lang="zh-CN" altLang="en-US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也可产生失真，</a:t>
            </a:r>
            <a:r>
              <a:rPr lang="zh-CN" altLang="en-US" sz="2800" b="1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减小信号幅值</a:t>
            </a:r>
            <a:r>
              <a:rPr lang="zh-CN" altLang="en-US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可消除失真。</a:t>
            </a:r>
            <a:endParaRPr lang="zh-CN" altLang="en-US" sz="2800" b="1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8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8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8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8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88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8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8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8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8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1" grpId="0"/>
      <p:bldP spid="288773" grpId="0"/>
      <p:bldP spid="288774" grpId="0"/>
      <p:bldP spid="2888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标题 96257"/>
          <p:cNvSpPr/>
          <p:nvPr>
            <p:ph type="title"/>
          </p:nvPr>
        </p:nvSpPr>
        <p:spPr>
          <a:xfrm>
            <a:off x="533400" y="304800"/>
            <a:ext cx="4495800" cy="533400"/>
          </a:xfrm>
          <a:noFill/>
          <a:ln>
            <a:noFill/>
          </a:ln>
        </p:spPr>
        <p:txBody>
          <a:bodyPr/>
          <a:p>
            <a:pPr algn="l" fontAlgn="base"/>
            <a:r>
              <a:rPr lang="zh-CN" altLang="en-US" sz="2800" b="1" strike="noStrike" noProof="1" dirty="0">
                <a:solidFill>
                  <a:schemeClr val="accent6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三、静态工作点的稳定</a:t>
            </a:r>
            <a:endParaRPr lang="zh-CN" altLang="en-US" sz="2800" b="1" strike="noStrike" noProof="1" dirty="0">
              <a:solidFill>
                <a:schemeClr val="accent6"/>
              </a:solidFill>
              <a:effectLst>
                <a:outerShdw blurRad="38100" dist="38100" dir="2700000">
                  <a:srgbClr val="00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6259" name="矩形 96258"/>
          <p:cNvSpPr/>
          <p:nvPr/>
        </p:nvSpPr>
        <p:spPr>
          <a:xfrm>
            <a:off x="381000" y="990600"/>
            <a:ext cx="8153400" cy="175895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lvl="0" fontAlgn="base">
              <a:lnSpc>
                <a:spcPct val="130000"/>
              </a:lnSpc>
            </a:pPr>
            <a:r>
              <a:rPr lang="en-US" altLang="zh-CN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</a:t>
            </a:r>
            <a:r>
              <a:rPr lang="zh-CN" altLang="en-US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合理设置静态工作点是保证放大电路正常工作的先决条件。但是放大电路的静态工作点常因外界条件的变化而发生变动。</a:t>
            </a:r>
            <a:endParaRPr lang="zh-CN" altLang="en-US" sz="2800" b="1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260" name="矩形 96259"/>
          <p:cNvSpPr/>
          <p:nvPr/>
        </p:nvSpPr>
        <p:spPr>
          <a:xfrm>
            <a:off x="457200" y="2667000"/>
            <a:ext cx="8077200" cy="287020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lvl="0" fontAlgn="base">
              <a:lnSpc>
                <a:spcPct val="130000"/>
              </a:lnSpc>
            </a:pPr>
            <a:r>
              <a:rPr lang="en-US" altLang="zh-CN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 </a:t>
            </a:r>
            <a:r>
              <a:rPr lang="zh-CN" altLang="en-US" sz="2800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前述的固定偏置放大电路，简单、容易调整，但在温度变化、三极管老化、电源电压波动等外部因素的影响下，将引起静态工作点的变动，严重时将使放大电路不能正常工作，其中影响最大的是温度的变化。</a:t>
            </a:r>
            <a:endParaRPr lang="zh-CN" altLang="en-US" sz="2800" b="1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/>
      <p:bldP spid="9626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标题 97281"/>
          <p:cNvSpPr/>
          <p:nvPr>
            <p:ph type="title"/>
          </p:nvPr>
        </p:nvSpPr>
        <p:spPr>
          <a:xfrm>
            <a:off x="533400" y="485775"/>
            <a:ext cx="7543800" cy="609600"/>
          </a:xfrm>
          <a:noFill/>
          <a:ln w="38100">
            <a:noFill/>
          </a:ln>
        </p:spPr>
        <p:txBody>
          <a:bodyPr anchor="ctr"/>
          <a:p>
            <a:pPr algn="l" fontAlgn="base">
              <a:spcBef>
                <a:spcPct val="50000"/>
              </a:spcBef>
            </a:pPr>
            <a:r>
              <a:rPr lang="zh-CN" altLang="en-US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温度变化对静态工作点的影响</a:t>
            </a:r>
            <a:endParaRPr lang="zh-CN" altLang="en-US" sz="2800" b="1" strike="noStrike" noProof="1" dirty="0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97283" name="矩形 97282"/>
          <p:cNvSpPr/>
          <p:nvPr/>
        </p:nvSpPr>
        <p:spPr>
          <a:xfrm>
            <a:off x="609600" y="1116013"/>
            <a:ext cx="8229600" cy="10318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spcBef>
                <a:spcPct val="20000"/>
              </a:spcBef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在固定偏置放大电路中，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当温度升高时，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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 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、 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b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CBO</a:t>
            </a:r>
            <a:r>
              <a:rPr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</a:t>
            </a:r>
            <a:r>
              <a:rPr lang="zh-CN" altLang="en-US" sz="28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 b="1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284" name="矩形 97283"/>
          <p:cNvSpPr/>
          <p:nvPr/>
        </p:nvSpPr>
        <p:spPr>
          <a:xfrm>
            <a:off x="762000" y="4069080"/>
            <a:ext cx="7924800" cy="10318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lnSpc>
                <a:spcPct val="11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上式表明，当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zh-CN" altLang="en-US" sz="28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一定时，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与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以及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CEO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有关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，而这三个参数随温度而变化。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7286" name="直接连接符 97285"/>
          <p:cNvSpPr/>
          <p:nvPr/>
        </p:nvSpPr>
        <p:spPr>
          <a:xfrm flipV="1">
            <a:off x="2362200" y="3200400"/>
            <a:ext cx="0" cy="4572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arrow" w="sm" len="med"/>
          </a:ln>
        </p:spPr>
      </p:sp>
      <p:sp>
        <p:nvSpPr>
          <p:cNvPr id="97287" name="直接连接符 97286"/>
          <p:cNvSpPr/>
          <p:nvPr/>
        </p:nvSpPr>
        <p:spPr>
          <a:xfrm flipV="1">
            <a:off x="6096000" y="3200400"/>
            <a:ext cx="0" cy="4572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arrow" w="sm" len="med"/>
          </a:ln>
        </p:spPr>
      </p:sp>
      <p:sp>
        <p:nvSpPr>
          <p:cNvPr id="97288" name="直接连接符 97287"/>
          <p:cNvSpPr/>
          <p:nvPr/>
        </p:nvSpPr>
        <p:spPr>
          <a:xfrm>
            <a:off x="4419600" y="3048000"/>
            <a:ext cx="0" cy="4572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arrow" w="sm" len="med"/>
          </a:ln>
        </p:spPr>
      </p:sp>
      <p:sp>
        <p:nvSpPr>
          <p:cNvPr id="97289" name="直接连接符 97288"/>
          <p:cNvSpPr/>
          <p:nvPr/>
        </p:nvSpPr>
        <p:spPr>
          <a:xfrm flipV="1">
            <a:off x="7086600" y="3200400"/>
            <a:ext cx="0" cy="50165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arrow" w="sm" len="med"/>
          </a:ln>
        </p:spPr>
      </p:sp>
      <p:sp>
        <p:nvSpPr>
          <p:cNvPr id="97290" name="直接连接符 97289"/>
          <p:cNvSpPr/>
          <p:nvPr/>
        </p:nvSpPr>
        <p:spPr>
          <a:xfrm flipH="1" flipV="1">
            <a:off x="1524000" y="2470150"/>
            <a:ext cx="0" cy="50165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arrow" w="sm" len="med"/>
          </a:ln>
        </p:spPr>
      </p:sp>
      <p:sp>
        <p:nvSpPr>
          <p:cNvPr id="34825" name="矩形 97290"/>
          <p:cNvSpPr/>
          <p:nvPr/>
        </p:nvSpPr>
        <p:spPr>
          <a:xfrm>
            <a:off x="838200" y="1720850"/>
            <a:ext cx="4953000" cy="609600"/>
          </a:xfrm>
          <a:prstGeom prst="rect">
            <a:avLst/>
          </a:prstGeom>
          <a:noFill/>
          <a:ln w="38100">
            <a:noFill/>
          </a:ln>
        </p:spPr>
        <p:txBody>
          <a:bodyPr anchor="t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6" name="矩形 97291"/>
          <p:cNvSpPr/>
          <p:nvPr/>
        </p:nvSpPr>
        <p:spPr>
          <a:xfrm>
            <a:off x="609600" y="5257800"/>
            <a:ext cx="8534400" cy="1600200"/>
          </a:xfrm>
          <a:prstGeom prst="rect">
            <a:avLst/>
          </a:prstGeom>
          <a:noFill/>
          <a:ln w="38100">
            <a:noFill/>
          </a:ln>
        </p:spPr>
        <p:txBody>
          <a:bodyPr anchor="t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293" name="矩形 97292"/>
          <p:cNvSpPr/>
          <p:nvPr/>
        </p:nvSpPr>
        <p:spPr>
          <a:xfrm>
            <a:off x="609600" y="5119688"/>
            <a:ext cx="8412163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温度升高时，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b="1" baseline="-2500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将增加，使</a:t>
            </a:r>
            <a:r>
              <a:rPr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点沿负载线上移。</a:t>
            </a:r>
            <a:endParaRPr lang="zh-CN" altLang="en-US" sz="2800" b="1" dirty="0"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995363" y="2398713"/>
          <a:ext cx="6248400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1" imgW="2006600" imgH="660400" progId="Equation.3">
                  <p:embed/>
                </p:oleObj>
              </mc:Choice>
              <mc:Fallback>
                <p:oleObj name="" r:id="rId1" imgW="2006600" imgH="66040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5363" y="2398713"/>
                        <a:ext cx="6248400" cy="167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3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charRg st="2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83">
                                            <p:txEl>
                                              <p:charRg st="21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7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build="p"/>
      <p:bldP spid="97284" grpId="0"/>
      <p:bldP spid="9729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5841" name="组合 98337"/>
          <p:cNvGrpSpPr/>
          <p:nvPr/>
        </p:nvGrpSpPr>
        <p:grpSpPr>
          <a:xfrm>
            <a:off x="914400" y="874713"/>
            <a:ext cx="2895600" cy="2746375"/>
            <a:chOff x="576" y="551"/>
            <a:chExt cx="1824" cy="1730"/>
          </a:xfrm>
        </p:grpSpPr>
        <p:sp>
          <p:nvSpPr>
            <p:cNvPr id="35842" name="任意多边形 98306"/>
            <p:cNvSpPr/>
            <p:nvPr/>
          </p:nvSpPr>
          <p:spPr>
            <a:xfrm>
              <a:off x="576" y="2026"/>
              <a:ext cx="1824" cy="230"/>
            </a:xfrm>
            <a:custGeom>
              <a:avLst/>
              <a:gdLst/>
              <a:ahLst/>
              <a:cxnLst/>
              <a:pathLst>
                <a:path w="2387" h="131">
                  <a:moveTo>
                    <a:pt x="19" y="131"/>
                  </a:moveTo>
                  <a:cubicBezTo>
                    <a:pt x="27" y="125"/>
                    <a:pt x="0" y="113"/>
                    <a:pt x="69" y="95"/>
                  </a:cubicBezTo>
                  <a:cubicBezTo>
                    <a:pt x="138" y="77"/>
                    <a:pt x="45" y="40"/>
                    <a:pt x="431" y="24"/>
                  </a:cubicBezTo>
                  <a:cubicBezTo>
                    <a:pt x="817" y="8"/>
                    <a:pt x="1980" y="5"/>
                    <a:pt x="2387" y="0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dash"/>
              <a:round/>
              <a:headEnd type="none" w="sm" len="sm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843" name="任意多边形 98307"/>
            <p:cNvSpPr/>
            <p:nvPr/>
          </p:nvSpPr>
          <p:spPr>
            <a:xfrm>
              <a:off x="590" y="1728"/>
              <a:ext cx="1762" cy="495"/>
            </a:xfrm>
            <a:custGeom>
              <a:avLst/>
              <a:gdLst/>
              <a:ahLst/>
              <a:cxnLst/>
              <a:pathLst>
                <a:path w="2308" h="504">
                  <a:moveTo>
                    <a:pt x="0" y="504"/>
                  </a:moveTo>
                  <a:cubicBezTo>
                    <a:pt x="3" y="472"/>
                    <a:pt x="6" y="352"/>
                    <a:pt x="15" y="314"/>
                  </a:cubicBezTo>
                  <a:cubicBezTo>
                    <a:pt x="24" y="276"/>
                    <a:pt x="26" y="302"/>
                    <a:pt x="52" y="276"/>
                  </a:cubicBezTo>
                  <a:cubicBezTo>
                    <a:pt x="78" y="250"/>
                    <a:pt x="124" y="190"/>
                    <a:pt x="172" y="156"/>
                  </a:cubicBezTo>
                  <a:cubicBezTo>
                    <a:pt x="220" y="122"/>
                    <a:pt x="244" y="90"/>
                    <a:pt x="340" y="72"/>
                  </a:cubicBezTo>
                  <a:cubicBezTo>
                    <a:pt x="436" y="54"/>
                    <a:pt x="420" y="60"/>
                    <a:pt x="748" y="48"/>
                  </a:cubicBezTo>
                  <a:cubicBezTo>
                    <a:pt x="1076" y="36"/>
                    <a:pt x="1983" y="10"/>
                    <a:pt x="2308" y="0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dash"/>
              <a:round/>
              <a:headEnd type="none" w="sm" len="sm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844" name="任意多边形 98308"/>
            <p:cNvSpPr/>
            <p:nvPr/>
          </p:nvSpPr>
          <p:spPr>
            <a:xfrm>
              <a:off x="588" y="1440"/>
              <a:ext cx="1764" cy="841"/>
            </a:xfrm>
            <a:custGeom>
              <a:avLst/>
              <a:gdLst/>
              <a:ahLst/>
              <a:cxnLst/>
              <a:pathLst>
                <a:path w="2299" h="948">
                  <a:moveTo>
                    <a:pt x="0" y="948"/>
                  </a:moveTo>
                  <a:cubicBezTo>
                    <a:pt x="9" y="858"/>
                    <a:pt x="20" y="540"/>
                    <a:pt x="55" y="408"/>
                  </a:cubicBezTo>
                  <a:cubicBezTo>
                    <a:pt x="90" y="276"/>
                    <a:pt x="151" y="212"/>
                    <a:pt x="211" y="156"/>
                  </a:cubicBezTo>
                  <a:cubicBezTo>
                    <a:pt x="271" y="100"/>
                    <a:pt x="247" y="93"/>
                    <a:pt x="413" y="69"/>
                  </a:cubicBezTo>
                  <a:cubicBezTo>
                    <a:pt x="579" y="45"/>
                    <a:pt x="893" y="23"/>
                    <a:pt x="1207" y="12"/>
                  </a:cubicBezTo>
                  <a:cubicBezTo>
                    <a:pt x="1521" y="1"/>
                    <a:pt x="2072" y="2"/>
                    <a:pt x="2299" y="0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dash"/>
              <a:round/>
              <a:headEnd type="none" w="sm" len="sm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845" name="任意多边形 98309"/>
            <p:cNvSpPr/>
            <p:nvPr/>
          </p:nvSpPr>
          <p:spPr>
            <a:xfrm>
              <a:off x="590" y="1152"/>
              <a:ext cx="1714" cy="1103"/>
            </a:xfrm>
            <a:custGeom>
              <a:avLst/>
              <a:gdLst/>
              <a:ahLst/>
              <a:cxnLst/>
              <a:pathLst>
                <a:path w="2260" h="1380">
                  <a:moveTo>
                    <a:pt x="0" y="1380"/>
                  </a:moveTo>
                  <a:cubicBezTo>
                    <a:pt x="12" y="1237"/>
                    <a:pt x="48" y="729"/>
                    <a:pt x="73" y="525"/>
                  </a:cubicBezTo>
                  <a:cubicBezTo>
                    <a:pt x="99" y="321"/>
                    <a:pt x="86" y="236"/>
                    <a:pt x="155" y="157"/>
                  </a:cubicBezTo>
                  <a:cubicBezTo>
                    <a:pt x="223" y="77"/>
                    <a:pt x="132" y="76"/>
                    <a:pt x="483" y="50"/>
                  </a:cubicBezTo>
                  <a:cubicBezTo>
                    <a:pt x="834" y="24"/>
                    <a:pt x="1890" y="10"/>
                    <a:pt x="2260" y="0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dash"/>
              <a:round/>
              <a:headEnd type="none" w="sm" len="sm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846" name="任意多边形 98310"/>
            <p:cNvSpPr/>
            <p:nvPr/>
          </p:nvSpPr>
          <p:spPr>
            <a:xfrm>
              <a:off x="590" y="864"/>
              <a:ext cx="1714" cy="1391"/>
            </a:xfrm>
            <a:custGeom>
              <a:avLst/>
              <a:gdLst/>
              <a:ahLst/>
              <a:cxnLst/>
              <a:pathLst>
                <a:path w="2224" h="1788">
                  <a:moveTo>
                    <a:pt x="0" y="1788"/>
                  </a:moveTo>
                  <a:cubicBezTo>
                    <a:pt x="15" y="1616"/>
                    <a:pt x="70" y="1000"/>
                    <a:pt x="89" y="754"/>
                  </a:cubicBezTo>
                  <a:cubicBezTo>
                    <a:pt x="108" y="508"/>
                    <a:pt x="92" y="417"/>
                    <a:pt x="112" y="312"/>
                  </a:cubicBezTo>
                  <a:cubicBezTo>
                    <a:pt x="132" y="207"/>
                    <a:pt x="121" y="171"/>
                    <a:pt x="209" y="125"/>
                  </a:cubicBezTo>
                  <a:cubicBezTo>
                    <a:pt x="297" y="79"/>
                    <a:pt x="304" y="57"/>
                    <a:pt x="640" y="36"/>
                  </a:cubicBezTo>
                  <a:cubicBezTo>
                    <a:pt x="976" y="15"/>
                    <a:pt x="1894" y="8"/>
                    <a:pt x="2224" y="0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dash"/>
              <a:round/>
              <a:headEnd type="none" w="sm" len="sm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847" name="任意多边形 98311"/>
            <p:cNvSpPr/>
            <p:nvPr/>
          </p:nvSpPr>
          <p:spPr>
            <a:xfrm>
              <a:off x="590" y="551"/>
              <a:ext cx="1706" cy="1705"/>
            </a:xfrm>
            <a:custGeom>
              <a:avLst/>
              <a:gdLst/>
              <a:ahLst/>
              <a:cxnLst/>
              <a:pathLst>
                <a:path w="2212" h="2377">
                  <a:moveTo>
                    <a:pt x="0" y="2377"/>
                  </a:moveTo>
                  <a:cubicBezTo>
                    <a:pt x="15" y="2189"/>
                    <a:pt x="62" y="1583"/>
                    <a:pt x="93" y="1248"/>
                  </a:cubicBezTo>
                  <a:cubicBezTo>
                    <a:pt x="124" y="914"/>
                    <a:pt x="113" y="567"/>
                    <a:pt x="186" y="369"/>
                  </a:cubicBezTo>
                  <a:cubicBezTo>
                    <a:pt x="259" y="171"/>
                    <a:pt x="194" y="122"/>
                    <a:pt x="532" y="61"/>
                  </a:cubicBezTo>
                  <a:cubicBezTo>
                    <a:pt x="870" y="0"/>
                    <a:pt x="1862" y="13"/>
                    <a:pt x="2212" y="1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dash"/>
              <a:round/>
              <a:headEnd type="none" w="sm" len="sm"/>
              <a:tailEnd type="none" w="med" len="lg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5848" name="文本框 98313"/>
          <p:cNvSpPr txBox="1"/>
          <p:nvPr/>
        </p:nvSpPr>
        <p:spPr>
          <a:xfrm>
            <a:off x="1014413" y="304800"/>
            <a:ext cx="2082800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baseline="-25000" err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endParaRPr lang="en-US" altLang="zh-CN" sz="2800" b="1" baseline="-25000" err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849" name="文本框 98314"/>
          <p:cNvSpPr txBox="1"/>
          <p:nvPr/>
        </p:nvSpPr>
        <p:spPr>
          <a:xfrm>
            <a:off x="3757613" y="3551238"/>
            <a:ext cx="714375" cy="519112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 i="1" err="1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lang="en-US" altLang="zh-CN" sz="2800" b="1" baseline="-25000" err="1">
                <a:latin typeface="Times New Roman" panose="02020603050405020304" pitchFamily="18" charset="0"/>
                <a:ea typeface="楷体_GB2312" pitchFamily="49" charset="-122"/>
              </a:rPr>
              <a:t>CE</a:t>
            </a:r>
            <a:endParaRPr lang="en-US" altLang="zh-CN" sz="2800" b="1" baseline="-25000" err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850" name="直接连接符 98315"/>
          <p:cNvSpPr/>
          <p:nvPr/>
        </p:nvSpPr>
        <p:spPr>
          <a:xfrm>
            <a:off x="914400" y="3597275"/>
            <a:ext cx="35052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lg"/>
          </a:ln>
        </p:spPr>
      </p:sp>
      <p:sp>
        <p:nvSpPr>
          <p:cNvPr id="35851" name="直接连接符 98316"/>
          <p:cNvSpPr/>
          <p:nvPr/>
        </p:nvSpPr>
        <p:spPr>
          <a:xfrm flipV="1">
            <a:off x="914400" y="457200"/>
            <a:ext cx="0" cy="31242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lg"/>
          </a:ln>
        </p:spPr>
      </p:sp>
      <p:sp>
        <p:nvSpPr>
          <p:cNvPr id="35852" name="任意多边形 98317"/>
          <p:cNvSpPr/>
          <p:nvPr/>
        </p:nvSpPr>
        <p:spPr>
          <a:xfrm>
            <a:off x="923925" y="3444875"/>
            <a:ext cx="2962275" cy="98425"/>
          </a:xfrm>
          <a:custGeom>
            <a:avLst/>
            <a:gdLst/>
            <a:ahLst/>
            <a:cxnLst/>
            <a:pathLst>
              <a:path w="2387" h="131">
                <a:moveTo>
                  <a:pt x="19" y="131"/>
                </a:moveTo>
                <a:cubicBezTo>
                  <a:pt x="27" y="125"/>
                  <a:pt x="0" y="113"/>
                  <a:pt x="69" y="95"/>
                </a:cubicBezTo>
                <a:cubicBezTo>
                  <a:pt x="138" y="77"/>
                  <a:pt x="45" y="40"/>
                  <a:pt x="431" y="24"/>
                </a:cubicBezTo>
                <a:cubicBezTo>
                  <a:pt x="817" y="8"/>
                  <a:pt x="1980" y="5"/>
                  <a:pt x="2387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med" len="lg"/>
          </a:ln>
        </p:spPr>
        <p:txBody>
          <a:bodyPr/>
          <a:p>
            <a:endParaRPr lang="zh-CN" altLang="en-US"/>
          </a:p>
        </p:txBody>
      </p:sp>
      <p:sp>
        <p:nvSpPr>
          <p:cNvPr id="35853" name="任意多边形 98318"/>
          <p:cNvSpPr/>
          <p:nvPr/>
        </p:nvSpPr>
        <p:spPr>
          <a:xfrm>
            <a:off x="914400" y="3063875"/>
            <a:ext cx="2971800" cy="457200"/>
          </a:xfrm>
          <a:custGeom>
            <a:avLst/>
            <a:gdLst/>
            <a:ahLst/>
            <a:cxnLst/>
            <a:pathLst>
              <a:path w="2308" h="504">
                <a:moveTo>
                  <a:pt x="0" y="504"/>
                </a:moveTo>
                <a:cubicBezTo>
                  <a:pt x="3" y="472"/>
                  <a:pt x="6" y="352"/>
                  <a:pt x="15" y="314"/>
                </a:cubicBezTo>
                <a:cubicBezTo>
                  <a:pt x="24" y="276"/>
                  <a:pt x="26" y="302"/>
                  <a:pt x="52" y="276"/>
                </a:cubicBezTo>
                <a:cubicBezTo>
                  <a:pt x="78" y="250"/>
                  <a:pt x="124" y="190"/>
                  <a:pt x="172" y="156"/>
                </a:cubicBezTo>
                <a:cubicBezTo>
                  <a:pt x="220" y="122"/>
                  <a:pt x="244" y="90"/>
                  <a:pt x="340" y="72"/>
                </a:cubicBezTo>
                <a:cubicBezTo>
                  <a:pt x="436" y="54"/>
                  <a:pt x="420" y="60"/>
                  <a:pt x="748" y="48"/>
                </a:cubicBezTo>
                <a:cubicBezTo>
                  <a:pt x="1076" y="36"/>
                  <a:pt x="1983" y="10"/>
                  <a:pt x="2308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med" len="lg"/>
          </a:ln>
        </p:spPr>
        <p:txBody>
          <a:bodyPr/>
          <a:p>
            <a:endParaRPr lang="zh-CN" altLang="en-US"/>
          </a:p>
        </p:txBody>
      </p:sp>
      <p:sp>
        <p:nvSpPr>
          <p:cNvPr id="35854" name="任意多边形 98319"/>
          <p:cNvSpPr/>
          <p:nvPr/>
        </p:nvSpPr>
        <p:spPr>
          <a:xfrm>
            <a:off x="942975" y="2606675"/>
            <a:ext cx="2943225" cy="938213"/>
          </a:xfrm>
          <a:custGeom>
            <a:avLst/>
            <a:gdLst/>
            <a:ahLst/>
            <a:cxnLst/>
            <a:pathLst>
              <a:path w="2299" h="948">
                <a:moveTo>
                  <a:pt x="0" y="948"/>
                </a:moveTo>
                <a:cubicBezTo>
                  <a:pt x="9" y="858"/>
                  <a:pt x="20" y="540"/>
                  <a:pt x="55" y="408"/>
                </a:cubicBezTo>
                <a:cubicBezTo>
                  <a:pt x="90" y="276"/>
                  <a:pt x="151" y="212"/>
                  <a:pt x="211" y="156"/>
                </a:cubicBezTo>
                <a:cubicBezTo>
                  <a:pt x="271" y="100"/>
                  <a:pt x="247" y="93"/>
                  <a:pt x="413" y="69"/>
                </a:cubicBezTo>
                <a:cubicBezTo>
                  <a:pt x="579" y="45"/>
                  <a:pt x="893" y="23"/>
                  <a:pt x="1207" y="12"/>
                </a:cubicBezTo>
                <a:cubicBezTo>
                  <a:pt x="1521" y="1"/>
                  <a:pt x="2072" y="2"/>
                  <a:pt x="2299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med" len="lg"/>
          </a:ln>
        </p:spPr>
        <p:txBody>
          <a:bodyPr/>
          <a:p>
            <a:endParaRPr lang="zh-CN" altLang="en-US"/>
          </a:p>
        </p:txBody>
      </p:sp>
      <p:sp>
        <p:nvSpPr>
          <p:cNvPr id="35855" name="任意多边形 98320"/>
          <p:cNvSpPr/>
          <p:nvPr/>
        </p:nvSpPr>
        <p:spPr>
          <a:xfrm>
            <a:off x="944563" y="2149475"/>
            <a:ext cx="2865437" cy="1362075"/>
          </a:xfrm>
          <a:custGeom>
            <a:avLst/>
            <a:gdLst/>
            <a:ahLst/>
            <a:cxnLst/>
            <a:pathLst>
              <a:path w="2260" h="1380">
                <a:moveTo>
                  <a:pt x="0" y="1380"/>
                </a:moveTo>
                <a:cubicBezTo>
                  <a:pt x="12" y="1237"/>
                  <a:pt x="48" y="729"/>
                  <a:pt x="73" y="525"/>
                </a:cubicBezTo>
                <a:cubicBezTo>
                  <a:pt x="99" y="321"/>
                  <a:pt x="86" y="236"/>
                  <a:pt x="155" y="157"/>
                </a:cubicBezTo>
                <a:cubicBezTo>
                  <a:pt x="223" y="77"/>
                  <a:pt x="132" y="76"/>
                  <a:pt x="483" y="50"/>
                </a:cubicBezTo>
                <a:cubicBezTo>
                  <a:pt x="834" y="24"/>
                  <a:pt x="1890" y="10"/>
                  <a:pt x="2260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med" len="lg"/>
          </a:ln>
        </p:spPr>
        <p:txBody>
          <a:bodyPr/>
          <a:p>
            <a:endParaRPr lang="zh-CN" altLang="en-US"/>
          </a:p>
        </p:txBody>
      </p:sp>
      <p:sp>
        <p:nvSpPr>
          <p:cNvPr id="35856" name="任意多边形 98321"/>
          <p:cNvSpPr/>
          <p:nvPr/>
        </p:nvSpPr>
        <p:spPr>
          <a:xfrm>
            <a:off x="944563" y="1692275"/>
            <a:ext cx="2865437" cy="1819275"/>
          </a:xfrm>
          <a:custGeom>
            <a:avLst/>
            <a:gdLst/>
            <a:ahLst/>
            <a:cxnLst/>
            <a:pathLst>
              <a:path w="2224" h="1788">
                <a:moveTo>
                  <a:pt x="0" y="1788"/>
                </a:moveTo>
                <a:cubicBezTo>
                  <a:pt x="15" y="1616"/>
                  <a:pt x="70" y="1000"/>
                  <a:pt x="89" y="754"/>
                </a:cubicBezTo>
                <a:cubicBezTo>
                  <a:pt x="108" y="508"/>
                  <a:pt x="92" y="417"/>
                  <a:pt x="112" y="312"/>
                </a:cubicBezTo>
                <a:cubicBezTo>
                  <a:pt x="132" y="207"/>
                  <a:pt x="121" y="171"/>
                  <a:pt x="209" y="125"/>
                </a:cubicBezTo>
                <a:cubicBezTo>
                  <a:pt x="297" y="79"/>
                  <a:pt x="304" y="57"/>
                  <a:pt x="640" y="36"/>
                </a:cubicBezTo>
                <a:cubicBezTo>
                  <a:pt x="976" y="15"/>
                  <a:pt x="1894" y="8"/>
                  <a:pt x="2224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med" len="lg"/>
          </a:ln>
        </p:spPr>
        <p:txBody>
          <a:bodyPr/>
          <a:p>
            <a:endParaRPr lang="zh-CN" altLang="en-US"/>
          </a:p>
        </p:txBody>
      </p:sp>
      <p:sp>
        <p:nvSpPr>
          <p:cNvPr id="35857" name="任意多边形 98322"/>
          <p:cNvSpPr/>
          <p:nvPr/>
        </p:nvSpPr>
        <p:spPr>
          <a:xfrm>
            <a:off x="944563" y="1235075"/>
            <a:ext cx="2865437" cy="2309813"/>
          </a:xfrm>
          <a:custGeom>
            <a:avLst/>
            <a:gdLst/>
            <a:ahLst/>
            <a:cxnLst/>
            <a:pathLst>
              <a:path w="2212" h="2377">
                <a:moveTo>
                  <a:pt x="0" y="2377"/>
                </a:moveTo>
                <a:cubicBezTo>
                  <a:pt x="15" y="2189"/>
                  <a:pt x="62" y="1583"/>
                  <a:pt x="93" y="1248"/>
                </a:cubicBezTo>
                <a:cubicBezTo>
                  <a:pt x="124" y="914"/>
                  <a:pt x="113" y="567"/>
                  <a:pt x="186" y="369"/>
                </a:cubicBezTo>
                <a:cubicBezTo>
                  <a:pt x="259" y="171"/>
                  <a:pt x="194" y="122"/>
                  <a:pt x="532" y="61"/>
                </a:cubicBezTo>
                <a:cubicBezTo>
                  <a:pt x="870" y="0"/>
                  <a:pt x="1862" y="13"/>
                  <a:pt x="2212" y="1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med" len="lg"/>
          </a:ln>
        </p:spPr>
        <p:txBody>
          <a:bodyPr/>
          <a:p>
            <a:endParaRPr lang="zh-CN" altLang="en-US"/>
          </a:p>
        </p:txBody>
      </p:sp>
      <p:sp>
        <p:nvSpPr>
          <p:cNvPr id="35858" name="直接连接符 98323"/>
          <p:cNvSpPr/>
          <p:nvPr/>
        </p:nvSpPr>
        <p:spPr>
          <a:xfrm>
            <a:off x="914400" y="1219200"/>
            <a:ext cx="2514600" cy="23622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5859" name="椭圆 98324"/>
          <p:cNvSpPr/>
          <p:nvPr/>
        </p:nvSpPr>
        <p:spPr>
          <a:xfrm>
            <a:off x="1866900" y="2111375"/>
            <a:ext cx="152400" cy="133350"/>
          </a:xfrm>
          <a:prstGeom prst="ellipse">
            <a:avLst/>
          </a:prstGeom>
          <a:solidFill>
            <a:schemeClr val="tx2"/>
          </a:solidFill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60" name="文本框 98325"/>
          <p:cNvSpPr txBox="1"/>
          <p:nvPr/>
        </p:nvSpPr>
        <p:spPr>
          <a:xfrm>
            <a:off x="1905000" y="1722438"/>
            <a:ext cx="584200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lang="en-US" altLang="zh-CN" sz="2800" b="1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8327" name="圆角矩形标注 98326"/>
          <p:cNvSpPr/>
          <p:nvPr/>
        </p:nvSpPr>
        <p:spPr>
          <a:xfrm>
            <a:off x="3276600" y="381000"/>
            <a:ext cx="2971800" cy="1054100"/>
          </a:xfrm>
          <a:prstGeom prst="wedgeRoundRectCallout">
            <a:avLst>
              <a:gd name="adj1" fmla="val -55236"/>
              <a:gd name="adj2" fmla="val 85394"/>
              <a:gd name="adj3" fmla="val 16667"/>
            </a:avLst>
          </a:prstGeom>
          <a:solidFill>
            <a:srgbClr val="FFFFCC"/>
          </a:solidFill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p>
            <a:pPr lvl="0" fontAlgn="base">
              <a:spcBef>
                <a:spcPct val="50000"/>
              </a:spcBef>
            </a:pPr>
            <a:r>
              <a:rPr lang="zh-CN" altLang="en-US" sz="2800" b="1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温度升高时，输出特性曲线上移</a:t>
            </a:r>
            <a:endParaRPr lang="zh-CN" altLang="en-US" sz="2800" b="1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8328" name="组合 98327"/>
          <p:cNvGrpSpPr/>
          <p:nvPr/>
        </p:nvGrpSpPr>
        <p:grpSpPr>
          <a:xfrm>
            <a:off x="1482725" y="1219200"/>
            <a:ext cx="971550" cy="754063"/>
            <a:chOff x="2148" y="2789"/>
            <a:chExt cx="612" cy="475"/>
          </a:xfrm>
        </p:grpSpPr>
        <p:sp>
          <p:nvSpPr>
            <p:cNvPr id="35863" name="椭圆 98328"/>
            <p:cNvSpPr/>
            <p:nvPr/>
          </p:nvSpPr>
          <p:spPr>
            <a:xfrm>
              <a:off x="2196" y="3168"/>
              <a:ext cx="108" cy="96"/>
            </a:xfrm>
            <a:prstGeom prst="ellipse">
              <a:avLst/>
            </a:prstGeom>
            <a:solidFill>
              <a:srgbClr val="FF0066"/>
            </a:solidFill>
            <a:ln w="38100">
              <a:noFill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64" name="文本框 98329"/>
            <p:cNvSpPr txBox="1"/>
            <p:nvPr/>
          </p:nvSpPr>
          <p:spPr>
            <a:xfrm>
              <a:off x="2148" y="2789"/>
              <a:ext cx="6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sz="2800" b="1">
                  <a:solidFill>
                    <a:srgbClr val="FF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´</a:t>
              </a:r>
              <a:endParaRPr lang="en-US" altLang="zh-CN" sz="28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98331" name="矩形 98330"/>
          <p:cNvSpPr/>
          <p:nvPr/>
        </p:nvSpPr>
        <p:spPr>
          <a:xfrm>
            <a:off x="228600" y="4191000"/>
            <a:ext cx="8610600" cy="214312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lnSpc>
                <a:spcPct val="12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固定偏置电路的工作点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点是不稳定的，为此需要改进偏置电路。当温度升高使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增加时，能够自动减少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，从而抑制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点的变化，保持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点基本稳定。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8336" name="矩形 98335"/>
          <p:cNvSpPr/>
          <p:nvPr/>
        </p:nvSpPr>
        <p:spPr>
          <a:xfrm>
            <a:off x="4572000" y="1447800"/>
            <a:ext cx="4267200" cy="29114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lvl="0" fontAlgn="base">
              <a:lnSpc>
                <a:spcPct val="110000"/>
              </a:lnSpc>
            </a:pPr>
            <a:r>
              <a:rPr lang="zh-CN" altLang="en-US" sz="2800" b="1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结论：</a:t>
            </a:r>
            <a:endParaRPr lang="zh-CN" altLang="en-US" sz="2800" b="1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fontAlgn="base">
              <a:lnSpc>
                <a:spcPct val="110000"/>
              </a:lnSpc>
            </a:pPr>
            <a:r>
              <a:rPr lang="zh-CN" altLang="en-US" sz="2800" b="1" strike="noStrike" noProof="1" dirty="0">
                <a:solidFill>
                  <a:srgbClr val="0033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 </a:t>
            </a:r>
            <a:r>
              <a:rPr lang="zh-CN" altLang="en-US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当温度升高时，</a:t>
            </a:r>
            <a:r>
              <a:rPr lang="zh-CN" altLang="en-US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Symbol" panose="05050102010706020507" pitchFamily="18" charset="2"/>
              </a:rPr>
              <a:t> </a:t>
            </a:r>
            <a:r>
              <a:rPr lang="en-US" altLang="zh-CN" sz="2800" b="1" i="1" strike="noStrike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Symbol" panose="05050102010706020507" pitchFamily="18" charset="2"/>
              </a:rPr>
              <a:t>I</a:t>
            </a:r>
            <a:r>
              <a:rPr lang="en-US" altLang="zh-CN" sz="2800" b="1" strike="noStrike" baseline="-25000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  <a:sym typeface="Symbol" panose="05050102010706020507" pitchFamily="18" charset="2"/>
              </a:rPr>
              <a:t>C</a:t>
            </a:r>
            <a:r>
              <a:rPr lang="zh-CN" altLang="en-US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将增加，使</a:t>
            </a:r>
            <a:r>
              <a:rPr lang="en-US" altLang="zh-CN" sz="2800" b="1" i="1" strike="noStrike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Q</a:t>
            </a:r>
            <a:r>
              <a:rPr lang="zh-CN" altLang="en-US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点沿负载线上移，容易使晶体管 </a:t>
            </a:r>
            <a:r>
              <a:rPr lang="en-US" altLang="zh-CN" sz="2800" b="1" strike="noStrike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T</a:t>
            </a:r>
            <a:r>
              <a:rPr lang="zh-CN" altLang="en-US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进入饱和区造成饱和失真，甚至引起过热烧坏三极管。</a:t>
            </a:r>
            <a:endParaRPr lang="zh-CN" altLang="en-US" sz="2800" b="1" strike="noStrike" noProof="1" dirty="0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867" name="文本框 98336"/>
          <p:cNvSpPr txBox="1"/>
          <p:nvPr/>
        </p:nvSpPr>
        <p:spPr>
          <a:xfrm>
            <a:off x="593725" y="3429000"/>
            <a:ext cx="36830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sz="2000" b="1" i="1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en-US" altLang="zh-CN" sz="2000" b="1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8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8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8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27" grpId="0" bldLvl="0" animBg="1"/>
      <p:bldP spid="98331" grpId="0"/>
      <p:bldP spid="9833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3" name="矩形 99332"/>
          <p:cNvSpPr/>
          <p:nvPr/>
        </p:nvSpPr>
        <p:spPr>
          <a:xfrm>
            <a:off x="4800600" y="4816475"/>
            <a:ext cx="3810000" cy="120332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FFFF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基极电位基本恒定，不随温度变化。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418" name="文本框 99417"/>
          <p:cNvSpPr txBox="1"/>
          <p:nvPr/>
        </p:nvSpPr>
        <p:spPr>
          <a:xfrm>
            <a:off x="1828800" y="2819400"/>
            <a:ext cx="669925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b="1" baseline="-250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endParaRPr lang="en-US" altLang="zh-CN" b="1" baseline="-25000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6867" name="组合 99419"/>
          <p:cNvGrpSpPr/>
          <p:nvPr/>
        </p:nvGrpSpPr>
        <p:grpSpPr>
          <a:xfrm>
            <a:off x="152400" y="1524000"/>
            <a:ext cx="4876800" cy="3779838"/>
            <a:chOff x="96" y="499"/>
            <a:chExt cx="3072" cy="2381"/>
          </a:xfrm>
        </p:grpSpPr>
        <p:sp>
          <p:nvSpPr>
            <p:cNvPr id="36868" name="直接连接符 99420"/>
            <p:cNvSpPr/>
            <p:nvPr/>
          </p:nvSpPr>
          <p:spPr>
            <a:xfrm flipH="1">
              <a:off x="1230" y="1603"/>
              <a:ext cx="0" cy="38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69" name="文本框 99421"/>
            <p:cNvSpPr txBox="1"/>
            <p:nvPr/>
          </p:nvSpPr>
          <p:spPr>
            <a:xfrm>
              <a:off x="788" y="830"/>
              <a:ext cx="4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B1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870" name="直接连接符 99422"/>
            <p:cNvSpPr/>
            <p:nvPr/>
          </p:nvSpPr>
          <p:spPr>
            <a:xfrm>
              <a:off x="1232" y="1233"/>
              <a:ext cx="0" cy="4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1" name="直接连接符 99423"/>
            <p:cNvSpPr/>
            <p:nvPr/>
          </p:nvSpPr>
          <p:spPr>
            <a:xfrm flipH="1" flipV="1">
              <a:off x="1236" y="665"/>
              <a:ext cx="0" cy="2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2" name="矩形 99424"/>
            <p:cNvSpPr/>
            <p:nvPr/>
          </p:nvSpPr>
          <p:spPr>
            <a:xfrm>
              <a:off x="1188" y="910"/>
              <a:ext cx="95" cy="32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3" name="直接连接符 99425"/>
            <p:cNvSpPr/>
            <p:nvPr/>
          </p:nvSpPr>
          <p:spPr>
            <a:xfrm>
              <a:off x="1236" y="675"/>
              <a:ext cx="129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4" name="直接连接符 99426"/>
            <p:cNvSpPr/>
            <p:nvPr/>
          </p:nvSpPr>
          <p:spPr>
            <a:xfrm flipV="1">
              <a:off x="1857" y="679"/>
              <a:ext cx="0" cy="2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6875" name="直接连接符 99427"/>
            <p:cNvSpPr/>
            <p:nvPr/>
          </p:nvSpPr>
          <p:spPr>
            <a:xfrm>
              <a:off x="1728" y="1509"/>
              <a:ext cx="0" cy="2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6876" name="直接连接符 99428"/>
            <p:cNvSpPr/>
            <p:nvPr/>
          </p:nvSpPr>
          <p:spPr>
            <a:xfrm>
              <a:off x="1728" y="1695"/>
              <a:ext cx="141" cy="1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lg"/>
            </a:ln>
          </p:spPr>
        </p:sp>
        <p:sp>
          <p:nvSpPr>
            <p:cNvPr id="36877" name="直接连接符 99429"/>
            <p:cNvSpPr/>
            <p:nvPr/>
          </p:nvSpPr>
          <p:spPr>
            <a:xfrm flipV="1">
              <a:off x="1728" y="1459"/>
              <a:ext cx="141" cy="12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6878" name="直接连接符 99430"/>
            <p:cNvSpPr/>
            <p:nvPr/>
          </p:nvSpPr>
          <p:spPr>
            <a:xfrm>
              <a:off x="1860" y="1209"/>
              <a:ext cx="0" cy="26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6879" name="直接连接符 99431"/>
            <p:cNvSpPr/>
            <p:nvPr/>
          </p:nvSpPr>
          <p:spPr>
            <a:xfrm flipH="1">
              <a:off x="1861" y="1830"/>
              <a:ext cx="0" cy="30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6880" name="直接连接符 99432"/>
            <p:cNvSpPr/>
            <p:nvPr/>
          </p:nvSpPr>
          <p:spPr>
            <a:xfrm>
              <a:off x="959" y="1642"/>
              <a:ext cx="77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6881" name="直接连接符 99433"/>
            <p:cNvSpPr/>
            <p:nvPr/>
          </p:nvSpPr>
          <p:spPr>
            <a:xfrm>
              <a:off x="528" y="2710"/>
              <a:ext cx="214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6882" name="直接连接符 99434"/>
            <p:cNvSpPr/>
            <p:nvPr/>
          </p:nvSpPr>
          <p:spPr>
            <a:xfrm flipH="1">
              <a:off x="1862" y="2454"/>
              <a:ext cx="0" cy="34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6883" name="矩形 99435"/>
            <p:cNvSpPr/>
            <p:nvPr/>
          </p:nvSpPr>
          <p:spPr>
            <a:xfrm>
              <a:off x="1814" y="883"/>
              <a:ext cx="94" cy="32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84" name="椭圆 99436"/>
            <p:cNvSpPr/>
            <p:nvPr/>
          </p:nvSpPr>
          <p:spPr>
            <a:xfrm>
              <a:off x="2518" y="633"/>
              <a:ext cx="68" cy="7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6885" name="组合 99437"/>
            <p:cNvGrpSpPr/>
            <p:nvPr/>
          </p:nvGrpSpPr>
          <p:grpSpPr>
            <a:xfrm>
              <a:off x="896" y="1519"/>
              <a:ext cx="68" cy="262"/>
              <a:chOff x="3454" y="2018"/>
              <a:chExt cx="96" cy="328"/>
            </a:xfrm>
          </p:grpSpPr>
          <p:sp>
            <p:nvSpPr>
              <p:cNvPr id="36886" name="直接连接符 99438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887" name="直接连接符 99439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6888" name="直接连接符 99440"/>
            <p:cNvSpPr/>
            <p:nvPr/>
          </p:nvSpPr>
          <p:spPr>
            <a:xfrm>
              <a:off x="528" y="1642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6889" name="组合 99441"/>
            <p:cNvGrpSpPr/>
            <p:nvPr/>
          </p:nvGrpSpPr>
          <p:grpSpPr>
            <a:xfrm flipH="1">
              <a:off x="2311" y="1280"/>
              <a:ext cx="69" cy="261"/>
              <a:chOff x="3454" y="2018"/>
              <a:chExt cx="96" cy="328"/>
            </a:xfrm>
          </p:grpSpPr>
          <p:sp>
            <p:nvSpPr>
              <p:cNvPr id="36890" name="直接连接符 99442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891" name="直接连接符 99443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6892" name="直接连接符 99444"/>
            <p:cNvSpPr/>
            <p:nvPr/>
          </p:nvSpPr>
          <p:spPr>
            <a:xfrm flipH="1" flipV="1">
              <a:off x="2376" y="1396"/>
              <a:ext cx="29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93" name="直接连接符 99445"/>
            <p:cNvSpPr/>
            <p:nvPr/>
          </p:nvSpPr>
          <p:spPr>
            <a:xfrm>
              <a:off x="1857" y="1403"/>
              <a:ext cx="45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94" name="文本框 99446"/>
            <p:cNvSpPr txBox="1"/>
            <p:nvPr/>
          </p:nvSpPr>
          <p:spPr>
            <a:xfrm>
              <a:off x="1463" y="894"/>
              <a:ext cx="35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895" name="文本框 99447"/>
            <p:cNvSpPr txBox="1"/>
            <p:nvPr/>
          </p:nvSpPr>
          <p:spPr>
            <a:xfrm>
              <a:off x="738" y="1173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1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896" name="文本框 99448"/>
            <p:cNvSpPr txBox="1"/>
            <p:nvPr/>
          </p:nvSpPr>
          <p:spPr>
            <a:xfrm>
              <a:off x="2188" y="950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2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grpSp>
          <p:nvGrpSpPr>
            <p:cNvPr id="36897" name="组合 99449"/>
            <p:cNvGrpSpPr/>
            <p:nvPr/>
          </p:nvGrpSpPr>
          <p:grpSpPr>
            <a:xfrm>
              <a:off x="1788" y="2718"/>
              <a:ext cx="146" cy="162"/>
              <a:chOff x="2898" y="3684"/>
              <a:chExt cx="204" cy="204"/>
            </a:xfrm>
          </p:grpSpPr>
          <p:sp>
            <p:nvSpPr>
              <p:cNvPr id="36898" name="直接连接符 99450"/>
              <p:cNvSpPr/>
              <p:nvPr/>
            </p:nvSpPr>
            <p:spPr>
              <a:xfrm>
                <a:off x="3000" y="3684"/>
                <a:ext cx="0" cy="2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899" name="直接连接符 99451"/>
              <p:cNvSpPr/>
              <p:nvPr/>
            </p:nvSpPr>
            <p:spPr>
              <a:xfrm>
                <a:off x="2898" y="3876"/>
                <a:ext cx="204" cy="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6900" name="椭圆 99452"/>
            <p:cNvSpPr/>
            <p:nvPr/>
          </p:nvSpPr>
          <p:spPr>
            <a:xfrm>
              <a:off x="1844" y="2689"/>
              <a:ext cx="33" cy="3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901" name="矩形 99453"/>
            <p:cNvSpPr/>
            <p:nvPr/>
          </p:nvSpPr>
          <p:spPr>
            <a:xfrm>
              <a:off x="1188" y="1991"/>
              <a:ext cx="95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902" name="文本框 99454"/>
            <p:cNvSpPr txBox="1"/>
            <p:nvPr/>
          </p:nvSpPr>
          <p:spPr>
            <a:xfrm>
              <a:off x="815" y="1950"/>
              <a:ext cx="4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B2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03" name="矩形 99455"/>
            <p:cNvSpPr/>
            <p:nvPr/>
          </p:nvSpPr>
          <p:spPr>
            <a:xfrm>
              <a:off x="1814" y="2142"/>
              <a:ext cx="94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904" name="直接连接符 99456"/>
            <p:cNvSpPr/>
            <p:nvPr/>
          </p:nvSpPr>
          <p:spPr>
            <a:xfrm flipH="1">
              <a:off x="2658" y="1391"/>
              <a:ext cx="0" cy="5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905" name="矩形 99457"/>
            <p:cNvSpPr/>
            <p:nvPr/>
          </p:nvSpPr>
          <p:spPr>
            <a:xfrm>
              <a:off x="2611" y="1893"/>
              <a:ext cx="93" cy="32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906" name="直接连接符 99458"/>
            <p:cNvSpPr/>
            <p:nvPr/>
          </p:nvSpPr>
          <p:spPr>
            <a:xfrm>
              <a:off x="1861" y="1909"/>
              <a:ext cx="26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6907" name="组合 99459"/>
            <p:cNvGrpSpPr/>
            <p:nvPr/>
          </p:nvGrpSpPr>
          <p:grpSpPr>
            <a:xfrm>
              <a:off x="2033" y="2275"/>
              <a:ext cx="196" cy="76"/>
              <a:chOff x="2460" y="2076"/>
              <a:chExt cx="276" cy="96"/>
            </a:xfrm>
          </p:grpSpPr>
          <p:sp>
            <p:nvSpPr>
              <p:cNvPr id="36908" name="直接连接符 99460"/>
              <p:cNvSpPr/>
              <p:nvPr/>
            </p:nvSpPr>
            <p:spPr>
              <a:xfrm>
                <a:off x="2460" y="2076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6909" name="直接连接符 99461"/>
              <p:cNvSpPr/>
              <p:nvPr/>
            </p:nvSpPr>
            <p:spPr>
              <a:xfrm>
                <a:off x="2460" y="2172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6910" name="直接连接符 99462"/>
            <p:cNvSpPr/>
            <p:nvPr/>
          </p:nvSpPr>
          <p:spPr>
            <a:xfrm>
              <a:off x="2127" y="1899"/>
              <a:ext cx="0" cy="3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911" name="直接连接符 99463"/>
            <p:cNvSpPr/>
            <p:nvPr/>
          </p:nvSpPr>
          <p:spPr>
            <a:xfrm>
              <a:off x="2127" y="2345"/>
              <a:ext cx="0" cy="37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912" name="文本框 99464"/>
            <p:cNvSpPr txBox="1"/>
            <p:nvPr/>
          </p:nvSpPr>
          <p:spPr>
            <a:xfrm>
              <a:off x="2178" y="2140"/>
              <a:ext cx="38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13" name="文本框 99465"/>
            <p:cNvSpPr txBox="1"/>
            <p:nvPr/>
          </p:nvSpPr>
          <p:spPr>
            <a:xfrm>
              <a:off x="1486" y="2046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14" name="文本框 99466"/>
            <p:cNvSpPr txBox="1"/>
            <p:nvPr/>
          </p:nvSpPr>
          <p:spPr>
            <a:xfrm>
              <a:off x="2276" y="1843"/>
              <a:ext cx="36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L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15" name="直接连接符 99467"/>
            <p:cNvSpPr/>
            <p:nvPr/>
          </p:nvSpPr>
          <p:spPr>
            <a:xfrm>
              <a:off x="1352" y="748"/>
              <a:ext cx="0" cy="28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6916" name="文本框 99468"/>
            <p:cNvSpPr txBox="1"/>
            <p:nvPr/>
          </p:nvSpPr>
          <p:spPr>
            <a:xfrm>
              <a:off x="1352" y="686"/>
              <a:ext cx="31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6917" name="直接连接符 99469"/>
            <p:cNvSpPr/>
            <p:nvPr/>
          </p:nvSpPr>
          <p:spPr>
            <a:xfrm>
              <a:off x="1352" y="1699"/>
              <a:ext cx="0" cy="28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6918" name="文本框 99470"/>
            <p:cNvSpPr txBox="1"/>
            <p:nvPr/>
          </p:nvSpPr>
          <p:spPr>
            <a:xfrm>
              <a:off x="1352" y="1694"/>
              <a:ext cx="31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6919" name="直接连接符 99471"/>
            <p:cNvSpPr/>
            <p:nvPr/>
          </p:nvSpPr>
          <p:spPr>
            <a:xfrm>
              <a:off x="1524" y="1578"/>
              <a:ext cx="20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6920" name="文本框 99472"/>
            <p:cNvSpPr txBox="1"/>
            <p:nvPr/>
          </p:nvSpPr>
          <p:spPr>
            <a:xfrm>
              <a:off x="1465" y="1230"/>
              <a:ext cx="311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6921" name="矩形 99473"/>
            <p:cNvSpPr/>
            <p:nvPr/>
          </p:nvSpPr>
          <p:spPr>
            <a:xfrm>
              <a:off x="926" y="1372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22" name="矩形 99474"/>
            <p:cNvSpPr/>
            <p:nvPr/>
          </p:nvSpPr>
          <p:spPr>
            <a:xfrm>
              <a:off x="2094" y="1135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23" name="矩形 99475"/>
            <p:cNvSpPr/>
            <p:nvPr/>
          </p:nvSpPr>
          <p:spPr>
            <a:xfrm>
              <a:off x="2078" y="1996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24" name="文本框 99476"/>
            <p:cNvSpPr txBox="1"/>
            <p:nvPr/>
          </p:nvSpPr>
          <p:spPr>
            <a:xfrm>
              <a:off x="2580" y="499"/>
              <a:ext cx="58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CC</a:t>
              </a:r>
              <a:endParaRPr lang="en-US" altLang="zh-CN" b="1" baseline="-25000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25" name="文本框 99477"/>
            <p:cNvSpPr txBox="1"/>
            <p:nvPr/>
          </p:nvSpPr>
          <p:spPr>
            <a:xfrm>
              <a:off x="576" y="1995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i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26" name="文本框 99478"/>
            <p:cNvSpPr txBox="1"/>
            <p:nvPr/>
          </p:nvSpPr>
          <p:spPr>
            <a:xfrm>
              <a:off x="2724" y="1854"/>
              <a:ext cx="34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o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27" name="矩形 99479"/>
            <p:cNvSpPr/>
            <p:nvPr/>
          </p:nvSpPr>
          <p:spPr>
            <a:xfrm>
              <a:off x="2784" y="1509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28" name="矩形 99480"/>
            <p:cNvSpPr/>
            <p:nvPr/>
          </p:nvSpPr>
          <p:spPr>
            <a:xfrm>
              <a:off x="624" y="1632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29" name="矩形 99481"/>
            <p:cNvSpPr/>
            <p:nvPr/>
          </p:nvSpPr>
          <p:spPr>
            <a:xfrm>
              <a:off x="2785" y="2254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30" name="矩形 99482"/>
            <p:cNvSpPr/>
            <p:nvPr/>
          </p:nvSpPr>
          <p:spPr>
            <a:xfrm>
              <a:off x="624" y="2457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31" name="矩形 99483"/>
            <p:cNvSpPr/>
            <p:nvPr/>
          </p:nvSpPr>
          <p:spPr>
            <a:xfrm>
              <a:off x="1984" y="674"/>
              <a:ext cx="29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6932" name="直接连接符 99484"/>
            <p:cNvSpPr/>
            <p:nvPr/>
          </p:nvSpPr>
          <p:spPr>
            <a:xfrm>
              <a:off x="1986" y="729"/>
              <a:ext cx="0" cy="279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6933" name="直接连接符 99485"/>
            <p:cNvSpPr/>
            <p:nvPr/>
          </p:nvSpPr>
          <p:spPr>
            <a:xfrm>
              <a:off x="2658" y="2229"/>
              <a:ext cx="0" cy="4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934" name="直接连接符 99486"/>
            <p:cNvSpPr/>
            <p:nvPr/>
          </p:nvSpPr>
          <p:spPr>
            <a:xfrm>
              <a:off x="1230" y="2325"/>
              <a:ext cx="0" cy="384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935" name="矩形 99487"/>
            <p:cNvSpPr/>
            <p:nvPr/>
          </p:nvSpPr>
          <p:spPr>
            <a:xfrm>
              <a:off x="480" y="1835"/>
              <a:ext cx="95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936" name="椭圆 99488"/>
            <p:cNvSpPr/>
            <p:nvPr/>
          </p:nvSpPr>
          <p:spPr>
            <a:xfrm>
              <a:off x="432" y="2352"/>
              <a:ext cx="192" cy="19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937" name="直接连接符 99489"/>
            <p:cNvSpPr/>
            <p:nvPr/>
          </p:nvSpPr>
          <p:spPr>
            <a:xfrm flipV="1">
              <a:off x="528" y="1632"/>
              <a:ext cx="0" cy="2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938" name="直接连接符 99490"/>
            <p:cNvSpPr/>
            <p:nvPr/>
          </p:nvSpPr>
          <p:spPr>
            <a:xfrm>
              <a:off x="528" y="2160"/>
              <a:ext cx="0" cy="5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939" name="文本框 99491"/>
            <p:cNvSpPr txBox="1"/>
            <p:nvPr/>
          </p:nvSpPr>
          <p:spPr>
            <a:xfrm>
              <a:off x="151" y="1776"/>
              <a:ext cx="33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S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40" name="文本框 99492"/>
            <p:cNvSpPr txBox="1"/>
            <p:nvPr/>
          </p:nvSpPr>
          <p:spPr>
            <a:xfrm>
              <a:off x="96" y="2256"/>
              <a:ext cx="40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S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41" name="矩形 99493"/>
            <p:cNvSpPr/>
            <p:nvPr/>
          </p:nvSpPr>
          <p:spPr>
            <a:xfrm>
              <a:off x="286" y="2121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42" name="矩形 99494"/>
            <p:cNvSpPr/>
            <p:nvPr/>
          </p:nvSpPr>
          <p:spPr>
            <a:xfrm>
              <a:off x="279" y="2448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6943" name="椭圆 99495"/>
            <p:cNvSpPr/>
            <p:nvPr/>
          </p:nvSpPr>
          <p:spPr>
            <a:xfrm>
              <a:off x="1204" y="1615"/>
              <a:ext cx="50" cy="50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6944" name="标题 99496"/>
          <p:cNvSpPr>
            <a:spLocks noGrp="1"/>
          </p:cNvSpPr>
          <p:nvPr>
            <p:ph type="ctrTitle"/>
          </p:nvPr>
        </p:nvSpPr>
        <p:spPr>
          <a:xfrm>
            <a:off x="533400" y="457200"/>
            <a:ext cx="3276600" cy="533400"/>
          </a:xfrm>
          <a:noFill/>
          <a:ln>
            <a:noFill/>
          </a:ln>
        </p:spPr>
        <p:txBody>
          <a:bodyPr anchor="t"/>
          <a:p>
            <a:pPr algn="l" defTabSz="914400"/>
            <a:r>
              <a:rPr lang="en-US" altLang="zh-CN" sz="2800" b="1" baseline="0" dirty="0">
                <a:solidFill>
                  <a:srgbClr val="0000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1.</a:t>
            </a:r>
            <a:r>
              <a:rPr lang="zh-CN" altLang="en-US" sz="2800" b="1" baseline="0" dirty="0">
                <a:solidFill>
                  <a:srgbClr val="0000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稳定</a:t>
            </a:r>
            <a:r>
              <a:rPr lang="en-US" altLang="zh-CN" sz="2800" b="1" baseline="0" dirty="0">
                <a:solidFill>
                  <a:srgbClr val="0000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Q</a:t>
            </a:r>
            <a:r>
              <a:rPr lang="zh-CN" altLang="en-US" sz="2800" b="1" baseline="0" dirty="0">
                <a:solidFill>
                  <a:srgbClr val="0000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点的原理</a:t>
            </a:r>
            <a:endParaRPr lang="zh-CN" altLang="en-US" sz="2800" b="1" baseline="0">
              <a:solidFill>
                <a:srgbClr val="000099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5334000" y="1090613"/>
          <a:ext cx="31242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1" imgW="1167130" imgH="215900" progId="Equation.3">
                  <p:embed/>
                </p:oleObj>
              </mc:Choice>
              <mc:Fallback>
                <p:oleObj name="" r:id="rId1" imgW="1167130" imgH="21590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34000" y="1090613"/>
                        <a:ext cx="3124200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5"/>
          <p:cNvGraphicFramePr>
            <a:graphicFrameLocks noChangeAspect="1"/>
          </p:cNvGraphicFramePr>
          <p:nvPr/>
        </p:nvGraphicFramePr>
        <p:xfrm>
          <a:off x="5440363" y="1747838"/>
          <a:ext cx="3276600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3" imgW="1256665" imgH="431800" progId="Equation.3">
                  <p:embed/>
                </p:oleObj>
              </mc:Choice>
              <mc:Fallback>
                <p:oleObj name="" r:id="rId3" imgW="1256665" imgH="43180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40363" y="1747838"/>
                        <a:ext cx="3276600" cy="1122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5440363" y="2965450"/>
          <a:ext cx="1944687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5" imgW="710565" imgH="215900" progId="Equation.3">
                  <p:embed/>
                </p:oleObj>
              </mc:Choice>
              <mc:Fallback>
                <p:oleObj name="" r:id="rId5" imgW="710565" imgH="215900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40363" y="2965450"/>
                        <a:ext cx="1944687" cy="585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6"/>
          <p:cNvGraphicFramePr>
            <a:graphicFrameLocks noChangeAspect="1"/>
          </p:cNvGraphicFramePr>
          <p:nvPr/>
        </p:nvGraphicFramePr>
        <p:xfrm>
          <a:off x="5440363" y="3657600"/>
          <a:ext cx="3338512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7" imgW="1243965" imgH="431800" progId="Equation.3">
                  <p:embed/>
                </p:oleObj>
              </mc:Choice>
              <mc:Fallback>
                <p:oleObj name="" r:id="rId7" imgW="1243965" imgH="431800" progId="Equation.3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40363" y="3657600"/>
                        <a:ext cx="3338512" cy="1154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3" grpId="0"/>
      <p:bldP spid="994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文本框 245845"/>
          <p:cNvSpPr txBox="1"/>
          <p:nvPr/>
        </p:nvSpPr>
        <p:spPr>
          <a:xfrm>
            <a:off x="1828800" y="2819400"/>
            <a:ext cx="669925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b="1" baseline="-250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endParaRPr lang="en-US" altLang="zh-CN" b="1" baseline="-25000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850" name="矩形 245849"/>
          <p:cNvSpPr/>
          <p:nvPr/>
        </p:nvSpPr>
        <p:spPr>
          <a:xfrm>
            <a:off x="4648200" y="5084763"/>
            <a:ext cx="4114800" cy="107315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lvl="0" fontAlgn="base">
              <a:lnSpc>
                <a:spcPct val="115000"/>
              </a:lnSpc>
            </a:pPr>
            <a:r>
              <a:rPr lang="en-US" altLang="zh-CN" sz="2800" b="1" strike="noStrike" noProof="1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   </a:t>
            </a:r>
            <a:r>
              <a:rPr lang="zh-CN" altLang="en-US" sz="2800" b="1" strike="noStrike" noProof="1" dirty="0">
                <a:solidFill>
                  <a:schemeClr val="tx2"/>
                </a:solidFill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集电极电流基本恒定，不随温度变化。</a:t>
            </a:r>
            <a:endParaRPr lang="zh-CN" altLang="en-US" sz="2800" b="1" strike="noStrike" noProof="1" dirty="0">
              <a:solidFill>
                <a:schemeClr val="tx2"/>
              </a:solidFill>
              <a:effectLst>
                <a:outerShdw blurRad="38100" dist="38100" dir="2700000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7891" name="组合 245850"/>
          <p:cNvGrpSpPr/>
          <p:nvPr/>
        </p:nvGrpSpPr>
        <p:grpSpPr>
          <a:xfrm>
            <a:off x="0" y="1143000"/>
            <a:ext cx="4876800" cy="3779838"/>
            <a:chOff x="96" y="499"/>
            <a:chExt cx="3072" cy="2381"/>
          </a:xfrm>
        </p:grpSpPr>
        <p:sp>
          <p:nvSpPr>
            <p:cNvPr id="37892" name="直接连接符 245851"/>
            <p:cNvSpPr/>
            <p:nvPr/>
          </p:nvSpPr>
          <p:spPr>
            <a:xfrm flipH="1">
              <a:off x="1230" y="1603"/>
              <a:ext cx="0" cy="38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893" name="文本框 245852"/>
            <p:cNvSpPr txBox="1"/>
            <p:nvPr/>
          </p:nvSpPr>
          <p:spPr>
            <a:xfrm>
              <a:off x="788" y="830"/>
              <a:ext cx="4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B1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894" name="直接连接符 245853"/>
            <p:cNvSpPr/>
            <p:nvPr/>
          </p:nvSpPr>
          <p:spPr>
            <a:xfrm>
              <a:off x="1232" y="1233"/>
              <a:ext cx="0" cy="4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895" name="直接连接符 245854"/>
            <p:cNvSpPr/>
            <p:nvPr/>
          </p:nvSpPr>
          <p:spPr>
            <a:xfrm flipH="1" flipV="1">
              <a:off x="1236" y="665"/>
              <a:ext cx="0" cy="2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896" name="矩形 245855"/>
            <p:cNvSpPr/>
            <p:nvPr/>
          </p:nvSpPr>
          <p:spPr>
            <a:xfrm>
              <a:off x="1188" y="910"/>
              <a:ext cx="95" cy="32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897" name="直接连接符 245856"/>
            <p:cNvSpPr/>
            <p:nvPr/>
          </p:nvSpPr>
          <p:spPr>
            <a:xfrm>
              <a:off x="1236" y="675"/>
              <a:ext cx="129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898" name="直接连接符 245857"/>
            <p:cNvSpPr/>
            <p:nvPr/>
          </p:nvSpPr>
          <p:spPr>
            <a:xfrm flipV="1">
              <a:off x="1857" y="679"/>
              <a:ext cx="0" cy="2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7899" name="直接连接符 245858"/>
            <p:cNvSpPr/>
            <p:nvPr/>
          </p:nvSpPr>
          <p:spPr>
            <a:xfrm>
              <a:off x="1728" y="1509"/>
              <a:ext cx="0" cy="2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7900" name="直接连接符 245859"/>
            <p:cNvSpPr/>
            <p:nvPr/>
          </p:nvSpPr>
          <p:spPr>
            <a:xfrm>
              <a:off x="1728" y="1695"/>
              <a:ext cx="141" cy="1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lg"/>
            </a:ln>
          </p:spPr>
        </p:sp>
        <p:sp>
          <p:nvSpPr>
            <p:cNvPr id="37901" name="直接连接符 245860"/>
            <p:cNvSpPr/>
            <p:nvPr/>
          </p:nvSpPr>
          <p:spPr>
            <a:xfrm flipV="1">
              <a:off x="1728" y="1459"/>
              <a:ext cx="141" cy="12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7902" name="直接连接符 245861"/>
            <p:cNvSpPr/>
            <p:nvPr/>
          </p:nvSpPr>
          <p:spPr>
            <a:xfrm>
              <a:off x="1860" y="1209"/>
              <a:ext cx="0" cy="26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7903" name="直接连接符 245862"/>
            <p:cNvSpPr/>
            <p:nvPr/>
          </p:nvSpPr>
          <p:spPr>
            <a:xfrm flipH="1">
              <a:off x="1861" y="1830"/>
              <a:ext cx="0" cy="30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7904" name="直接连接符 245863"/>
            <p:cNvSpPr/>
            <p:nvPr/>
          </p:nvSpPr>
          <p:spPr>
            <a:xfrm>
              <a:off x="959" y="1642"/>
              <a:ext cx="77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7905" name="直接连接符 245864"/>
            <p:cNvSpPr/>
            <p:nvPr/>
          </p:nvSpPr>
          <p:spPr>
            <a:xfrm>
              <a:off x="528" y="2710"/>
              <a:ext cx="214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7906" name="直接连接符 245865"/>
            <p:cNvSpPr/>
            <p:nvPr/>
          </p:nvSpPr>
          <p:spPr>
            <a:xfrm flipH="1">
              <a:off x="1862" y="2454"/>
              <a:ext cx="0" cy="34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7907" name="矩形 245866"/>
            <p:cNvSpPr/>
            <p:nvPr/>
          </p:nvSpPr>
          <p:spPr>
            <a:xfrm>
              <a:off x="1814" y="883"/>
              <a:ext cx="94" cy="32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08" name="椭圆 245867"/>
            <p:cNvSpPr/>
            <p:nvPr/>
          </p:nvSpPr>
          <p:spPr>
            <a:xfrm>
              <a:off x="2518" y="633"/>
              <a:ext cx="68" cy="7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7909" name="组合 245868"/>
            <p:cNvGrpSpPr/>
            <p:nvPr/>
          </p:nvGrpSpPr>
          <p:grpSpPr>
            <a:xfrm>
              <a:off x="896" y="1519"/>
              <a:ext cx="68" cy="262"/>
              <a:chOff x="3454" y="2018"/>
              <a:chExt cx="96" cy="328"/>
            </a:xfrm>
          </p:grpSpPr>
          <p:sp>
            <p:nvSpPr>
              <p:cNvPr id="37910" name="直接连接符 245869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11" name="直接连接符 245870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7912" name="直接连接符 245871"/>
            <p:cNvSpPr/>
            <p:nvPr/>
          </p:nvSpPr>
          <p:spPr>
            <a:xfrm>
              <a:off x="528" y="1642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7913" name="组合 245872"/>
            <p:cNvGrpSpPr/>
            <p:nvPr/>
          </p:nvGrpSpPr>
          <p:grpSpPr>
            <a:xfrm flipH="1">
              <a:off x="2311" y="1280"/>
              <a:ext cx="69" cy="261"/>
              <a:chOff x="3454" y="2018"/>
              <a:chExt cx="96" cy="328"/>
            </a:xfrm>
          </p:grpSpPr>
          <p:sp>
            <p:nvSpPr>
              <p:cNvPr id="37914" name="直接连接符 245873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15" name="直接连接符 245874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7916" name="直接连接符 245875"/>
            <p:cNvSpPr/>
            <p:nvPr/>
          </p:nvSpPr>
          <p:spPr>
            <a:xfrm flipH="1" flipV="1">
              <a:off x="2376" y="1396"/>
              <a:ext cx="29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17" name="直接连接符 245876"/>
            <p:cNvSpPr/>
            <p:nvPr/>
          </p:nvSpPr>
          <p:spPr>
            <a:xfrm>
              <a:off x="1857" y="1403"/>
              <a:ext cx="45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18" name="文本框 245877"/>
            <p:cNvSpPr txBox="1"/>
            <p:nvPr/>
          </p:nvSpPr>
          <p:spPr>
            <a:xfrm>
              <a:off x="1463" y="894"/>
              <a:ext cx="35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19" name="文本框 245878"/>
            <p:cNvSpPr txBox="1"/>
            <p:nvPr/>
          </p:nvSpPr>
          <p:spPr>
            <a:xfrm>
              <a:off x="738" y="1173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1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20" name="文本框 245879"/>
            <p:cNvSpPr txBox="1"/>
            <p:nvPr/>
          </p:nvSpPr>
          <p:spPr>
            <a:xfrm>
              <a:off x="2188" y="950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2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grpSp>
          <p:nvGrpSpPr>
            <p:cNvPr id="37921" name="组合 245880"/>
            <p:cNvGrpSpPr/>
            <p:nvPr/>
          </p:nvGrpSpPr>
          <p:grpSpPr>
            <a:xfrm>
              <a:off x="1788" y="2718"/>
              <a:ext cx="146" cy="162"/>
              <a:chOff x="2898" y="3684"/>
              <a:chExt cx="204" cy="204"/>
            </a:xfrm>
          </p:grpSpPr>
          <p:sp>
            <p:nvSpPr>
              <p:cNvPr id="37922" name="直接连接符 245881"/>
              <p:cNvSpPr/>
              <p:nvPr/>
            </p:nvSpPr>
            <p:spPr>
              <a:xfrm>
                <a:off x="3000" y="3684"/>
                <a:ext cx="0" cy="2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23" name="直接连接符 245882"/>
              <p:cNvSpPr/>
              <p:nvPr/>
            </p:nvSpPr>
            <p:spPr>
              <a:xfrm>
                <a:off x="2898" y="3876"/>
                <a:ext cx="204" cy="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7924" name="椭圆 245883"/>
            <p:cNvSpPr/>
            <p:nvPr/>
          </p:nvSpPr>
          <p:spPr>
            <a:xfrm>
              <a:off x="1844" y="2689"/>
              <a:ext cx="33" cy="3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25" name="矩形 245884"/>
            <p:cNvSpPr/>
            <p:nvPr/>
          </p:nvSpPr>
          <p:spPr>
            <a:xfrm>
              <a:off x="1188" y="1991"/>
              <a:ext cx="95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26" name="文本框 245885"/>
            <p:cNvSpPr txBox="1"/>
            <p:nvPr/>
          </p:nvSpPr>
          <p:spPr>
            <a:xfrm>
              <a:off x="815" y="1950"/>
              <a:ext cx="4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B2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27" name="矩形 245886"/>
            <p:cNvSpPr/>
            <p:nvPr/>
          </p:nvSpPr>
          <p:spPr>
            <a:xfrm>
              <a:off x="1814" y="2142"/>
              <a:ext cx="94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28" name="直接连接符 245887"/>
            <p:cNvSpPr/>
            <p:nvPr/>
          </p:nvSpPr>
          <p:spPr>
            <a:xfrm flipH="1">
              <a:off x="2658" y="1391"/>
              <a:ext cx="0" cy="5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29" name="矩形 245888"/>
            <p:cNvSpPr/>
            <p:nvPr/>
          </p:nvSpPr>
          <p:spPr>
            <a:xfrm>
              <a:off x="2611" y="1893"/>
              <a:ext cx="93" cy="32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30" name="直接连接符 245889"/>
            <p:cNvSpPr/>
            <p:nvPr/>
          </p:nvSpPr>
          <p:spPr>
            <a:xfrm>
              <a:off x="1861" y="1909"/>
              <a:ext cx="26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7931" name="组合 245890"/>
            <p:cNvGrpSpPr/>
            <p:nvPr/>
          </p:nvGrpSpPr>
          <p:grpSpPr>
            <a:xfrm>
              <a:off x="2033" y="2275"/>
              <a:ext cx="196" cy="76"/>
              <a:chOff x="2460" y="2076"/>
              <a:chExt cx="276" cy="96"/>
            </a:xfrm>
          </p:grpSpPr>
          <p:sp>
            <p:nvSpPr>
              <p:cNvPr id="37932" name="直接连接符 245891"/>
              <p:cNvSpPr/>
              <p:nvPr/>
            </p:nvSpPr>
            <p:spPr>
              <a:xfrm>
                <a:off x="2460" y="2076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33" name="直接连接符 245892"/>
              <p:cNvSpPr/>
              <p:nvPr/>
            </p:nvSpPr>
            <p:spPr>
              <a:xfrm>
                <a:off x="2460" y="2172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7934" name="直接连接符 245893"/>
            <p:cNvSpPr/>
            <p:nvPr/>
          </p:nvSpPr>
          <p:spPr>
            <a:xfrm>
              <a:off x="2127" y="1899"/>
              <a:ext cx="0" cy="3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35" name="直接连接符 245894"/>
            <p:cNvSpPr/>
            <p:nvPr/>
          </p:nvSpPr>
          <p:spPr>
            <a:xfrm>
              <a:off x="2127" y="2345"/>
              <a:ext cx="0" cy="37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36" name="文本框 245895"/>
            <p:cNvSpPr txBox="1"/>
            <p:nvPr/>
          </p:nvSpPr>
          <p:spPr>
            <a:xfrm>
              <a:off x="2178" y="2140"/>
              <a:ext cx="38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37" name="文本框 245896"/>
            <p:cNvSpPr txBox="1"/>
            <p:nvPr/>
          </p:nvSpPr>
          <p:spPr>
            <a:xfrm>
              <a:off x="1486" y="2046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38" name="文本框 245897"/>
            <p:cNvSpPr txBox="1"/>
            <p:nvPr/>
          </p:nvSpPr>
          <p:spPr>
            <a:xfrm>
              <a:off x="2276" y="1843"/>
              <a:ext cx="36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L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39" name="直接连接符 245898"/>
            <p:cNvSpPr/>
            <p:nvPr/>
          </p:nvSpPr>
          <p:spPr>
            <a:xfrm>
              <a:off x="1352" y="748"/>
              <a:ext cx="0" cy="28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7940" name="文本框 245899"/>
            <p:cNvSpPr txBox="1"/>
            <p:nvPr/>
          </p:nvSpPr>
          <p:spPr>
            <a:xfrm>
              <a:off x="1352" y="686"/>
              <a:ext cx="31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7941" name="直接连接符 245900"/>
            <p:cNvSpPr/>
            <p:nvPr/>
          </p:nvSpPr>
          <p:spPr>
            <a:xfrm>
              <a:off x="1352" y="1699"/>
              <a:ext cx="0" cy="28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7942" name="文本框 245901"/>
            <p:cNvSpPr txBox="1"/>
            <p:nvPr/>
          </p:nvSpPr>
          <p:spPr>
            <a:xfrm>
              <a:off x="1352" y="1694"/>
              <a:ext cx="31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7943" name="直接连接符 245902"/>
            <p:cNvSpPr/>
            <p:nvPr/>
          </p:nvSpPr>
          <p:spPr>
            <a:xfrm>
              <a:off x="1524" y="1578"/>
              <a:ext cx="20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7944" name="文本框 245903"/>
            <p:cNvSpPr txBox="1"/>
            <p:nvPr/>
          </p:nvSpPr>
          <p:spPr>
            <a:xfrm>
              <a:off x="1465" y="1230"/>
              <a:ext cx="311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7945" name="矩形 245904"/>
            <p:cNvSpPr/>
            <p:nvPr/>
          </p:nvSpPr>
          <p:spPr>
            <a:xfrm>
              <a:off x="926" y="1372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46" name="矩形 245905"/>
            <p:cNvSpPr/>
            <p:nvPr/>
          </p:nvSpPr>
          <p:spPr>
            <a:xfrm>
              <a:off x="2094" y="1135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47" name="矩形 245906"/>
            <p:cNvSpPr/>
            <p:nvPr/>
          </p:nvSpPr>
          <p:spPr>
            <a:xfrm>
              <a:off x="2078" y="1996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48" name="文本框 245907"/>
            <p:cNvSpPr txBox="1"/>
            <p:nvPr/>
          </p:nvSpPr>
          <p:spPr>
            <a:xfrm>
              <a:off x="2580" y="499"/>
              <a:ext cx="58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CC</a:t>
              </a:r>
              <a:endParaRPr lang="en-US" altLang="zh-CN" b="1" baseline="-25000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49" name="文本框 245908"/>
            <p:cNvSpPr txBox="1"/>
            <p:nvPr/>
          </p:nvSpPr>
          <p:spPr>
            <a:xfrm>
              <a:off x="576" y="1995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i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50" name="文本框 245909"/>
            <p:cNvSpPr txBox="1"/>
            <p:nvPr/>
          </p:nvSpPr>
          <p:spPr>
            <a:xfrm>
              <a:off x="2724" y="1854"/>
              <a:ext cx="34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o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51" name="矩形 245910"/>
            <p:cNvSpPr/>
            <p:nvPr/>
          </p:nvSpPr>
          <p:spPr>
            <a:xfrm>
              <a:off x="2784" y="1509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52" name="矩形 245911"/>
            <p:cNvSpPr/>
            <p:nvPr/>
          </p:nvSpPr>
          <p:spPr>
            <a:xfrm>
              <a:off x="624" y="1632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53" name="矩形 245912"/>
            <p:cNvSpPr/>
            <p:nvPr/>
          </p:nvSpPr>
          <p:spPr>
            <a:xfrm>
              <a:off x="2785" y="2254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54" name="矩形 245913"/>
            <p:cNvSpPr/>
            <p:nvPr/>
          </p:nvSpPr>
          <p:spPr>
            <a:xfrm>
              <a:off x="624" y="2457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55" name="矩形 245914"/>
            <p:cNvSpPr/>
            <p:nvPr/>
          </p:nvSpPr>
          <p:spPr>
            <a:xfrm>
              <a:off x="1984" y="674"/>
              <a:ext cx="29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7956" name="直接连接符 245915"/>
            <p:cNvSpPr/>
            <p:nvPr/>
          </p:nvSpPr>
          <p:spPr>
            <a:xfrm>
              <a:off x="1986" y="729"/>
              <a:ext cx="0" cy="279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7957" name="直接连接符 245916"/>
            <p:cNvSpPr/>
            <p:nvPr/>
          </p:nvSpPr>
          <p:spPr>
            <a:xfrm>
              <a:off x="2658" y="2229"/>
              <a:ext cx="0" cy="4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58" name="直接连接符 245917"/>
            <p:cNvSpPr/>
            <p:nvPr/>
          </p:nvSpPr>
          <p:spPr>
            <a:xfrm>
              <a:off x="1230" y="2325"/>
              <a:ext cx="0" cy="384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59" name="矩形 245918"/>
            <p:cNvSpPr/>
            <p:nvPr/>
          </p:nvSpPr>
          <p:spPr>
            <a:xfrm>
              <a:off x="480" y="1835"/>
              <a:ext cx="95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60" name="椭圆 245919"/>
            <p:cNvSpPr/>
            <p:nvPr/>
          </p:nvSpPr>
          <p:spPr>
            <a:xfrm>
              <a:off x="432" y="2352"/>
              <a:ext cx="192" cy="19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61" name="直接连接符 245920"/>
            <p:cNvSpPr/>
            <p:nvPr/>
          </p:nvSpPr>
          <p:spPr>
            <a:xfrm flipV="1">
              <a:off x="528" y="1632"/>
              <a:ext cx="0" cy="2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62" name="直接连接符 245921"/>
            <p:cNvSpPr/>
            <p:nvPr/>
          </p:nvSpPr>
          <p:spPr>
            <a:xfrm>
              <a:off x="528" y="2160"/>
              <a:ext cx="0" cy="5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7963" name="文本框 245922"/>
            <p:cNvSpPr txBox="1"/>
            <p:nvPr/>
          </p:nvSpPr>
          <p:spPr>
            <a:xfrm>
              <a:off x="151" y="1776"/>
              <a:ext cx="33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S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64" name="文本框 245923"/>
            <p:cNvSpPr txBox="1"/>
            <p:nvPr/>
          </p:nvSpPr>
          <p:spPr>
            <a:xfrm>
              <a:off x="96" y="2256"/>
              <a:ext cx="40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S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65" name="矩形 245924"/>
            <p:cNvSpPr/>
            <p:nvPr/>
          </p:nvSpPr>
          <p:spPr>
            <a:xfrm>
              <a:off x="286" y="2121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66" name="矩形 245925"/>
            <p:cNvSpPr/>
            <p:nvPr/>
          </p:nvSpPr>
          <p:spPr>
            <a:xfrm>
              <a:off x="279" y="2448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7967" name="椭圆 245926"/>
            <p:cNvSpPr/>
            <p:nvPr/>
          </p:nvSpPr>
          <p:spPr>
            <a:xfrm>
              <a:off x="1204" y="1615"/>
              <a:ext cx="50" cy="50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5311775" y="1006475"/>
          <a:ext cx="314960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1" imgW="1231265" imgH="431800" progId="Equation.3">
                  <p:embed/>
                </p:oleObj>
              </mc:Choice>
              <mc:Fallback>
                <p:oleObj name="" r:id="rId1" imgW="1231265" imgH="431800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11775" y="1006475"/>
                        <a:ext cx="3149600" cy="1101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5224463" y="2209800"/>
          <a:ext cx="34702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3" imgW="1306195" imgH="215900" progId="Equation.3">
                  <p:embed/>
                </p:oleObj>
              </mc:Choice>
              <mc:Fallback>
                <p:oleObj name="" r:id="rId3" imgW="1306195" imgH="215900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24463" y="2209800"/>
                        <a:ext cx="3470275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5224463" y="2868613"/>
          <a:ext cx="3352800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5" imgW="1244600" imgH="889000" progId="Equation.3">
                  <p:embed/>
                </p:oleObj>
              </mc:Choice>
              <mc:Fallback>
                <p:oleObj name="" r:id="rId5" imgW="1244600" imgH="889000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24463" y="2868613"/>
                        <a:ext cx="3352800" cy="2225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5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文本框 101377"/>
          <p:cNvSpPr txBox="1"/>
          <p:nvPr/>
        </p:nvSpPr>
        <p:spPr>
          <a:xfrm>
            <a:off x="4953000" y="536575"/>
            <a:ext cx="4191000" cy="456882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indent="381000">
              <a:lnSpc>
                <a:spcPct val="105000"/>
              </a:lnSpc>
            </a:pP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从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点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稳定的角度来看似乎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越大越好。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81000">
              <a:lnSpc>
                <a:spcPct val="105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但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越大，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B1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B2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必须取得较小，将增加损耗，降低输入电阻。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81000">
              <a:lnSpc>
                <a:spcPct val="105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而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过高必使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也增高，在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一定时，势必使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CE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减小，从而减小放大电路输出电压的动态范围。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379" name="矩形 101378"/>
          <p:cNvSpPr/>
          <p:nvPr/>
        </p:nvSpPr>
        <p:spPr>
          <a:xfrm>
            <a:off x="533400" y="4572000"/>
            <a:ext cx="5413375" cy="1544638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>
            <a:spAutoFit/>
          </a:bodyPr>
          <a:p>
            <a:pPr lvl="0" fontAlgn="base">
              <a:spcBef>
                <a:spcPct val="20000"/>
              </a:spcBef>
            </a:pPr>
            <a:r>
              <a:rPr lang="zh-CN" altLang="en-US" sz="2800" b="1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在估算时一般选取：</a:t>
            </a:r>
            <a:endParaRPr lang="zh-CN" altLang="en-US" sz="2800" b="1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fontAlgn="base">
              <a:spcBef>
                <a:spcPct val="20000"/>
              </a:spcBef>
            </a:pPr>
            <a:r>
              <a:rPr lang="en-US" altLang="zh-CN" sz="2800" b="1" i="1" strike="noStrike" noProof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</a:t>
            </a:r>
            <a:r>
              <a:rPr lang="en-US" altLang="zh-CN" sz="2800" b="1" strike="noStrike" baseline="-25000" noProof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</a:t>
            </a:r>
            <a:r>
              <a:rPr lang="en-US" altLang="zh-CN" sz="2800" b="1" strike="noStrike" noProof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= (5 ~10) </a:t>
            </a:r>
            <a:r>
              <a:rPr lang="en-US" altLang="zh-CN" sz="2800" b="1" i="1" strike="noStrike" noProof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</a:t>
            </a:r>
            <a:r>
              <a:rPr lang="en-US" altLang="zh-CN" sz="2800" b="1" strike="noStrike" baseline="-25000" noProof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B</a:t>
            </a:r>
            <a:r>
              <a:rPr lang="zh-CN" altLang="en-US" sz="2800" b="1" strike="noStrike" noProof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，</a:t>
            </a:r>
            <a:r>
              <a:rPr lang="en-US" altLang="zh-CN" sz="2800" b="1" i="1" strike="noStrike" noProof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V</a:t>
            </a:r>
            <a:r>
              <a:rPr lang="en-US" altLang="zh-CN" b="1" strike="noStrike" baseline="-25000" noProof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B</a:t>
            </a:r>
            <a:r>
              <a:rPr lang="en-US" altLang="zh-CN" sz="2800" b="1" strike="noStrike" noProof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= (5 ~10) </a:t>
            </a:r>
            <a:r>
              <a:rPr lang="en-US" altLang="zh-CN" sz="2800" b="1" i="1" strike="noStrike" noProof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U</a:t>
            </a:r>
            <a:r>
              <a:rPr lang="en-US" altLang="zh-CN" sz="2800" b="1" strike="noStrike" baseline="-25000" noProof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BE</a:t>
            </a:r>
            <a:r>
              <a:rPr lang="zh-CN" altLang="en-US" sz="2800" b="1" strike="noStrike" noProof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， </a:t>
            </a:r>
            <a:endParaRPr lang="zh-CN" altLang="en-US" sz="2800" b="1" strike="noStrike" noProof="1">
              <a:solidFill>
                <a:srgbClr val="00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fontAlgn="base">
              <a:spcBef>
                <a:spcPct val="20000"/>
              </a:spcBef>
            </a:pPr>
            <a:r>
              <a:rPr lang="en-US" altLang="zh-CN" sz="2800" b="1" i="1" strike="noStrike" noProof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R</a:t>
            </a:r>
            <a:r>
              <a:rPr lang="en-US" altLang="zh-CN" b="1" strike="noStrike" baseline="-25000" noProof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B1</a:t>
            </a:r>
            <a:r>
              <a:rPr lang="zh-CN" altLang="en-US" sz="2800" b="1" strike="noStrike" noProof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、</a:t>
            </a:r>
            <a:r>
              <a:rPr lang="en-US" altLang="zh-CN" sz="2800" b="1" i="1" strike="noStrike" noProof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R</a:t>
            </a:r>
            <a:r>
              <a:rPr lang="en-US" altLang="zh-CN" b="1" strike="noStrike" baseline="-25000" noProof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B2</a:t>
            </a:r>
            <a:r>
              <a:rPr lang="zh-CN" altLang="en-US" sz="2800" b="1" strike="noStrike" noProof="1" dirty="0">
                <a:solidFill>
                  <a:srgbClr val="000099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的阻值一般为几十千欧。</a:t>
            </a:r>
            <a:endParaRPr lang="zh-CN" altLang="en-US" sz="2800" b="1" strike="noStrike" noProof="1" dirty="0">
              <a:solidFill>
                <a:srgbClr val="0000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1380" name="矩形 101379"/>
          <p:cNvSpPr/>
          <p:nvPr/>
        </p:nvSpPr>
        <p:spPr>
          <a:xfrm>
            <a:off x="533400" y="395288"/>
            <a:ext cx="1966913" cy="519113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>
            <a:spAutoFit/>
          </a:bodyPr>
          <a:p>
            <a:pPr lvl="0" algn="ctr" fontAlgn="base">
              <a:spcBef>
                <a:spcPct val="50000"/>
              </a:spcBef>
            </a:pPr>
            <a:r>
              <a:rPr lang="zh-CN" altLang="en-US" sz="2800" b="1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参数的选择</a:t>
            </a:r>
            <a:endParaRPr lang="zh-CN" altLang="en-US" sz="2800" b="1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6" name="文本框 101384"/>
          <p:cNvSpPr txBox="1"/>
          <p:nvPr/>
        </p:nvSpPr>
        <p:spPr>
          <a:xfrm>
            <a:off x="2819400" y="2528888"/>
            <a:ext cx="669925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2800" b="1" baseline="-250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endParaRPr lang="en-US" altLang="zh-CN" sz="2800" b="1" baseline="-25000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917" name="文本框 101462"/>
          <p:cNvSpPr txBox="1"/>
          <p:nvPr/>
        </p:nvSpPr>
        <p:spPr>
          <a:xfrm>
            <a:off x="1844675" y="2071688"/>
            <a:ext cx="669925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2800" b="1" baseline="-250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endParaRPr lang="en-US" altLang="zh-CN" sz="2800" b="1" baseline="-25000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8918" name="组合 101540"/>
          <p:cNvGrpSpPr/>
          <p:nvPr/>
        </p:nvGrpSpPr>
        <p:grpSpPr>
          <a:xfrm>
            <a:off x="152400" y="792163"/>
            <a:ext cx="4876800" cy="3779837"/>
            <a:chOff x="96" y="499"/>
            <a:chExt cx="3072" cy="2381"/>
          </a:xfrm>
        </p:grpSpPr>
        <p:sp>
          <p:nvSpPr>
            <p:cNvPr id="38919" name="直接连接符 101541"/>
            <p:cNvSpPr/>
            <p:nvPr/>
          </p:nvSpPr>
          <p:spPr>
            <a:xfrm flipH="1">
              <a:off x="1230" y="1603"/>
              <a:ext cx="0" cy="38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20" name="文本框 101542"/>
            <p:cNvSpPr txBox="1"/>
            <p:nvPr/>
          </p:nvSpPr>
          <p:spPr>
            <a:xfrm>
              <a:off x="788" y="830"/>
              <a:ext cx="4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B1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21" name="直接连接符 101543"/>
            <p:cNvSpPr/>
            <p:nvPr/>
          </p:nvSpPr>
          <p:spPr>
            <a:xfrm>
              <a:off x="1232" y="1233"/>
              <a:ext cx="0" cy="4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22" name="直接连接符 101544"/>
            <p:cNvSpPr/>
            <p:nvPr/>
          </p:nvSpPr>
          <p:spPr>
            <a:xfrm flipH="1" flipV="1">
              <a:off x="1236" y="665"/>
              <a:ext cx="0" cy="2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23" name="矩形 101545"/>
            <p:cNvSpPr/>
            <p:nvPr/>
          </p:nvSpPr>
          <p:spPr>
            <a:xfrm>
              <a:off x="1188" y="910"/>
              <a:ext cx="95" cy="32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24" name="直接连接符 101546"/>
            <p:cNvSpPr/>
            <p:nvPr/>
          </p:nvSpPr>
          <p:spPr>
            <a:xfrm>
              <a:off x="1236" y="675"/>
              <a:ext cx="129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25" name="直接连接符 101547"/>
            <p:cNvSpPr/>
            <p:nvPr/>
          </p:nvSpPr>
          <p:spPr>
            <a:xfrm flipV="1">
              <a:off x="1857" y="679"/>
              <a:ext cx="0" cy="2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8926" name="直接连接符 101548"/>
            <p:cNvSpPr/>
            <p:nvPr/>
          </p:nvSpPr>
          <p:spPr>
            <a:xfrm>
              <a:off x="1728" y="1509"/>
              <a:ext cx="0" cy="2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8927" name="直接连接符 101549"/>
            <p:cNvSpPr/>
            <p:nvPr/>
          </p:nvSpPr>
          <p:spPr>
            <a:xfrm>
              <a:off x="1728" y="1695"/>
              <a:ext cx="141" cy="1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lg"/>
            </a:ln>
          </p:spPr>
        </p:sp>
        <p:sp>
          <p:nvSpPr>
            <p:cNvPr id="38928" name="直接连接符 101550"/>
            <p:cNvSpPr/>
            <p:nvPr/>
          </p:nvSpPr>
          <p:spPr>
            <a:xfrm flipV="1">
              <a:off x="1728" y="1459"/>
              <a:ext cx="141" cy="12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8929" name="直接连接符 101551"/>
            <p:cNvSpPr/>
            <p:nvPr/>
          </p:nvSpPr>
          <p:spPr>
            <a:xfrm>
              <a:off x="1860" y="1209"/>
              <a:ext cx="0" cy="26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8930" name="直接连接符 101552"/>
            <p:cNvSpPr/>
            <p:nvPr/>
          </p:nvSpPr>
          <p:spPr>
            <a:xfrm flipH="1">
              <a:off x="1861" y="1830"/>
              <a:ext cx="0" cy="30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8931" name="直接连接符 101553"/>
            <p:cNvSpPr/>
            <p:nvPr/>
          </p:nvSpPr>
          <p:spPr>
            <a:xfrm>
              <a:off x="959" y="1642"/>
              <a:ext cx="77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8932" name="直接连接符 101554"/>
            <p:cNvSpPr/>
            <p:nvPr/>
          </p:nvSpPr>
          <p:spPr>
            <a:xfrm>
              <a:off x="528" y="2710"/>
              <a:ext cx="214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8933" name="直接连接符 101555"/>
            <p:cNvSpPr/>
            <p:nvPr/>
          </p:nvSpPr>
          <p:spPr>
            <a:xfrm flipH="1">
              <a:off x="1862" y="2454"/>
              <a:ext cx="0" cy="34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8934" name="矩形 101556"/>
            <p:cNvSpPr/>
            <p:nvPr/>
          </p:nvSpPr>
          <p:spPr>
            <a:xfrm>
              <a:off x="1814" y="883"/>
              <a:ext cx="94" cy="32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35" name="椭圆 101557"/>
            <p:cNvSpPr/>
            <p:nvPr/>
          </p:nvSpPr>
          <p:spPr>
            <a:xfrm>
              <a:off x="2518" y="633"/>
              <a:ext cx="68" cy="7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8936" name="组合 101558"/>
            <p:cNvGrpSpPr/>
            <p:nvPr/>
          </p:nvGrpSpPr>
          <p:grpSpPr>
            <a:xfrm>
              <a:off x="896" y="1519"/>
              <a:ext cx="68" cy="262"/>
              <a:chOff x="3454" y="2018"/>
              <a:chExt cx="96" cy="328"/>
            </a:xfrm>
          </p:grpSpPr>
          <p:sp>
            <p:nvSpPr>
              <p:cNvPr id="38937" name="直接连接符 101559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38" name="直接连接符 101560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8939" name="直接连接符 101561"/>
            <p:cNvSpPr/>
            <p:nvPr/>
          </p:nvSpPr>
          <p:spPr>
            <a:xfrm>
              <a:off x="528" y="1642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8940" name="组合 101562"/>
            <p:cNvGrpSpPr/>
            <p:nvPr/>
          </p:nvGrpSpPr>
          <p:grpSpPr>
            <a:xfrm flipH="1">
              <a:off x="2311" y="1280"/>
              <a:ext cx="69" cy="261"/>
              <a:chOff x="3454" y="2018"/>
              <a:chExt cx="96" cy="328"/>
            </a:xfrm>
          </p:grpSpPr>
          <p:sp>
            <p:nvSpPr>
              <p:cNvPr id="38941" name="直接连接符 101563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42" name="直接连接符 101564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8943" name="直接连接符 101565"/>
            <p:cNvSpPr/>
            <p:nvPr/>
          </p:nvSpPr>
          <p:spPr>
            <a:xfrm flipH="1" flipV="1">
              <a:off x="2376" y="1396"/>
              <a:ext cx="29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44" name="直接连接符 101566"/>
            <p:cNvSpPr/>
            <p:nvPr/>
          </p:nvSpPr>
          <p:spPr>
            <a:xfrm>
              <a:off x="1857" y="1403"/>
              <a:ext cx="45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45" name="文本框 101567"/>
            <p:cNvSpPr txBox="1"/>
            <p:nvPr/>
          </p:nvSpPr>
          <p:spPr>
            <a:xfrm>
              <a:off x="1463" y="894"/>
              <a:ext cx="35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46" name="文本框 101568"/>
            <p:cNvSpPr txBox="1"/>
            <p:nvPr/>
          </p:nvSpPr>
          <p:spPr>
            <a:xfrm>
              <a:off x="738" y="1173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1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47" name="文本框 101569"/>
            <p:cNvSpPr txBox="1"/>
            <p:nvPr/>
          </p:nvSpPr>
          <p:spPr>
            <a:xfrm>
              <a:off x="2188" y="950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2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grpSp>
          <p:nvGrpSpPr>
            <p:cNvPr id="38948" name="组合 101570"/>
            <p:cNvGrpSpPr/>
            <p:nvPr/>
          </p:nvGrpSpPr>
          <p:grpSpPr>
            <a:xfrm>
              <a:off x="1788" y="2718"/>
              <a:ext cx="146" cy="162"/>
              <a:chOff x="2898" y="3684"/>
              <a:chExt cx="204" cy="204"/>
            </a:xfrm>
          </p:grpSpPr>
          <p:sp>
            <p:nvSpPr>
              <p:cNvPr id="38949" name="直接连接符 101571"/>
              <p:cNvSpPr/>
              <p:nvPr/>
            </p:nvSpPr>
            <p:spPr>
              <a:xfrm>
                <a:off x="3000" y="3684"/>
                <a:ext cx="0" cy="2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50" name="直接连接符 101572"/>
              <p:cNvSpPr/>
              <p:nvPr/>
            </p:nvSpPr>
            <p:spPr>
              <a:xfrm>
                <a:off x="2898" y="3876"/>
                <a:ext cx="204" cy="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8951" name="椭圆 101573"/>
            <p:cNvSpPr/>
            <p:nvPr/>
          </p:nvSpPr>
          <p:spPr>
            <a:xfrm>
              <a:off x="1844" y="2689"/>
              <a:ext cx="33" cy="3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52" name="矩形 101574"/>
            <p:cNvSpPr/>
            <p:nvPr/>
          </p:nvSpPr>
          <p:spPr>
            <a:xfrm>
              <a:off x="1188" y="1991"/>
              <a:ext cx="95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53" name="文本框 101575"/>
            <p:cNvSpPr txBox="1"/>
            <p:nvPr/>
          </p:nvSpPr>
          <p:spPr>
            <a:xfrm>
              <a:off x="815" y="1950"/>
              <a:ext cx="4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B2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54" name="矩形 101576"/>
            <p:cNvSpPr/>
            <p:nvPr/>
          </p:nvSpPr>
          <p:spPr>
            <a:xfrm>
              <a:off x="1814" y="2142"/>
              <a:ext cx="94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55" name="直接连接符 101577"/>
            <p:cNvSpPr/>
            <p:nvPr/>
          </p:nvSpPr>
          <p:spPr>
            <a:xfrm flipH="1">
              <a:off x="2658" y="1391"/>
              <a:ext cx="0" cy="5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56" name="矩形 101578"/>
            <p:cNvSpPr/>
            <p:nvPr/>
          </p:nvSpPr>
          <p:spPr>
            <a:xfrm>
              <a:off x="2611" y="1893"/>
              <a:ext cx="93" cy="32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57" name="直接连接符 101579"/>
            <p:cNvSpPr/>
            <p:nvPr/>
          </p:nvSpPr>
          <p:spPr>
            <a:xfrm>
              <a:off x="1861" y="1909"/>
              <a:ext cx="26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8958" name="组合 101580"/>
            <p:cNvGrpSpPr/>
            <p:nvPr/>
          </p:nvGrpSpPr>
          <p:grpSpPr>
            <a:xfrm>
              <a:off x="2033" y="2275"/>
              <a:ext cx="196" cy="76"/>
              <a:chOff x="2460" y="2076"/>
              <a:chExt cx="276" cy="96"/>
            </a:xfrm>
          </p:grpSpPr>
          <p:sp>
            <p:nvSpPr>
              <p:cNvPr id="38959" name="直接连接符 101581"/>
              <p:cNvSpPr/>
              <p:nvPr/>
            </p:nvSpPr>
            <p:spPr>
              <a:xfrm>
                <a:off x="2460" y="2076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60" name="直接连接符 101582"/>
              <p:cNvSpPr/>
              <p:nvPr/>
            </p:nvSpPr>
            <p:spPr>
              <a:xfrm>
                <a:off x="2460" y="2172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8961" name="直接连接符 101583"/>
            <p:cNvSpPr/>
            <p:nvPr/>
          </p:nvSpPr>
          <p:spPr>
            <a:xfrm>
              <a:off x="2127" y="1899"/>
              <a:ext cx="0" cy="3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62" name="直接连接符 101584"/>
            <p:cNvSpPr/>
            <p:nvPr/>
          </p:nvSpPr>
          <p:spPr>
            <a:xfrm>
              <a:off x="2127" y="2345"/>
              <a:ext cx="0" cy="37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63" name="文本框 101585"/>
            <p:cNvSpPr txBox="1"/>
            <p:nvPr/>
          </p:nvSpPr>
          <p:spPr>
            <a:xfrm>
              <a:off x="2178" y="2140"/>
              <a:ext cx="38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64" name="文本框 101586"/>
            <p:cNvSpPr txBox="1"/>
            <p:nvPr/>
          </p:nvSpPr>
          <p:spPr>
            <a:xfrm>
              <a:off x="1486" y="2046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65" name="文本框 101587"/>
            <p:cNvSpPr txBox="1"/>
            <p:nvPr/>
          </p:nvSpPr>
          <p:spPr>
            <a:xfrm>
              <a:off x="2276" y="1843"/>
              <a:ext cx="36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L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66" name="直接连接符 101588"/>
            <p:cNvSpPr/>
            <p:nvPr/>
          </p:nvSpPr>
          <p:spPr>
            <a:xfrm>
              <a:off x="1352" y="748"/>
              <a:ext cx="0" cy="28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8967" name="文本框 101589"/>
            <p:cNvSpPr txBox="1"/>
            <p:nvPr/>
          </p:nvSpPr>
          <p:spPr>
            <a:xfrm>
              <a:off x="1352" y="686"/>
              <a:ext cx="31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8968" name="直接连接符 101590"/>
            <p:cNvSpPr/>
            <p:nvPr/>
          </p:nvSpPr>
          <p:spPr>
            <a:xfrm>
              <a:off x="1352" y="1699"/>
              <a:ext cx="0" cy="28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8969" name="文本框 101591"/>
            <p:cNvSpPr txBox="1"/>
            <p:nvPr/>
          </p:nvSpPr>
          <p:spPr>
            <a:xfrm>
              <a:off x="1352" y="1694"/>
              <a:ext cx="31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8970" name="直接连接符 101592"/>
            <p:cNvSpPr/>
            <p:nvPr/>
          </p:nvSpPr>
          <p:spPr>
            <a:xfrm>
              <a:off x="1524" y="1578"/>
              <a:ext cx="20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8971" name="文本框 101593"/>
            <p:cNvSpPr txBox="1"/>
            <p:nvPr/>
          </p:nvSpPr>
          <p:spPr>
            <a:xfrm>
              <a:off x="1465" y="1230"/>
              <a:ext cx="311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8972" name="矩形 101594"/>
            <p:cNvSpPr/>
            <p:nvPr/>
          </p:nvSpPr>
          <p:spPr>
            <a:xfrm>
              <a:off x="926" y="1372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73" name="矩形 101595"/>
            <p:cNvSpPr/>
            <p:nvPr/>
          </p:nvSpPr>
          <p:spPr>
            <a:xfrm>
              <a:off x="2094" y="1135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74" name="矩形 101596"/>
            <p:cNvSpPr/>
            <p:nvPr/>
          </p:nvSpPr>
          <p:spPr>
            <a:xfrm>
              <a:off x="2078" y="1996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75" name="文本框 101597"/>
            <p:cNvSpPr txBox="1"/>
            <p:nvPr/>
          </p:nvSpPr>
          <p:spPr>
            <a:xfrm>
              <a:off x="2580" y="499"/>
              <a:ext cx="58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CC</a:t>
              </a:r>
              <a:endParaRPr lang="en-US" altLang="zh-CN" b="1" baseline="-25000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76" name="文本框 101598"/>
            <p:cNvSpPr txBox="1"/>
            <p:nvPr/>
          </p:nvSpPr>
          <p:spPr>
            <a:xfrm>
              <a:off x="576" y="1995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i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77" name="文本框 101599"/>
            <p:cNvSpPr txBox="1"/>
            <p:nvPr/>
          </p:nvSpPr>
          <p:spPr>
            <a:xfrm>
              <a:off x="2724" y="1854"/>
              <a:ext cx="34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o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78" name="矩形 101600"/>
            <p:cNvSpPr/>
            <p:nvPr/>
          </p:nvSpPr>
          <p:spPr>
            <a:xfrm>
              <a:off x="2784" y="1509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79" name="矩形 101601"/>
            <p:cNvSpPr/>
            <p:nvPr/>
          </p:nvSpPr>
          <p:spPr>
            <a:xfrm>
              <a:off x="624" y="1632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80" name="矩形 101602"/>
            <p:cNvSpPr/>
            <p:nvPr/>
          </p:nvSpPr>
          <p:spPr>
            <a:xfrm>
              <a:off x="2785" y="2254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81" name="矩形 101603"/>
            <p:cNvSpPr/>
            <p:nvPr/>
          </p:nvSpPr>
          <p:spPr>
            <a:xfrm>
              <a:off x="624" y="2457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82" name="矩形 101604"/>
            <p:cNvSpPr/>
            <p:nvPr/>
          </p:nvSpPr>
          <p:spPr>
            <a:xfrm>
              <a:off x="1984" y="674"/>
              <a:ext cx="29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8983" name="直接连接符 101605"/>
            <p:cNvSpPr/>
            <p:nvPr/>
          </p:nvSpPr>
          <p:spPr>
            <a:xfrm>
              <a:off x="1986" y="729"/>
              <a:ext cx="0" cy="279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8984" name="直接连接符 101606"/>
            <p:cNvSpPr/>
            <p:nvPr/>
          </p:nvSpPr>
          <p:spPr>
            <a:xfrm>
              <a:off x="2658" y="2229"/>
              <a:ext cx="0" cy="4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85" name="直接连接符 101607"/>
            <p:cNvSpPr/>
            <p:nvPr/>
          </p:nvSpPr>
          <p:spPr>
            <a:xfrm>
              <a:off x="1230" y="2325"/>
              <a:ext cx="0" cy="384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86" name="矩形 101608"/>
            <p:cNvSpPr/>
            <p:nvPr/>
          </p:nvSpPr>
          <p:spPr>
            <a:xfrm>
              <a:off x="480" y="1835"/>
              <a:ext cx="95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87" name="椭圆 101609"/>
            <p:cNvSpPr/>
            <p:nvPr/>
          </p:nvSpPr>
          <p:spPr>
            <a:xfrm>
              <a:off x="432" y="2352"/>
              <a:ext cx="192" cy="19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988" name="直接连接符 101610"/>
            <p:cNvSpPr/>
            <p:nvPr/>
          </p:nvSpPr>
          <p:spPr>
            <a:xfrm flipV="1">
              <a:off x="528" y="1632"/>
              <a:ext cx="0" cy="2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89" name="直接连接符 101611"/>
            <p:cNvSpPr/>
            <p:nvPr/>
          </p:nvSpPr>
          <p:spPr>
            <a:xfrm>
              <a:off x="528" y="2160"/>
              <a:ext cx="0" cy="5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90" name="文本框 101612"/>
            <p:cNvSpPr txBox="1"/>
            <p:nvPr/>
          </p:nvSpPr>
          <p:spPr>
            <a:xfrm>
              <a:off x="151" y="1776"/>
              <a:ext cx="33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S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91" name="文本框 101613"/>
            <p:cNvSpPr txBox="1"/>
            <p:nvPr/>
          </p:nvSpPr>
          <p:spPr>
            <a:xfrm>
              <a:off x="96" y="2256"/>
              <a:ext cx="40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S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92" name="矩形 101614"/>
            <p:cNvSpPr/>
            <p:nvPr/>
          </p:nvSpPr>
          <p:spPr>
            <a:xfrm>
              <a:off x="286" y="2121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93" name="矩形 101615"/>
            <p:cNvSpPr/>
            <p:nvPr/>
          </p:nvSpPr>
          <p:spPr>
            <a:xfrm>
              <a:off x="279" y="2448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8994" name="椭圆 101616"/>
            <p:cNvSpPr/>
            <p:nvPr/>
          </p:nvSpPr>
          <p:spPr>
            <a:xfrm>
              <a:off x="1204" y="1615"/>
              <a:ext cx="50" cy="50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1378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>
                                            <p:txEl>
                                              <p:charRg st="23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1378">
                                            <p:txEl>
                                              <p:charRg st="23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>
                                            <p:txEl>
                                              <p:charRg st="59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1378">
                                            <p:txEl>
                                              <p:charRg st="59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1379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charRg st="1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1379">
                                            <p:txEl>
                                              <p:charRg st="10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charRg st="43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01379">
                                            <p:txEl>
                                              <p:charRg st="43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 build="p"/>
      <p:bldP spid="10137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6788" name="矩形 246787"/>
          <p:cNvSpPr/>
          <p:nvPr/>
        </p:nvSpPr>
        <p:spPr>
          <a:xfrm>
            <a:off x="619125" y="395288"/>
            <a:ext cx="2581275" cy="519113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>
            <a:spAutoFit/>
          </a:bodyPr>
          <a:p>
            <a:pPr lvl="0" algn="ctr" fontAlgn="base">
              <a:spcBef>
                <a:spcPct val="50000"/>
              </a:spcBef>
            </a:pPr>
            <a:r>
              <a:rPr lang="en-US" altLang="zh-CN" sz="2800" b="1" i="1" strike="noStrike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Q</a:t>
            </a:r>
            <a:r>
              <a:rPr lang="zh-CN" altLang="en-US" sz="2800" b="1" strike="noStrike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点稳定的过程</a:t>
            </a:r>
            <a:endParaRPr lang="zh-CN" altLang="en-US" sz="2800" b="1" strike="noStrike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38" name="文本框 246788"/>
          <p:cNvSpPr txBox="1"/>
          <p:nvPr/>
        </p:nvSpPr>
        <p:spPr>
          <a:xfrm>
            <a:off x="2819400" y="2528888"/>
            <a:ext cx="669925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2800" b="1" baseline="-250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endParaRPr lang="en-US" altLang="zh-CN" sz="2800" b="1" baseline="-25000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939" name="文本框 246789"/>
          <p:cNvSpPr txBox="1"/>
          <p:nvPr/>
        </p:nvSpPr>
        <p:spPr>
          <a:xfrm>
            <a:off x="1844675" y="2071688"/>
            <a:ext cx="669925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2800" b="1" baseline="-250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endParaRPr lang="en-US" altLang="zh-CN" sz="2800" b="1" baseline="-25000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9940" name="组合 246896"/>
          <p:cNvGrpSpPr/>
          <p:nvPr/>
        </p:nvGrpSpPr>
        <p:grpSpPr>
          <a:xfrm>
            <a:off x="152400" y="792163"/>
            <a:ext cx="4876800" cy="3779837"/>
            <a:chOff x="96" y="499"/>
            <a:chExt cx="3072" cy="2381"/>
          </a:xfrm>
        </p:grpSpPr>
        <p:sp>
          <p:nvSpPr>
            <p:cNvPr id="39941" name="直接连接符 246791"/>
            <p:cNvSpPr/>
            <p:nvPr/>
          </p:nvSpPr>
          <p:spPr>
            <a:xfrm flipH="1">
              <a:off x="1230" y="1603"/>
              <a:ext cx="0" cy="38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42" name="文本框 246792"/>
            <p:cNvSpPr txBox="1"/>
            <p:nvPr/>
          </p:nvSpPr>
          <p:spPr>
            <a:xfrm>
              <a:off x="788" y="830"/>
              <a:ext cx="4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B1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9943" name="直接连接符 246793"/>
            <p:cNvSpPr/>
            <p:nvPr/>
          </p:nvSpPr>
          <p:spPr>
            <a:xfrm>
              <a:off x="1232" y="1233"/>
              <a:ext cx="0" cy="4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44" name="直接连接符 246794"/>
            <p:cNvSpPr/>
            <p:nvPr/>
          </p:nvSpPr>
          <p:spPr>
            <a:xfrm flipH="1" flipV="1">
              <a:off x="1236" y="665"/>
              <a:ext cx="0" cy="2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45" name="矩形 246795"/>
            <p:cNvSpPr/>
            <p:nvPr/>
          </p:nvSpPr>
          <p:spPr>
            <a:xfrm>
              <a:off x="1188" y="910"/>
              <a:ext cx="95" cy="32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46" name="直接连接符 246796"/>
            <p:cNvSpPr/>
            <p:nvPr/>
          </p:nvSpPr>
          <p:spPr>
            <a:xfrm>
              <a:off x="1236" y="675"/>
              <a:ext cx="129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47" name="直接连接符 246797"/>
            <p:cNvSpPr/>
            <p:nvPr/>
          </p:nvSpPr>
          <p:spPr>
            <a:xfrm flipV="1">
              <a:off x="1857" y="679"/>
              <a:ext cx="0" cy="2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9948" name="直接连接符 246798"/>
            <p:cNvSpPr/>
            <p:nvPr/>
          </p:nvSpPr>
          <p:spPr>
            <a:xfrm>
              <a:off x="1728" y="1509"/>
              <a:ext cx="0" cy="2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9949" name="直接连接符 246799"/>
            <p:cNvSpPr/>
            <p:nvPr/>
          </p:nvSpPr>
          <p:spPr>
            <a:xfrm>
              <a:off x="1728" y="1695"/>
              <a:ext cx="141" cy="1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lg"/>
            </a:ln>
          </p:spPr>
        </p:sp>
        <p:sp>
          <p:nvSpPr>
            <p:cNvPr id="39950" name="直接连接符 246800"/>
            <p:cNvSpPr/>
            <p:nvPr/>
          </p:nvSpPr>
          <p:spPr>
            <a:xfrm flipV="1">
              <a:off x="1728" y="1459"/>
              <a:ext cx="141" cy="12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9951" name="直接连接符 246801"/>
            <p:cNvSpPr/>
            <p:nvPr/>
          </p:nvSpPr>
          <p:spPr>
            <a:xfrm>
              <a:off x="1860" y="1209"/>
              <a:ext cx="0" cy="26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9952" name="直接连接符 246802"/>
            <p:cNvSpPr/>
            <p:nvPr/>
          </p:nvSpPr>
          <p:spPr>
            <a:xfrm flipH="1">
              <a:off x="1861" y="1830"/>
              <a:ext cx="0" cy="30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9953" name="直接连接符 246803"/>
            <p:cNvSpPr/>
            <p:nvPr/>
          </p:nvSpPr>
          <p:spPr>
            <a:xfrm>
              <a:off x="959" y="1642"/>
              <a:ext cx="77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9954" name="直接连接符 246804"/>
            <p:cNvSpPr/>
            <p:nvPr/>
          </p:nvSpPr>
          <p:spPr>
            <a:xfrm>
              <a:off x="528" y="2710"/>
              <a:ext cx="214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9955" name="直接连接符 246805"/>
            <p:cNvSpPr/>
            <p:nvPr/>
          </p:nvSpPr>
          <p:spPr>
            <a:xfrm flipH="1">
              <a:off x="1862" y="2454"/>
              <a:ext cx="0" cy="34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39956" name="矩形 246806"/>
            <p:cNvSpPr/>
            <p:nvPr/>
          </p:nvSpPr>
          <p:spPr>
            <a:xfrm>
              <a:off x="1814" y="883"/>
              <a:ext cx="94" cy="32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7" name="椭圆 246807"/>
            <p:cNvSpPr/>
            <p:nvPr/>
          </p:nvSpPr>
          <p:spPr>
            <a:xfrm>
              <a:off x="2518" y="633"/>
              <a:ext cx="68" cy="7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9958" name="组合 246808"/>
            <p:cNvGrpSpPr/>
            <p:nvPr/>
          </p:nvGrpSpPr>
          <p:grpSpPr>
            <a:xfrm>
              <a:off x="896" y="1519"/>
              <a:ext cx="68" cy="262"/>
              <a:chOff x="3454" y="2018"/>
              <a:chExt cx="96" cy="328"/>
            </a:xfrm>
          </p:grpSpPr>
          <p:sp>
            <p:nvSpPr>
              <p:cNvPr id="39959" name="直接连接符 246809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60" name="直接连接符 246810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9961" name="直接连接符 246811"/>
            <p:cNvSpPr/>
            <p:nvPr/>
          </p:nvSpPr>
          <p:spPr>
            <a:xfrm>
              <a:off x="528" y="1642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9962" name="组合 246812"/>
            <p:cNvGrpSpPr/>
            <p:nvPr/>
          </p:nvGrpSpPr>
          <p:grpSpPr>
            <a:xfrm flipH="1">
              <a:off x="2311" y="1280"/>
              <a:ext cx="69" cy="261"/>
              <a:chOff x="3454" y="2018"/>
              <a:chExt cx="96" cy="328"/>
            </a:xfrm>
          </p:grpSpPr>
          <p:sp>
            <p:nvSpPr>
              <p:cNvPr id="39963" name="直接连接符 246813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64" name="直接连接符 246814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9965" name="直接连接符 246815"/>
            <p:cNvSpPr/>
            <p:nvPr/>
          </p:nvSpPr>
          <p:spPr>
            <a:xfrm flipH="1" flipV="1">
              <a:off x="2376" y="1396"/>
              <a:ext cx="29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66" name="直接连接符 246816"/>
            <p:cNvSpPr/>
            <p:nvPr/>
          </p:nvSpPr>
          <p:spPr>
            <a:xfrm>
              <a:off x="1857" y="1403"/>
              <a:ext cx="45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67" name="文本框 246817"/>
            <p:cNvSpPr txBox="1"/>
            <p:nvPr/>
          </p:nvSpPr>
          <p:spPr>
            <a:xfrm>
              <a:off x="1463" y="894"/>
              <a:ext cx="35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9968" name="文本框 246818"/>
            <p:cNvSpPr txBox="1"/>
            <p:nvPr/>
          </p:nvSpPr>
          <p:spPr>
            <a:xfrm>
              <a:off x="738" y="1173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1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9969" name="文本框 246819"/>
            <p:cNvSpPr txBox="1"/>
            <p:nvPr/>
          </p:nvSpPr>
          <p:spPr>
            <a:xfrm>
              <a:off x="2188" y="950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2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grpSp>
          <p:nvGrpSpPr>
            <p:cNvPr id="39970" name="组合 246820"/>
            <p:cNvGrpSpPr/>
            <p:nvPr/>
          </p:nvGrpSpPr>
          <p:grpSpPr>
            <a:xfrm>
              <a:off x="1788" y="2718"/>
              <a:ext cx="146" cy="162"/>
              <a:chOff x="2898" y="3684"/>
              <a:chExt cx="204" cy="204"/>
            </a:xfrm>
          </p:grpSpPr>
          <p:sp>
            <p:nvSpPr>
              <p:cNvPr id="39971" name="直接连接符 246821"/>
              <p:cNvSpPr/>
              <p:nvPr/>
            </p:nvSpPr>
            <p:spPr>
              <a:xfrm>
                <a:off x="3000" y="3684"/>
                <a:ext cx="0" cy="2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72" name="直接连接符 246822"/>
              <p:cNvSpPr/>
              <p:nvPr/>
            </p:nvSpPr>
            <p:spPr>
              <a:xfrm>
                <a:off x="2898" y="3876"/>
                <a:ext cx="204" cy="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9973" name="椭圆 246823"/>
            <p:cNvSpPr/>
            <p:nvPr/>
          </p:nvSpPr>
          <p:spPr>
            <a:xfrm>
              <a:off x="1844" y="2689"/>
              <a:ext cx="33" cy="3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74" name="矩形 246824"/>
            <p:cNvSpPr/>
            <p:nvPr/>
          </p:nvSpPr>
          <p:spPr>
            <a:xfrm>
              <a:off x="1188" y="1991"/>
              <a:ext cx="95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75" name="文本框 246825"/>
            <p:cNvSpPr txBox="1"/>
            <p:nvPr/>
          </p:nvSpPr>
          <p:spPr>
            <a:xfrm>
              <a:off x="815" y="1950"/>
              <a:ext cx="4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B2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9976" name="矩形 246826"/>
            <p:cNvSpPr/>
            <p:nvPr/>
          </p:nvSpPr>
          <p:spPr>
            <a:xfrm>
              <a:off x="1814" y="2142"/>
              <a:ext cx="94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77" name="直接连接符 246827"/>
            <p:cNvSpPr/>
            <p:nvPr/>
          </p:nvSpPr>
          <p:spPr>
            <a:xfrm flipH="1">
              <a:off x="2658" y="1391"/>
              <a:ext cx="0" cy="5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78" name="矩形 246828"/>
            <p:cNvSpPr/>
            <p:nvPr/>
          </p:nvSpPr>
          <p:spPr>
            <a:xfrm>
              <a:off x="2611" y="1893"/>
              <a:ext cx="93" cy="32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79" name="直接连接符 246829"/>
            <p:cNvSpPr/>
            <p:nvPr/>
          </p:nvSpPr>
          <p:spPr>
            <a:xfrm>
              <a:off x="1861" y="1909"/>
              <a:ext cx="26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9980" name="组合 246830"/>
            <p:cNvGrpSpPr/>
            <p:nvPr/>
          </p:nvGrpSpPr>
          <p:grpSpPr>
            <a:xfrm>
              <a:off x="2033" y="2275"/>
              <a:ext cx="196" cy="76"/>
              <a:chOff x="2460" y="2076"/>
              <a:chExt cx="276" cy="96"/>
            </a:xfrm>
          </p:grpSpPr>
          <p:sp>
            <p:nvSpPr>
              <p:cNvPr id="39981" name="直接连接符 246831"/>
              <p:cNvSpPr/>
              <p:nvPr/>
            </p:nvSpPr>
            <p:spPr>
              <a:xfrm>
                <a:off x="2460" y="2076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82" name="直接连接符 246832"/>
              <p:cNvSpPr/>
              <p:nvPr/>
            </p:nvSpPr>
            <p:spPr>
              <a:xfrm>
                <a:off x="2460" y="2172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9983" name="直接连接符 246833"/>
            <p:cNvSpPr/>
            <p:nvPr/>
          </p:nvSpPr>
          <p:spPr>
            <a:xfrm>
              <a:off x="2127" y="1899"/>
              <a:ext cx="0" cy="3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84" name="直接连接符 246834"/>
            <p:cNvSpPr/>
            <p:nvPr/>
          </p:nvSpPr>
          <p:spPr>
            <a:xfrm>
              <a:off x="2127" y="2345"/>
              <a:ext cx="0" cy="37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85" name="文本框 246835"/>
            <p:cNvSpPr txBox="1"/>
            <p:nvPr/>
          </p:nvSpPr>
          <p:spPr>
            <a:xfrm>
              <a:off x="2178" y="2140"/>
              <a:ext cx="38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9986" name="文本框 246836"/>
            <p:cNvSpPr txBox="1"/>
            <p:nvPr/>
          </p:nvSpPr>
          <p:spPr>
            <a:xfrm>
              <a:off x="1486" y="2046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9987" name="文本框 246837"/>
            <p:cNvSpPr txBox="1"/>
            <p:nvPr/>
          </p:nvSpPr>
          <p:spPr>
            <a:xfrm>
              <a:off x="2276" y="1843"/>
              <a:ext cx="36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L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9988" name="直接连接符 246838"/>
            <p:cNvSpPr/>
            <p:nvPr/>
          </p:nvSpPr>
          <p:spPr>
            <a:xfrm>
              <a:off x="1352" y="748"/>
              <a:ext cx="0" cy="28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9989" name="文本框 246839"/>
            <p:cNvSpPr txBox="1"/>
            <p:nvPr/>
          </p:nvSpPr>
          <p:spPr>
            <a:xfrm>
              <a:off x="1352" y="686"/>
              <a:ext cx="31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9990" name="直接连接符 246840"/>
            <p:cNvSpPr/>
            <p:nvPr/>
          </p:nvSpPr>
          <p:spPr>
            <a:xfrm>
              <a:off x="1352" y="1699"/>
              <a:ext cx="0" cy="28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9991" name="文本框 246841"/>
            <p:cNvSpPr txBox="1"/>
            <p:nvPr/>
          </p:nvSpPr>
          <p:spPr>
            <a:xfrm>
              <a:off x="1352" y="1694"/>
              <a:ext cx="31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9992" name="直接连接符 246842"/>
            <p:cNvSpPr/>
            <p:nvPr/>
          </p:nvSpPr>
          <p:spPr>
            <a:xfrm>
              <a:off x="1524" y="1578"/>
              <a:ext cx="20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39993" name="文本框 246843"/>
            <p:cNvSpPr txBox="1"/>
            <p:nvPr/>
          </p:nvSpPr>
          <p:spPr>
            <a:xfrm>
              <a:off x="1465" y="1230"/>
              <a:ext cx="311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9994" name="矩形 246844"/>
            <p:cNvSpPr/>
            <p:nvPr/>
          </p:nvSpPr>
          <p:spPr>
            <a:xfrm>
              <a:off x="926" y="1372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9995" name="矩形 246845"/>
            <p:cNvSpPr/>
            <p:nvPr/>
          </p:nvSpPr>
          <p:spPr>
            <a:xfrm>
              <a:off x="2094" y="1135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9996" name="矩形 246846"/>
            <p:cNvSpPr/>
            <p:nvPr/>
          </p:nvSpPr>
          <p:spPr>
            <a:xfrm>
              <a:off x="2078" y="1996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9997" name="文本框 246847"/>
            <p:cNvSpPr txBox="1"/>
            <p:nvPr/>
          </p:nvSpPr>
          <p:spPr>
            <a:xfrm>
              <a:off x="2580" y="499"/>
              <a:ext cx="58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CC</a:t>
              </a:r>
              <a:endParaRPr lang="en-US" altLang="zh-CN" b="1" baseline="-25000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9998" name="文本框 246848"/>
            <p:cNvSpPr txBox="1"/>
            <p:nvPr/>
          </p:nvSpPr>
          <p:spPr>
            <a:xfrm>
              <a:off x="576" y="1995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i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39999" name="文本框 246849"/>
            <p:cNvSpPr txBox="1"/>
            <p:nvPr/>
          </p:nvSpPr>
          <p:spPr>
            <a:xfrm>
              <a:off x="2724" y="1854"/>
              <a:ext cx="34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o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0000" name="矩形 246850"/>
            <p:cNvSpPr/>
            <p:nvPr/>
          </p:nvSpPr>
          <p:spPr>
            <a:xfrm>
              <a:off x="2784" y="1509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0001" name="矩形 246851"/>
            <p:cNvSpPr/>
            <p:nvPr/>
          </p:nvSpPr>
          <p:spPr>
            <a:xfrm>
              <a:off x="624" y="1632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0002" name="矩形 246852"/>
            <p:cNvSpPr/>
            <p:nvPr/>
          </p:nvSpPr>
          <p:spPr>
            <a:xfrm>
              <a:off x="2785" y="2254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0003" name="矩形 246853"/>
            <p:cNvSpPr/>
            <p:nvPr/>
          </p:nvSpPr>
          <p:spPr>
            <a:xfrm>
              <a:off x="624" y="2457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0004" name="矩形 246854"/>
            <p:cNvSpPr/>
            <p:nvPr/>
          </p:nvSpPr>
          <p:spPr>
            <a:xfrm>
              <a:off x="1984" y="674"/>
              <a:ext cx="29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0005" name="直接连接符 246855"/>
            <p:cNvSpPr/>
            <p:nvPr/>
          </p:nvSpPr>
          <p:spPr>
            <a:xfrm>
              <a:off x="1986" y="729"/>
              <a:ext cx="0" cy="279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0006" name="直接连接符 246856"/>
            <p:cNvSpPr/>
            <p:nvPr/>
          </p:nvSpPr>
          <p:spPr>
            <a:xfrm>
              <a:off x="2658" y="2229"/>
              <a:ext cx="0" cy="4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007" name="直接连接符 246857"/>
            <p:cNvSpPr/>
            <p:nvPr/>
          </p:nvSpPr>
          <p:spPr>
            <a:xfrm>
              <a:off x="1230" y="2325"/>
              <a:ext cx="0" cy="384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008" name="矩形 246858"/>
            <p:cNvSpPr/>
            <p:nvPr/>
          </p:nvSpPr>
          <p:spPr>
            <a:xfrm>
              <a:off x="480" y="1835"/>
              <a:ext cx="95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009" name="椭圆 246859"/>
            <p:cNvSpPr/>
            <p:nvPr/>
          </p:nvSpPr>
          <p:spPr>
            <a:xfrm>
              <a:off x="432" y="2352"/>
              <a:ext cx="192" cy="19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010" name="直接连接符 246860"/>
            <p:cNvSpPr/>
            <p:nvPr/>
          </p:nvSpPr>
          <p:spPr>
            <a:xfrm flipV="1">
              <a:off x="528" y="1632"/>
              <a:ext cx="0" cy="2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011" name="直接连接符 246861"/>
            <p:cNvSpPr/>
            <p:nvPr/>
          </p:nvSpPr>
          <p:spPr>
            <a:xfrm>
              <a:off x="528" y="2160"/>
              <a:ext cx="0" cy="5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012" name="文本框 246862"/>
            <p:cNvSpPr txBox="1"/>
            <p:nvPr/>
          </p:nvSpPr>
          <p:spPr>
            <a:xfrm>
              <a:off x="151" y="1776"/>
              <a:ext cx="33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S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0013" name="文本框 246863"/>
            <p:cNvSpPr txBox="1"/>
            <p:nvPr/>
          </p:nvSpPr>
          <p:spPr>
            <a:xfrm>
              <a:off x="96" y="2256"/>
              <a:ext cx="40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S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0014" name="矩形 246864"/>
            <p:cNvSpPr/>
            <p:nvPr/>
          </p:nvSpPr>
          <p:spPr>
            <a:xfrm>
              <a:off x="286" y="2121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0015" name="矩形 246865"/>
            <p:cNvSpPr/>
            <p:nvPr/>
          </p:nvSpPr>
          <p:spPr>
            <a:xfrm>
              <a:off x="279" y="2448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0016" name="椭圆 246866"/>
            <p:cNvSpPr/>
            <p:nvPr/>
          </p:nvSpPr>
          <p:spPr>
            <a:xfrm>
              <a:off x="1204" y="1615"/>
              <a:ext cx="50" cy="50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46868" name="组合 246867"/>
          <p:cNvGrpSpPr/>
          <p:nvPr/>
        </p:nvGrpSpPr>
        <p:grpSpPr>
          <a:xfrm>
            <a:off x="1111250" y="4875213"/>
            <a:ext cx="628650" cy="534987"/>
            <a:chOff x="552" y="3204"/>
            <a:chExt cx="396" cy="337"/>
          </a:xfrm>
        </p:grpSpPr>
        <p:sp>
          <p:nvSpPr>
            <p:cNvPr id="40018" name="文本框 246868"/>
            <p:cNvSpPr txBox="1"/>
            <p:nvPr/>
          </p:nvSpPr>
          <p:spPr>
            <a:xfrm>
              <a:off x="552" y="3214"/>
              <a:ext cx="39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</a:t>
              </a:r>
              <a:endPara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0019" name="直接连接符 246869"/>
            <p:cNvSpPr/>
            <p:nvPr/>
          </p:nvSpPr>
          <p:spPr>
            <a:xfrm flipV="1">
              <a:off x="948" y="3204"/>
              <a:ext cx="0" cy="30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46871" name="直接连接符 246870"/>
          <p:cNvSpPr/>
          <p:nvPr/>
        </p:nvSpPr>
        <p:spPr>
          <a:xfrm>
            <a:off x="3359150" y="5141913"/>
            <a:ext cx="742950" cy="0"/>
          </a:xfrm>
          <a:prstGeom prst="line">
            <a:avLst/>
          </a:prstGeom>
          <a:ln w="38100" cap="flat" cmpd="sng">
            <a:solidFill>
              <a:srgbClr val="0066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46872" name="直接连接符 246871"/>
          <p:cNvSpPr/>
          <p:nvPr/>
        </p:nvSpPr>
        <p:spPr>
          <a:xfrm>
            <a:off x="5168900" y="5135563"/>
            <a:ext cx="952500" cy="0"/>
          </a:xfrm>
          <a:prstGeom prst="line">
            <a:avLst/>
          </a:prstGeom>
          <a:ln w="38100" cap="flat" cmpd="sng">
            <a:solidFill>
              <a:srgbClr val="006600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246873" name="组合 246872"/>
          <p:cNvGrpSpPr/>
          <p:nvPr/>
        </p:nvGrpSpPr>
        <p:grpSpPr>
          <a:xfrm>
            <a:off x="6216650" y="4824413"/>
            <a:ext cx="1162050" cy="527050"/>
            <a:chOff x="3768" y="3172"/>
            <a:chExt cx="732" cy="332"/>
          </a:xfrm>
        </p:grpSpPr>
        <p:sp>
          <p:nvSpPr>
            <p:cNvPr id="40023" name="文本框 246873"/>
            <p:cNvSpPr txBox="1"/>
            <p:nvPr/>
          </p:nvSpPr>
          <p:spPr>
            <a:xfrm>
              <a:off x="3768" y="3172"/>
              <a:ext cx="73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en-US" altLang="zh-CN" b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0024" name="直接连接符 246874"/>
            <p:cNvSpPr/>
            <p:nvPr/>
          </p:nvSpPr>
          <p:spPr>
            <a:xfrm>
              <a:off x="4344" y="3204"/>
              <a:ext cx="0" cy="30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46876" name="直接连接符 246875"/>
          <p:cNvSpPr/>
          <p:nvPr/>
        </p:nvSpPr>
        <p:spPr>
          <a:xfrm>
            <a:off x="1911350" y="5160963"/>
            <a:ext cx="552450" cy="0"/>
          </a:xfrm>
          <a:prstGeom prst="line">
            <a:avLst/>
          </a:prstGeom>
          <a:ln w="38100" cap="flat" cmpd="sng">
            <a:solidFill>
              <a:srgbClr val="006600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246877" name="组合 246876"/>
          <p:cNvGrpSpPr/>
          <p:nvPr/>
        </p:nvGrpSpPr>
        <p:grpSpPr>
          <a:xfrm>
            <a:off x="4330700" y="5576888"/>
            <a:ext cx="838200" cy="519112"/>
            <a:chOff x="2436" y="3646"/>
            <a:chExt cx="528" cy="327"/>
          </a:xfrm>
        </p:grpSpPr>
        <p:sp>
          <p:nvSpPr>
            <p:cNvPr id="40027" name="直接连接符 246877"/>
            <p:cNvSpPr/>
            <p:nvPr/>
          </p:nvSpPr>
          <p:spPr>
            <a:xfrm>
              <a:off x="2796" y="3648"/>
              <a:ext cx="0" cy="30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028" name="文本框 246878"/>
            <p:cNvSpPr txBox="1"/>
            <p:nvPr/>
          </p:nvSpPr>
          <p:spPr>
            <a:xfrm>
              <a:off x="2436" y="3646"/>
              <a:ext cx="5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b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246880" name="组合 246879"/>
          <p:cNvGrpSpPr/>
          <p:nvPr/>
        </p:nvGrpSpPr>
        <p:grpSpPr>
          <a:xfrm>
            <a:off x="5168900" y="5122863"/>
            <a:ext cx="2832100" cy="704850"/>
            <a:chOff x="3024" y="3360"/>
            <a:chExt cx="1908" cy="444"/>
          </a:xfrm>
        </p:grpSpPr>
        <p:sp>
          <p:nvSpPr>
            <p:cNvPr id="40030" name="直接连接符 246880"/>
            <p:cNvSpPr/>
            <p:nvPr/>
          </p:nvSpPr>
          <p:spPr>
            <a:xfrm>
              <a:off x="4572" y="3360"/>
              <a:ext cx="360" cy="0"/>
            </a:xfrm>
            <a:prstGeom prst="line">
              <a:avLst/>
            </a:prstGeom>
            <a:ln w="38100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031" name="直接连接符 246881"/>
            <p:cNvSpPr/>
            <p:nvPr/>
          </p:nvSpPr>
          <p:spPr>
            <a:xfrm>
              <a:off x="4920" y="3360"/>
              <a:ext cx="0" cy="444"/>
            </a:xfrm>
            <a:prstGeom prst="line">
              <a:avLst/>
            </a:prstGeom>
            <a:ln w="38100" cap="flat" cmpd="sng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032" name="直接连接符 246882"/>
            <p:cNvSpPr/>
            <p:nvPr/>
          </p:nvSpPr>
          <p:spPr>
            <a:xfrm flipH="1">
              <a:off x="3024" y="3792"/>
              <a:ext cx="1884" cy="0"/>
            </a:xfrm>
            <a:prstGeom prst="line">
              <a:avLst/>
            </a:prstGeom>
            <a:ln w="38100" cap="flat" cmpd="sng">
              <a:solidFill>
                <a:srgbClr val="0066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46884" name="组合 246883"/>
          <p:cNvGrpSpPr/>
          <p:nvPr/>
        </p:nvGrpSpPr>
        <p:grpSpPr>
          <a:xfrm>
            <a:off x="2501900" y="4852988"/>
            <a:ext cx="838200" cy="519112"/>
            <a:chOff x="1428" y="3190"/>
            <a:chExt cx="528" cy="327"/>
          </a:xfrm>
        </p:grpSpPr>
        <p:sp>
          <p:nvSpPr>
            <p:cNvPr id="40034" name="直接连接符 246884"/>
            <p:cNvSpPr/>
            <p:nvPr/>
          </p:nvSpPr>
          <p:spPr>
            <a:xfrm flipV="1">
              <a:off x="1788" y="3192"/>
              <a:ext cx="0" cy="30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035" name="文本框 246885"/>
            <p:cNvSpPr txBox="1"/>
            <p:nvPr/>
          </p:nvSpPr>
          <p:spPr>
            <a:xfrm>
              <a:off x="1428" y="3190"/>
              <a:ext cx="5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246887" name="组合 246886"/>
          <p:cNvGrpSpPr/>
          <p:nvPr/>
        </p:nvGrpSpPr>
        <p:grpSpPr>
          <a:xfrm>
            <a:off x="4025900" y="4852988"/>
            <a:ext cx="1009650" cy="519112"/>
            <a:chOff x="2388" y="3190"/>
            <a:chExt cx="636" cy="327"/>
          </a:xfrm>
        </p:grpSpPr>
        <p:sp>
          <p:nvSpPr>
            <p:cNvPr id="40037" name="文本框 246887"/>
            <p:cNvSpPr txBox="1"/>
            <p:nvPr/>
          </p:nvSpPr>
          <p:spPr>
            <a:xfrm>
              <a:off x="2388" y="3190"/>
              <a:ext cx="63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en-US" altLang="zh-CN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b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0038" name="直接连接符 246888"/>
            <p:cNvSpPr/>
            <p:nvPr/>
          </p:nvSpPr>
          <p:spPr>
            <a:xfrm flipV="1">
              <a:off x="2952" y="3216"/>
              <a:ext cx="0" cy="30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46890" name="直接连接符 246889"/>
          <p:cNvSpPr/>
          <p:nvPr/>
        </p:nvSpPr>
        <p:spPr>
          <a:xfrm flipH="1">
            <a:off x="3359150" y="5827713"/>
            <a:ext cx="666750" cy="0"/>
          </a:xfrm>
          <a:prstGeom prst="line">
            <a:avLst/>
          </a:prstGeom>
          <a:ln w="38100" cap="flat" cmpd="sng">
            <a:solidFill>
              <a:srgbClr val="006600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246891" name="组合 246890"/>
          <p:cNvGrpSpPr/>
          <p:nvPr/>
        </p:nvGrpSpPr>
        <p:grpSpPr>
          <a:xfrm>
            <a:off x="2501900" y="5557838"/>
            <a:ext cx="838200" cy="519112"/>
            <a:chOff x="1428" y="3634"/>
            <a:chExt cx="528" cy="327"/>
          </a:xfrm>
        </p:grpSpPr>
        <p:sp>
          <p:nvSpPr>
            <p:cNvPr id="40041" name="直接连接符 246891"/>
            <p:cNvSpPr/>
            <p:nvPr/>
          </p:nvSpPr>
          <p:spPr>
            <a:xfrm>
              <a:off x="1788" y="3636"/>
              <a:ext cx="0" cy="30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042" name="文本框 246892"/>
            <p:cNvSpPr txBox="1"/>
            <p:nvPr/>
          </p:nvSpPr>
          <p:spPr>
            <a:xfrm>
              <a:off x="1428" y="3634"/>
              <a:ext cx="5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246894" name="文本框 246893"/>
          <p:cNvSpPr txBox="1"/>
          <p:nvPr/>
        </p:nvSpPr>
        <p:spPr>
          <a:xfrm>
            <a:off x="4883150" y="4573588"/>
            <a:ext cx="1524000" cy="519112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b="1" baseline="-250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固定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6895" name="文本框 246894"/>
          <p:cNvSpPr txBox="1"/>
          <p:nvPr/>
        </p:nvSpPr>
        <p:spPr>
          <a:xfrm>
            <a:off x="4995863" y="869950"/>
            <a:ext cx="3919538" cy="316865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lnSpc>
                <a:spcPct val="120000"/>
              </a:lnSpc>
            </a:pPr>
            <a:r>
              <a:rPr lang="en-US" altLang="zh-CN" sz="2800" b="1" noProof="1"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 </a:t>
            </a:r>
            <a:r>
              <a:rPr lang="en-US" altLang="zh-CN" sz="2800" b="1" i="1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R</a:t>
            </a:r>
            <a:r>
              <a:rPr lang="en-US" altLang="zh-CN" b="1" baseline="-2500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E</a:t>
            </a:r>
            <a:r>
              <a:rPr lang="zh-CN" altLang="en-US" sz="2800" b="1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：</a:t>
            </a:r>
            <a:r>
              <a:rPr lang="zh-CN" altLang="en-US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温度补偿电阻</a:t>
            </a:r>
            <a:endParaRPr lang="zh-CN" altLang="en-US" sz="2800" b="1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noProof="1" dirty="0">
                <a:solidFill>
                  <a:srgbClr val="0066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 </a:t>
            </a:r>
            <a:r>
              <a:rPr lang="zh-CN" altLang="en-US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对直流：</a:t>
            </a:r>
            <a:r>
              <a:rPr lang="en-US" altLang="zh-CN" sz="2800" b="1" i="1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R</a:t>
            </a:r>
            <a:r>
              <a:rPr lang="en-US" altLang="zh-CN" b="1" baseline="-25000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E</a:t>
            </a:r>
            <a:r>
              <a:rPr lang="zh-CN" altLang="en-US" sz="2800" b="1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越大</a:t>
            </a:r>
            <a:r>
              <a:rPr lang="en-US" altLang="zh-CN" sz="2800" b="1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,</a:t>
            </a:r>
            <a:r>
              <a:rPr lang="zh-CN" altLang="en-US" sz="2800" b="1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稳定</a:t>
            </a:r>
            <a:r>
              <a:rPr lang="en-US" altLang="zh-CN" sz="2800" b="1" i="1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Q</a:t>
            </a:r>
            <a:r>
              <a:rPr lang="zh-CN" altLang="en-US" sz="2800" b="1" noProof="1" dirty="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点</a:t>
            </a:r>
            <a:r>
              <a:rPr lang="zh-CN" altLang="en-US" sz="2800" b="1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效果越好；</a:t>
            </a:r>
            <a:endParaRPr lang="zh-CN" altLang="en-US" sz="2800" b="1" noProof="1" dirty="0">
              <a:effectLst>
                <a:outerShdw blurRad="38100" dist="38100" dir="2700000">
                  <a:srgbClr val="FFFF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noProof="1" dirty="0">
                <a:solidFill>
                  <a:srgbClr val="006666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 </a:t>
            </a:r>
            <a:r>
              <a:rPr lang="zh-CN" altLang="en-US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对交流：</a:t>
            </a:r>
            <a:r>
              <a:rPr lang="en-US" altLang="zh-CN" sz="2800" b="1" i="1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R</a:t>
            </a:r>
            <a:r>
              <a:rPr lang="en-US" altLang="zh-CN" b="1" baseline="-25000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E</a:t>
            </a:r>
            <a:r>
              <a:rPr lang="zh-CN" altLang="en-US" sz="2800" b="1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越大</a:t>
            </a:r>
            <a:r>
              <a:rPr lang="en-US" altLang="zh-CN" sz="2800" b="1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,</a:t>
            </a:r>
            <a:r>
              <a:rPr lang="zh-CN" altLang="en-US" sz="2800" b="1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交流损失越大</a:t>
            </a:r>
            <a:r>
              <a:rPr lang="en-US" altLang="zh-CN" sz="2800" b="1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,</a:t>
            </a:r>
            <a:r>
              <a:rPr lang="zh-CN" altLang="en-US" sz="2800" b="1" noProof="1" dirty="0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为避免交流损失加旁路电容</a:t>
            </a:r>
            <a:r>
              <a:rPr lang="en-US" altLang="zh-CN" sz="2800" b="1" i="1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C</a:t>
            </a:r>
            <a:r>
              <a:rPr lang="en-US" altLang="zh-CN" b="1" baseline="-25000" noProof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E</a:t>
            </a:r>
            <a:r>
              <a:rPr lang="zh-CN" altLang="en-US" sz="2800" b="1" i="1" noProof="1">
                <a:effectLst>
                  <a:outerShdw blurRad="38100" dist="38100" dir="2700000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。</a:t>
            </a:r>
            <a:endParaRPr lang="zh-CN" altLang="en-US" sz="2800" b="1" i="1" noProof="1">
              <a:effectLst>
                <a:outerShdw blurRad="38100" dist="38100" dir="2700000">
                  <a:srgbClr val="FFFF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6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4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4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46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6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9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689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95">
                                            <p:txEl>
                                              <p:charRg st="12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6895">
                                            <p:txEl>
                                              <p:charRg st="12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95">
                                            <p:txEl>
                                              <p:charRg st="33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6895">
                                            <p:txEl>
                                              <p:charRg st="33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894" grpId="0"/>
      <p:bldP spid="24689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503" name="标题 103502"/>
          <p:cNvSpPr/>
          <p:nvPr>
            <p:ph type="title"/>
          </p:nvPr>
        </p:nvSpPr>
        <p:spPr>
          <a:xfrm>
            <a:off x="457200" y="533400"/>
            <a:ext cx="4572000" cy="685800"/>
          </a:xfrm>
          <a:noFill/>
          <a:ln>
            <a:noFill/>
          </a:ln>
        </p:spPr>
        <p:txBody>
          <a:bodyPr/>
          <a:p>
            <a:pPr algn="l" fontAlgn="base"/>
            <a:r>
              <a:rPr lang="en-US" altLang="zh-CN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2.  </a:t>
            </a:r>
            <a:r>
              <a:rPr lang="zh-CN" altLang="en-US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静态工作点的计算</a:t>
            </a:r>
            <a:endParaRPr lang="zh-CN" altLang="en-US" sz="2800" b="1" strike="noStrike" noProof="1" dirty="0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103508" name="文本框 103507"/>
          <p:cNvSpPr txBox="1"/>
          <p:nvPr/>
        </p:nvSpPr>
        <p:spPr>
          <a:xfrm>
            <a:off x="5105400" y="852488"/>
            <a:ext cx="1431925" cy="519113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估算法</a:t>
            </a:r>
            <a:r>
              <a:rPr lang="en-US" altLang="zh-CN" sz="2800" b="1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:</a:t>
            </a:r>
            <a:endParaRPr lang="en-US" altLang="zh-CN" sz="2800" b="1" noProof="1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963" name="文本框 103514"/>
          <p:cNvSpPr txBox="1"/>
          <p:nvPr/>
        </p:nvSpPr>
        <p:spPr>
          <a:xfrm>
            <a:off x="1828800" y="2819400"/>
            <a:ext cx="669925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b="1" baseline="-250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endParaRPr lang="en-US" altLang="zh-CN" b="1" baseline="-25000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40964" name="组合 103515"/>
          <p:cNvGrpSpPr/>
          <p:nvPr/>
        </p:nvGrpSpPr>
        <p:grpSpPr>
          <a:xfrm>
            <a:off x="152400" y="1524000"/>
            <a:ext cx="4876800" cy="3779838"/>
            <a:chOff x="96" y="499"/>
            <a:chExt cx="3072" cy="2381"/>
          </a:xfrm>
        </p:grpSpPr>
        <p:sp>
          <p:nvSpPr>
            <p:cNvPr id="40965" name="直接连接符 103516"/>
            <p:cNvSpPr/>
            <p:nvPr/>
          </p:nvSpPr>
          <p:spPr>
            <a:xfrm flipH="1">
              <a:off x="1230" y="1603"/>
              <a:ext cx="0" cy="38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66" name="文本框 103517"/>
            <p:cNvSpPr txBox="1"/>
            <p:nvPr/>
          </p:nvSpPr>
          <p:spPr>
            <a:xfrm>
              <a:off x="788" y="830"/>
              <a:ext cx="4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B1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0967" name="直接连接符 103518"/>
            <p:cNvSpPr/>
            <p:nvPr/>
          </p:nvSpPr>
          <p:spPr>
            <a:xfrm>
              <a:off x="1232" y="1233"/>
              <a:ext cx="0" cy="4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68" name="直接连接符 103519"/>
            <p:cNvSpPr/>
            <p:nvPr/>
          </p:nvSpPr>
          <p:spPr>
            <a:xfrm flipH="1" flipV="1">
              <a:off x="1236" y="665"/>
              <a:ext cx="0" cy="2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69" name="矩形 103520"/>
            <p:cNvSpPr/>
            <p:nvPr/>
          </p:nvSpPr>
          <p:spPr>
            <a:xfrm>
              <a:off x="1188" y="910"/>
              <a:ext cx="95" cy="32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0" name="直接连接符 103521"/>
            <p:cNvSpPr/>
            <p:nvPr/>
          </p:nvSpPr>
          <p:spPr>
            <a:xfrm>
              <a:off x="1236" y="675"/>
              <a:ext cx="129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71" name="直接连接符 103522"/>
            <p:cNvSpPr/>
            <p:nvPr/>
          </p:nvSpPr>
          <p:spPr>
            <a:xfrm flipV="1">
              <a:off x="1857" y="679"/>
              <a:ext cx="0" cy="2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0972" name="直接连接符 103523"/>
            <p:cNvSpPr/>
            <p:nvPr/>
          </p:nvSpPr>
          <p:spPr>
            <a:xfrm>
              <a:off x="1728" y="1509"/>
              <a:ext cx="0" cy="2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0973" name="直接连接符 103524"/>
            <p:cNvSpPr/>
            <p:nvPr/>
          </p:nvSpPr>
          <p:spPr>
            <a:xfrm>
              <a:off x="1728" y="1695"/>
              <a:ext cx="141" cy="1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lg"/>
            </a:ln>
          </p:spPr>
        </p:sp>
        <p:sp>
          <p:nvSpPr>
            <p:cNvPr id="40974" name="直接连接符 103525"/>
            <p:cNvSpPr/>
            <p:nvPr/>
          </p:nvSpPr>
          <p:spPr>
            <a:xfrm flipV="1">
              <a:off x="1728" y="1459"/>
              <a:ext cx="141" cy="12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0975" name="直接连接符 103526"/>
            <p:cNvSpPr/>
            <p:nvPr/>
          </p:nvSpPr>
          <p:spPr>
            <a:xfrm>
              <a:off x="1860" y="1209"/>
              <a:ext cx="0" cy="26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0976" name="直接连接符 103527"/>
            <p:cNvSpPr/>
            <p:nvPr/>
          </p:nvSpPr>
          <p:spPr>
            <a:xfrm flipH="1">
              <a:off x="1861" y="1830"/>
              <a:ext cx="0" cy="30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0977" name="直接连接符 103528"/>
            <p:cNvSpPr/>
            <p:nvPr/>
          </p:nvSpPr>
          <p:spPr>
            <a:xfrm>
              <a:off x="959" y="1642"/>
              <a:ext cx="77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0978" name="直接连接符 103529"/>
            <p:cNvSpPr/>
            <p:nvPr/>
          </p:nvSpPr>
          <p:spPr>
            <a:xfrm>
              <a:off x="528" y="2710"/>
              <a:ext cx="214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0979" name="直接连接符 103530"/>
            <p:cNvSpPr/>
            <p:nvPr/>
          </p:nvSpPr>
          <p:spPr>
            <a:xfrm flipH="1">
              <a:off x="1862" y="2454"/>
              <a:ext cx="0" cy="34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0980" name="矩形 103531"/>
            <p:cNvSpPr/>
            <p:nvPr/>
          </p:nvSpPr>
          <p:spPr>
            <a:xfrm>
              <a:off x="1814" y="883"/>
              <a:ext cx="94" cy="32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81" name="椭圆 103532"/>
            <p:cNvSpPr/>
            <p:nvPr/>
          </p:nvSpPr>
          <p:spPr>
            <a:xfrm>
              <a:off x="2518" y="633"/>
              <a:ext cx="68" cy="7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0982" name="组合 103533"/>
            <p:cNvGrpSpPr/>
            <p:nvPr/>
          </p:nvGrpSpPr>
          <p:grpSpPr>
            <a:xfrm>
              <a:off x="896" y="1519"/>
              <a:ext cx="68" cy="262"/>
              <a:chOff x="3454" y="2018"/>
              <a:chExt cx="96" cy="328"/>
            </a:xfrm>
          </p:grpSpPr>
          <p:sp>
            <p:nvSpPr>
              <p:cNvPr id="40983" name="直接连接符 103534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84" name="直接连接符 103535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0985" name="直接连接符 103536"/>
            <p:cNvSpPr/>
            <p:nvPr/>
          </p:nvSpPr>
          <p:spPr>
            <a:xfrm>
              <a:off x="528" y="1642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0986" name="组合 103537"/>
            <p:cNvGrpSpPr/>
            <p:nvPr/>
          </p:nvGrpSpPr>
          <p:grpSpPr>
            <a:xfrm flipH="1">
              <a:off x="2311" y="1280"/>
              <a:ext cx="69" cy="261"/>
              <a:chOff x="3454" y="2018"/>
              <a:chExt cx="96" cy="328"/>
            </a:xfrm>
          </p:grpSpPr>
          <p:sp>
            <p:nvSpPr>
              <p:cNvPr id="40987" name="直接连接符 103538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88" name="直接连接符 103539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0989" name="直接连接符 103540"/>
            <p:cNvSpPr/>
            <p:nvPr/>
          </p:nvSpPr>
          <p:spPr>
            <a:xfrm flipH="1" flipV="1">
              <a:off x="2376" y="1396"/>
              <a:ext cx="29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90" name="直接连接符 103541"/>
            <p:cNvSpPr/>
            <p:nvPr/>
          </p:nvSpPr>
          <p:spPr>
            <a:xfrm>
              <a:off x="1857" y="1403"/>
              <a:ext cx="45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91" name="文本框 103542"/>
            <p:cNvSpPr txBox="1"/>
            <p:nvPr/>
          </p:nvSpPr>
          <p:spPr>
            <a:xfrm>
              <a:off x="1463" y="894"/>
              <a:ext cx="35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0992" name="文本框 103543"/>
            <p:cNvSpPr txBox="1"/>
            <p:nvPr/>
          </p:nvSpPr>
          <p:spPr>
            <a:xfrm>
              <a:off x="738" y="1173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1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0993" name="文本框 103544"/>
            <p:cNvSpPr txBox="1"/>
            <p:nvPr/>
          </p:nvSpPr>
          <p:spPr>
            <a:xfrm>
              <a:off x="2188" y="950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2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grpSp>
          <p:nvGrpSpPr>
            <p:cNvPr id="40994" name="组合 103545"/>
            <p:cNvGrpSpPr/>
            <p:nvPr/>
          </p:nvGrpSpPr>
          <p:grpSpPr>
            <a:xfrm>
              <a:off x="1788" y="2718"/>
              <a:ext cx="146" cy="162"/>
              <a:chOff x="2898" y="3684"/>
              <a:chExt cx="204" cy="204"/>
            </a:xfrm>
          </p:grpSpPr>
          <p:sp>
            <p:nvSpPr>
              <p:cNvPr id="40995" name="直接连接符 103546"/>
              <p:cNvSpPr/>
              <p:nvPr/>
            </p:nvSpPr>
            <p:spPr>
              <a:xfrm>
                <a:off x="3000" y="3684"/>
                <a:ext cx="0" cy="2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0996" name="直接连接符 103547"/>
              <p:cNvSpPr/>
              <p:nvPr/>
            </p:nvSpPr>
            <p:spPr>
              <a:xfrm>
                <a:off x="2898" y="3876"/>
                <a:ext cx="204" cy="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0997" name="椭圆 103548"/>
            <p:cNvSpPr/>
            <p:nvPr/>
          </p:nvSpPr>
          <p:spPr>
            <a:xfrm>
              <a:off x="1844" y="2689"/>
              <a:ext cx="33" cy="3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98" name="矩形 103549"/>
            <p:cNvSpPr/>
            <p:nvPr/>
          </p:nvSpPr>
          <p:spPr>
            <a:xfrm>
              <a:off x="1188" y="1991"/>
              <a:ext cx="95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99" name="文本框 103550"/>
            <p:cNvSpPr txBox="1"/>
            <p:nvPr/>
          </p:nvSpPr>
          <p:spPr>
            <a:xfrm>
              <a:off x="815" y="1950"/>
              <a:ext cx="4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B2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00" name="矩形 103551"/>
            <p:cNvSpPr/>
            <p:nvPr/>
          </p:nvSpPr>
          <p:spPr>
            <a:xfrm>
              <a:off x="1814" y="2142"/>
              <a:ext cx="94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01" name="直接连接符 103552"/>
            <p:cNvSpPr/>
            <p:nvPr/>
          </p:nvSpPr>
          <p:spPr>
            <a:xfrm flipH="1">
              <a:off x="2658" y="1391"/>
              <a:ext cx="0" cy="5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02" name="矩形 103553"/>
            <p:cNvSpPr/>
            <p:nvPr/>
          </p:nvSpPr>
          <p:spPr>
            <a:xfrm>
              <a:off x="2611" y="1893"/>
              <a:ext cx="93" cy="32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03" name="直接连接符 103554"/>
            <p:cNvSpPr/>
            <p:nvPr/>
          </p:nvSpPr>
          <p:spPr>
            <a:xfrm>
              <a:off x="1861" y="1909"/>
              <a:ext cx="26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1004" name="组合 103555"/>
            <p:cNvGrpSpPr/>
            <p:nvPr/>
          </p:nvGrpSpPr>
          <p:grpSpPr>
            <a:xfrm>
              <a:off x="2033" y="2275"/>
              <a:ext cx="196" cy="76"/>
              <a:chOff x="2460" y="2076"/>
              <a:chExt cx="276" cy="96"/>
            </a:xfrm>
          </p:grpSpPr>
          <p:sp>
            <p:nvSpPr>
              <p:cNvPr id="41005" name="直接连接符 103556"/>
              <p:cNvSpPr/>
              <p:nvPr/>
            </p:nvSpPr>
            <p:spPr>
              <a:xfrm>
                <a:off x="2460" y="2076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1006" name="直接连接符 103557"/>
              <p:cNvSpPr/>
              <p:nvPr/>
            </p:nvSpPr>
            <p:spPr>
              <a:xfrm>
                <a:off x="2460" y="2172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1007" name="直接连接符 103558"/>
            <p:cNvSpPr/>
            <p:nvPr/>
          </p:nvSpPr>
          <p:spPr>
            <a:xfrm>
              <a:off x="2127" y="1899"/>
              <a:ext cx="0" cy="3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08" name="直接连接符 103559"/>
            <p:cNvSpPr/>
            <p:nvPr/>
          </p:nvSpPr>
          <p:spPr>
            <a:xfrm>
              <a:off x="2127" y="2345"/>
              <a:ext cx="0" cy="37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09" name="文本框 103560"/>
            <p:cNvSpPr txBox="1"/>
            <p:nvPr/>
          </p:nvSpPr>
          <p:spPr>
            <a:xfrm>
              <a:off x="2178" y="2140"/>
              <a:ext cx="38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10" name="文本框 103561"/>
            <p:cNvSpPr txBox="1"/>
            <p:nvPr/>
          </p:nvSpPr>
          <p:spPr>
            <a:xfrm>
              <a:off x="1486" y="2046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11" name="文本框 103562"/>
            <p:cNvSpPr txBox="1"/>
            <p:nvPr/>
          </p:nvSpPr>
          <p:spPr>
            <a:xfrm>
              <a:off x="2276" y="1843"/>
              <a:ext cx="36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L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12" name="直接连接符 103563"/>
            <p:cNvSpPr/>
            <p:nvPr/>
          </p:nvSpPr>
          <p:spPr>
            <a:xfrm>
              <a:off x="1352" y="748"/>
              <a:ext cx="0" cy="28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1013" name="文本框 103564"/>
            <p:cNvSpPr txBox="1"/>
            <p:nvPr/>
          </p:nvSpPr>
          <p:spPr>
            <a:xfrm>
              <a:off x="1352" y="686"/>
              <a:ext cx="31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014" name="直接连接符 103565"/>
            <p:cNvSpPr/>
            <p:nvPr/>
          </p:nvSpPr>
          <p:spPr>
            <a:xfrm>
              <a:off x="1352" y="1699"/>
              <a:ext cx="0" cy="28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1015" name="文本框 103566"/>
            <p:cNvSpPr txBox="1"/>
            <p:nvPr/>
          </p:nvSpPr>
          <p:spPr>
            <a:xfrm>
              <a:off x="1352" y="1694"/>
              <a:ext cx="31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016" name="直接连接符 103567"/>
            <p:cNvSpPr/>
            <p:nvPr/>
          </p:nvSpPr>
          <p:spPr>
            <a:xfrm>
              <a:off x="1524" y="1578"/>
              <a:ext cx="20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1017" name="文本框 103568"/>
            <p:cNvSpPr txBox="1"/>
            <p:nvPr/>
          </p:nvSpPr>
          <p:spPr>
            <a:xfrm>
              <a:off x="1465" y="1230"/>
              <a:ext cx="311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/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018" name="矩形 103569"/>
            <p:cNvSpPr/>
            <p:nvPr/>
          </p:nvSpPr>
          <p:spPr>
            <a:xfrm>
              <a:off x="926" y="1372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19" name="矩形 103570"/>
            <p:cNvSpPr/>
            <p:nvPr/>
          </p:nvSpPr>
          <p:spPr>
            <a:xfrm>
              <a:off x="2094" y="1135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20" name="矩形 103571"/>
            <p:cNvSpPr/>
            <p:nvPr/>
          </p:nvSpPr>
          <p:spPr>
            <a:xfrm>
              <a:off x="2078" y="1996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21" name="文本框 103572"/>
            <p:cNvSpPr txBox="1"/>
            <p:nvPr/>
          </p:nvSpPr>
          <p:spPr>
            <a:xfrm>
              <a:off x="2580" y="499"/>
              <a:ext cx="58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CC</a:t>
              </a:r>
              <a:endParaRPr lang="en-US" altLang="zh-CN" b="1" baseline="-25000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22" name="文本框 103573"/>
            <p:cNvSpPr txBox="1"/>
            <p:nvPr/>
          </p:nvSpPr>
          <p:spPr>
            <a:xfrm>
              <a:off x="576" y="1995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i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23" name="文本框 103574"/>
            <p:cNvSpPr txBox="1"/>
            <p:nvPr/>
          </p:nvSpPr>
          <p:spPr>
            <a:xfrm>
              <a:off x="2724" y="1854"/>
              <a:ext cx="34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o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24" name="矩形 103575"/>
            <p:cNvSpPr/>
            <p:nvPr/>
          </p:nvSpPr>
          <p:spPr>
            <a:xfrm>
              <a:off x="2784" y="1509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25" name="矩形 103576"/>
            <p:cNvSpPr/>
            <p:nvPr/>
          </p:nvSpPr>
          <p:spPr>
            <a:xfrm>
              <a:off x="624" y="1632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26" name="矩形 103577"/>
            <p:cNvSpPr/>
            <p:nvPr/>
          </p:nvSpPr>
          <p:spPr>
            <a:xfrm>
              <a:off x="2785" y="2254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27" name="矩形 103578"/>
            <p:cNvSpPr/>
            <p:nvPr/>
          </p:nvSpPr>
          <p:spPr>
            <a:xfrm>
              <a:off x="624" y="2457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28" name="矩形 103579"/>
            <p:cNvSpPr/>
            <p:nvPr/>
          </p:nvSpPr>
          <p:spPr>
            <a:xfrm>
              <a:off x="1984" y="674"/>
              <a:ext cx="29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029" name="直接连接符 103580"/>
            <p:cNvSpPr/>
            <p:nvPr/>
          </p:nvSpPr>
          <p:spPr>
            <a:xfrm>
              <a:off x="1986" y="729"/>
              <a:ext cx="0" cy="279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1030" name="直接连接符 103581"/>
            <p:cNvSpPr/>
            <p:nvPr/>
          </p:nvSpPr>
          <p:spPr>
            <a:xfrm>
              <a:off x="2658" y="2229"/>
              <a:ext cx="0" cy="4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31" name="直接连接符 103582"/>
            <p:cNvSpPr/>
            <p:nvPr/>
          </p:nvSpPr>
          <p:spPr>
            <a:xfrm>
              <a:off x="1230" y="2325"/>
              <a:ext cx="0" cy="384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32" name="矩形 103583"/>
            <p:cNvSpPr/>
            <p:nvPr/>
          </p:nvSpPr>
          <p:spPr>
            <a:xfrm>
              <a:off x="480" y="1835"/>
              <a:ext cx="95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33" name="椭圆 103584"/>
            <p:cNvSpPr/>
            <p:nvPr/>
          </p:nvSpPr>
          <p:spPr>
            <a:xfrm>
              <a:off x="432" y="2352"/>
              <a:ext cx="192" cy="19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34" name="直接连接符 103585"/>
            <p:cNvSpPr/>
            <p:nvPr/>
          </p:nvSpPr>
          <p:spPr>
            <a:xfrm flipV="1">
              <a:off x="528" y="1632"/>
              <a:ext cx="0" cy="2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35" name="直接连接符 103586"/>
            <p:cNvSpPr/>
            <p:nvPr/>
          </p:nvSpPr>
          <p:spPr>
            <a:xfrm>
              <a:off x="528" y="2160"/>
              <a:ext cx="0" cy="5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036" name="文本框 103587"/>
            <p:cNvSpPr txBox="1"/>
            <p:nvPr/>
          </p:nvSpPr>
          <p:spPr>
            <a:xfrm>
              <a:off x="151" y="1776"/>
              <a:ext cx="33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S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37" name="文本框 103588"/>
            <p:cNvSpPr txBox="1"/>
            <p:nvPr/>
          </p:nvSpPr>
          <p:spPr>
            <a:xfrm>
              <a:off x="96" y="2256"/>
              <a:ext cx="40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S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38" name="矩形 103589"/>
            <p:cNvSpPr/>
            <p:nvPr/>
          </p:nvSpPr>
          <p:spPr>
            <a:xfrm>
              <a:off x="286" y="2121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39" name="矩形 103590"/>
            <p:cNvSpPr/>
            <p:nvPr/>
          </p:nvSpPr>
          <p:spPr>
            <a:xfrm>
              <a:off x="279" y="2448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040" name="椭圆 103591"/>
            <p:cNvSpPr/>
            <p:nvPr/>
          </p:nvSpPr>
          <p:spPr>
            <a:xfrm>
              <a:off x="1204" y="1615"/>
              <a:ext cx="50" cy="50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1041" name="文本框 103592"/>
          <p:cNvSpPr txBox="1"/>
          <p:nvPr/>
        </p:nvSpPr>
        <p:spPr>
          <a:xfrm>
            <a:off x="304800" y="5943600"/>
            <a:ext cx="4338638" cy="519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也可用戴维宁定理计算法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6387" name="Object 3" descr="40%"/>
          <p:cNvGraphicFramePr>
            <a:graphicFrameLocks noChangeAspect="1"/>
          </p:cNvGraphicFramePr>
          <p:nvPr/>
        </p:nvGraphicFramePr>
        <p:xfrm>
          <a:off x="5270500" y="1504950"/>
          <a:ext cx="3133725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" name="" r:id="rId1" imgW="1243965" imgH="431800" progId="Equation.3">
                  <p:embed/>
                </p:oleObj>
              </mc:Choice>
              <mc:Fallback>
                <p:oleObj name="" r:id="rId1" imgW="1243965" imgH="431800" progId="Equation.3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70500" y="1504950"/>
                        <a:ext cx="3133725" cy="1084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 descr="40%"/>
          <p:cNvGraphicFramePr>
            <a:graphicFrameLocks noChangeAspect="1"/>
          </p:cNvGraphicFramePr>
          <p:nvPr/>
        </p:nvGraphicFramePr>
        <p:xfrm>
          <a:off x="5280025" y="2630488"/>
          <a:ext cx="3200400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3" imgW="1231265" imgH="431800" progId="Equation.3">
                  <p:embed/>
                </p:oleObj>
              </mc:Choice>
              <mc:Fallback>
                <p:oleObj name="" r:id="rId3" imgW="1231265" imgH="431800" progId="Equation.3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80025" y="2630488"/>
                        <a:ext cx="3200400" cy="1119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 descr="40%"/>
          <p:cNvGraphicFramePr>
            <a:graphicFrameLocks noChangeAspect="1"/>
          </p:cNvGraphicFramePr>
          <p:nvPr/>
        </p:nvGraphicFramePr>
        <p:xfrm>
          <a:off x="5367338" y="3798888"/>
          <a:ext cx="3097212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5" imgW="1218565" imgH="431800" progId="Equation.3">
                  <p:embed/>
                </p:oleObj>
              </mc:Choice>
              <mc:Fallback>
                <p:oleObj name="" r:id="rId5" imgW="1218565" imgH="43180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67338" y="3798888"/>
                        <a:ext cx="3097212" cy="1109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 descr="90%"/>
          <p:cNvGraphicFramePr>
            <a:graphicFrameLocks noChangeAspect="1"/>
          </p:cNvGraphicFramePr>
          <p:nvPr/>
        </p:nvGraphicFramePr>
        <p:xfrm>
          <a:off x="5008563" y="5108575"/>
          <a:ext cx="407511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name="" r:id="rId7" imgW="1625600" imgH="228600" progId="Equation.3">
                  <p:embed/>
                </p:oleObj>
              </mc:Choice>
              <mc:Fallback>
                <p:oleObj name="" r:id="rId7" imgW="1625600" imgH="228600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08563" y="5108575"/>
                        <a:ext cx="4075112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50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519" name="标题 104518"/>
          <p:cNvSpPr/>
          <p:nvPr>
            <p:ph type="title"/>
          </p:nvPr>
        </p:nvSpPr>
        <p:spPr>
          <a:xfrm>
            <a:off x="533400" y="533400"/>
            <a:ext cx="3886200" cy="533400"/>
          </a:xfrm>
          <a:noFill/>
          <a:ln>
            <a:noFill/>
          </a:ln>
        </p:spPr>
        <p:txBody>
          <a:bodyPr/>
          <a:p>
            <a:pPr algn="l" fontAlgn="base"/>
            <a:r>
              <a:rPr lang="en-US" altLang="zh-CN" sz="2800" b="1" strike="noStrike" noProof="1" dirty="0">
                <a:solidFill>
                  <a:schemeClr val="accent6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3.  </a:t>
            </a:r>
            <a:r>
              <a:rPr lang="zh-CN" altLang="en-US" sz="2800" b="1" strike="noStrike" noProof="1" dirty="0">
                <a:solidFill>
                  <a:schemeClr val="accent6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动态分析</a:t>
            </a:r>
            <a:endParaRPr lang="zh-CN" altLang="en-US" sz="2800" b="1" strike="noStrike" noProof="1" dirty="0">
              <a:solidFill>
                <a:schemeClr val="accent6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104520" name="圆角矩形 104519"/>
          <p:cNvSpPr/>
          <p:nvPr/>
        </p:nvSpPr>
        <p:spPr>
          <a:xfrm>
            <a:off x="819150" y="5168900"/>
            <a:ext cx="7334250" cy="1079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06600"/>
            </a:solidFill>
            <a:prstDash val="solid"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p>
            <a:pPr>
              <a:spcBef>
                <a:spcPct val="50000"/>
              </a:spcBef>
            </a:pPr>
            <a:r>
              <a:rPr lang="zh-CN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对交流：</a:t>
            </a:r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旁路电容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b="1" baseline="-250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将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1" baseline="-2500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b="1" i="1" baseline="-2500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短路</a:t>
            </a:r>
            <a:r>
              <a:rPr lang="zh-CN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b="1" baseline="-2500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不起作用</a:t>
            </a:r>
            <a:r>
              <a:rPr lang="zh-CN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 b="1" i="1" err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 b="1" i="1" err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 err="1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与固定偏置电路相同</a:t>
            </a:r>
            <a:r>
              <a:rPr lang="zh-CN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04521" name="组合 104520"/>
          <p:cNvGrpSpPr/>
          <p:nvPr/>
        </p:nvGrpSpPr>
        <p:grpSpPr>
          <a:xfrm>
            <a:off x="5334000" y="1616075"/>
            <a:ext cx="3313113" cy="1279525"/>
            <a:chOff x="3337" y="864"/>
            <a:chExt cx="2087" cy="806"/>
          </a:xfrm>
        </p:grpSpPr>
        <p:sp>
          <p:nvSpPr>
            <p:cNvPr id="41988" name="文本框 104521"/>
            <p:cNvSpPr txBox="1"/>
            <p:nvPr/>
          </p:nvSpPr>
          <p:spPr>
            <a:xfrm>
              <a:off x="3744" y="952"/>
              <a:ext cx="1680" cy="650"/>
            </a:xfrm>
            <a:prstGeom prst="rect">
              <a:avLst/>
            </a:prstGeom>
            <a:pattFill prst="pct40">
              <a:fgClr>
                <a:srgbClr val="66FF66"/>
              </a:fgClr>
              <a:bgClr>
                <a:srgbClr val="FFFFFF"/>
              </a:bgClr>
            </a:pattFill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20000"/>
                </a:spcBef>
              </a:pPr>
              <a:r>
                <a:rPr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如果去掉</a:t>
              </a:r>
              <a:r>
                <a:rPr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800" b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 </a:t>
              </a:r>
              <a:r>
                <a:rPr lang="zh-CN" altLang="en-US" sz="2800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endPara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</a:pPr>
              <a:r>
                <a:rPr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800" b="1" i="1" baseline="-250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zh-CN" altLang="en-US" sz="2800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r>
                <a:rPr lang="en-US" altLang="zh-CN" sz="2800" b="1" i="1" err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1" baseline="-25000" err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zh-CN" altLang="en-US" sz="2800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r>
                <a:rPr lang="en-US" altLang="zh-CN" sz="2800" b="1" i="1" err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1" baseline="-25000" err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r>
                <a:rPr lang="en-US" altLang="zh-CN" sz="2800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2800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？</a:t>
              </a:r>
              <a:endPara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41989" name="对象 104522"/>
            <p:cNvGraphicFramePr/>
            <p:nvPr/>
          </p:nvGraphicFramePr>
          <p:xfrm>
            <a:off x="3337" y="864"/>
            <a:ext cx="432" cy="8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0" name="" r:id="rId1" imgW="1857375" imgH="3996055" progId="MS_ClipArt_Gallery.5">
                    <p:embed/>
                  </p:oleObj>
                </mc:Choice>
                <mc:Fallback>
                  <p:oleObj name="" r:id="rId1" imgW="1857375" imgH="3996055" progId="MS_ClipArt_Gallery.5">
                    <p:embed/>
                    <p:pic>
                      <p:nvPicPr>
                        <p:cNvPr id="0" name="图片 321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37" y="864"/>
                          <a:ext cx="432" cy="806"/>
                        </a:xfrm>
                        <a:prstGeom prst="rect">
                          <a:avLst/>
                        </a:prstGeom>
                        <a:pattFill prst="pct40">
                          <a:fgClr>
                            <a:srgbClr val="66FF66"/>
                          </a:fgClr>
                          <a:bgClr>
                            <a:srgbClr val="FFFFFF"/>
                          </a:bgClr>
                        </a:patt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528" name="圆角矩形标注 104527"/>
          <p:cNvSpPr/>
          <p:nvPr/>
        </p:nvSpPr>
        <p:spPr>
          <a:xfrm>
            <a:off x="4270375" y="4437063"/>
            <a:ext cx="1762125" cy="592137"/>
          </a:xfrm>
          <a:prstGeom prst="wedgeRoundRectCallout">
            <a:avLst>
              <a:gd name="adj1" fmla="val -82315"/>
              <a:gd name="adj2" fmla="val -160722"/>
              <a:gd name="adj3" fmla="val 16667"/>
            </a:avLst>
          </a:prstGeom>
          <a:pattFill prst="pct40">
            <a:fgClr>
              <a:srgbClr val="FFCCCC"/>
            </a:fgClr>
            <a:bgClr>
              <a:srgbClr val="FFFFFF"/>
            </a:bgClr>
          </a:pattFill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旁路电容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1991" name="组合 104605"/>
          <p:cNvGrpSpPr/>
          <p:nvPr/>
        </p:nvGrpSpPr>
        <p:grpSpPr>
          <a:xfrm>
            <a:off x="381000" y="914400"/>
            <a:ext cx="4876800" cy="3779838"/>
            <a:chOff x="240" y="576"/>
            <a:chExt cx="3072" cy="2381"/>
          </a:xfrm>
        </p:grpSpPr>
        <p:sp>
          <p:nvSpPr>
            <p:cNvPr id="41992" name="直接连接符 104529"/>
            <p:cNvSpPr/>
            <p:nvPr/>
          </p:nvSpPr>
          <p:spPr>
            <a:xfrm flipH="1">
              <a:off x="1374" y="1680"/>
              <a:ext cx="0" cy="38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993" name="文本框 104530"/>
            <p:cNvSpPr txBox="1"/>
            <p:nvPr/>
          </p:nvSpPr>
          <p:spPr>
            <a:xfrm>
              <a:off x="932" y="907"/>
              <a:ext cx="4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B1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1994" name="直接连接符 104531"/>
            <p:cNvSpPr/>
            <p:nvPr/>
          </p:nvSpPr>
          <p:spPr>
            <a:xfrm>
              <a:off x="1376" y="1310"/>
              <a:ext cx="0" cy="4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995" name="直接连接符 104532"/>
            <p:cNvSpPr/>
            <p:nvPr/>
          </p:nvSpPr>
          <p:spPr>
            <a:xfrm flipH="1" flipV="1">
              <a:off x="1380" y="742"/>
              <a:ext cx="0" cy="2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996" name="矩形 104533"/>
            <p:cNvSpPr/>
            <p:nvPr/>
          </p:nvSpPr>
          <p:spPr>
            <a:xfrm>
              <a:off x="1332" y="987"/>
              <a:ext cx="95" cy="32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997" name="直接连接符 104534"/>
            <p:cNvSpPr/>
            <p:nvPr/>
          </p:nvSpPr>
          <p:spPr>
            <a:xfrm>
              <a:off x="1380" y="752"/>
              <a:ext cx="129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1998" name="直接连接符 104535"/>
            <p:cNvSpPr/>
            <p:nvPr/>
          </p:nvSpPr>
          <p:spPr>
            <a:xfrm flipV="1">
              <a:off x="2001" y="756"/>
              <a:ext cx="0" cy="2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1999" name="直接连接符 104536"/>
            <p:cNvSpPr/>
            <p:nvPr/>
          </p:nvSpPr>
          <p:spPr>
            <a:xfrm>
              <a:off x="1872" y="1586"/>
              <a:ext cx="0" cy="2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2000" name="直接连接符 104537"/>
            <p:cNvSpPr/>
            <p:nvPr/>
          </p:nvSpPr>
          <p:spPr>
            <a:xfrm>
              <a:off x="1872" y="1772"/>
              <a:ext cx="141" cy="1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lg"/>
            </a:ln>
          </p:spPr>
        </p:sp>
        <p:sp>
          <p:nvSpPr>
            <p:cNvPr id="42001" name="直接连接符 104538"/>
            <p:cNvSpPr/>
            <p:nvPr/>
          </p:nvSpPr>
          <p:spPr>
            <a:xfrm flipV="1">
              <a:off x="1872" y="1536"/>
              <a:ext cx="141" cy="12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2002" name="直接连接符 104539"/>
            <p:cNvSpPr/>
            <p:nvPr/>
          </p:nvSpPr>
          <p:spPr>
            <a:xfrm>
              <a:off x="2004" y="1286"/>
              <a:ext cx="0" cy="26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2003" name="直接连接符 104540"/>
            <p:cNvSpPr/>
            <p:nvPr/>
          </p:nvSpPr>
          <p:spPr>
            <a:xfrm flipH="1">
              <a:off x="2005" y="1907"/>
              <a:ext cx="0" cy="30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2004" name="直接连接符 104541"/>
            <p:cNvSpPr/>
            <p:nvPr/>
          </p:nvSpPr>
          <p:spPr>
            <a:xfrm>
              <a:off x="1103" y="1719"/>
              <a:ext cx="77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2005" name="直接连接符 104542"/>
            <p:cNvSpPr/>
            <p:nvPr/>
          </p:nvSpPr>
          <p:spPr>
            <a:xfrm>
              <a:off x="672" y="2787"/>
              <a:ext cx="214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2006" name="直接连接符 104543"/>
            <p:cNvSpPr/>
            <p:nvPr/>
          </p:nvSpPr>
          <p:spPr>
            <a:xfrm flipH="1">
              <a:off x="2006" y="2531"/>
              <a:ext cx="0" cy="34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2007" name="矩形 104544"/>
            <p:cNvSpPr/>
            <p:nvPr/>
          </p:nvSpPr>
          <p:spPr>
            <a:xfrm>
              <a:off x="1958" y="960"/>
              <a:ext cx="94" cy="32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08" name="椭圆 104545"/>
            <p:cNvSpPr/>
            <p:nvPr/>
          </p:nvSpPr>
          <p:spPr>
            <a:xfrm>
              <a:off x="2662" y="710"/>
              <a:ext cx="68" cy="7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2009" name="组合 104546"/>
            <p:cNvGrpSpPr/>
            <p:nvPr/>
          </p:nvGrpSpPr>
          <p:grpSpPr>
            <a:xfrm>
              <a:off x="1040" y="1596"/>
              <a:ext cx="68" cy="262"/>
              <a:chOff x="3454" y="2018"/>
              <a:chExt cx="96" cy="328"/>
            </a:xfrm>
          </p:grpSpPr>
          <p:sp>
            <p:nvSpPr>
              <p:cNvPr id="42010" name="直接连接符 104547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11" name="直接连接符 104548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2012" name="直接连接符 104549"/>
            <p:cNvSpPr/>
            <p:nvPr/>
          </p:nvSpPr>
          <p:spPr>
            <a:xfrm>
              <a:off x="672" y="1719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2013" name="组合 104550"/>
            <p:cNvGrpSpPr/>
            <p:nvPr/>
          </p:nvGrpSpPr>
          <p:grpSpPr>
            <a:xfrm flipH="1">
              <a:off x="2455" y="1357"/>
              <a:ext cx="69" cy="261"/>
              <a:chOff x="3454" y="2018"/>
              <a:chExt cx="96" cy="328"/>
            </a:xfrm>
          </p:grpSpPr>
          <p:sp>
            <p:nvSpPr>
              <p:cNvPr id="42014" name="直接连接符 104551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15" name="直接连接符 104552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2016" name="直接连接符 104553"/>
            <p:cNvSpPr/>
            <p:nvPr/>
          </p:nvSpPr>
          <p:spPr>
            <a:xfrm flipH="1" flipV="1">
              <a:off x="2520" y="1473"/>
              <a:ext cx="29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17" name="直接连接符 104554"/>
            <p:cNvSpPr/>
            <p:nvPr/>
          </p:nvSpPr>
          <p:spPr>
            <a:xfrm>
              <a:off x="2001" y="1480"/>
              <a:ext cx="45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18" name="文本框 104555"/>
            <p:cNvSpPr txBox="1"/>
            <p:nvPr/>
          </p:nvSpPr>
          <p:spPr>
            <a:xfrm>
              <a:off x="1607" y="971"/>
              <a:ext cx="35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19" name="文本框 104556"/>
            <p:cNvSpPr txBox="1"/>
            <p:nvPr/>
          </p:nvSpPr>
          <p:spPr>
            <a:xfrm>
              <a:off x="882" y="1250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1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20" name="文本框 104557"/>
            <p:cNvSpPr txBox="1"/>
            <p:nvPr/>
          </p:nvSpPr>
          <p:spPr>
            <a:xfrm>
              <a:off x="2332" y="1027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2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grpSp>
          <p:nvGrpSpPr>
            <p:cNvPr id="42021" name="组合 104558"/>
            <p:cNvGrpSpPr/>
            <p:nvPr/>
          </p:nvGrpSpPr>
          <p:grpSpPr>
            <a:xfrm>
              <a:off x="1932" y="2795"/>
              <a:ext cx="146" cy="162"/>
              <a:chOff x="2898" y="3684"/>
              <a:chExt cx="204" cy="204"/>
            </a:xfrm>
          </p:grpSpPr>
          <p:sp>
            <p:nvSpPr>
              <p:cNvPr id="42022" name="直接连接符 104559"/>
              <p:cNvSpPr/>
              <p:nvPr/>
            </p:nvSpPr>
            <p:spPr>
              <a:xfrm>
                <a:off x="3000" y="3684"/>
                <a:ext cx="0" cy="2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23" name="直接连接符 104560"/>
              <p:cNvSpPr/>
              <p:nvPr/>
            </p:nvSpPr>
            <p:spPr>
              <a:xfrm>
                <a:off x="2898" y="3876"/>
                <a:ext cx="204" cy="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2024" name="椭圆 104561"/>
            <p:cNvSpPr/>
            <p:nvPr/>
          </p:nvSpPr>
          <p:spPr>
            <a:xfrm>
              <a:off x="1988" y="2766"/>
              <a:ext cx="33" cy="3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5" name="矩形 104562"/>
            <p:cNvSpPr/>
            <p:nvPr/>
          </p:nvSpPr>
          <p:spPr>
            <a:xfrm>
              <a:off x="1332" y="2068"/>
              <a:ext cx="95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6" name="文本框 104563"/>
            <p:cNvSpPr txBox="1"/>
            <p:nvPr/>
          </p:nvSpPr>
          <p:spPr>
            <a:xfrm>
              <a:off x="959" y="2027"/>
              <a:ext cx="4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B2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27" name="矩形 104564"/>
            <p:cNvSpPr/>
            <p:nvPr/>
          </p:nvSpPr>
          <p:spPr>
            <a:xfrm>
              <a:off x="1958" y="2219"/>
              <a:ext cx="94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8" name="直接连接符 104565"/>
            <p:cNvSpPr/>
            <p:nvPr/>
          </p:nvSpPr>
          <p:spPr>
            <a:xfrm flipH="1">
              <a:off x="2802" y="1468"/>
              <a:ext cx="0" cy="5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29" name="矩形 104566"/>
            <p:cNvSpPr/>
            <p:nvPr/>
          </p:nvSpPr>
          <p:spPr>
            <a:xfrm>
              <a:off x="2755" y="1970"/>
              <a:ext cx="93" cy="32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30" name="直接连接符 104567"/>
            <p:cNvSpPr/>
            <p:nvPr/>
          </p:nvSpPr>
          <p:spPr>
            <a:xfrm>
              <a:off x="2005" y="1986"/>
              <a:ext cx="26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2031" name="组合 104568"/>
            <p:cNvGrpSpPr/>
            <p:nvPr/>
          </p:nvGrpSpPr>
          <p:grpSpPr>
            <a:xfrm>
              <a:off x="2177" y="2352"/>
              <a:ext cx="196" cy="76"/>
              <a:chOff x="2460" y="2076"/>
              <a:chExt cx="276" cy="96"/>
            </a:xfrm>
          </p:grpSpPr>
          <p:sp>
            <p:nvSpPr>
              <p:cNvPr id="42032" name="直接连接符 104569"/>
              <p:cNvSpPr/>
              <p:nvPr/>
            </p:nvSpPr>
            <p:spPr>
              <a:xfrm>
                <a:off x="2460" y="2076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2033" name="直接连接符 104570"/>
              <p:cNvSpPr/>
              <p:nvPr/>
            </p:nvSpPr>
            <p:spPr>
              <a:xfrm>
                <a:off x="2460" y="2172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2034" name="直接连接符 104571"/>
            <p:cNvSpPr/>
            <p:nvPr/>
          </p:nvSpPr>
          <p:spPr>
            <a:xfrm>
              <a:off x="2271" y="1976"/>
              <a:ext cx="0" cy="3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35" name="直接连接符 104572"/>
            <p:cNvSpPr/>
            <p:nvPr/>
          </p:nvSpPr>
          <p:spPr>
            <a:xfrm>
              <a:off x="2271" y="2422"/>
              <a:ext cx="0" cy="37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36" name="文本框 104573"/>
            <p:cNvSpPr txBox="1"/>
            <p:nvPr/>
          </p:nvSpPr>
          <p:spPr>
            <a:xfrm>
              <a:off x="2322" y="2217"/>
              <a:ext cx="38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37" name="文本框 104574"/>
            <p:cNvSpPr txBox="1"/>
            <p:nvPr/>
          </p:nvSpPr>
          <p:spPr>
            <a:xfrm>
              <a:off x="1630" y="2123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38" name="文本框 104575"/>
            <p:cNvSpPr txBox="1"/>
            <p:nvPr/>
          </p:nvSpPr>
          <p:spPr>
            <a:xfrm>
              <a:off x="2420" y="1920"/>
              <a:ext cx="36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L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39" name="矩形 104582"/>
            <p:cNvSpPr/>
            <p:nvPr/>
          </p:nvSpPr>
          <p:spPr>
            <a:xfrm>
              <a:off x="1070" y="1449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40" name="矩形 104583"/>
            <p:cNvSpPr/>
            <p:nvPr/>
          </p:nvSpPr>
          <p:spPr>
            <a:xfrm>
              <a:off x="2238" y="1212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41" name="矩形 104584"/>
            <p:cNvSpPr/>
            <p:nvPr/>
          </p:nvSpPr>
          <p:spPr>
            <a:xfrm>
              <a:off x="2222" y="2073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42" name="文本框 104585"/>
            <p:cNvSpPr txBox="1"/>
            <p:nvPr/>
          </p:nvSpPr>
          <p:spPr>
            <a:xfrm>
              <a:off x="2724" y="576"/>
              <a:ext cx="58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CC</a:t>
              </a:r>
              <a:endParaRPr lang="en-US" altLang="zh-CN" b="1" baseline="-25000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43" name="文本框 104586"/>
            <p:cNvSpPr txBox="1"/>
            <p:nvPr/>
          </p:nvSpPr>
          <p:spPr>
            <a:xfrm>
              <a:off x="720" y="2072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i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44" name="文本框 104587"/>
            <p:cNvSpPr txBox="1"/>
            <p:nvPr/>
          </p:nvSpPr>
          <p:spPr>
            <a:xfrm>
              <a:off x="2868" y="1931"/>
              <a:ext cx="34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o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45" name="矩形 104588"/>
            <p:cNvSpPr/>
            <p:nvPr/>
          </p:nvSpPr>
          <p:spPr>
            <a:xfrm>
              <a:off x="2928" y="1586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46" name="矩形 104589"/>
            <p:cNvSpPr/>
            <p:nvPr/>
          </p:nvSpPr>
          <p:spPr>
            <a:xfrm>
              <a:off x="768" y="1709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47" name="矩形 104590"/>
            <p:cNvSpPr/>
            <p:nvPr/>
          </p:nvSpPr>
          <p:spPr>
            <a:xfrm>
              <a:off x="2929" y="2331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48" name="矩形 104591"/>
            <p:cNvSpPr/>
            <p:nvPr/>
          </p:nvSpPr>
          <p:spPr>
            <a:xfrm>
              <a:off x="768" y="2534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49" name="直接连接符 104594"/>
            <p:cNvSpPr/>
            <p:nvPr/>
          </p:nvSpPr>
          <p:spPr>
            <a:xfrm>
              <a:off x="2802" y="2306"/>
              <a:ext cx="0" cy="4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50" name="直接连接符 104595"/>
            <p:cNvSpPr/>
            <p:nvPr/>
          </p:nvSpPr>
          <p:spPr>
            <a:xfrm>
              <a:off x="1374" y="2402"/>
              <a:ext cx="0" cy="384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51" name="矩形 104596"/>
            <p:cNvSpPr/>
            <p:nvPr/>
          </p:nvSpPr>
          <p:spPr>
            <a:xfrm>
              <a:off x="624" y="1912"/>
              <a:ext cx="95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52" name="椭圆 104597"/>
            <p:cNvSpPr/>
            <p:nvPr/>
          </p:nvSpPr>
          <p:spPr>
            <a:xfrm>
              <a:off x="576" y="2429"/>
              <a:ext cx="192" cy="19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53" name="直接连接符 104598"/>
            <p:cNvSpPr/>
            <p:nvPr/>
          </p:nvSpPr>
          <p:spPr>
            <a:xfrm flipV="1">
              <a:off x="672" y="1709"/>
              <a:ext cx="0" cy="2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54" name="直接连接符 104599"/>
            <p:cNvSpPr/>
            <p:nvPr/>
          </p:nvSpPr>
          <p:spPr>
            <a:xfrm>
              <a:off x="672" y="2237"/>
              <a:ext cx="0" cy="5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55" name="文本框 104600"/>
            <p:cNvSpPr txBox="1"/>
            <p:nvPr/>
          </p:nvSpPr>
          <p:spPr>
            <a:xfrm>
              <a:off x="295" y="1853"/>
              <a:ext cx="33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S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56" name="文本框 104601"/>
            <p:cNvSpPr txBox="1"/>
            <p:nvPr/>
          </p:nvSpPr>
          <p:spPr>
            <a:xfrm>
              <a:off x="240" y="2333"/>
              <a:ext cx="40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S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57" name="矩形 104602"/>
            <p:cNvSpPr/>
            <p:nvPr/>
          </p:nvSpPr>
          <p:spPr>
            <a:xfrm>
              <a:off x="430" y="2198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58" name="矩形 104603"/>
            <p:cNvSpPr/>
            <p:nvPr/>
          </p:nvSpPr>
          <p:spPr>
            <a:xfrm>
              <a:off x="423" y="2525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2059" name="椭圆 104604"/>
            <p:cNvSpPr/>
            <p:nvPr/>
          </p:nvSpPr>
          <p:spPr>
            <a:xfrm>
              <a:off x="1348" y="1692"/>
              <a:ext cx="50" cy="50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5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45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520" grpId="0" bldLvl="0" animBg="1"/>
      <p:bldP spid="104528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3009" name="组合 105473"/>
          <p:cNvGrpSpPr/>
          <p:nvPr/>
        </p:nvGrpSpPr>
        <p:grpSpPr>
          <a:xfrm>
            <a:off x="4763" y="14288"/>
            <a:ext cx="4724400" cy="3652837"/>
            <a:chOff x="48" y="9"/>
            <a:chExt cx="2976" cy="2301"/>
          </a:xfrm>
        </p:grpSpPr>
        <p:sp>
          <p:nvSpPr>
            <p:cNvPr id="43010" name="直接连接符 105474"/>
            <p:cNvSpPr/>
            <p:nvPr/>
          </p:nvSpPr>
          <p:spPr>
            <a:xfrm flipH="1">
              <a:off x="1182" y="1161"/>
              <a:ext cx="0" cy="3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11" name="文本框 105475"/>
            <p:cNvSpPr txBox="1"/>
            <p:nvPr/>
          </p:nvSpPr>
          <p:spPr>
            <a:xfrm>
              <a:off x="768" y="449"/>
              <a:ext cx="4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B1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12" name="直接连接符 105476"/>
            <p:cNvSpPr/>
            <p:nvPr/>
          </p:nvSpPr>
          <p:spPr>
            <a:xfrm>
              <a:off x="1184" y="828"/>
              <a:ext cx="0" cy="37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13" name="直接连接符 105477"/>
            <p:cNvSpPr/>
            <p:nvPr/>
          </p:nvSpPr>
          <p:spPr>
            <a:xfrm flipH="1" flipV="1">
              <a:off x="1188" y="317"/>
              <a:ext cx="0" cy="23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14" name="矩形 105478"/>
            <p:cNvSpPr/>
            <p:nvPr/>
          </p:nvSpPr>
          <p:spPr>
            <a:xfrm>
              <a:off x="1140" y="538"/>
              <a:ext cx="95" cy="29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15" name="直接连接符 105479"/>
            <p:cNvSpPr/>
            <p:nvPr/>
          </p:nvSpPr>
          <p:spPr>
            <a:xfrm>
              <a:off x="1188" y="326"/>
              <a:ext cx="129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16" name="直接连接符 105480"/>
            <p:cNvSpPr/>
            <p:nvPr/>
          </p:nvSpPr>
          <p:spPr>
            <a:xfrm flipV="1">
              <a:off x="1809" y="321"/>
              <a:ext cx="0" cy="21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3017" name="直接连接符 105481"/>
            <p:cNvSpPr/>
            <p:nvPr/>
          </p:nvSpPr>
          <p:spPr>
            <a:xfrm>
              <a:off x="1680" y="1077"/>
              <a:ext cx="0" cy="25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3018" name="直接连接符 105482"/>
            <p:cNvSpPr/>
            <p:nvPr/>
          </p:nvSpPr>
          <p:spPr>
            <a:xfrm>
              <a:off x="1680" y="1259"/>
              <a:ext cx="141" cy="13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lg"/>
            </a:ln>
          </p:spPr>
        </p:sp>
        <p:sp>
          <p:nvSpPr>
            <p:cNvPr id="43019" name="直接连接符 105483"/>
            <p:cNvSpPr/>
            <p:nvPr/>
          </p:nvSpPr>
          <p:spPr>
            <a:xfrm flipV="1">
              <a:off x="1680" y="1056"/>
              <a:ext cx="141" cy="11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3020" name="直接连接符 105484"/>
            <p:cNvSpPr/>
            <p:nvPr/>
          </p:nvSpPr>
          <p:spPr>
            <a:xfrm>
              <a:off x="1812" y="832"/>
              <a:ext cx="0" cy="2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3021" name="直接连接符 105485"/>
            <p:cNvSpPr/>
            <p:nvPr/>
          </p:nvSpPr>
          <p:spPr>
            <a:xfrm flipH="1">
              <a:off x="1813" y="1372"/>
              <a:ext cx="0" cy="26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3022" name="直接连接符 105486"/>
            <p:cNvSpPr/>
            <p:nvPr/>
          </p:nvSpPr>
          <p:spPr>
            <a:xfrm>
              <a:off x="911" y="1196"/>
              <a:ext cx="77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3023" name="直接连接符 105487"/>
            <p:cNvSpPr/>
            <p:nvPr/>
          </p:nvSpPr>
          <p:spPr>
            <a:xfrm>
              <a:off x="480" y="2157"/>
              <a:ext cx="214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3024" name="直接连接符 105488"/>
            <p:cNvSpPr/>
            <p:nvPr/>
          </p:nvSpPr>
          <p:spPr>
            <a:xfrm flipH="1">
              <a:off x="1814" y="1920"/>
              <a:ext cx="0" cy="31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3025" name="矩形 105489"/>
            <p:cNvSpPr/>
            <p:nvPr/>
          </p:nvSpPr>
          <p:spPr>
            <a:xfrm>
              <a:off x="1766" y="542"/>
              <a:ext cx="94" cy="29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26" name="椭圆 105490"/>
            <p:cNvSpPr/>
            <p:nvPr/>
          </p:nvSpPr>
          <p:spPr>
            <a:xfrm>
              <a:off x="2494" y="288"/>
              <a:ext cx="68" cy="69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3027" name="组合 105491"/>
            <p:cNvGrpSpPr/>
            <p:nvPr/>
          </p:nvGrpSpPr>
          <p:grpSpPr>
            <a:xfrm>
              <a:off x="848" y="1086"/>
              <a:ext cx="68" cy="235"/>
              <a:chOff x="3454" y="2018"/>
              <a:chExt cx="96" cy="328"/>
            </a:xfrm>
          </p:grpSpPr>
          <p:sp>
            <p:nvSpPr>
              <p:cNvPr id="43028" name="直接连接符 105492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029" name="直接连接符 105493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3030" name="直接连接符 105494"/>
            <p:cNvSpPr/>
            <p:nvPr/>
          </p:nvSpPr>
          <p:spPr>
            <a:xfrm>
              <a:off x="480" y="1196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3031" name="组合 105495"/>
            <p:cNvGrpSpPr/>
            <p:nvPr/>
          </p:nvGrpSpPr>
          <p:grpSpPr>
            <a:xfrm flipH="1">
              <a:off x="2263" y="870"/>
              <a:ext cx="69" cy="235"/>
              <a:chOff x="3454" y="2018"/>
              <a:chExt cx="96" cy="328"/>
            </a:xfrm>
          </p:grpSpPr>
          <p:sp>
            <p:nvSpPr>
              <p:cNvPr id="43032" name="直接连接符 105496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033" name="直接连接符 105497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3034" name="直接连接符 105498"/>
            <p:cNvSpPr/>
            <p:nvPr/>
          </p:nvSpPr>
          <p:spPr>
            <a:xfrm flipH="1" flipV="1">
              <a:off x="2328" y="975"/>
              <a:ext cx="295" cy="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35" name="直接连接符 105499"/>
            <p:cNvSpPr/>
            <p:nvPr/>
          </p:nvSpPr>
          <p:spPr>
            <a:xfrm>
              <a:off x="1809" y="981"/>
              <a:ext cx="45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36" name="文本框 105500"/>
            <p:cNvSpPr txBox="1"/>
            <p:nvPr/>
          </p:nvSpPr>
          <p:spPr>
            <a:xfrm>
              <a:off x="1421" y="441"/>
              <a:ext cx="35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37" name="文本框 105501"/>
            <p:cNvSpPr txBox="1"/>
            <p:nvPr/>
          </p:nvSpPr>
          <p:spPr>
            <a:xfrm>
              <a:off x="690" y="758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1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38" name="文本框 105502"/>
            <p:cNvSpPr txBox="1"/>
            <p:nvPr/>
          </p:nvSpPr>
          <p:spPr>
            <a:xfrm>
              <a:off x="2140" y="557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2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grpSp>
          <p:nvGrpSpPr>
            <p:cNvPr id="43039" name="组合 105503"/>
            <p:cNvGrpSpPr/>
            <p:nvPr/>
          </p:nvGrpSpPr>
          <p:grpSpPr>
            <a:xfrm>
              <a:off x="1740" y="2164"/>
              <a:ext cx="146" cy="146"/>
              <a:chOff x="2898" y="3684"/>
              <a:chExt cx="204" cy="204"/>
            </a:xfrm>
          </p:grpSpPr>
          <p:sp>
            <p:nvSpPr>
              <p:cNvPr id="43040" name="直接连接符 105504"/>
              <p:cNvSpPr/>
              <p:nvPr/>
            </p:nvSpPr>
            <p:spPr>
              <a:xfrm>
                <a:off x="3000" y="3684"/>
                <a:ext cx="0" cy="2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041" name="直接连接符 105505"/>
              <p:cNvSpPr/>
              <p:nvPr/>
            </p:nvSpPr>
            <p:spPr>
              <a:xfrm>
                <a:off x="2898" y="3876"/>
                <a:ext cx="204" cy="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3042" name="椭圆 105506"/>
            <p:cNvSpPr/>
            <p:nvPr/>
          </p:nvSpPr>
          <p:spPr>
            <a:xfrm>
              <a:off x="1796" y="2138"/>
              <a:ext cx="33" cy="34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3" name="矩形 105507"/>
            <p:cNvSpPr/>
            <p:nvPr/>
          </p:nvSpPr>
          <p:spPr>
            <a:xfrm>
              <a:off x="1140" y="1510"/>
              <a:ext cx="95" cy="293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4" name="文本框 105508"/>
            <p:cNvSpPr txBox="1"/>
            <p:nvPr/>
          </p:nvSpPr>
          <p:spPr>
            <a:xfrm>
              <a:off x="767" y="1457"/>
              <a:ext cx="4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B2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45" name="矩形 105509"/>
            <p:cNvSpPr/>
            <p:nvPr/>
          </p:nvSpPr>
          <p:spPr>
            <a:xfrm>
              <a:off x="1766" y="1632"/>
              <a:ext cx="94" cy="293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6" name="直接连接符 105510"/>
            <p:cNvSpPr/>
            <p:nvPr/>
          </p:nvSpPr>
          <p:spPr>
            <a:xfrm flipH="1">
              <a:off x="2610" y="990"/>
              <a:ext cx="0" cy="4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47" name="矩形 105511"/>
            <p:cNvSpPr/>
            <p:nvPr/>
          </p:nvSpPr>
          <p:spPr>
            <a:xfrm>
              <a:off x="2563" y="1422"/>
              <a:ext cx="93" cy="29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8" name="直接连接符 105512"/>
            <p:cNvSpPr/>
            <p:nvPr/>
          </p:nvSpPr>
          <p:spPr>
            <a:xfrm>
              <a:off x="1813" y="1436"/>
              <a:ext cx="26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3049" name="组合 105513"/>
            <p:cNvGrpSpPr/>
            <p:nvPr/>
          </p:nvGrpSpPr>
          <p:grpSpPr>
            <a:xfrm>
              <a:off x="1985" y="1755"/>
              <a:ext cx="196" cy="69"/>
              <a:chOff x="2460" y="2076"/>
              <a:chExt cx="276" cy="96"/>
            </a:xfrm>
          </p:grpSpPr>
          <p:sp>
            <p:nvSpPr>
              <p:cNvPr id="43050" name="直接连接符 105514"/>
              <p:cNvSpPr/>
              <p:nvPr/>
            </p:nvSpPr>
            <p:spPr>
              <a:xfrm>
                <a:off x="2460" y="2076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3051" name="直接连接符 105515"/>
              <p:cNvSpPr/>
              <p:nvPr/>
            </p:nvSpPr>
            <p:spPr>
              <a:xfrm>
                <a:off x="2460" y="2172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3052" name="直接连接符 105516"/>
            <p:cNvSpPr/>
            <p:nvPr/>
          </p:nvSpPr>
          <p:spPr>
            <a:xfrm>
              <a:off x="2079" y="1427"/>
              <a:ext cx="0" cy="34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53" name="直接连接符 105517"/>
            <p:cNvSpPr/>
            <p:nvPr/>
          </p:nvSpPr>
          <p:spPr>
            <a:xfrm>
              <a:off x="2079" y="1824"/>
              <a:ext cx="0" cy="3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54" name="文本框 105518"/>
            <p:cNvSpPr txBox="1"/>
            <p:nvPr/>
          </p:nvSpPr>
          <p:spPr>
            <a:xfrm>
              <a:off x="2130" y="1632"/>
              <a:ext cx="38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55" name="文本框 105519"/>
            <p:cNvSpPr txBox="1"/>
            <p:nvPr/>
          </p:nvSpPr>
          <p:spPr>
            <a:xfrm>
              <a:off x="1438" y="1544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56" name="文本框 105520"/>
            <p:cNvSpPr txBox="1"/>
            <p:nvPr/>
          </p:nvSpPr>
          <p:spPr>
            <a:xfrm>
              <a:off x="2244" y="1353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L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57" name="矩形 105521"/>
            <p:cNvSpPr/>
            <p:nvPr/>
          </p:nvSpPr>
          <p:spPr>
            <a:xfrm>
              <a:off x="878" y="979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58" name="矩形 105522"/>
            <p:cNvSpPr/>
            <p:nvPr/>
          </p:nvSpPr>
          <p:spPr>
            <a:xfrm>
              <a:off x="2046" y="724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59" name="矩形 105523"/>
            <p:cNvSpPr/>
            <p:nvPr/>
          </p:nvSpPr>
          <p:spPr>
            <a:xfrm>
              <a:off x="2030" y="1380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60" name="文本框 105524"/>
            <p:cNvSpPr txBox="1"/>
            <p:nvPr/>
          </p:nvSpPr>
          <p:spPr>
            <a:xfrm>
              <a:off x="2436" y="9"/>
              <a:ext cx="58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CC</a:t>
              </a:r>
              <a:endParaRPr lang="en-US" altLang="zh-CN" b="1" baseline="-25000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61" name="文本框 105525"/>
            <p:cNvSpPr txBox="1"/>
            <p:nvPr/>
          </p:nvSpPr>
          <p:spPr>
            <a:xfrm>
              <a:off x="528" y="1498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i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62" name="文本框 105526"/>
            <p:cNvSpPr txBox="1"/>
            <p:nvPr/>
          </p:nvSpPr>
          <p:spPr>
            <a:xfrm>
              <a:off x="2676" y="1372"/>
              <a:ext cx="34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o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63" name="矩形 105527"/>
            <p:cNvSpPr/>
            <p:nvPr/>
          </p:nvSpPr>
          <p:spPr>
            <a:xfrm>
              <a:off x="2736" y="1060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64" name="矩形 105528"/>
            <p:cNvSpPr/>
            <p:nvPr/>
          </p:nvSpPr>
          <p:spPr>
            <a:xfrm>
              <a:off x="576" y="1171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65" name="矩形 105529"/>
            <p:cNvSpPr/>
            <p:nvPr/>
          </p:nvSpPr>
          <p:spPr>
            <a:xfrm>
              <a:off x="2737" y="1731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66" name="矩形 105530"/>
            <p:cNvSpPr/>
            <p:nvPr/>
          </p:nvSpPr>
          <p:spPr>
            <a:xfrm>
              <a:off x="576" y="1913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67" name="直接连接符 105531"/>
            <p:cNvSpPr/>
            <p:nvPr/>
          </p:nvSpPr>
          <p:spPr>
            <a:xfrm>
              <a:off x="2610" y="1724"/>
              <a:ext cx="0" cy="443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68" name="直接连接符 105532"/>
            <p:cNvSpPr/>
            <p:nvPr/>
          </p:nvSpPr>
          <p:spPr>
            <a:xfrm>
              <a:off x="1182" y="1811"/>
              <a:ext cx="0" cy="345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69" name="矩形 105533"/>
            <p:cNvSpPr/>
            <p:nvPr/>
          </p:nvSpPr>
          <p:spPr>
            <a:xfrm>
              <a:off x="432" y="1370"/>
              <a:ext cx="95" cy="292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70" name="椭圆 105534"/>
            <p:cNvSpPr/>
            <p:nvPr/>
          </p:nvSpPr>
          <p:spPr>
            <a:xfrm>
              <a:off x="384" y="1835"/>
              <a:ext cx="192" cy="173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71" name="直接连接符 105535"/>
            <p:cNvSpPr/>
            <p:nvPr/>
          </p:nvSpPr>
          <p:spPr>
            <a:xfrm flipV="1">
              <a:off x="480" y="1187"/>
              <a:ext cx="0" cy="17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72" name="直接连接符 105536"/>
            <p:cNvSpPr/>
            <p:nvPr/>
          </p:nvSpPr>
          <p:spPr>
            <a:xfrm>
              <a:off x="480" y="1662"/>
              <a:ext cx="0" cy="5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73" name="文本框 105537"/>
            <p:cNvSpPr txBox="1"/>
            <p:nvPr/>
          </p:nvSpPr>
          <p:spPr>
            <a:xfrm>
              <a:off x="103" y="1301"/>
              <a:ext cx="33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S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74" name="文本框 105538"/>
            <p:cNvSpPr txBox="1"/>
            <p:nvPr/>
          </p:nvSpPr>
          <p:spPr>
            <a:xfrm>
              <a:off x="48" y="1732"/>
              <a:ext cx="40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r>
                <a:rPr lang="en-US" altLang="zh-CN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S</a:t>
              </a:r>
              <a:endParaRPr lang="en-US" altLang="zh-CN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75" name="矩形 105539"/>
            <p:cNvSpPr/>
            <p:nvPr/>
          </p:nvSpPr>
          <p:spPr>
            <a:xfrm>
              <a:off x="238" y="1611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76" name="矩形 105540"/>
            <p:cNvSpPr/>
            <p:nvPr/>
          </p:nvSpPr>
          <p:spPr>
            <a:xfrm>
              <a:off x="231" y="1905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3077" name="椭圆 105541"/>
            <p:cNvSpPr/>
            <p:nvPr/>
          </p:nvSpPr>
          <p:spPr>
            <a:xfrm>
              <a:off x="1156" y="1172"/>
              <a:ext cx="50" cy="45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5543" name="文本框 105542"/>
          <p:cNvSpPr txBox="1"/>
          <p:nvPr/>
        </p:nvSpPr>
        <p:spPr>
          <a:xfrm>
            <a:off x="1143000" y="3810000"/>
            <a:ext cx="2895600" cy="1031875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algn="ctr">
              <a:spcBef>
                <a:spcPct val="20000"/>
              </a:spcBef>
            </a:pPr>
            <a:r>
              <a:rPr lang="en-US" altLang="zh-CN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  </a:t>
            </a:r>
            <a:r>
              <a:rPr lang="zh-CN" altLang="en-US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去掉</a:t>
            </a:r>
            <a:r>
              <a:rPr lang="en-US" altLang="zh-CN" sz="2800" b="1" i="1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C</a:t>
            </a:r>
            <a:r>
              <a:rPr lang="en-US" altLang="zh-CN" b="1" baseline="-25000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E</a:t>
            </a:r>
            <a:r>
              <a:rPr lang="zh-CN" altLang="en-US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后的</a:t>
            </a:r>
            <a:endParaRPr lang="zh-CN" altLang="en-US" sz="2800" b="1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Bef>
                <a:spcPct val="20000"/>
              </a:spcBef>
            </a:pPr>
            <a:r>
              <a:rPr lang="zh-CN" altLang="en-US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微变等效电路</a:t>
            </a:r>
            <a:endParaRPr lang="zh-CN" altLang="en-US" sz="2800" b="1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545" name="椭圆 105544"/>
          <p:cNvSpPr/>
          <p:nvPr/>
        </p:nvSpPr>
        <p:spPr>
          <a:xfrm>
            <a:off x="1066800" y="1600200"/>
            <a:ext cx="609600" cy="6096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5546" name="组合 105545"/>
          <p:cNvGrpSpPr/>
          <p:nvPr/>
        </p:nvGrpSpPr>
        <p:grpSpPr>
          <a:xfrm>
            <a:off x="3124200" y="1219200"/>
            <a:ext cx="1143000" cy="1069975"/>
            <a:chOff x="3312" y="1515"/>
            <a:chExt cx="720" cy="674"/>
          </a:xfrm>
        </p:grpSpPr>
        <p:sp>
          <p:nvSpPr>
            <p:cNvPr id="43081" name="椭圆 105546"/>
            <p:cNvSpPr/>
            <p:nvPr/>
          </p:nvSpPr>
          <p:spPr>
            <a:xfrm>
              <a:off x="3410" y="1515"/>
              <a:ext cx="442" cy="358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548" name="文本框 105547"/>
            <p:cNvSpPr txBox="1"/>
            <p:nvPr/>
          </p:nvSpPr>
          <p:spPr>
            <a:xfrm>
              <a:off x="3312" y="1862"/>
              <a:ext cx="72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99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短路</a:t>
              </a:r>
              <a:endPara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05549" name="组合 105548"/>
          <p:cNvGrpSpPr/>
          <p:nvPr/>
        </p:nvGrpSpPr>
        <p:grpSpPr>
          <a:xfrm>
            <a:off x="3890963" y="522288"/>
            <a:ext cx="990600" cy="2895600"/>
            <a:chOff x="2564" y="240"/>
            <a:chExt cx="796" cy="2016"/>
          </a:xfrm>
        </p:grpSpPr>
        <p:sp>
          <p:nvSpPr>
            <p:cNvPr id="43084" name="直接连接符 105549"/>
            <p:cNvSpPr/>
            <p:nvPr/>
          </p:nvSpPr>
          <p:spPr>
            <a:xfrm>
              <a:off x="2640" y="240"/>
              <a:ext cx="72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85" name="直接连接符 105550"/>
            <p:cNvSpPr/>
            <p:nvPr/>
          </p:nvSpPr>
          <p:spPr>
            <a:xfrm>
              <a:off x="3348" y="249"/>
              <a:ext cx="0" cy="2007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86" name="直接连接符 105551"/>
            <p:cNvSpPr/>
            <p:nvPr/>
          </p:nvSpPr>
          <p:spPr>
            <a:xfrm>
              <a:off x="2564" y="2256"/>
              <a:ext cx="79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5553" name="组合 105552"/>
          <p:cNvGrpSpPr/>
          <p:nvPr/>
        </p:nvGrpSpPr>
        <p:grpSpPr>
          <a:xfrm>
            <a:off x="3784600" y="76200"/>
            <a:ext cx="1168400" cy="1454150"/>
            <a:chOff x="2832" y="816"/>
            <a:chExt cx="736" cy="916"/>
          </a:xfrm>
        </p:grpSpPr>
        <p:sp>
          <p:nvSpPr>
            <p:cNvPr id="43088" name="椭圆 105553"/>
            <p:cNvSpPr/>
            <p:nvPr/>
          </p:nvSpPr>
          <p:spPr>
            <a:xfrm>
              <a:off x="2832" y="816"/>
              <a:ext cx="672" cy="384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555" name="矩形 105554"/>
            <p:cNvSpPr/>
            <p:nvPr/>
          </p:nvSpPr>
          <p:spPr>
            <a:xfrm>
              <a:off x="3002" y="1244"/>
              <a:ext cx="566" cy="48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lnSpc>
                  <a:spcPct val="80000"/>
                </a:lnSpc>
              </a:pPr>
              <a:r>
                <a:rPr lang="zh-CN" altLang="en-US" sz="2800" b="1" dirty="0">
                  <a:solidFill>
                    <a:srgbClr val="000099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对地</a:t>
              </a:r>
              <a:endPara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zh-CN" altLang="en-US" sz="2800" b="1" dirty="0">
                  <a:solidFill>
                    <a:srgbClr val="000099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短路</a:t>
              </a:r>
              <a:endParaRPr lang="zh-CN" altLang="en-US" sz="2800" b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43090" name="组合 105559"/>
          <p:cNvGrpSpPr/>
          <p:nvPr/>
        </p:nvGrpSpPr>
        <p:grpSpPr>
          <a:xfrm>
            <a:off x="5486400" y="685800"/>
            <a:ext cx="3313113" cy="1279525"/>
            <a:chOff x="3337" y="864"/>
            <a:chExt cx="2087" cy="806"/>
          </a:xfrm>
        </p:grpSpPr>
        <p:sp>
          <p:nvSpPr>
            <p:cNvPr id="105561" name="文本框 105560"/>
            <p:cNvSpPr txBox="1"/>
            <p:nvPr/>
          </p:nvSpPr>
          <p:spPr>
            <a:xfrm>
              <a:off x="3744" y="952"/>
              <a:ext cx="1680" cy="650"/>
            </a:xfrm>
            <a:prstGeom prst="rect">
              <a:avLst/>
            </a:prstGeom>
            <a:pattFill prst="pct40">
              <a:fgClr>
                <a:srgbClr val="66FF66"/>
              </a:fgClr>
              <a:bgClr>
                <a:srgbClr val="FFFFFF"/>
              </a:bgClr>
            </a:pattFill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20000"/>
                </a:spcBef>
              </a:pPr>
              <a:r>
                <a:rPr lang="zh-CN" altLang="en-US" sz="2800" b="1" noProof="1" dirty="0">
                  <a:solidFill>
                    <a:srgbClr val="FF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ea"/>
                </a:rPr>
                <a:t>如果去掉</a:t>
              </a:r>
              <a:r>
                <a:rPr lang="en-US" altLang="zh-CN" sz="2800" b="1" i="1" noProof="1">
                  <a:solidFill>
                    <a:srgbClr val="FF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</a:rPr>
                <a:t>C</a:t>
              </a:r>
              <a:r>
                <a:rPr lang="en-US" altLang="zh-CN" b="1" baseline="-25000" noProof="1">
                  <a:solidFill>
                    <a:srgbClr val="FF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</a:rPr>
                <a:t>E </a:t>
              </a:r>
              <a:r>
                <a:rPr lang="zh-CN" altLang="en-US" sz="2800" b="1" noProof="1">
                  <a:solidFill>
                    <a:srgbClr val="FF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ea"/>
                </a:rPr>
                <a:t>，</a:t>
              </a:r>
              <a:endParaRPr lang="zh-CN" altLang="en-US" sz="2800" b="1" noProof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</a:pPr>
              <a:r>
                <a:rPr lang="en-US" altLang="zh-CN" sz="2800" b="1" i="1" noProof="1">
                  <a:solidFill>
                    <a:srgbClr val="FF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</a:rPr>
                <a:t>A</a:t>
              </a:r>
              <a:r>
                <a:rPr lang="en-US" altLang="zh-CN" sz="2800" b="1" i="1" baseline="-25000" noProof="1">
                  <a:solidFill>
                    <a:srgbClr val="FF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</a:rPr>
                <a:t>u</a:t>
              </a:r>
              <a:r>
                <a:rPr lang="zh-CN" altLang="en-US" sz="2800" b="1" noProof="1">
                  <a:solidFill>
                    <a:srgbClr val="FF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ea"/>
                </a:rPr>
                <a:t>，</a:t>
              </a:r>
              <a:r>
                <a:rPr lang="en-US" altLang="zh-CN" sz="2800" b="1" i="1" noProof="1" err="1">
                  <a:solidFill>
                    <a:srgbClr val="FF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</a:rPr>
                <a:t>r</a:t>
              </a:r>
              <a:r>
                <a:rPr lang="en-US" altLang="zh-CN" sz="2800" b="1" baseline="-25000" noProof="1" err="1">
                  <a:solidFill>
                    <a:srgbClr val="FF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</a:rPr>
                <a:t>i</a:t>
              </a:r>
              <a:r>
                <a:rPr lang="zh-CN" altLang="en-US" sz="2800" b="1" noProof="1">
                  <a:solidFill>
                    <a:srgbClr val="FF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ea"/>
                </a:rPr>
                <a:t>，</a:t>
              </a:r>
              <a:r>
                <a:rPr lang="en-US" altLang="zh-CN" sz="2800" b="1" i="1" noProof="1" err="1">
                  <a:solidFill>
                    <a:srgbClr val="FF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</a:rPr>
                <a:t>r</a:t>
              </a:r>
              <a:r>
                <a:rPr lang="en-US" altLang="zh-CN" sz="2800" b="1" baseline="-25000" noProof="1" err="1">
                  <a:solidFill>
                    <a:srgbClr val="FF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</a:rPr>
                <a:t>o</a:t>
              </a:r>
              <a:r>
                <a:rPr lang="en-US" altLang="zh-CN" sz="2800" b="1" noProof="1">
                  <a:solidFill>
                    <a:srgbClr val="FF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ea"/>
                </a:rPr>
                <a:t> </a:t>
              </a:r>
              <a:r>
                <a:rPr lang="en-US" altLang="zh-CN" sz="2800" b="1" noProof="1">
                  <a:solidFill>
                    <a:srgbClr val="FF0000"/>
                  </a:solidFill>
                  <a:effectLst>
                    <a:outerShdw blurRad="38100" dist="38100" dir="2700000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ea"/>
                </a:rPr>
                <a:t>?</a:t>
              </a:r>
              <a:endParaRPr lang="en-US" altLang="zh-CN" sz="2800" b="1" noProof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3092" name="对象 105561"/>
            <p:cNvGraphicFramePr/>
            <p:nvPr/>
          </p:nvGraphicFramePr>
          <p:xfrm>
            <a:off x="3337" y="864"/>
            <a:ext cx="432" cy="8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1" name="" r:id="rId1" imgW="1857375" imgH="3996055" progId="MS_ClipArt_Gallery.5">
                    <p:embed/>
                  </p:oleObj>
                </mc:Choice>
                <mc:Fallback>
                  <p:oleObj name="" r:id="rId1" imgW="1857375" imgH="3996055" progId="MS_ClipArt_Gallery.5">
                    <p:embed/>
                    <p:pic>
                      <p:nvPicPr>
                        <p:cNvPr id="0" name="图片 322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37" y="864"/>
                          <a:ext cx="432" cy="806"/>
                        </a:xfrm>
                        <a:prstGeom prst="rect">
                          <a:avLst/>
                        </a:prstGeom>
                        <a:pattFill prst="pct40">
                          <a:fgClr>
                            <a:srgbClr val="66FF66"/>
                          </a:fgClr>
                          <a:bgClr>
                            <a:srgbClr val="FFFFFF"/>
                          </a:bgClr>
                        </a:patt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5563" name="矩形 105562"/>
          <p:cNvSpPr/>
          <p:nvPr/>
        </p:nvSpPr>
        <p:spPr>
          <a:xfrm>
            <a:off x="3124200" y="2590800"/>
            <a:ext cx="762000" cy="762000"/>
          </a:xfrm>
          <a:prstGeom prst="rect">
            <a:avLst/>
          </a:prstGeom>
          <a:solidFill>
            <a:srgbClr val="F6FAE6"/>
          </a:solidFill>
          <a:ln w="38100">
            <a:noFill/>
          </a:ln>
        </p:spPr>
        <p:txBody>
          <a:bodyPr anchor="t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564" name="右弧形箭头 105563" descr="水滴"/>
          <p:cNvSpPr/>
          <p:nvPr/>
        </p:nvSpPr>
        <p:spPr>
          <a:xfrm rot="-2692639">
            <a:off x="5800725" y="1876425"/>
            <a:ext cx="533400" cy="1420813"/>
          </a:xfrm>
          <a:prstGeom prst="curvedLeftArrow">
            <a:avLst>
              <a:gd name="adj1" fmla="val 53273"/>
              <a:gd name="adj2" fmla="val 106547"/>
              <a:gd name="adj3" fmla="val 33305"/>
            </a:avLst>
          </a:prstGeom>
          <a:blipFill rotWithShape="0">
            <a:blip r:embed="rId3"/>
          </a:blipFill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565" name="文本框 105564"/>
          <p:cNvSpPr txBox="1"/>
          <p:nvPr/>
        </p:nvSpPr>
        <p:spPr>
          <a:xfrm>
            <a:off x="4041775" y="3294063"/>
            <a:ext cx="9858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endParaRPr lang="zh-CN" altLang="en-US" sz="2800" b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1" name="Group 90"/>
          <p:cNvGrpSpPr/>
          <p:nvPr/>
        </p:nvGrpSpPr>
        <p:grpSpPr>
          <a:xfrm>
            <a:off x="4329113" y="3060700"/>
            <a:ext cx="4700587" cy="3146425"/>
            <a:chOff x="0" y="-52"/>
            <a:chExt cx="2961" cy="1982"/>
          </a:xfrm>
        </p:grpSpPr>
        <p:sp>
          <p:nvSpPr>
            <p:cNvPr id="43097" name="Line 91"/>
            <p:cNvSpPr/>
            <p:nvPr/>
          </p:nvSpPr>
          <p:spPr>
            <a:xfrm flipV="1">
              <a:off x="359" y="1816"/>
              <a:ext cx="227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98" name="Line 92"/>
            <p:cNvSpPr/>
            <p:nvPr/>
          </p:nvSpPr>
          <p:spPr>
            <a:xfrm flipH="1" flipV="1">
              <a:off x="1805" y="355"/>
              <a:ext cx="0" cy="17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99" name="Line 93"/>
            <p:cNvSpPr/>
            <p:nvPr/>
          </p:nvSpPr>
          <p:spPr>
            <a:xfrm flipV="1">
              <a:off x="696" y="372"/>
              <a:ext cx="575" cy="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3100" name="Group 94"/>
            <p:cNvGrpSpPr/>
            <p:nvPr/>
          </p:nvGrpSpPr>
          <p:grpSpPr>
            <a:xfrm>
              <a:off x="1690" y="528"/>
              <a:ext cx="228" cy="465"/>
              <a:chOff x="-15" y="-126"/>
              <a:chExt cx="292" cy="673"/>
            </a:xfrm>
          </p:grpSpPr>
          <p:sp>
            <p:nvSpPr>
              <p:cNvPr id="43101" name="AutoShape 95"/>
              <p:cNvSpPr/>
              <p:nvPr/>
            </p:nvSpPr>
            <p:spPr>
              <a:xfrm>
                <a:off x="-15" y="-126"/>
                <a:ext cx="292" cy="673"/>
              </a:xfrm>
              <a:prstGeom prst="diamond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>
                <a:spAutoFit/>
              </a:bodyPr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102" name="Line 96"/>
              <p:cNvSpPr/>
              <p:nvPr/>
            </p:nvSpPr>
            <p:spPr>
              <a:xfrm>
                <a:off x="12" y="216"/>
                <a:ext cx="25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>
                <a:spAutoFit/>
              </a:bodyPr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3103" name="Line 97"/>
            <p:cNvSpPr/>
            <p:nvPr/>
          </p:nvSpPr>
          <p:spPr>
            <a:xfrm flipV="1">
              <a:off x="1262" y="367"/>
              <a:ext cx="0" cy="29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04" name="Rectangle 98"/>
            <p:cNvSpPr/>
            <p:nvPr/>
          </p:nvSpPr>
          <p:spPr>
            <a:xfrm>
              <a:off x="1214" y="659"/>
              <a:ext cx="115" cy="23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05" name="Line 99"/>
            <p:cNvSpPr/>
            <p:nvPr/>
          </p:nvSpPr>
          <p:spPr>
            <a:xfrm>
              <a:off x="1790" y="343"/>
              <a:ext cx="86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06" name="Line 100"/>
            <p:cNvSpPr/>
            <p:nvPr/>
          </p:nvSpPr>
          <p:spPr>
            <a:xfrm flipH="1" flipV="1">
              <a:off x="2251" y="355"/>
              <a:ext cx="3" cy="61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07" name="Rectangle 101"/>
            <p:cNvSpPr/>
            <p:nvPr/>
          </p:nvSpPr>
          <p:spPr>
            <a:xfrm>
              <a:off x="2203" y="956"/>
              <a:ext cx="115" cy="23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534" name="Text Box 102"/>
            <p:cNvSpPr txBox="1">
              <a:spLocks noChangeArrowheads="1"/>
            </p:cNvSpPr>
            <p:nvPr/>
          </p:nvSpPr>
          <p:spPr bwMode="auto">
            <a:xfrm>
              <a:off x="1223" y="588"/>
              <a:ext cx="439" cy="3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zh-CN" sz="2800" b="1" i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zh-CN" altLang="zh-CN" b="1" baseline="-2500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zh-CN" altLang="zh-CN" b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3109" name="Line 103"/>
            <p:cNvSpPr/>
            <p:nvPr/>
          </p:nvSpPr>
          <p:spPr>
            <a:xfrm>
              <a:off x="1606" y="644"/>
              <a:ext cx="0" cy="28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10" name="Line 104"/>
            <p:cNvSpPr/>
            <p:nvPr/>
          </p:nvSpPr>
          <p:spPr>
            <a:xfrm flipV="1">
              <a:off x="977" y="305"/>
              <a:ext cx="278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537" name="Text Box 105"/>
            <p:cNvSpPr txBox="1">
              <a:spLocks noChangeArrowheads="1"/>
            </p:cNvSpPr>
            <p:nvPr/>
          </p:nvSpPr>
          <p:spPr bwMode="auto">
            <a:xfrm>
              <a:off x="1867" y="788"/>
              <a:ext cx="634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endParaRPr lang="zh-CN" altLang="zh-CN" b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3112" name="Line 106"/>
            <p:cNvSpPr/>
            <p:nvPr/>
          </p:nvSpPr>
          <p:spPr>
            <a:xfrm flipH="1">
              <a:off x="1762" y="293"/>
              <a:ext cx="28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539" name="Text Box 107"/>
            <p:cNvSpPr txBox="1">
              <a:spLocks noChangeArrowheads="1"/>
            </p:cNvSpPr>
            <p:nvPr/>
          </p:nvSpPr>
          <p:spPr bwMode="auto">
            <a:xfrm>
              <a:off x="828" y="977"/>
              <a:ext cx="466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zh-CN" b="1" i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zh-CN" altLang="zh-CN" b="1" baseline="-2500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zh-CN" altLang="zh-CN" b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3114" name="Line 108"/>
            <p:cNvSpPr/>
            <p:nvPr/>
          </p:nvSpPr>
          <p:spPr>
            <a:xfrm flipV="1">
              <a:off x="2645" y="340"/>
              <a:ext cx="1" cy="5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15" name="Rectangle 109"/>
            <p:cNvSpPr/>
            <p:nvPr/>
          </p:nvSpPr>
          <p:spPr>
            <a:xfrm>
              <a:off x="2601" y="935"/>
              <a:ext cx="115" cy="23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542" name="Text Box 110"/>
            <p:cNvSpPr txBox="1">
              <a:spLocks noChangeArrowheads="1"/>
            </p:cNvSpPr>
            <p:nvPr/>
          </p:nvSpPr>
          <p:spPr bwMode="auto">
            <a:xfrm>
              <a:off x="1845" y="942"/>
              <a:ext cx="453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zh-CN" b="1" i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zh-CN" altLang="zh-CN" b="1" baseline="-2500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zh-CN" altLang="zh-CN" b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8543" name="Text Box 111"/>
            <p:cNvSpPr txBox="1">
              <a:spLocks noChangeArrowheads="1"/>
            </p:cNvSpPr>
            <p:nvPr/>
          </p:nvSpPr>
          <p:spPr bwMode="auto">
            <a:xfrm>
              <a:off x="2223" y="927"/>
              <a:ext cx="508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zh-CN" b="1" i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zh-CN" altLang="zh-CN" b="1" baseline="-2500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zh-CN" altLang="zh-CN" b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8544" name="Text Box 112"/>
            <p:cNvSpPr txBox="1">
              <a:spLocks noChangeArrowheads="1"/>
            </p:cNvSpPr>
            <p:nvPr/>
          </p:nvSpPr>
          <p:spPr bwMode="auto">
            <a:xfrm>
              <a:off x="1422" y="844"/>
              <a:ext cx="224" cy="2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</a:pPr>
              <a:r>
                <a:rPr lang="zh-CN" altLang="zh-CN" b="1" strike="noStrike" noProof="1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ea"/>
                </a:rPr>
                <a:t>E</a:t>
              </a:r>
              <a:endParaRPr lang="zh-CN" altLang="zh-CN" b="1" strike="noStrike" noProof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endParaRPr>
            </a:p>
          </p:txBody>
        </p:sp>
        <p:sp>
          <p:nvSpPr>
            <p:cNvPr id="18545" name="Text Box 113"/>
            <p:cNvSpPr txBox="1">
              <a:spLocks noChangeArrowheads="1"/>
            </p:cNvSpPr>
            <p:nvPr/>
          </p:nvSpPr>
          <p:spPr bwMode="auto">
            <a:xfrm>
              <a:off x="759" y="119"/>
              <a:ext cx="224" cy="2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</a:pPr>
              <a:r>
                <a:rPr lang="zh-CN" altLang="zh-CN" b="1" strike="noStrike" noProof="1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ea"/>
                </a:rPr>
                <a:t>B</a:t>
              </a:r>
              <a:endParaRPr lang="zh-CN" altLang="zh-CN" b="1" strike="noStrike" noProof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endParaRPr>
            </a:p>
          </p:txBody>
        </p:sp>
        <p:sp>
          <p:nvSpPr>
            <p:cNvPr id="18546" name="Text Box 114"/>
            <p:cNvSpPr txBox="1">
              <a:spLocks noChangeArrowheads="1"/>
            </p:cNvSpPr>
            <p:nvPr/>
          </p:nvSpPr>
          <p:spPr bwMode="auto">
            <a:xfrm>
              <a:off x="2061" y="95"/>
              <a:ext cx="223" cy="2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</a:pPr>
              <a:r>
                <a:rPr lang="zh-CN" altLang="zh-CN" b="1" strike="noStrike" noProof="1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ea"/>
                </a:rPr>
                <a:t>C</a:t>
              </a:r>
              <a:endParaRPr lang="zh-CN" altLang="zh-CN" b="1" strike="noStrike" noProof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endParaRPr>
            </a:p>
          </p:txBody>
        </p:sp>
        <p:sp>
          <p:nvSpPr>
            <p:cNvPr id="43121" name="Line 115"/>
            <p:cNvSpPr/>
            <p:nvPr/>
          </p:nvSpPr>
          <p:spPr>
            <a:xfrm flipV="1">
              <a:off x="858" y="363"/>
              <a:ext cx="0" cy="6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548" name="Text Box 116" descr="新闻纸"/>
            <p:cNvSpPr txBox="1">
              <a:spLocks noChangeArrowheads="1"/>
            </p:cNvSpPr>
            <p:nvPr/>
          </p:nvSpPr>
          <p:spPr bwMode="auto">
            <a:xfrm>
              <a:off x="487" y="467"/>
              <a:ext cx="299" cy="2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</a:pPr>
              <a:r>
                <a:rPr lang="zh-CN" altLang="zh-CN" b="1" strike="noStrike" noProof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ea"/>
                </a:rPr>
                <a:t>+</a:t>
              </a:r>
              <a:endParaRPr lang="zh-CN" altLang="zh-CN" b="1" strike="noStrike" noProof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  <p:sp>
          <p:nvSpPr>
            <p:cNvPr id="18549" name="Text Box 117" descr="新闻纸"/>
            <p:cNvSpPr txBox="1">
              <a:spLocks noChangeArrowheads="1"/>
            </p:cNvSpPr>
            <p:nvPr/>
          </p:nvSpPr>
          <p:spPr bwMode="auto">
            <a:xfrm>
              <a:off x="447" y="1488"/>
              <a:ext cx="299" cy="2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</a:pPr>
              <a:r>
                <a:rPr lang="zh-CN" altLang="zh-CN" b="1" strike="noStrike" noProof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ea"/>
                </a:rPr>
                <a:t>-</a:t>
              </a:r>
              <a:endParaRPr lang="zh-CN" altLang="zh-CN" b="1" strike="noStrike" noProof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  <p:sp>
          <p:nvSpPr>
            <p:cNvPr id="43124" name="Rectangle 118"/>
            <p:cNvSpPr/>
            <p:nvPr/>
          </p:nvSpPr>
          <p:spPr>
            <a:xfrm>
              <a:off x="822" y="986"/>
              <a:ext cx="115" cy="23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551" name="Rectangle 119" descr="新闻纸"/>
            <p:cNvSpPr>
              <a:spLocks noChangeArrowheads="1"/>
            </p:cNvSpPr>
            <p:nvPr/>
          </p:nvSpPr>
          <p:spPr bwMode="auto">
            <a:xfrm>
              <a:off x="2696" y="316"/>
              <a:ext cx="212" cy="2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</a:pPr>
              <a:r>
                <a:rPr lang="zh-CN" altLang="zh-CN" b="1" strike="noStrike" noProof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ea"/>
                </a:rPr>
                <a:t>+</a:t>
              </a:r>
              <a:endParaRPr lang="zh-CN" altLang="zh-CN" b="1" strike="noStrike" noProof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  <p:sp>
          <p:nvSpPr>
            <p:cNvPr id="18552" name="Rectangle 120" descr="新闻纸"/>
            <p:cNvSpPr>
              <a:spLocks noChangeArrowheads="1"/>
            </p:cNvSpPr>
            <p:nvPr/>
          </p:nvSpPr>
          <p:spPr bwMode="auto">
            <a:xfrm>
              <a:off x="2696" y="1490"/>
              <a:ext cx="212" cy="2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</a:pPr>
              <a:r>
                <a:rPr lang="zh-CN" altLang="zh-CN" b="1" strike="noStrike" noProof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ea"/>
                </a:rPr>
                <a:t>-</a:t>
              </a:r>
              <a:endParaRPr lang="zh-CN" altLang="zh-CN" b="1" strike="noStrike" noProof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  <p:grpSp>
          <p:nvGrpSpPr>
            <p:cNvPr id="43127" name="Group 121"/>
            <p:cNvGrpSpPr/>
            <p:nvPr/>
          </p:nvGrpSpPr>
          <p:grpSpPr>
            <a:xfrm>
              <a:off x="1440" y="1811"/>
              <a:ext cx="160" cy="119"/>
              <a:chOff x="0" y="0"/>
              <a:chExt cx="160" cy="119"/>
            </a:xfrm>
          </p:grpSpPr>
          <p:sp>
            <p:nvSpPr>
              <p:cNvPr id="43128" name="Line 122"/>
              <p:cNvSpPr/>
              <p:nvPr/>
            </p:nvSpPr>
            <p:spPr>
              <a:xfrm>
                <a:off x="86" y="0"/>
                <a:ext cx="0" cy="1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>
                <a:spAutoFit/>
              </a:bodyPr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129" name="Line 123"/>
              <p:cNvSpPr/>
              <p:nvPr/>
            </p:nvSpPr>
            <p:spPr>
              <a:xfrm>
                <a:off x="0" y="119"/>
                <a:ext cx="16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>
                <a:spAutoFit/>
              </a:bodyPr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3130" name="Line 124"/>
            <p:cNvSpPr/>
            <p:nvPr/>
          </p:nvSpPr>
          <p:spPr>
            <a:xfrm flipH="1" flipV="1">
              <a:off x="2640" y="1176"/>
              <a:ext cx="0" cy="63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31" name="Line 125"/>
            <p:cNvSpPr/>
            <p:nvPr/>
          </p:nvSpPr>
          <p:spPr>
            <a:xfrm flipV="1">
              <a:off x="2249" y="1205"/>
              <a:ext cx="0" cy="60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32" name="Line 126"/>
            <p:cNvSpPr/>
            <p:nvPr/>
          </p:nvSpPr>
          <p:spPr>
            <a:xfrm flipV="1">
              <a:off x="1267" y="893"/>
              <a:ext cx="3" cy="2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33" name="Line 127"/>
            <p:cNvSpPr/>
            <p:nvPr/>
          </p:nvSpPr>
          <p:spPr>
            <a:xfrm flipH="1" flipV="1">
              <a:off x="859" y="1226"/>
              <a:ext cx="1" cy="6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34" name="Line 128"/>
            <p:cNvSpPr/>
            <p:nvPr/>
          </p:nvSpPr>
          <p:spPr>
            <a:xfrm flipH="1" flipV="1">
              <a:off x="1805" y="982"/>
              <a:ext cx="0" cy="14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35" name="Line 129"/>
            <p:cNvSpPr/>
            <p:nvPr/>
          </p:nvSpPr>
          <p:spPr>
            <a:xfrm flipH="1">
              <a:off x="378" y="930"/>
              <a:ext cx="0" cy="891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36" name="Rectangle 130"/>
            <p:cNvSpPr/>
            <p:nvPr/>
          </p:nvSpPr>
          <p:spPr>
            <a:xfrm>
              <a:off x="341" y="702"/>
              <a:ext cx="78" cy="23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37" name="Line 131"/>
            <p:cNvSpPr/>
            <p:nvPr/>
          </p:nvSpPr>
          <p:spPr>
            <a:xfrm flipH="1">
              <a:off x="375" y="372"/>
              <a:ext cx="0" cy="34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38" name="Oval 132"/>
            <p:cNvSpPr/>
            <p:nvPr/>
          </p:nvSpPr>
          <p:spPr>
            <a:xfrm>
              <a:off x="288" y="1267"/>
              <a:ext cx="192" cy="192"/>
            </a:xfrm>
            <a:prstGeom prst="ellipse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565" name="Rectangle 133" descr="新闻纸"/>
            <p:cNvSpPr>
              <a:spLocks noChangeArrowheads="1"/>
            </p:cNvSpPr>
            <p:nvPr/>
          </p:nvSpPr>
          <p:spPr bwMode="auto">
            <a:xfrm>
              <a:off x="174" y="1032"/>
              <a:ext cx="229" cy="3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</a:pPr>
              <a:r>
                <a:rPr lang="zh-CN" altLang="zh-CN" sz="2800" b="1" strike="noStrike" noProof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ea"/>
                </a:rPr>
                <a:t>+</a:t>
              </a:r>
              <a:endParaRPr lang="zh-CN" altLang="zh-CN" sz="2800" b="1" strike="noStrike" noProof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  <p:sp>
          <p:nvSpPr>
            <p:cNvPr id="18566" name="Rectangle 134"/>
            <p:cNvSpPr>
              <a:spLocks noChangeArrowheads="1"/>
            </p:cNvSpPr>
            <p:nvPr/>
          </p:nvSpPr>
          <p:spPr bwMode="auto">
            <a:xfrm>
              <a:off x="163" y="1340"/>
              <a:ext cx="23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/>
              <a:r>
                <a:rPr lang="zh-CN" altLang="zh-CN" sz="2800" b="1" strike="noStrike" noProof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ea"/>
                </a:rPr>
                <a:t>-</a:t>
              </a:r>
              <a:endParaRPr lang="zh-CN" altLang="zh-CN" sz="2800" b="1" strike="noStrike" noProof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  <p:sp>
          <p:nvSpPr>
            <p:cNvPr id="18567" name="Text Box 135"/>
            <p:cNvSpPr txBox="1">
              <a:spLocks noChangeArrowheads="1"/>
            </p:cNvSpPr>
            <p:nvPr/>
          </p:nvSpPr>
          <p:spPr bwMode="auto">
            <a:xfrm>
              <a:off x="0" y="700"/>
              <a:ext cx="425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zh-CN" b="1" i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zh-CN" altLang="zh-CN" b="1" baseline="-2500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zh-CN" altLang="zh-CN" b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3142" name="Oval 136"/>
            <p:cNvSpPr/>
            <p:nvPr/>
          </p:nvSpPr>
          <p:spPr>
            <a:xfrm>
              <a:off x="1501" y="1781"/>
              <a:ext cx="56" cy="5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3143" name="Object 137"/>
            <p:cNvGraphicFramePr>
              <a:graphicFrameLocks noChangeAspect="1"/>
            </p:cNvGraphicFramePr>
            <p:nvPr/>
          </p:nvGraphicFramePr>
          <p:xfrm>
            <a:off x="521" y="948"/>
            <a:ext cx="181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7" name="" r:id="rId4" imgW="190500" imgH="228600" progId="Equation.3">
                    <p:embed/>
                  </p:oleObj>
                </mc:Choice>
                <mc:Fallback>
                  <p:oleObj name="" r:id="rId4" imgW="190500" imgH="228600" progId="Equation.3">
                    <p:embed/>
                    <p:pic>
                      <p:nvPicPr>
                        <p:cNvPr id="0" name="图片 322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21" y="948"/>
                          <a:ext cx="181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144" name="Object 138"/>
            <p:cNvGraphicFramePr>
              <a:graphicFrameLocks noChangeAspect="1"/>
            </p:cNvGraphicFramePr>
            <p:nvPr/>
          </p:nvGraphicFramePr>
          <p:xfrm>
            <a:off x="482" y="-52"/>
            <a:ext cx="150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" name="" r:id="rId6" imgW="152400" imgH="228600" progId="Equation.3">
                    <p:embed/>
                  </p:oleObj>
                </mc:Choice>
                <mc:Fallback>
                  <p:oleObj name="" r:id="rId6" imgW="152400" imgH="228600" progId="Equation.3">
                    <p:embed/>
                    <p:pic>
                      <p:nvPicPr>
                        <p:cNvPr id="0" name="图片 3225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82" y="-52"/>
                          <a:ext cx="150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145" name="Object 139"/>
            <p:cNvGraphicFramePr>
              <a:graphicFrameLocks noChangeAspect="1"/>
            </p:cNvGraphicFramePr>
            <p:nvPr/>
          </p:nvGraphicFramePr>
          <p:xfrm>
            <a:off x="998" y="21"/>
            <a:ext cx="177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2" name="" r:id="rId8" imgW="177800" imgH="240665" progId="Equation.3">
                    <p:embed/>
                  </p:oleObj>
                </mc:Choice>
                <mc:Fallback>
                  <p:oleObj name="" r:id="rId8" imgW="177800" imgH="240665" progId="Equation.3">
                    <p:embed/>
                    <p:pic>
                      <p:nvPicPr>
                        <p:cNvPr id="0" name="图片 3221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998" y="21"/>
                          <a:ext cx="177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146" name="Object 140"/>
            <p:cNvGraphicFramePr>
              <a:graphicFrameLocks noChangeAspect="1"/>
            </p:cNvGraphicFramePr>
            <p:nvPr/>
          </p:nvGraphicFramePr>
          <p:xfrm>
            <a:off x="1809" y="0"/>
            <a:ext cx="22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5" name="" r:id="rId10" imgW="228600" imgH="241300" progId="Equation.3">
                    <p:embed/>
                  </p:oleObj>
                </mc:Choice>
                <mc:Fallback>
                  <p:oleObj name="" r:id="rId10" imgW="228600" imgH="241300" progId="Equation.3">
                    <p:embed/>
                    <p:pic>
                      <p:nvPicPr>
                        <p:cNvPr id="0" name="图片 3224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809" y="0"/>
                          <a:ext cx="223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147" name="Object 141"/>
            <p:cNvGraphicFramePr>
              <a:graphicFrameLocks noChangeAspect="1"/>
            </p:cNvGraphicFramePr>
            <p:nvPr/>
          </p:nvGraphicFramePr>
          <p:xfrm>
            <a:off x="2780" y="926"/>
            <a:ext cx="181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" name="" r:id="rId12" imgW="203200" imgH="241300" progId="Equation.3">
                    <p:embed/>
                  </p:oleObj>
                </mc:Choice>
                <mc:Fallback>
                  <p:oleObj name="" r:id="rId12" imgW="203200" imgH="241300" progId="Equation.3">
                    <p:embed/>
                    <p:pic>
                      <p:nvPicPr>
                        <p:cNvPr id="0" name="图片 3222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780" y="926"/>
                          <a:ext cx="181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148" name="Object 142"/>
            <p:cNvGraphicFramePr>
              <a:graphicFrameLocks noChangeAspect="1"/>
            </p:cNvGraphicFramePr>
            <p:nvPr/>
          </p:nvGraphicFramePr>
          <p:xfrm>
            <a:off x="1445" y="338"/>
            <a:ext cx="259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" name="" r:id="rId14" imgW="304800" imgH="241300" progId="Equation.3">
                    <p:embed/>
                  </p:oleObj>
                </mc:Choice>
                <mc:Fallback>
                  <p:oleObj name="" r:id="rId14" imgW="304800" imgH="241300" progId="Equation.3">
                    <p:embed/>
                    <p:pic>
                      <p:nvPicPr>
                        <p:cNvPr id="0" name="图片 3223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445" y="338"/>
                          <a:ext cx="259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149" name="Line 143"/>
            <p:cNvSpPr/>
            <p:nvPr/>
          </p:nvSpPr>
          <p:spPr>
            <a:xfrm flipV="1">
              <a:off x="427" y="240"/>
              <a:ext cx="278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3150" name="Object 144"/>
            <p:cNvGraphicFramePr>
              <a:graphicFrameLocks noChangeAspect="1"/>
            </p:cNvGraphicFramePr>
            <p:nvPr/>
          </p:nvGraphicFramePr>
          <p:xfrm>
            <a:off x="26" y="1192"/>
            <a:ext cx="241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8" name="" r:id="rId16" imgW="215900" imgH="241300" progId="Equation.3">
                    <p:embed/>
                  </p:oleObj>
                </mc:Choice>
                <mc:Fallback>
                  <p:oleObj name="" r:id="rId16" imgW="215900" imgH="241300" progId="Equation.3">
                    <p:embed/>
                    <p:pic>
                      <p:nvPicPr>
                        <p:cNvPr id="0" name="图片 3227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6" y="1192"/>
                          <a:ext cx="241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151" name="Line 145"/>
            <p:cNvSpPr/>
            <p:nvPr/>
          </p:nvSpPr>
          <p:spPr>
            <a:xfrm>
              <a:off x="1267" y="1110"/>
              <a:ext cx="54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52" name="Rectangle 146"/>
            <p:cNvSpPr/>
            <p:nvPr/>
          </p:nvSpPr>
          <p:spPr>
            <a:xfrm>
              <a:off x="1491" y="1352"/>
              <a:ext cx="115" cy="23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53" name="Line 147"/>
            <p:cNvSpPr/>
            <p:nvPr/>
          </p:nvSpPr>
          <p:spPr>
            <a:xfrm>
              <a:off x="1537" y="1099"/>
              <a:ext cx="0" cy="2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54" name="Line 148"/>
            <p:cNvSpPr/>
            <p:nvPr/>
          </p:nvSpPr>
          <p:spPr>
            <a:xfrm>
              <a:off x="1532" y="1591"/>
              <a:ext cx="0" cy="21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155" name="Line 149"/>
            <p:cNvSpPr/>
            <p:nvPr/>
          </p:nvSpPr>
          <p:spPr>
            <a:xfrm>
              <a:off x="1656" y="1331"/>
              <a:ext cx="0" cy="28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3156" name="Object 150"/>
            <p:cNvGraphicFramePr>
              <a:graphicFrameLocks noChangeAspect="1"/>
            </p:cNvGraphicFramePr>
            <p:nvPr/>
          </p:nvGraphicFramePr>
          <p:xfrm>
            <a:off x="1677" y="1314"/>
            <a:ext cx="164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9" name="" r:id="rId18" imgW="165100" imgH="241300" progId="Equation.3">
                    <p:embed/>
                  </p:oleObj>
                </mc:Choice>
                <mc:Fallback>
                  <p:oleObj name="" r:id="rId18" imgW="165100" imgH="241300" progId="Equation.3">
                    <p:embed/>
                    <p:pic>
                      <p:nvPicPr>
                        <p:cNvPr id="0" name="图片 3228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677" y="1314"/>
                          <a:ext cx="164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83" name="Text Box 151"/>
            <p:cNvSpPr txBox="1">
              <a:spLocks noChangeArrowheads="1"/>
            </p:cNvSpPr>
            <p:nvPr/>
          </p:nvSpPr>
          <p:spPr bwMode="auto">
            <a:xfrm>
              <a:off x="1134" y="1333"/>
              <a:ext cx="466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zh-CN" b="1" i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zh-CN" altLang="zh-CN" b="1" baseline="-2500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zh-CN" altLang="zh-CN" b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3158" name="Line 152"/>
            <p:cNvSpPr/>
            <p:nvPr/>
          </p:nvSpPr>
          <p:spPr>
            <a:xfrm>
              <a:off x="900" y="529"/>
              <a:ext cx="0" cy="28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3159" name="Object 153"/>
            <p:cNvGraphicFramePr>
              <a:graphicFrameLocks noChangeAspect="1"/>
            </p:cNvGraphicFramePr>
            <p:nvPr/>
          </p:nvGraphicFramePr>
          <p:xfrm>
            <a:off x="910" y="483"/>
            <a:ext cx="287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" name="" r:id="rId20" imgW="254000" imgH="254000" progId="Equation.3">
                    <p:embed/>
                  </p:oleObj>
                </mc:Choice>
                <mc:Fallback>
                  <p:oleObj name="" r:id="rId20" imgW="254000" imgH="254000" progId="Equation.3">
                    <p:embed/>
                    <p:pic>
                      <p:nvPicPr>
                        <p:cNvPr id="0" name="图片 3230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910" y="483"/>
                          <a:ext cx="287" cy="3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160" name="Line 93"/>
          <p:cNvSpPr/>
          <p:nvPr/>
        </p:nvSpPr>
        <p:spPr>
          <a:xfrm flipV="1">
            <a:off x="4924425" y="3741738"/>
            <a:ext cx="403225" cy="635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0000" tIns="46800" rIns="90000" bIns="46800" anchor="ctr">
            <a:spAutoFit/>
          </a:bodyPr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161" name="Oval 25"/>
          <p:cNvSpPr/>
          <p:nvPr/>
        </p:nvSpPr>
        <p:spPr>
          <a:xfrm>
            <a:off x="5299075" y="3668713"/>
            <a:ext cx="134938" cy="134937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0000" tIns="46800" rIns="90000" bIns="46800" anchor="ctr">
            <a:spAutoFit/>
          </a:bodyPr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8504" name="Object 72"/>
          <p:cNvGraphicFramePr>
            <a:graphicFrameLocks noChangeAspect="1"/>
          </p:cNvGraphicFramePr>
          <p:nvPr/>
        </p:nvGraphicFramePr>
        <p:xfrm>
          <a:off x="1360488" y="5426075"/>
          <a:ext cx="23114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" r:id="rId22" imgW="963930" imgH="215900" progId="Equation.3">
                  <p:embed/>
                </p:oleObj>
              </mc:Choice>
              <mc:Fallback>
                <p:oleObj name="" r:id="rId22" imgW="963930" imgH="215900" progId="Equation.3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360488" y="5426075"/>
                        <a:ext cx="2311400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05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5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10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5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4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文本框 106497"/>
          <p:cNvSpPr txBox="1"/>
          <p:nvPr/>
        </p:nvSpPr>
        <p:spPr>
          <a:xfrm>
            <a:off x="4572000" y="1201738"/>
            <a:ext cx="2743200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无旁路电容</a:t>
            </a:r>
            <a:r>
              <a:rPr lang="en-US" altLang="zh-CN" sz="2800" b="1" i="1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C</a:t>
            </a:r>
            <a:r>
              <a:rPr lang="en-US" altLang="zh-CN" b="1" baseline="-25000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E</a:t>
            </a:r>
            <a:endParaRPr lang="en-US" altLang="zh-CN" b="1" baseline="-25000" noProof="1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499" name="文本框 106498"/>
          <p:cNvSpPr txBox="1"/>
          <p:nvPr/>
        </p:nvSpPr>
        <p:spPr>
          <a:xfrm>
            <a:off x="304800" y="1201738"/>
            <a:ext cx="2743200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有旁路电容</a:t>
            </a:r>
            <a:r>
              <a:rPr lang="en-US" altLang="zh-CN" sz="2800" b="1" i="1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C</a:t>
            </a:r>
            <a:r>
              <a:rPr lang="en-US" altLang="zh-CN" b="1" baseline="-25000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E</a:t>
            </a:r>
            <a:endParaRPr lang="en-US" altLang="zh-CN" b="1" baseline="-25000" noProof="1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1" name="横卷形 106500"/>
          <p:cNvSpPr/>
          <p:nvPr/>
        </p:nvSpPr>
        <p:spPr>
          <a:xfrm>
            <a:off x="7169150" y="2168525"/>
            <a:ext cx="1843088" cy="690563"/>
          </a:xfrm>
          <a:prstGeom prst="horizontalScroll">
            <a:avLst>
              <a:gd name="adj" fmla="val 12500"/>
            </a:avLst>
          </a:prstGeom>
          <a:pattFill prst="pct25">
            <a:fgClr>
              <a:srgbClr val="FFCCFF"/>
            </a:fgClr>
            <a:bgClr>
              <a:srgbClr val="FFFFFF"/>
            </a:bgClr>
          </a:pattFill>
          <a:ln w="28575" cap="flat" cmpd="sng">
            <a:solidFill>
              <a:srgbClr val="006600"/>
            </a:solidFill>
            <a:prstDash val="solid"/>
            <a:headEnd type="none" w="med" len="med"/>
            <a:tailEnd type="none" w="med" len="med"/>
          </a:ln>
        </p:spPr>
        <p:txBody>
          <a:bodyPr lIns="90000" tIns="46800" rIns="90000" bIns="46800" anchor="ctr">
            <a:spAutoFit/>
          </a:bodyPr>
          <a:p>
            <a:pPr lvl="0" algn="ctr" fontAlgn="base">
              <a:spcBef>
                <a:spcPct val="50000"/>
              </a:spcBef>
            </a:pPr>
            <a:r>
              <a:rPr lang="en-US" altLang="zh-CN" sz="2800" b="1" i="1" strike="noStrike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A</a:t>
            </a:r>
            <a:r>
              <a:rPr lang="en-US" altLang="zh-CN" sz="3200" b="1" i="1" strike="noStrike" baseline="-25000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u</a:t>
            </a:r>
            <a:r>
              <a:rPr lang="zh-CN" altLang="en-US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减小</a:t>
            </a:r>
            <a:endParaRPr lang="zh-CN" altLang="en-US" sz="2800" b="1" strike="noStrike" noProof="1" dirty="0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6" name="直接连接符 106508"/>
          <p:cNvSpPr/>
          <p:nvPr/>
        </p:nvSpPr>
        <p:spPr>
          <a:xfrm flipH="1">
            <a:off x="3079750" y="1209675"/>
            <a:ext cx="44450" cy="4660900"/>
          </a:xfrm>
          <a:prstGeom prst="line">
            <a:avLst/>
          </a:prstGeom>
          <a:ln w="76200" cap="flat" cmpd="tri">
            <a:solidFill>
              <a:srgbClr val="6600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6510" name="椭圆 106509"/>
          <p:cNvSpPr/>
          <p:nvPr/>
        </p:nvSpPr>
        <p:spPr>
          <a:xfrm>
            <a:off x="785813" y="53975"/>
            <a:ext cx="5595938" cy="1068388"/>
          </a:xfrm>
          <a:prstGeom prst="ellipse">
            <a:avLst/>
          </a:prstGeom>
          <a:noFill/>
          <a:ln w="38100">
            <a:noFill/>
          </a:ln>
        </p:spPr>
        <p:txBody>
          <a:bodyPr wrap="square"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4000" b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华文新魏" pitchFamily="2" charset="-122"/>
              </a:rPr>
              <a:t>分压式偏置电路</a:t>
            </a:r>
            <a:endParaRPr lang="zh-CN" altLang="en-US" sz="4000" b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华文新魏" pitchFamily="2" charset="-122"/>
            </a:endParaRPr>
          </a:p>
        </p:txBody>
      </p:sp>
      <p:sp>
        <p:nvSpPr>
          <p:cNvPr id="106515" name="横卷形 106514"/>
          <p:cNvSpPr/>
          <p:nvPr/>
        </p:nvSpPr>
        <p:spPr>
          <a:xfrm>
            <a:off x="7253288" y="3556000"/>
            <a:ext cx="1722438" cy="774700"/>
          </a:xfrm>
          <a:prstGeom prst="horizontalScroll">
            <a:avLst>
              <a:gd name="adj" fmla="val 12500"/>
            </a:avLst>
          </a:prstGeom>
          <a:pattFill prst="pct25">
            <a:fgClr>
              <a:srgbClr val="FFCCFF"/>
            </a:fgClr>
            <a:bgClr>
              <a:srgbClr val="FFFFFF"/>
            </a:bgClr>
          </a:pattFill>
          <a:ln w="28575" cap="flat" cmpd="sng">
            <a:solidFill>
              <a:srgbClr val="006600"/>
            </a:solidFill>
            <a:prstDash val="solid"/>
            <a:headEnd type="none" w="med" len="med"/>
            <a:tailEnd type="none" w="med" len="med"/>
          </a:ln>
        </p:spPr>
        <p:txBody>
          <a:bodyPr wrap="square" lIns="90000" tIns="46800" rIns="90000" bIns="46800" anchor="ctr">
            <a:spAutoFit/>
          </a:bodyPr>
          <a:p>
            <a:pPr lvl="0" algn="ctr" fontAlgn="base">
              <a:spcBef>
                <a:spcPct val="50000"/>
              </a:spcBef>
            </a:pPr>
            <a:r>
              <a:rPr lang="en-US" altLang="zh-CN" sz="3200" b="1" i="1" strike="noStrike" noProof="1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r</a:t>
            </a:r>
            <a:r>
              <a:rPr lang="en-US" altLang="zh-CN" sz="2800" b="1" strike="noStrike" baseline="-25000" noProof="1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i</a:t>
            </a:r>
            <a:r>
              <a:rPr lang="en-US" altLang="zh-CN" sz="2800" b="1" strike="noStrike" baseline="-25000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</a:t>
            </a:r>
            <a:r>
              <a:rPr lang="zh-CN" altLang="en-US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提高</a:t>
            </a:r>
            <a:endParaRPr lang="zh-CN" altLang="en-US" sz="2800" b="1" strike="noStrike" noProof="1" dirty="0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16" name="横卷形 106515"/>
          <p:cNvSpPr/>
          <p:nvPr/>
        </p:nvSpPr>
        <p:spPr>
          <a:xfrm>
            <a:off x="7243763" y="4906963"/>
            <a:ext cx="1719263" cy="692150"/>
          </a:xfrm>
          <a:prstGeom prst="horizontalScroll">
            <a:avLst>
              <a:gd name="adj" fmla="val 12500"/>
            </a:avLst>
          </a:prstGeom>
          <a:pattFill prst="pct25">
            <a:fgClr>
              <a:srgbClr val="FFCCFF"/>
            </a:fgClr>
            <a:bgClr>
              <a:srgbClr val="FFFFFF"/>
            </a:bgClr>
          </a:pattFill>
          <a:ln w="28575" cap="flat" cmpd="sng">
            <a:solidFill>
              <a:srgbClr val="006600"/>
            </a:solidFill>
            <a:prstDash val="solid"/>
            <a:headEnd type="none" w="med" len="med"/>
            <a:tailEnd type="none" w="med" len="med"/>
          </a:ln>
        </p:spPr>
        <p:txBody>
          <a:bodyPr wrap="square" lIns="90000" tIns="46800" rIns="90000" bIns="46800" anchor="ctr">
            <a:spAutoFit/>
          </a:bodyPr>
          <a:p>
            <a:pPr lvl="0" algn="ctr" fontAlgn="base">
              <a:spcBef>
                <a:spcPct val="50000"/>
              </a:spcBef>
            </a:pPr>
            <a:r>
              <a:rPr lang="en-US" altLang="zh-CN" sz="2800" b="1" i="1" strike="noStrike" noProof="1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r</a:t>
            </a:r>
            <a:r>
              <a:rPr lang="en-US" altLang="zh-CN" sz="2800" b="1" strike="noStrike" baseline="-25000" noProof="1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o</a:t>
            </a:r>
            <a:r>
              <a:rPr lang="zh-CN" altLang="en-US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不变</a:t>
            </a:r>
            <a:endParaRPr lang="zh-CN" altLang="en-US" sz="2800" b="1" strike="noStrike" noProof="1" dirty="0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4040" name="Object 6" descr="40%"/>
          <p:cNvGraphicFramePr>
            <a:graphicFrameLocks noChangeAspect="1"/>
          </p:cNvGraphicFramePr>
          <p:nvPr/>
        </p:nvGraphicFramePr>
        <p:xfrm>
          <a:off x="547688" y="1954213"/>
          <a:ext cx="240030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1" imgW="786765" imgH="431800" progId="Equation.DSMT4">
                  <p:embed/>
                </p:oleObj>
              </mc:Choice>
              <mc:Fallback>
                <p:oleObj name="" r:id="rId1" imgW="786765" imgH="431800" progId="Equation.DSMT4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7688" y="1954213"/>
                        <a:ext cx="2400300" cy="112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1" name="Object 4" descr="40%"/>
          <p:cNvGraphicFramePr>
            <a:graphicFrameLocks noChangeAspect="1"/>
          </p:cNvGraphicFramePr>
          <p:nvPr/>
        </p:nvGraphicFramePr>
        <p:xfrm>
          <a:off x="3327400" y="1939925"/>
          <a:ext cx="345122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" name="" r:id="rId3" imgW="1790700" imgH="558800" progId="Equation.DSMT4">
                  <p:embed/>
                </p:oleObj>
              </mc:Choice>
              <mc:Fallback>
                <p:oleObj name="" r:id="rId3" imgW="1790700" imgH="558800" progId="Equation.DSMT4">
                  <p:embed/>
                  <p:pic>
                    <p:nvPicPr>
                      <p:cNvPr id="0" name="图片 32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27400" y="1939925"/>
                        <a:ext cx="3451225" cy="1098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2" name="Object 9" descr="40%"/>
          <p:cNvGraphicFramePr>
            <a:graphicFrameLocks noChangeAspect="1"/>
          </p:cNvGraphicFramePr>
          <p:nvPr/>
        </p:nvGraphicFramePr>
        <p:xfrm>
          <a:off x="547688" y="3589338"/>
          <a:ext cx="21018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" r:id="rId5" imgW="787400" imgH="228600" progId="Equation.DSMT4">
                  <p:embed/>
                </p:oleObj>
              </mc:Choice>
              <mc:Fallback>
                <p:oleObj name="" r:id="rId5" imgW="787400" imgH="228600" progId="Equation.DSMT4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7688" y="3589338"/>
                        <a:ext cx="2101850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3" name="Object 7" descr="40%"/>
          <p:cNvGraphicFramePr>
            <a:graphicFrameLocks noChangeAspect="1"/>
          </p:cNvGraphicFramePr>
          <p:nvPr/>
        </p:nvGraphicFramePr>
        <p:xfrm>
          <a:off x="3255963" y="3632200"/>
          <a:ext cx="384175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" r:id="rId7" imgW="2489200" imgH="304800" progId="Equation.DSMT4">
                  <p:embed/>
                </p:oleObj>
              </mc:Choice>
              <mc:Fallback>
                <p:oleObj name="" r:id="rId7" imgW="2489200" imgH="304800" progId="Equation.DSMT4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55963" y="3632200"/>
                        <a:ext cx="3841750" cy="515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4" name="Object 10" descr="40%"/>
          <p:cNvGraphicFramePr>
            <a:graphicFrameLocks noChangeAspect="1"/>
          </p:cNvGraphicFramePr>
          <p:nvPr/>
        </p:nvGraphicFramePr>
        <p:xfrm>
          <a:off x="835025" y="4886325"/>
          <a:ext cx="14478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9" imgW="482600" imgH="228600" progId="Equation.DSMT4">
                  <p:embed/>
                </p:oleObj>
              </mc:Choice>
              <mc:Fallback>
                <p:oleObj name="" r:id="rId9" imgW="482600" imgH="228600" progId="Equation.DSMT4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35025" y="4886325"/>
                        <a:ext cx="1447800" cy="601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5" name="Object 10" descr="40%"/>
          <p:cNvGraphicFramePr>
            <a:graphicFrameLocks noChangeAspect="1"/>
          </p:cNvGraphicFramePr>
          <p:nvPr/>
        </p:nvGraphicFramePr>
        <p:xfrm>
          <a:off x="3417888" y="4886325"/>
          <a:ext cx="14478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11" imgW="482600" imgH="228600" progId="Equation.DSMT4">
                  <p:embed/>
                </p:oleObj>
              </mc:Choice>
              <mc:Fallback>
                <p:oleObj name="" r:id="rId11" imgW="482600" imgH="228600" progId="Equation.DSMT4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17888" y="4886325"/>
                        <a:ext cx="1447800" cy="601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6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1" grpId="0" bldLvl="0" animBg="1"/>
      <p:bldP spid="106515" grpId="0" bldLvl="0" animBg="1"/>
      <p:bldP spid="106516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92" name="文本框 107591"/>
          <p:cNvSpPr txBox="1"/>
          <p:nvPr/>
        </p:nvSpPr>
        <p:spPr>
          <a:xfrm>
            <a:off x="1219200" y="206375"/>
            <a:ext cx="2743200" cy="946150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noProof="1" dirty="0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对信号源电压的放大倍数？</a:t>
            </a:r>
            <a:endParaRPr lang="zh-CN" altLang="en-US" sz="2800" b="1" noProof="1" dirty="0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5058" name="对象 107592"/>
          <p:cNvGraphicFramePr/>
          <p:nvPr/>
        </p:nvGraphicFramePr>
        <p:xfrm>
          <a:off x="381000" y="152400"/>
          <a:ext cx="862013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" name="" r:id="rId1" imgW="1857375" imgH="3996055" progId="MS_ClipArt_Gallery.5">
                  <p:embed/>
                </p:oleObj>
              </mc:Choice>
              <mc:Fallback>
                <p:oleObj name="" r:id="rId1" imgW="1857375" imgH="3996055" progId="MS_ClipArt_Gallery.5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" y="152400"/>
                        <a:ext cx="862013" cy="152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94" name="文本框 107593"/>
          <p:cNvSpPr txBox="1"/>
          <p:nvPr/>
        </p:nvSpPr>
        <p:spPr>
          <a:xfrm>
            <a:off x="304800" y="4800600"/>
            <a:ext cx="1447800" cy="519113"/>
          </a:xfrm>
          <a:prstGeom prst="rect">
            <a:avLst/>
          </a:prstGeom>
          <a:noFill/>
          <a:ln w="38100">
            <a:noFill/>
          </a:ln>
        </p:spPr>
        <p:txBody>
          <a:bodyPr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信号源</a:t>
            </a:r>
            <a:endParaRPr lang="zh-CN" altLang="en-US" sz="2800" b="1" noProof="1" dirty="0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95" name="直接连接符 107594"/>
          <p:cNvSpPr/>
          <p:nvPr/>
        </p:nvSpPr>
        <p:spPr>
          <a:xfrm>
            <a:off x="1165225" y="2743200"/>
            <a:ext cx="0" cy="2209800"/>
          </a:xfrm>
          <a:prstGeom prst="line">
            <a:avLst/>
          </a:prstGeom>
          <a:ln w="38100" cap="flat" cmpd="sng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07600" name="文本框 107599"/>
          <p:cNvSpPr txBox="1"/>
          <p:nvPr/>
        </p:nvSpPr>
        <p:spPr>
          <a:xfrm>
            <a:off x="5270500" y="1447800"/>
            <a:ext cx="3470275" cy="519113"/>
          </a:xfrm>
          <a:prstGeom prst="rect">
            <a:avLst/>
          </a:prstGeom>
          <a:noFill/>
          <a:ln w="38100">
            <a:noFill/>
          </a:ln>
        </p:spPr>
        <p:txBody>
          <a:bodyPr wrap="none" lIns="90000" tIns="46800" rIns="90000" bIns="46800" anchor="ctr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考虑信号源内阻</a:t>
            </a:r>
            <a:r>
              <a:rPr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 </a:t>
            </a:r>
            <a:r>
              <a:rPr lang="zh-CN" altLang="en-US" sz="2800" b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endParaRPr lang="zh-CN" altLang="en-US" sz="2800" b="1"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07678" name="组合 107677"/>
          <p:cNvGrpSpPr/>
          <p:nvPr/>
        </p:nvGrpSpPr>
        <p:grpSpPr>
          <a:xfrm>
            <a:off x="1579563" y="4038600"/>
            <a:ext cx="481012" cy="984250"/>
            <a:chOff x="995" y="2544"/>
            <a:chExt cx="303" cy="620"/>
          </a:xfrm>
        </p:grpSpPr>
        <p:sp>
          <p:nvSpPr>
            <p:cNvPr id="45063" name="任意多边形 107606"/>
            <p:cNvSpPr/>
            <p:nvPr/>
          </p:nvSpPr>
          <p:spPr>
            <a:xfrm>
              <a:off x="995" y="2544"/>
              <a:ext cx="240" cy="528"/>
            </a:xfrm>
            <a:custGeom>
              <a:avLst/>
              <a:gdLst/>
              <a:ahLst/>
              <a:cxnLst>
                <a:cxn ang="270">
                  <a:pos x="15126" y="0"/>
                </a:cxn>
                <a:cxn ang="90">
                  <a:pos x="15126" y="12158"/>
                </a:cxn>
                <a:cxn ang="90">
                  <a:pos x="3237" y="21600"/>
                </a:cxn>
                <a:cxn ang="0">
                  <a:pos x="21600" y="6079"/>
                </a:cxn>
              </a:cxnLst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FF0000"/>
                </a:gs>
              </a:gsLst>
              <a:lin ang="18900000" scaled="1"/>
              <a:tileRect/>
            </a:gradFill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45064" name="对象 107607"/>
            <p:cNvGraphicFramePr/>
            <p:nvPr/>
          </p:nvGraphicFramePr>
          <p:xfrm>
            <a:off x="1104" y="2831"/>
            <a:ext cx="194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" name="" r:id="rId3" imgW="127000" imgH="215900" progId="Equation.3">
                    <p:embed/>
                  </p:oleObj>
                </mc:Choice>
                <mc:Fallback>
                  <p:oleObj name="" r:id="rId3" imgW="127000" imgH="215900" progId="Equation.3">
                    <p:embed/>
                    <p:pic>
                      <p:nvPicPr>
                        <p:cNvPr id="0" name="图片 3238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04" y="2831"/>
                          <a:ext cx="194" cy="3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065" name="组合 107608"/>
          <p:cNvGrpSpPr/>
          <p:nvPr/>
        </p:nvGrpSpPr>
        <p:grpSpPr>
          <a:xfrm>
            <a:off x="228600" y="1096963"/>
            <a:ext cx="4876800" cy="3779837"/>
            <a:chOff x="240" y="576"/>
            <a:chExt cx="3072" cy="2381"/>
          </a:xfrm>
        </p:grpSpPr>
        <p:sp>
          <p:nvSpPr>
            <p:cNvPr id="45066" name="直接连接符 107609"/>
            <p:cNvSpPr/>
            <p:nvPr/>
          </p:nvSpPr>
          <p:spPr>
            <a:xfrm flipH="1">
              <a:off x="1374" y="1680"/>
              <a:ext cx="0" cy="38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67" name="文本框 107610"/>
            <p:cNvSpPr txBox="1"/>
            <p:nvPr/>
          </p:nvSpPr>
          <p:spPr>
            <a:xfrm>
              <a:off x="932" y="907"/>
              <a:ext cx="4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B1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068" name="直接连接符 107611"/>
            <p:cNvSpPr/>
            <p:nvPr/>
          </p:nvSpPr>
          <p:spPr>
            <a:xfrm>
              <a:off x="1376" y="1310"/>
              <a:ext cx="0" cy="4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69" name="直接连接符 107612"/>
            <p:cNvSpPr/>
            <p:nvPr/>
          </p:nvSpPr>
          <p:spPr>
            <a:xfrm flipH="1" flipV="1">
              <a:off x="1380" y="742"/>
              <a:ext cx="0" cy="2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70" name="矩形 107613"/>
            <p:cNvSpPr/>
            <p:nvPr/>
          </p:nvSpPr>
          <p:spPr>
            <a:xfrm>
              <a:off x="1332" y="987"/>
              <a:ext cx="95" cy="32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71" name="直接连接符 107614"/>
            <p:cNvSpPr/>
            <p:nvPr/>
          </p:nvSpPr>
          <p:spPr>
            <a:xfrm>
              <a:off x="1380" y="752"/>
              <a:ext cx="129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72" name="直接连接符 107615"/>
            <p:cNvSpPr/>
            <p:nvPr/>
          </p:nvSpPr>
          <p:spPr>
            <a:xfrm flipV="1">
              <a:off x="2001" y="756"/>
              <a:ext cx="0" cy="2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5073" name="直接连接符 107616"/>
            <p:cNvSpPr/>
            <p:nvPr/>
          </p:nvSpPr>
          <p:spPr>
            <a:xfrm>
              <a:off x="1872" y="1586"/>
              <a:ext cx="0" cy="2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5074" name="直接连接符 107617"/>
            <p:cNvSpPr/>
            <p:nvPr/>
          </p:nvSpPr>
          <p:spPr>
            <a:xfrm>
              <a:off x="1872" y="1772"/>
              <a:ext cx="141" cy="1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lg"/>
            </a:ln>
          </p:spPr>
        </p:sp>
        <p:sp>
          <p:nvSpPr>
            <p:cNvPr id="45075" name="直接连接符 107618"/>
            <p:cNvSpPr/>
            <p:nvPr/>
          </p:nvSpPr>
          <p:spPr>
            <a:xfrm flipV="1">
              <a:off x="1872" y="1536"/>
              <a:ext cx="141" cy="12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5076" name="直接连接符 107619"/>
            <p:cNvSpPr/>
            <p:nvPr/>
          </p:nvSpPr>
          <p:spPr>
            <a:xfrm>
              <a:off x="2004" y="1286"/>
              <a:ext cx="0" cy="26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5077" name="直接连接符 107620"/>
            <p:cNvSpPr/>
            <p:nvPr/>
          </p:nvSpPr>
          <p:spPr>
            <a:xfrm flipH="1">
              <a:off x="2005" y="1907"/>
              <a:ext cx="0" cy="30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5078" name="直接连接符 107621"/>
            <p:cNvSpPr/>
            <p:nvPr/>
          </p:nvSpPr>
          <p:spPr>
            <a:xfrm>
              <a:off x="1103" y="1719"/>
              <a:ext cx="77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5079" name="直接连接符 107622"/>
            <p:cNvSpPr/>
            <p:nvPr/>
          </p:nvSpPr>
          <p:spPr>
            <a:xfrm>
              <a:off x="672" y="2787"/>
              <a:ext cx="214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5080" name="直接连接符 107623"/>
            <p:cNvSpPr/>
            <p:nvPr/>
          </p:nvSpPr>
          <p:spPr>
            <a:xfrm flipH="1">
              <a:off x="2006" y="2531"/>
              <a:ext cx="0" cy="34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5081" name="矩形 107624"/>
            <p:cNvSpPr/>
            <p:nvPr/>
          </p:nvSpPr>
          <p:spPr>
            <a:xfrm>
              <a:off x="1958" y="960"/>
              <a:ext cx="94" cy="32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82" name="椭圆 107625"/>
            <p:cNvSpPr/>
            <p:nvPr/>
          </p:nvSpPr>
          <p:spPr>
            <a:xfrm>
              <a:off x="2662" y="710"/>
              <a:ext cx="68" cy="7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5083" name="组合 107626"/>
            <p:cNvGrpSpPr/>
            <p:nvPr/>
          </p:nvGrpSpPr>
          <p:grpSpPr>
            <a:xfrm>
              <a:off x="1040" y="1596"/>
              <a:ext cx="68" cy="262"/>
              <a:chOff x="3454" y="2018"/>
              <a:chExt cx="96" cy="328"/>
            </a:xfrm>
          </p:grpSpPr>
          <p:sp>
            <p:nvSpPr>
              <p:cNvPr id="45084" name="直接连接符 107627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085" name="直接连接符 107628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5086" name="直接连接符 107629"/>
            <p:cNvSpPr/>
            <p:nvPr/>
          </p:nvSpPr>
          <p:spPr>
            <a:xfrm>
              <a:off x="672" y="1719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5087" name="组合 107630"/>
            <p:cNvGrpSpPr/>
            <p:nvPr/>
          </p:nvGrpSpPr>
          <p:grpSpPr>
            <a:xfrm flipH="1">
              <a:off x="2455" y="1357"/>
              <a:ext cx="69" cy="261"/>
              <a:chOff x="3454" y="2018"/>
              <a:chExt cx="96" cy="328"/>
            </a:xfrm>
          </p:grpSpPr>
          <p:sp>
            <p:nvSpPr>
              <p:cNvPr id="45088" name="直接连接符 107631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089" name="直接连接符 107632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5090" name="直接连接符 107633"/>
            <p:cNvSpPr/>
            <p:nvPr/>
          </p:nvSpPr>
          <p:spPr>
            <a:xfrm flipH="1" flipV="1">
              <a:off x="2520" y="1473"/>
              <a:ext cx="29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91" name="直接连接符 107634"/>
            <p:cNvSpPr/>
            <p:nvPr/>
          </p:nvSpPr>
          <p:spPr>
            <a:xfrm>
              <a:off x="2001" y="1480"/>
              <a:ext cx="45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92" name="文本框 107635"/>
            <p:cNvSpPr txBox="1"/>
            <p:nvPr/>
          </p:nvSpPr>
          <p:spPr>
            <a:xfrm>
              <a:off x="1607" y="971"/>
              <a:ext cx="35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093" name="文本框 107636"/>
            <p:cNvSpPr txBox="1"/>
            <p:nvPr/>
          </p:nvSpPr>
          <p:spPr>
            <a:xfrm>
              <a:off x="882" y="1250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1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094" name="文本框 107637"/>
            <p:cNvSpPr txBox="1"/>
            <p:nvPr/>
          </p:nvSpPr>
          <p:spPr>
            <a:xfrm>
              <a:off x="2332" y="1027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2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grpSp>
          <p:nvGrpSpPr>
            <p:cNvPr id="45095" name="组合 107638"/>
            <p:cNvGrpSpPr/>
            <p:nvPr/>
          </p:nvGrpSpPr>
          <p:grpSpPr>
            <a:xfrm>
              <a:off x="1932" y="2795"/>
              <a:ext cx="146" cy="162"/>
              <a:chOff x="2898" y="3684"/>
              <a:chExt cx="204" cy="204"/>
            </a:xfrm>
          </p:grpSpPr>
          <p:sp>
            <p:nvSpPr>
              <p:cNvPr id="45096" name="直接连接符 107639"/>
              <p:cNvSpPr/>
              <p:nvPr/>
            </p:nvSpPr>
            <p:spPr>
              <a:xfrm>
                <a:off x="3000" y="3684"/>
                <a:ext cx="0" cy="2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097" name="直接连接符 107640"/>
              <p:cNvSpPr/>
              <p:nvPr/>
            </p:nvSpPr>
            <p:spPr>
              <a:xfrm>
                <a:off x="2898" y="3876"/>
                <a:ext cx="204" cy="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5098" name="椭圆 107641"/>
            <p:cNvSpPr/>
            <p:nvPr/>
          </p:nvSpPr>
          <p:spPr>
            <a:xfrm>
              <a:off x="1988" y="2766"/>
              <a:ext cx="33" cy="3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99" name="矩形 107642"/>
            <p:cNvSpPr/>
            <p:nvPr/>
          </p:nvSpPr>
          <p:spPr>
            <a:xfrm>
              <a:off x="1332" y="2068"/>
              <a:ext cx="95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00" name="文本框 107643"/>
            <p:cNvSpPr txBox="1"/>
            <p:nvPr/>
          </p:nvSpPr>
          <p:spPr>
            <a:xfrm>
              <a:off x="959" y="2027"/>
              <a:ext cx="41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B2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01" name="矩形 107644"/>
            <p:cNvSpPr/>
            <p:nvPr/>
          </p:nvSpPr>
          <p:spPr>
            <a:xfrm>
              <a:off x="1958" y="2219"/>
              <a:ext cx="94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02" name="直接连接符 107645"/>
            <p:cNvSpPr/>
            <p:nvPr/>
          </p:nvSpPr>
          <p:spPr>
            <a:xfrm flipH="1">
              <a:off x="2802" y="1468"/>
              <a:ext cx="0" cy="5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03" name="矩形 107646"/>
            <p:cNvSpPr/>
            <p:nvPr/>
          </p:nvSpPr>
          <p:spPr>
            <a:xfrm>
              <a:off x="2755" y="1970"/>
              <a:ext cx="93" cy="32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04" name="直接连接符 107647"/>
            <p:cNvSpPr/>
            <p:nvPr/>
          </p:nvSpPr>
          <p:spPr>
            <a:xfrm>
              <a:off x="2005" y="1986"/>
              <a:ext cx="26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5105" name="组合 107648"/>
            <p:cNvGrpSpPr/>
            <p:nvPr/>
          </p:nvGrpSpPr>
          <p:grpSpPr>
            <a:xfrm>
              <a:off x="2177" y="2352"/>
              <a:ext cx="196" cy="76"/>
              <a:chOff x="2460" y="2076"/>
              <a:chExt cx="276" cy="96"/>
            </a:xfrm>
          </p:grpSpPr>
          <p:sp>
            <p:nvSpPr>
              <p:cNvPr id="45106" name="直接连接符 107649"/>
              <p:cNvSpPr/>
              <p:nvPr/>
            </p:nvSpPr>
            <p:spPr>
              <a:xfrm>
                <a:off x="2460" y="2076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107" name="直接连接符 107650"/>
              <p:cNvSpPr/>
              <p:nvPr/>
            </p:nvSpPr>
            <p:spPr>
              <a:xfrm>
                <a:off x="2460" y="2172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5108" name="直接连接符 107651"/>
            <p:cNvSpPr/>
            <p:nvPr/>
          </p:nvSpPr>
          <p:spPr>
            <a:xfrm>
              <a:off x="2271" y="1976"/>
              <a:ext cx="0" cy="3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09" name="直接连接符 107652"/>
            <p:cNvSpPr/>
            <p:nvPr/>
          </p:nvSpPr>
          <p:spPr>
            <a:xfrm>
              <a:off x="2271" y="2422"/>
              <a:ext cx="0" cy="37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10" name="文本框 107653"/>
            <p:cNvSpPr txBox="1"/>
            <p:nvPr/>
          </p:nvSpPr>
          <p:spPr>
            <a:xfrm>
              <a:off x="2322" y="2217"/>
              <a:ext cx="38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11" name="文本框 107654"/>
            <p:cNvSpPr txBox="1"/>
            <p:nvPr/>
          </p:nvSpPr>
          <p:spPr>
            <a:xfrm>
              <a:off x="1630" y="2123"/>
              <a:ext cx="34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12" name="文本框 107655"/>
            <p:cNvSpPr txBox="1"/>
            <p:nvPr/>
          </p:nvSpPr>
          <p:spPr>
            <a:xfrm>
              <a:off x="2420" y="1920"/>
              <a:ext cx="36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L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13" name="矩形 107656"/>
            <p:cNvSpPr/>
            <p:nvPr/>
          </p:nvSpPr>
          <p:spPr>
            <a:xfrm>
              <a:off x="1070" y="1449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14" name="矩形 107657"/>
            <p:cNvSpPr/>
            <p:nvPr/>
          </p:nvSpPr>
          <p:spPr>
            <a:xfrm>
              <a:off x="2238" y="1212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15" name="矩形 107658"/>
            <p:cNvSpPr/>
            <p:nvPr/>
          </p:nvSpPr>
          <p:spPr>
            <a:xfrm>
              <a:off x="2222" y="2073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16" name="文本框 107659"/>
            <p:cNvSpPr txBox="1"/>
            <p:nvPr/>
          </p:nvSpPr>
          <p:spPr>
            <a:xfrm>
              <a:off x="2724" y="576"/>
              <a:ext cx="58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CC</a:t>
              </a:r>
              <a:endParaRPr lang="en-US" altLang="zh-CN" b="1" baseline="-25000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17" name="文本框 107660"/>
            <p:cNvSpPr txBox="1"/>
            <p:nvPr/>
          </p:nvSpPr>
          <p:spPr>
            <a:xfrm>
              <a:off x="720" y="2072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i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18" name="文本框 107661"/>
            <p:cNvSpPr txBox="1"/>
            <p:nvPr/>
          </p:nvSpPr>
          <p:spPr>
            <a:xfrm>
              <a:off x="2868" y="1931"/>
              <a:ext cx="34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o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19" name="矩形 107662"/>
            <p:cNvSpPr/>
            <p:nvPr/>
          </p:nvSpPr>
          <p:spPr>
            <a:xfrm>
              <a:off x="2928" y="1586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20" name="矩形 107663"/>
            <p:cNvSpPr/>
            <p:nvPr/>
          </p:nvSpPr>
          <p:spPr>
            <a:xfrm>
              <a:off x="768" y="1709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21" name="矩形 107664"/>
            <p:cNvSpPr/>
            <p:nvPr/>
          </p:nvSpPr>
          <p:spPr>
            <a:xfrm>
              <a:off x="2929" y="2331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22" name="矩形 107665"/>
            <p:cNvSpPr/>
            <p:nvPr/>
          </p:nvSpPr>
          <p:spPr>
            <a:xfrm>
              <a:off x="768" y="2534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23" name="直接连接符 107666"/>
            <p:cNvSpPr/>
            <p:nvPr/>
          </p:nvSpPr>
          <p:spPr>
            <a:xfrm>
              <a:off x="2802" y="2306"/>
              <a:ext cx="0" cy="4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24" name="直接连接符 107667"/>
            <p:cNvSpPr/>
            <p:nvPr/>
          </p:nvSpPr>
          <p:spPr>
            <a:xfrm>
              <a:off x="1374" y="2402"/>
              <a:ext cx="0" cy="384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25" name="矩形 107668"/>
            <p:cNvSpPr/>
            <p:nvPr/>
          </p:nvSpPr>
          <p:spPr>
            <a:xfrm>
              <a:off x="624" y="1912"/>
              <a:ext cx="95" cy="325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26" name="椭圆 107669"/>
            <p:cNvSpPr/>
            <p:nvPr/>
          </p:nvSpPr>
          <p:spPr>
            <a:xfrm>
              <a:off x="576" y="2429"/>
              <a:ext cx="192" cy="19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27" name="直接连接符 107670"/>
            <p:cNvSpPr/>
            <p:nvPr/>
          </p:nvSpPr>
          <p:spPr>
            <a:xfrm flipV="1">
              <a:off x="672" y="1709"/>
              <a:ext cx="0" cy="2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28" name="直接连接符 107671"/>
            <p:cNvSpPr/>
            <p:nvPr/>
          </p:nvSpPr>
          <p:spPr>
            <a:xfrm>
              <a:off x="672" y="2237"/>
              <a:ext cx="0" cy="5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29" name="文本框 107672"/>
            <p:cNvSpPr txBox="1"/>
            <p:nvPr/>
          </p:nvSpPr>
          <p:spPr>
            <a:xfrm>
              <a:off x="295" y="1853"/>
              <a:ext cx="33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b="1" baseline="-25000">
                  <a:latin typeface="Times New Roman" panose="02020603050405020304" pitchFamily="18" charset="0"/>
                  <a:ea typeface="长城楷体" pitchFamily="49" charset="-122"/>
                </a:rPr>
                <a:t>S</a:t>
              </a:r>
              <a:endParaRPr lang="en-US" altLang="zh-CN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30" name="文本框 107673"/>
            <p:cNvSpPr txBox="1"/>
            <p:nvPr/>
          </p:nvSpPr>
          <p:spPr>
            <a:xfrm>
              <a:off x="240" y="2333"/>
              <a:ext cx="40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S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31" name="矩形 107674"/>
            <p:cNvSpPr/>
            <p:nvPr/>
          </p:nvSpPr>
          <p:spPr>
            <a:xfrm>
              <a:off x="430" y="2198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32" name="矩形 107675"/>
            <p:cNvSpPr/>
            <p:nvPr/>
          </p:nvSpPr>
          <p:spPr>
            <a:xfrm>
              <a:off x="423" y="2525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5133" name="椭圆 107676"/>
            <p:cNvSpPr/>
            <p:nvPr/>
          </p:nvSpPr>
          <p:spPr>
            <a:xfrm>
              <a:off x="1348" y="1692"/>
              <a:ext cx="50" cy="50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5134" name="对象 1"/>
          <p:cNvGraphicFramePr/>
          <p:nvPr/>
        </p:nvGraphicFramePr>
        <p:xfrm>
          <a:off x="1739900" y="4451350"/>
          <a:ext cx="3365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" r:id="rId5" imgW="405130" imgH="501650" progId="Equation.KSEE3">
                  <p:embed/>
                </p:oleObj>
              </mc:Choice>
              <mc:Fallback>
                <p:oleObj name="" r:id="rId5" imgW="405130" imgH="501650" progId="Equation.KSEE3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39900" y="4451350"/>
                        <a:ext cx="33655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5273675" y="323850"/>
          <a:ext cx="2784475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" r:id="rId7" imgW="1091565" imgH="457200" progId="Equation.3">
                  <p:embed/>
                </p:oleObj>
              </mc:Choice>
              <mc:Fallback>
                <p:oleObj name="" r:id="rId7" imgW="1091565" imgH="457200" progId="Equation.3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73675" y="323850"/>
                        <a:ext cx="2784475" cy="116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9"/>
          <p:cNvGraphicFramePr>
            <a:graphicFrameLocks noChangeAspect="1"/>
          </p:cNvGraphicFramePr>
          <p:nvPr/>
        </p:nvGraphicFramePr>
        <p:xfrm>
          <a:off x="5272088" y="1966913"/>
          <a:ext cx="1566862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" r:id="rId9" imgW="622300" imgH="457200" progId="Equation.3">
                  <p:embed/>
                </p:oleObj>
              </mc:Choice>
              <mc:Fallback>
                <p:oleObj name="" r:id="rId9" imgW="622300" imgH="457200" progId="Equation.3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72088" y="1966913"/>
                        <a:ext cx="1566862" cy="1155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10"/>
          <p:cNvGraphicFramePr>
            <a:graphicFrameLocks noChangeAspect="1"/>
          </p:cNvGraphicFramePr>
          <p:nvPr/>
        </p:nvGraphicFramePr>
        <p:xfrm>
          <a:off x="6799263" y="1960563"/>
          <a:ext cx="1736725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5" name="" r:id="rId11" imgW="698500" imgH="457200" progId="Equation.3">
                  <p:embed/>
                </p:oleObj>
              </mc:Choice>
              <mc:Fallback>
                <p:oleObj name="" r:id="rId11" imgW="698500" imgH="457200" progId="Equation.3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99263" y="1960563"/>
                        <a:ext cx="1736725" cy="1138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1" name="Object 11"/>
          <p:cNvGraphicFramePr>
            <a:graphicFrameLocks noChangeAspect="1"/>
          </p:cNvGraphicFramePr>
          <p:nvPr/>
        </p:nvGraphicFramePr>
        <p:xfrm>
          <a:off x="9324975" y="2555875"/>
          <a:ext cx="1719263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" name="" r:id="rId13" imgW="673100" imgH="457200" progId="Equation.3">
                  <p:embed/>
                </p:oleObj>
              </mc:Choice>
              <mc:Fallback>
                <p:oleObj name="" r:id="rId13" imgW="673100" imgH="457200" progId="Equation.3">
                  <p:embed/>
                  <p:pic>
                    <p:nvPicPr>
                      <p:cNvPr id="0" name="图片 324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324975" y="2555875"/>
                        <a:ext cx="1719263" cy="1169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5139" name="图片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34075" y="3057525"/>
            <a:ext cx="1724025" cy="117157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0492" name="Object 12"/>
          <p:cNvGraphicFramePr>
            <a:graphicFrameLocks noChangeAspect="1"/>
          </p:cNvGraphicFramePr>
          <p:nvPr/>
        </p:nvGraphicFramePr>
        <p:xfrm>
          <a:off x="5267325" y="4154488"/>
          <a:ext cx="2136775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" name="" r:id="rId16" imgW="838200" imgH="457200" progId="Equation.3">
                  <p:embed/>
                </p:oleObj>
              </mc:Choice>
              <mc:Fallback>
                <p:oleObj name="" r:id="rId16" imgW="838200" imgH="457200" progId="Equation.3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267325" y="4154488"/>
                        <a:ext cx="2136775" cy="1165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3962400" y="5326063"/>
          <a:ext cx="4618038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" name="" r:id="rId18" imgW="1764665" imgH="431800" progId="Equation.3">
                  <p:embed/>
                </p:oleObj>
              </mc:Choice>
              <mc:Fallback>
                <p:oleObj name="" r:id="rId18" imgW="1764665" imgH="431800" progId="Equation.3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962400" y="5326063"/>
                        <a:ext cx="4618038" cy="1125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7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10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94" grpId="0"/>
      <p:bldP spid="10760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6" name="标题 108545"/>
          <p:cNvSpPr/>
          <p:nvPr>
            <p:ph type="title"/>
          </p:nvPr>
        </p:nvSpPr>
        <p:spPr>
          <a:xfrm>
            <a:off x="228600" y="533400"/>
            <a:ext cx="1524000" cy="685800"/>
          </a:xfrm>
          <a:noFill/>
          <a:ln>
            <a:noFill/>
          </a:ln>
        </p:spPr>
        <p:txBody>
          <a:bodyPr/>
          <a:p>
            <a:pPr fontAlgn="base"/>
            <a:r>
              <a:rPr lang="zh-CN" altLang="en-US" sz="2800" b="1" strike="noStrike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lang="en-US" altLang="zh-CN" sz="2800" b="1" strike="noStrike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1:</a:t>
            </a:r>
            <a:endParaRPr lang="en-US" altLang="zh-CN" sz="2800" b="1" strike="noStrike" noProof="1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46082" name="矩形 108546"/>
          <p:cNvSpPr/>
          <p:nvPr/>
        </p:nvSpPr>
        <p:spPr>
          <a:xfrm>
            <a:off x="441325" y="441325"/>
            <a:ext cx="8562975" cy="29114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lnSpc>
                <a:spcPct val="11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在图示放大电路中，已知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=12V,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= 6kΩ, </a:t>
            </a:r>
            <a:endParaRPr lang="en-US" altLang="zh-CN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 R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E1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= 300Ω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E2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= 2.7kΩ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B1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= 60kΩ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B2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= 20kΩ</a:t>
            </a:r>
            <a:endParaRPr lang="en-US" altLang="zh-CN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 6kΩ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，晶体管</a:t>
            </a:r>
            <a:r>
              <a:rPr lang="en-US" altLang="zh-CN" sz="2800" b="1" i="1">
                <a:latin typeface="宋体" panose="02010600030101010101" pitchFamily="2" charset="-122"/>
                <a:ea typeface="宋体" panose="02010600030101010101" pitchFamily="2" charset="-122"/>
              </a:rPr>
              <a:t>β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=50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=0.6V,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试求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静态工作点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及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CE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(2)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画出微变等效电路；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(3)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输入电阻</a:t>
            </a:r>
            <a:r>
              <a:rPr lang="en-US" altLang="zh-CN" sz="2800" b="1" i="1" err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1" baseline="-25000" err="1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i="1" err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b="1" baseline="-25000" err="1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及 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6083" name="对象 108547"/>
          <p:cNvGraphicFramePr/>
          <p:nvPr/>
        </p:nvGraphicFramePr>
        <p:xfrm>
          <a:off x="1295400" y="4267200"/>
          <a:ext cx="1730375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" name="" r:id="rId1" imgW="2286000" imgH="1957070" progId="MS_ClipArt_Gallery.5">
                  <p:embed/>
                </p:oleObj>
              </mc:Choice>
              <mc:Fallback>
                <p:oleObj name="" r:id="rId1" imgW="2286000" imgH="1957070" progId="MS_ClipArt_Gallery.5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5400" y="4267200"/>
                        <a:ext cx="1730375" cy="1243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084" name="组合 108548"/>
          <p:cNvGrpSpPr/>
          <p:nvPr/>
        </p:nvGrpSpPr>
        <p:grpSpPr>
          <a:xfrm>
            <a:off x="609600" y="6086475"/>
            <a:ext cx="3505200" cy="161925"/>
            <a:chOff x="0" y="3984"/>
            <a:chExt cx="2208" cy="102"/>
          </a:xfrm>
        </p:grpSpPr>
        <p:pic>
          <p:nvPicPr>
            <p:cNvPr id="46085" name="图片 108549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086" name="图片 108550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087" name="图片 108551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088" name="图片 108552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8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089" name="图片 108553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090" name="图片 108554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091" name="图片 108555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092" name="图片 108556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8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093" name="图片 108557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4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094" name="图片 108558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6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095" name="图片 108559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2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096" name="图片 108560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2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097" name="图片 108561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8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098" name="图片 108562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4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099" name="图片 108563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4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100" name="图片 108564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0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101" name="图片 108565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30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102" name="图片 108566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2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103" name="图片 108567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8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104" name="图片 108568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8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105" name="图片 108569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0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106" name="图片 108570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6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107" name="图片 108571" descr="Green and Black Diamon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16" y="3984"/>
              <a:ext cx="102" cy="102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46108" name="组合 108576"/>
          <p:cNvGrpSpPr/>
          <p:nvPr/>
        </p:nvGrpSpPr>
        <p:grpSpPr>
          <a:xfrm>
            <a:off x="4495800" y="2133600"/>
            <a:ext cx="4600575" cy="3962400"/>
            <a:chOff x="2832" y="1344"/>
            <a:chExt cx="2898" cy="2496"/>
          </a:xfrm>
        </p:grpSpPr>
        <p:sp>
          <p:nvSpPr>
            <p:cNvPr id="46109" name="直接连接符 108577"/>
            <p:cNvSpPr/>
            <p:nvPr/>
          </p:nvSpPr>
          <p:spPr>
            <a:xfrm flipH="1">
              <a:off x="3726" y="2355"/>
              <a:ext cx="0" cy="3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10" name="文本框 108578"/>
            <p:cNvSpPr txBox="1"/>
            <p:nvPr/>
          </p:nvSpPr>
          <p:spPr>
            <a:xfrm>
              <a:off x="3264" y="1643"/>
              <a:ext cx="44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B1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6111" name="直接连接符 108579"/>
            <p:cNvSpPr/>
            <p:nvPr/>
          </p:nvSpPr>
          <p:spPr>
            <a:xfrm>
              <a:off x="3728" y="2022"/>
              <a:ext cx="0" cy="37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12" name="直接连接符 108580"/>
            <p:cNvSpPr/>
            <p:nvPr/>
          </p:nvSpPr>
          <p:spPr>
            <a:xfrm flipH="1" flipV="1">
              <a:off x="3732" y="1511"/>
              <a:ext cx="0" cy="23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13" name="矩形 108581"/>
            <p:cNvSpPr/>
            <p:nvPr/>
          </p:nvSpPr>
          <p:spPr>
            <a:xfrm>
              <a:off x="3684" y="1732"/>
              <a:ext cx="95" cy="29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14" name="直接连接符 108582"/>
            <p:cNvSpPr/>
            <p:nvPr/>
          </p:nvSpPr>
          <p:spPr>
            <a:xfrm>
              <a:off x="3732" y="1520"/>
              <a:ext cx="129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15" name="直接连接符 108583"/>
            <p:cNvSpPr/>
            <p:nvPr/>
          </p:nvSpPr>
          <p:spPr>
            <a:xfrm flipV="1">
              <a:off x="4353" y="1515"/>
              <a:ext cx="0" cy="21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6116" name="直接连接符 108584"/>
            <p:cNvSpPr/>
            <p:nvPr/>
          </p:nvSpPr>
          <p:spPr>
            <a:xfrm>
              <a:off x="4224" y="2271"/>
              <a:ext cx="0" cy="25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6117" name="直接连接符 108585"/>
            <p:cNvSpPr/>
            <p:nvPr/>
          </p:nvSpPr>
          <p:spPr>
            <a:xfrm>
              <a:off x="4224" y="2425"/>
              <a:ext cx="141" cy="13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lg"/>
            </a:ln>
          </p:spPr>
        </p:sp>
        <p:sp>
          <p:nvSpPr>
            <p:cNvPr id="46118" name="直接连接符 108586"/>
            <p:cNvSpPr/>
            <p:nvPr/>
          </p:nvSpPr>
          <p:spPr>
            <a:xfrm flipV="1">
              <a:off x="4224" y="2232"/>
              <a:ext cx="141" cy="11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6119" name="直接连接符 108587"/>
            <p:cNvSpPr/>
            <p:nvPr/>
          </p:nvSpPr>
          <p:spPr>
            <a:xfrm>
              <a:off x="4356" y="2026"/>
              <a:ext cx="0" cy="2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6120" name="直接连接符 108588"/>
            <p:cNvSpPr/>
            <p:nvPr/>
          </p:nvSpPr>
          <p:spPr>
            <a:xfrm flipH="1">
              <a:off x="4357" y="2534"/>
              <a:ext cx="0" cy="17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6121" name="直接连接符 108589"/>
            <p:cNvSpPr/>
            <p:nvPr/>
          </p:nvSpPr>
          <p:spPr>
            <a:xfrm>
              <a:off x="3455" y="2390"/>
              <a:ext cx="77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6122" name="直接连接符 108590"/>
            <p:cNvSpPr/>
            <p:nvPr/>
          </p:nvSpPr>
          <p:spPr>
            <a:xfrm>
              <a:off x="3024" y="3707"/>
              <a:ext cx="214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6123" name="直接连接符 108591"/>
            <p:cNvSpPr/>
            <p:nvPr/>
          </p:nvSpPr>
          <p:spPr>
            <a:xfrm flipH="1">
              <a:off x="4358" y="3523"/>
              <a:ext cx="0" cy="31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6124" name="矩形 108592"/>
            <p:cNvSpPr/>
            <p:nvPr/>
          </p:nvSpPr>
          <p:spPr>
            <a:xfrm>
              <a:off x="4310" y="1736"/>
              <a:ext cx="94" cy="29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25" name="椭圆 108593"/>
            <p:cNvSpPr/>
            <p:nvPr/>
          </p:nvSpPr>
          <p:spPr>
            <a:xfrm>
              <a:off x="5038" y="1482"/>
              <a:ext cx="68" cy="69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6126" name="组合 108594"/>
            <p:cNvGrpSpPr/>
            <p:nvPr/>
          </p:nvGrpSpPr>
          <p:grpSpPr>
            <a:xfrm>
              <a:off x="3392" y="2280"/>
              <a:ext cx="68" cy="235"/>
              <a:chOff x="3454" y="2018"/>
              <a:chExt cx="96" cy="328"/>
            </a:xfrm>
          </p:grpSpPr>
          <p:sp>
            <p:nvSpPr>
              <p:cNvPr id="46127" name="直接连接符 108595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128" name="直接连接符 108596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6129" name="直接连接符 108597"/>
            <p:cNvSpPr/>
            <p:nvPr/>
          </p:nvSpPr>
          <p:spPr>
            <a:xfrm>
              <a:off x="3024" y="2390"/>
              <a:ext cx="3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6130" name="组合 108598"/>
            <p:cNvGrpSpPr/>
            <p:nvPr/>
          </p:nvGrpSpPr>
          <p:grpSpPr>
            <a:xfrm flipH="1">
              <a:off x="4807" y="2064"/>
              <a:ext cx="69" cy="235"/>
              <a:chOff x="3454" y="2018"/>
              <a:chExt cx="96" cy="328"/>
            </a:xfrm>
          </p:grpSpPr>
          <p:sp>
            <p:nvSpPr>
              <p:cNvPr id="46131" name="直接连接符 108599"/>
              <p:cNvSpPr/>
              <p:nvPr/>
            </p:nvSpPr>
            <p:spPr>
              <a:xfrm>
                <a:off x="3454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132" name="直接连接符 108600"/>
              <p:cNvSpPr/>
              <p:nvPr/>
            </p:nvSpPr>
            <p:spPr>
              <a:xfrm>
                <a:off x="3550" y="2018"/>
                <a:ext cx="0" cy="3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6133" name="直接连接符 108601"/>
            <p:cNvSpPr/>
            <p:nvPr/>
          </p:nvSpPr>
          <p:spPr>
            <a:xfrm flipH="1" flipV="1">
              <a:off x="4872" y="2169"/>
              <a:ext cx="295" cy="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34" name="直接连接符 108602"/>
            <p:cNvSpPr/>
            <p:nvPr/>
          </p:nvSpPr>
          <p:spPr>
            <a:xfrm>
              <a:off x="4353" y="2175"/>
              <a:ext cx="45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35" name="文本框 108603"/>
            <p:cNvSpPr txBox="1"/>
            <p:nvPr/>
          </p:nvSpPr>
          <p:spPr>
            <a:xfrm>
              <a:off x="3950" y="1701"/>
              <a:ext cx="37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6136" name="文本框 108604"/>
            <p:cNvSpPr txBox="1"/>
            <p:nvPr/>
          </p:nvSpPr>
          <p:spPr>
            <a:xfrm>
              <a:off x="3234" y="1952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1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6137" name="文本框 108605"/>
            <p:cNvSpPr txBox="1"/>
            <p:nvPr/>
          </p:nvSpPr>
          <p:spPr>
            <a:xfrm>
              <a:off x="4684" y="1751"/>
              <a:ext cx="339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2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grpSp>
          <p:nvGrpSpPr>
            <p:cNvPr id="46138" name="组合 108606"/>
            <p:cNvGrpSpPr/>
            <p:nvPr/>
          </p:nvGrpSpPr>
          <p:grpSpPr>
            <a:xfrm>
              <a:off x="4284" y="3694"/>
              <a:ext cx="146" cy="146"/>
              <a:chOff x="2898" y="3684"/>
              <a:chExt cx="204" cy="204"/>
            </a:xfrm>
          </p:grpSpPr>
          <p:sp>
            <p:nvSpPr>
              <p:cNvPr id="46139" name="直接连接符 108607"/>
              <p:cNvSpPr/>
              <p:nvPr/>
            </p:nvSpPr>
            <p:spPr>
              <a:xfrm>
                <a:off x="3000" y="3684"/>
                <a:ext cx="0" cy="2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140" name="直接连接符 108608"/>
              <p:cNvSpPr/>
              <p:nvPr/>
            </p:nvSpPr>
            <p:spPr>
              <a:xfrm>
                <a:off x="2898" y="3876"/>
                <a:ext cx="204" cy="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6141" name="椭圆 108609"/>
            <p:cNvSpPr/>
            <p:nvPr/>
          </p:nvSpPr>
          <p:spPr>
            <a:xfrm>
              <a:off x="4340" y="3688"/>
              <a:ext cx="33" cy="34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42" name="矩形 108610"/>
            <p:cNvSpPr/>
            <p:nvPr/>
          </p:nvSpPr>
          <p:spPr>
            <a:xfrm>
              <a:off x="3684" y="2704"/>
              <a:ext cx="95" cy="293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43" name="文本框 108611"/>
            <p:cNvSpPr txBox="1"/>
            <p:nvPr/>
          </p:nvSpPr>
          <p:spPr>
            <a:xfrm>
              <a:off x="3297" y="2651"/>
              <a:ext cx="44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B2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6144" name="矩形 108612"/>
            <p:cNvSpPr/>
            <p:nvPr/>
          </p:nvSpPr>
          <p:spPr>
            <a:xfrm>
              <a:off x="4310" y="3239"/>
              <a:ext cx="94" cy="293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45" name="直接连接符 108613"/>
            <p:cNvSpPr/>
            <p:nvPr/>
          </p:nvSpPr>
          <p:spPr>
            <a:xfrm flipH="1">
              <a:off x="5154" y="2167"/>
              <a:ext cx="0" cy="56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46" name="矩形 108614"/>
            <p:cNvSpPr/>
            <p:nvPr/>
          </p:nvSpPr>
          <p:spPr>
            <a:xfrm>
              <a:off x="5107" y="2736"/>
              <a:ext cx="93" cy="29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47" name="直接连接符 108615"/>
            <p:cNvSpPr/>
            <p:nvPr/>
          </p:nvSpPr>
          <p:spPr>
            <a:xfrm>
              <a:off x="4357" y="3105"/>
              <a:ext cx="26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6148" name="组合 108616"/>
            <p:cNvGrpSpPr/>
            <p:nvPr/>
          </p:nvGrpSpPr>
          <p:grpSpPr>
            <a:xfrm>
              <a:off x="4529" y="3320"/>
              <a:ext cx="196" cy="69"/>
              <a:chOff x="2460" y="2076"/>
              <a:chExt cx="276" cy="96"/>
            </a:xfrm>
          </p:grpSpPr>
          <p:sp>
            <p:nvSpPr>
              <p:cNvPr id="46149" name="直接连接符 108617"/>
              <p:cNvSpPr/>
              <p:nvPr/>
            </p:nvSpPr>
            <p:spPr>
              <a:xfrm>
                <a:off x="2460" y="2076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150" name="直接连接符 108618"/>
              <p:cNvSpPr/>
              <p:nvPr/>
            </p:nvSpPr>
            <p:spPr>
              <a:xfrm>
                <a:off x="2460" y="2172"/>
                <a:ext cx="276" cy="0"/>
              </a:xfrm>
              <a:prstGeom prst="line">
                <a:avLst/>
              </a:prstGeom>
              <a:ln w="571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6151" name="直接连接符 108619"/>
            <p:cNvSpPr/>
            <p:nvPr/>
          </p:nvSpPr>
          <p:spPr>
            <a:xfrm>
              <a:off x="4623" y="3096"/>
              <a:ext cx="0" cy="2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52" name="直接连接符 108620"/>
            <p:cNvSpPr/>
            <p:nvPr/>
          </p:nvSpPr>
          <p:spPr>
            <a:xfrm>
              <a:off x="4623" y="3389"/>
              <a:ext cx="0" cy="33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53" name="文本框 108621"/>
            <p:cNvSpPr txBox="1"/>
            <p:nvPr/>
          </p:nvSpPr>
          <p:spPr>
            <a:xfrm>
              <a:off x="4703" y="3225"/>
              <a:ext cx="38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E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6154" name="文本框 108622"/>
            <p:cNvSpPr txBox="1"/>
            <p:nvPr/>
          </p:nvSpPr>
          <p:spPr>
            <a:xfrm>
              <a:off x="3928" y="2649"/>
              <a:ext cx="44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E1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6155" name="文本框 108623"/>
            <p:cNvSpPr txBox="1"/>
            <p:nvPr/>
          </p:nvSpPr>
          <p:spPr>
            <a:xfrm>
              <a:off x="4748" y="2649"/>
              <a:ext cx="36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L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6156" name="矩形 108624"/>
            <p:cNvSpPr/>
            <p:nvPr/>
          </p:nvSpPr>
          <p:spPr>
            <a:xfrm>
              <a:off x="3422" y="2173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6157" name="矩形 108625"/>
            <p:cNvSpPr/>
            <p:nvPr/>
          </p:nvSpPr>
          <p:spPr>
            <a:xfrm>
              <a:off x="4590" y="1918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6158" name="矩形 108626"/>
            <p:cNvSpPr/>
            <p:nvPr/>
          </p:nvSpPr>
          <p:spPr>
            <a:xfrm>
              <a:off x="4574" y="3049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6159" name="文本框 108627"/>
            <p:cNvSpPr txBox="1"/>
            <p:nvPr/>
          </p:nvSpPr>
          <p:spPr>
            <a:xfrm>
              <a:off x="5106" y="1344"/>
              <a:ext cx="62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CC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6160" name="文本框 108628"/>
            <p:cNvSpPr txBox="1"/>
            <p:nvPr/>
          </p:nvSpPr>
          <p:spPr>
            <a:xfrm>
              <a:off x="2832" y="2832"/>
              <a:ext cx="29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i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6161" name="文本框 108629"/>
            <p:cNvSpPr txBox="1"/>
            <p:nvPr/>
          </p:nvSpPr>
          <p:spPr>
            <a:xfrm>
              <a:off x="5220" y="2722"/>
              <a:ext cx="34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baseline="-25000" err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o</a:t>
              </a:r>
              <a:endParaRPr lang="en-US" altLang="zh-CN" sz="2800" b="1" baseline="-25000" err="1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6162" name="矩形 108630"/>
            <p:cNvSpPr/>
            <p:nvPr/>
          </p:nvSpPr>
          <p:spPr>
            <a:xfrm>
              <a:off x="5280" y="2410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6163" name="矩形 108631"/>
            <p:cNvSpPr/>
            <p:nvPr/>
          </p:nvSpPr>
          <p:spPr>
            <a:xfrm>
              <a:off x="2880" y="2365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6164" name="矩形 108632"/>
            <p:cNvSpPr/>
            <p:nvPr/>
          </p:nvSpPr>
          <p:spPr>
            <a:xfrm>
              <a:off x="5281" y="3081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6165" name="矩形 108633"/>
            <p:cNvSpPr/>
            <p:nvPr/>
          </p:nvSpPr>
          <p:spPr>
            <a:xfrm>
              <a:off x="2880" y="3417"/>
              <a:ext cx="22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–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6166" name="直接连接符 108634"/>
            <p:cNvSpPr/>
            <p:nvPr/>
          </p:nvSpPr>
          <p:spPr>
            <a:xfrm>
              <a:off x="5154" y="3038"/>
              <a:ext cx="0" cy="669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67" name="直接连接符 108635"/>
            <p:cNvSpPr/>
            <p:nvPr/>
          </p:nvSpPr>
          <p:spPr>
            <a:xfrm flipH="1">
              <a:off x="3726" y="3005"/>
              <a:ext cx="0" cy="691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68" name="椭圆 108636"/>
            <p:cNvSpPr/>
            <p:nvPr/>
          </p:nvSpPr>
          <p:spPr>
            <a:xfrm>
              <a:off x="3700" y="2366"/>
              <a:ext cx="50" cy="45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69" name="椭圆 108637"/>
            <p:cNvSpPr/>
            <p:nvPr/>
          </p:nvSpPr>
          <p:spPr>
            <a:xfrm>
              <a:off x="2970" y="2357"/>
              <a:ext cx="54" cy="54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70" name="椭圆 108638"/>
            <p:cNvSpPr/>
            <p:nvPr/>
          </p:nvSpPr>
          <p:spPr>
            <a:xfrm>
              <a:off x="2970" y="3690"/>
              <a:ext cx="54" cy="54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71" name="矩形 108639"/>
            <p:cNvSpPr/>
            <p:nvPr/>
          </p:nvSpPr>
          <p:spPr>
            <a:xfrm>
              <a:off x="4309" y="2688"/>
              <a:ext cx="94" cy="293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172" name="直接连接符 108640"/>
            <p:cNvSpPr/>
            <p:nvPr/>
          </p:nvSpPr>
          <p:spPr>
            <a:xfrm flipV="1">
              <a:off x="4354" y="2976"/>
              <a:ext cx="0" cy="27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73" name="文本框 108641"/>
            <p:cNvSpPr txBox="1"/>
            <p:nvPr/>
          </p:nvSpPr>
          <p:spPr>
            <a:xfrm>
              <a:off x="3936" y="3216"/>
              <a:ext cx="44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E2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标题 109569"/>
          <p:cNvSpPr/>
          <p:nvPr>
            <p:ph type="title"/>
          </p:nvPr>
        </p:nvSpPr>
        <p:spPr>
          <a:xfrm>
            <a:off x="228600" y="533400"/>
            <a:ext cx="1524000" cy="457200"/>
          </a:xfrm>
          <a:noFill/>
          <a:ln>
            <a:noFill/>
          </a:ln>
        </p:spPr>
        <p:txBody>
          <a:bodyPr lIns="92075" tIns="46038" rIns="92075" bIns="46038" anchor="ctr"/>
          <a:p>
            <a:pPr fontAlgn="base"/>
            <a:r>
              <a:rPr lang="zh-CN" altLang="en-US" sz="2800" b="1" strike="noStrike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</a:rPr>
              <a:t>解</a:t>
            </a:r>
            <a:r>
              <a:rPr lang="en-US" altLang="zh-CN" sz="2800" b="1" strike="noStrike" noProof="1">
                <a:solidFill>
                  <a:srgbClr val="CC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</a:rPr>
              <a:t>:</a:t>
            </a:r>
            <a:endParaRPr lang="en-US" altLang="zh-CN" sz="2800" b="1" strike="noStrike" noProof="1">
              <a:solidFill>
                <a:srgbClr val="CC0000"/>
              </a:solidFill>
              <a:effectLst>
                <a:outerShdw blurRad="38100" dist="38100" dir="2700000">
                  <a:srgbClr val="00000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109571" name="文本框 109570"/>
          <p:cNvSpPr txBox="1"/>
          <p:nvPr/>
        </p:nvSpPr>
        <p:spPr>
          <a:xfrm>
            <a:off x="1295400" y="457200"/>
            <a:ext cx="4886325" cy="6254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lnSpc>
                <a:spcPct val="125000"/>
              </a:lnSpc>
            </a:pPr>
            <a:r>
              <a:rPr lang="en-US" altLang="zh-CN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(1)</a:t>
            </a:r>
            <a:r>
              <a:rPr lang="zh-CN" altLang="en-US" sz="2800" b="1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由直流通路求静态工作点</a:t>
            </a:r>
            <a:r>
              <a:rPr lang="zh-CN" altLang="en-US" sz="2800" b="1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。</a:t>
            </a:r>
            <a:endParaRPr lang="zh-CN" altLang="en-US" sz="2800" b="1" noProof="1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9580" name="矩形 109579"/>
          <p:cNvSpPr/>
          <p:nvPr/>
        </p:nvSpPr>
        <p:spPr>
          <a:xfrm>
            <a:off x="6591300" y="5486400"/>
            <a:ext cx="1409700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>
            <a:spAutoFit/>
          </a:bodyPr>
          <a:p>
            <a:pPr lvl="0" fontAlgn="base">
              <a:spcBef>
                <a:spcPct val="50000"/>
              </a:spcBef>
            </a:pPr>
            <a:r>
              <a:rPr lang="zh-CN" altLang="en-US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直流通路</a:t>
            </a:r>
            <a:endParaRPr lang="zh-CN" altLang="en-US" b="1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7108" name="组合 109580"/>
          <p:cNvGrpSpPr/>
          <p:nvPr/>
        </p:nvGrpSpPr>
        <p:grpSpPr>
          <a:xfrm>
            <a:off x="5715000" y="1735138"/>
            <a:ext cx="3048000" cy="3751262"/>
            <a:chOff x="3600" y="1093"/>
            <a:chExt cx="1920" cy="2363"/>
          </a:xfrm>
        </p:grpSpPr>
        <p:sp>
          <p:nvSpPr>
            <p:cNvPr id="47109" name="文本框 109581"/>
            <p:cNvSpPr txBox="1"/>
            <p:nvPr/>
          </p:nvSpPr>
          <p:spPr>
            <a:xfrm>
              <a:off x="3618" y="1259"/>
              <a:ext cx="44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B1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7110" name="直接连接符 109582"/>
            <p:cNvSpPr/>
            <p:nvPr/>
          </p:nvSpPr>
          <p:spPr>
            <a:xfrm>
              <a:off x="4079" y="1638"/>
              <a:ext cx="0" cy="90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1" name="直接连接符 109583"/>
            <p:cNvSpPr/>
            <p:nvPr/>
          </p:nvSpPr>
          <p:spPr>
            <a:xfrm flipH="1" flipV="1">
              <a:off x="4083" y="1127"/>
              <a:ext cx="0" cy="23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2" name="矩形 109584"/>
            <p:cNvSpPr/>
            <p:nvPr/>
          </p:nvSpPr>
          <p:spPr>
            <a:xfrm>
              <a:off x="4035" y="1348"/>
              <a:ext cx="95" cy="29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13" name="直接连接符 109585"/>
            <p:cNvSpPr/>
            <p:nvPr/>
          </p:nvSpPr>
          <p:spPr>
            <a:xfrm>
              <a:off x="4083" y="1136"/>
              <a:ext cx="90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4" name="直接连接符 109586"/>
            <p:cNvSpPr/>
            <p:nvPr/>
          </p:nvSpPr>
          <p:spPr>
            <a:xfrm flipV="1">
              <a:off x="4704" y="1131"/>
              <a:ext cx="0" cy="21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7115" name="直接连接符 109587"/>
            <p:cNvSpPr/>
            <p:nvPr/>
          </p:nvSpPr>
          <p:spPr>
            <a:xfrm>
              <a:off x="4575" y="1887"/>
              <a:ext cx="0" cy="25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7116" name="直接连接符 109588"/>
            <p:cNvSpPr/>
            <p:nvPr/>
          </p:nvSpPr>
          <p:spPr>
            <a:xfrm>
              <a:off x="4575" y="2060"/>
              <a:ext cx="141" cy="13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lg"/>
            </a:ln>
          </p:spPr>
        </p:sp>
        <p:sp>
          <p:nvSpPr>
            <p:cNvPr id="47117" name="直接连接符 109589"/>
            <p:cNvSpPr/>
            <p:nvPr/>
          </p:nvSpPr>
          <p:spPr>
            <a:xfrm flipV="1">
              <a:off x="4575" y="1845"/>
              <a:ext cx="141" cy="11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7118" name="直接连接符 109590"/>
            <p:cNvSpPr/>
            <p:nvPr/>
          </p:nvSpPr>
          <p:spPr>
            <a:xfrm>
              <a:off x="4707" y="1642"/>
              <a:ext cx="0" cy="2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7119" name="直接连接符 109591"/>
            <p:cNvSpPr/>
            <p:nvPr/>
          </p:nvSpPr>
          <p:spPr>
            <a:xfrm flipH="1">
              <a:off x="4708" y="2160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7120" name="直接连接符 109592"/>
            <p:cNvSpPr/>
            <p:nvPr/>
          </p:nvSpPr>
          <p:spPr>
            <a:xfrm>
              <a:off x="4093" y="2006"/>
              <a:ext cx="50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7121" name="直接连接符 109593"/>
            <p:cNvSpPr/>
            <p:nvPr/>
          </p:nvSpPr>
          <p:spPr>
            <a:xfrm>
              <a:off x="4068" y="3323"/>
              <a:ext cx="6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7122" name="直接连接符 109594"/>
            <p:cNvSpPr/>
            <p:nvPr/>
          </p:nvSpPr>
          <p:spPr>
            <a:xfrm flipH="1">
              <a:off x="4709" y="3139"/>
              <a:ext cx="0" cy="31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lg"/>
            </a:ln>
          </p:spPr>
        </p:sp>
        <p:sp>
          <p:nvSpPr>
            <p:cNvPr id="47123" name="矩形 109595"/>
            <p:cNvSpPr/>
            <p:nvPr/>
          </p:nvSpPr>
          <p:spPr>
            <a:xfrm>
              <a:off x="4661" y="1352"/>
              <a:ext cx="94" cy="29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24" name="椭圆 109596"/>
            <p:cNvSpPr/>
            <p:nvPr/>
          </p:nvSpPr>
          <p:spPr>
            <a:xfrm>
              <a:off x="4990" y="1098"/>
              <a:ext cx="68" cy="69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25" name="文本框 109597"/>
            <p:cNvSpPr txBox="1"/>
            <p:nvPr/>
          </p:nvSpPr>
          <p:spPr>
            <a:xfrm>
              <a:off x="4331" y="1248"/>
              <a:ext cx="37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C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grpSp>
          <p:nvGrpSpPr>
            <p:cNvPr id="47126" name="组合 109598"/>
            <p:cNvGrpSpPr/>
            <p:nvPr/>
          </p:nvGrpSpPr>
          <p:grpSpPr>
            <a:xfrm>
              <a:off x="4635" y="3310"/>
              <a:ext cx="146" cy="146"/>
              <a:chOff x="2898" y="3684"/>
              <a:chExt cx="204" cy="204"/>
            </a:xfrm>
          </p:grpSpPr>
          <p:sp>
            <p:nvSpPr>
              <p:cNvPr id="47127" name="直接连接符 109599"/>
              <p:cNvSpPr/>
              <p:nvPr/>
            </p:nvSpPr>
            <p:spPr>
              <a:xfrm>
                <a:off x="3000" y="3684"/>
                <a:ext cx="0" cy="20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7128" name="直接连接符 109600"/>
              <p:cNvSpPr/>
              <p:nvPr/>
            </p:nvSpPr>
            <p:spPr>
              <a:xfrm>
                <a:off x="2898" y="3876"/>
                <a:ext cx="204" cy="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7129" name="椭圆 109601"/>
            <p:cNvSpPr/>
            <p:nvPr/>
          </p:nvSpPr>
          <p:spPr>
            <a:xfrm>
              <a:off x="4691" y="3304"/>
              <a:ext cx="33" cy="34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30" name="矩形 109602"/>
            <p:cNvSpPr/>
            <p:nvPr/>
          </p:nvSpPr>
          <p:spPr>
            <a:xfrm>
              <a:off x="4035" y="2539"/>
              <a:ext cx="95" cy="293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31" name="文本框 109603"/>
            <p:cNvSpPr txBox="1"/>
            <p:nvPr/>
          </p:nvSpPr>
          <p:spPr>
            <a:xfrm>
              <a:off x="3600" y="2448"/>
              <a:ext cx="44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B2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7132" name="矩形 109604"/>
            <p:cNvSpPr/>
            <p:nvPr/>
          </p:nvSpPr>
          <p:spPr>
            <a:xfrm>
              <a:off x="4661" y="2855"/>
              <a:ext cx="94" cy="293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33" name="文本框 109605"/>
            <p:cNvSpPr txBox="1"/>
            <p:nvPr/>
          </p:nvSpPr>
          <p:spPr>
            <a:xfrm>
              <a:off x="4224" y="2256"/>
              <a:ext cx="44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E1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7134" name="文本框 109606"/>
            <p:cNvSpPr txBox="1"/>
            <p:nvPr/>
          </p:nvSpPr>
          <p:spPr>
            <a:xfrm>
              <a:off x="4914" y="1093"/>
              <a:ext cx="60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+</a:t>
              </a: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U</a:t>
              </a:r>
              <a:r>
                <a:rPr lang="en-US" altLang="zh-CN" sz="2800" b="1" i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CC</a:t>
              </a:r>
              <a:endParaRPr lang="en-US" altLang="zh-CN" sz="2800" b="1" i="1" baseline="-25000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7135" name="直接连接符 109607"/>
            <p:cNvSpPr/>
            <p:nvPr/>
          </p:nvSpPr>
          <p:spPr>
            <a:xfrm flipH="1">
              <a:off x="4077" y="2832"/>
              <a:ext cx="0" cy="503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36" name="矩形 109608"/>
            <p:cNvSpPr/>
            <p:nvPr/>
          </p:nvSpPr>
          <p:spPr>
            <a:xfrm>
              <a:off x="4660" y="2352"/>
              <a:ext cx="94" cy="293"/>
            </a:xfrm>
            <a:prstGeom prst="rect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miter/>
              <a:headEnd type="none" w="sm" len="sm"/>
              <a:tailEnd type="none" w="med" len="lg"/>
            </a:ln>
          </p:spPr>
          <p:txBody>
            <a:bodyPr anchor="t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137" name="直接连接符 109609"/>
            <p:cNvSpPr/>
            <p:nvPr/>
          </p:nvSpPr>
          <p:spPr>
            <a:xfrm flipV="1">
              <a:off x="4705" y="2640"/>
              <a:ext cx="0" cy="2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38" name="文本框 109610"/>
            <p:cNvSpPr txBox="1"/>
            <p:nvPr/>
          </p:nvSpPr>
          <p:spPr>
            <a:xfrm>
              <a:off x="4232" y="2823"/>
              <a:ext cx="44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latin typeface="Times New Roman" panose="02020603050405020304" pitchFamily="18" charset="0"/>
                  <a:ea typeface="长城楷体" pitchFamily="49" charset="-122"/>
                </a:rPr>
                <a:t>R</a:t>
              </a:r>
              <a:r>
                <a:rPr lang="en-US" altLang="zh-CN" sz="2800" b="1" baseline="-25000">
                  <a:latin typeface="Times New Roman" panose="02020603050405020304" pitchFamily="18" charset="0"/>
                  <a:ea typeface="长城楷体" pitchFamily="49" charset="-122"/>
                </a:rPr>
                <a:t>E2</a:t>
              </a:r>
              <a:endParaRPr lang="en-US" altLang="zh-CN" sz="2800" b="1" baseline="-25000"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  <p:sp>
          <p:nvSpPr>
            <p:cNvPr id="47139" name="矩形 109611"/>
            <p:cNvSpPr/>
            <p:nvPr/>
          </p:nvSpPr>
          <p:spPr>
            <a:xfrm>
              <a:off x="4800" y="1604"/>
              <a:ext cx="24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endPara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7140" name="矩形 109612"/>
            <p:cNvSpPr/>
            <p:nvPr/>
          </p:nvSpPr>
          <p:spPr>
            <a:xfrm>
              <a:off x="4800" y="2237"/>
              <a:ext cx="22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  <a:endParaRPr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7141" name="矩形 109613"/>
            <p:cNvSpPr/>
            <p:nvPr/>
          </p:nvSpPr>
          <p:spPr>
            <a:xfrm>
              <a:off x="4800" y="1920"/>
              <a:ext cx="720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CE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7142" name="直接连接符 109614"/>
            <p:cNvSpPr/>
            <p:nvPr/>
          </p:nvSpPr>
          <p:spPr>
            <a:xfrm>
              <a:off x="4224" y="1913"/>
              <a:ext cx="288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7143" name="直接连接符 109615"/>
            <p:cNvSpPr/>
            <p:nvPr/>
          </p:nvSpPr>
          <p:spPr>
            <a:xfrm>
              <a:off x="4848" y="2640"/>
              <a:ext cx="0" cy="38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7144" name="矩形 109616"/>
            <p:cNvSpPr/>
            <p:nvPr/>
          </p:nvSpPr>
          <p:spPr>
            <a:xfrm>
              <a:off x="4863" y="2649"/>
              <a:ext cx="30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7145" name="矩形 109617"/>
            <p:cNvSpPr/>
            <p:nvPr/>
          </p:nvSpPr>
          <p:spPr>
            <a:xfrm>
              <a:off x="4176" y="1584"/>
              <a:ext cx="30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7146" name="直接连接符 109618"/>
            <p:cNvSpPr/>
            <p:nvPr/>
          </p:nvSpPr>
          <p:spPr>
            <a:xfrm>
              <a:off x="4843" y="1392"/>
              <a:ext cx="0" cy="28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</p:sp>
        <p:sp>
          <p:nvSpPr>
            <p:cNvPr id="47147" name="矩形 109619"/>
            <p:cNvSpPr/>
            <p:nvPr/>
          </p:nvSpPr>
          <p:spPr>
            <a:xfrm>
              <a:off x="4871" y="1353"/>
              <a:ext cx="31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7148" name="矩形 109620"/>
            <p:cNvSpPr/>
            <p:nvPr/>
          </p:nvSpPr>
          <p:spPr>
            <a:xfrm>
              <a:off x="3744" y="1776"/>
              <a:ext cx="36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V</a:t>
              </a:r>
              <a:r>
                <a:rPr lang="en-US" altLang="zh-CN" sz="2800" b="1" baseline="-25000">
                  <a:solidFill>
                    <a:srgbClr val="000099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B</a:t>
              </a:r>
              <a:endParaRPr lang="en-US" altLang="zh-CN" sz="2800" b="1" baseline="-25000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49" charset="-122"/>
              </a:endParaRPr>
            </a:p>
          </p:txBody>
        </p:sp>
      </p:grpSp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150813" y="1049338"/>
          <a:ext cx="562927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" name="" r:id="rId1" imgW="58216800" imgH="9448800" progId="Equation.3">
                  <p:embed/>
                </p:oleObj>
              </mc:Choice>
              <mc:Fallback>
                <p:oleObj name="" r:id="rId1" imgW="58216800" imgH="9448800" progId="Equation.3">
                  <p:embed/>
                  <p:pic>
                    <p:nvPicPr>
                      <p:cNvPr id="0" name="图片 324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0813" y="1049338"/>
                        <a:ext cx="5629275" cy="908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114300" y="2127250"/>
          <a:ext cx="5230813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" name="" r:id="rId3" imgW="50901600" imgH="13716000" progId="Equation.3">
                  <p:embed/>
                </p:oleObj>
              </mc:Choice>
              <mc:Fallback>
                <p:oleObj name="" r:id="rId3" imgW="50901600" imgH="13716000" progId="Equation.3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300" y="2127250"/>
                        <a:ext cx="5230813" cy="1412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60325" y="3611563"/>
          <a:ext cx="407352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3" name="" r:id="rId5" imgW="41757600" imgH="8839200" progId="Equation.3">
                  <p:embed/>
                </p:oleObj>
              </mc:Choice>
              <mc:Fallback>
                <p:oleObj name="" r:id="rId5" imgW="41757600" imgH="8839200" progId="Equation.3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325" y="3611563"/>
                        <a:ext cx="4073525" cy="917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109538" y="4995863"/>
          <a:ext cx="44672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4" name="" r:id="rId7" imgW="2070100" imgH="457200" progId="Equation.3">
                  <p:embed/>
                </p:oleObj>
              </mc:Choice>
              <mc:Fallback>
                <p:oleObj name="" r:id="rId7" imgW="2070100" imgH="457200" progId="Equation.3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9538" y="4995863"/>
                        <a:ext cx="4467225" cy="933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标题 110593"/>
          <p:cNvSpPr/>
          <p:nvPr>
            <p:ph type="title"/>
          </p:nvPr>
        </p:nvSpPr>
        <p:spPr>
          <a:xfrm>
            <a:off x="217488" y="228600"/>
            <a:ext cx="6553200" cy="762000"/>
          </a:xfrm>
          <a:noFill/>
          <a:ln>
            <a:noFill/>
          </a:ln>
        </p:spPr>
        <p:txBody>
          <a:bodyPr/>
          <a:p>
            <a:pPr fontAlgn="base"/>
            <a:r>
              <a:rPr lang="en-US" altLang="zh-CN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(2) </a:t>
            </a:r>
            <a:r>
              <a:rPr lang="zh-CN" altLang="en-US" sz="2800" b="1" strike="noStrike" noProof="1" dirty="0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由微变等效电路求</a:t>
            </a:r>
            <a:r>
              <a:rPr lang="en-US" altLang="zh-CN" sz="2800" b="1" strike="noStrike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A</a:t>
            </a:r>
            <a:r>
              <a:rPr lang="en-US" altLang="zh-CN" sz="2800" b="1" i="1" strike="noStrike" baseline="-25000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u</a:t>
            </a:r>
            <a:r>
              <a:rPr lang="zh-CN" altLang="en-US" sz="2800" b="1" strike="noStrike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、 </a:t>
            </a:r>
            <a:r>
              <a:rPr lang="en-US" altLang="zh-CN" sz="3200" b="1" i="1" strike="noStrike" noProof="1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r</a:t>
            </a:r>
            <a:r>
              <a:rPr lang="en-US" altLang="zh-CN" sz="2800" b="1" strike="noStrike" baseline="-25000" noProof="1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i</a:t>
            </a:r>
            <a:r>
              <a:rPr lang="en-US" altLang="zh-CN" sz="2800" b="1" strike="noStrike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 </a:t>
            </a:r>
            <a:r>
              <a:rPr lang="zh-CN" altLang="en-US" sz="2800" b="1" strike="noStrike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、</a:t>
            </a:r>
            <a:r>
              <a:rPr lang="zh-CN" altLang="en-US" sz="2800" b="1" strike="noStrike" baseline="-25000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 </a:t>
            </a:r>
            <a:r>
              <a:rPr lang="en-US" altLang="zh-CN" sz="3200" b="1" i="1" strike="noStrike" noProof="1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r</a:t>
            </a:r>
            <a:r>
              <a:rPr lang="en-US" altLang="zh-CN" sz="2800" b="1" strike="noStrike" baseline="-25000" noProof="1" err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o</a:t>
            </a:r>
            <a:r>
              <a:rPr lang="zh-CN" altLang="en-US" sz="2800" b="1" strike="noStrike" noProof="1">
                <a:solidFill>
                  <a:srgbClr val="0000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。</a:t>
            </a:r>
            <a:endParaRPr lang="zh-CN" altLang="en-US" sz="2800" b="1" strike="noStrike" noProof="1">
              <a:solidFill>
                <a:srgbClr val="000099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graphicFrame>
        <p:nvGraphicFramePr>
          <p:cNvPr id="110597" name="对象 110596"/>
          <p:cNvGraphicFramePr/>
          <p:nvPr/>
        </p:nvGraphicFramePr>
        <p:xfrm>
          <a:off x="655638" y="890588"/>
          <a:ext cx="377031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" name="" r:id="rId1" imgW="1940560" imgH="215900" progId="Equation.3">
                  <p:embed/>
                </p:oleObj>
              </mc:Choice>
              <mc:Fallback>
                <p:oleObj name="" r:id="rId1" imgW="1940560" imgH="215900" progId="Equation.3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5638" y="890588"/>
                        <a:ext cx="3770312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8" name="矩形 110607"/>
          <p:cNvSpPr/>
          <p:nvPr/>
        </p:nvSpPr>
        <p:spPr>
          <a:xfrm>
            <a:off x="5651500" y="6073775"/>
            <a:ext cx="2022475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t">
            <a:spAutoFit/>
          </a:bodyPr>
          <a:p>
            <a:pPr lvl="0" fontAlgn="base">
              <a:spcBef>
                <a:spcPct val="50000"/>
              </a:spcBef>
            </a:pPr>
            <a:r>
              <a:rPr lang="zh-CN" altLang="en-US" b="1" strike="noStrike" noProof="1" dirty="0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微变等效电路</a:t>
            </a:r>
            <a:endParaRPr lang="zh-CN" altLang="en-US" b="1" strike="noStrike" noProof="1" dirty="0">
              <a:effectLst>
                <a:outerShdw blurRad="38100" dist="38100" dir="2700000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8132" name="对象 1"/>
          <p:cNvGraphicFramePr/>
          <p:nvPr/>
        </p:nvGraphicFramePr>
        <p:xfrm>
          <a:off x="657225" y="1383030"/>
          <a:ext cx="6551930" cy="801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" name="" r:id="rId3" imgW="6182360" imgH="763905" progId="Equation.KSEE3">
                  <p:embed/>
                </p:oleObj>
              </mc:Choice>
              <mc:Fallback>
                <p:oleObj name="" r:id="rId3" imgW="6182360" imgH="763905" progId="Equation.KSEE3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7225" y="1383030"/>
                        <a:ext cx="6551930" cy="8013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对象 3"/>
          <p:cNvGraphicFramePr/>
          <p:nvPr/>
        </p:nvGraphicFramePr>
        <p:xfrm>
          <a:off x="614680" y="2184400"/>
          <a:ext cx="423037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" name="" r:id="rId5" imgW="3613150" imgH="480695" progId="Equation.KSEE3">
                  <p:embed/>
                </p:oleObj>
              </mc:Choice>
              <mc:Fallback>
                <p:oleObj name="" r:id="rId5" imgW="3613150" imgH="480695" progId="Equation.KSEE3">
                  <p:embed/>
                  <p:pic>
                    <p:nvPicPr>
                      <p:cNvPr id="0" name="图片 325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4680" y="2184400"/>
                        <a:ext cx="4230370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对象 5"/>
          <p:cNvGraphicFramePr/>
          <p:nvPr/>
        </p:nvGraphicFramePr>
        <p:xfrm>
          <a:off x="1136650" y="3017838"/>
          <a:ext cx="13874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" r:id="rId7" imgW="1094740" imgH="384810" progId="Equation.KSEE3">
                  <p:embed/>
                </p:oleObj>
              </mc:Choice>
              <mc:Fallback>
                <p:oleObj name="" r:id="rId7" imgW="1094740" imgH="384810" progId="Equation.KSEE3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36650" y="3017838"/>
                        <a:ext cx="1387475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对象 7"/>
          <p:cNvGraphicFramePr/>
          <p:nvPr/>
        </p:nvGraphicFramePr>
        <p:xfrm>
          <a:off x="684213" y="3527425"/>
          <a:ext cx="23876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" r:id="rId9" imgW="977900" imgH="228600" progId="Equation.KSEE3">
                  <p:embed/>
                </p:oleObj>
              </mc:Choice>
              <mc:Fallback>
                <p:oleObj name="" r:id="rId9" imgW="977900" imgH="228600" progId="Equation.KSEE3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4213" y="3527425"/>
                        <a:ext cx="2387600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对象 9"/>
          <p:cNvGraphicFramePr/>
          <p:nvPr/>
        </p:nvGraphicFramePr>
        <p:xfrm>
          <a:off x="657225" y="4079875"/>
          <a:ext cx="340042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" name="" r:id="rId11" imgW="2430780" imgH="819150" progId="Equation.KSEE3">
                  <p:embed/>
                </p:oleObj>
              </mc:Choice>
              <mc:Fallback>
                <p:oleObj name="" r:id="rId11" imgW="2430780" imgH="819150" progId="Equation.KSEE3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7225" y="4079875"/>
                        <a:ext cx="3400425" cy="1014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7" name="对象 11"/>
          <p:cNvGraphicFramePr/>
          <p:nvPr/>
        </p:nvGraphicFramePr>
        <p:xfrm>
          <a:off x="1187450" y="5368925"/>
          <a:ext cx="144145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" name="" r:id="rId13" imgW="1336675" imgH="353695" progId="Equation.KSEE3">
                  <p:embed/>
                </p:oleObj>
              </mc:Choice>
              <mc:Fallback>
                <p:oleObj name="" r:id="rId13" imgW="1336675" imgH="353695" progId="Equation.KSEE3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87450" y="5368925"/>
                        <a:ext cx="1441450" cy="417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/>
          <p:nvPr/>
        </p:nvGrpSpPr>
        <p:grpSpPr>
          <a:xfrm>
            <a:off x="4244975" y="2774950"/>
            <a:ext cx="4616450" cy="3063875"/>
            <a:chOff x="0" y="0"/>
            <a:chExt cx="2908" cy="1930"/>
          </a:xfrm>
        </p:grpSpPr>
        <p:sp>
          <p:nvSpPr>
            <p:cNvPr id="48139" name="Line 12"/>
            <p:cNvSpPr/>
            <p:nvPr/>
          </p:nvSpPr>
          <p:spPr>
            <a:xfrm flipV="1">
              <a:off x="375" y="1815"/>
              <a:ext cx="227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0" name="Line 13"/>
            <p:cNvSpPr/>
            <p:nvPr/>
          </p:nvSpPr>
          <p:spPr>
            <a:xfrm flipH="1" flipV="1">
              <a:off x="1805" y="355"/>
              <a:ext cx="0" cy="27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1" name="Line 14"/>
            <p:cNvSpPr/>
            <p:nvPr/>
          </p:nvSpPr>
          <p:spPr>
            <a:xfrm flipV="1">
              <a:off x="375" y="372"/>
              <a:ext cx="8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8142" name="Group 15"/>
            <p:cNvGrpSpPr/>
            <p:nvPr/>
          </p:nvGrpSpPr>
          <p:grpSpPr>
            <a:xfrm>
              <a:off x="1702" y="527"/>
              <a:ext cx="228" cy="465"/>
              <a:chOff x="0" y="-127"/>
              <a:chExt cx="292" cy="673"/>
            </a:xfrm>
          </p:grpSpPr>
          <p:sp>
            <p:nvSpPr>
              <p:cNvPr id="48143" name="AutoShape 16"/>
              <p:cNvSpPr/>
              <p:nvPr/>
            </p:nvSpPr>
            <p:spPr>
              <a:xfrm>
                <a:off x="0" y="-127"/>
                <a:ext cx="292" cy="673"/>
              </a:xfrm>
              <a:prstGeom prst="diamond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>
                <a:spAutoFit/>
              </a:bodyPr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144" name="Line 17"/>
              <p:cNvSpPr/>
              <p:nvPr/>
            </p:nvSpPr>
            <p:spPr>
              <a:xfrm>
                <a:off x="12" y="216"/>
                <a:ext cx="25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>
                <a:spAutoFit/>
              </a:bodyPr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8145" name="Line 18"/>
            <p:cNvSpPr/>
            <p:nvPr/>
          </p:nvSpPr>
          <p:spPr>
            <a:xfrm flipV="1">
              <a:off x="1262" y="367"/>
              <a:ext cx="0" cy="29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6" name="Rectangle 19"/>
            <p:cNvSpPr/>
            <p:nvPr/>
          </p:nvSpPr>
          <p:spPr>
            <a:xfrm>
              <a:off x="1214" y="659"/>
              <a:ext cx="115" cy="23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7" name="Line 20"/>
            <p:cNvSpPr/>
            <p:nvPr/>
          </p:nvSpPr>
          <p:spPr>
            <a:xfrm>
              <a:off x="1790" y="343"/>
              <a:ext cx="86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8" name="Line 21"/>
            <p:cNvSpPr/>
            <p:nvPr/>
          </p:nvSpPr>
          <p:spPr>
            <a:xfrm flipV="1">
              <a:off x="2251" y="355"/>
              <a:ext cx="0" cy="5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49" name="Rectangle 22"/>
            <p:cNvSpPr/>
            <p:nvPr/>
          </p:nvSpPr>
          <p:spPr>
            <a:xfrm>
              <a:off x="2203" y="956"/>
              <a:ext cx="115" cy="23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75" name="Text Box 23"/>
            <p:cNvSpPr txBox="1">
              <a:spLocks noChangeArrowheads="1"/>
            </p:cNvSpPr>
            <p:nvPr/>
          </p:nvSpPr>
          <p:spPr bwMode="auto">
            <a:xfrm>
              <a:off x="1223" y="588"/>
              <a:ext cx="439" cy="3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zh-CN" sz="2800" b="1" i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zh-CN" altLang="zh-CN" b="1" baseline="-2500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be</a:t>
              </a:r>
              <a:endParaRPr lang="zh-CN" altLang="zh-CN" b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8151" name="Line 24"/>
            <p:cNvSpPr/>
            <p:nvPr/>
          </p:nvSpPr>
          <p:spPr>
            <a:xfrm>
              <a:off x="1651" y="648"/>
              <a:ext cx="0" cy="28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52" name="Line 25"/>
            <p:cNvSpPr/>
            <p:nvPr/>
          </p:nvSpPr>
          <p:spPr>
            <a:xfrm flipV="1">
              <a:off x="977" y="305"/>
              <a:ext cx="278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78" name="Text Box 26"/>
            <p:cNvSpPr txBox="1">
              <a:spLocks noChangeArrowheads="1"/>
            </p:cNvSpPr>
            <p:nvPr/>
          </p:nvSpPr>
          <p:spPr bwMode="auto">
            <a:xfrm>
              <a:off x="1867" y="788"/>
              <a:ext cx="634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p>
              <a:pPr>
                <a:spcBef>
                  <a:spcPct val="50000"/>
                </a:spcBef>
              </a:pPr>
              <a:endParaRPr lang="zh-CN" altLang="zh-CN" b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8154" name="Line 27"/>
            <p:cNvSpPr/>
            <p:nvPr/>
          </p:nvSpPr>
          <p:spPr>
            <a:xfrm flipH="1">
              <a:off x="1762" y="293"/>
              <a:ext cx="28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0" name="Text Box 28"/>
            <p:cNvSpPr txBox="1">
              <a:spLocks noChangeArrowheads="1"/>
            </p:cNvSpPr>
            <p:nvPr/>
          </p:nvSpPr>
          <p:spPr bwMode="auto">
            <a:xfrm>
              <a:off x="828" y="977"/>
              <a:ext cx="466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zh-CN" b="1" i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zh-CN" altLang="zh-CN" b="1" baseline="-2500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zh-CN" altLang="zh-CN" b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8156" name="Line 29"/>
            <p:cNvSpPr/>
            <p:nvPr/>
          </p:nvSpPr>
          <p:spPr>
            <a:xfrm flipV="1">
              <a:off x="2645" y="340"/>
              <a:ext cx="1" cy="5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57" name="Rectangle 30"/>
            <p:cNvSpPr/>
            <p:nvPr/>
          </p:nvSpPr>
          <p:spPr>
            <a:xfrm>
              <a:off x="2601" y="935"/>
              <a:ext cx="115" cy="23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3" name="Text Box 31"/>
            <p:cNvSpPr txBox="1">
              <a:spLocks noChangeArrowheads="1"/>
            </p:cNvSpPr>
            <p:nvPr/>
          </p:nvSpPr>
          <p:spPr bwMode="auto">
            <a:xfrm>
              <a:off x="1845" y="942"/>
              <a:ext cx="453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zh-CN" b="1" i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zh-CN" altLang="zh-CN" b="1" baseline="-2500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lang="zh-CN" altLang="zh-CN" b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84" name="Text Box 32"/>
            <p:cNvSpPr txBox="1">
              <a:spLocks noChangeArrowheads="1"/>
            </p:cNvSpPr>
            <p:nvPr/>
          </p:nvSpPr>
          <p:spPr bwMode="auto">
            <a:xfrm>
              <a:off x="2223" y="927"/>
              <a:ext cx="508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zh-CN" b="1" i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zh-CN" altLang="zh-CN" b="1" baseline="-2500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L</a:t>
              </a:r>
              <a:endParaRPr lang="zh-CN" altLang="zh-CN" b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585" name="Text Box 33"/>
            <p:cNvSpPr txBox="1">
              <a:spLocks noChangeArrowheads="1"/>
            </p:cNvSpPr>
            <p:nvPr/>
          </p:nvSpPr>
          <p:spPr bwMode="auto">
            <a:xfrm>
              <a:off x="1422" y="844"/>
              <a:ext cx="224" cy="2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</a:pPr>
              <a:r>
                <a:rPr lang="zh-CN" altLang="zh-CN" b="1" strike="noStrike" noProof="1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ea"/>
                </a:rPr>
                <a:t>E</a:t>
              </a:r>
              <a:endParaRPr lang="zh-CN" altLang="zh-CN" b="1" strike="noStrike" noProof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endParaRPr>
            </a:p>
          </p:txBody>
        </p:sp>
        <p:sp>
          <p:nvSpPr>
            <p:cNvPr id="23586" name="Text Box 34"/>
            <p:cNvSpPr txBox="1">
              <a:spLocks noChangeArrowheads="1"/>
            </p:cNvSpPr>
            <p:nvPr/>
          </p:nvSpPr>
          <p:spPr bwMode="auto">
            <a:xfrm>
              <a:off x="759" y="119"/>
              <a:ext cx="224" cy="2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</a:pPr>
              <a:r>
                <a:rPr lang="zh-CN" altLang="zh-CN" b="1" strike="noStrike" noProof="1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ea"/>
                </a:rPr>
                <a:t>B</a:t>
              </a:r>
              <a:endParaRPr lang="zh-CN" altLang="zh-CN" b="1" strike="noStrike" noProof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endParaRPr>
            </a:p>
          </p:txBody>
        </p:sp>
        <p:sp>
          <p:nvSpPr>
            <p:cNvPr id="23587" name="Text Box 35"/>
            <p:cNvSpPr txBox="1">
              <a:spLocks noChangeArrowheads="1"/>
            </p:cNvSpPr>
            <p:nvPr/>
          </p:nvSpPr>
          <p:spPr bwMode="auto">
            <a:xfrm>
              <a:off x="2061" y="95"/>
              <a:ext cx="223" cy="2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</a:pPr>
              <a:r>
                <a:rPr lang="zh-CN" altLang="zh-CN" b="1" strike="noStrike" noProof="1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cs typeface="+mn-ea"/>
                </a:rPr>
                <a:t>C</a:t>
              </a:r>
              <a:endParaRPr lang="zh-CN" altLang="zh-CN" b="1" strike="noStrike" noProof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endParaRPr>
            </a:p>
          </p:txBody>
        </p:sp>
        <p:sp>
          <p:nvSpPr>
            <p:cNvPr id="48163" name="Line 36"/>
            <p:cNvSpPr/>
            <p:nvPr/>
          </p:nvSpPr>
          <p:spPr>
            <a:xfrm flipV="1">
              <a:off x="858" y="363"/>
              <a:ext cx="0" cy="6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9" name="Text Box 37" descr="新闻纸"/>
            <p:cNvSpPr txBox="1">
              <a:spLocks noChangeArrowheads="1"/>
            </p:cNvSpPr>
            <p:nvPr/>
          </p:nvSpPr>
          <p:spPr bwMode="auto">
            <a:xfrm>
              <a:off x="493" y="336"/>
              <a:ext cx="299" cy="2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</a:pPr>
              <a:r>
                <a:rPr lang="zh-CN" altLang="zh-CN" b="1" strike="noStrike" noProof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ea"/>
                </a:rPr>
                <a:t>+</a:t>
              </a:r>
              <a:endParaRPr lang="zh-CN" altLang="zh-CN" b="1" strike="noStrike" noProof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  <p:sp>
          <p:nvSpPr>
            <p:cNvPr id="23590" name="Text Box 38" descr="新闻纸"/>
            <p:cNvSpPr txBox="1">
              <a:spLocks noChangeArrowheads="1"/>
            </p:cNvSpPr>
            <p:nvPr/>
          </p:nvSpPr>
          <p:spPr bwMode="auto">
            <a:xfrm>
              <a:off x="495" y="1566"/>
              <a:ext cx="299" cy="2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</a:pPr>
              <a:r>
                <a:rPr lang="zh-CN" altLang="zh-CN" b="1" strike="noStrike" noProof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ea"/>
                </a:rPr>
                <a:t>-</a:t>
              </a:r>
              <a:endParaRPr lang="zh-CN" altLang="zh-CN" b="1" strike="noStrike" noProof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  <p:sp>
          <p:nvSpPr>
            <p:cNvPr id="48166" name="Rectangle 39"/>
            <p:cNvSpPr/>
            <p:nvPr/>
          </p:nvSpPr>
          <p:spPr>
            <a:xfrm>
              <a:off x="822" y="986"/>
              <a:ext cx="115" cy="23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2" name="Rectangle 40" descr="新闻纸"/>
            <p:cNvSpPr>
              <a:spLocks noChangeArrowheads="1"/>
            </p:cNvSpPr>
            <p:nvPr/>
          </p:nvSpPr>
          <p:spPr bwMode="auto">
            <a:xfrm>
              <a:off x="2696" y="316"/>
              <a:ext cx="212" cy="2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</a:pPr>
              <a:r>
                <a:rPr lang="zh-CN" altLang="zh-CN" b="1" strike="noStrike" noProof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ea"/>
                </a:rPr>
                <a:t>+</a:t>
              </a:r>
              <a:endParaRPr lang="zh-CN" altLang="zh-CN" b="1" strike="noStrike" noProof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  <p:sp>
          <p:nvSpPr>
            <p:cNvPr id="23593" name="Rectangle 41" descr="新闻纸"/>
            <p:cNvSpPr>
              <a:spLocks noChangeArrowheads="1"/>
            </p:cNvSpPr>
            <p:nvPr/>
          </p:nvSpPr>
          <p:spPr bwMode="auto">
            <a:xfrm>
              <a:off x="2696" y="1490"/>
              <a:ext cx="212" cy="29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</a:pPr>
              <a:r>
                <a:rPr lang="zh-CN" altLang="zh-CN" b="1" strike="noStrike" noProof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ea"/>
                </a:rPr>
                <a:t>-</a:t>
              </a:r>
              <a:endParaRPr lang="zh-CN" altLang="zh-CN" b="1" strike="noStrike" noProof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  <p:grpSp>
          <p:nvGrpSpPr>
            <p:cNvPr id="48169" name="Group 42"/>
            <p:cNvGrpSpPr/>
            <p:nvPr/>
          </p:nvGrpSpPr>
          <p:grpSpPr>
            <a:xfrm>
              <a:off x="1440" y="1811"/>
              <a:ext cx="160" cy="119"/>
              <a:chOff x="0" y="0"/>
              <a:chExt cx="160" cy="119"/>
            </a:xfrm>
          </p:grpSpPr>
          <p:sp>
            <p:nvSpPr>
              <p:cNvPr id="48170" name="Line 43"/>
              <p:cNvSpPr/>
              <p:nvPr/>
            </p:nvSpPr>
            <p:spPr>
              <a:xfrm>
                <a:off x="86" y="0"/>
                <a:ext cx="0" cy="1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>
                <a:spAutoFit/>
              </a:bodyPr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171" name="Line 44"/>
              <p:cNvSpPr/>
              <p:nvPr/>
            </p:nvSpPr>
            <p:spPr>
              <a:xfrm>
                <a:off x="0" y="119"/>
                <a:ext cx="16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>
                <a:spAutoFit/>
              </a:bodyPr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8172" name="Line 45"/>
            <p:cNvSpPr/>
            <p:nvPr/>
          </p:nvSpPr>
          <p:spPr>
            <a:xfrm flipH="1" flipV="1">
              <a:off x="2640" y="1176"/>
              <a:ext cx="0" cy="63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73" name="Line 46"/>
            <p:cNvSpPr/>
            <p:nvPr/>
          </p:nvSpPr>
          <p:spPr>
            <a:xfrm flipV="1">
              <a:off x="2249" y="1205"/>
              <a:ext cx="0" cy="60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74" name="Line 47"/>
            <p:cNvSpPr/>
            <p:nvPr/>
          </p:nvSpPr>
          <p:spPr>
            <a:xfrm flipH="1" flipV="1">
              <a:off x="1267" y="916"/>
              <a:ext cx="0" cy="2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75" name="Line 48"/>
            <p:cNvSpPr/>
            <p:nvPr/>
          </p:nvSpPr>
          <p:spPr>
            <a:xfrm flipH="1" flipV="1">
              <a:off x="859" y="1226"/>
              <a:ext cx="1" cy="6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76" name="Line 49"/>
            <p:cNvSpPr/>
            <p:nvPr/>
          </p:nvSpPr>
          <p:spPr>
            <a:xfrm flipH="1" flipV="1">
              <a:off x="1805" y="871"/>
              <a:ext cx="0" cy="25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77" name="Line 50"/>
            <p:cNvSpPr/>
            <p:nvPr/>
          </p:nvSpPr>
          <p:spPr>
            <a:xfrm flipH="1">
              <a:off x="378" y="930"/>
              <a:ext cx="0" cy="891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78" name="Rectangle 51"/>
            <p:cNvSpPr/>
            <p:nvPr/>
          </p:nvSpPr>
          <p:spPr>
            <a:xfrm>
              <a:off x="341" y="702"/>
              <a:ext cx="78" cy="23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79" name="Line 52"/>
            <p:cNvSpPr/>
            <p:nvPr/>
          </p:nvSpPr>
          <p:spPr>
            <a:xfrm flipH="1">
              <a:off x="378" y="365"/>
              <a:ext cx="0" cy="34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80" name="Oval 53"/>
            <p:cNvSpPr/>
            <p:nvPr/>
          </p:nvSpPr>
          <p:spPr>
            <a:xfrm>
              <a:off x="288" y="1267"/>
              <a:ext cx="192" cy="192"/>
            </a:xfrm>
            <a:prstGeom prst="ellipse">
              <a:avLst/>
            </a:pr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606" name="Rectangle 54" descr="新闻纸"/>
            <p:cNvSpPr>
              <a:spLocks noChangeArrowheads="1"/>
            </p:cNvSpPr>
            <p:nvPr/>
          </p:nvSpPr>
          <p:spPr bwMode="auto">
            <a:xfrm>
              <a:off x="174" y="1032"/>
              <a:ext cx="229" cy="3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</a:pPr>
              <a:r>
                <a:rPr lang="zh-CN" altLang="zh-CN" sz="2800" b="1" strike="noStrike" noProof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ea"/>
                </a:rPr>
                <a:t>+</a:t>
              </a:r>
              <a:endParaRPr lang="zh-CN" altLang="zh-CN" sz="2800" b="1" strike="noStrike" noProof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  <p:sp>
          <p:nvSpPr>
            <p:cNvPr id="23607" name="Rectangle 55"/>
            <p:cNvSpPr>
              <a:spLocks noChangeArrowheads="1"/>
            </p:cNvSpPr>
            <p:nvPr/>
          </p:nvSpPr>
          <p:spPr bwMode="auto">
            <a:xfrm>
              <a:off x="163" y="1340"/>
              <a:ext cx="230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/>
              <a:r>
                <a:rPr lang="zh-CN" altLang="zh-CN" sz="2800" b="1" strike="noStrike" noProof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ea"/>
                </a:rPr>
                <a:t>-</a:t>
              </a:r>
              <a:endParaRPr lang="zh-CN" altLang="zh-CN" sz="2800" b="1" strike="noStrike" noProof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endParaRPr>
            </a:p>
          </p:txBody>
        </p:sp>
        <p:sp>
          <p:nvSpPr>
            <p:cNvPr id="23608" name="Text Box 56"/>
            <p:cNvSpPr txBox="1">
              <a:spLocks noChangeArrowheads="1"/>
            </p:cNvSpPr>
            <p:nvPr/>
          </p:nvSpPr>
          <p:spPr bwMode="auto">
            <a:xfrm>
              <a:off x="0" y="700"/>
              <a:ext cx="425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zh-CN" b="1" i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zh-CN" altLang="zh-CN" b="1" baseline="-2500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zh-CN" altLang="zh-CN" b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8184" name="Oval 57"/>
            <p:cNvSpPr/>
            <p:nvPr/>
          </p:nvSpPr>
          <p:spPr>
            <a:xfrm>
              <a:off x="1501" y="1781"/>
              <a:ext cx="56" cy="56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8185" name="Object 58"/>
            <p:cNvGraphicFramePr>
              <a:graphicFrameLocks noChangeAspect="1"/>
            </p:cNvGraphicFramePr>
            <p:nvPr/>
          </p:nvGraphicFramePr>
          <p:xfrm>
            <a:off x="521" y="948"/>
            <a:ext cx="181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4" name="" r:id="rId15" imgW="190500" imgH="228600" progId="Equation.3">
                    <p:embed/>
                  </p:oleObj>
                </mc:Choice>
                <mc:Fallback>
                  <p:oleObj name="" r:id="rId15" imgW="190500" imgH="228600" progId="Equation.3">
                    <p:embed/>
                    <p:pic>
                      <p:nvPicPr>
                        <p:cNvPr id="0" name="图片 3263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21" y="948"/>
                          <a:ext cx="181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86" name="Object 59"/>
            <p:cNvGraphicFramePr>
              <a:graphicFrameLocks noChangeAspect="1"/>
            </p:cNvGraphicFramePr>
            <p:nvPr/>
          </p:nvGraphicFramePr>
          <p:xfrm>
            <a:off x="396" y="34"/>
            <a:ext cx="150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3" name="" r:id="rId17" imgW="152400" imgH="228600" progId="Equation.3">
                    <p:embed/>
                  </p:oleObj>
                </mc:Choice>
                <mc:Fallback>
                  <p:oleObj name="" r:id="rId17" imgW="152400" imgH="228600" progId="Equation.3">
                    <p:embed/>
                    <p:pic>
                      <p:nvPicPr>
                        <p:cNvPr id="0" name="图片 3262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96" y="34"/>
                          <a:ext cx="150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87" name="Object 60"/>
            <p:cNvGraphicFramePr>
              <a:graphicFrameLocks noChangeAspect="1"/>
            </p:cNvGraphicFramePr>
            <p:nvPr/>
          </p:nvGraphicFramePr>
          <p:xfrm>
            <a:off x="998" y="21"/>
            <a:ext cx="177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9" name="" r:id="rId19" imgW="177800" imgH="240665" progId="Equation.3">
                    <p:embed/>
                  </p:oleObj>
                </mc:Choice>
                <mc:Fallback>
                  <p:oleObj name="" r:id="rId19" imgW="177800" imgH="240665" progId="Equation.3">
                    <p:embed/>
                    <p:pic>
                      <p:nvPicPr>
                        <p:cNvPr id="0" name="图片 3258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998" y="21"/>
                          <a:ext cx="177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88" name="Object 61"/>
            <p:cNvGraphicFramePr>
              <a:graphicFrameLocks noChangeAspect="1"/>
            </p:cNvGraphicFramePr>
            <p:nvPr/>
          </p:nvGraphicFramePr>
          <p:xfrm>
            <a:off x="1809" y="0"/>
            <a:ext cx="22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2" name="" r:id="rId21" imgW="228600" imgH="241300" progId="Equation.3">
                    <p:embed/>
                  </p:oleObj>
                </mc:Choice>
                <mc:Fallback>
                  <p:oleObj name="" r:id="rId21" imgW="228600" imgH="241300" progId="Equation.3">
                    <p:embed/>
                    <p:pic>
                      <p:nvPicPr>
                        <p:cNvPr id="0" name="图片 3261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809" y="0"/>
                          <a:ext cx="223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89" name="Object 62"/>
            <p:cNvGraphicFramePr>
              <a:graphicFrameLocks noChangeAspect="1"/>
            </p:cNvGraphicFramePr>
            <p:nvPr/>
          </p:nvGraphicFramePr>
          <p:xfrm>
            <a:off x="2703" y="927"/>
            <a:ext cx="181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0" name="" r:id="rId23" imgW="203200" imgH="241300" progId="Equation.3">
                    <p:embed/>
                  </p:oleObj>
                </mc:Choice>
                <mc:Fallback>
                  <p:oleObj name="" r:id="rId23" imgW="203200" imgH="241300" progId="Equation.3">
                    <p:embed/>
                    <p:pic>
                      <p:nvPicPr>
                        <p:cNvPr id="0" name="图片 3259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703" y="927"/>
                          <a:ext cx="181" cy="2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90" name="Object 63"/>
            <p:cNvGraphicFramePr>
              <a:graphicFrameLocks noChangeAspect="1"/>
            </p:cNvGraphicFramePr>
            <p:nvPr/>
          </p:nvGraphicFramePr>
          <p:xfrm>
            <a:off x="1497" y="378"/>
            <a:ext cx="259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1" name="" r:id="rId25" imgW="304800" imgH="241300" progId="Equation.3">
                    <p:embed/>
                  </p:oleObj>
                </mc:Choice>
                <mc:Fallback>
                  <p:oleObj name="" r:id="rId25" imgW="304800" imgH="241300" progId="Equation.3">
                    <p:embed/>
                    <p:pic>
                      <p:nvPicPr>
                        <p:cNvPr id="0" name="图片 3260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497" y="378"/>
                          <a:ext cx="259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91" name="Line 64"/>
            <p:cNvSpPr/>
            <p:nvPr/>
          </p:nvSpPr>
          <p:spPr>
            <a:xfrm flipV="1">
              <a:off x="373" y="322"/>
              <a:ext cx="278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8192" name="Object 65"/>
            <p:cNvGraphicFramePr>
              <a:graphicFrameLocks noChangeAspect="1"/>
            </p:cNvGraphicFramePr>
            <p:nvPr/>
          </p:nvGraphicFramePr>
          <p:xfrm>
            <a:off x="26" y="1192"/>
            <a:ext cx="241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" name="" r:id="rId27" imgW="215900" imgH="241300" progId="Equation.3">
                    <p:embed/>
                  </p:oleObj>
                </mc:Choice>
                <mc:Fallback>
                  <p:oleObj name="" r:id="rId27" imgW="215900" imgH="241300" progId="Equation.3">
                    <p:embed/>
                    <p:pic>
                      <p:nvPicPr>
                        <p:cNvPr id="0" name="图片 3264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6" y="1192"/>
                          <a:ext cx="241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93" name="Line 66"/>
            <p:cNvSpPr/>
            <p:nvPr/>
          </p:nvSpPr>
          <p:spPr>
            <a:xfrm>
              <a:off x="1267" y="1110"/>
              <a:ext cx="54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94" name="Rectangle 67"/>
            <p:cNvSpPr/>
            <p:nvPr/>
          </p:nvSpPr>
          <p:spPr>
            <a:xfrm>
              <a:off x="1491" y="1352"/>
              <a:ext cx="115" cy="23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95" name="Line 68"/>
            <p:cNvSpPr/>
            <p:nvPr/>
          </p:nvSpPr>
          <p:spPr>
            <a:xfrm>
              <a:off x="1537" y="1099"/>
              <a:ext cx="0" cy="2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96" name="Line 69"/>
            <p:cNvSpPr/>
            <p:nvPr/>
          </p:nvSpPr>
          <p:spPr>
            <a:xfrm>
              <a:off x="1532" y="1591"/>
              <a:ext cx="0" cy="21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97" name="Line 70"/>
            <p:cNvSpPr/>
            <p:nvPr/>
          </p:nvSpPr>
          <p:spPr>
            <a:xfrm>
              <a:off x="1656" y="1331"/>
              <a:ext cx="0" cy="28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8198" name="Object 71"/>
            <p:cNvGraphicFramePr>
              <a:graphicFrameLocks noChangeAspect="1"/>
            </p:cNvGraphicFramePr>
            <p:nvPr/>
          </p:nvGraphicFramePr>
          <p:xfrm>
            <a:off x="1677" y="1314"/>
            <a:ext cx="164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6" name="" r:id="rId29" imgW="165100" imgH="241300" progId="Equation.3">
                    <p:embed/>
                  </p:oleObj>
                </mc:Choice>
                <mc:Fallback>
                  <p:oleObj name="" r:id="rId29" imgW="165100" imgH="241300" progId="Equation.3">
                    <p:embed/>
                    <p:pic>
                      <p:nvPicPr>
                        <p:cNvPr id="0" name="图片 3265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677" y="1314"/>
                          <a:ext cx="164" cy="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24" name="Text Box 72"/>
            <p:cNvSpPr txBox="1">
              <a:spLocks noChangeArrowheads="1"/>
            </p:cNvSpPr>
            <p:nvPr/>
          </p:nvSpPr>
          <p:spPr bwMode="auto">
            <a:xfrm>
              <a:off x="1134" y="1333"/>
              <a:ext cx="466" cy="2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90000" tIns="46800" rIns="90000" bIns="46800" anchor="ctr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zh-CN" b="1" i="1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zh-CN" altLang="zh-CN" b="1" baseline="-25000">
                  <a:effectLst>
                    <a:outerShdw blurRad="38100" dist="38100" dir="2700000">
                      <a:srgbClr val="FFFFFF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endParaRPr lang="zh-CN" altLang="zh-CN" b="1">
                <a:effectLst>
                  <a:outerShdw blurRad="38100" dist="38100" dir="2700000">
                    <a:srgbClr val="FFFFFF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8200" name="Line 73"/>
            <p:cNvSpPr/>
            <p:nvPr/>
          </p:nvSpPr>
          <p:spPr>
            <a:xfrm>
              <a:off x="900" y="529"/>
              <a:ext cx="0" cy="28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lIns="90000" tIns="46800" rIns="90000" bIns="46800" anchor="ctr">
              <a:spAutoFit/>
            </a:bodyPr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8201" name="Object 74"/>
            <p:cNvGraphicFramePr>
              <a:graphicFrameLocks noChangeAspect="1"/>
            </p:cNvGraphicFramePr>
            <p:nvPr/>
          </p:nvGraphicFramePr>
          <p:xfrm>
            <a:off x="910" y="483"/>
            <a:ext cx="287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7" name="" r:id="rId31" imgW="254000" imgH="254000" progId="Equation.3">
                    <p:embed/>
                  </p:oleObj>
                </mc:Choice>
                <mc:Fallback>
                  <p:oleObj name="" r:id="rId31" imgW="254000" imgH="254000" progId="Equation.3">
                    <p:embed/>
                    <p:pic>
                      <p:nvPicPr>
                        <p:cNvPr id="0" name="图片 3266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910" y="483"/>
                          <a:ext cx="287" cy="3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Rectangle 2"/>
          <p:cNvSpPr>
            <a:spLocks noGrp="1"/>
          </p:cNvSpPr>
          <p:nvPr>
            <p:ph type="title"/>
          </p:nvPr>
        </p:nvSpPr>
        <p:spPr>
          <a:xfrm>
            <a:off x="36513" y="63500"/>
            <a:ext cx="1000125" cy="504825"/>
          </a:xfrm>
          <a:noFill/>
          <a:ln>
            <a:noFill/>
          </a:ln>
        </p:spPr>
        <p:txBody>
          <a:bodyPr anchor="t"/>
          <a:p>
            <a:pPr algn="l" eaLnBrk="1" hangingPunct="1"/>
            <a:r>
              <a:rPr lang="zh-CN" altLang="en-US" sz="2800" b="1" dirty="0">
                <a:solidFill>
                  <a:srgbClr val="000099"/>
                </a:solidFill>
              </a:rPr>
              <a:t>作业：</a:t>
            </a:r>
            <a:endParaRPr lang="zh-CN" altLang="en-US" sz="2800" b="1" dirty="0">
              <a:solidFill>
                <a:srgbClr val="000099"/>
              </a:solidFill>
            </a:endParaRPr>
          </a:p>
        </p:txBody>
      </p:sp>
      <p:sp>
        <p:nvSpPr>
          <p:cNvPr id="49155" name="文本框 2"/>
          <p:cNvSpPr txBox="1"/>
          <p:nvPr/>
        </p:nvSpPr>
        <p:spPr>
          <a:xfrm>
            <a:off x="138113" y="644208"/>
            <a:ext cx="601980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16.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右图所示电路，设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的β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=50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BE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=0.7V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CC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=12V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=280kΩ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=R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=3kΩ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。试求：（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）用估算法确定静态工作点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CE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；（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）用微变等效电路法求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；（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）欲使静态时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CE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=4.5V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，则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为多少？；（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）欲使静态时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=1.5mA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CE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=6V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，则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应改为多大？</a:t>
            </a: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9157" name="对象 7"/>
          <p:cNvGraphicFramePr/>
          <p:nvPr/>
        </p:nvGraphicFramePr>
        <p:xfrm>
          <a:off x="6513513" y="724535"/>
          <a:ext cx="2630487" cy="241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9" name="" r:id="rId1" imgW="2628900" imgH="2409825" progId="Paint.Picture">
                  <p:embed/>
                </p:oleObj>
              </mc:Choice>
              <mc:Fallback>
                <p:oleObj name="" r:id="rId1" imgW="2628900" imgH="2409825" progId="Paint.Picture">
                  <p:embed/>
                  <p:pic>
                    <p:nvPicPr>
                      <p:cNvPr id="0" name="图片 3268"/>
                      <p:cNvPicPr/>
                      <p:nvPr/>
                    </p:nvPicPr>
                    <p:blipFill>
                      <a:blip r:embed="rId2">
                        <a:lum contrast="72000"/>
                      </a:blip>
                      <a:stretch>
                        <a:fillRect/>
                      </a:stretch>
                    </p:blipFill>
                    <p:spPr>
                      <a:xfrm>
                        <a:off x="6513513" y="724535"/>
                        <a:ext cx="2630487" cy="241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78" name="文本框 3"/>
          <p:cNvSpPr txBox="1"/>
          <p:nvPr/>
        </p:nvSpPr>
        <p:spPr>
          <a:xfrm>
            <a:off x="127000" y="3258503"/>
            <a:ext cx="5626100" cy="13220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17.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右图所示电路，基本元件参数和电源电压如图所示，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U</a:t>
            </a:r>
            <a:r>
              <a:rPr lang="en-US" altLang="zh-CN" sz="2000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BE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=0.7V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。试求：（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）画出电路的直流通路，并估算静态工作点；（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）画出微变等效电路并求出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u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i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和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r</a:t>
            </a:r>
            <a:r>
              <a:rPr lang="en-US" altLang="zh-CN" sz="2000" i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o</a:t>
            </a:r>
            <a:r>
              <a:rPr lang="zh-CN" altLang="en-US" sz="2000" i="1" baseline="-2500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2000" i="1" baseline="-25000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aphicFrame>
        <p:nvGraphicFramePr>
          <p:cNvPr id="50179" name="对象 5"/>
          <p:cNvGraphicFramePr/>
          <p:nvPr/>
        </p:nvGraphicFramePr>
        <p:xfrm>
          <a:off x="5834063" y="3386138"/>
          <a:ext cx="3201987" cy="301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" name="" r:id="rId3" imgW="3200400" imgH="3009900" progId="Paint.Picture">
                  <p:embed/>
                </p:oleObj>
              </mc:Choice>
              <mc:Fallback>
                <p:oleObj name="" r:id="rId3" imgW="3200400" imgH="3009900" progId="Paint.Picture">
                  <p:embed/>
                  <p:pic>
                    <p:nvPicPr>
                      <p:cNvPr id="0" name="图片 3269"/>
                      <p:cNvPicPr/>
                      <p:nvPr/>
                    </p:nvPicPr>
                    <p:blipFill>
                      <a:blip r:embed="rId4">
                        <a:lum contrast="72000"/>
                      </a:blip>
                      <a:stretch>
                        <a:fillRect/>
                      </a:stretch>
                    </p:blipFill>
                    <p:spPr>
                      <a:xfrm>
                        <a:off x="5834063" y="3386138"/>
                        <a:ext cx="3201987" cy="301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演示文稿">
  <a:themeElements>
    <a:clrScheme name="演示文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演示文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演示文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演示文稿 6">
    <a:dk1>
      <a:srgbClr val="000000"/>
    </a:dk1>
    <a:lt1>
      <a:srgbClr val="FFFFFF"/>
    </a:lt1>
    <a:dk2>
      <a:srgbClr val="000000"/>
    </a:dk2>
    <a:lt2>
      <a:srgbClr val="808080"/>
    </a:lt2>
    <a:accent1>
      <a:srgbClr val="C0C0C0"/>
    </a:accent1>
    <a:accent2>
      <a:srgbClr val="0066FF"/>
    </a:accent2>
    <a:accent3>
      <a:srgbClr val="FFFFFF"/>
    </a:accent3>
    <a:accent4>
      <a:srgbClr val="000000"/>
    </a:accent4>
    <a:accent5>
      <a:srgbClr val="DCDCDC"/>
    </a:accent5>
    <a:accent6>
      <a:srgbClr val="005CE7"/>
    </a:accent6>
    <a:hlink>
      <a:srgbClr val="FF0000"/>
    </a:hlink>
    <a:folHlink>
      <a:srgbClr val="0099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D:\dzjs\演示文稿.pot</Template>
  <TotalTime>0</TotalTime>
  <Words>4242</Words>
  <Application>WPS 演示</Application>
  <PresentationFormat>全屏显示(4:3)</PresentationFormat>
  <Paragraphs>1524</Paragraphs>
  <Slides>34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197</vt:i4>
      </vt:variant>
      <vt:variant>
        <vt:lpstr>幻灯片标题</vt:lpstr>
      </vt:variant>
      <vt:variant>
        <vt:i4>34</vt:i4>
      </vt:variant>
    </vt:vector>
  </HeadingPairs>
  <TitlesOfParts>
    <vt:vector size="245" baseType="lpstr">
      <vt:lpstr>Arial</vt:lpstr>
      <vt:lpstr>宋体</vt:lpstr>
      <vt:lpstr>Wingdings</vt:lpstr>
      <vt:lpstr>Times New Roman</vt:lpstr>
      <vt:lpstr>华文新魏</vt:lpstr>
      <vt:lpstr>Symbol</vt:lpstr>
      <vt:lpstr>黑体</vt:lpstr>
      <vt:lpstr>楷体</vt:lpstr>
      <vt:lpstr>楷体_GB2312</vt:lpstr>
      <vt:lpstr>新宋体</vt:lpstr>
      <vt:lpstr>微软雅黑</vt:lpstr>
      <vt:lpstr>Arial Unicode MS</vt:lpstr>
      <vt:lpstr>长城楷体</vt:lpstr>
      <vt:lpstr>演示文稿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Equation.KSEE3</vt:lpstr>
      <vt:lpstr>Paint.Picture</vt:lpstr>
      <vt:lpstr>Equation.KSEE3</vt:lpstr>
      <vt:lpstr>Equation.KSEE3</vt:lpstr>
      <vt:lpstr>Equation.KSEE3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MS_ClipArt_Gallery.5</vt:lpstr>
      <vt:lpstr>MS_ClipArt_Gallery.5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MS_ClipArt_Gallery.5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MS_ClipArt_Gallery.5</vt:lpstr>
      <vt:lpstr>Equation.3</vt:lpstr>
      <vt:lpstr>Equation.3</vt:lpstr>
      <vt:lpstr>Equation.3</vt:lpstr>
      <vt:lpstr>Equation.3</vt:lpstr>
      <vt:lpstr>Paint.Picture</vt:lpstr>
      <vt:lpstr>Equation.3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Paint.Picture</vt:lpstr>
      <vt:lpstr>Equation.KSEE3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Equation.KSEE3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Equation.3</vt:lpstr>
      <vt:lpstr>Equation.3</vt:lpstr>
      <vt:lpstr>Equation.3</vt:lpstr>
      <vt:lpstr>Equation.KSEE3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Equation.KSEE3</vt:lpstr>
      <vt:lpstr>Paint.Picture</vt:lpstr>
      <vt:lpstr>Paint.Picture</vt:lpstr>
      <vt:lpstr>Equation.3</vt:lpstr>
      <vt:lpstr>Paint.Picture</vt:lpstr>
      <vt:lpstr>Paint.Picture</vt:lpstr>
      <vt:lpstr>Paint.Picture</vt:lpstr>
      <vt:lpstr>Equation.3</vt:lpstr>
      <vt:lpstr>Paint.Picture</vt:lpstr>
      <vt:lpstr>Paint.Picture</vt:lpstr>
      <vt:lpstr>Paint.Picture</vt:lpstr>
      <vt:lpstr>Equation.KSEE3</vt:lpstr>
      <vt:lpstr>Paint.Picture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Equation.3</vt:lpstr>
      <vt:lpstr>Equation.3</vt:lpstr>
      <vt:lpstr>Paint.Picture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5-1放大电路的动态分析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有射极电阻时: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二、动态分析图解法</vt:lpstr>
      <vt:lpstr>1.非线性饱和失真</vt:lpstr>
      <vt:lpstr>2.非线性截止失真</vt:lpstr>
      <vt:lpstr>三、静态工作点的稳定</vt:lpstr>
      <vt:lpstr>温度变化对静态工作点的影响</vt:lpstr>
      <vt:lpstr>PowerPoint 演示文稿</vt:lpstr>
      <vt:lpstr>1.稳定Q点的原理</vt:lpstr>
      <vt:lpstr>PowerPoint 演示文稿</vt:lpstr>
      <vt:lpstr>PowerPoint 演示文稿</vt:lpstr>
      <vt:lpstr>PowerPoint 演示文稿</vt:lpstr>
      <vt:lpstr>2.  静态工作点的计算</vt:lpstr>
      <vt:lpstr>3.  动态分析</vt:lpstr>
      <vt:lpstr>PowerPoint 演示文稿</vt:lpstr>
      <vt:lpstr>PowerPoint 演示文稿</vt:lpstr>
      <vt:lpstr>PowerPoint 演示文稿</vt:lpstr>
      <vt:lpstr>例1:</vt:lpstr>
      <vt:lpstr>解:</vt:lpstr>
      <vt:lpstr>(2) 由微变等效电路求Au、 ri 、 ro。</vt:lpstr>
      <vt:lpstr>作业：</vt:lpstr>
    </vt:vector>
  </TitlesOfParts>
  <Company>xd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xtw</dc:creator>
  <cp:lastModifiedBy>Administrator</cp:lastModifiedBy>
  <cp:revision>349</cp:revision>
  <dcterms:created xsi:type="dcterms:W3CDTF">2002-12-19T03:06:00Z</dcterms:created>
  <dcterms:modified xsi:type="dcterms:W3CDTF">2019-10-13T13:54:35Z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