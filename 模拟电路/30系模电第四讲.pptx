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wmf" ContentType="image/x-wmf"/>
  <Default Extension="png" ContentType="image/png"/>
  <Default Extension="gif" ContentType="image/gif"/>
  <Default Extension="emf" ContentType="image/x-emf"/>
  <Default Extension="bmp" ContentType="image/bmp"/>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60" r:id="rId3"/>
    <p:sldId id="261" r:id="rId4"/>
    <p:sldId id="262" r:id="rId5"/>
    <p:sldId id="263" r:id="rId6"/>
    <p:sldId id="264" r:id="rId7"/>
    <p:sldId id="265" r:id="rId8"/>
    <p:sldId id="266" r:id="rId9"/>
    <p:sldId id="267" r:id="rId11"/>
    <p:sldId id="268" r:id="rId12"/>
    <p:sldId id="269" r:id="rId13"/>
    <p:sldId id="270" r:id="rId14"/>
    <p:sldId id="290" r:id="rId15"/>
    <p:sldId id="291" r:id="rId16"/>
    <p:sldId id="292" r:id="rId17"/>
    <p:sldId id="293" r:id="rId18"/>
    <p:sldId id="383" r:id="rId19"/>
    <p:sldId id="384" r:id="rId20"/>
    <p:sldId id="385" r:id="rId21"/>
    <p:sldId id="386" r:id="rId22"/>
    <p:sldId id="387" r:id="rId23"/>
    <p:sldId id="388" r:id="rId24"/>
    <p:sldId id="389" r:id="rId25"/>
    <p:sldId id="390" r:id="rId26"/>
    <p:sldId id="391" r:id="rId27"/>
    <p:sldId id="392" r:id="rId28"/>
    <p:sldId id="393" r:id="rId29"/>
    <p:sldId id="394" r:id="rId30"/>
    <p:sldId id="395" r:id="rId31"/>
    <p:sldId id="396" r:id="rId32"/>
    <p:sldId id="397" r:id="rId33"/>
    <p:sldId id="398" r:id="rId34"/>
    <p:sldId id="399" r:id="rId35"/>
    <p:sldId id="400" r:id="rId36"/>
    <p:sldId id="401" r:id="rId37"/>
    <p:sldId id="402" r:id="rId38"/>
    <p:sldId id="403" r:id="rId39"/>
    <p:sldId id="404" r:id="rId40"/>
    <p:sldId id="405" r:id="rId41"/>
    <p:sldId id="295" r:id="rId42"/>
    <p:sldId id="406" r:id="rId43"/>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0000"/>
    <a:srgbClr val="FFFF00"/>
    <a:srgbClr val="3440DE"/>
    <a:srgbClr val="616AE5"/>
    <a:srgbClr val="5987FF"/>
    <a:srgbClr val="3541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00"/>
    <p:restoredTop sz="94724"/>
  </p:normalViewPr>
  <p:slideViewPr>
    <p:cSldViewPr snapToGrid="0" showGuides="1">
      <p:cViewPr>
        <p:scale>
          <a:sx n="53" d="100"/>
          <a:sy n="53" d="100"/>
        </p:scale>
        <p:origin x="-1644" y="-11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6.wmf"/><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8.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9.vml.rels><?xml version="1.0" encoding="UTF-8" standalone="yes"?>
<Relationships xmlns="http://schemas.openxmlformats.org/package/2006/relationships"><Relationship Id="rId4" Type="http://schemas.openxmlformats.org/officeDocument/2006/relationships/image" Target="../media/image34.wmf"/><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e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image" Target="../media/image3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emf"/><Relationship Id="rId1" Type="http://schemas.openxmlformats.org/officeDocument/2006/relationships/image" Target="../media/image49.bmp"/></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lvl="0" algn="r" eaLnBrk="1" fontAlgn="base" hangingPunct="1"/>
            <a:fld id="{9A0DB2DC-4C9A-4742-B13C-FB6460FD3503}" type="slidenum">
              <a:rPr lang="en-US" altLang="zh-CN" sz="1200" strike="noStrike" noProof="1" dirty="0">
                <a:latin typeface="Arial" panose="020B0604020202020204" pitchFamily="34" charset="0"/>
                <a:ea typeface="宋体" panose="02010600030101010101" pitchFamily="2" charset="-122"/>
                <a:cs typeface="+mn-ea"/>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38914" name="Rectangle 2"/>
          <p:cNvSpPr>
            <a:spLocks noRot="1" noTextEdit="1"/>
          </p:cNvSpPr>
          <p:nvPr>
            <p:ph type="sldImg"/>
          </p:nvPr>
        </p:nvSpPr>
        <p:spPr>
          <a:xfrm>
            <a:off x="1144588" y="685800"/>
            <a:ext cx="4572000" cy="3429000"/>
          </a:xfrm>
        </p:spPr>
      </p:sp>
      <p:sp>
        <p:nvSpPr>
          <p:cNvPr id="38915" name="Rectangle 3"/>
          <p:cNvSpPr>
            <a:spLocks noGrp="1"/>
          </p:cNvSpPr>
          <p:nvPr>
            <p:ph type="body"/>
          </p:nvPr>
        </p:nvSpPr>
        <p:spPr>
          <a:xfrm>
            <a:off x="914400" y="4343400"/>
            <a:ext cx="5029200" cy="4114800"/>
          </a:xfrm>
        </p:spPr>
        <p:txBody>
          <a:bodyPr wrap="square" lIns="91440" tIns="45720" rIns="91440" bIns="45720" anchor="t"/>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40962" name="Rectangle 2"/>
          <p:cNvSpPr>
            <a:spLocks noRot="1" noTextEdit="1"/>
          </p:cNvSpPr>
          <p:nvPr>
            <p:ph type="sldImg"/>
          </p:nvPr>
        </p:nvSpPr>
        <p:spPr>
          <a:xfrm>
            <a:off x="1144588" y="685800"/>
            <a:ext cx="4572000" cy="3429000"/>
          </a:xfrm>
        </p:spPr>
      </p:sp>
      <p:sp>
        <p:nvSpPr>
          <p:cNvPr id="40963" name="Rectangle 3"/>
          <p:cNvSpPr>
            <a:spLocks noGrp="1"/>
          </p:cNvSpPr>
          <p:nvPr>
            <p:ph type="body"/>
          </p:nvPr>
        </p:nvSpPr>
        <p:spPr>
          <a:xfrm>
            <a:off x="914400" y="4343400"/>
            <a:ext cx="5029200" cy="4114800"/>
          </a:xfrm>
        </p:spPr>
        <p:txBody>
          <a:bodyPr wrap="square" lIns="91440" tIns="45720" rIns="91440" bIns="45720" anchor="t"/>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43010" name="Rectangle 2"/>
          <p:cNvSpPr>
            <a:spLocks noRot="1" noTextEdit="1"/>
          </p:cNvSpPr>
          <p:nvPr>
            <p:ph type="sldImg"/>
          </p:nvPr>
        </p:nvSpPr>
        <p:spPr>
          <a:xfrm>
            <a:off x="1144588" y="685800"/>
            <a:ext cx="4572000" cy="3429000"/>
          </a:xfrm>
        </p:spPr>
      </p:sp>
      <p:sp>
        <p:nvSpPr>
          <p:cNvPr id="43011" name="Rectangle 3"/>
          <p:cNvSpPr>
            <a:spLocks noGrp="1"/>
          </p:cNvSpPr>
          <p:nvPr>
            <p:ph type="body"/>
          </p:nvPr>
        </p:nvSpPr>
        <p:spPr>
          <a:xfrm>
            <a:off x="914400" y="4343400"/>
            <a:ext cx="5029200" cy="4114800"/>
          </a:xfrm>
        </p:spPr>
        <p:txBody>
          <a:bodyPr wrap="square" lIns="91440" tIns="45720" rIns="91440" bIns="45720" anchor="t"/>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45058" name="Rectangle 2"/>
          <p:cNvSpPr>
            <a:spLocks noRot="1" noTextEdit="1"/>
          </p:cNvSpPr>
          <p:nvPr>
            <p:ph type="sldImg"/>
          </p:nvPr>
        </p:nvSpPr>
        <p:spPr>
          <a:xfrm>
            <a:off x="1144588" y="685800"/>
            <a:ext cx="4572000" cy="3429000"/>
          </a:xfrm>
        </p:spPr>
      </p:sp>
      <p:sp>
        <p:nvSpPr>
          <p:cNvPr id="45059" name="Rectangle 3"/>
          <p:cNvSpPr>
            <a:spLocks noGrp="1"/>
          </p:cNvSpPr>
          <p:nvPr>
            <p:ph type="body"/>
          </p:nvPr>
        </p:nvSpPr>
        <p:spPr>
          <a:xfrm>
            <a:off x="914400" y="4343400"/>
            <a:ext cx="5029200" cy="4114800"/>
          </a:xfrm>
        </p:spPr>
        <p:txBody>
          <a:bodyPr wrap="square" lIns="91440" tIns="45720" rIns="91440" bIns="45720" anchor="t"/>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6200" y="8686800"/>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26626" name="Rectangle 2"/>
          <p:cNvSpPr>
            <a:spLocks noTextEdit="1"/>
          </p:cNvSpPr>
          <p:nvPr>
            <p:ph type="sldImg"/>
          </p:nvPr>
        </p:nvSpPr>
        <p:spPr/>
      </p:sp>
      <p:sp>
        <p:nvSpPr>
          <p:cNvPr id="26627" name="Rectangle 3"/>
          <p:cNvSpPr>
            <a:spLocks noGrp="1"/>
          </p:cNvSpPr>
          <p:nvPr>
            <p:ph type="body"/>
          </p:nvPr>
        </p:nvSpPr>
        <p:spPr/>
        <p:txBody>
          <a:bodyPr wrap="square" lIns="91440" tIns="45720" rIns="91440" bIns="45720" anchor="t"/>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6200" y="8686800"/>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28674" name="Rectangle 2"/>
          <p:cNvSpPr>
            <a:spLocks noTextEdit="1"/>
          </p:cNvSpPr>
          <p:nvPr>
            <p:ph type="sldImg"/>
          </p:nvPr>
        </p:nvSpPr>
        <p:spPr/>
      </p:sp>
      <p:sp>
        <p:nvSpPr>
          <p:cNvPr id="28675" name="Rectangle 3"/>
          <p:cNvSpPr>
            <a:spLocks noGrp="1"/>
          </p:cNvSpPr>
          <p:nvPr>
            <p:ph type="body"/>
          </p:nvPr>
        </p:nvSpPr>
        <p:spPr/>
        <p:txBody>
          <a:bodyPr wrap="square" lIns="91440" tIns="45720" rIns="91440" bIns="45720" anchor="t"/>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7"/>
          <p:cNvSpPr txBox="1">
            <a:spLocks noGrp="1"/>
          </p:cNvSpPr>
          <p:nvPr>
            <p:ph type="sldNum" sz="quarter"/>
          </p:nvPr>
        </p:nvSpPr>
        <p:spPr>
          <a:xfrm>
            <a:off x="3886200" y="8686800"/>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34818" name="Rectangle 2"/>
          <p:cNvSpPr>
            <a:spLocks noTextEdit="1"/>
          </p:cNvSpPr>
          <p:nvPr>
            <p:ph type="sldImg"/>
          </p:nvPr>
        </p:nvSpPr>
        <p:spPr>
          <a:solidFill>
            <a:srgbClr val="FFFFFF"/>
          </a:solidFill>
        </p:spPr>
      </p:sp>
      <p:sp>
        <p:nvSpPr>
          <p:cNvPr id="34819" name="Rectangle 3"/>
          <p:cNvSpPr/>
          <p:nvPr>
            <p:ph type="body"/>
          </p:nvPr>
        </p:nvSpPr>
        <p:spPr>
          <a:solidFill>
            <a:srgbClr val="FFFFFF"/>
          </a:solidFill>
          <a:ln>
            <a:solidFill>
              <a:srgbClr val="000000"/>
            </a:solidFill>
            <a:miter/>
          </a:ln>
        </p:spPr>
        <p:txBody>
          <a:bodyPr wrap="square" lIns="91440" tIns="45720" rIns="91440" bIns="45720" anchor="t"/>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7"/>
          <p:cNvSpPr txBox="1">
            <a:spLocks noGrp="1"/>
          </p:cNvSpPr>
          <p:nvPr>
            <p:ph type="sldNum" sz="quarter"/>
          </p:nvPr>
        </p:nvSpPr>
        <p:spPr>
          <a:xfrm>
            <a:off x="3886200" y="8686800"/>
            <a:ext cx="2971800" cy="457200"/>
          </a:xfrm>
          <a:prstGeom prst="rect">
            <a:avLst/>
          </a:prstGeom>
          <a:noFill/>
          <a:ln w="9525">
            <a:noFill/>
          </a:ln>
        </p:spPr>
        <p:txBody>
          <a:bodyPr wrap="square" lIns="91440" tIns="45720" rIns="91440" bIns="45720" anchor="b"/>
          <a:p>
            <a:pPr lvl="0" indent="0" algn="r"/>
            <a:fld id="{9A0DB2DC-4C9A-4742-B13C-FB6460FD3503}" type="slidenum">
              <a:rPr lang="en-US" altLang="zh-CN" sz="1200" dirty="0"/>
            </a:fld>
            <a:endParaRPr lang="en-US" altLang="zh-CN" sz="1200" dirty="0"/>
          </a:p>
        </p:txBody>
      </p:sp>
      <p:sp>
        <p:nvSpPr>
          <p:cNvPr id="37890" name="Rectangle 2"/>
          <p:cNvSpPr>
            <a:spLocks noTextEdit="1"/>
          </p:cNvSpPr>
          <p:nvPr>
            <p:ph type="sldImg"/>
          </p:nvPr>
        </p:nvSpPr>
        <p:spPr>
          <a:solidFill>
            <a:srgbClr val="FFFFFF"/>
          </a:solidFill>
        </p:spPr>
      </p:sp>
      <p:sp>
        <p:nvSpPr>
          <p:cNvPr id="37891" name="Rectangle 3"/>
          <p:cNvSpPr/>
          <p:nvPr>
            <p:ph type="body"/>
          </p:nvPr>
        </p:nvSpPr>
        <p:spPr>
          <a:solidFill>
            <a:srgbClr val="FFFFFF"/>
          </a:solidFill>
          <a:ln>
            <a:solidFill>
              <a:srgbClr val="000000"/>
            </a:solidFill>
            <a:miter/>
          </a:ln>
        </p:spPr>
        <p:txBody>
          <a:bodyPr wrap="square" lIns="91440" tIns="45720" rIns="91440" bIns="45720" anchor="t"/>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440DE"/>
            </a:gs>
            <a:gs pos="100000">
              <a:srgbClr val="3541DD"/>
            </a:gs>
          </a:gsLst>
          <a:lin ang="18900000" scaled="1"/>
          <a:tileRect/>
        </a:gra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457200" y="1600200"/>
            <a:ext cx="8229600" cy="4525963"/>
          </a:xfrm>
          <a:prstGeom prst="rect">
            <a:avLst/>
          </a:prstGeom>
          <a:noFill/>
          <a:ln w="9525">
            <a:noFill/>
          </a:ln>
        </p:spPr>
        <p:txBody>
          <a:bodyPr anchor="t"/>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fld>
            <a:endParaRPr lang="en-US" altLang="zh-CN" sz="1400"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oleObject" Target="../embeddings/oleObject6.bin"/><Relationship Id="rId7" Type="http://schemas.openxmlformats.org/officeDocument/2006/relationships/oleObject" Target="../embeddings/oleObject5.bin"/><Relationship Id="rId6" Type="http://schemas.openxmlformats.org/officeDocument/2006/relationships/oleObject" Target="../embeddings/oleObject4.bin"/><Relationship Id="rId5" Type="http://schemas.openxmlformats.org/officeDocument/2006/relationships/oleObject" Target="../embeddings/oleObject3.bin"/><Relationship Id="rId43" Type="http://schemas.openxmlformats.org/officeDocument/2006/relationships/vmlDrawing" Target="../drawings/vmlDrawing1.vml"/><Relationship Id="rId42" Type="http://schemas.openxmlformats.org/officeDocument/2006/relationships/slideLayout" Target="../slideLayouts/slideLayout2.xml"/><Relationship Id="rId41" Type="http://schemas.openxmlformats.org/officeDocument/2006/relationships/oleObject" Target="../embeddings/oleObject39.bin"/><Relationship Id="rId40" Type="http://schemas.openxmlformats.org/officeDocument/2006/relationships/oleObject" Target="../embeddings/oleObject38.bin"/><Relationship Id="rId4" Type="http://schemas.openxmlformats.org/officeDocument/2006/relationships/image" Target="../media/image3.wmf"/><Relationship Id="rId39" Type="http://schemas.openxmlformats.org/officeDocument/2006/relationships/oleObject" Target="../embeddings/oleObject37.bin"/><Relationship Id="rId38" Type="http://schemas.openxmlformats.org/officeDocument/2006/relationships/oleObject" Target="../embeddings/oleObject36.bin"/><Relationship Id="rId37" Type="http://schemas.openxmlformats.org/officeDocument/2006/relationships/oleObject" Target="../embeddings/oleObject35.bin"/><Relationship Id="rId36" Type="http://schemas.openxmlformats.org/officeDocument/2006/relationships/oleObject" Target="../embeddings/oleObject34.bin"/><Relationship Id="rId35" Type="http://schemas.openxmlformats.org/officeDocument/2006/relationships/oleObject" Target="../embeddings/oleObject33.bin"/><Relationship Id="rId34" Type="http://schemas.openxmlformats.org/officeDocument/2006/relationships/oleObject" Target="../embeddings/oleObject32.bin"/><Relationship Id="rId33" Type="http://schemas.openxmlformats.org/officeDocument/2006/relationships/oleObject" Target="../embeddings/oleObject31.bin"/><Relationship Id="rId32" Type="http://schemas.openxmlformats.org/officeDocument/2006/relationships/oleObject" Target="../embeddings/oleObject30.bin"/><Relationship Id="rId31" Type="http://schemas.openxmlformats.org/officeDocument/2006/relationships/oleObject" Target="../embeddings/oleObject29.bin"/><Relationship Id="rId30" Type="http://schemas.openxmlformats.org/officeDocument/2006/relationships/oleObject" Target="../embeddings/oleObject28.bin"/><Relationship Id="rId3" Type="http://schemas.openxmlformats.org/officeDocument/2006/relationships/oleObject" Target="../embeddings/oleObject2.bin"/><Relationship Id="rId29" Type="http://schemas.openxmlformats.org/officeDocument/2006/relationships/oleObject" Target="../embeddings/oleObject27.bin"/><Relationship Id="rId28" Type="http://schemas.openxmlformats.org/officeDocument/2006/relationships/oleObject" Target="../embeddings/oleObject26.bin"/><Relationship Id="rId27" Type="http://schemas.openxmlformats.org/officeDocument/2006/relationships/oleObject" Target="../embeddings/oleObject25.bin"/><Relationship Id="rId26" Type="http://schemas.openxmlformats.org/officeDocument/2006/relationships/oleObject" Target="../embeddings/oleObject24.bin"/><Relationship Id="rId25" Type="http://schemas.openxmlformats.org/officeDocument/2006/relationships/oleObject" Target="../embeddings/oleObject23.bin"/><Relationship Id="rId24" Type="http://schemas.openxmlformats.org/officeDocument/2006/relationships/oleObject" Target="../embeddings/oleObject22.bin"/><Relationship Id="rId23" Type="http://schemas.openxmlformats.org/officeDocument/2006/relationships/oleObject" Target="../embeddings/oleObject21.bin"/><Relationship Id="rId22" Type="http://schemas.openxmlformats.org/officeDocument/2006/relationships/oleObject" Target="../embeddings/oleObject20.bin"/><Relationship Id="rId21" Type="http://schemas.openxmlformats.org/officeDocument/2006/relationships/oleObject" Target="../embeddings/oleObject19.bin"/><Relationship Id="rId20" Type="http://schemas.openxmlformats.org/officeDocument/2006/relationships/oleObject" Target="../embeddings/oleObject18.bin"/><Relationship Id="rId2" Type="http://schemas.openxmlformats.org/officeDocument/2006/relationships/image" Target="../media/image2.wmf"/><Relationship Id="rId19" Type="http://schemas.openxmlformats.org/officeDocument/2006/relationships/oleObject" Target="../embeddings/oleObject17.bin"/><Relationship Id="rId18" Type="http://schemas.openxmlformats.org/officeDocument/2006/relationships/oleObject" Target="../embeddings/oleObject16.bin"/><Relationship Id="rId17" Type="http://schemas.openxmlformats.org/officeDocument/2006/relationships/oleObject" Target="../embeddings/oleObject15.bin"/><Relationship Id="rId16" Type="http://schemas.openxmlformats.org/officeDocument/2006/relationships/oleObject" Target="../embeddings/oleObject14.bin"/><Relationship Id="rId15" Type="http://schemas.openxmlformats.org/officeDocument/2006/relationships/oleObject" Target="../embeddings/oleObject13.bin"/><Relationship Id="rId14" Type="http://schemas.openxmlformats.org/officeDocument/2006/relationships/oleObject" Target="../embeddings/oleObject12.bin"/><Relationship Id="rId13" Type="http://schemas.openxmlformats.org/officeDocument/2006/relationships/oleObject" Target="../embeddings/oleObject11.bin"/><Relationship Id="rId12" Type="http://schemas.openxmlformats.org/officeDocument/2006/relationships/oleObject" Target="../embeddings/oleObject10.bin"/><Relationship Id="rId11" Type="http://schemas.openxmlformats.org/officeDocument/2006/relationships/oleObject" Target="../embeddings/oleObject9.bin"/><Relationship Id="rId10" Type="http://schemas.openxmlformats.org/officeDocument/2006/relationships/oleObject" Target="../embeddings/oleObject8.bin"/><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4.xml"/><Relationship Id="rId7" Type="http://schemas.openxmlformats.org/officeDocument/2006/relationships/image" Target="../media/image7.wmf"/><Relationship Id="rId6" Type="http://schemas.openxmlformats.org/officeDocument/2006/relationships/oleObject" Target="../embeddings/oleObject42.bin"/><Relationship Id="rId5" Type="http://schemas.openxmlformats.org/officeDocument/2006/relationships/image" Target="../media/image6.wmf"/><Relationship Id="rId4" Type="http://schemas.openxmlformats.org/officeDocument/2006/relationships/oleObject" Target="../embeddings/oleObject41.bin"/><Relationship Id="rId3" Type="http://schemas.openxmlformats.org/officeDocument/2006/relationships/image" Target="../media/image5.wmf"/><Relationship Id="rId2" Type="http://schemas.openxmlformats.org/officeDocument/2006/relationships/oleObject" Target="../embeddings/oleObject40.bin"/><Relationship Id="rId1" Type="http://schemas.openxmlformats.org/officeDocument/2006/relationships/image" Target="../media/image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1" Type="http://schemas.openxmlformats.org/officeDocument/2006/relationships/notesSlide" Target="../notesSlides/notesSlide1.xml"/><Relationship Id="rId10"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oleObject" Target="../embeddings/oleObject47.bin"/><Relationship Id="rId7" Type="http://schemas.openxmlformats.org/officeDocument/2006/relationships/oleObject" Target="../embeddings/oleObject46.bin"/><Relationship Id="rId6" Type="http://schemas.openxmlformats.org/officeDocument/2006/relationships/image" Target="../media/image6.wmf"/><Relationship Id="rId5" Type="http://schemas.openxmlformats.org/officeDocument/2006/relationships/oleObject" Target="../embeddings/oleObject45.bin"/><Relationship Id="rId4" Type="http://schemas.openxmlformats.org/officeDocument/2006/relationships/image" Target="../media/image19.wmf"/><Relationship Id="rId3" Type="http://schemas.openxmlformats.org/officeDocument/2006/relationships/oleObject" Target="../embeddings/oleObject44.bin"/><Relationship Id="rId21" Type="http://schemas.openxmlformats.org/officeDocument/2006/relationships/notesSlide" Target="../notesSlides/notesSlide3.xml"/><Relationship Id="rId20" Type="http://schemas.openxmlformats.org/officeDocument/2006/relationships/vmlDrawing" Target="../drawings/vmlDrawing3.vml"/><Relationship Id="rId2" Type="http://schemas.openxmlformats.org/officeDocument/2006/relationships/image" Target="../media/image18.wmf"/><Relationship Id="rId19" Type="http://schemas.openxmlformats.org/officeDocument/2006/relationships/slideLayout" Target="../slideLayouts/slideLayout2.xml"/><Relationship Id="rId18" Type="http://schemas.openxmlformats.org/officeDocument/2006/relationships/image" Target="../media/image22.wmf"/><Relationship Id="rId17" Type="http://schemas.openxmlformats.org/officeDocument/2006/relationships/oleObject" Target="../embeddings/oleObject54.bin"/><Relationship Id="rId16" Type="http://schemas.openxmlformats.org/officeDocument/2006/relationships/image" Target="../media/image21.wmf"/><Relationship Id="rId15" Type="http://schemas.openxmlformats.org/officeDocument/2006/relationships/oleObject" Target="../embeddings/oleObject53.bin"/><Relationship Id="rId14" Type="http://schemas.openxmlformats.org/officeDocument/2006/relationships/image" Target="../media/image20.wmf"/><Relationship Id="rId13" Type="http://schemas.openxmlformats.org/officeDocument/2006/relationships/oleObject" Target="../embeddings/oleObject52.bin"/><Relationship Id="rId12" Type="http://schemas.openxmlformats.org/officeDocument/2006/relationships/oleObject" Target="../embeddings/oleObject51.bin"/><Relationship Id="rId11" Type="http://schemas.openxmlformats.org/officeDocument/2006/relationships/oleObject" Target="../embeddings/oleObject50.bin"/><Relationship Id="rId10" Type="http://schemas.openxmlformats.org/officeDocument/2006/relationships/oleObject" Target="../embeddings/oleObject49.bin"/><Relationship Id="rId1" Type="http://schemas.openxmlformats.org/officeDocument/2006/relationships/oleObject" Target="../embeddings/oleObject43.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wmf"/><Relationship Id="rId7" Type="http://schemas.openxmlformats.org/officeDocument/2006/relationships/oleObject" Target="../embeddings/oleObject57.bin"/><Relationship Id="rId6" Type="http://schemas.openxmlformats.org/officeDocument/2006/relationships/image" Target="../media/image19.wmf"/><Relationship Id="rId5" Type="http://schemas.openxmlformats.org/officeDocument/2006/relationships/oleObject" Target="../embeddings/oleObject56.bin"/><Relationship Id="rId4" Type="http://schemas.openxmlformats.org/officeDocument/2006/relationships/image" Target="../media/image18.wmf"/><Relationship Id="rId3" Type="http://schemas.openxmlformats.org/officeDocument/2006/relationships/oleObject" Target="../embeddings/oleObject55.bin"/><Relationship Id="rId2" Type="http://schemas.openxmlformats.org/officeDocument/2006/relationships/image" Target="../media/image25.GIF"/><Relationship Id="rId10" Type="http://schemas.openxmlformats.org/officeDocument/2006/relationships/vmlDrawing" Target="../drawings/vmlDrawing4.v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oleObject" Target="../embeddings/oleObject58.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oleObject" Target="../embeddings/oleObject59.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oleObject" Target="../embeddings/oleObject60.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oleObject" Target="../embeddings/oleObject6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3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34.wmf"/><Relationship Id="rId7" Type="http://schemas.openxmlformats.org/officeDocument/2006/relationships/oleObject" Target="../embeddings/oleObject65.bin"/><Relationship Id="rId6" Type="http://schemas.openxmlformats.org/officeDocument/2006/relationships/image" Target="../media/image33.emf"/><Relationship Id="rId5" Type="http://schemas.openxmlformats.org/officeDocument/2006/relationships/oleObject" Target="../embeddings/oleObject64.bin"/><Relationship Id="rId4" Type="http://schemas.openxmlformats.org/officeDocument/2006/relationships/image" Target="../media/image32.emf"/><Relationship Id="rId3" Type="http://schemas.openxmlformats.org/officeDocument/2006/relationships/oleObject" Target="../embeddings/oleObject63.bin"/><Relationship Id="rId2" Type="http://schemas.openxmlformats.org/officeDocument/2006/relationships/image" Target="../media/image31.emf"/><Relationship Id="rId10" Type="http://schemas.openxmlformats.org/officeDocument/2006/relationships/vmlDrawing" Target="../drawings/vmlDrawing9.vml"/><Relationship Id="rId1" Type="http://schemas.openxmlformats.org/officeDocument/2006/relationships/oleObject" Target="../embeddings/oleObject62.bin"/></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37.wmf"/><Relationship Id="rId5" Type="http://schemas.openxmlformats.org/officeDocument/2006/relationships/oleObject" Target="../embeddings/oleObject68.bin"/><Relationship Id="rId4" Type="http://schemas.openxmlformats.org/officeDocument/2006/relationships/image" Target="../media/image36.wmf"/><Relationship Id="rId3" Type="http://schemas.openxmlformats.org/officeDocument/2006/relationships/oleObject" Target="../embeddings/oleObject67.bin"/><Relationship Id="rId2" Type="http://schemas.openxmlformats.org/officeDocument/2006/relationships/image" Target="../media/image35.emf"/><Relationship Id="rId1" Type="http://schemas.openxmlformats.org/officeDocument/2006/relationships/oleObject" Target="../embeddings/oleObject66.bin"/></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6.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oleObject" Target="../embeddings/oleObject72.bin"/><Relationship Id="rId7" Type="http://schemas.openxmlformats.org/officeDocument/2006/relationships/image" Target="../media/image38.png"/><Relationship Id="rId6" Type="http://schemas.openxmlformats.org/officeDocument/2006/relationships/image" Target="../media/image41.emf"/><Relationship Id="rId5" Type="http://schemas.openxmlformats.org/officeDocument/2006/relationships/oleObject" Target="../embeddings/oleObject71.bin"/><Relationship Id="rId4" Type="http://schemas.openxmlformats.org/officeDocument/2006/relationships/image" Target="../media/image40.emf"/><Relationship Id="rId3" Type="http://schemas.openxmlformats.org/officeDocument/2006/relationships/oleObject" Target="../embeddings/oleObject70.bin"/><Relationship Id="rId2" Type="http://schemas.openxmlformats.org/officeDocument/2006/relationships/image" Target="../media/image39.emf"/><Relationship Id="rId13" Type="http://schemas.openxmlformats.org/officeDocument/2006/relationships/vmlDrawing" Target="../drawings/vmlDrawing11.vml"/><Relationship Id="rId12" Type="http://schemas.openxmlformats.org/officeDocument/2006/relationships/slideLayout" Target="../slideLayouts/slideLayout7.xml"/><Relationship Id="rId11" Type="http://schemas.openxmlformats.org/officeDocument/2006/relationships/image" Target="../media/image43.wmf"/><Relationship Id="rId10" Type="http://schemas.openxmlformats.org/officeDocument/2006/relationships/oleObject" Target="../embeddings/oleObject73.bin"/><Relationship Id="rId1" Type="http://schemas.openxmlformats.org/officeDocument/2006/relationships/oleObject" Target="../embeddings/oleObject69.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6.xml"/><Relationship Id="rId2" Type="http://schemas.openxmlformats.org/officeDocument/2006/relationships/image" Target="../media/image44.wmf"/><Relationship Id="rId1" Type="http://schemas.openxmlformats.org/officeDocument/2006/relationships/oleObject" Target="../embeddings/oleObject74.bin"/></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48.wmf"/><Relationship Id="rId7" Type="http://schemas.openxmlformats.org/officeDocument/2006/relationships/oleObject" Target="../embeddings/oleObject78.bin"/><Relationship Id="rId6" Type="http://schemas.openxmlformats.org/officeDocument/2006/relationships/image" Target="../media/image47.wmf"/><Relationship Id="rId5" Type="http://schemas.openxmlformats.org/officeDocument/2006/relationships/oleObject" Target="../embeddings/oleObject77.bin"/><Relationship Id="rId4" Type="http://schemas.openxmlformats.org/officeDocument/2006/relationships/image" Target="../media/image46.wmf"/><Relationship Id="rId3" Type="http://schemas.openxmlformats.org/officeDocument/2006/relationships/oleObject" Target="../embeddings/oleObject76.bin"/><Relationship Id="rId2" Type="http://schemas.openxmlformats.org/officeDocument/2006/relationships/image" Target="../media/image45.emf"/><Relationship Id="rId10" Type="http://schemas.openxmlformats.org/officeDocument/2006/relationships/vmlDrawing" Target="../drawings/vmlDrawing13.vml"/><Relationship Id="rId1" Type="http://schemas.openxmlformats.org/officeDocument/2006/relationships/oleObject" Target="../embeddings/oleObject75.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52.wmf"/><Relationship Id="rId3" Type="http://schemas.openxmlformats.org/officeDocument/2006/relationships/oleObject" Target="../embeddings/oleObject80.bin"/><Relationship Id="rId2" Type="http://schemas.openxmlformats.org/officeDocument/2006/relationships/image" Target="../media/image51.wmf"/><Relationship Id="rId1" Type="http://schemas.openxmlformats.org/officeDocument/2006/relationships/oleObject" Target="../embeddings/oleObject7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Text Box 2"/>
          <p:cNvSpPr txBox="1"/>
          <p:nvPr/>
        </p:nvSpPr>
        <p:spPr>
          <a:xfrm>
            <a:off x="1817370" y="2178685"/>
            <a:ext cx="3785235" cy="583565"/>
          </a:xfrm>
          <a:prstGeom prst="rect">
            <a:avLst/>
          </a:prstGeom>
          <a:noFill/>
          <a:ln w="9525">
            <a:noFill/>
          </a:ln>
          <a:effectLst>
            <a:outerShdw dist="35921" dir="2699999" algn="ctr" rotWithShape="0">
              <a:schemeClr val="bg2"/>
            </a:outerShdw>
          </a:effectLst>
        </p:spPr>
        <p:txBody>
          <a:bodyPr wrap="none" anchor="t">
            <a:spAutoFit/>
          </a:bodyPr>
          <a:p>
            <a:r>
              <a:rPr lang="en-US" altLang="zh-CN" sz="3200" b="1" dirty="0">
                <a:solidFill>
                  <a:schemeClr val="bg1"/>
                </a:solidFill>
                <a:latin typeface="方正综艺简体" pitchFamily="2" charset="-122"/>
                <a:ea typeface="方正综艺简体" pitchFamily="2" charset="-122"/>
              </a:rPr>
              <a:t>4-1    </a:t>
            </a:r>
            <a:r>
              <a:rPr lang="zh-CN" altLang="en-US" sz="3200" b="1" dirty="0">
                <a:solidFill>
                  <a:schemeClr val="bg1"/>
                </a:solidFill>
                <a:latin typeface="方正综艺简体" pitchFamily="2" charset="-122"/>
                <a:ea typeface="方正综艺简体" pitchFamily="2" charset="-122"/>
              </a:rPr>
              <a:t>双极型晶体管</a:t>
            </a:r>
            <a:endParaRPr lang="zh-CN" altLang="en-US" sz="3200" b="1" dirty="0">
              <a:solidFill>
                <a:schemeClr val="bg1"/>
              </a:solidFill>
              <a:latin typeface="方正综艺简体" pitchFamily="2" charset="-122"/>
              <a:ea typeface="方正综艺简体" pitchFamily="2" charset="-122"/>
            </a:endParaRPr>
          </a:p>
        </p:txBody>
      </p:sp>
      <p:sp>
        <p:nvSpPr>
          <p:cNvPr id="6147" name="Text Box 3"/>
          <p:cNvSpPr txBox="1"/>
          <p:nvPr/>
        </p:nvSpPr>
        <p:spPr>
          <a:xfrm>
            <a:off x="920750" y="3159125"/>
            <a:ext cx="6701790" cy="521970"/>
          </a:xfrm>
          <a:prstGeom prst="rect">
            <a:avLst/>
          </a:prstGeom>
          <a:noFill/>
          <a:ln w="9525">
            <a:noFill/>
          </a:ln>
          <a:effectLst>
            <a:outerShdw dist="35921" dir="2699999" algn="ctr" rotWithShape="0">
              <a:schemeClr val="bg2"/>
            </a:outerShdw>
          </a:effectLst>
        </p:spPr>
        <p:txBody>
          <a:bodyPr wrap="square" anchor="t">
            <a:spAutoFit/>
          </a:bodyPr>
          <a:p>
            <a:pPr algn="ctr">
              <a:spcBef>
                <a:spcPct val="50000"/>
              </a:spcBef>
            </a:pPr>
            <a:r>
              <a:rPr lang="zh-CN" altLang="en-US" sz="2800" dirty="0">
                <a:solidFill>
                  <a:srgbClr val="FFFF66"/>
                </a:solidFill>
                <a:latin typeface="Times New Roman" panose="02020603050405020304" pitchFamily="18" charset="0"/>
                <a:ea typeface="隶书" panose="02010509060101010101" pitchFamily="49" charset="-122"/>
              </a:rPr>
              <a:t>一、</a:t>
            </a:r>
            <a:r>
              <a:rPr lang="en-US" altLang="zh-CN" sz="2800" dirty="0">
                <a:solidFill>
                  <a:srgbClr val="FFFF66"/>
                </a:solidFill>
                <a:latin typeface="Times New Roman" panose="02020603050405020304" pitchFamily="18" charset="0"/>
                <a:ea typeface="隶书" panose="02010509060101010101" pitchFamily="49" charset="-122"/>
              </a:rPr>
              <a:t>  </a:t>
            </a:r>
            <a:r>
              <a:rPr lang="zh-CN" altLang="en-US" sz="2800" dirty="0">
                <a:solidFill>
                  <a:srgbClr val="FFFF66"/>
                </a:solidFill>
                <a:latin typeface="隶书" panose="02010509060101010101" pitchFamily="49" charset="-122"/>
                <a:ea typeface="隶书" panose="02010509060101010101" pitchFamily="49" charset="-122"/>
              </a:rPr>
              <a:t>基本结构和电流放大作用</a:t>
            </a:r>
            <a:endParaRPr lang="zh-CN" altLang="en-US" sz="2800" dirty="0">
              <a:solidFill>
                <a:srgbClr val="FFFF66"/>
              </a:solidFill>
              <a:latin typeface="隶书" panose="02010509060101010101" pitchFamily="49" charset="-122"/>
              <a:ea typeface="隶书" panose="02010509060101010101" pitchFamily="49" charset="-122"/>
            </a:endParaRPr>
          </a:p>
        </p:txBody>
      </p:sp>
      <p:sp>
        <p:nvSpPr>
          <p:cNvPr id="6148" name="Text Box 4"/>
          <p:cNvSpPr txBox="1"/>
          <p:nvPr/>
        </p:nvSpPr>
        <p:spPr>
          <a:xfrm>
            <a:off x="756920" y="4127500"/>
            <a:ext cx="6174105" cy="521970"/>
          </a:xfrm>
          <a:prstGeom prst="rect">
            <a:avLst/>
          </a:prstGeom>
          <a:noFill/>
          <a:ln w="9525">
            <a:noFill/>
          </a:ln>
          <a:effectLst>
            <a:outerShdw dist="35921" dir="2699999" algn="ctr" rotWithShape="0">
              <a:schemeClr val="bg2"/>
            </a:outerShdw>
          </a:effectLst>
        </p:spPr>
        <p:txBody>
          <a:bodyPr wrap="square" anchor="t">
            <a:spAutoFit/>
          </a:bodyPr>
          <a:p>
            <a:pPr algn="ctr">
              <a:spcBef>
                <a:spcPct val="50000"/>
              </a:spcBef>
            </a:pPr>
            <a:r>
              <a:rPr lang="zh-CN" altLang="en-US" sz="2800" dirty="0">
                <a:solidFill>
                  <a:srgbClr val="FFFF66"/>
                </a:solidFill>
                <a:latin typeface="Times New Roman" panose="02020603050405020304" pitchFamily="18" charset="0"/>
                <a:ea typeface="隶书" panose="02010509060101010101" pitchFamily="49" charset="-122"/>
              </a:rPr>
              <a:t>二、</a:t>
            </a:r>
            <a:r>
              <a:rPr lang="en-US" altLang="zh-CN" sz="2800" dirty="0">
                <a:solidFill>
                  <a:srgbClr val="FFFF66"/>
                </a:solidFill>
                <a:latin typeface="Times New Roman" panose="02020603050405020304" pitchFamily="18" charset="0"/>
                <a:ea typeface="隶书" panose="02010509060101010101" pitchFamily="49" charset="-122"/>
              </a:rPr>
              <a:t> </a:t>
            </a:r>
            <a:r>
              <a:rPr lang="zh-CN" altLang="en-US" sz="2800" dirty="0">
                <a:solidFill>
                  <a:srgbClr val="FFFF66"/>
                </a:solidFill>
                <a:latin typeface="隶书" panose="02010509060101010101" pitchFamily="49" charset="-122"/>
                <a:ea typeface="隶书" panose="02010509060101010101" pitchFamily="49" charset="-122"/>
              </a:rPr>
              <a:t>特性曲线和主要参数</a:t>
            </a:r>
            <a:endParaRPr lang="zh-CN" altLang="en-US" sz="2800" dirty="0">
              <a:solidFill>
                <a:srgbClr val="FFFF66"/>
              </a:solidFill>
              <a:latin typeface="隶书" panose="02010509060101010101" pitchFamily="49" charset="-122"/>
              <a:ea typeface="隶书" panose="02010509060101010101" pitchFamily="49" charset="-122"/>
            </a:endParaRPr>
          </a:p>
        </p:txBody>
      </p:sp>
      <p:sp>
        <p:nvSpPr>
          <p:cNvPr id="31748" name="Text Box 7">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1749" name="Text Box 8">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1750" name="Text Box 9"/>
          <p:cNvSpPr txBox="1"/>
          <p:nvPr/>
        </p:nvSpPr>
        <p:spPr>
          <a:xfrm>
            <a:off x="7667625" y="629443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6154" name="Rectangle 10"/>
          <p:cNvSpPr/>
          <p:nvPr/>
        </p:nvSpPr>
        <p:spPr>
          <a:xfrm>
            <a:off x="2555875" y="5589588"/>
            <a:ext cx="6588125" cy="144462"/>
          </a:xfrm>
          <a:prstGeom prst="rect">
            <a:avLst/>
          </a:prstGeom>
          <a:gradFill rotWithShape="0">
            <a:gsLst>
              <a:gs pos="0">
                <a:schemeClr val="accent2"/>
              </a:gs>
              <a:gs pos="100000">
                <a:srgbClr val="FFFFC9"/>
              </a:gs>
            </a:gsLst>
            <a:lin ang="0" scaled="1"/>
            <a:tileRect/>
          </a:gra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2" name="文本框 1"/>
          <p:cNvSpPr txBox="1"/>
          <p:nvPr/>
        </p:nvSpPr>
        <p:spPr>
          <a:xfrm>
            <a:off x="851535" y="730250"/>
            <a:ext cx="7754620" cy="645160"/>
          </a:xfrm>
          <a:prstGeom prst="rect">
            <a:avLst/>
          </a:prstGeom>
          <a:noFill/>
        </p:spPr>
        <p:txBody>
          <a:bodyPr wrap="square" rtlCol="0">
            <a:spAutoFit/>
          </a:bodyPr>
          <a:p>
            <a:r>
              <a:rPr lang="zh-CN" altLang="en-US" sz="3600" b="1">
                <a:solidFill>
                  <a:schemeClr val="bg1"/>
                </a:solidFill>
                <a:latin typeface="黑体" panose="02010609060101010101" charset="-122"/>
                <a:ea typeface="黑体" panose="02010609060101010101" charset="-122"/>
              </a:rPr>
              <a:t>第四讲  晶体三极管和基本放大电路</a:t>
            </a:r>
            <a:endParaRPr lang="zh-CN" altLang="en-US" sz="3600" b="1">
              <a:solidFill>
                <a:schemeClr val="bg1"/>
              </a:solidFill>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slide(fromBottom)">
                                      <p:cBhvr>
                                        <p:cTn id="7" dur="500"/>
                                        <p:tgtEl>
                                          <p:spTgt spid="6147"/>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6148"/>
                                        </p:tgtEl>
                                        <p:attrNameLst>
                                          <p:attrName>style.visibility</p:attrName>
                                        </p:attrNameLst>
                                      </p:cBhvr>
                                      <p:to>
                                        <p:strVal val="visible"/>
                                      </p:to>
                                    </p:set>
                                    <p:animEffect transition="in" filter="slide(fromBottom)">
                                      <p:cBhvr>
                                        <p:cTn id="11" dur="500"/>
                                        <p:tgtEl>
                                          <p:spTgt spid="6148"/>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6154"/>
                                        </p:tgtEl>
                                        <p:attrNameLst>
                                          <p:attrName>style.visibility</p:attrName>
                                        </p:attrNameLst>
                                      </p:cBhvr>
                                      <p:to>
                                        <p:strVal val="visible"/>
                                      </p:to>
                                    </p:set>
                                    <p:animEffect transition="in" filter="wipe(right)">
                                      <p:cBhvr>
                                        <p:cTn id="15" dur="500"/>
                                        <p:tgtEl>
                                          <p:spTgt spid="6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ldLvl="0" animBg="1"/>
      <p:bldP spid="6148" grpId="0" bldLvl="0" animBg="1"/>
      <p:bldP spid="615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69" name="Picture 2" descr="备份_图1"/>
          <p:cNvPicPr>
            <a:picLocks noChangeAspect="1"/>
          </p:cNvPicPr>
          <p:nvPr/>
        </p:nvPicPr>
        <p:blipFill>
          <a:blip r:embed="rId1"/>
          <a:stretch>
            <a:fillRect/>
          </a:stretch>
        </p:blipFill>
        <p:spPr>
          <a:xfrm>
            <a:off x="395288" y="1557338"/>
            <a:ext cx="7620000" cy="4191000"/>
          </a:xfrm>
          <a:prstGeom prst="rect">
            <a:avLst/>
          </a:prstGeom>
          <a:noFill/>
          <a:ln w="9525">
            <a:noFill/>
          </a:ln>
        </p:spPr>
      </p:pic>
      <p:sp>
        <p:nvSpPr>
          <p:cNvPr id="32770" name="Text Box 3"/>
          <p:cNvSpPr txBox="1"/>
          <p:nvPr/>
        </p:nvSpPr>
        <p:spPr>
          <a:xfrm>
            <a:off x="906463" y="404813"/>
            <a:ext cx="7626350" cy="706755"/>
          </a:xfrm>
          <a:prstGeom prst="rect">
            <a:avLst/>
          </a:prstGeom>
          <a:noFill/>
          <a:ln w="9525">
            <a:noFill/>
          </a:ln>
          <a:effectLst>
            <a:outerShdw dist="35921" dir="2699999" algn="ctr" rotWithShape="0">
              <a:schemeClr val="bg2"/>
            </a:outerShdw>
          </a:effectLst>
        </p:spPr>
        <p:txBody>
          <a:bodyPr wrap="square" anchor="t">
            <a:spAutoFit/>
          </a:bodyPr>
          <a:p>
            <a:pPr>
              <a:spcBef>
                <a:spcPct val="50000"/>
              </a:spcBef>
            </a:pPr>
            <a:r>
              <a:rPr lang="zh-CN" altLang="en-US" sz="4000" b="1" dirty="0">
                <a:solidFill>
                  <a:schemeClr val="bg1"/>
                </a:solidFill>
                <a:latin typeface="Times New Roman" panose="02020603050405020304" pitchFamily="18" charset="0"/>
                <a:ea typeface="隶书" panose="02010509060101010101" pitchFamily="49" charset="-122"/>
              </a:rPr>
              <a:t>一、</a:t>
            </a:r>
            <a:r>
              <a:rPr lang="en-US" altLang="zh-CN" sz="4000" b="1" dirty="0">
                <a:solidFill>
                  <a:schemeClr val="bg1"/>
                </a:solidFill>
                <a:latin typeface="Times New Roman" panose="02020603050405020304" pitchFamily="18" charset="0"/>
                <a:ea typeface="隶书" panose="02010509060101010101" pitchFamily="49" charset="-122"/>
              </a:rPr>
              <a:t> </a:t>
            </a:r>
            <a:r>
              <a:rPr lang="zh-CN" altLang="en-US" sz="4000" b="1" dirty="0">
                <a:solidFill>
                  <a:schemeClr val="bg1"/>
                </a:solidFill>
                <a:latin typeface="隶书" panose="02010509060101010101" pitchFamily="49" charset="-122"/>
                <a:ea typeface="隶书" panose="02010509060101010101" pitchFamily="49" charset="-122"/>
              </a:rPr>
              <a:t>基本结构和电流放大作用</a:t>
            </a:r>
            <a:endParaRPr lang="zh-CN" altLang="en-US" sz="4000" b="1" dirty="0">
              <a:solidFill>
                <a:schemeClr val="bg1"/>
              </a:solidFill>
              <a:latin typeface="隶书" panose="02010509060101010101" pitchFamily="49" charset="-122"/>
              <a:ea typeface="隶书" panose="02010509060101010101" pitchFamily="49" charset="-122"/>
            </a:endParaRPr>
          </a:p>
        </p:txBody>
      </p:sp>
      <p:sp>
        <p:nvSpPr>
          <p:cNvPr id="32771" name="Text Box 4"/>
          <p:cNvSpPr txBox="1"/>
          <p:nvPr/>
        </p:nvSpPr>
        <p:spPr>
          <a:xfrm>
            <a:off x="1447800" y="5851525"/>
            <a:ext cx="1828800" cy="457200"/>
          </a:xfrm>
          <a:prstGeom prst="rect">
            <a:avLst/>
          </a:prstGeom>
          <a:noFill/>
          <a:ln w="9525">
            <a:noFill/>
          </a:ln>
        </p:spPr>
        <p:txBody>
          <a:bodyPr anchor="t">
            <a:spAutoFit/>
          </a:bodyPr>
          <a:p>
            <a:pPr>
              <a:spcBef>
                <a:spcPct val="50000"/>
              </a:spcBef>
            </a:pPr>
            <a:r>
              <a:rPr lang="en-US" altLang="zh-CN" sz="2400" b="1" dirty="0">
                <a:solidFill>
                  <a:srgbClr val="FFFF66"/>
                </a:solidFill>
                <a:latin typeface="Times New Roman" panose="02020603050405020304" pitchFamily="18" charset="0"/>
                <a:ea typeface="幼圆" panose="02010509060101010101" pitchFamily="49" charset="-122"/>
              </a:rPr>
              <a:t>NPN</a:t>
            </a:r>
            <a:r>
              <a:rPr lang="zh-CN" altLang="en-US" sz="2400" b="1" dirty="0">
                <a:solidFill>
                  <a:srgbClr val="FFFF66"/>
                </a:solidFill>
                <a:latin typeface="幼圆" panose="02010509060101010101" pitchFamily="49" charset="-122"/>
                <a:ea typeface="幼圆" panose="02010509060101010101" pitchFamily="49" charset="-122"/>
              </a:rPr>
              <a:t>型</a:t>
            </a:r>
            <a:endParaRPr lang="zh-CN" altLang="en-US" sz="2400" b="1" dirty="0">
              <a:solidFill>
                <a:srgbClr val="FFFF66"/>
              </a:solidFill>
              <a:latin typeface="幼圆" panose="02010509060101010101" pitchFamily="49" charset="-122"/>
              <a:ea typeface="幼圆" panose="02010509060101010101" pitchFamily="49" charset="-122"/>
            </a:endParaRPr>
          </a:p>
        </p:txBody>
      </p:sp>
      <p:sp>
        <p:nvSpPr>
          <p:cNvPr id="32772" name="Text Box 5"/>
          <p:cNvSpPr txBox="1"/>
          <p:nvPr/>
        </p:nvSpPr>
        <p:spPr>
          <a:xfrm>
            <a:off x="6788150" y="5851525"/>
            <a:ext cx="1600200" cy="457200"/>
          </a:xfrm>
          <a:prstGeom prst="rect">
            <a:avLst/>
          </a:prstGeom>
          <a:noFill/>
          <a:ln w="9525">
            <a:noFill/>
          </a:ln>
        </p:spPr>
        <p:txBody>
          <a:bodyPr anchor="t">
            <a:spAutoFit/>
          </a:bodyPr>
          <a:p>
            <a:pPr>
              <a:spcBef>
                <a:spcPct val="50000"/>
              </a:spcBef>
            </a:pPr>
            <a:r>
              <a:rPr lang="en-US" altLang="zh-CN" sz="2400" b="1" dirty="0">
                <a:solidFill>
                  <a:srgbClr val="FFFF66"/>
                </a:solidFill>
                <a:latin typeface="Times New Roman" panose="02020603050405020304" pitchFamily="18" charset="0"/>
                <a:ea typeface="幼圆" panose="02010509060101010101" pitchFamily="49" charset="-122"/>
              </a:rPr>
              <a:t>PNP</a:t>
            </a:r>
            <a:r>
              <a:rPr lang="zh-CN" altLang="en-US" sz="2400" b="1" dirty="0">
                <a:solidFill>
                  <a:srgbClr val="FFFF66"/>
                </a:solidFill>
                <a:latin typeface="幼圆" panose="02010509060101010101" pitchFamily="49" charset="-122"/>
                <a:ea typeface="幼圆" panose="02010509060101010101" pitchFamily="49" charset="-122"/>
              </a:rPr>
              <a:t>型</a:t>
            </a:r>
            <a:endParaRPr lang="zh-CN" altLang="en-US" sz="2400" b="1" dirty="0">
              <a:solidFill>
                <a:srgbClr val="FFFF66"/>
              </a:solidFill>
              <a:latin typeface="幼圆" panose="02010509060101010101" pitchFamily="49" charset="-122"/>
              <a:ea typeface="幼圆" panose="02010509060101010101" pitchFamily="49" charset="-122"/>
            </a:endParaRPr>
          </a:p>
        </p:txBody>
      </p:sp>
      <p:sp>
        <p:nvSpPr>
          <p:cNvPr id="32773" name="Text Box 6"/>
          <p:cNvSpPr txBox="1"/>
          <p:nvPr/>
        </p:nvSpPr>
        <p:spPr>
          <a:xfrm>
            <a:off x="1447800" y="1524000"/>
            <a:ext cx="3810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Times New Roman" panose="02020603050405020304" pitchFamily="18" charset="0"/>
                <a:ea typeface="宋体" panose="02010600030101010101" pitchFamily="2" charset="-122"/>
              </a:rPr>
              <a:t>C</a:t>
            </a:r>
            <a:endParaRPr lang="en-US" altLang="zh-CN" sz="2000" b="1" dirty="0">
              <a:solidFill>
                <a:srgbClr val="FFCC99"/>
              </a:solidFill>
              <a:latin typeface="Times New Roman" panose="02020603050405020304" pitchFamily="18" charset="0"/>
              <a:ea typeface="宋体" panose="02010600030101010101" pitchFamily="2" charset="-122"/>
            </a:endParaRPr>
          </a:p>
        </p:txBody>
      </p:sp>
      <p:sp>
        <p:nvSpPr>
          <p:cNvPr id="32774" name="Text Box 7"/>
          <p:cNvSpPr txBox="1"/>
          <p:nvPr/>
        </p:nvSpPr>
        <p:spPr>
          <a:xfrm>
            <a:off x="1219200" y="3429000"/>
            <a:ext cx="3048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P</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75" name="Text Box 8"/>
          <p:cNvSpPr txBox="1"/>
          <p:nvPr/>
        </p:nvSpPr>
        <p:spPr>
          <a:xfrm>
            <a:off x="1752600" y="2362200"/>
            <a:ext cx="5334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N</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76" name="Text Box 9"/>
          <p:cNvSpPr txBox="1"/>
          <p:nvPr/>
        </p:nvSpPr>
        <p:spPr>
          <a:xfrm>
            <a:off x="1752600" y="4327525"/>
            <a:ext cx="5334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N</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77" name="Text Box 10"/>
          <p:cNvSpPr txBox="1"/>
          <p:nvPr/>
        </p:nvSpPr>
        <p:spPr>
          <a:xfrm>
            <a:off x="6400800" y="3429000"/>
            <a:ext cx="5334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N</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78" name="Text Box 11"/>
          <p:cNvSpPr txBox="1"/>
          <p:nvPr/>
        </p:nvSpPr>
        <p:spPr>
          <a:xfrm>
            <a:off x="6934200" y="4327525"/>
            <a:ext cx="3048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P</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79" name="Text Box 12"/>
          <p:cNvSpPr txBox="1"/>
          <p:nvPr/>
        </p:nvSpPr>
        <p:spPr>
          <a:xfrm>
            <a:off x="7010400" y="2286000"/>
            <a:ext cx="3048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P</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80" name="Text Box 13"/>
          <p:cNvSpPr txBox="1"/>
          <p:nvPr/>
        </p:nvSpPr>
        <p:spPr>
          <a:xfrm>
            <a:off x="1524000" y="5257800"/>
            <a:ext cx="3810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E</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81" name="Text Box 14"/>
          <p:cNvSpPr txBox="1"/>
          <p:nvPr/>
        </p:nvSpPr>
        <p:spPr>
          <a:xfrm>
            <a:off x="6781800" y="5257800"/>
            <a:ext cx="3810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E</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82" name="Text Box 15"/>
          <p:cNvSpPr txBox="1"/>
          <p:nvPr/>
        </p:nvSpPr>
        <p:spPr>
          <a:xfrm>
            <a:off x="381000" y="3124200"/>
            <a:ext cx="3810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B</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83" name="Text Box 16"/>
          <p:cNvSpPr txBox="1"/>
          <p:nvPr/>
        </p:nvSpPr>
        <p:spPr>
          <a:xfrm>
            <a:off x="5562600" y="3124200"/>
            <a:ext cx="3810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隶书" panose="02010509060101010101" pitchFamily="49" charset="-122"/>
                <a:ea typeface="隶书" panose="02010509060101010101" pitchFamily="49" charset="-122"/>
              </a:rPr>
              <a:t>B</a:t>
            </a:r>
            <a:endParaRPr lang="en-US" altLang="zh-CN" sz="2000" b="1" dirty="0">
              <a:solidFill>
                <a:srgbClr val="FFCC99"/>
              </a:solidFill>
              <a:latin typeface="隶书" panose="02010509060101010101" pitchFamily="49" charset="-122"/>
              <a:ea typeface="隶书" panose="02010509060101010101" pitchFamily="49" charset="-122"/>
            </a:endParaRPr>
          </a:p>
        </p:txBody>
      </p:sp>
      <p:sp>
        <p:nvSpPr>
          <p:cNvPr id="32784" name="Text Box 17"/>
          <p:cNvSpPr txBox="1"/>
          <p:nvPr/>
        </p:nvSpPr>
        <p:spPr>
          <a:xfrm>
            <a:off x="1447800" y="4572000"/>
            <a:ext cx="10668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发射区</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85" name="Text Box 18"/>
          <p:cNvSpPr txBox="1"/>
          <p:nvPr/>
        </p:nvSpPr>
        <p:spPr>
          <a:xfrm>
            <a:off x="1447800" y="2667000"/>
            <a:ext cx="9906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集电区</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86" name="Text Box 19"/>
          <p:cNvSpPr txBox="1"/>
          <p:nvPr/>
        </p:nvSpPr>
        <p:spPr>
          <a:xfrm>
            <a:off x="1524000" y="3429000"/>
            <a:ext cx="7620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基区</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87" name="Text Box 20"/>
          <p:cNvSpPr txBox="1"/>
          <p:nvPr/>
        </p:nvSpPr>
        <p:spPr>
          <a:xfrm>
            <a:off x="6705600" y="3429000"/>
            <a:ext cx="7620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基区</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88" name="Text Box 21"/>
          <p:cNvSpPr txBox="1"/>
          <p:nvPr/>
        </p:nvSpPr>
        <p:spPr>
          <a:xfrm>
            <a:off x="228600" y="3733800"/>
            <a:ext cx="838200" cy="396875"/>
          </a:xfrm>
          <a:prstGeom prst="rect">
            <a:avLst/>
          </a:prstGeom>
          <a:noFill/>
          <a:ln w="9525">
            <a:noFill/>
          </a:ln>
        </p:spPr>
        <p:txBody>
          <a:bodyPr anchor="t">
            <a:spAutoFit/>
          </a:bodyPr>
          <a:p>
            <a:pPr>
              <a:spcBef>
                <a:spcPct val="50000"/>
              </a:spcBef>
            </a:pPr>
            <a:r>
              <a:rPr lang="zh-CN" altLang="en-US" sz="2000" dirty="0">
                <a:solidFill>
                  <a:srgbClr val="FFFF00"/>
                </a:solidFill>
                <a:latin typeface="Times New Roman" panose="02020603050405020304" pitchFamily="18" charset="0"/>
                <a:ea typeface="隶书" panose="02010509060101010101" pitchFamily="49" charset="-122"/>
              </a:rPr>
              <a:t>基极</a:t>
            </a:r>
            <a:endParaRPr lang="zh-CN" altLang="en-US" sz="2000" dirty="0">
              <a:solidFill>
                <a:srgbClr val="FFFF00"/>
              </a:solidFill>
              <a:latin typeface="Times New Roman" panose="02020603050405020304" pitchFamily="18" charset="0"/>
              <a:ea typeface="隶书" panose="02010509060101010101" pitchFamily="49" charset="-122"/>
            </a:endParaRPr>
          </a:p>
        </p:txBody>
      </p:sp>
      <p:sp>
        <p:nvSpPr>
          <p:cNvPr id="32789" name="Text Box 22"/>
          <p:cNvSpPr txBox="1"/>
          <p:nvPr/>
        </p:nvSpPr>
        <p:spPr>
          <a:xfrm>
            <a:off x="1981200" y="5181600"/>
            <a:ext cx="12192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发射极</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90" name="Text Box 23"/>
          <p:cNvSpPr txBox="1"/>
          <p:nvPr/>
        </p:nvSpPr>
        <p:spPr>
          <a:xfrm>
            <a:off x="2743200" y="2590800"/>
            <a:ext cx="11430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集电结</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91" name="Text Box 24"/>
          <p:cNvSpPr txBox="1"/>
          <p:nvPr/>
        </p:nvSpPr>
        <p:spPr>
          <a:xfrm>
            <a:off x="2743200" y="3733800"/>
            <a:ext cx="10668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发射结</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92" name="Text Box 25"/>
          <p:cNvSpPr txBox="1"/>
          <p:nvPr/>
        </p:nvSpPr>
        <p:spPr>
          <a:xfrm>
            <a:off x="7924800" y="3657600"/>
            <a:ext cx="1066800" cy="396875"/>
          </a:xfrm>
          <a:prstGeom prst="rect">
            <a:avLst/>
          </a:prstGeom>
          <a:noFill/>
          <a:ln w="9525">
            <a:noFill/>
          </a:ln>
        </p:spPr>
        <p:txBody>
          <a:bodyPr anchor="t">
            <a:spAutoFit/>
          </a:bodyPr>
          <a:p>
            <a:pPr>
              <a:spcBef>
                <a:spcPct val="50000"/>
              </a:spcBef>
            </a:pPr>
            <a:r>
              <a:rPr lang="zh-CN" altLang="en-US" sz="2000" dirty="0">
                <a:solidFill>
                  <a:srgbClr val="FFFF00"/>
                </a:solidFill>
                <a:latin typeface="Times New Roman" panose="02020603050405020304" pitchFamily="18" charset="0"/>
                <a:ea typeface="隶书" panose="02010509060101010101" pitchFamily="49" charset="-122"/>
              </a:rPr>
              <a:t>发射结</a:t>
            </a:r>
            <a:endParaRPr lang="zh-CN" altLang="en-US" sz="2000" dirty="0">
              <a:solidFill>
                <a:srgbClr val="FFFF00"/>
              </a:solidFill>
              <a:latin typeface="Times New Roman" panose="02020603050405020304" pitchFamily="18" charset="0"/>
              <a:ea typeface="隶书" panose="02010509060101010101" pitchFamily="49" charset="-122"/>
            </a:endParaRPr>
          </a:p>
        </p:txBody>
      </p:sp>
      <p:sp>
        <p:nvSpPr>
          <p:cNvPr id="32793" name="Text Box 26"/>
          <p:cNvSpPr txBox="1"/>
          <p:nvPr/>
        </p:nvSpPr>
        <p:spPr>
          <a:xfrm>
            <a:off x="7924800" y="2362200"/>
            <a:ext cx="1143000" cy="396875"/>
          </a:xfrm>
          <a:prstGeom prst="rect">
            <a:avLst/>
          </a:prstGeom>
          <a:noFill/>
          <a:ln w="9525">
            <a:noFill/>
          </a:ln>
        </p:spPr>
        <p:txBody>
          <a:bodyPr anchor="t">
            <a:spAutoFit/>
          </a:bodyPr>
          <a:p>
            <a:pPr>
              <a:spcBef>
                <a:spcPct val="50000"/>
              </a:spcBef>
            </a:pPr>
            <a:r>
              <a:rPr lang="zh-CN" altLang="en-US" sz="2000" dirty="0">
                <a:solidFill>
                  <a:srgbClr val="FFFF00"/>
                </a:solidFill>
                <a:latin typeface="Times New Roman" panose="02020603050405020304" pitchFamily="18" charset="0"/>
                <a:ea typeface="隶书" panose="02010509060101010101" pitchFamily="49" charset="-122"/>
              </a:rPr>
              <a:t>集电结</a:t>
            </a:r>
            <a:endParaRPr lang="zh-CN" altLang="en-US" sz="2000" dirty="0">
              <a:solidFill>
                <a:srgbClr val="FFFF00"/>
              </a:solidFill>
              <a:latin typeface="Times New Roman" panose="02020603050405020304" pitchFamily="18" charset="0"/>
              <a:ea typeface="隶书" panose="02010509060101010101" pitchFamily="49" charset="-122"/>
            </a:endParaRPr>
          </a:p>
        </p:txBody>
      </p:sp>
      <p:sp>
        <p:nvSpPr>
          <p:cNvPr id="32794" name="Text Box 27"/>
          <p:cNvSpPr txBox="1"/>
          <p:nvPr/>
        </p:nvSpPr>
        <p:spPr>
          <a:xfrm>
            <a:off x="6705600" y="2498725"/>
            <a:ext cx="9906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集电区</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95" name="Text Box 28"/>
          <p:cNvSpPr txBox="1"/>
          <p:nvPr/>
        </p:nvSpPr>
        <p:spPr>
          <a:xfrm>
            <a:off x="6705600" y="4556125"/>
            <a:ext cx="10668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发射区</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796" name="Line 29"/>
          <p:cNvSpPr/>
          <p:nvPr/>
        </p:nvSpPr>
        <p:spPr>
          <a:xfrm flipV="1">
            <a:off x="2743200" y="2895600"/>
            <a:ext cx="152400" cy="228600"/>
          </a:xfrm>
          <a:prstGeom prst="line">
            <a:avLst/>
          </a:prstGeom>
          <a:ln w="19050" cap="flat" cmpd="sng">
            <a:solidFill>
              <a:srgbClr val="DDDDDD"/>
            </a:solidFill>
            <a:prstDash val="solid"/>
            <a:round/>
            <a:headEnd type="none" w="med" len="med"/>
            <a:tailEnd type="none" w="med" len="med"/>
          </a:ln>
        </p:spPr>
      </p:sp>
      <p:sp>
        <p:nvSpPr>
          <p:cNvPr id="32797" name="Line 30"/>
          <p:cNvSpPr/>
          <p:nvPr/>
        </p:nvSpPr>
        <p:spPr>
          <a:xfrm flipV="1">
            <a:off x="2667000" y="4038600"/>
            <a:ext cx="152400" cy="152400"/>
          </a:xfrm>
          <a:prstGeom prst="line">
            <a:avLst/>
          </a:prstGeom>
          <a:ln w="19050" cap="flat" cmpd="sng">
            <a:solidFill>
              <a:srgbClr val="DDDDDD"/>
            </a:solidFill>
            <a:prstDash val="solid"/>
            <a:round/>
            <a:headEnd type="none" w="med" len="med"/>
            <a:tailEnd type="none" w="med" len="med"/>
          </a:ln>
        </p:spPr>
      </p:sp>
      <p:sp>
        <p:nvSpPr>
          <p:cNvPr id="32798" name="Line 31"/>
          <p:cNvSpPr/>
          <p:nvPr/>
        </p:nvSpPr>
        <p:spPr>
          <a:xfrm flipV="1">
            <a:off x="7924800" y="3962400"/>
            <a:ext cx="152400" cy="152400"/>
          </a:xfrm>
          <a:prstGeom prst="line">
            <a:avLst/>
          </a:prstGeom>
          <a:ln w="19050" cap="flat" cmpd="sng">
            <a:solidFill>
              <a:srgbClr val="DDDDDD"/>
            </a:solidFill>
            <a:prstDash val="solid"/>
            <a:round/>
            <a:headEnd type="none" w="med" len="med"/>
            <a:tailEnd type="none" w="med" len="med"/>
          </a:ln>
        </p:spPr>
      </p:sp>
      <p:sp>
        <p:nvSpPr>
          <p:cNvPr id="32799" name="Line 32"/>
          <p:cNvSpPr/>
          <p:nvPr/>
        </p:nvSpPr>
        <p:spPr>
          <a:xfrm flipV="1">
            <a:off x="7772400" y="2743200"/>
            <a:ext cx="304800" cy="228600"/>
          </a:xfrm>
          <a:prstGeom prst="line">
            <a:avLst/>
          </a:prstGeom>
          <a:ln w="19050" cap="flat" cmpd="sng">
            <a:solidFill>
              <a:srgbClr val="DDDDDD"/>
            </a:solidFill>
            <a:prstDash val="solid"/>
            <a:round/>
            <a:headEnd type="none" w="med" len="med"/>
            <a:tailEnd type="none" w="med" len="med"/>
          </a:ln>
        </p:spPr>
      </p:sp>
      <p:sp>
        <p:nvSpPr>
          <p:cNvPr id="32800" name="Text Box 33"/>
          <p:cNvSpPr txBox="1"/>
          <p:nvPr/>
        </p:nvSpPr>
        <p:spPr>
          <a:xfrm>
            <a:off x="2057400" y="1508125"/>
            <a:ext cx="990600" cy="396875"/>
          </a:xfrm>
          <a:prstGeom prst="rect">
            <a:avLst/>
          </a:prstGeom>
          <a:noFill/>
          <a:ln w="9525">
            <a:noFill/>
          </a:ln>
        </p:spPr>
        <p:txBody>
          <a:bodyPr anchor="t">
            <a:spAutoFit/>
          </a:bodyPr>
          <a:p>
            <a:pPr>
              <a:spcBef>
                <a:spcPct val="50000"/>
              </a:spcBef>
            </a:pPr>
            <a:r>
              <a:rPr lang="zh-CN" altLang="en-US" sz="2000" dirty="0">
                <a:solidFill>
                  <a:srgbClr val="FFFF00"/>
                </a:solidFill>
                <a:latin typeface="Times New Roman" panose="02020603050405020304" pitchFamily="18" charset="0"/>
                <a:ea typeface="隶书" panose="02010509060101010101" pitchFamily="49" charset="-122"/>
              </a:rPr>
              <a:t>集电极</a:t>
            </a:r>
            <a:endParaRPr lang="zh-CN" altLang="en-US" sz="2000" dirty="0">
              <a:solidFill>
                <a:srgbClr val="FFFF00"/>
              </a:solidFill>
              <a:latin typeface="Times New Roman" panose="02020603050405020304" pitchFamily="18" charset="0"/>
              <a:ea typeface="隶书" panose="02010509060101010101" pitchFamily="49" charset="-122"/>
            </a:endParaRPr>
          </a:p>
        </p:txBody>
      </p:sp>
      <p:sp>
        <p:nvSpPr>
          <p:cNvPr id="32801" name="Text Box 34"/>
          <p:cNvSpPr txBox="1"/>
          <p:nvPr/>
        </p:nvSpPr>
        <p:spPr>
          <a:xfrm>
            <a:off x="7239000" y="1600200"/>
            <a:ext cx="9906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集电极</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802" name="Text Box 35"/>
          <p:cNvSpPr txBox="1"/>
          <p:nvPr/>
        </p:nvSpPr>
        <p:spPr>
          <a:xfrm>
            <a:off x="6629400" y="1584325"/>
            <a:ext cx="381000" cy="396875"/>
          </a:xfrm>
          <a:prstGeom prst="rect">
            <a:avLst/>
          </a:prstGeom>
          <a:noFill/>
          <a:ln w="9525">
            <a:noFill/>
          </a:ln>
        </p:spPr>
        <p:txBody>
          <a:bodyPr anchor="t">
            <a:spAutoFit/>
          </a:bodyPr>
          <a:p>
            <a:pPr>
              <a:spcBef>
                <a:spcPct val="50000"/>
              </a:spcBef>
            </a:pPr>
            <a:r>
              <a:rPr lang="en-US" altLang="zh-CN" sz="2000" b="1" dirty="0">
                <a:solidFill>
                  <a:srgbClr val="FFCC99"/>
                </a:solidFill>
                <a:latin typeface="Times New Roman" panose="02020603050405020304" pitchFamily="18" charset="0"/>
                <a:ea typeface="隶书" panose="02010509060101010101" pitchFamily="49" charset="-122"/>
              </a:rPr>
              <a:t>C</a:t>
            </a:r>
            <a:endParaRPr lang="en-US" altLang="zh-CN" sz="2000" b="1" dirty="0">
              <a:solidFill>
                <a:srgbClr val="FFCC99"/>
              </a:solidFill>
              <a:latin typeface="Times New Roman" panose="02020603050405020304" pitchFamily="18" charset="0"/>
              <a:ea typeface="隶书" panose="02010509060101010101" pitchFamily="49" charset="-122"/>
            </a:endParaRPr>
          </a:p>
        </p:txBody>
      </p:sp>
      <p:sp>
        <p:nvSpPr>
          <p:cNvPr id="32803" name="Text Box 36"/>
          <p:cNvSpPr txBox="1"/>
          <p:nvPr/>
        </p:nvSpPr>
        <p:spPr>
          <a:xfrm>
            <a:off x="7315200" y="5257800"/>
            <a:ext cx="12192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发射极</a:t>
            </a:r>
            <a:endParaRPr lang="zh-CN" altLang="en-US" sz="2000" dirty="0">
              <a:solidFill>
                <a:srgbClr val="FFFF00"/>
              </a:solidFill>
              <a:latin typeface="隶书" panose="02010509060101010101" pitchFamily="49" charset="-122"/>
              <a:ea typeface="隶书" panose="02010509060101010101" pitchFamily="49" charset="-122"/>
            </a:endParaRPr>
          </a:p>
        </p:txBody>
      </p:sp>
      <p:sp>
        <p:nvSpPr>
          <p:cNvPr id="32804" name="Text Box 37"/>
          <p:cNvSpPr txBox="1"/>
          <p:nvPr/>
        </p:nvSpPr>
        <p:spPr>
          <a:xfrm>
            <a:off x="5486400" y="3733800"/>
            <a:ext cx="838200" cy="396875"/>
          </a:xfrm>
          <a:prstGeom prst="rect">
            <a:avLst/>
          </a:prstGeom>
          <a:noFill/>
          <a:ln w="9525">
            <a:noFill/>
          </a:ln>
        </p:spPr>
        <p:txBody>
          <a:bodyPr anchor="t">
            <a:spAutoFit/>
          </a:bodyPr>
          <a:p>
            <a:pPr>
              <a:spcBef>
                <a:spcPct val="50000"/>
              </a:spcBef>
            </a:pPr>
            <a:r>
              <a:rPr lang="zh-CN" altLang="en-US" sz="2000" dirty="0">
                <a:solidFill>
                  <a:srgbClr val="FFFF00"/>
                </a:solidFill>
                <a:latin typeface="隶书" panose="02010509060101010101" pitchFamily="49" charset="-122"/>
                <a:ea typeface="隶书" panose="02010509060101010101" pitchFamily="49" charset="-122"/>
              </a:rPr>
              <a:t>基极</a:t>
            </a:r>
            <a:endParaRPr lang="zh-CN" altLang="en-US" sz="2000" dirty="0">
              <a:solidFill>
                <a:srgbClr val="FFFF00"/>
              </a:solidFill>
              <a:latin typeface="隶书" panose="02010509060101010101" pitchFamily="49" charset="-122"/>
              <a:ea typeface="隶书" panose="02010509060101010101" pitchFamily="49" charset="-122"/>
            </a:endParaRPr>
          </a:p>
        </p:txBody>
      </p:sp>
      <p:grpSp>
        <p:nvGrpSpPr>
          <p:cNvPr id="7256" name="Group 88"/>
          <p:cNvGrpSpPr/>
          <p:nvPr/>
        </p:nvGrpSpPr>
        <p:grpSpPr>
          <a:xfrm>
            <a:off x="4038600" y="1524000"/>
            <a:ext cx="1143000" cy="4419600"/>
            <a:chOff x="2544" y="960"/>
            <a:chExt cx="720" cy="2784"/>
          </a:xfrm>
        </p:grpSpPr>
        <p:grpSp>
          <p:nvGrpSpPr>
            <p:cNvPr id="32806" name="Group 86"/>
            <p:cNvGrpSpPr/>
            <p:nvPr/>
          </p:nvGrpSpPr>
          <p:grpSpPr>
            <a:xfrm>
              <a:off x="2544" y="960"/>
              <a:ext cx="672" cy="1296"/>
              <a:chOff x="2544" y="960"/>
              <a:chExt cx="672" cy="1296"/>
            </a:xfrm>
          </p:grpSpPr>
          <p:grpSp>
            <p:nvGrpSpPr>
              <p:cNvPr id="32807" name="Group 85"/>
              <p:cNvGrpSpPr/>
              <p:nvPr/>
            </p:nvGrpSpPr>
            <p:grpSpPr>
              <a:xfrm>
                <a:off x="2544" y="960"/>
                <a:ext cx="624" cy="1024"/>
                <a:chOff x="2544" y="960"/>
                <a:chExt cx="624" cy="1024"/>
              </a:xfrm>
            </p:grpSpPr>
            <p:grpSp>
              <p:nvGrpSpPr>
                <p:cNvPr id="32808" name="Group 84"/>
                <p:cNvGrpSpPr/>
                <p:nvPr/>
              </p:nvGrpSpPr>
              <p:grpSpPr>
                <a:xfrm>
                  <a:off x="2544" y="960"/>
                  <a:ext cx="624" cy="1024"/>
                  <a:chOff x="2544" y="960"/>
                  <a:chExt cx="624" cy="1024"/>
                </a:xfrm>
              </p:grpSpPr>
              <p:sp>
                <p:nvSpPr>
                  <p:cNvPr id="32809" name="Text Box 42"/>
                  <p:cNvSpPr txBox="1"/>
                  <p:nvPr/>
                </p:nvSpPr>
                <p:spPr>
                  <a:xfrm>
                    <a:off x="2544" y="1201"/>
                    <a:ext cx="195"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B</a:t>
                    </a:r>
                    <a:endParaRPr lang="en-US" altLang="zh-CN" b="1" dirty="0">
                      <a:solidFill>
                        <a:srgbClr val="FFCC99"/>
                      </a:solidFill>
                      <a:latin typeface="Times New Roman" panose="02020603050405020304" pitchFamily="18" charset="0"/>
                      <a:ea typeface="宋体" panose="02010600030101010101" pitchFamily="2" charset="-122"/>
                    </a:endParaRPr>
                  </a:p>
                </p:txBody>
              </p:sp>
              <p:sp>
                <p:nvSpPr>
                  <p:cNvPr id="32810" name="Text Box 43"/>
                  <p:cNvSpPr txBox="1"/>
                  <p:nvPr/>
                </p:nvSpPr>
                <p:spPr>
                  <a:xfrm>
                    <a:off x="2856" y="1753"/>
                    <a:ext cx="234"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E</a:t>
                    </a:r>
                    <a:endParaRPr lang="en-US" altLang="zh-CN" b="1" dirty="0">
                      <a:solidFill>
                        <a:srgbClr val="FFCC99"/>
                      </a:solidFill>
                      <a:latin typeface="Times New Roman" panose="02020603050405020304" pitchFamily="18" charset="0"/>
                      <a:ea typeface="宋体" panose="02010600030101010101" pitchFamily="2" charset="-122"/>
                    </a:endParaRPr>
                  </a:p>
                </p:txBody>
              </p:sp>
              <p:sp>
                <p:nvSpPr>
                  <p:cNvPr id="32811" name="Text Box 44"/>
                  <p:cNvSpPr txBox="1"/>
                  <p:nvPr/>
                </p:nvSpPr>
                <p:spPr>
                  <a:xfrm>
                    <a:off x="2973" y="1339"/>
                    <a:ext cx="195"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T</a:t>
                    </a:r>
                    <a:endParaRPr lang="en-US" altLang="zh-CN" b="1" dirty="0">
                      <a:solidFill>
                        <a:srgbClr val="FFCC99"/>
                      </a:solidFill>
                      <a:latin typeface="Times New Roman" panose="02020603050405020304" pitchFamily="18" charset="0"/>
                      <a:ea typeface="宋体" panose="02010600030101010101" pitchFamily="2" charset="-122"/>
                    </a:endParaRPr>
                  </a:p>
                </p:txBody>
              </p:sp>
              <p:sp>
                <p:nvSpPr>
                  <p:cNvPr id="32812" name="Text Box 45"/>
                  <p:cNvSpPr txBox="1"/>
                  <p:nvPr/>
                </p:nvSpPr>
                <p:spPr>
                  <a:xfrm>
                    <a:off x="2895" y="960"/>
                    <a:ext cx="257"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C</a:t>
                    </a:r>
                    <a:endParaRPr lang="en-US" altLang="zh-CN" b="1" dirty="0">
                      <a:solidFill>
                        <a:srgbClr val="FFCC99"/>
                      </a:solidFill>
                      <a:latin typeface="Times New Roman" panose="02020603050405020304" pitchFamily="18" charset="0"/>
                      <a:ea typeface="宋体" panose="02010600030101010101" pitchFamily="2" charset="-122"/>
                    </a:endParaRPr>
                  </a:p>
                </p:txBody>
              </p:sp>
            </p:grpSp>
            <p:grpSp>
              <p:nvGrpSpPr>
                <p:cNvPr id="32813" name="Group 46"/>
                <p:cNvGrpSpPr/>
                <p:nvPr/>
              </p:nvGrpSpPr>
              <p:grpSpPr>
                <a:xfrm>
                  <a:off x="2592" y="1152"/>
                  <a:ext cx="390" cy="621"/>
                  <a:chOff x="2442" y="1228"/>
                  <a:chExt cx="390" cy="621"/>
                </a:xfrm>
              </p:grpSpPr>
              <p:grpSp>
                <p:nvGrpSpPr>
                  <p:cNvPr id="32814" name="Group 47"/>
                  <p:cNvGrpSpPr/>
                  <p:nvPr/>
                </p:nvGrpSpPr>
                <p:grpSpPr>
                  <a:xfrm>
                    <a:off x="2442" y="1228"/>
                    <a:ext cx="390" cy="596"/>
                    <a:chOff x="2439" y="1228"/>
                    <a:chExt cx="390" cy="596"/>
                  </a:xfrm>
                </p:grpSpPr>
                <p:sp>
                  <p:nvSpPr>
                    <p:cNvPr id="32815" name="Line 48"/>
                    <p:cNvSpPr/>
                    <p:nvPr/>
                  </p:nvSpPr>
                  <p:spPr>
                    <a:xfrm>
                      <a:off x="2504" y="1539"/>
                      <a:ext cx="130" cy="0"/>
                    </a:xfrm>
                    <a:prstGeom prst="line">
                      <a:avLst/>
                    </a:prstGeom>
                    <a:ln w="28575" cap="flat" cmpd="sng">
                      <a:solidFill>
                        <a:srgbClr val="FFFF00"/>
                      </a:solidFill>
                      <a:prstDash val="solid"/>
                      <a:round/>
                      <a:headEnd type="none" w="med" len="med"/>
                      <a:tailEnd type="none" w="med" len="med"/>
                    </a:ln>
                  </p:spPr>
                </p:sp>
                <p:sp>
                  <p:nvSpPr>
                    <p:cNvPr id="32816" name="Line 49"/>
                    <p:cNvSpPr/>
                    <p:nvPr/>
                  </p:nvSpPr>
                  <p:spPr>
                    <a:xfrm>
                      <a:off x="2634" y="1454"/>
                      <a:ext cx="0" cy="197"/>
                    </a:xfrm>
                    <a:prstGeom prst="line">
                      <a:avLst/>
                    </a:prstGeom>
                    <a:ln w="28575" cap="flat" cmpd="sng">
                      <a:solidFill>
                        <a:srgbClr val="FFFF00"/>
                      </a:solidFill>
                      <a:prstDash val="solid"/>
                      <a:round/>
                      <a:headEnd type="none" w="med" len="med"/>
                      <a:tailEnd type="none" w="med" len="med"/>
                    </a:ln>
                  </p:spPr>
                </p:sp>
                <p:sp>
                  <p:nvSpPr>
                    <p:cNvPr id="32817" name="Line 50"/>
                    <p:cNvSpPr/>
                    <p:nvPr/>
                  </p:nvSpPr>
                  <p:spPr>
                    <a:xfrm flipV="1">
                      <a:off x="2634" y="1426"/>
                      <a:ext cx="163" cy="84"/>
                    </a:xfrm>
                    <a:prstGeom prst="line">
                      <a:avLst/>
                    </a:prstGeom>
                    <a:ln w="28575" cap="flat" cmpd="sng">
                      <a:solidFill>
                        <a:srgbClr val="FFFF00"/>
                      </a:solidFill>
                      <a:prstDash val="solid"/>
                      <a:round/>
                      <a:headEnd type="none" w="med" len="med"/>
                      <a:tailEnd type="none" w="med" len="med"/>
                    </a:ln>
                  </p:spPr>
                </p:sp>
                <p:sp>
                  <p:nvSpPr>
                    <p:cNvPr id="32818" name="Line 51"/>
                    <p:cNvSpPr/>
                    <p:nvPr/>
                  </p:nvSpPr>
                  <p:spPr>
                    <a:xfrm>
                      <a:off x="2634" y="1567"/>
                      <a:ext cx="163" cy="56"/>
                    </a:xfrm>
                    <a:prstGeom prst="line">
                      <a:avLst/>
                    </a:prstGeom>
                    <a:ln w="28575" cap="flat" cmpd="sng">
                      <a:solidFill>
                        <a:srgbClr val="FFFF00"/>
                      </a:solidFill>
                      <a:prstDash val="solid"/>
                      <a:round/>
                      <a:headEnd type="none" w="med" len="med"/>
                      <a:tailEnd type="stealth" w="med" len="med"/>
                    </a:ln>
                  </p:spPr>
                </p:sp>
                <p:sp>
                  <p:nvSpPr>
                    <p:cNvPr id="32819" name="Line 52"/>
                    <p:cNvSpPr/>
                    <p:nvPr/>
                  </p:nvSpPr>
                  <p:spPr>
                    <a:xfrm>
                      <a:off x="2797" y="1623"/>
                      <a:ext cx="0" cy="201"/>
                    </a:xfrm>
                    <a:prstGeom prst="line">
                      <a:avLst/>
                    </a:prstGeom>
                    <a:ln w="28575" cap="flat" cmpd="sng">
                      <a:solidFill>
                        <a:srgbClr val="FFFF00"/>
                      </a:solidFill>
                      <a:prstDash val="solid"/>
                      <a:round/>
                      <a:headEnd type="none" w="med" len="med"/>
                      <a:tailEnd type="none" w="med" len="med"/>
                    </a:ln>
                  </p:spPr>
                </p:sp>
                <p:sp>
                  <p:nvSpPr>
                    <p:cNvPr id="32820" name="Line 53"/>
                    <p:cNvSpPr/>
                    <p:nvPr/>
                  </p:nvSpPr>
                  <p:spPr>
                    <a:xfrm>
                      <a:off x="2797" y="1284"/>
                      <a:ext cx="0" cy="142"/>
                    </a:xfrm>
                    <a:prstGeom prst="line">
                      <a:avLst/>
                    </a:prstGeom>
                    <a:ln w="28575" cap="flat" cmpd="sng">
                      <a:solidFill>
                        <a:srgbClr val="FFFF00"/>
                      </a:solidFill>
                      <a:prstDash val="solid"/>
                      <a:round/>
                      <a:headEnd type="none" w="med" len="med"/>
                      <a:tailEnd type="none" w="med" len="med"/>
                    </a:ln>
                  </p:spPr>
                </p:sp>
                <p:sp>
                  <p:nvSpPr>
                    <p:cNvPr id="32821" name="Oval 54"/>
                    <p:cNvSpPr/>
                    <p:nvPr/>
                  </p:nvSpPr>
                  <p:spPr>
                    <a:xfrm>
                      <a:off x="2439" y="1510"/>
                      <a:ext cx="65" cy="57"/>
                    </a:xfrm>
                    <a:prstGeom prst="ellipse">
                      <a:avLst/>
                    </a:prstGeom>
                    <a:noFill/>
                    <a:ln w="28575" cap="flat" cmpd="sng">
                      <a:solidFill>
                        <a:srgbClr val="FFFF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2822" name="Oval 55"/>
                    <p:cNvSpPr/>
                    <p:nvPr/>
                  </p:nvSpPr>
                  <p:spPr>
                    <a:xfrm>
                      <a:off x="2764" y="1228"/>
                      <a:ext cx="65" cy="56"/>
                    </a:xfrm>
                    <a:prstGeom prst="ellipse">
                      <a:avLst/>
                    </a:prstGeom>
                    <a:noFill/>
                    <a:ln w="28575" cap="flat" cmpd="sng">
                      <a:solidFill>
                        <a:srgbClr val="FFFF00"/>
                      </a:solidFill>
                      <a:prstDash val="solid"/>
                      <a:round/>
                      <a:headEnd type="none" w="med" len="med"/>
                      <a:tailEnd type="none" w="med" len="med"/>
                    </a:ln>
                  </p:spPr>
                  <p:txBody>
                    <a:bodyPr wrap="none" anchor="ctr"/>
                    <a:p>
                      <a:pPr algn="ctr" eaLnBrk="0" hangingPunct="0"/>
                      <a:endParaRPr lang="zh-CN" altLang="zh-CN" sz="3200" b="1" dirty="0">
                        <a:solidFill>
                          <a:srgbClr val="FFFF66"/>
                        </a:solidFill>
                        <a:latin typeface="隶书" panose="02010509060101010101" pitchFamily="49" charset="-122"/>
                        <a:ea typeface="隶书" panose="02010509060101010101" pitchFamily="49" charset="-122"/>
                      </a:endParaRPr>
                    </a:p>
                  </p:txBody>
                </p:sp>
              </p:grpSp>
              <p:sp>
                <p:nvSpPr>
                  <p:cNvPr id="32823" name="Oval 56"/>
                  <p:cNvSpPr/>
                  <p:nvPr/>
                </p:nvSpPr>
                <p:spPr>
                  <a:xfrm>
                    <a:off x="2764" y="1793"/>
                    <a:ext cx="65" cy="56"/>
                  </a:xfrm>
                  <a:prstGeom prst="ellipse">
                    <a:avLst/>
                  </a:prstGeom>
                  <a:noFill/>
                  <a:ln w="28575" cap="flat" cmpd="sng">
                    <a:solidFill>
                      <a:srgbClr val="FFFF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grpSp>
          <p:sp>
            <p:nvSpPr>
              <p:cNvPr id="32824" name="Text Box 57"/>
              <p:cNvSpPr txBox="1"/>
              <p:nvPr/>
            </p:nvSpPr>
            <p:spPr>
              <a:xfrm>
                <a:off x="2715" y="1968"/>
                <a:ext cx="501" cy="288"/>
              </a:xfrm>
              <a:prstGeom prst="rect">
                <a:avLst/>
              </a:prstGeom>
              <a:noFill/>
              <a:ln w="9525">
                <a:noFill/>
              </a:ln>
            </p:spPr>
            <p:txBody>
              <a:bodyPr wrap="none" anchor="t">
                <a:spAutoFit/>
              </a:bodyPr>
              <a:p>
                <a:r>
                  <a:rPr lang="en-US" altLang="zh-CN" sz="2400" dirty="0">
                    <a:solidFill>
                      <a:srgbClr val="FFFF66"/>
                    </a:solidFill>
                    <a:latin typeface="Times New Roman" panose="02020603050405020304" pitchFamily="18" charset="0"/>
                    <a:ea typeface="幼圆" panose="02010509060101010101" pitchFamily="49" charset="-122"/>
                  </a:rPr>
                  <a:t>NPN</a:t>
                </a:r>
                <a:endParaRPr lang="en-US" altLang="zh-CN" sz="2400" dirty="0">
                  <a:solidFill>
                    <a:srgbClr val="FFFF66"/>
                  </a:solidFill>
                  <a:latin typeface="Times New Roman" panose="02020603050405020304" pitchFamily="18" charset="0"/>
                  <a:ea typeface="幼圆" panose="02010509060101010101" pitchFamily="49" charset="-122"/>
                </a:endParaRPr>
              </a:p>
            </p:txBody>
          </p:sp>
        </p:grpSp>
        <p:grpSp>
          <p:nvGrpSpPr>
            <p:cNvPr id="32825" name="Group 87"/>
            <p:cNvGrpSpPr/>
            <p:nvPr/>
          </p:nvGrpSpPr>
          <p:grpSpPr>
            <a:xfrm>
              <a:off x="2592" y="2448"/>
              <a:ext cx="672" cy="1296"/>
              <a:chOff x="2592" y="2448"/>
              <a:chExt cx="672" cy="1296"/>
            </a:xfrm>
          </p:grpSpPr>
          <p:grpSp>
            <p:nvGrpSpPr>
              <p:cNvPr id="32826" name="Group 83"/>
              <p:cNvGrpSpPr/>
              <p:nvPr/>
            </p:nvGrpSpPr>
            <p:grpSpPr>
              <a:xfrm>
                <a:off x="2592" y="2448"/>
                <a:ext cx="576" cy="989"/>
                <a:chOff x="2592" y="2448"/>
                <a:chExt cx="576" cy="989"/>
              </a:xfrm>
            </p:grpSpPr>
            <p:grpSp>
              <p:nvGrpSpPr>
                <p:cNvPr id="32827" name="Group 82"/>
                <p:cNvGrpSpPr/>
                <p:nvPr/>
              </p:nvGrpSpPr>
              <p:grpSpPr>
                <a:xfrm>
                  <a:off x="2592" y="2448"/>
                  <a:ext cx="576" cy="989"/>
                  <a:chOff x="2592" y="2448"/>
                  <a:chExt cx="576" cy="989"/>
                </a:xfrm>
              </p:grpSpPr>
              <p:sp>
                <p:nvSpPr>
                  <p:cNvPr id="32828" name="Text Box 61"/>
                  <p:cNvSpPr txBox="1"/>
                  <p:nvPr/>
                </p:nvSpPr>
                <p:spPr>
                  <a:xfrm>
                    <a:off x="2592" y="2679"/>
                    <a:ext cx="180"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B</a:t>
                    </a:r>
                    <a:endParaRPr lang="en-US" altLang="zh-CN" b="1" dirty="0">
                      <a:solidFill>
                        <a:srgbClr val="FFCC99"/>
                      </a:solidFill>
                      <a:latin typeface="Times New Roman" panose="02020603050405020304" pitchFamily="18" charset="0"/>
                      <a:ea typeface="宋体" panose="02010600030101010101" pitchFamily="2" charset="-122"/>
                    </a:endParaRPr>
                  </a:p>
                </p:txBody>
              </p:sp>
              <p:sp>
                <p:nvSpPr>
                  <p:cNvPr id="32829" name="Text Box 62"/>
                  <p:cNvSpPr txBox="1"/>
                  <p:nvPr/>
                </p:nvSpPr>
                <p:spPr>
                  <a:xfrm>
                    <a:off x="2880" y="3206"/>
                    <a:ext cx="216"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E</a:t>
                    </a:r>
                    <a:endParaRPr lang="en-US" altLang="zh-CN" b="1" dirty="0">
                      <a:solidFill>
                        <a:srgbClr val="FFCC99"/>
                      </a:solidFill>
                      <a:latin typeface="Times New Roman" panose="02020603050405020304" pitchFamily="18" charset="0"/>
                      <a:ea typeface="宋体" panose="02010600030101010101" pitchFamily="2" charset="-122"/>
                    </a:endParaRPr>
                  </a:p>
                </p:txBody>
              </p:sp>
              <p:sp>
                <p:nvSpPr>
                  <p:cNvPr id="32830" name="Text Box 63"/>
                  <p:cNvSpPr txBox="1"/>
                  <p:nvPr/>
                </p:nvSpPr>
                <p:spPr>
                  <a:xfrm>
                    <a:off x="2988" y="2810"/>
                    <a:ext cx="180"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T</a:t>
                    </a:r>
                    <a:endParaRPr lang="en-US" altLang="zh-CN" b="1" dirty="0">
                      <a:solidFill>
                        <a:srgbClr val="FFCC99"/>
                      </a:solidFill>
                      <a:latin typeface="Times New Roman" panose="02020603050405020304" pitchFamily="18" charset="0"/>
                      <a:ea typeface="宋体" panose="02010600030101010101" pitchFamily="2" charset="-122"/>
                    </a:endParaRPr>
                  </a:p>
                </p:txBody>
              </p:sp>
              <p:sp>
                <p:nvSpPr>
                  <p:cNvPr id="32831" name="Text Box 64"/>
                  <p:cNvSpPr txBox="1"/>
                  <p:nvPr/>
                </p:nvSpPr>
                <p:spPr>
                  <a:xfrm>
                    <a:off x="2916" y="2448"/>
                    <a:ext cx="180" cy="231"/>
                  </a:xfrm>
                  <a:prstGeom prst="rect">
                    <a:avLst/>
                  </a:prstGeom>
                  <a:noFill/>
                  <a:ln w="9525">
                    <a:noFill/>
                  </a:ln>
                </p:spPr>
                <p:txBody>
                  <a:bodyPr anchor="t">
                    <a:spAutoFit/>
                  </a:bodyPr>
                  <a:p>
                    <a:pPr>
                      <a:spcBef>
                        <a:spcPct val="50000"/>
                      </a:spcBef>
                    </a:pPr>
                    <a:r>
                      <a:rPr lang="en-US" altLang="zh-CN" b="1" dirty="0">
                        <a:solidFill>
                          <a:srgbClr val="FFCC99"/>
                        </a:solidFill>
                        <a:latin typeface="Times New Roman" panose="02020603050405020304" pitchFamily="18" charset="0"/>
                        <a:ea typeface="宋体" panose="02010600030101010101" pitchFamily="2" charset="-122"/>
                      </a:rPr>
                      <a:t>C</a:t>
                    </a:r>
                    <a:endParaRPr lang="en-US" altLang="zh-CN" b="1" dirty="0">
                      <a:solidFill>
                        <a:srgbClr val="FFCC99"/>
                      </a:solidFill>
                      <a:latin typeface="Times New Roman" panose="02020603050405020304" pitchFamily="18" charset="0"/>
                      <a:ea typeface="宋体" panose="02010600030101010101" pitchFamily="2" charset="-122"/>
                    </a:endParaRPr>
                  </a:p>
                </p:txBody>
              </p:sp>
            </p:grpSp>
            <p:grpSp>
              <p:nvGrpSpPr>
                <p:cNvPr id="32832" name="Group 65"/>
                <p:cNvGrpSpPr/>
                <p:nvPr/>
              </p:nvGrpSpPr>
              <p:grpSpPr>
                <a:xfrm>
                  <a:off x="2664" y="2640"/>
                  <a:ext cx="360" cy="582"/>
                  <a:chOff x="2664" y="2640"/>
                  <a:chExt cx="360" cy="582"/>
                </a:xfrm>
              </p:grpSpPr>
              <p:grpSp>
                <p:nvGrpSpPr>
                  <p:cNvPr id="32833" name="Group 66"/>
                  <p:cNvGrpSpPr/>
                  <p:nvPr/>
                </p:nvGrpSpPr>
                <p:grpSpPr>
                  <a:xfrm>
                    <a:off x="2664" y="2640"/>
                    <a:ext cx="360" cy="555"/>
                    <a:chOff x="2664" y="2640"/>
                    <a:chExt cx="360" cy="555"/>
                  </a:xfrm>
                </p:grpSpPr>
                <p:sp>
                  <p:nvSpPr>
                    <p:cNvPr id="32834" name="Line 67"/>
                    <p:cNvSpPr/>
                    <p:nvPr/>
                  </p:nvSpPr>
                  <p:spPr>
                    <a:xfrm>
                      <a:off x="2712" y="2928"/>
                      <a:ext cx="120" cy="0"/>
                    </a:xfrm>
                    <a:prstGeom prst="line">
                      <a:avLst/>
                    </a:prstGeom>
                    <a:ln w="28575" cap="flat" cmpd="sng">
                      <a:solidFill>
                        <a:srgbClr val="FFFF00"/>
                      </a:solidFill>
                      <a:prstDash val="solid"/>
                      <a:round/>
                      <a:headEnd type="none" w="med" len="med"/>
                      <a:tailEnd type="none" w="med" len="med"/>
                    </a:ln>
                  </p:spPr>
                </p:sp>
                <p:sp>
                  <p:nvSpPr>
                    <p:cNvPr id="32835" name="Line 68"/>
                    <p:cNvSpPr/>
                    <p:nvPr/>
                  </p:nvSpPr>
                  <p:spPr>
                    <a:xfrm>
                      <a:off x="2832" y="2832"/>
                      <a:ext cx="0" cy="189"/>
                    </a:xfrm>
                    <a:prstGeom prst="line">
                      <a:avLst/>
                    </a:prstGeom>
                    <a:ln w="28575" cap="flat" cmpd="sng">
                      <a:solidFill>
                        <a:srgbClr val="FFFF00"/>
                      </a:solidFill>
                      <a:prstDash val="solid"/>
                      <a:round/>
                      <a:headEnd type="none" w="med" len="med"/>
                      <a:tailEnd type="none" w="med" len="med"/>
                    </a:ln>
                  </p:spPr>
                </p:sp>
                <p:sp>
                  <p:nvSpPr>
                    <p:cNvPr id="32836" name="Line 69"/>
                    <p:cNvSpPr/>
                    <p:nvPr/>
                  </p:nvSpPr>
                  <p:spPr>
                    <a:xfrm flipV="1">
                      <a:off x="2844" y="2829"/>
                      <a:ext cx="150" cy="81"/>
                    </a:xfrm>
                    <a:prstGeom prst="line">
                      <a:avLst/>
                    </a:prstGeom>
                    <a:ln w="28575" cap="flat" cmpd="sng">
                      <a:solidFill>
                        <a:srgbClr val="FFFF00"/>
                      </a:solidFill>
                      <a:prstDash val="solid"/>
                      <a:round/>
                      <a:headEnd type="none" w="med" len="med"/>
                      <a:tailEnd type="none" w="med" len="med"/>
                    </a:ln>
                  </p:spPr>
                </p:sp>
                <p:sp>
                  <p:nvSpPr>
                    <p:cNvPr id="32837" name="Line 70"/>
                    <p:cNvSpPr/>
                    <p:nvPr/>
                  </p:nvSpPr>
                  <p:spPr>
                    <a:xfrm>
                      <a:off x="2844" y="2964"/>
                      <a:ext cx="150" cy="54"/>
                    </a:xfrm>
                    <a:prstGeom prst="line">
                      <a:avLst/>
                    </a:prstGeom>
                    <a:ln w="28575" cap="flat" cmpd="sng">
                      <a:solidFill>
                        <a:srgbClr val="FFFF00"/>
                      </a:solidFill>
                      <a:prstDash val="solid"/>
                      <a:round/>
                      <a:headEnd type="stealth" w="med" len="med"/>
                      <a:tailEnd type="none" w="med" len="med"/>
                    </a:ln>
                  </p:spPr>
                </p:sp>
                <p:sp>
                  <p:nvSpPr>
                    <p:cNvPr id="32838" name="Line 71"/>
                    <p:cNvSpPr/>
                    <p:nvPr/>
                  </p:nvSpPr>
                  <p:spPr>
                    <a:xfrm>
                      <a:off x="2994" y="3018"/>
                      <a:ext cx="0" cy="177"/>
                    </a:xfrm>
                    <a:prstGeom prst="line">
                      <a:avLst/>
                    </a:prstGeom>
                    <a:ln w="28575" cap="flat" cmpd="sng">
                      <a:solidFill>
                        <a:srgbClr val="FFFF00"/>
                      </a:solidFill>
                      <a:prstDash val="solid"/>
                      <a:round/>
                      <a:headEnd type="none" w="med" len="med"/>
                      <a:tailEnd type="none" w="med" len="med"/>
                    </a:ln>
                  </p:spPr>
                </p:sp>
                <p:sp>
                  <p:nvSpPr>
                    <p:cNvPr id="32839" name="Line 72"/>
                    <p:cNvSpPr/>
                    <p:nvPr/>
                  </p:nvSpPr>
                  <p:spPr>
                    <a:xfrm>
                      <a:off x="2994" y="2694"/>
                      <a:ext cx="0" cy="135"/>
                    </a:xfrm>
                    <a:prstGeom prst="line">
                      <a:avLst/>
                    </a:prstGeom>
                    <a:ln w="28575" cap="flat" cmpd="sng">
                      <a:solidFill>
                        <a:srgbClr val="FFFF00"/>
                      </a:solidFill>
                      <a:prstDash val="solid"/>
                      <a:round/>
                      <a:headEnd type="none" w="med" len="med"/>
                      <a:tailEnd type="none" w="med" len="med"/>
                    </a:ln>
                  </p:spPr>
                </p:sp>
                <p:sp>
                  <p:nvSpPr>
                    <p:cNvPr id="32840" name="Oval 73"/>
                    <p:cNvSpPr/>
                    <p:nvPr/>
                  </p:nvSpPr>
                  <p:spPr>
                    <a:xfrm>
                      <a:off x="2664" y="2910"/>
                      <a:ext cx="60" cy="54"/>
                    </a:xfrm>
                    <a:prstGeom prst="ellipse">
                      <a:avLst/>
                    </a:prstGeom>
                    <a:noFill/>
                    <a:ln w="28575" cap="flat" cmpd="sng">
                      <a:solidFill>
                        <a:srgbClr val="FFFF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2841" name="Oval 74"/>
                    <p:cNvSpPr/>
                    <p:nvPr/>
                  </p:nvSpPr>
                  <p:spPr>
                    <a:xfrm>
                      <a:off x="2964" y="2640"/>
                      <a:ext cx="60" cy="54"/>
                    </a:xfrm>
                    <a:prstGeom prst="ellipse">
                      <a:avLst/>
                    </a:prstGeom>
                    <a:noFill/>
                    <a:ln w="28575" cap="flat" cmpd="sng">
                      <a:solidFill>
                        <a:srgbClr val="FFFF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sp>
                <p:nvSpPr>
                  <p:cNvPr id="32842" name="Oval 75"/>
                  <p:cNvSpPr/>
                  <p:nvPr/>
                </p:nvSpPr>
                <p:spPr>
                  <a:xfrm>
                    <a:off x="2964" y="3168"/>
                    <a:ext cx="60" cy="54"/>
                  </a:xfrm>
                  <a:prstGeom prst="ellipse">
                    <a:avLst/>
                  </a:prstGeom>
                  <a:noFill/>
                  <a:ln w="28575" cap="flat" cmpd="sng">
                    <a:solidFill>
                      <a:srgbClr val="FFFF00"/>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grpSp>
          <p:sp>
            <p:nvSpPr>
              <p:cNvPr id="32843" name="Text Box 76"/>
              <p:cNvSpPr txBox="1"/>
              <p:nvPr/>
            </p:nvSpPr>
            <p:spPr>
              <a:xfrm>
                <a:off x="2795" y="3456"/>
                <a:ext cx="469" cy="288"/>
              </a:xfrm>
              <a:prstGeom prst="rect">
                <a:avLst/>
              </a:prstGeom>
              <a:noFill/>
              <a:ln w="9525">
                <a:noFill/>
              </a:ln>
            </p:spPr>
            <p:txBody>
              <a:bodyPr wrap="none" anchor="t">
                <a:spAutoFit/>
              </a:bodyPr>
              <a:p>
                <a:r>
                  <a:rPr lang="en-US" altLang="zh-CN" sz="2400" dirty="0">
                    <a:solidFill>
                      <a:srgbClr val="FFFF66"/>
                    </a:solidFill>
                    <a:latin typeface="Times New Roman" panose="02020603050405020304" pitchFamily="18" charset="0"/>
                    <a:ea typeface="幼圆" panose="02010509060101010101" pitchFamily="49" charset="-122"/>
                  </a:rPr>
                  <a:t>PNP</a:t>
                </a:r>
                <a:endParaRPr lang="en-US" altLang="zh-CN" sz="2400" dirty="0">
                  <a:solidFill>
                    <a:srgbClr val="FFFF66"/>
                  </a:solidFill>
                  <a:latin typeface="Times New Roman" panose="02020603050405020304" pitchFamily="18" charset="0"/>
                  <a:ea typeface="幼圆" panose="02010509060101010101" pitchFamily="49" charset="-122"/>
                </a:endParaRPr>
              </a:p>
            </p:txBody>
          </p:sp>
        </p:grpSp>
      </p:grpSp>
      <p:sp>
        <p:nvSpPr>
          <p:cNvPr id="32845" name="Text Box 78">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2846" name="Text Box 79">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2847" name="Text Box 81"/>
          <p:cNvSpPr txBox="1"/>
          <p:nvPr/>
        </p:nvSpPr>
        <p:spPr>
          <a:xfrm>
            <a:off x="7667625" y="629443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256"/>
                                        </p:tgtEl>
                                        <p:attrNameLst>
                                          <p:attrName>style.visibility</p:attrName>
                                        </p:attrNameLst>
                                      </p:cBhvr>
                                      <p:to>
                                        <p:strVal val="visible"/>
                                      </p:to>
                                    </p:set>
                                    <p:anim calcmode="lin" valueType="num">
                                      <p:cBhvr>
                                        <p:cTn id="7" dur="500" fill="hold"/>
                                        <p:tgtEl>
                                          <p:spTgt spid="7256"/>
                                        </p:tgtEl>
                                        <p:attrNameLst>
                                          <p:attrName>ppt_w</p:attrName>
                                        </p:attrNameLst>
                                      </p:cBhvr>
                                      <p:tavLst>
                                        <p:tav tm="0">
                                          <p:val>
                                            <p:fltVal val="0.000000"/>
                                          </p:val>
                                        </p:tav>
                                        <p:tav tm="100000">
                                          <p:val>
                                            <p:strVal val="#ppt_w"/>
                                          </p:val>
                                        </p:tav>
                                      </p:tavLst>
                                    </p:anim>
                                    <p:anim calcmode="lin" valueType="num">
                                      <p:cBhvr>
                                        <p:cTn id="8" dur="500" fill="hold"/>
                                        <p:tgtEl>
                                          <p:spTgt spid="725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2"/>
          <p:cNvSpPr txBox="1"/>
          <p:nvPr/>
        </p:nvSpPr>
        <p:spPr>
          <a:xfrm>
            <a:off x="323850" y="239713"/>
            <a:ext cx="5400675" cy="612775"/>
          </a:xfrm>
          <a:prstGeom prst="rect">
            <a:avLst/>
          </a:prstGeom>
          <a:noFill/>
          <a:ln w="9525">
            <a:noFill/>
          </a:ln>
          <a:effectLst>
            <a:outerShdw dist="35921" dir="2699999" algn="ctr" rotWithShape="0">
              <a:schemeClr val="bg2"/>
            </a:outerShdw>
          </a:effectLst>
        </p:spPr>
        <p:txBody>
          <a:bodyPr anchor="t">
            <a:spAutoFit/>
          </a:bodyPr>
          <a:p>
            <a:pPr>
              <a:spcBef>
                <a:spcPct val="50000"/>
              </a:spcBef>
            </a:pPr>
            <a:r>
              <a:rPr lang="zh-CN" altLang="en-US" sz="3200" b="1" dirty="0">
                <a:solidFill>
                  <a:srgbClr val="FFFF99"/>
                </a:solidFill>
                <a:latin typeface="隶书" panose="02010509060101010101" pitchFamily="49" charset="-122"/>
                <a:ea typeface="隶书" panose="02010509060101010101" pitchFamily="49" charset="-122"/>
              </a:rPr>
              <a:t>晶体管的电流放大原理</a:t>
            </a:r>
            <a:endParaRPr lang="zh-CN" altLang="en-US" sz="3200" b="1" dirty="0">
              <a:solidFill>
                <a:srgbClr val="FFFF99"/>
              </a:solidFill>
              <a:latin typeface="隶书" panose="02010509060101010101" pitchFamily="49" charset="-122"/>
              <a:ea typeface="隶书" panose="02010509060101010101" pitchFamily="49" charset="-122"/>
            </a:endParaRPr>
          </a:p>
        </p:txBody>
      </p:sp>
      <p:sp>
        <p:nvSpPr>
          <p:cNvPr id="8195" name="Line 3"/>
          <p:cNvSpPr/>
          <p:nvPr/>
        </p:nvSpPr>
        <p:spPr>
          <a:xfrm>
            <a:off x="2124075" y="3716338"/>
            <a:ext cx="0" cy="685800"/>
          </a:xfrm>
          <a:prstGeom prst="line">
            <a:avLst/>
          </a:prstGeom>
          <a:ln w="28575" cap="flat" cmpd="sng">
            <a:solidFill>
              <a:srgbClr val="DDDDDD"/>
            </a:solidFill>
            <a:prstDash val="solid"/>
            <a:round/>
            <a:headEnd type="none" w="med" len="med"/>
            <a:tailEnd type="stealth" w="med" len="lg"/>
          </a:ln>
        </p:spPr>
      </p:sp>
      <p:sp>
        <p:nvSpPr>
          <p:cNvPr id="8196" name="Text Box 4"/>
          <p:cNvSpPr txBox="1"/>
          <p:nvPr/>
        </p:nvSpPr>
        <p:spPr>
          <a:xfrm>
            <a:off x="2133600" y="3886200"/>
            <a:ext cx="5334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8197" name="Text Box 5"/>
          <p:cNvSpPr txBox="1"/>
          <p:nvPr/>
        </p:nvSpPr>
        <p:spPr>
          <a:xfrm>
            <a:off x="684213" y="2060575"/>
            <a:ext cx="5334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8198" name="Text Box 6"/>
          <p:cNvSpPr txBox="1"/>
          <p:nvPr/>
        </p:nvSpPr>
        <p:spPr>
          <a:xfrm>
            <a:off x="611188" y="3505200"/>
            <a:ext cx="625475"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R</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8199" name="Text Box 7"/>
          <p:cNvSpPr txBox="1"/>
          <p:nvPr/>
        </p:nvSpPr>
        <p:spPr>
          <a:xfrm>
            <a:off x="541338" y="4267200"/>
            <a:ext cx="790575"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BB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8200" name="Line 8"/>
          <p:cNvSpPr/>
          <p:nvPr/>
        </p:nvSpPr>
        <p:spPr>
          <a:xfrm>
            <a:off x="2209800" y="1600200"/>
            <a:ext cx="0" cy="381000"/>
          </a:xfrm>
          <a:prstGeom prst="line">
            <a:avLst/>
          </a:prstGeom>
          <a:ln w="28575" cap="flat" cmpd="sng">
            <a:solidFill>
              <a:srgbClr val="DDDDDD"/>
            </a:solidFill>
            <a:prstDash val="solid"/>
            <a:round/>
            <a:headEnd type="none" w="med" len="med"/>
            <a:tailEnd type="stealth" w="med" len="med"/>
          </a:ln>
        </p:spPr>
      </p:sp>
      <p:sp>
        <p:nvSpPr>
          <p:cNvPr id="8201" name="Text Box 9"/>
          <p:cNvSpPr txBox="1"/>
          <p:nvPr/>
        </p:nvSpPr>
        <p:spPr>
          <a:xfrm>
            <a:off x="2286000" y="1600200"/>
            <a:ext cx="5334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8202" name="Text Box 10"/>
          <p:cNvSpPr txBox="1"/>
          <p:nvPr/>
        </p:nvSpPr>
        <p:spPr>
          <a:xfrm>
            <a:off x="2843213" y="2636838"/>
            <a:ext cx="8382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CC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8203" name="Rectangle 11"/>
          <p:cNvSpPr/>
          <p:nvPr/>
        </p:nvSpPr>
        <p:spPr>
          <a:xfrm>
            <a:off x="1258888" y="3284538"/>
            <a:ext cx="457200" cy="1552575"/>
          </a:xfrm>
          <a:prstGeom prst="rect">
            <a:avLst/>
          </a:prstGeom>
          <a:noFill/>
          <a:ln w="9525">
            <a:noFill/>
          </a:ln>
        </p:spPr>
        <p:txBody>
          <a:bodyPr anchor="t">
            <a:spAutoFit/>
          </a:bodyPr>
          <a:p>
            <a:pPr>
              <a:spcBef>
                <a:spcPct val="50000"/>
              </a:spcBef>
            </a:pPr>
            <a:r>
              <a:rPr lang="zh-CN" altLang="en-US" sz="2400" b="1" dirty="0">
                <a:solidFill>
                  <a:srgbClr val="FFFF66"/>
                </a:solidFill>
                <a:latin typeface="Times New Roman" panose="02020603050405020304" pitchFamily="18" charset="0"/>
                <a:ea typeface="幼圆" panose="02010509060101010101" pitchFamily="49" charset="-122"/>
              </a:rPr>
              <a:t>输入电路</a:t>
            </a:r>
            <a:endParaRPr lang="zh-CN" altLang="en-US" sz="2400" b="1" dirty="0">
              <a:solidFill>
                <a:srgbClr val="FFFF66"/>
              </a:solidFill>
              <a:latin typeface="Times New Roman" panose="02020603050405020304" pitchFamily="18" charset="0"/>
              <a:ea typeface="幼圆" panose="02010509060101010101" pitchFamily="49" charset="-122"/>
            </a:endParaRPr>
          </a:p>
        </p:txBody>
      </p:sp>
      <p:sp>
        <p:nvSpPr>
          <p:cNvPr id="8204" name="Rectangle 12"/>
          <p:cNvSpPr/>
          <p:nvPr/>
        </p:nvSpPr>
        <p:spPr>
          <a:xfrm>
            <a:off x="2743200" y="3276600"/>
            <a:ext cx="609600" cy="1552575"/>
          </a:xfrm>
          <a:prstGeom prst="rect">
            <a:avLst/>
          </a:prstGeom>
          <a:noFill/>
          <a:ln w="9525">
            <a:noFill/>
          </a:ln>
        </p:spPr>
        <p:txBody>
          <a:bodyPr anchor="t">
            <a:spAutoFit/>
          </a:bodyPr>
          <a:p>
            <a:pPr>
              <a:spcBef>
                <a:spcPct val="50000"/>
              </a:spcBef>
            </a:pPr>
            <a:r>
              <a:rPr lang="zh-CN" altLang="en-US" sz="2400" b="1" dirty="0">
                <a:solidFill>
                  <a:srgbClr val="FFFF66"/>
                </a:solidFill>
                <a:latin typeface="Times New Roman" panose="02020603050405020304" pitchFamily="18" charset="0"/>
                <a:ea typeface="幼圆" panose="02010509060101010101" pitchFamily="49" charset="-122"/>
              </a:rPr>
              <a:t>输出电路</a:t>
            </a:r>
            <a:endParaRPr lang="zh-CN" altLang="en-US" sz="2400" b="1" dirty="0">
              <a:solidFill>
                <a:srgbClr val="FFFF66"/>
              </a:solidFill>
              <a:latin typeface="Times New Roman" panose="02020603050405020304" pitchFamily="18" charset="0"/>
              <a:ea typeface="幼圆" panose="02010509060101010101" pitchFamily="49" charset="-122"/>
            </a:endParaRPr>
          </a:p>
        </p:txBody>
      </p:sp>
      <p:sp>
        <p:nvSpPr>
          <p:cNvPr id="8205" name="Line 13"/>
          <p:cNvSpPr/>
          <p:nvPr/>
        </p:nvSpPr>
        <p:spPr>
          <a:xfrm flipV="1">
            <a:off x="1600200" y="5029200"/>
            <a:ext cx="381000" cy="228600"/>
          </a:xfrm>
          <a:prstGeom prst="line">
            <a:avLst/>
          </a:prstGeom>
          <a:ln w="28575" cap="flat" cmpd="sng">
            <a:solidFill>
              <a:srgbClr val="FFFF66"/>
            </a:solidFill>
            <a:prstDash val="solid"/>
            <a:round/>
            <a:headEnd type="none" w="med" len="med"/>
            <a:tailEnd type="stealth" w="med" len="med"/>
          </a:ln>
        </p:spPr>
      </p:sp>
      <p:sp>
        <p:nvSpPr>
          <p:cNvPr id="8206" name="Text Box 14"/>
          <p:cNvSpPr txBox="1"/>
          <p:nvPr/>
        </p:nvSpPr>
        <p:spPr>
          <a:xfrm>
            <a:off x="457200" y="5105400"/>
            <a:ext cx="1295400" cy="457200"/>
          </a:xfrm>
          <a:prstGeom prst="rect">
            <a:avLst/>
          </a:prstGeom>
          <a:noFill/>
          <a:ln w="9525">
            <a:noFill/>
          </a:ln>
        </p:spPr>
        <p:txBody>
          <a:bodyPr anchor="t">
            <a:spAutoFit/>
          </a:bodyPr>
          <a:p>
            <a:pPr>
              <a:spcBef>
                <a:spcPct val="50000"/>
              </a:spcBef>
            </a:pPr>
            <a:r>
              <a:rPr lang="zh-CN" altLang="en-US" sz="2400" b="1" dirty="0">
                <a:solidFill>
                  <a:srgbClr val="FFFF66"/>
                </a:solidFill>
                <a:latin typeface="Times New Roman" panose="02020603050405020304" pitchFamily="18" charset="0"/>
                <a:ea typeface="幼圆" panose="02010509060101010101" pitchFamily="49" charset="-122"/>
              </a:rPr>
              <a:t>公共端</a:t>
            </a:r>
            <a:endParaRPr lang="zh-CN" altLang="en-US" sz="2400" b="1" dirty="0">
              <a:solidFill>
                <a:srgbClr val="FFFF66"/>
              </a:solidFill>
              <a:latin typeface="Times New Roman" panose="02020603050405020304" pitchFamily="18" charset="0"/>
              <a:ea typeface="幼圆" panose="02010509060101010101" pitchFamily="49" charset="-122"/>
            </a:endParaRPr>
          </a:p>
        </p:txBody>
      </p:sp>
      <p:sp>
        <p:nvSpPr>
          <p:cNvPr id="8207" name="Text Box 15"/>
          <p:cNvSpPr txBox="1">
            <a:spLocks noChangeArrowheads="1"/>
          </p:cNvSpPr>
          <p:nvPr/>
        </p:nvSpPr>
        <p:spPr bwMode="auto">
          <a:xfrm>
            <a:off x="4211638" y="1052513"/>
            <a:ext cx="45720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en-US" altLang="zh-CN" sz="2400" b="1" dirty="0">
                <a:solidFill>
                  <a:schemeClr val="bg1"/>
                </a:solidFill>
                <a:effectLst>
                  <a:outerShdw blurRad="38100" dist="38100" dir="2700000">
                    <a:srgbClr val="C0C0C0"/>
                  </a:outerShdw>
                </a:effectLst>
                <a:latin typeface="Times New Roman" panose="02020603050405020304" pitchFamily="18" charset="0"/>
                <a:ea typeface="幼圆" panose="02010509060101010101" pitchFamily="49" charset="-122"/>
              </a:rPr>
              <a:t>     </a:t>
            </a:r>
            <a:r>
              <a:rPr lang="zh-CN" altLang="en-US" sz="2400" b="1" dirty="0">
                <a:solidFill>
                  <a:schemeClr val="bg1"/>
                </a:solidFill>
                <a:effectLst>
                  <a:outerShdw blurRad="38100" dist="38100" dir="2700000">
                    <a:srgbClr val="C0C0C0"/>
                  </a:outerShdw>
                </a:effectLst>
                <a:latin typeface="Times New Roman" panose="02020603050405020304" pitchFamily="18" charset="0"/>
                <a:ea typeface="幼圆" panose="02010509060101010101" pitchFamily="49" charset="-122"/>
              </a:rPr>
              <a:t>晶体管具有电流放大作用的外</a:t>
            </a:r>
            <a:endParaRPr lang="zh-CN" altLang="en-US" sz="2400" b="1" dirty="0">
              <a:solidFill>
                <a:schemeClr val="bg1"/>
              </a:solidFill>
              <a:effectLst>
                <a:outerShdw blurRad="38100" dist="38100" dir="2700000">
                  <a:srgbClr val="C0C0C0"/>
                </a:outerShdw>
              </a:effectLst>
              <a:latin typeface="Times New Roman" panose="02020603050405020304" pitchFamily="18" charset="0"/>
              <a:ea typeface="幼圆" panose="02010509060101010101" pitchFamily="49" charset="-122"/>
            </a:endParaRPr>
          </a:p>
          <a:p>
            <a:pPr>
              <a:spcBef>
                <a:spcPct val="50000"/>
              </a:spcBef>
            </a:pPr>
            <a:r>
              <a:rPr lang="zh-CN" altLang="en-US" sz="2400" b="1" dirty="0">
                <a:solidFill>
                  <a:schemeClr val="bg1"/>
                </a:solidFill>
                <a:effectLst>
                  <a:outerShdw blurRad="38100" dist="38100" dir="2700000">
                    <a:srgbClr val="C0C0C0"/>
                  </a:outerShdw>
                </a:effectLst>
                <a:latin typeface="Times New Roman" panose="02020603050405020304" pitchFamily="18" charset="0"/>
                <a:ea typeface="幼圆" panose="02010509060101010101" pitchFamily="49" charset="-122"/>
              </a:rPr>
              <a:t>部条件：</a:t>
            </a:r>
            <a:endParaRPr lang="zh-CN" altLang="en-US" sz="2400" b="1" dirty="0">
              <a:solidFill>
                <a:schemeClr val="bg1"/>
              </a:solidFill>
              <a:effectLst>
                <a:outerShdw blurRad="38100" dist="38100" dir="2700000">
                  <a:srgbClr val="C0C0C0"/>
                </a:outerShdw>
              </a:effectLst>
              <a:latin typeface="Times New Roman" panose="02020603050405020304" pitchFamily="18" charset="0"/>
              <a:ea typeface="幼圆" panose="02010509060101010101" pitchFamily="49" charset="-122"/>
            </a:endParaRPr>
          </a:p>
        </p:txBody>
      </p:sp>
      <p:sp>
        <p:nvSpPr>
          <p:cNvPr id="8208" name="Text Box 16"/>
          <p:cNvSpPr txBox="1"/>
          <p:nvPr/>
        </p:nvSpPr>
        <p:spPr>
          <a:xfrm>
            <a:off x="5776913" y="1676400"/>
            <a:ext cx="26670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发射结正向偏置</a:t>
            </a:r>
            <a:endParaRPr lang="zh-CN" altLang="en-US" sz="2400" b="1" dirty="0">
              <a:solidFill>
                <a:schemeClr val="bg1"/>
              </a:solidFill>
              <a:latin typeface="Times New Roman" panose="02020603050405020304" pitchFamily="18" charset="0"/>
              <a:ea typeface="幼圆" panose="02010509060101010101" pitchFamily="49" charset="-122"/>
            </a:endParaRPr>
          </a:p>
        </p:txBody>
      </p:sp>
      <p:sp>
        <p:nvSpPr>
          <p:cNvPr id="8209" name="Text Box 17"/>
          <p:cNvSpPr txBox="1"/>
          <p:nvPr/>
        </p:nvSpPr>
        <p:spPr>
          <a:xfrm>
            <a:off x="5853113" y="2286000"/>
            <a:ext cx="28956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集电结反向偏置</a:t>
            </a:r>
            <a:endParaRPr lang="zh-CN" altLang="en-US" sz="2400" b="1" dirty="0">
              <a:solidFill>
                <a:schemeClr val="bg1"/>
              </a:solidFill>
              <a:latin typeface="Times New Roman" panose="02020603050405020304" pitchFamily="18" charset="0"/>
              <a:ea typeface="幼圆" panose="02010509060101010101" pitchFamily="49" charset="-122"/>
            </a:endParaRPr>
          </a:p>
        </p:txBody>
      </p:sp>
      <p:sp>
        <p:nvSpPr>
          <p:cNvPr id="8210" name="AutoShape 18"/>
          <p:cNvSpPr/>
          <p:nvPr/>
        </p:nvSpPr>
        <p:spPr>
          <a:xfrm>
            <a:off x="5700713" y="1905000"/>
            <a:ext cx="76200" cy="762000"/>
          </a:xfrm>
          <a:prstGeom prst="leftBrace">
            <a:avLst>
              <a:gd name="adj1" fmla="val 83194"/>
              <a:gd name="adj2" fmla="val 50000"/>
            </a:avLst>
          </a:prstGeom>
          <a:noFill/>
          <a:ln w="28575" cap="flat" cmpd="sng">
            <a:solidFill>
              <a:srgbClr val="FFFF66"/>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8211" name="Text Box 19"/>
          <p:cNvSpPr txBox="1"/>
          <p:nvPr/>
        </p:nvSpPr>
        <p:spPr>
          <a:xfrm>
            <a:off x="4267200" y="3146425"/>
            <a:ext cx="2590800" cy="2443163"/>
          </a:xfrm>
          <a:prstGeom prst="rect">
            <a:avLst/>
          </a:prstGeom>
          <a:noFill/>
          <a:ln w="9525">
            <a:noFill/>
          </a:ln>
        </p:spPr>
        <p:txBody>
          <a:bodyPr anchor="t">
            <a:spAutoFit/>
          </a:bodyPr>
          <a:p>
            <a:pPr>
              <a:spcBef>
                <a:spcPct val="50000"/>
              </a:spcBef>
            </a:pPr>
            <a:r>
              <a:rPr lang="en-US" altLang="zh-CN" sz="2800" b="1" dirty="0">
                <a:solidFill>
                  <a:schemeClr val="bg1"/>
                </a:solidFill>
                <a:latin typeface="Times New Roman" panose="02020603050405020304" pitchFamily="18" charset="0"/>
                <a:ea typeface="幼圆" panose="02010509060101010101" pitchFamily="49" charset="-122"/>
              </a:rPr>
              <a:t>NPN</a:t>
            </a:r>
            <a:r>
              <a:rPr lang="en-US" altLang="zh-CN" sz="2800" b="1" dirty="0">
                <a:solidFill>
                  <a:schemeClr val="bg1"/>
                </a:solidFill>
                <a:latin typeface="幼圆" panose="02010509060101010101" pitchFamily="49" charset="-122"/>
                <a:ea typeface="幼圆" panose="02010509060101010101" pitchFamily="49" charset="-122"/>
              </a:rPr>
              <a:t> </a:t>
            </a:r>
            <a:r>
              <a:rPr lang="zh-CN" altLang="en-US" sz="2800" b="1" dirty="0">
                <a:solidFill>
                  <a:schemeClr val="bg1"/>
                </a:solidFill>
                <a:latin typeface="幼圆" panose="02010509060101010101" pitchFamily="49" charset="-122"/>
                <a:ea typeface="幼圆" panose="02010509060101010101" pitchFamily="49" charset="-122"/>
              </a:rPr>
              <a:t>管：</a:t>
            </a:r>
            <a:endParaRPr lang="zh-CN" altLang="en-US" sz="2800" b="1" dirty="0">
              <a:solidFill>
                <a:schemeClr val="bg1"/>
              </a:solidFill>
              <a:latin typeface="幼圆" panose="02010509060101010101" pitchFamily="49" charset="-122"/>
              <a:ea typeface="幼圆" panose="02010509060101010101" pitchFamily="49" charset="-122"/>
            </a:endParaRPr>
          </a:p>
          <a:p>
            <a:pPr>
              <a:spcBef>
                <a:spcPct val="50000"/>
              </a:spcBef>
            </a:pPr>
            <a:r>
              <a:rPr lang="zh-CN" altLang="en-US" sz="2800" b="1" dirty="0">
                <a:solidFill>
                  <a:schemeClr val="bg1"/>
                </a:solidFill>
                <a:latin typeface="幼圆" panose="02010509060101010101" pitchFamily="49" charset="-122"/>
                <a:ea typeface="幼圆" panose="02010509060101010101" pitchFamily="49" charset="-122"/>
              </a:rPr>
              <a:t>    </a:t>
            </a:r>
            <a:r>
              <a:rPr lang="en-US" altLang="zh-CN" sz="2800" b="1" i="1" dirty="0">
                <a:solidFill>
                  <a:schemeClr val="bg1"/>
                </a:solidFill>
                <a:latin typeface="Times New Roman" panose="02020603050405020304" pitchFamily="18" charset="0"/>
                <a:ea typeface="幼圆" panose="02010509060101010101" pitchFamily="49" charset="-122"/>
              </a:rPr>
              <a:t>U</a:t>
            </a:r>
            <a:r>
              <a:rPr lang="en-US" altLang="zh-CN" sz="2800" b="1" baseline="-25000" dirty="0">
                <a:solidFill>
                  <a:schemeClr val="bg1"/>
                </a:solidFill>
                <a:latin typeface="Times New Roman" panose="02020603050405020304" pitchFamily="18" charset="0"/>
                <a:ea typeface="幼圆" panose="02010509060101010101" pitchFamily="49" charset="-122"/>
              </a:rPr>
              <a:t>BE</a:t>
            </a:r>
            <a:r>
              <a:rPr lang="en-US" altLang="zh-CN" sz="2800" b="1" dirty="0">
                <a:solidFill>
                  <a:schemeClr val="bg1"/>
                </a:solidFill>
                <a:latin typeface="Times New Roman" panose="02020603050405020304" pitchFamily="18" charset="0"/>
                <a:ea typeface="幼圆" panose="02010509060101010101" pitchFamily="49" charset="-122"/>
              </a:rPr>
              <a:t>&gt;0  </a:t>
            </a:r>
            <a:endParaRPr lang="en-US" altLang="zh-CN" sz="2800" b="1" dirty="0">
              <a:solidFill>
                <a:schemeClr val="bg1"/>
              </a:solidFill>
              <a:latin typeface="Times New Roman" panose="02020603050405020304" pitchFamily="18" charset="0"/>
              <a:ea typeface="幼圆" panose="02010509060101010101" pitchFamily="49" charset="-122"/>
            </a:endParaRPr>
          </a:p>
          <a:p>
            <a:pPr>
              <a:spcBef>
                <a:spcPct val="50000"/>
              </a:spcBef>
            </a:pPr>
            <a:r>
              <a:rPr lang="en-US" altLang="zh-CN" sz="2800" b="1" dirty="0">
                <a:solidFill>
                  <a:schemeClr val="bg1"/>
                </a:solidFill>
                <a:latin typeface="Times New Roman" panose="02020603050405020304" pitchFamily="18" charset="0"/>
                <a:ea typeface="幼圆" panose="02010509060101010101" pitchFamily="49" charset="-122"/>
              </a:rPr>
              <a:t>        </a:t>
            </a:r>
            <a:r>
              <a:rPr lang="en-US" altLang="zh-CN" sz="2800" b="1" i="1" dirty="0">
                <a:solidFill>
                  <a:schemeClr val="bg1"/>
                </a:solidFill>
                <a:latin typeface="Times New Roman" panose="02020603050405020304" pitchFamily="18" charset="0"/>
                <a:ea typeface="幼圆" panose="02010509060101010101" pitchFamily="49" charset="-122"/>
              </a:rPr>
              <a:t>U</a:t>
            </a:r>
            <a:r>
              <a:rPr lang="en-US" altLang="zh-CN" sz="2800" b="1" baseline="-25000" dirty="0">
                <a:solidFill>
                  <a:schemeClr val="bg1"/>
                </a:solidFill>
                <a:latin typeface="Times New Roman" panose="02020603050405020304" pitchFamily="18" charset="0"/>
                <a:ea typeface="幼圆" panose="02010509060101010101" pitchFamily="49" charset="-122"/>
              </a:rPr>
              <a:t>BC</a:t>
            </a:r>
            <a:r>
              <a:rPr lang="en-US" altLang="zh-CN" sz="2800" b="1" dirty="0">
                <a:solidFill>
                  <a:schemeClr val="bg1"/>
                </a:solidFill>
                <a:latin typeface="Times New Roman" panose="02020603050405020304" pitchFamily="18" charset="0"/>
                <a:ea typeface="幼圆" panose="02010509060101010101" pitchFamily="49" charset="-122"/>
              </a:rPr>
              <a:t>&lt;0</a:t>
            </a:r>
            <a:endParaRPr lang="en-US" altLang="zh-CN" sz="2800" b="1" dirty="0">
              <a:solidFill>
                <a:schemeClr val="bg1"/>
              </a:solidFill>
              <a:latin typeface="Times New Roman" panose="02020603050405020304" pitchFamily="18" charset="0"/>
              <a:ea typeface="幼圆" panose="02010509060101010101" pitchFamily="49" charset="-122"/>
            </a:endParaRPr>
          </a:p>
          <a:p>
            <a:pPr>
              <a:spcBef>
                <a:spcPct val="50000"/>
              </a:spcBef>
            </a:pPr>
            <a:r>
              <a:rPr lang="zh-CN" altLang="en-US" sz="2800" b="1" dirty="0">
                <a:solidFill>
                  <a:schemeClr val="bg1"/>
                </a:solidFill>
                <a:latin typeface="Times New Roman" panose="02020603050405020304" pitchFamily="18" charset="0"/>
                <a:ea typeface="幼圆" panose="02010509060101010101" pitchFamily="49" charset="-122"/>
              </a:rPr>
              <a:t>即 </a:t>
            </a:r>
            <a:r>
              <a:rPr lang="en-US" altLang="zh-CN" sz="2800" b="1" i="1" dirty="0">
                <a:solidFill>
                  <a:schemeClr val="bg1"/>
                </a:solidFill>
                <a:latin typeface="Times New Roman" panose="02020603050405020304" pitchFamily="18" charset="0"/>
                <a:ea typeface="幼圆" panose="02010509060101010101" pitchFamily="49" charset="-122"/>
              </a:rPr>
              <a:t>V</a:t>
            </a:r>
            <a:r>
              <a:rPr lang="en-US" altLang="zh-CN" sz="2800" b="1" baseline="-25000" dirty="0">
                <a:solidFill>
                  <a:schemeClr val="bg1"/>
                </a:solidFill>
                <a:latin typeface="Times New Roman" panose="02020603050405020304" pitchFamily="18" charset="0"/>
                <a:ea typeface="幼圆" panose="02010509060101010101" pitchFamily="49" charset="-122"/>
              </a:rPr>
              <a:t>C</a:t>
            </a:r>
            <a:r>
              <a:rPr lang="en-US" altLang="zh-CN" sz="2800" b="1" dirty="0">
                <a:solidFill>
                  <a:schemeClr val="bg1"/>
                </a:solidFill>
                <a:latin typeface="Times New Roman" panose="02020603050405020304" pitchFamily="18" charset="0"/>
                <a:ea typeface="幼圆" panose="02010509060101010101" pitchFamily="49" charset="-122"/>
              </a:rPr>
              <a:t>&gt;</a:t>
            </a:r>
            <a:r>
              <a:rPr lang="en-US" altLang="zh-CN" sz="2800" b="1" i="1" dirty="0">
                <a:solidFill>
                  <a:schemeClr val="bg1"/>
                </a:solidFill>
                <a:latin typeface="Times New Roman" panose="02020603050405020304" pitchFamily="18" charset="0"/>
                <a:ea typeface="幼圆" panose="02010509060101010101" pitchFamily="49" charset="-122"/>
              </a:rPr>
              <a:t>V</a:t>
            </a:r>
            <a:r>
              <a:rPr lang="en-US" altLang="zh-CN" sz="2800" b="1" baseline="-25000" dirty="0">
                <a:solidFill>
                  <a:schemeClr val="bg1"/>
                </a:solidFill>
                <a:latin typeface="Times New Roman" panose="02020603050405020304" pitchFamily="18" charset="0"/>
                <a:ea typeface="幼圆" panose="02010509060101010101" pitchFamily="49" charset="-122"/>
              </a:rPr>
              <a:t>B</a:t>
            </a:r>
            <a:r>
              <a:rPr lang="en-US" altLang="zh-CN" sz="2800" b="1" dirty="0">
                <a:solidFill>
                  <a:schemeClr val="bg1"/>
                </a:solidFill>
                <a:latin typeface="Times New Roman" panose="02020603050405020304" pitchFamily="18" charset="0"/>
                <a:ea typeface="幼圆" panose="02010509060101010101" pitchFamily="49" charset="-122"/>
              </a:rPr>
              <a:t>&gt;</a:t>
            </a:r>
            <a:r>
              <a:rPr lang="en-US" altLang="zh-CN" sz="2800" b="1" i="1" dirty="0">
                <a:solidFill>
                  <a:schemeClr val="bg1"/>
                </a:solidFill>
                <a:latin typeface="Times New Roman" panose="02020603050405020304" pitchFamily="18" charset="0"/>
                <a:ea typeface="幼圆" panose="02010509060101010101" pitchFamily="49" charset="-122"/>
              </a:rPr>
              <a:t>V</a:t>
            </a:r>
            <a:r>
              <a:rPr lang="en-US" altLang="zh-CN" sz="2800" b="1" baseline="-25000" dirty="0">
                <a:solidFill>
                  <a:schemeClr val="bg1"/>
                </a:solidFill>
                <a:latin typeface="Times New Roman" panose="02020603050405020304" pitchFamily="18" charset="0"/>
                <a:ea typeface="幼圆" panose="02010509060101010101" pitchFamily="49" charset="-122"/>
              </a:rPr>
              <a:t>E</a:t>
            </a:r>
            <a:endParaRPr lang="en-US" altLang="zh-CN" sz="2400" b="1" baseline="-25000" dirty="0">
              <a:solidFill>
                <a:schemeClr val="bg1"/>
              </a:solidFill>
              <a:latin typeface="Times New Roman" panose="02020603050405020304" pitchFamily="18" charset="0"/>
              <a:ea typeface="幼圆" panose="02010509060101010101" pitchFamily="49" charset="-122"/>
            </a:endParaRPr>
          </a:p>
        </p:txBody>
      </p:sp>
      <p:sp>
        <p:nvSpPr>
          <p:cNvPr id="8212" name="Text Box 20"/>
          <p:cNvSpPr txBox="1"/>
          <p:nvPr/>
        </p:nvSpPr>
        <p:spPr>
          <a:xfrm>
            <a:off x="2913063" y="1935163"/>
            <a:ext cx="6858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R</a:t>
            </a:r>
            <a:r>
              <a:rPr lang="en-US" altLang="zh-CN" sz="2400" b="1" baseline="-25000" dirty="0">
                <a:solidFill>
                  <a:schemeClr val="bg1"/>
                </a:solidFill>
                <a:latin typeface="Times New Roman" panose="02020603050405020304" pitchFamily="18" charset="0"/>
                <a:ea typeface="宋体" panose="02010600030101010101" pitchFamily="2" charset="-122"/>
              </a:rPr>
              <a:t>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8213" name="Line 21"/>
          <p:cNvSpPr/>
          <p:nvPr/>
        </p:nvSpPr>
        <p:spPr>
          <a:xfrm>
            <a:off x="684213" y="2528888"/>
            <a:ext cx="533400" cy="0"/>
          </a:xfrm>
          <a:prstGeom prst="line">
            <a:avLst/>
          </a:prstGeom>
          <a:ln w="28575" cap="flat" cmpd="sng">
            <a:solidFill>
              <a:srgbClr val="DDDDDD"/>
            </a:solidFill>
            <a:prstDash val="solid"/>
            <a:round/>
            <a:headEnd type="none" w="med" len="med"/>
            <a:tailEnd type="triangle" w="med" len="lg"/>
          </a:ln>
        </p:spPr>
      </p:sp>
      <p:sp>
        <p:nvSpPr>
          <p:cNvPr id="33813" name="Line 22"/>
          <p:cNvSpPr/>
          <p:nvPr/>
        </p:nvSpPr>
        <p:spPr>
          <a:xfrm>
            <a:off x="1695450" y="2332038"/>
            <a:ext cx="0" cy="609600"/>
          </a:xfrm>
          <a:prstGeom prst="line">
            <a:avLst/>
          </a:prstGeom>
          <a:ln w="28575" cap="flat" cmpd="sng">
            <a:solidFill>
              <a:srgbClr val="FFCC99"/>
            </a:solidFill>
            <a:prstDash val="solid"/>
            <a:round/>
            <a:headEnd type="none" w="med" len="med"/>
            <a:tailEnd type="none" w="med" len="med"/>
          </a:ln>
        </p:spPr>
      </p:sp>
      <p:sp>
        <p:nvSpPr>
          <p:cNvPr id="33814" name="Line 23"/>
          <p:cNvSpPr/>
          <p:nvPr/>
        </p:nvSpPr>
        <p:spPr>
          <a:xfrm flipV="1">
            <a:off x="1695450" y="2255838"/>
            <a:ext cx="304800" cy="304800"/>
          </a:xfrm>
          <a:prstGeom prst="line">
            <a:avLst/>
          </a:prstGeom>
          <a:ln w="38100" cap="flat" cmpd="sng">
            <a:solidFill>
              <a:srgbClr val="FFCC99"/>
            </a:solidFill>
            <a:prstDash val="solid"/>
            <a:round/>
            <a:headEnd type="none" w="med" len="med"/>
            <a:tailEnd type="none" w="med" len="med"/>
          </a:ln>
        </p:spPr>
      </p:sp>
      <p:sp>
        <p:nvSpPr>
          <p:cNvPr id="33815" name="Line 24"/>
          <p:cNvSpPr/>
          <p:nvPr/>
        </p:nvSpPr>
        <p:spPr>
          <a:xfrm>
            <a:off x="1692275" y="2708275"/>
            <a:ext cx="431800" cy="288925"/>
          </a:xfrm>
          <a:prstGeom prst="line">
            <a:avLst/>
          </a:prstGeom>
          <a:ln w="38100" cap="flat" cmpd="sng">
            <a:solidFill>
              <a:srgbClr val="FFCC99"/>
            </a:solidFill>
            <a:prstDash val="solid"/>
            <a:round/>
            <a:headEnd type="none" w="med" len="med"/>
            <a:tailEnd type="stealth" w="med" len="lg"/>
          </a:ln>
        </p:spPr>
      </p:sp>
      <p:sp>
        <p:nvSpPr>
          <p:cNvPr id="33816" name="Line 25"/>
          <p:cNvSpPr/>
          <p:nvPr/>
        </p:nvSpPr>
        <p:spPr>
          <a:xfrm>
            <a:off x="2000250" y="1341438"/>
            <a:ext cx="0" cy="914400"/>
          </a:xfrm>
          <a:prstGeom prst="line">
            <a:avLst/>
          </a:prstGeom>
          <a:ln w="38100" cap="flat" cmpd="sng">
            <a:solidFill>
              <a:srgbClr val="FFCC99"/>
            </a:solidFill>
            <a:prstDash val="solid"/>
            <a:round/>
            <a:headEnd type="none" w="med" len="med"/>
            <a:tailEnd type="none" w="med" len="med"/>
          </a:ln>
        </p:spPr>
      </p:sp>
      <p:sp>
        <p:nvSpPr>
          <p:cNvPr id="33817" name="Line 26"/>
          <p:cNvSpPr/>
          <p:nvPr/>
        </p:nvSpPr>
        <p:spPr>
          <a:xfrm>
            <a:off x="2076450" y="2941638"/>
            <a:ext cx="0" cy="2514600"/>
          </a:xfrm>
          <a:prstGeom prst="line">
            <a:avLst/>
          </a:prstGeom>
          <a:ln w="38100" cap="flat" cmpd="sng">
            <a:solidFill>
              <a:srgbClr val="FFCC99"/>
            </a:solidFill>
            <a:prstDash val="solid"/>
            <a:round/>
            <a:headEnd type="none" w="med" len="med"/>
            <a:tailEnd type="none" w="med" len="med"/>
          </a:ln>
        </p:spPr>
      </p:sp>
      <p:sp>
        <p:nvSpPr>
          <p:cNvPr id="33818" name="Line 27"/>
          <p:cNvSpPr/>
          <p:nvPr/>
        </p:nvSpPr>
        <p:spPr>
          <a:xfrm>
            <a:off x="552450" y="2636838"/>
            <a:ext cx="1143000" cy="0"/>
          </a:xfrm>
          <a:prstGeom prst="line">
            <a:avLst/>
          </a:prstGeom>
          <a:ln w="38100" cap="flat" cmpd="sng">
            <a:solidFill>
              <a:srgbClr val="FFCC99"/>
            </a:solidFill>
            <a:prstDash val="solid"/>
            <a:round/>
            <a:headEnd type="none" w="med" len="med"/>
            <a:tailEnd type="none" w="med" len="med"/>
          </a:ln>
        </p:spPr>
      </p:sp>
      <p:sp>
        <p:nvSpPr>
          <p:cNvPr id="33819" name="Line 28"/>
          <p:cNvSpPr/>
          <p:nvPr/>
        </p:nvSpPr>
        <p:spPr>
          <a:xfrm>
            <a:off x="552450" y="2636838"/>
            <a:ext cx="0" cy="1524000"/>
          </a:xfrm>
          <a:prstGeom prst="line">
            <a:avLst/>
          </a:prstGeom>
          <a:ln w="38100" cap="flat" cmpd="sng">
            <a:solidFill>
              <a:srgbClr val="FFCC99"/>
            </a:solidFill>
            <a:prstDash val="solid"/>
            <a:round/>
            <a:headEnd type="none" w="med" len="med"/>
            <a:tailEnd type="none" w="med" len="med"/>
          </a:ln>
        </p:spPr>
      </p:sp>
      <p:sp>
        <p:nvSpPr>
          <p:cNvPr id="33820" name="Line 29"/>
          <p:cNvSpPr/>
          <p:nvPr/>
        </p:nvSpPr>
        <p:spPr>
          <a:xfrm>
            <a:off x="323850" y="4160838"/>
            <a:ext cx="457200" cy="0"/>
          </a:xfrm>
          <a:prstGeom prst="line">
            <a:avLst/>
          </a:prstGeom>
          <a:ln w="28575" cap="flat" cmpd="sng">
            <a:solidFill>
              <a:srgbClr val="FFCC99"/>
            </a:solidFill>
            <a:prstDash val="solid"/>
            <a:round/>
            <a:headEnd type="none" w="med" len="med"/>
            <a:tailEnd type="none" w="med" len="med"/>
          </a:ln>
        </p:spPr>
      </p:sp>
      <p:sp>
        <p:nvSpPr>
          <p:cNvPr id="33821" name="Line 30"/>
          <p:cNvSpPr/>
          <p:nvPr/>
        </p:nvSpPr>
        <p:spPr>
          <a:xfrm flipV="1">
            <a:off x="476250" y="4237038"/>
            <a:ext cx="228600" cy="0"/>
          </a:xfrm>
          <a:prstGeom prst="line">
            <a:avLst/>
          </a:prstGeom>
          <a:ln w="28575" cap="flat" cmpd="sng">
            <a:solidFill>
              <a:srgbClr val="FFCC99"/>
            </a:solidFill>
            <a:prstDash val="solid"/>
            <a:round/>
            <a:headEnd type="none" w="med" len="med"/>
            <a:tailEnd type="none" w="med" len="med"/>
          </a:ln>
        </p:spPr>
      </p:sp>
      <p:sp>
        <p:nvSpPr>
          <p:cNvPr id="33822" name="Line 31"/>
          <p:cNvSpPr/>
          <p:nvPr/>
        </p:nvSpPr>
        <p:spPr>
          <a:xfrm>
            <a:off x="552450" y="4237038"/>
            <a:ext cx="0" cy="685800"/>
          </a:xfrm>
          <a:prstGeom prst="line">
            <a:avLst/>
          </a:prstGeom>
          <a:ln w="38100" cap="flat" cmpd="sng">
            <a:solidFill>
              <a:srgbClr val="FFCC99"/>
            </a:solidFill>
            <a:prstDash val="solid"/>
            <a:round/>
            <a:headEnd type="none" w="med" len="med"/>
            <a:tailEnd type="none" w="med" len="med"/>
          </a:ln>
        </p:spPr>
      </p:sp>
      <p:sp>
        <p:nvSpPr>
          <p:cNvPr id="33823" name="Line 32"/>
          <p:cNvSpPr/>
          <p:nvPr/>
        </p:nvSpPr>
        <p:spPr>
          <a:xfrm>
            <a:off x="1924050" y="5456238"/>
            <a:ext cx="304800" cy="0"/>
          </a:xfrm>
          <a:prstGeom prst="line">
            <a:avLst/>
          </a:prstGeom>
          <a:ln w="28575" cap="flat" cmpd="sng">
            <a:solidFill>
              <a:srgbClr val="FFCC99"/>
            </a:solidFill>
            <a:prstDash val="solid"/>
            <a:round/>
            <a:headEnd type="none" w="med" len="med"/>
            <a:tailEnd type="none" w="med" len="med"/>
          </a:ln>
        </p:spPr>
      </p:sp>
      <p:sp>
        <p:nvSpPr>
          <p:cNvPr id="33824" name="Line 33"/>
          <p:cNvSpPr/>
          <p:nvPr/>
        </p:nvSpPr>
        <p:spPr>
          <a:xfrm>
            <a:off x="552450" y="4922838"/>
            <a:ext cx="3200400" cy="0"/>
          </a:xfrm>
          <a:prstGeom prst="line">
            <a:avLst/>
          </a:prstGeom>
          <a:ln w="38100" cap="flat" cmpd="sng">
            <a:solidFill>
              <a:srgbClr val="FFCC99"/>
            </a:solidFill>
            <a:prstDash val="solid"/>
            <a:round/>
            <a:headEnd type="none" w="med" len="med"/>
            <a:tailEnd type="none" w="med" len="med"/>
          </a:ln>
        </p:spPr>
      </p:sp>
      <p:sp>
        <p:nvSpPr>
          <p:cNvPr id="33825" name="Line 34"/>
          <p:cNvSpPr/>
          <p:nvPr/>
        </p:nvSpPr>
        <p:spPr>
          <a:xfrm>
            <a:off x="2000250" y="1341438"/>
            <a:ext cx="1752600" cy="0"/>
          </a:xfrm>
          <a:prstGeom prst="line">
            <a:avLst/>
          </a:prstGeom>
          <a:ln w="38100" cap="flat" cmpd="sng">
            <a:solidFill>
              <a:srgbClr val="FFCC99"/>
            </a:solidFill>
            <a:prstDash val="solid"/>
            <a:round/>
            <a:headEnd type="none" w="med" len="med"/>
            <a:tailEnd type="none" w="med" len="med"/>
          </a:ln>
        </p:spPr>
      </p:sp>
      <p:sp>
        <p:nvSpPr>
          <p:cNvPr id="33826" name="Line 35"/>
          <p:cNvSpPr/>
          <p:nvPr/>
        </p:nvSpPr>
        <p:spPr>
          <a:xfrm>
            <a:off x="3752850" y="1341438"/>
            <a:ext cx="0" cy="1524000"/>
          </a:xfrm>
          <a:prstGeom prst="line">
            <a:avLst/>
          </a:prstGeom>
          <a:ln w="38100" cap="flat" cmpd="sng">
            <a:solidFill>
              <a:srgbClr val="FFCC99"/>
            </a:solidFill>
            <a:prstDash val="solid"/>
            <a:round/>
            <a:headEnd type="none" w="med" len="med"/>
            <a:tailEnd type="none" w="med" len="med"/>
          </a:ln>
        </p:spPr>
      </p:sp>
      <p:sp>
        <p:nvSpPr>
          <p:cNvPr id="33827" name="Line 36"/>
          <p:cNvSpPr/>
          <p:nvPr/>
        </p:nvSpPr>
        <p:spPr>
          <a:xfrm>
            <a:off x="3752850" y="3094038"/>
            <a:ext cx="0" cy="1828800"/>
          </a:xfrm>
          <a:prstGeom prst="line">
            <a:avLst/>
          </a:prstGeom>
          <a:ln w="38100" cap="flat" cmpd="sng">
            <a:solidFill>
              <a:srgbClr val="FFCC99"/>
            </a:solidFill>
            <a:prstDash val="solid"/>
            <a:round/>
            <a:headEnd type="none" w="med" len="med"/>
            <a:tailEnd type="none" w="med" len="med"/>
          </a:ln>
        </p:spPr>
      </p:sp>
      <p:sp>
        <p:nvSpPr>
          <p:cNvPr id="33828" name="Line 37"/>
          <p:cNvSpPr/>
          <p:nvPr/>
        </p:nvSpPr>
        <p:spPr>
          <a:xfrm>
            <a:off x="3448050" y="2865438"/>
            <a:ext cx="609600" cy="0"/>
          </a:xfrm>
          <a:prstGeom prst="line">
            <a:avLst/>
          </a:prstGeom>
          <a:ln w="28575" cap="flat" cmpd="sng">
            <a:solidFill>
              <a:srgbClr val="FFCC99"/>
            </a:solidFill>
            <a:prstDash val="solid"/>
            <a:round/>
            <a:headEnd type="none" w="med" len="med"/>
            <a:tailEnd type="none" w="med" len="med"/>
          </a:ln>
        </p:spPr>
      </p:sp>
      <p:sp>
        <p:nvSpPr>
          <p:cNvPr id="33829" name="Line 38"/>
          <p:cNvSpPr/>
          <p:nvPr/>
        </p:nvSpPr>
        <p:spPr>
          <a:xfrm>
            <a:off x="3524250" y="2941638"/>
            <a:ext cx="381000" cy="0"/>
          </a:xfrm>
          <a:prstGeom prst="line">
            <a:avLst/>
          </a:prstGeom>
          <a:ln w="28575" cap="flat" cmpd="sng">
            <a:solidFill>
              <a:srgbClr val="FFCC99"/>
            </a:solidFill>
            <a:prstDash val="solid"/>
            <a:round/>
            <a:headEnd type="none" w="med" len="med"/>
            <a:tailEnd type="none" w="med" len="med"/>
          </a:ln>
        </p:spPr>
      </p:sp>
      <p:sp>
        <p:nvSpPr>
          <p:cNvPr id="33830" name="Line 39"/>
          <p:cNvSpPr/>
          <p:nvPr/>
        </p:nvSpPr>
        <p:spPr>
          <a:xfrm>
            <a:off x="3448050" y="3017838"/>
            <a:ext cx="609600" cy="0"/>
          </a:xfrm>
          <a:prstGeom prst="line">
            <a:avLst/>
          </a:prstGeom>
          <a:ln w="28575" cap="flat" cmpd="sng">
            <a:solidFill>
              <a:srgbClr val="FFCC99"/>
            </a:solidFill>
            <a:prstDash val="solid"/>
            <a:round/>
            <a:headEnd type="none" w="med" len="med"/>
            <a:tailEnd type="none" w="med" len="med"/>
          </a:ln>
        </p:spPr>
      </p:sp>
      <p:sp>
        <p:nvSpPr>
          <p:cNvPr id="33831" name="Line 40"/>
          <p:cNvSpPr/>
          <p:nvPr/>
        </p:nvSpPr>
        <p:spPr>
          <a:xfrm>
            <a:off x="3600450" y="3094038"/>
            <a:ext cx="304800" cy="0"/>
          </a:xfrm>
          <a:prstGeom prst="line">
            <a:avLst/>
          </a:prstGeom>
          <a:ln w="28575" cap="flat" cmpd="sng">
            <a:solidFill>
              <a:srgbClr val="FFCC99"/>
            </a:solidFill>
            <a:prstDash val="solid"/>
            <a:round/>
            <a:headEnd type="none" w="med" len="med"/>
            <a:tailEnd type="none" w="med" len="med"/>
          </a:ln>
        </p:spPr>
      </p:sp>
      <p:sp>
        <p:nvSpPr>
          <p:cNvPr id="33832" name="Oval 41"/>
          <p:cNvSpPr/>
          <p:nvPr/>
        </p:nvSpPr>
        <p:spPr>
          <a:xfrm>
            <a:off x="2000250" y="4846638"/>
            <a:ext cx="152400" cy="152400"/>
          </a:xfrm>
          <a:prstGeom prst="ellipse">
            <a:avLst/>
          </a:prstGeom>
          <a:solidFill>
            <a:srgbClr val="DDDDDD"/>
          </a:solidFill>
          <a:ln w="28575" cap="flat" cmpd="sng">
            <a:solidFill>
              <a:srgbClr val="FFCC99"/>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3833" name="Line 42"/>
          <p:cNvSpPr/>
          <p:nvPr/>
        </p:nvSpPr>
        <p:spPr>
          <a:xfrm>
            <a:off x="552450" y="2789238"/>
            <a:ext cx="381000" cy="0"/>
          </a:xfrm>
          <a:prstGeom prst="line">
            <a:avLst/>
          </a:prstGeom>
          <a:ln w="28575" cap="flat" cmpd="sng">
            <a:solidFill>
              <a:srgbClr val="FFCC99"/>
            </a:solidFill>
            <a:prstDash val="solid"/>
            <a:round/>
            <a:headEnd type="none" w="med" len="med"/>
            <a:tailEnd type="none" w="med" len="med"/>
          </a:ln>
        </p:spPr>
      </p:sp>
      <p:sp>
        <p:nvSpPr>
          <p:cNvPr id="33834" name="Line 43"/>
          <p:cNvSpPr/>
          <p:nvPr/>
        </p:nvSpPr>
        <p:spPr>
          <a:xfrm>
            <a:off x="933450" y="2789238"/>
            <a:ext cx="0" cy="304800"/>
          </a:xfrm>
          <a:prstGeom prst="line">
            <a:avLst/>
          </a:prstGeom>
          <a:ln w="28575" cap="flat" cmpd="sng">
            <a:solidFill>
              <a:srgbClr val="FFCC99"/>
            </a:solidFill>
            <a:prstDash val="solid"/>
            <a:round/>
            <a:headEnd type="none" w="med" len="med"/>
            <a:tailEnd type="none" w="med" len="med"/>
          </a:ln>
        </p:spPr>
      </p:sp>
      <p:sp>
        <p:nvSpPr>
          <p:cNvPr id="33835" name="Line 44"/>
          <p:cNvSpPr/>
          <p:nvPr/>
        </p:nvSpPr>
        <p:spPr>
          <a:xfrm flipH="1">
            <a:off x="628650" y="3094038"/>
            <a:ext cx="304800" cy="0"/>
          </a:xfrm>
          <a:prstGeom prst="line">
            <a:avLst/>
          </a:prstGeom>
          <a:ln w="28575" cap="flat" cmpd="sng">
            <a:solidFill>
              <a:srgbClr val="FFCC99"/>
            </a:solidFill>
            <a:prstDash val="solid"/>
            <a:round/>
            <a:headEnd type="none" w="med" len="med"/>
            <a:tailEnd type="triangle" w="med" len="med"/>
          </a:ln>
        </p:spPr>
      </p:sp>
      <p:sp>
        <p:nvSpPr>
          <p:cNvPr id="33836" name="Text Box 45"/>
          <p:cNvSpPr txBox="1"/>
          <p:nvPr/>
        </p:nvSpPr>
        <p:spPr>
          <a:xfrm>
            <a:off x="1314450" y="2179638"/>
            <a:ext cx="304800" cy="457200"/>
          </a:xfrm>
          <a:prstGeom prst="rect">
            <a:avLst/>
          </a:prstGeom>
          <a:noFill/>
          <a:ln w="9525">
            <a:noFill/>
          </a:ln>
        </p:spPr>
        <p:txBody>
          <a:bodyPr anchor="t">
            <a:spAutoFit/>
          </a:bodyPr>
          <a:p>
            <a:pPr>
              <a:spcBef>
                <a:spcPct val="50000"/>
              </a:spcBef>
            </a:pPr>
            <a:r>
              <a:rPr lang="en-US" altLang="zh-CN" sz="2400" b="1" dirty="0">
                <a:solidFill>
                  <a:srgbClr val="FFFF99"/>
                </a:solidFill>
                <a:latin typeface="Times New Roman" panose="02020603050405020304" pitchFamily="18" charset="0"/>
                <a:ea typeface="宋体" panose="02010600030101010101" pitchFamily="2" charset="-122"/>
              </a:rPr>
              <a:t>B</a:t>
            </a:r>
            <a:endParaRPr lang="en-US" altLang="zh-CN" sz="2400" b="1" dirty="0">
              <a:solidFill>
                <a:srgbClr val="FFFF99"/>
              </a:solidFill>
              <a:latin typeface="Times New Roman" panose="02020603050405020304" pitchFamily="18" charset="0"/>
              <a:ea typeface="宋体" panose="02010600030101010101" pitchFamily="2" charset="-122"/>
            </a:endParaRPr>
          </a:p>
        </p:txBody>
      </p:sp>
      <p:sp>
        <p:nvSpPr>
          <p:cNvPr id="33837" name="Text Box 46"/>
          <p:cNvSpPr txBox="1"/>
          <p:nvPr/>
        </p:nvSpPr>
        <p:spPr>
          <a:xfrm>
            <a:off x="1924050" y="1874838"/>
            <a:ext cx="381000" cy="457200"/>
          </a:xfrm>
          <a:prstGeom prst="rect">
            <a:avLst/>
          </a:prstGeom>
          <a:noFill/>
          <a:ln w="9525">
            <a:noFill/>
          </a:ln>
        </p:spPr>
        <p:txBody>
          <a:bodyPr anchor="t">
            <a:spAutoFit/>
          </a:bodyPr>
          <a:p>
            <a:pPr>
              <a:spcBef>
                <a:spcPct val="50000"/>
              </a:spcBef>
            </a:pPr>
            <a:r>
              <a:rPr lang="en-US" altLang="zh-CN" sz="2400" b="1" dirty="0">
                <a:solidFill>
                  <a:srgbClr val="FFFF99"/>
                </a:solidFill>
                <a:latin typeface="Times New Roman" panose="02020603050405020304" pitchFamily="18" charset="0"/>
                <a:ea typeface="宋体" panose="02010600030101010101" pitchFamily="2" charset="-122"/>
              </a:rPr>
              <a:t>C</a:t>
            </a:r>
            <a:endParaRPr lang="en-US" altLang="zh-CN" sz="2400" b="1" dirty="0">
              <a:solidFill>
                <a:srgbClr val="FFFF99"/>
              </a:solidFill>
              <a:latin typeface="Times New Roman" panose="02020603050405020304" pitchFamily="18" charset="0"/>
              <a:ea typeface="宋体" panose="02010600030101010101" pitchFamily="2" charset="-122"/>
            </a:endParaRPr>
          </a:p>
        </p:txBody>
      </p:sp>
      <p:sp>
        <p:nvSpPr>
          <p:cNvPr id="33838" name="Text Box 47"/>
          <p:cNvSpPr txBox="1"/>
          <p:nvPr/>
        </p:nvSpPr>
        <p:spPr>
          <a:xfrm>
            <a:off x="2000250" y="2789238"/>
            <a:ext cx="457200" cy="457200"/>
          </a:xfrm>
          <a:prstGeom prst="rect">
            <a:avLst/>
          </a:prstGeom>
          <a:noFill/>
          <a:ln w="9525">
            <a:noFill/>
          </a:ln>
        </p:spPr>
        <p:txBody>
          <a:bodyPr anchor="t">
            <a:spAutoFit/>
          </a:bodyPr>
          <a:p>
            <a:pPr>
              <a:spcBef>
                <a:spcPct val="50000"/>
              </a:spcBef>
            </a:pPr>
            <a:r>
              <a:rPr lang="en-US" altLang="zh-CN" sz="2400" b="1" dirty="0">
                <a:solidFill>
                  <a:srgbClr val="FFFF99"/>
                </a:solidFill>
                <a:latin typeface="Times New Roman" panose="02020603050405020304" pitchFamily="18" charset="0"/>
                <a:ea typeface="宋体" panose="02010600030101010101" pitchFamily="2" charset="-122"/>
              </a:rPr>
              <a:t>E</a:t>
            </a:r>
            <a:endParaRPr lang="en-US" altLang="zh-CN" sz="2400" b="1" dirty="0">
              <a:solidFill>
                <a:srgbClr val="FFFF99"/>
              </a:solidFill>
              <a:latin typeface="Times New Roman" panose="02020603050405020304" pitchFamily="18" charset="0"/>
              <a:ea typeface="宋体" panose="02010600030101010101" pitchFamily="2" charset="-122"/>
            </a:endParaRPr>
          </a:p>
        </p:txBody>
      </p:sp>
      <p:sp>
        <p:nvSpPr>
          <p:cNvPr id="8240" name="Text Box 48"/>
          <p:cNvSpPr txBox="1"/>
          <p:nvPr/>
        </p:nvSpPr>
        <p:spPr>
          <a:xfrm>
            <a:off x="827088" y="5589588"/>
            <a:ext cx="3041650" cy="519112"/>
          </a:xfrm>
          <a:prstGeom prst="rect">
            <a:avLst/>
          </a:prstGeom>
          <a:noFill/>
          <a:ln w="9525">
            <a:noFill/>
          </a:ln>
          <a:effectLst>
            <a:outerShdw dist="35921" dir="2699999" algn="ctr" rotWithShape="0">
              <a:schemeClr val="bg2"/>
            </a:outerShdw>
          </a:effectLst>
        </p:spPr>
        <p:txBody>
          <a:bodyPr wrap="none" anchor="t">
            <a:spAutoFit/>
          </a:bodyPr>
          <a:p>
            <a:r>
              <a:rPr lang="zh-CN" altLang="en-US" sz="2800" b="1" dirty="0">
                <a:solidFill>
                  <a:schemeClr val="bg1"/>
                </a:solidFill>
                <a:latin typeface="Times New Roman" panose="02020603050405020304" pitchFamily="18" charset="0"/>
                <a:ea typeface="隶书" panose="02010509060101010101" pitchFamily="49" charset="-122"/>
              </a:rPr>
              <a:t>共发射极放大电路</a:t>
            </a:r>
            <a:endParaRPr lang="zh-CN" altLang="en-US" sz="2800" dirty="0">
              <a:solidFill>
                <a:schemeClr val="bg1"/>
              </a:solidFill>
              <a:latin typeface="Times New Roman" panose="02020603050405020304" pitchFamily="18" charset="0"/>
              <a:ea typeface="隶书" panose="02010509060101010101" pitchFamily="49" charset="-122"/>
            </a:endParaRPr>
          </a:p>
        </p:txBody>
      </p:sp>
      <p:sp>
        <p:nvSpPr>
          <p:cNvPr id="8241" name="Rectangle 49"/>
          <p:cNvSpPr/>
          <p:nvPr/>
        </p:nvSpPr>
        <p:spPr>
          <a:xfrm>
            <a:off x="4191000" y="3124200"/>
            <a:ext cx="2209800" cy="2743200"/>
          </a:xfrm>
          <a:prstGeom prst="rect">
            <a:avLst/>
          </a:prstGeom>
          <a:noFill/>
          <a:ln w="57150" cap="rnd" cmpd="thinThick">
            <a:solidFill>
              <a:srgbClr val="FF9933"/>
            </a:solidFill>
            <a:prstDash val="sysDot"/>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3841" name="Text Box 51">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3842" name="Text Box 52">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grpSp>
        <p:nvGrpSpPr>
          <p:cNvPr id="8265" name="Group 73"/>
          <p:cNvGrpSpPr/>
          <p:nvPr/>
        </p:nvGrpSpPr>
        <p:grpSpPr>
          <a:xfrm>
            <a:off x="6553200" y="3124200"/>
            <a:ext cx="2362200" cy="2743200"/>
            <a:chOff x="4128" y="1968"/>
            <a:chExt cx="1488" cy="1728"/>
          </a:xfrm>
        </p:grpSpPr>
        <p:sp>
          <p:nvSpPr>
            <p:cNvPr id="33844" name="Text Box 55"/>
            <p:cNvSpPr txBox="1"/>
            <p:nvPr/>
          </p:nvSpPr>
          <p:spPr>
            <a:xfrm>
              <a:off x="4224" y="2016"/>
              <a:ext cx="1392" cy="1539"/>
            </a:xfrm>
            <a:prstGeom prst="rect">
              <a:avLst/>
            </a:prstGeom>
            <a:noFill/>
            <a:ln w="9525">
              <a:noFill/>
            </a:ln>
          </p:spPr>
          <p:txBody>
            <a:bodyPr anchor="t">
              <a:spAutoFit/>
            </a:bodyPr>
            <a:p>
              <a:pPr>
                <a:spcBef>
                  <a:spcPct val="50000"/>
                </a:spcBef>
              </a:pPr>
              <a:r>
                <a:rPr lang="en-US" altLang="zh-CN" sz="2800" b="1" dirty="0">
                  <a:solidFill>
                    <a:schemeClr val="bg1"/>
                  </a:solidFill>
                  <a:latin typeface="Times New Roman" panose="02020603050405020304" pitchFamily="18" charset="0"/>
                  <a:ea typeface="幼圆" panose="02010509060101010101" pitchFamily="49" charset="-122"/>
                </a:rPr>
                <a:t>PNP</a:t>
              </a:r>
              <a:r>
                <a:rPr lang="en-US" altLang="zh-CN" sz="2800" b="1" dirty="0">
                  <a:solidFill>
                    <a:schemeClr val="bg1"/>
                  </a:solidFill>
                  <a:latin typeface="幼圆" panose="02010509060101010101" pitchFamily="49" charset="-122"/>
                  <a:ea typeface="幼圆" panose="02010509060101010101" pitchFamily="49" charset="-122"/>
                </a:rPr>
                <a:t> </a:t>
              </a:r>
              <a:r>
                <a:rPr lang="zh-CN" altLang="en-US" sz="2800" b="1" dirty="0">
                  <a:solidFill>
                    <a:schemeClr val="bg1"/>
                  </a:solidFill>
                  <a:latin typeface="幼圆" panose="02010509060101010101" pitchFamily="49" charset="-122"/>
                  <a:ea typeface="幼圆" panose="02010509060101010101" pitchFamily="49" charset="-122"/>
                </a:rPr>
                <a:t>管：</a:t>
              </a:r>
              <a:endParaRPr lang="zh-CN" altLang="en-US" sz="2800" b="1" dirty="0">
                <a:solidFill>
                  <a:schemeClr val="bg1"/>
                </a:solidFill>
                <a:latin typeface="幼圆" panose="02010509060101010101" pitchFamily="49" charset="-122"/>
                <a:ea typeface="幼圆" panose="02010509060101010101" pitchFamily="49" charset="-122"/>
              </a:endParaRPr>
            </a:p>
            <a:p>
              <a:pPr>
                <a:spcBef>
                  <a:spcPct val="50000"/>
                </a:spcBef>
              </a:pPr>
              <a:r>
                <a:rPr lang="zh-CN" altLang="en-US" sz="2800" b="1" dirty="0">
                  <a:solidFill>
                    <a:schemeClr val="bg1"/>
                  </a:solidFill>
                  <a:latin typeface="幼圆" panose="02010509060101010101" pitchFamily="49" charset="-122"/>
                  <a:ea typeface="幼圆" panose="02010509060101010101" pitchFamily="49" charset="-122"/>
                </a:rPr>
                <a:t>     </a:t>
              </a:r>
              <a:r>
                <a:rPr lang="en-US" altLang="zh-CN" sz="2800" b="1" i="1" dirty="0">
                  <a:solidFill>
                    <a:schemeClr val="bg1"/>
                  </a:solidFill>
                  <a:latin typeface="Times New Roman" panose="02020603050405020304" pitchFamily="18" charset="0"/>
                  <a:ea typeface="幼圆" panose="02010509060101010101" pitchFamily="49" charset="-122"/>
                </a:rPr>
                <a:t>U</a:t>
              </a:r>
              <a:r>
                <a:rPr lang="en-US" altLang="zh-CN" sz="2800" b="1" baseline="-25000" dirty="0">
                  <a:solidFill>
                    <a:schemeClr val="bg1"/>
                  </a:solidFill>
                  <a:latin typeface="Times New Roman" panose="02020603050405020304" pitchFamily="18" charset="0"/>
                  <a:ea typeface="幼圆" panose="02010509060101010101" pitchFamily="49" charset="-122"/>
                </a:rPr>
                <a:t>BE</a:t>
              </a:r>
              <a:r>
                <a:rPr lang="en-US" altLang="zh-CN" sz="2800" b="1" dirty="0">
                  <a:solidFill>
                    <a:schemeClr val="bg1"/>
                  </a:solidFill>
                  <a:latin typeface="Times New Roman" panose="02020603050405020304" pitchFamily="18" charset="0"/>
                  <a:ea typeface="幼圆" panose="02010509060101010101" pitchFamily="49" charset="-122"/>
                </a:rPr>
                <a:t>&lt;0</a:t>
              </a:r>
              <a:r>
                <a:rPr lang="en-US" altLang="zh-CN" sz="2800" b="1" dirty="0">
                  <a:solidFill>
                    <a:schemeClr val="bg1"/>
                  </a:solidFill>
                  <a:latin typeface="幼圆" panose="02010509060101010101" pitchFamily="49" charset="-122"/>
                  <a:ea typeface="幼圆" panose="02010509060101010101" pitchFamily="49" charset="-122"/>
                </a:rPr>
                <a:t>  </a:t>
              </a:r>
              <a:endParaRPr lang="en-US" altLang="zh-CN" sz="2800" b="1" dirty="0">
                <a:solidFill>
                  <a:schemeClr val="bg1"/>
                </a:solidFill>
                <a:latin typeface="幼圆" panose="02010509060101010101" pitchFamily="49" charset="-122"/>
                <a:ea typeface="幼圆" panose="02010509060101010101" pitchFamily="49" charset="-122"/>
              </a:endParaRPr>
            </a:p>
            <a:p>
              <a:pPr>
                <a:spcBef>
                  <a:spcPct val="50000"/>
                </a:spcBef>
              </a:pPr>
              <a:r>
                <a:rPr lang="en-US" altLang="zh-CN" sz="2800" b="1" dirty="0">
                  <a:solidFill>
                    <a:schemeClr val="bg1"/>
                  </a:solidFill>
                  <a:latin typeface="幼圆" panose="02010509060101010101" pitchFamily="49" charset="-122"/>
                  <a:ea typeface="幼圆" panose="02010509060101010101" pitchFamily="49" charset="-122"/>
                </a:rPr>
                <a:t>     </a:t>
              </a:r>
              <a:r>
                <a:rPr lang="en-US" altLang="zh-CN" sz="2800" b="1" i="1" dirty="0">
                  <a:solidFill>
                    <a:schemeClr val="bg1"/>
                  </a:solidFill>
                  <a:latin typeface="Times New Roman" panose="02020603050405020304" pitchFamily="18" charset="0"/>
                  <a:ea typeface="幼圆" panose="02010509060101010101" pitchFamily="49" charset="-122"/>
                </a:rPr>
                <a:t>U</a:t>
              </a:r>
              <a:r>
                <a:rPr lang="en-US" altLang="zh-CN" sz="2800" b="1" baseline="-25000" dirty="0">
                  <a:solidFill>
                    <a:schemeClr val="bg1"/>
                  </a:solidFill>
                  <a:latin typeface="Times New Roman" panose="02020603050405020304" pitchFamily="18" charset="0"/>
                  <a:ea typeface="幼圆" panose="02010509060101010101" pitchFamily="49" charset="-122"/>
                </a:rPr>
                <a:t>BC</a:t>
              </a:r>
              <a:r>
                <a:rPr lang="en-US" altLang="zh-CN" sz="2800" b="1" dirty="0">
                  <a:solidFill>
                    <a:schemeClr val="bg1"/>
                  </a:solidFill>
                  <a:latin typeface="Times New Roman" panose="02020603050405020304" pitchFamily="18" charset="0"/>
                  <a:ea typeface="幼圆" panose="02010509060101010101" pitchFamily="49" charset="-122"/>
                </a:rPr>
                <a:t>&gt;0</a:t>
              </a:r>
              <a:endParaRPr lang="en-US" altLang="zh-CN" sz="2800" b="1" dirty="0">
                <a:solidFill>
                  <a:schemeClr val="bg1"/>
                </a:solidFill>
                <a:latin typeface="Times New Roman" panose="02020603050405020304" pitchFamily="18" charset="0"/>
                <a:ea typeface="幼圆" panose="02010509060101010101" pitchFamily="49" charset="-122"/>
              </a:endParaRPr>
            </a:p>
            <a:p>
              <a:pPr>
                <a:spcBef>
                  <a:spcPct val="50000"/>
                </a:spcBef>
              </a:pPr>
              <a:r>
                <a:rPr lang="zh-CN" altLang="en-US" sz="2800" b="1" dirty="0">
                  <a:solidFill>
                    <a:schemeClr val="bg1"/>
                  </a:solidFill>
                  <a:latin typeface="幼圆" panose="02010509060101010101" pitchFamily="49" charset="-122"/>
                  <a:ea typeface="幼圆" panose="02010509060101010101" pitchFamily="49" charset="-122"/>
                </a:rPr>
                <a:t>即</a:t>
              </a:r>
              <a:r>
                <a:rPr lang="en-US" altLang="zh-CN" sz="2800" b="1" i="1" dirty="0">
                  <a:solidFill>
                    <a:schemeClr val="bg1"/>
                  </a:solidFill>
                  <a:latin typeface="幼圆" panose="02010509060101010101" pitchFamily="49" charset="-122"/>
                  <a:ea typeface="幼圆" panose="02010509060101010101" pitchFamily="49" charset="-122"/>
                </a:rPr>
                <a:t>V</a:t>
              </a:r>
              <a:r>
                <a:rPr lang="en-US" altLang="zh-CN" sz="2800" b="1" baseline="-25000" dirty="0">
                  <a:solidFill>
                    <a:schemeClr val="bg1"/>
                  </a:solidFill>
                  <a:latin typeface="Times New Roman" panose="02020603050405020304" pitchFamily="18" charset="0"/>
                  <a:ea typeface="幼圆" panose="02010509060101010101" pitchFamily="49" charset="-122"/>
                </a:rPr>
                <a:t>C</a:t>
              </a:r>
              <a:r>
                <a:rPr lang="en-US" altLang="zh-CN" sz="2800" b="1" dirty="0">
                  <a:solidFill>
                    <a:schemeClr val="bg1"/>
                  </a:solidFill>
                  <a:latin typeface="Times New Roman" panose="02020603050405020304" pitchFamily="18" charset="0"/>
                  <a:ea typeface="幼圆" panose="02010509060101010101" pitchFamily="49" charset="-122"/>
                </a:rPr>
                <a:t>&lt;</a:t>
              </a:r>
              <a:r>
                <a:rPr lang="en-US" altLang="zh-CN" sz="2800" b="1" i="1" dirty="0">
                  <a:solidFill>
                    <a:schemeClr val="bg1"/>
                  </a:solidFill>
                  <a:latin typeface="Times New Roman" panose="02020603050405020304" pitchFamily="18" charset="0"/>
                  <a:ea typeface="幼圆" panose="02010509060101010101" pitchFamily="49" charset="-122"/>
                </a:rPr>
                <a:t>V</a:t>
              </a:r>
              <a:r>
                <a:rPr lang="en-US" altLang="zh-CN" sz="2800" b="1" baseline="-25000" dirty="0">
                  <a:solidFill>
                    <a:schemeClr val="bg1"/>
                  </a:solidFill>
                  <a:latin typeface="Times New Roman" panose="02020603050405020304" pitchFamily="18" charset="0"/>
                  <a:ea typeface="幼圆" panose="02010509060101010101" pitchFamily="49" charset="-122"/>
                </a:rPr>
                <a:t>B</a:t>
              </a:r>
              <a:r>
                <a:rPr lang="en-US" altLang="zh-CN" sz="2800" b="1" dirty="0">
                  <a:solidFill>
                    <a:schemeClr val="bg1"/>
                  </a:solidFill>
                  <a:latin typeface="Times New Roman" panose="02020603050405020304" pitchFamily="18" charset="0"/>
                  <a:ea typeface="幼圆" panose="02010509060101010101" pitchFamily="49" charset="-122"/>
                </a:rPr>
                <a:t>&lt;</a:t>
              </a:r>
              <a:r>
                <a:rPr lang="en-US" altLang="zh-CN" sz="2800" b="1" i="1" dirty="0">
                  <a:solidFill>
                    <a:schemeClr val="bg1"/>
                  </a:solidFill>
                  <a:latin typeface="Times New Roman" panose="02020603050405020304" pitchFamily="18" charset="0"/>
                  <a:ea typeface="幼圆" panose="02010509060101010101" pitchFamily="49" charset="-122"/>
                </a:rPr>
                <a:t>V</a:t>
              </a:r>
              <a:r>
                <a:rPr lang="en-US" altLang="zh-CN" sz="2800" b="1" baseline="-25000" dirty="0">
                  <a:solidFill>
                    <a:schemeClr val="bg1"/>
                  </a:solidFill>
                  <a:latin typeface="Times New Roman" panose="02020603050405020304" pitchFamily="18" charset="0"/>
                  <a:ea typeface="幼圆" panose="02010509060101010101" pitchFamily="49" charset="-122"/>
                </a:rPr>
                <a:t>E</a:t>
              </a:r>
              <a:endParaRPr lang="en-US" altLang="zh-CN" sz="2800" baseline="-25000" dirty="0">
                <a:solidFill>
                  <a:schemeClr val="bg1"/>
                </a:solidFill>
                <a:latin typeface="Times New Roman" panose="02020603050405020304" pitchFamily="18" charset="0"/>
                <a:ea typeface="幼圆" panose="02010509060101010101" pitchFamily="49" charset="-122"/>
              </a:endParaRPr>
            </a:p>
          </p:txBody>
        </p:sp>
        <p:sp>
          <p:nvSpPr>
            <p:cNvPr id="33845" name="Rectangle 56"/>
            <p:cNvSpPr/>
            <p:nvPr/>
          </p:nvSpPr>
          <p:spPr>
            <a:xfrm>
              <a:off x="4224" y="1968"/>
              <a:ext cx="1392" cy="1728"/>
            </a:xfrm>
            <a:prstGeom prst="rect">
              <a:avLst/>
            </a:prstGeom>
            <a:noFill/>
            <a:ln w="57150" cap="rnd" cmpd="thinThick">
              <a:solidFill>
                <a:srgbClr val="FF9933"/>
              </a:solidFill>
              <a:prstDash val="sysDot"/>
              <a:miter/>
              <a:headEnd type="none" w="med" len="med"/>
              <a:tailEnd type="none" w="med" len="med"/>
            </a:ln>
          </p:spPr>
          <p:txBody>
            <a:bodyPr wrap="none" anchor="ctr"/>
            <a:p>
              <a:pPr algn="ctr"/>
              <a:endParaRPr lang="zh-CN" altLang="zh-CN" sz="2400" dirty="0">
                <a:solidFill>
                  <a:srgbClr val="FF9933"/>
                </a:solidFill>
                <a:latin typeface="Times New Roman" panose="02020603050405020304" pitchFamily="18" charset="0"/>
                <a:ea typeface="幼圆" panose="02010509060101010101" pitchFamily="49" charset="-122"/>
              </a:endParaRPr>
            </a:p>
          </p:txBody>
        </p:sp>
        <p:grpSp>
          <p:nvGrpSpPr>
            <p:cNvPr id="33846" name="Group 72"/>
            <p:cNvGrpSpPr/>
            <p:nvPr/>
          </p:nvGrpSpPr>
          <p:grpSpPr>
            <a:xfrm>
              <a:off x="4128" y="2478"/>
              <a:ext cx="672" cy="697"/>
              <a:chOff x="4128" y="2478"/>
              <a:chExt cx="672" cy="697"/>
            </a:xfrm>
          </p:grpSpPr>
          <p:sp>
            <p:nvSpPr>
              <p:cNvPr id="33847" name="Text Box 58"/>
              <p:cNvSpPr txBox="1"/>
              <p:nvPr/>
            </p:nvSpPr>
            <p:spPr>
              <a:xfrm>
                <a:off x="4320" y="2651"/>
                <a:ext cx="116" cy="365"/>
              </a:xfrm>
              <a:prstGeom prst="rect">
                <a:avLst/>
              </a:prstGeom>
              <a:noFill/>
              <a:ln w="34925">
                <a:noFill/>
              </a:ln>
            </p:spPr>
            <p:txBody>
              <a:bodyPr wrap="none" anchor="t">
                <a:spAutoFit/>
              </a:bodyPr>
              <a:p>
                <a:pPr eaLnBrk="0" hangingPunct="0"/>
                <a:endParaRPr lang="zh-CN" altLang="zh-CN" sz="3200" b="1" dirty="0">
                  <a:solidFill>
                    <a:srgbClr val="000000"/>
                  </a:solidFill>
                  <a:latin typeface="隶书" panose="02010509060101010101" pitchFamily="49" charset="-122"/>
                  <a:ea typeface="隶书" panose="02010509060101010101" pitchFamily="49" charset="-122"/>
                </a:endParaRPr>
              </a:p>
            </p:txBody>
          </p:sp>
          <p:sp>
            <p:nvSpPr>
              <p:cNvPr id="33848" name="Line 59"/>
              <p:cNvSpPr/>
              <p:nvPr/>
            </p:nvSpPr>
            <p:spPr>
              <a:xfrm>
                <a:off x="4389" y="2717"/>
                <a:ext cx="0" cy="227"/>
              </a:xfrm>
              <a:prstGeom prst="line">
                <a:avLst/>
              </a:prstGeom>
              <a:ln w="34925" cap="flat" cmpd="sng">
                <a:solidFill>
                  <a:srgbClr val="FFFF00"/>
                </a:solidFill>
                <a:prstDash val="solid"/>
                <a:round/>
                <a:headEnd type="none" w="med" len="med"/>
                <a:tailEnd type="none" w="med" len="med"/>
              </a:ln>
            </p:spPr>
          </p:sp>
          <p:sp>
            <p:nvSpPr>
              <p:cNvPr id="33849" name="Line 60"/>
              <p:cNvSpPr/>
              <p:nvPr/>
            </p:nvSpPr>
            <p:spPr>
              <a:xfrm flipH="1" flipV="1">
                <a:off x="4389" y="2853"/>
                <a:ext cx="181" cy="91"/>
              </a:xfrm>
              <a:prstGeom prst="line">
                <a:avLst/>
              </a:prstGeom>
              <a:ln w="34925" cap="flat" cmpd="sng">
                <a:solidFill>
                  <a:srgbClr val="FFFF00"/>
                </a:solidFill>
                <a:prstDash val="solid"/>
                <a:round/>
                <a:headEnd type="none" w="med" len="med"/>
                <a:tailEnd type="triangle" w="med" len="med"/>
              </a:ln>
            </p:spPr>
          </p:sp>
          <p:sp>
            <p:nvSpPr>
              <p:cNvPr id="33850" name="Line 61"/>
              <p:cNvSpPr/>
              <p:nvPr/>
            </p:nvSpPr>
            <p:spPr>
              <a:xfrm flipV="1">
                <a:off x="4389" y="2717"/>
                <a:ext cx="181" cy="91"/>
              </a:xfrm>
              <a:prstGeom prst="line">
                <a:avLst/>
              </a:prstGeom>
              <a:ln w="34925" cap="flat" cmpd="sng">
                <a:solidFill>
                  <a:srgbClr val="FFFF00"/>
                </a:solidFill>
                <a:prstDash val="solid"/>
                <a:round/>
                <a:headEnd type="none" w="med" len="med"/>
                <a:tailEnd type="none" w="med" len="med"/>
              </a:ln>
            </p:spPr>
          </p:sp>
          <p:sp>
            <p:nvSpPr>
              <p:cNvPr id="33851" name="Line 62"/>
              <p:cNvSpPr/>
              <p:nvPr/>
            </p:nvSpPr>
            <p:spPr>
              <a:xfrm flipV="1">
                <a:off x="4570" y="2536"/>
                <a:ext cx="0" cy="181"/>
              </a:xfrm>
              <a:prstGeom prst="line">
                <a:avLst/>
              </a:prstGeom>
              <a:ln w="34925" cap="flat" cmpd="sng">
                <a:solidFill>
                  <a:srgbClr val="FFFF00"/>
                </a:solidFill>
                <a:prstDash val="solid"/>
                <a:round/>
                <a:headEnd type="none" w="med" len="med"/>
                <a:tailEnd type="none" w="med" len="med"/>
              </a:ln>
            </p:spPr>
          </p:sp>
          <p:sp>
            <p:nvSpPr>
              <p:cNvPr id="33852" name="Line 63"/>
              <p:cNvSpPr/>
              <p:nvPr/>
            </p:nvSpPr>
            <p:spPr>
              <a:xfrm>
                <a:off x="4570" y="2944"/>
                <a:ext cx="0" cy="136"/>
              </a:xfrm>
              <a:prstGeom prst="line">
                <a:avLst/>
              </a:prstGeom>
              <a:ln w="34925" cap="flat" cmpd="sng">
                <a:solidFill>
                  <a:srgbClr val="FFFF00"/>
                </a:solidFill>
                <a:prstDash val="solid"/>
                <a:round/>
                <a:headEnd type="none" w="med" len="med"/>
                <a:tailEnd type="none" w="med" len="med"/>
              </a:ln>
            </p:spPr>
          </p:sp>
          <p:sp>
            <p:nvSpPr>
              <p:cNvPr id="33853" name="Line 64"/>
              <p:cNvSpPr/>
              <p:nvPr/>
            </p:nvSpPr>
            <p:spPr>
              <a:xfrm>
                <a:off x="4208" y="2853"/>
                <a:ext cx="181" cy="0"/>
              </a:xfrm>
              <a:prstGeom prst="line">
                <a:avLst/>
              </a:prstGeom>
              <a:ln w="34925" cap="flat" cmpd="sng">
                <a:solidFill>
                  <a:srgbClr val="FFFF00"/>
                </a:solidFill>
                <a:prstDash val="solid"/>
                <a:round/>
                <a:headEnd type="none" w="med" len="med"/>
                <a:tailEnd type="none" w="med" len="med"/>
              </a:ln>
            </p:spPr>
          </p:sp>
          <p:sp>
            <p:nvSpPr>
              <p:cNvPr id="33854" name="Text Box 65"/>
              <p:cNvSpPr txBox="1"/>
              <p:nvPr/>
            </p:nvSpPr>
            <p:spPr>
              <a:xfrm>
                <a:off x="4603" y="2478"/>
                <a:ext cx="197" cy="250"/>
              </a:xfrm>
              <a:prstGeom prst="rect">
                <a:avLst/>
              </a:prstGeom>
              <a:noFill/>
              <a:ln w="34925">
                <a:noFill/>
              </a:ln>
            </p:spPr>
            <p:txBody>
              <a:bodyPr wrap="none" anchor="t">
                <a:spAutoFit/>
              </a:bodyPr>
              <a:p>
                <a:pPr eaLnBrk="0" hangingPunct="0"/>
                <a:r>
                  <a:rPr lang="en-US" altLang="zh-CN" sz="2000" b="1" dirty="0">
                    <a:solidFill>
                      <a:schemeClr val="bg1"/>
                    </a:solidFill>
                    <a:latin typeface="隶书" panose="02010509060101010101" pitchFamily="49" charset="-122"/>
                    <a:ea typeface="隶书" panose="02010509060101010101" pitchFamily="49" charset="-122"/>
                  </a:rPr>
                  <a:t>C</a:t>
                </a:r>
                <a:endParaRPr lang="en-US" altLang="zh-CN" sz="2000" b="1" dirty="0">
                  <a:solidFill>
                    <a:schemeClr val="bg1"/>
                  </a:solidFill>
                  <a:latin typeface="隶书" panose="02010509060101010101" pitchFamily="49" charset="-122"/>
                  <a:ea typeface="隶书" panose="02010509060101010101" pitchFamily="49" charset="-122"/>
                </a:endParaRPr>
              </a:p>
            </p:txBody>
          </p:sp>
          <p:sp>
            <p:nvSpPr>
              <p:cNvPr id="33855" name="Text Box 66"/>
              <p:cNvSpPr txBox="1"/>
              <p:nvPr/>
            </p:nvSpPr>
            <p:spPr>
              <a:xfrm>
                <a:off x="4525" y="2944"/>
                <a:ext cx="189" cy="231"/>
              </a:xfrm>
              <a:prstGeom prst="rect">
                <a:avLst/>
              </a:prstGeom>
              <a:noFill/>
              <a:ln w="34925">
                <a:noFill/>
              </a:ln>
            </p:spPr>
            <p:txBody>
              <a:bodyPr wrap="none" anchor="t">
                <a:spAutoFit/>
              </a:bodyPr>
              <a:p>
                <a:pPr eaLnBrk="0" hangingPunct="0"/>
                <a:r>
                  <a:rPr lang="en-US" altLang="zh-CN" b="1" dirty="0">
                    <a:solidFill>
                      <a:schemeClr val="bg1"/>
                    </a:solidFill>
                    <a:latin typeface="隶书" panose="02010509060101010101" pitchFamily="49" charset="-122"/>
                    <a:ea typeface="隶书" panose="02010509060101010101" pitchFamily="49" charset="-122"/>
                  </a:rPr>
                  <a:t>E</a:t>
                </a:r>
                <a:endParaRPr lang="en-US" altLang="zh-CN" b="1" dirty="0">
                  <a:solidFill>
                    <a:schemeClr val="bg1"/>
                  </a:solidFill>
                  <a:latin typeface="隶书" panose="02010509060101010101" pitchFamily="49" charset="-122"/>
                  <a:ea typeface="隶书" panose="02010509060101010101" pitchFamily="49" charset="-122"/>
                </a:endParaRPr>
              </a:p>
            </p:txBody>
          </p:sp>
          <p:sp>
            <p:nvSpPr>
              <p:cNvPr id="33856" name="Text Box 67"/>
              <p:cNvSpPr txBox="1"/>
              <p:nvPr/>
            </p:nvSpPr>
            <p:spPr>
              <a:xfrm>
                <a:off x="4128" y="2592"/>
                <a:ext cx="189" cy="231"/>
              </a:xfrm>
              <a:prstGeom prst="rect">
                <a:avLst/>
              </a:prstGeom>
              <a:noFill/>
              <a:ln w="34925">
                <a:noFill/>
              </a:ln>
            </p:spPr>
            <p:txBody>
              <a:bodyPr wrap="none" anchor="t">
                <a:spAutoFit/>
              </a:bodyPr>
              <a:p>
                <a:pPr eaLnBrk="0" hangingPunct="0"/>
                <a:r>
                  <a:rPr lang="en-US" altLang="zh-CN" b="1" dirty="0">
                    <a:solidFill>
                      <a:schemeClr val="bg1"/>
                    </a:solidFill>
                    <a:latin typeface="隶书" panose="02010509060101010101" pitchFamily="49" charset="-122"/>
                    <a:ea typeface="隶书" panose="02010509060101010101" pitchFamily="49" charset="-122"/>
                  </a:rPr>
                  <a:t>B</a:t>
                </a:r>
                <a:endParaRPr lang="en-US" altLang="zh-CN" b="1" dirty="0">
                  <a:solidFill>
                    <a:schemeClr val="bg1"/>
                  </a:solidFill>
                  <a:latin typeface="隶书" panose="02010509060101010101" pitchFamily="49" charset="-122"/>
                  <a:ea typeface="隶书" panose="02010509060101010101" pitchFamily="49" charset="-122"/>
                </a:endParaRPr>
              </a:p>
            </p:txBody>
          </p:sp>
        </p:grpSp>
      </p:grpSp>
      <p:sp>
        <p:nvSpPr>
          <p:cNvPr id="33857" name="Text Box 68"/>
          <p:cNvSpPr txBox="1"/>
          <p:nvPr/>
        </p:nvSpPr>
        <p:spPr>
          <a:xfrm>
            <a:off x="7667625" y="629443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3858" name="Rectangle 69"/>
          <p:cNvSpPr/>
          <p:nvPr/>
        </p:nvSpPr>
        <p:spPr>
          <a:xfrm>
            <a:off x="3635375" y="1916113"/>
            <a:ext cx="215900" cy="555625"/>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3859" name="Rectangle 70"/>
          <p:cNvSpPr/>
          <p:nvPr/>
        </p:nvSpPr>
        <p:spPr>
          <a:xfrm>
            <a:off x="431800" y="2924175"/>
            <a:ext cx="215900" cy="431800"/>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3860" name="Rectangle 71"/>
          <p:cNvSpPr/>
          <p:nvPr/>
        </p:nvSpPr>
        <p:spPr>
          <a:xfrm>
            <a:off x="431800" y="3573463"/>
            <a:ext cx="215900" cy="431800"/>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207"/>
                                        </p:tgtEl>
                                        <p:attrNameLst>
                                          <p:attrName>style.visibility</p:attrName>
                                        </p:attrNameLst>
                                      </p:cBhvr>
                                      <p:to>
                                        <p:strVal val="visible"/>
                                      </p:to>
                                    </p:set>
                                    <p:animEffect transition="in" filter="checkerboard(across)">
                                      <p:cBhvr>
                                        <p:cTn id="7" dur="500"/>
                                        <p:tgtEl>
                                          <p:spTgt spid="820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8208"/>
                                        </p:tgtEl>
                                        <p:attrNameLst>
                                          <p:attrName>style.visibility</p:attrName>
                                        </p:attrNameLst>
                                      </p:cBhvr>
                                      <p:to>
                                        <p:strVal val="visible"/>
                                      </p:to>
                                    </p:set>
                                    <p:anim calcmode="lin" valueType="num">
                                      <p:cBhvr>
                                        <p:cTn id="12" dur="500" fill="hold"/>
                                        <p:tgtEl>
                                          <p:spTgt spid="8208"/>
                                        </p:tgtEl>
                                        <p:attrNameLst>
                                          <p:attrName>ppt_x</p:attrName>
                                        </p:attrNameLst>
                                      </p:cBhvr>
                                      <p:tavLst>
                                        <p:tav tm="0">
                                          <p:val>
                                            <p:strVal val="#ppt_x-#ppt_w/2"/>
                                          </p:val>
                                        </p:tav>
                                        <p:tav tm="100000">
                                          <p:val>
                                            <p:strVal val="#ppt_x"/>
                                          </p:val>
                                        </p:tav>
                                      </p:tavLst>
                                    </p:anim>
                                    <p:anim calcmode="lin" valueType="num">
                                      <p:cBhvr>
                                        <p:cTn id="13" dur="500" fill="hold"/>
                                        <p:tgtEl>
                                          <p:spTgt spid="8208"/>
                                        </p:tgtEl>
                                        <p:attrNameLst>
                                          <p:attrName>ppt_y</p:attrName>
                                        </p:attrNameLst>
                                      </p:cBhvr>
                                      <p:tavLst>
                                        <p:tav tm="0">
                                          <p:val>
                                            <p:strVal val="#ppt_y"/>
                                          </p:val>
                                        </p:tav>
                                        <p:tav tm="100000">
                                          <p:val>
                                            <p:strVal val="#ppt_y"/>
                                          </p:val>
                                        </p:tav>
                                      </p:tavLst>
                                    </p:anim>
                                    <p:anim calcmode="lin" valueType="num">
                                      <p:cBhvr>
                                        <p:cTn id="14" dur="500" fill="hold"/>
                                        <p:tgtEl>
                                          <p:spTgt spid="8208"/>
                                        </p:tgtEl>
                                        <p:attrNameLst>
                                          <p:attrName>ppt_w</p:attrName>
                                        </p:attrNameLst>
                                      </p:cBhvr>
                                      <p:tavLst>
                                        <p:tav tm="0">
                                          <p:val>
                                            <p:fltVal val="0.000000"/>
                                          </p:val>
                                        </p:tav>
                                        <p:tav tm="100000">
                                          <p:val>
                                            <p:strVal val="#ppt_w"/>
                                          </p:val>
                                        </p:tav>
                                      </p:tavLst>
                                    </p:anim>
                                    <p:anim calcmode="lin" valueType="num">
                                      <p:cBhvr>
                                        <p:cTn id="15" dur="500" fill="hold"/>
                                        <p:tgtEl>
                                          <p:spTgt spid="8208"/>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4" presetClass="entr" presetSubtype="16" fill="hold" grpId="0" nodeType="afterEffect">
                                  <p:stCondLst>
                                    <p:cond delay="0"/>
                                  </p:stCondLst>
                                  <p:childTnLst>
                                    <p:set>
                                      <p:cBhvr>
                                        <p:cTn id="18" dur="1" fill="hold">
                                          <p:stCondLst>
                                            <p:cond delay="0"/>
                                          </p:stCondLst>
                                        </p:cTn>
                                        <p:tgtEl>
                                          <p:spTgt spid="8198"/>
                                        </p:tgtEl>
                                        <p:attrNameLst>
                                          <p:attrName>style.visibility</p:attrName>
                                        </p:attrNameLst>
                                      </p:cBhvr>
                                      <p:to>
                                        <p:strVal val="visible"/>
                                      </p:to>
                                    </p:set>
                                    <p:animEffect transition="in" filter="box(in)">
                                      <p:cBhvr>
                                        <p:cTn id="19" dur="500"/>
                                        <p:tgtEl>
                                          <p:spTgt spid="8198"/>
                                        </p:tgtEl>
                                      </p:cBhvr>
                                    </p:animEffect>
                                  </p:childTnLst>
                                </p:cTn>
                              </p:par>
                            </p:childTnLst>
                          </p:cTn>
                        </p:par>
                        <p:par>
                          <p:cTn id="20" fill="hold">
                            <p:stCondLst>
                              <p:cond delay="1000"/>
                            </p:stCondLst>
                            <p:childTnLst>
                              <p:par>
                                <p:cTn id="21" presetID="9" presetClass="entr" presetSubtype="0" fill="hold" grpId="0" nodeType="afterEffect">
                                  <p:stCondLst>
                                    <p:cond delay="0"/>
                                  </p:stCondLst>
                                  <p:childTnLst>
                                    <p:set>
                                      <p:cBhvr>
                                        <p:cTn id="22" dur="1" fill="hold">
                                          <p:stCondLst>
                                            <p:cond delay="0"/>
                                          </p:stCondLst>
                                        </p:cTn>
                                        <p:tgtEl>
                                          <p:spTgt spid="8199"/>
                                        </p:tgtEl>
                                        <p:attrNameLst>
                                          <p:attrName>style.visibility</p:attrName>
                                        </p:attrNameLst>
                                      </p:cBhvr>
                                      <p:to>
                                        <p:strVal val="visible"/>
                                      </p:to>
                                    </p:set>
                                    <p:animEffect transition="in" filter="dissolve">
                                      <p:cBhvr>
                                        <p:cTn id="23" dur="500"/>
                                        <p:tgtEl>
                                          <p:spTgt spid="8199"/>
                                        </p:tgtEl>
                                      </p:cBhvr>
                                    </p:animEffect>
                                  </p:childTnLst>
                                </p:cTn>
                              </p:par>
                            </p:childTnLst>
                          </p:cTn>
                        </p:par>
                        <p:par>
                          <p:cTn id="24" fill="hold">
                            <p:stCondLst>
                              <p:cond delay="1500"/>
                            </p:stCondLst>
                            <p:childTnLst>
                              <p:par>
                                <p:cTn id="25" presetID="17" presetClass="entr" presetSubtype="8" fill="hold" nodeType="afterEffect">
                                  <p:stCondLst>
                                    <p:cond delay="0"/>
                                  </p:stCondLst>
                                  <p:childTnLst>
                                    <p:set>
                                      <p:cBhvr>
                                        <p:cTn id="26" dur="1" fill="hold">
                                          <p:stCondLst>
                                            <p:cond delay="0"/>
                                          </p:stCondLst>
                                        </p:cTn>
                                        <p:tgtEl>
                                          <p:spTgt spid="8213"/>
                                        </p:tgtEl>
                                        <p:attrNameLst>
                                          <p:attrName>style.visibility</p:attrName>
                                        </p:attrNameLst>
                                      </p:cBhvr>
                                      <p:to>
                                        <p:strVal val="visible"/>
                                      </p:to>
                                    </p:set>
                                    <p:anim calcmode="lin" valueType="num">
                                      <p:cBhvr>
                                        <p:cTn id="27" dur="500" fill="hold"/>
                                        <p:tgtEl>
                                          <p:spTgt spid="8213"/>
                                        </p:tgtEl>
                                        <p:attrNameLst>
                                          <p:attrName>ppt_x</p:attrName>
                                        </p:attrNameLst>
                                      </p:cBhvr>
                                      <p:tavLst>
                                        <p:tav tm="0">
                                          <p:val>
                                            <p:strVal val="#ppt_x-#ppt_w/2"/>
                                          </p:val>
                                        </p:tav>
                                        <p:tav tm="100000">
                                          <p:val>
                                            <p:strVal val="#ppt_x"/>
                                          </p:val>
                                        </p:tav>
                                      </p:tavLst>
                                    </p:anim>
                                    <p:anim calcmode="lin" valueType="num">
                                      <p:cBhvr>
                                        <p:cTn id="28" dur="500" fill="hold"/>
                                        <p:tgtEl>
                                          <p:spTgt spid="8213"/>
                                        </p:tgtEl>
                                        <p:attrNameLst>
                                          <p:attrName>ppt_y</p:attrName>
                                        </p:attrNameLst>
                                      </p:cBhvr>
                                      <p:tavLst>
                                        <p:tav tm="0">
                                          <p:val>
                                            <p:strVal val="#ppt_y"/>
                                          </p:val>
                                        </p:tav>
                                        <p:tav tm="100000">
                                          <p:val>
                                            <p:strVal val="#ppt_y"/>
                                          </p:val>
                                        </p:tav>
                                      </p:tavLst>
                                    </p:anim>
                                    <p:anim calcmode="lin" valueType="num">
                                      <p:cBhvr>
                                        <p:cTn id="29" dur="500" fill="hold"/>
                                        <p:tgtEl>
                                          <p:spTgt spid="8213"/>
                                        </p:tgtEl>
                                        <p:attrNameLst>
                                          <p:attrName>ppt_w</p:attrName>
                                        </p:attrNameLst>
                                      </p:cBhvr>
                                      <p:tavLst>
                                        <p:tav tm="0">
                                          <p:val>
                                            <p:fltVal val="0.000000"/>
                                          </p:val>
                                        </p:tav>
                                        <p:tav tm="100000">
                                          <p:val>
                                            <p:strVal val="#ppt_w"/>
                                          </p:val>
                                        </p:tav>
                                      </p:tavLst>
                                    </p:anim>
                                    <p:anim calcmode="lin" valueType="num">
                                      <p:cBhvr>
                                        <p:cTn id="30" dur="500" fill="hold"/>
                                        <p:tgtEl>
                                          <p:spTgt spid="8213"/>
                                        </p:tgtEl>
                                        <p:attrNameLst>
                                          <p:attrName>ppt_h</p:attrName>
                                        </p:attrNameLst>
                                      </p:cBhvr>
                                      <p:tavLst>
                                        <p:tav tm="0">
                                          <p:val>
                                            <p:strVal val="#ppt_h"/>
                                          </p:val>
                                        </p:tav>
                                        <p:tav tm="100000">
                                          <p:val>
                                            <p:strVal val="#ppt_h"/>
                                          </p:val>
                                        </p:tav>
                                      </p:tavLst>
                                    </p:anim>
                                  </p:childTnLst>
                                </p:cTn>
                              </p:par>
                            </p:childTnLst>
                          </p:cTn>
                        </p:par>
                        <p:par>
                          <p:cTn id="31" fill="hold">
                            <p:stCondLst>
                              <p:cond delay="2000"/>
                            </p:stCondLst>
                            <p:childTnLst>
                              <p:par>
                                <p:cTn id="32" presetID="9" presetClass="entr" presetSubtype="0" fill="hold" grpId="0" nodeType="afterEffect">
                                  <p:stCondLst>
                                    <p:cond delay="0"/>
                                  </p:stCondLst>
                                  <p:childTnLst>
                                    <p:set>
                                      <p:cBhvr>
                                        <p:cTn id="33" dur="1" fill="hold">
                                          <p:stCondLst>
                                            <p:cond delay="0"/>
                                          </p:stCondLst>
                                        </p:cTn>
                                        <p:tgtEl>
                                          <p:spTgt spid="8197"/>
                                        </p:tgtEl>
                                        <p:attrNameLst>
                                          <p:attrName>style.visibility</p:attrName>
                                        </p:attrNameLst>
                                      </p:cBhvr>
                                      <p:to>
                                        <p:strVal val="visible"/>
                                      </p:to>
                                    </p:set>
                                    <p:animEffect transition="in" filter="dissolve">
                                      <p:cBhvr>
                                        <p:cTn id="34" dur="500"/>
                                        <p:tgtEl>
                                          <p:spTgt spid="819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8209"/>
                                        </p:tgtEl>
                                        <p:attrNameLst>
                                          <p:attrName>style.visibility</p:attrName>
                                        </p:attrNameLst>
                                      </p:cBhvr>
                                      <p:to>
                                        <p:strVal val="visible"/>
                                      </p:to>
                                    </p:set>
                                    <p:animEffect transition="in" filter="dissolve">
                                      <p:cBhvr>
                                        <p:cTn id="39" dur="500"/>
                                        <p:tgtEl>
                                          <p:spTgt spid="8209"/>
                                        </p:tgtEl>
                                      </p:cBhvr>
                                    </p:animEffect>
                                  </p:childTnLst>
                                </p:cTn>
                              </p:par>
                            </p:childTnLst>
                          </p:cTn>
                        </p:par>
                        <p:par>
                          <p:cTn id="40" fill="hold">
                            <p:stCondLst>
                              <p:cond delay="500"/>
                            </p:stCondLst>
                            <p:childTnLst>
                              <p:par>
                                <p:cTn id="41" presetID="16" presetClass="entr" presetSubtype="42" fill="hold" grpId="0" nodeType="afterEffect">
                                  <p:stCondLst>
                                    <p:cond delay="0"/>
                                  </p:stCondLst>
                                  <p:childTnLst>
                                    <p:set>
                                      <p:cBhvr>
                                        <p:cTn id="42" dur="1" fill="hold">
                                          <p:stCondLst>
                                            <p:cond delay="0"/>
                                          </p:stCondLst>
                                        </p:cTn>
                                        <p:tgtEl>
                                          <p:spTgt spid="8210"/>
                                        </p:tgtEl>
                                        <p:attrNameLst>
                                          <p:attrName>style.visibility</p:attrName>
                                        </p:attrNameLst>
                                      </p:cBhvr>
                                      <p:to>
                                        <p:strVal val="visible"/>
                                      </p:to>
                                    </p:set>
                                    <p:animEffect transition="in" filter="barn(outHorizontal)">
                                      <p:cBhvr>
                                        <p:cTn id="43" dur="500"/>
                                        <p:tgtEl>
                                          <p:spTgt spid="8210"/>
                                        </p:tgtEl>
                                      </p:cBhvr>
                                    </p:animEffect>
                                  </p:childTnLst>
                                </p:cTn>
                              </p:par>
                            </p:childTnLst>
                          </p:cTn>
                        </p:par>
                        <p:par>
                          <p:cTn id="44" fill="hold">
                            <p:stCondLst>
                              <p:cond delay="1000"/>
                            </p:stCondLst>
                            <p:childTnLst>
                              <p:par>
                                <p:cTn id="45" presetID="9" presetClass="entr" presetSubtype="0" fill="hold" grpId="0" nodeType="afterEffect">
                                  <p:stCondLst>
                                    <p:cond delay="0"/>
                                  </p:stCondLst>
                                  <p:childTnLst>
                                    <p:set>
                                      <p:cBhvr>
                                        <p:cTn id="46" dur="1" fill="hold">
                                          <p:stCondLst>
                                            <p:cond delay="0"/>
                                          </p:stCondLst>
                                        </p:cTn>
                                        <p:tgtEl>
                                          <p:spTgt spid="8202"/>
                                        </p:tgtEl>
                                        <p:attrNameLst>
                                          <p:attrName>style.visibility</p:attrName>
                                        </p:attrNameLst>
                                      </p:cBhvr>
                                      <p:to>
                                        <p:strVal val="visible"/>
                                      </p:to>
                                    </p:set>
                                    <p:animEffect transition="in" filter="dissolve">
                                      <p:cBhvr>
                                        <p:cTn id="47" dur="500"/>
                                        <p:tgtEl>
                                          <p:spTgt spid="8202"/>
                                        </p:tgtEl>
                                      </p:cBhvr>
                                    </p:animEffect>
                                  </p:childTnLst>
                                </p:cTn>
                              </p:par>
                            </p:childTnLst>
                          </p:cTn>
                        </p:par>
                        <p:par>
                          <p:cTn id="48" fill="hold">
                            <p:stCondLst>
                              <p:cond delay="1500"/>
                            </p:stCondLst>
                            <p:childTnLst>
                              <p:par>
                                <p:cTn id="49" presetID="4" presetClass="entr" presetSubtype="16" fill="hold" grpId="0" nodeType="afterEffect">
                                  <p:stCondLst>
                                    <p:cond delay="0"/>
                                  </p:stCondLst>
                                  <p:childTnLst>
                                    <p:set>
                                      <p:cBhvr>
                                        <p:cTn id="50" dur="1" fill="hold">
                                          <p:stCondLst>
                                            <p:cond delay="0"/>
                                          </p:stCondLst>
                                        </p:cTn>
                                        <p:tgtEl>
                                          <p:spTgt spid="8212"/>
                                        </p:tgtEl>
                                        <p:attrNameLst>
                                          <p:attrName>style.visibility</p:attrName>
                                        </p:attrNameLst>
                                      </p:cBhvr>
                                      <p:to>
                                        <p:strVal val="visible"/>
                                      </p:to>
                                    </p:set>
                                    <p:animEffect transition="in" filter="box(in)">
                                      <p:cBhvr>
                                        <p:cTn id="51" dur="500"/>
                                        <p:tgtEl>
                                          <p:spTgt spid="8212"/>
                                        </p:tgtEl>
                                      </p:cBhvr>
                                    </p:animEffect>
                                  </p:childTnLst>
                                </p:cTn>
                              </p:par>
                            </p:childTnLst>
                          </p:cTn>
                        </p:par>
                        <p:par>
                          <p:cTn id="52" fill="hold">
                            <p:stCondLst>
                              <p:cond delay="2000"/>
                            </p:stCondLst>
                            <p:childTnLst>
                              <p:par>
                                <p:cTn id="53" presetID="17" presetClass="entr" presetSubtype="1" fill="hold" nodeType="afterEffect">
                                  <p:stCondLst>
                                    <p:cond delay="0"/>
                                  </p:stCondLst>
                                  <p:childTnLst>
                                    <p:set>
                                      <p:cBhvr>
                                        <p:cTn id="54" dur="1" fill="hold">
                                          <p:stCondLst>
                                            <p:cond delay="0"/>
                                          </p:stCondLst>
                                        </p:cTn>
                                        <p:tgtEl>
                                          <p:spTgt spid="8200"/>
                                        </p:tgtEl>
                                        <p:attrNameLst>
                                          <p:attrName>style.visibility</p:attrName>
                                        </p:attrNameLst>
                                      </p:cBhvr>
                                      <p:to>
                                        <p:strVal val="visible"/>
                                      </p:to>
                                    </p:set>
                                    <p:anim calcmode="lin" valueType="num">
                                      <p:cBhvr>
                                        <p:cTn id="55" dur="500" fill="hold"/>
                                        <p:tgtEl>
                                          <p:spTgt spid="8200"/>
                                        </p:tgtEl>
                                        <p:attrNameLst>
                                          <p:attrName>ppt_x</p:attrName>
                                        </p:attrNameLst>
                                      </p:cBhvr>
                                      <p:tavLst>
                                        <p:tav tm="0">
                                          <p:val>
                                            <p:strVal val="#ppt_x"/>
                                          </p:val>
                                        </p:tav>
                                        <p:tav tm="100000">
                                          <p:val>
                                            <p:strVal val="#ppt_x"/>
                                          </p:val>
                                        </p:tav>
                                      </p:tavLst>
                                    </p:anim>
                                    <p:anim calcmode="lin" valueType="num">
                                      <p:cBhvr>
                                        <p:cTn id="56" dur="500" fill="hold"/>
                                        <p:tgtEl>
                                          <p:spTgt spid="8200"/>
                                        </p:tgtEl>
                                        <p:attrNameLst>
                                          <p:attrName>ppt_y</p:attrName>
                                        </p:attrNameLst>
                                      </p:cBhvr>
                                      <p:tavLst>
                                        <p:tav tm="0">
                                          <p:val>
                                            <p:strVal val="#ppt_y-#ppt_h/2"/>
                                          </p:val>
                                        </p:tav>
                                        <p:tav tm="100000">
                                          <p:val>
                                            <p:strVal val="#ppt_y"/>
                                          </p:val>
                                        </p:tav>
                                      </p:tavLst>
                                    </p:anim>
                                    <p:anim calcmode="lin" valueType="num">
                                      <p:cBhvr>
                                        <p:cTn id="57" dur="500" fill="hold"/>
                                        <p:tgtEl>
                                          <p:spTgt spid="8200"/>
                                        </p:tgtEl>
                                        <p:attrNameLst>
                                          <p:attrName>ppt_w</p:attrName>
                                        </p:attrNameLst>
                                      </p:cBhvr>
                                      <p:tavLst>
                                        <p:tav tm="0">
                                          <p:val>
                                            <p:strVal val="#ppt_w"/>
                                          </p:val>
                                        </p:tav>
                                        <p:tav tm="100000">
                                          <p:val>
                                            <p:strVal val="#ppt_w"/>
                                          </p:val>
                                        </p:tav>
                                      </p:tavLst>
                                    </p:anim>
                                    <p:anim calcmode="lin" valueType="num">
                                      <p:cBhvr>
                                        <p:cTn id="58" dur="500" fill="hold"/>
                                        <p:tgtEl>
                                          <p:spTgt spid="8200"/>
                                        </p:tgtEl>
                                        <p:attrNameLst>
                                          <p:attrName>ppt_h</p:attrName>
                                        </p:attrNameLst>
                                      </p:cBhvr>
                                      <p:tavLst>
                                        <p:tav tm="0">
                                          <p:val>
                                            <p:fltVal val="0.000000"/>
                                          </p:val>
                                        </p:tav>
                                        <p:tav tm="100000">
                                          <p:val>
                                            <p:strVal val="#ppt_h"/>
                                          </p:val>
                                        </p:tav>
                                      </p:tavLst>
                                    </p:anim>
                                  </p:childTnLst>
                                </p:cTn>
                              </p:par>
                            </p:childTnLst>
                          </p:cTn>
                        </p:par>
                        <p:par>
                          <p:cTn id="59" fill="hold">
                            <p:stCondLst>
                              <p:cond delay="2500"/>
                            </p:stCondLst>
                            <p:childTnLst>
                              <p:par>
                                <p:cTn id="60" presetID="4" presetClass="entr" presetSubtype="16" fill="hold" grpId="0" nodeType="afterEffect">
                                  <p:stCondLst>
                                    <p:cond delay="0"/>
                                  </p:stCondLst>
                                  <p:childTnLst>
                                    <p:set>
                                      <p:cBhvr>
                                        <p:cTn id="61" dur="1" fill="hold">
                                          <p:stCondLst>
                                            <p:cond delay="0"/>
                                          </p:stCondLst>
                                        </p:cTn>
                                        <p:tgtEl>
                                          <p:spTgt spid="8201"/>
                                        </p:tgtEl>
                                        <p:attrNameLst>
                                          <p:attrName>style.visibility</p:attrName>
                                        </p:attrNameLst>
                                      </p:cBhvr>
                                      <p:to>
                                        <p:strVal val="visible"/>
                                      </p:to>
                                    </p:set>
                                    <p:animEffect transition="in" filter="box(in)">
                                      <p:cBhvr>
                                        <p:cTn id="62" dur="500"/>
                                        <p:tgtEl>
                                          <p:spTgt spid="8201"/>
                                        </p:tgtEl>
                                      </p:cBhvr>
                                    </p:animEffect>
                                  </p:childTnLst>
                                </p:cTn>
                              </p:par>
                            </p:childTnLst>
                          </p:cTn>
                        </p:par>
                        <p:par>
                          <p:cTn id="63" fill="hold">
                            <p:stCondLst>
                              <p:cond delay="3000"/>
                            </p:stCondLst>
                            <p:childTnLst>
                              <p:par>
                                <p:cTn id="64" presetID="17" presetClass="entr" presetSubtype="1" fill="hold" nodeType="afterEffect">
                                  <p:stCondLst>
                                    <p:cond delay="0"/>
                                  </p:stCondLst>
                                  <p:childTnLst>
                                    <p:set>
                                      <p:cBhvr>
                                        <p:cTn id="65" dur="1" fill="hold">
                                          <p:stCondLst>
                                            <p:cond delay="0"/>
                                          </p:stCondLst>
                                        </p:cTn>
                                        <p:tgtEl>
                                          <p:spTgt spid="8195"/>
                                        </p:tgtEl>
                                        <p:attrNameLst>
                                          <p:attrName>style.visibility</p:attrName>
                                        </p:attrNameLst>
                                      </p:cBhvr>
                                      <p:to>
                                        <p:strVal val="visible"/>
                                      </p:to>
                                    </p:set>
                                    <p:anim calcmode="lin" valueType="num">
                                      <p:cBhvr>
                                        <p:cTn id="66" dur="500" fill="hold"/>
                                        <p:tgtEl>
                                          <p:spTgt spid="8195"/>
                                        </p:tgtEl>
                                        <p:attrNameLst>
                                          <p:attrName>ppt_x</p:attrName>
                                        </p:attrNameLst>
                                      </p:cBhvr>
                                      <p:tavLst>
                                        <p:tav tm="0">
                                          <p:val>
                                            <p:strVal val="#ppt_x"/>
                                          </p:val>
                                        </p:tav>
                                        <p:tav tm="100000">
                                          <p:val>
                                            <p:strVal val="#ppt_x"/>
                                          </p:val>
                                        </p:tav>
                                      </p:tavLst>
                                    </p:anim>
                                    <p:anim calcmode="lin" valueType="num">
                                      <p:cBhvr>
                                        <p:cTn id="67" dur="500" fill="hold"/>
                                        <p:tgtEl>
                                          <p:spTgt spid="8195"/>
                                        </p:tgtEl>
                                        <p:attrNameLst>
                                          <p:attrName>ppt_y</p:attrName>
                                        </p:attrNameLst>
                                      </p:cBhvr>
                                      <p:tavLst>
                                        <p:tav tm="0">
                                          <p:val>
                                            <p:strVal val="#ppt_y-#ppt_h/2"/>
                                          </p:val>
                                        </p:tav>
                                        <p:tav tm="100000">
                                          <p:val>
                                            <p:strVal val="#ppt_y"/>
                                          </p:val>
                                        </p:tav>
                                      </p:tavLst>
                                    </p:anim>
                                    <p:anim calcmode="lin" valueType="num">
                                      <p:cBhvr>
                                        <p:cTn id="68" dur="500" fill="hold"/>
                                        <p:tgtEl>
                                          <p:spTgt spid="8195"/>
                                        </p:tgtEl>
                                        <p:attrNameLst>
                                          <p:attrName>ppt_w</p:attrName>
                                        </p:attrNameLst>
                                      </p:cBhvr>
                                      <p:tavLst>
                                        <p:tav tm="0">
                                          <p:val>
                                            <p:strVal val="#ppt_w"/>
                                          </p:val>
                                        </p:tav>
                                        <p:tav tm="100000">
                                          <p:val>
                                            <p:strVal val="#ppt_w"/>
                                          </p:val>
                                        </p:tav>
                                      </p:tavLst>
                                    </p:anim>
                                    <p:anim calcmode="lin" valueType="num">
                                      <p:cBhvr>
                                        <p:cTn id="69" dur="500" fill="hold"/>
                                        <p:tgtEl>
                                          <p:spTgt spid="8195"/>
                                        </p:tgtEl>
                                        <p:attrNameLst>
                                          <p:attrName>ppt_h</p:attrName>
                                        </p:attrNameLst>
                                      </p:cBhvr>
                                      <p:tavLst>
                                        <p:tav tm="0">
                                          <p:val>
                                            <p:fltVal val="0.000000"/>
                                          </p:val>
                                        </p:tav>
                                        <p:tav tm="100000">
                                          <p:val>
                                            <p:strVal val="#ppt_h"/>
                                          </p:val>
                                        </p:tav>
                                      </p:tavLst>
                                    </p:anim>
                                  </p:childTnLst>
                                </p:cTn>
                              </p:par>
                            </p:childTnLst>
                          </p:cTn>
                        </p:par>
                        <p:par>
                          <p:cTn id="70" fill="hold">
                            <p:stCondLst>
                              <p:cond delay="3500"/>
                            </p:stCondLst>
                            <p:childTnLst>
                              <p:par>
                                <p:cTn id="71" presetID="5" presetClass="entr" presetSubtype="10" fill="hold" grpId="0" nodeType="afterEffect">
                                  <p:stCondLst>
                                    <p:cond delay="0"/>
                                  </p:stCondLst>
                                  <p:childTnLst>
                                    <p:set>
                                      <p:cBhvr>
                                        <p:cTn id="72" dur="1" fill="hold">
                                          <p:stCondLst>
                                            <p:cond delay="0"/>
                                          </p:stCondLst>
                                        </p:cTn>
                                        <p:tgtEl>
                                          <p:spTgt spid="8196"/>
                                        </p:tgtEl>
                                        <p:attrNameLst>
                                          <p:attrName>style.visibility</p:attrName>
                                        </p:attrNameLst>
                                      </p:cBhvr>
                                      <p:to>
                                        <p:strVal val="visible"/>
                                      </p:to>
                                    </p:set>
                                    <p:animEffect transition="in" filter="checkerboard(across)">
                                      <p:cBhvr>
                                        <p:cTn id="73" dur="500"/>
                                        <p:tgtEl>
                                          <p:spTgt spid="8196"/>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8211"/>
                                        </p:tgtEl>
                                        <p:attrNameLst>
                                          <p:attrName>style.visibility</p:attrName>
                                        </p:attrNameLst>
                                      </p:cBhvr>
                                      <p:to>
                                        <p:strVal val="visible"/>
                                      </p:to>
                                    </p:set>
                                    <p:animEffect transition="in" filter="dissolve">
                                      <p:cBhvr>
                                        <p:cTn id="78" dur="500"/>
                                        <p:tgtEl>
                                          <p:spTgt spid="8211"/>
                                        </p:tgtEl>
                                      </p:cBhvr>
                                    </p:animEffect>
                                  </p:childTnLst>
                                </p:cTn>
                              </p:par>
                            </p:childTnLst>
                          </p:cTn>
                        </p:par>
                        <p:par>
                          <p:cTn id="79" fill="hold">
                            <p:stCondLst>
                              <p:cond delay="500"/>
                            </p:stCondLst>
                            <p:childTnLst>
                              <p:par>
                                <p:cTn id="80" presetID="23" presetClass="entr" presetSubtype="32" fill="hold" grpId="0" nodeType="afterEffect">
                                  <p:stCondLst>
                                    <p:cond delay="0"/>
                                  </p:stCondLst>
                                  <p:childTnLst>
                                    <p:set>
                                      <p:cBhvr>
                                        <p:cTn id="81" dur="1" fill="hold">
                                          <p:stCondLst>
                                            <p:cond delay="0"/>
                                          </p:stCondLst>
                                        </p:cTn>
                                        <p:tgtEl>
                                          <p:spTgt spid="8241"/>
                                        </p:tgtEl>
                                        <p:attrNameLst>
                                          <p:attrName>style.visibility</p:attrName>
                                        </p:attrNameLst>
                                      </p:cBhvr>
                                      <p:to>
                                        <p:strVal val="visible"/>
                                      </p:to>
                                    </p:set>
                                    <p:anim calcmode="lin" valueType="num">
                                      <p:cBhvr>
                                        <p:cTn id="82" dur="500" fill="hold"/>
                                        <p:tgtEl>
                                          <p:spTgt spid="8241"/>
                                        </p:tgtEl>
                                        <p:attrNameLst>
                                          <p:attrName>ppt_w</p:attrName>
                                        </p:attrNameLst>
                                      </p:cBhvr>
                                      <p:tavLst>
                                        <p:tav tm="0">
                                          <p:val>
                                            <p:strVal val="4*#ppt_w"/>
                                          </p:val>
                                        </p:tav>
                                        <p:tav tm="100000">
                                          <p:val>
                                            <p:strVal val="#ppt_w"/>
                                          </p:val>
                                        </p:tav>
                                      </p:tavLst>
                                    </p:anim>
                                    <p:anim calcmode="lin" valueType="num">
                                      <p:cBhvr>
                                        <p:cTn id="83" dur="500" fill="hold"/>
                                        <p:tgtEl>
                                          <p:spTgt spid="8241"/>
                                        </p:tgtEl>
                                        <p:attrNameLst>
                                          <p:attrName>ppt_h</p:attrName>
                                        </p:attrNameLst>
                                      </p:cBhvr>
                                      <p:tavLst>
                                        <p:tav tm="0">
                                          <p:val>
                                            <p:strVal val="4*#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8265"/>
                                        </p:tgtEl>
                                        <p:attrNameLst>
                                          <p:attrName>style.visibility</p:attrName>
                                        </p:attrNameLst>
                                      </p:cBhvr>
                                      <p:to>
                                        <p:strVal val="visible"/>
                                      </p:to>
                                    </p:set>
                                    <p:animEffect transition="in" filter="wipe(up)">
                                      <p:cBhvr>
                                        <p:cTn id="88" dur="500"/>
                                        <p:tgtEl>
                                          <p:spTgt spid="8265"/>
                                        </p:tgtEl>
                                      </p:cBhvr>
                                    </p:animEffect>
                                  </p:childTnLst>
                                </p:cTn>
                              </p:par>
                            </p:childTnLst>
                          </p:cTn>
                        </p:par>
                      </p:childTnLst>
                    </p:cTn>
                  </p:par>
                  <p:par>
                    <p:cTn id="89" fill="hold">
                      <p:stCondLst>
                        <p:cond delay="indefinite"/>
                      </p:stCondLst>
                      <p:childTnLst>
                        <p:par>
                          <p:cTn id="90" fill="hold">
                            <p:stCondLst>
                              <p:cond delay="0"/>
                            </p:stCondLst>
                            <p:childTnLst>
                              <p:par>
                                <p:cTn id="91" presetID="23" presetClass="entr" presetSubtype="288" fill="hold" grpId="0" nodeType="clickEffect">
                                  <p:stCondLst>
                                    <p:cond delay="0"/>
                                  </p:stCondLst>
                                  <p:childTnLst>
                                    <p:set>
                                      <p:cBhvr>
                                        <p:cTn id="92" dur="1" fill="hold">
                                          <p:stCondLst>
                                            <p:cond delay="0"/>
                                          </p:stCondLst>
                                        </p:cTn>
                                        <p:tgtEl>
                                          <p:spTgt spid="8203"/>
                                        </p:tgtEl>
                                        <p:attrNameLst>
                                          <p:attrName>style.visibility</p:attrName>
                                        </p:attrNameLst>
                                      </p:cBhvr>
                                      <p:to>
                                        <p:strVal val="visible"/>
                                      </p:to>
                                    </p:set>
                                    <p:anim calcmode="lin" valueType="num">
                                      <p:cBhvr>
                                        <p:cTn id="93" dur="500" fill="hold"/>
                                        <p:tgtEl>
                                          <p:spTgt spid="8203"/>
                                        </p:tgtEl>
                                        <p:attrNameLst>
                                          <p:attrName>ppt_w</p:attrName>
                                        </p:attrNameLst>
                                      </p:cBhvr>
                                      <p:tavLst>
                                        <p:tav tm="0">
                                          <p:val>
                                            <p:strVal val="4/3*#ppt_w"/>
                                          </p:val>
                                        </p:tav>
                                        <p:tav tm="100000">
                                          <p:val>
                                            <p:strVal val="#ppt_w"/>
                                          </p:val>
                                        </p:tav>
                                      </p:tavLst>
                                    </p:anim>
                                    <p:anim calcmode="lin" valueType="num">
                                      <p:cBhvr>
                                        <p:cTn id="94" dur="500" fill="hold"/>
                                        <p:tgtEl>
                                          <p:spTgt spid="8203"/>
                                        </p:tgtEl>
                                        <p:attrNameLst>
                                          <p:attrName>ppt_h</p:attrName>
                                        </p:attrNameLst>
                                      </p:cBhvr>
                                      <p:tavLst>
                                        <p:tav tm="0">
                                          <p:val>
                                            <p:strVal val="4/3*#ppt_h"/>
                                          </p:val>
                                        </p:tav>
                                        <p:tav tm="100000">
                                          <p:val>
                                            <p:strVal val="#ppt_h"/>
                                          </p:val>
                                        </p:tav>
                                      </p:tavLst>
                                    </p:anim>
                                  </p:childTnLst>
                                </p:cTn>
                              </p:par>
                            </p:childTnLst>
                          </p:cTn>
                        </p:par>
                        <p:par>
                          <p:cTn id="95" fill="hold">
                            <p:stCondLst>
                              <p:cond delay="500"/>
                            </p:stCondLst>
                            <p:childTnLst>
                              <p:par>
                                <p:cTn id="96" presetID="9" presetClass="entr" presetSubtype="0" fill="hold" grpId="0" nodeType="afterEffect">
                                  <p:stCondLst>
                                    <p:cond delay="0"/>
                                  </p:stCondLst>
                                  <p:childTnLst>
                                    <p:set>
                                      <p:cBhvr>
                                        <p:cTn id="97" dur="1" fill="hold">
                                          <p:stCondLst>
                                            <p:cond delay="0"/>
                                          </p:stCondLst>
                                        </p:cTn>
                                        <p:tgtEl>
                                          <p:spTgt spid="8204"/>
                                        </p:tgtEl>
                                        <p:attrNameLst>
                                          <p:attrName>style.visibility</p:attrName>
                                        </p:attrNameLst>
                                      </p:cBhvr>
                                      <p:to>
                                        <p:strVal val="visible"/>
                                      </p:to>
                                    </p:set>
                                    <p:animEffect transition="in" filter="dissolve">
                                      <p:cBhvr>
                                        <p:cTn id="98" dur="500"/>
                                        <p:tgtEl>
                                          <p:spTgt spid="8204"/>
                                        </p:tgtEl>
                                      </p:cBhvr>
                                    </p:animEffect>
                                  </p:childTnLst>
                                </p:cTn>
                              </p:par>
                            </p:childTnLst>
                          </p:cTn>
                        </p:par>
                        <p:par>
                          <p:cTn id="99" fill="hold">
                            <p:stCondLst>
                              <p:cond delay="1000"/>
                            </p:stCondLst>
                            <p:childTnLst>
                              <p:par>
                                <p:cTn id="100" presetID="4" presetClass="entr" presetSubtype="16" fill="hold" nodeType="afterEffect">
                                  <p:stCondLst>
                                    <p:cond delay="0"/>
                                  </p:stCondLst>
                                  <p:childTnLst>
                                    <p:set>
                                      <p:cBhvr>
                                        <p:cTn id="101" dur="1" fill="hold">
                                          <p:stCondLst>
                                            <p:cond delay="0"/>
                                          </p:stCondLst>
                                        </p:cTn>
                                        <p:tgtEl>
                                          <p:spTgt spid="8205"/>
                                        </p:tgtEl>
                                        <p:attrNameLst>
                                          <p:attrName>style.visibility</p:attrName>
                                        </p:attrNameLst>
                                      </p:cBhvr>
                                      <p:to>
                                        <p:strVal val="visible"/>
                                      </p:to>
                                    </p:set>
                                    <p:animEffect transition="in" filter="box(in)">
                                      <p:cBhvr>
                                        <p:cTn id="102" dur="500"/>
                                        <p:tgtEl>
                                          <p:spTgt spid="8205"/>
                                        </p:tgtEl>
                                      </p:cBhvr>
                                    </p:animEffect>
                                  </p:childTnLst>
                                </p:cTn>
                              </p:par>
                            </p:childTnLst>
                          </p:cTn>
                        </p:par>
                        <p:par>
                          <p:cTn id="103" fill="hold">
                            <p:stCondLst>
                              <p:cond delay="1500"/>
                            </p:stCondLst>
                            <p:childTnLst>
                              <p:par>
                                <p:cTn id="104" presetID="16" presetClass="entr" presetSubtype="37" fill="hold" grpId="0" nodeType="afterEffect">
                                  <p:stCondLst>
                                    <p:cond delay="0"/>
                                  </p:stCondLst>
                                  <p:childTnLst>
                                    <p:set>
                                      <p:cBhvr>
                                        <p:cTn id="105" dur="1" fill="hold">
                                          <p:stCondLst>
                                            <p:cond delay="0"/>
                                          </p:stCondLst>
                                        </p:cTn>
                                        <p:tgtEl>
                                          <p:spTgt spid="8206"/>
                                        </p:tgtEl>
                                        <p:attrNameLst>
                                          <p:attrName>style.visibility</p:attrName>
                                        </p:attrNameLst>
                                      </p:cBhvr>
                                      <p:to>
                                        <p:strVal val="visible"/>
                                      </p:to>
                                    </p:set>
                                    <p:animEffect transition="in" filter="barn(outVertical)">
                                      <p:cBhvr>
                                        <p:cTn id="106" dur="500"/>
                                        <p:tgtEl>
                                          <p:spTgt spid="8206"/>
                                        </p:tgtEl>
                                      </p:cBhvr>
                                    </p:animEffect>
                                  </p:childTnLst>
                                </p:cTn>
                              </p:par>
                            </p:childTnLst>
                          </p:cTn>
                        </p:par>
                      </p:childTnLst>
                    </p:cTn>
                  </p:par>
                  <p:par>
                    <p:cTn id="107" fill="hold">
                      <p:stCondLst>
                        <p:cond delay="indefinite"/>
                      </p:stCondLst>
                      <p:childTnLst>
                        <p:par>
                          <p:cTn id="108" fill="hold">
                            <p:stCondLst>
                              <p:cond delay="0"/>
                            </p:stCondLst>
                            <p:childTnLst>
                              <p:par>
                                <p:cTn id="109" presetID="15" presetClass="entr" presetSubtype="0" fill="hold" grpId="0" nodeType="clickEffect">
                                  <p:stCondLst>
                                    <p:cond delay="0"/>
                                  </p:stCondLst>
                                  <p:childTnLst>
                                    <p:set>
                                      <p:cBhvr>
                                        <p:cTn id="110" dur="1" fill="hold">
                                          <p:stCondLst>
                                            <p:cond delay="0"/>
                                          </p:stCondLst>
                                        </p:cTn>
                                        <p:tgtEl>
                                          <p:spTgt spid="8240"/>
                                        </p:tgtEl>
                                        <p:attrNameLst>
                                          <p:attrName>style.visibility</p:attrName>
                                        </p:attrNameLst>
                                      </p:cBhvr>
                                      <p:to>
                                        <p:strVal val="visible"/>
                                      </p:to>
                                    </p:set>
                                    <p:anim calcmode="lin" valueType="num">
                                      <p:cBhvr>
                                        <p:cTn id="111" dur="1000" fill="hold"/>
                                        <p:tgtEl>
                                          <p:spTgt spid="8240"/>
                                        </p:tgtEl>
                                        <p:attrNameLst>
                                          <p:attrName>ppt_w</p:attrName>
                                        </p:attrNameLst>
                                      </p:cBhvr>
                                      <p:tavLst>
                                        <p:tav tm="0">
                                          <p:val>
                                            <p:fltVal val="0.000000"/>
                                          </p:val>
                                        </p:tav>
                                        <p:tav tm="100000">
                                          <p:val>
                                            <p:strVal val="#ppt_w"/>
                                          </p:val>
                                        </p:tav>
                                      </p:tavLst>
                                    </p:anim>
                                    <p:anim calcmode="lin" valueType="num">
                                      <p:cBhvr>
                                        <p:cTn id="112" dur="1000" fill="hold"/>
                                        <p:tgtEl>
                                          <p:spTgt spid="8240"/>
                                        </p:tgtEl>
                                        <p:attrNameLst>
                                          <p:attrName>ppt_h</p:attrName>
                                        </p:attrNameLst>
                                      </p:cBhvr>
                                      <p:tavLst>
                                        <p:tav tm="0">
                                          <p:val>
                                            <p:fltVal val="0.000000"/>
                                          </p:val>
                                        </p:tav>
                                        <p:tav tm="100000">
                                          <p:val>
                                            <p:strVal val="#ppt_h"/>
                                          </p:val>
                                        </p:tav>
                                      </p:tavLst>
                                    </p:anim>
                                    <p:anim calcmode="lin" valueType="num">
                                      <p:cBhvr>
                                        <p:cTn id="113" dur="1000" fill="hold"/>
                                        <p:tgtEl>
                                          <p:spTgt spid="8240"/>
                                        </p:tgtEl>
                                        <p:attrNameLst>
                                          <p:attrName>ppt_x</p:attrName>
                                        </p:attrNameLst>
                                      </p:cBhvr>
                                      <p:tavLst>
                                        <p:tav tm="0" fmla="#ppt_x+(cos(-2*pi*(1-$))*-#ppt_x-sin(-2*pi*(1-$))*(1-#ppt_y))*(1-$)">
                                          <p:val>
                                            <p:fltVal val="0.000000"/>
                                          </p:val>
                                        </p:tav>
                                        <p:tav tm="100000">
                                          <p:val>
                                            <p:fltVal val="1.000000"/>
                                          </p:val>
                                        </p:tav>
                                      </p:tavLst>
                                    </p:anim>
                                    <p:anim calcmode="lin" valueType="num">
                                      <p:cBhvr>
                                        <p:cTn id="114" dur="1000" fill="hold"/>
                                        <p:tgtEl>
                                          <p:spTgt spid="8240"/>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P spid="8198" grpId="0"/>
      <p:bldP spid="8199" grpId="0"/>
      <p:bldP spid="8201" grpId="0"/>
      <p:bldP spid="8202" grpId="0"/>
      <p:bldP spid="8203" grpId="0"/>
      <p:bldP spid="8204" grpId="0"/>
      <p:bldP spid="8206" grpId="0"/>
      <p:bldP spid="8207" grpId="0"/>
      <p:bldP spid="8208" grpId="0"/>
      <p:bldP spid="8209" grpId="0"/>
      <p:bldP spid="8210" grpId="0" animBg="1"/>
      <p:bldP spid="8211" grpId="0"/>
      <p:bldP spid="8212" grpId="0"/>
      <p:bldP spid="8240" grpId="0"/>
      <p:bldP spid="824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2"/>
          <p:cNvSpPr txBox="1">
            <a:spLocks noChangeArrowheads="1"/>
          </p:cNvSpPr>
          <p:nvPr/>
        </p:nvSpPr>
        <p:spPr bwMode="auto">
          <a:xfrm>
            <a:off x="250825" y="404813"/>
            <a:ext cx="6019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3200" b="1" dirty="0">
                <a:solidFill>
                  <a:schemeClr val="bg1"/>
                </a:solidFill>
                <a:effectLst>
                  <a:outerShdw blurRad="38100" dist="38100" dir="2700000">
                    <a:srgbClr val="C0C0C0"/>
                  </a:outerShdw>
                </a:effectLst>
                <a:latin typeface="Times New Roman" panose="02020603050405020304" pitchFamily="18" charset="0"/>
                <a:ea typeface="隶书" panose="02010509060101010101" pitchFamily="49" charset="-122"/>
              </a:rPr>
              <a:t>三极管的电流控制原理</a:t>
            </a:r>
            <a:endParaRPr lang="zh-CN" altLang="en-US" sz="3200" b="1" dirty="0">
              <a:solidFill>
                <a:schemeClr val="bg1"/>
              </a:solidFill>
              <a:effectLst>
                <a:outerShdw blurRad="38100" dist="38100" dir="2700000">
                  <a:srgbClr val="C0C0C0"/>
                </a:outerShdw>
              </a:effectLst>
              <a:latin typeface="Times New Roman" panose="02020603050405020304" pitchFamily="18" charset="0"/>
              <a:ea typeface="隶书" panose="02010509060101010101" pitchFamily="49" charset="-122"/>
            </a:endParaRPr>
          </a:p>
        </p:txBody>
      </p:sp>
      <p:sp>
        <p:nvSpPr>
          <p:cNvPr id="34818" name="Line 3"/>
          <p:cNvSpPr/>
          <p:nvPr/>
        </p:nvSpPr>
        <p:spPr>
          <a:xfrm>
            <a:off x="4191000" y="1371600"/>
            <a:ext cx="533400" cy="0"/>
          </a:xfrm>
          <a:prstGeom prst="line">
            <a:avLst/>
          </a:prstGeom>
          <a:ln w="76200" cap="flat" cmpd="sng">
            <a:solidFill>
              <a:srgbClr val="00CCFF"/>
            </a:solidFill>
            <a:prstDash val="solid"/>
            <a:round/>
            <a:headEnd type="none" w="med" len="med"/>
            <a:tailEnd type="none" w="med" len="med"/>
          </a:ln>
          <a:scene3d>
            <a:camera prst="legacyObliqueFront">
              <a:rot lat="0" lon="0" rev="0"/>
            </a:camera>
            <a:lightRig rig="legacyFlat1" dir="t"/>
          </a:scene3d>
          <a:sp3d extrusionH="11100" prstMaterial="legacyMatte">
            <a:bevelT w="13500" h="13500" prst="angle"/>
            <a:bevelB w="13500" h="13500" prst="angle"/>
            <a:extrusionClr>
              <a:srgbClr val="FFCC99"/>
            </a:extrusionClr>
          </a:sp3d>
        </p:spPr>
      </p:sp>
      <p:sp>
        <p:nvSpPr>
          <p:cNvPr id="34819" name="Line 4"/>
          <p:cNvSpPr/>
          <p:nvPr/>
        </p:nvSpPr>
        <p:spPr>
          <a:xfrm>
            <a:off x="4267200" y="5410200"/>
            <a:ext cx="533400" cy="0"/>
          </a:xfrm>
          <a:prstGeom prst="line">
            <a:avLst/>
          </a:prstGeom>
          <a:ln w="76200" cap="flat" cmpd="sng">
            <a:solidFill>
              <a:srgbClr val="00CCFF"/>
            </a:solidFill>
            <a:prstDash val="solid"/>
            <a:round/>
            <a:headEnd type="none" w="med" len="med"/>
            <a:tailEnd type="none" w="med" len="med"/>
          </a:ln>
          <a:scene3d>
            <a:camera prst="legacyObliqueFront">
              <a:rot lat="300000" lon="0" rev="0"/>
            </a:camera>
            <a:lightRig rig="legacyFlat1" dir="t"/>
          </a:scene3d>
          <a:sp3d extrusionH="11100" prstMaterial="legacyMatte">
            <a:bevelT w="13500" h="13500" prst="angle"/>
            <a:bevelB w="13500" h="13500" prst="angle"/>
            <a:extrusionClr>
              <a:srgbClr val="FFCC99"/>
            </a:extrusionClr>
          </a:sp3d>
        </p:spPr>
      </p:sp>
      <p:sp>
        <p:nvSpPr>
          <p:cNvPr id="34820" name="Line 5"/>
          <p:cNvSpPr/>
          <p:nvPr/>
        </p:nvSpPr>
        <p:spPr>
          <a:xfrm>
            <a:off x="4419600" y="990600"/>
            <a:ext cx="0" cy="381000"/>
          </a:xfrm>
          <a:prstGeom prst="line">
            <a:avLst/>
          </a:prstGeom>
          <a:ln w="28575" cap="flat" cmpd="sng">
            <a:solidFill>
              <a:srgbClr val="FFFF66"/>
            </a:solidFill>
            <a:prstDash val="solid"/>
            <a:round/>
            <a:headEnd type="none" w="med" len="med"/>
            <a:tailEnd type="none" w="med" len="med"/>
          </a:ln>
          <a:scene3d>
            <a:camera prst="legacyObliqueFront">
              <a:rot lat="0" lon="0" rev="0"/>
            </a:camera>
            <a:lightRig rig="legacyFlat1" dir="t"/>
          </a:scene3d>
          <a:sp3d extrusionH="49200" prstMaterial="legacyMatte">
            <a:bevelT w="13500" h="13500" prst="angle"/>
            <a:bevelB w="13500" h="13500" prst="angle"/>
            <a:extrusionClr>
              <a:srgbClr val="FFFF66"/>
            </a:extrusionClr>
          </a:sp3d>
        </p:spPr>
      </p:sp>
      <p:sp>
        <p:nvSpPr>
          <p:cNvPr id="34821" name="Line 6"/>
          <p:cNvSpPr/>
          <p:nvPr/>
        </p:nvSpPr>
        <p:spPr>
          <a:xfrm>
            <a:off x="4419600" y="990600"/>
            <a:ext cx="3733800" cy="0"/>
          </a:xfrm>
          <a:prstGeom prst="line">
            <a:avLst/>
          </a:prstGeom>
          <a:ln w="38100" cap="flat" cmpd="sng">
            <a:solidFill>
              <a:srgbClr val="FFFF66"/>
            </a:solidFill>
            <a:prstDash val="solid"/>
            <a:round/>
            <a:headEnd type="none" w="med" len="med"/>
            <a:tailEnd type="none" w="med" len="med"/>
          </a:ln>
        </p:spPr>
      </p:sp>
      <p:sp>
        <p:nvSpPr>
          <p:cNvPr id="34822" name="Line 7"/>
          <p:cNvSpPr/>
          <p:nvPr/>
        </p:nvSpPr>
        <p:spPr>
          <a:xfrm>
            <a:off x="8153400" y="990600"/>
            <a:ext cx="0" cy="1752600"/>
          </a:xfrm>
          <a:prstGeom prst="line">
            <a:avLst/>
          </a:prstGeom>
          <a:ln w="38100" cap="flat" cmpd="sng">
            <a:solidFill>
              <a:srgbClr val="FFFF66"/>
            </a:solidFill>
            <a:prstDash val="solid"/>
            <a:round/>
            <a:headEnd type="none" w="med" len="med"/>
            <a:tailEnd type="none" w="med" len="med"/>
          </a:ln>
        </p:spPr>
      </p:sp>
      <p:sp>
        <p:nvSpPr>
          <p:cNvPr id="34823" name="Line 8"/>
          <p:cNvSpPr/>
          <p:nvPr/>
        </p:nvSpPr>
        <p:spPr>
          <a:xfrm>
            <a:off x="1219200" y="6096000"/>
            <a:ext cx="6934200" cy="0"/>
          </a:xfrm>
          <a:prstGeom prst="line">
            <a:avLst/>
          </a:prstGeom>
          <a:ln w="38100" cap="flat" cmpd="sng">
            <a:solidFill>
              <a:srgbClr val="FFFF66"/>
            </a:solidFill>
            <a:prstDash val="solid"/>
            <a:round/>
            <a:headEnd type="none" w="med" len="med"/>
            <a:tailEnd type="none" w="med" len="med"/>
          </a:ln>
        </p:spPr>
      </p:sp>
      <p:sp>
        <p:nvSpPr>
          <p:cNvPr id="34824" name="Line 9"/>
          <p:cNvSpPr/>
          <p:nvPr/>
        </p:nvSpPr>
        <p:spPr>
          <a:xfrm>
            <a:off x="8153400" y="3352800"/>
            <a:ext cx="0" cy="762000"/>
          </a:xfrm>
          <a:prstGeom prst="line">
            <a:avLst/>
          </a:prstGeom>
          <a:ln w="28575" cap="flat" cmpd="sng">
            <a:solidFill>
              <a:srgbClr val="FFFF66"/>
            </a:solidFill>
            <a:prstDash val="solid"/>
            <a:round/>
            <a:headEnd type="none" w="med" len="med"/>
            <a:tailEnd type="none" w="med" len="med"/>
          </a:ln>
        </p:spPr>
      </p:sp>
      <p:sp>
        <p:nvSpPr>
          <p:cNvPr id="34825" name="Line 10"/>
          <p:cNvSpPr/>
          <p:nvPr/>
        </p:nvSpPr>
        <p:spPr>
          <a:xfrm>
            <a:off x="8153400" y="4572000"/>
            <a:ext cx="0" cy="1524000"/>
          </a:xfrm>
          <a:prstGeom prst="line">
            <a:avLst/>
          </a:prstGeom>
          <a:ln w="38100" cap="flat" cmpd="sng">
            <a:solidFill>
              <a:srgbClr val="FFFF66"/>
            </a:solidFill>
            <a:prstDash val="solid"/>
            <a:round/>
            <a:headEnd type="none" w="med" len="med"/>
            <a:tailEnd type="none" w="med" len="med"/>
          </a:ln>
        </p:spPr>
      </p:sp>
      <p:sp>
        <p:nvSpPr>
          <p:cNvPr id="34826" name="Line 11"/>
          <p:cNvSpPr/>
          <p:nvPr/>
        </p:nvSpPr>
        <p:spPr>
          <a:xfrm>
            <a:off x="7848600" y="4114800"/>
            <a:ext cx="533400" cy="0"/>
          </a:xfrm>
          <a:prstGeom prst="line">
            <a:avLst/>
          </a:prstGeom>
          <a:ln w="38100" cap="flat" cmpd="sng">
            <a:solidFill>
              <a:srgbClr val="FFFF66"/>
            </a:solidFill>
            <a:prstDash val="solid"/>
            <a:round/>
            <a:headEnd type="none" w="med" len="med"/>
            <a:tailEnd type="none" w="med" len="med"/>
          </a:ln>
        </p:spPr>
      </p:sp>
      <p:sp>
        <p:nvSpPr>
          <p:cNvPr id="34827" name="Line 12"/>
          <p:cNvSpPr/>
          <p:nvPr/>
        </p:nvSpPr>
        <p:spPr>
          <a:xfrm>
            <a:off x="8001000" y="4267200"/>
            <a:ext cx="304800" cy="0"/>
          </a:xfrm>
          <a:prstGeom prst="line">
            <a:avLst/>
          </a:prstGeom>
          <a:ln w="38100" cap="flat" cmpd="sng">
            <a:solidFill>
              <a:srgbClr val="FFFF66"/>
            </a:solidFill>
            <a:prstDash val="solid"/>
            <a:round/>
            <a:headEnd type="none" w="med" len="med"/>
            <a:tailEnd type="none" w="med" len="med"/>
          </a:ln>
        </p:spPr>
      </p:sp>
      <p:sp>
        <p:nvSpPr>
          <p:cNvPr id="34828" name="Line 13"/>
          <p:cNvSpPr/>
          <p:nvPr/>
        </p:nvSpPr>
        <p:spPr>
          <a:xfrm>
            <a:off x="7924800" y="4419600"/>
            <a:ext cx="457200" cy="0"/>
          </a:xfrm>
          <a:prstGeom prst="line">
            <a:avLst/>
          </a:prstGeom>
          <a:ln w="28575" cap="flat" cmpd="sng">
            <a:solidFill>
              <a:srgbClr val="FFFF66"/>
            </a:solidFill>
            <a:prstDash val="solid"/>
            <a:round/>
            <a:headEnd type="none" w="med" len="med"/>
            <a:tailEnd type="none" w="med" len="med"/>
          </a:ln>
        </p:spPr>
      </p:sp>
      <p:sp>
        <p:nvSpPr>
          <p:cNvPr id="34829" name="Line 14"/>
          <p:cNvSpPr/>
          <p:nvPr/>
        </p:nvSpPr>
        <p:spPr>
          <a:xfrm>
            <a:off x="8001000" y="4572000"/>
            <a:ext cx="304800" cy="0"/>
          </a:xfrm>
          <a:prstGeom prst="line">
            <a:avLst/>
          </a:prstGeom>
          <a:ln w="38100" cap="flat" cmpd="sng">
            <a:solidFill>
              <a:srgbClr val="FFFF66"/>
            </a:solidFill>
            <a:prstDash val="solid"/>
            <a:round/>
            <a:headEnd type="none" w="med" len="med"/>
            <a:tailEnd type="none" w="med" len="med"/>
          </a:ln>
        </p:spPr>
      </p:sp>
      <p:sp>
        <p:nvSpPr>
          <p:cNvPr id="34830" name="Line 15"/>
          <p:cNvSpPr/>
          <p:nvPr/>
        </p:nvSpPr>
        <p:spPr>
          <a:xfrm>
            <a:off x="4572000" y="5410200"/>
            <a:ext cx="0" cy="685800"/>
          </a:xfrm>
          <a:prstGeom prst="line">
            <a:avLst/>
          </a:prstGeom>
          <a:ln w="38100" cap="flat" cmpd="sng">
            <a:solidFill>
              <a:srgbClr val="FFFF66"/>
            </a:solidFill>
            <a:prstDash val="solid"/>
            <a:round/>
            <a:headEnd type="none" w="med" len="med"/>
            <a:tailEnd type="none" w="med" len="med"/>
          </a:ln>
        </p:spPr>
      </p:sp>
      <p:sp>
        <p:nvSpPr>
          <p:cNvPr id="34831" name="Line 16"/>
          <p:cNvSpPr/>
          <p:nvPr/>
        </p:nvSpPr>
        <p:spPr>
          <a:xfrm>
            <a:off x="1219200" y="4648200"/>
            <a:ext cx="0" cy="1447800"/>
          </a:xfrm>
          <a:prstGeom prst="line">
            <a:avLst/>
          </a:prstGeom>
          <a:ln w="38100" cap="flat" cmpd="sng">
            <a:solidFill>
              <a:srgbClr val="FFFF66"/>
            </a:solidFill>
            <a:prstDash val="solid"/>
            <a:round/>
            <a:headEnd type="none" w="med" len="med"/>
            <a:tailEnd type="none" w="med" len="med"/>
          </a:ln>
        </p:spPr>
      </p:sp>
      <p:sp>
        <p:nvSpPr>
          <p:cNvPr id="34832" name="Line 17"/>
          <p:cNvSpPr/>
          <p:nvPr/>
        </p:nvSpPr>
        <p:spPr>
          <a:xfrm>
            <a:off x="3276600" y="2971800"/>
            <a:ext cx="0" cy="457200"/>
          </a:xfrm>
          <a:prstGeom prst="line">
            <a:avLst/>
          </a:prstGeom>
          <a:ln w="76200" cap="flat" cmpd="sng">
            <a:solidFill>
              <a:srgbClr val="00CCFF"/>
            </a:solidFill>
            <a:prstDash val="solid"/>
            <a:round/>
            <a:headEnd type="none" w="med" len="med"/>
            <a:tailEnd type="none" w="med" len="med"/>
          </a:ln>
          <a:scene3d>
            <a:camera prst="legacyObliqueTopRight">
              <a:rot lat="0" lon="0" rev="0"/>
            </a:camera>
            <a:lightRig rig="legacyFlat3" dir="b"/>
          </a:scene3d>
          <a:sp3d extrusionH="49200" prstMaterial="legacyMatte">
            <a:bevelT w="13500" h="13500" prst="angle"/>
            <a:bevelB w="13500" h="13500" prst="angle"/>
            <a:extrusionClr>
              <a:schemeClr val="bg1"/>
            </a:extrusionClr>
          </a:sp3d>
        </p:spPr>
      </p:sp>
      <p:sp>
        <p:nvSpPr>
          <p:cNvPr id="34833" name="Line 18"/>
          <p:cNvSpPr/>
          <p:nvPr/>
        </p:nvSpPr>
        <p:spPr>
          <a:xfrm>
            <a:off x="1066800" y="4648200"/>
            <a:ext cx="304800" cy="0"/>
          </a:xfrm>
          <a:prstGeom prst="line">
            <a:avLst/>
          </a:prstGeom>
          <a:ln w="38100" cap="flat" cmpd="sng">
            <a:solidFill>
              <a:srgbClr val="FFFF66"/>
            </a:solidFill>
            <a:prstDash val="solid"/>
            <a:round/>
            <a:headEnd type="none" w="med" len="med"/>
            <a:tailEnd type="none" w="med" len="med"/>
          </a:ln>
        </p:spPr>
      </p:sp>
      <p:sp>
        <p:nvSpPr>
          <p:cNvPr id="34834" name="Line 19"/>
          <p:cNvSpPr/>
          <p:nvPr/>
        </p:nvSpPr>
        <p:spPr>
          <a:xfrm>
            <a:off x="914400" y="4495800"/>
            <a:ext cx="533400" cy="0"/>
          </a:xfrm>
          <a:prstGeom prst="line">
            <a:avLst/>
          </a:prstGeom>
          <a:ln w="38100" cap="flat" cmpd="sng">
            <a:solidFill>
              <a:srgbClr val="FFFF66"/>
            </a:solidFill>
            <a:prstDash val="solid"/>
            <a:round/>
            <a:headEnd type="none" w="med" len="med"/>
            <a:tailEnd type="none" w="med" len="med"/>
          </a:ln>
        </p:spPr>
      </p:sp>
      <p:sp>
        <p:nvSpPr>
          <p:cNvPr id="34835" name="Line 20"/>
          <p:cNvSpPr/>
          <p:nvPr/>
        </p:nvSpPr>
        <p:spPr>
          <a:xfrm>
            <a:off x="1219200" y="3886200"/>
            <a:ext cx="0" cy="609600"/>
          </a:xfrm>
          <a:prstGeom prst="line">
            <a:avLst/>
          </a:prstGeom>
          <a:ln w="38100" cap="flat" cmpd="sng">
            <a:solidFill>
              <a:srgbClr val="FFFF66"/>
            </a:solidFill>
            <a:prstDash val="solid"/>
            <a:round/>
            <a:headEnd type="none" w="med" len="med"/>
            <a:tailEnd type="none" w="med" len="med"/>
          </a:ln>
        </p:spPr>
      </p:sp>
      <p:sp>
        <p:nvSpPr>
          <p:cNvPr id="34836" name="Line 21"/>
          <p:cNvSpPr/>
          <p:nvPr/>
        </p:nvSpPr>
        <p:spPr>
          <a:xfrm>
            <a:off x="1219200" y="3200400"/>
            <a:ext cx="2057400" cy="0"/>
          </a:xfrm>
          <a:prstGeom prst="line">
            <a:avLst/>
          </a:prstGeom>
          <a:ln w="38100" cap="flat" cmpd="sng">
            <a:solidFill>
              <a:srgbClr val="FFFF66"/>
            </a:solidFill>
            <a:prstDash val="solid"/>
            <a:round/>
            <a:headEnd type="none" w="med" len="med"/>
            <a:tailEnd type="none" w="med" len="med"/>
          </a:ln>
        </p:spPr>
      </p:sp>
      <p:sp>
        <p:nvSpPr>
          <p:cNvPr id="34837" name="Line 22"/>
          <p:cNvSpPr/>
          <p:nvPr/>
        </p:nvSpPr>
        <p:spPr>
          <a:xfrm flipV="1">
            <a:off x="1219200" y="3200400"/>
            <a:ext cx="0" cy="228600"/>
          </a:xfrm>
          <a:prstGeom prst="line">
            <a:avLst/>
          </a:prstGeom>
          <a:ln w="38100" cap="flat" cmpd="sng">
            <a:solidFill>
              <a:srgbClr val="FFFF66"/>
            </a:solidFill>
            <a:prstDash val="solid"/>
            <a:round/>
            <a:headEnd type="none" w="med" len="med"/>
            <a:tailEnd type="none" w="med" len="med"/>
          </a:ln>
        </p:spPr>
      </p:sp>
      <p:sp>
        <p:nvSpPr>
          <p:cNvPr id="34838" name="Rectangle 23"/>
          <p:cNvSpPr/>
          <p:nvPr/>
        </p:nvSpPr>
        <p:spPr>
          <a:xfrm>
            <a:off x="3352800" y="1447800"/>
            <a:ext cx="2286000" cy="3886200"/>
          </a:xfrm>
          <a:prstGeom prst="rect">
            <a:avLst/>
          </a:prstGeom>
          <a:solidFill>
            <a:srgbClr val="3366FF"/>
          </a:solidFill>
          <a:ln w="38100" cap="flat" cmpd="sng">
            <a:solidFill>
              <a:schemeClr val="hlink"/>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839" name="Line 24"/>
          <p:cNvSpPr/>
          <p:nvPr/>
        </p:nvSpPr>
        <p:spPr>
          <a:xfrm>
            <a:off x="3352800" y="2667000"/>
            <a:ext cx="2286000" cy="0"/>
          </a:xfrm>
          <a:prstGeom prst="line">
            <a:avLst/>
          </a:prstGeom>
          <a:ln w="76200" cap="flat" cmpd="tri">
            <a:solidFill>
              <a:srgbClr val="D77BA7"/>
            </a:solidFill>
            <a:prstDash val="solid"/>
            <a:round/>
            <a:headEnd type="none" w="med" len="med"/>
            <a:tailEnd type="none" w="med" len="med"/>
          </a:ln>
        </p:spPr>
      </p:sp>
      <p:sp>
        <p:nvSpPr>
          <p:cNvPr id="34840" name="Line 25"/>
          <p:cNvSpPr/>
          <p:nvPr/>
        </p:nvSpPr>
        <p:spPr>
          <a:xfrm>
            <a:off x="3352800" y="3810000"/>
            <a:ext cx="2286000" cy="0"/>
          </a:xfrm>
          <a:prstGeom prst="line">
            <a:avLst/>
          </a:prstGeom>
          <a:ln w="76200" cap="flat" cmpd="tri">
            <a:solidFill>
              <a:srgbClr val="D77BA7"/>
            </a:solidFill>
            <a:prstDash val="solid"/>
            <a:round/>
            <a:headEnd type="none" w="med" len="med"/>
            <a:tailEnd type="none" w="med" len="med"/>
          </a:ln>
        </p:spPr>
      </p:sp>
      <p:sp>
        <p:nvSpPr>
          <p:cNvPr id="9242" name="Line 26"/>
          <p:cNvSpPr/>
          <p:nvPr/>
        </p:nvSpPr>
        <p:spPr>
          <a:xfrm>
            <a:off x="1600200" y="3048000"/>
            <a:ext cx="1219200" cy="0"/>
          </a:xfrm>
          <a:prstGeom prst="line">
            <a:avLst/>
          </a:prstGeom>
          <a:ln w="25400" cap="flat" cmpd="sng">
            <a:solidFill>
              <a:schemeClr val="bg1"/>
            </a:solidFill>
            <a:prstDash val="solid"/>
            <a:round/>
            <a:headEnd type="none" w="med" len="med"/>
            <a:tailEnd type="stealth" w="med" len="lg"/>
          </a:ln>
        </p:spPr>
      </p:sp>
      <p:sp>
        <p:nvSpPr>
          <p:cNvPr id="9243" name="Line 27"/>
          <p:cNvSpPr/>
          <p:nvPr/>
        </p:nvSpPr>
        <p:spPr>
          <a:xfrm flipH="1">
            <a:off x="5410200" y="914400"/>
            <a:ext cx="990600" cy="0"/>
          </a:xfrm>
          <a:prstGeom prst="line">
            <a:avLst/>
          </a:prstGeom>
          <a:ln w="25400" cap="flat" cmpd="sng">
            <a:solidFill>
              <a:schemeClr val="bg1"/>
            </a:solidFill>
            <a:prstDash val="solid"/>
            <a:round/>
            <a:headEnd type="none" w="med" len="med"/>
            <a:tailEnd type="stealth" w="med" len="lg"/>
          </a:ln>
        </p:spPr>
      </p:sp>
      <p:sp>
        <p:nvSpPr>
          <p:cNvPr id="9244" name="Line 28"/>
          <p:cNvSpPr/>
          <p:nvPr/>
        </p:nvSpPr>
        <p:spPr>
          <a:xfrm>
            <a:off x="4724400" y="5486400"/>
            <a:ext cx="0" cy="381000"/>
          </a:xfrm>
          <a:prstGeom prst="line">
            <a:avLst/>
          </a:prstGeom>
          <a:ln w="25400" cap="flat" cmpd="sng">
            <a:solidFill>
              <a:schemeClr val="bg1"/>
            </a:solidFill>
            <a:prstDash val="solid"/>
            <a:round/>
            <a:headEnd type="none" w="med" len="med"/>
            <a:tailEnd type="stealth" w="med" len="lg"/>
          </a:ln>
        </p:spPr>
      </p:sp>
      <p:sp>
        <p:nvSpPr>
          <p:cNvPr id="34844" name="Text Box 29"/>
          <p:cNvSpPr txBox="1"/>
          <p:nvPr/>
        </p:nvSpPr>
        <p:spPr>
          <a:xfrm>
            <a:off x="1447800" y="4419600"/>
            <a:ext cx="914400" cy="457200"/>
          </a:xfrm>
          <a:prstGeom prst="rect">
            <a:avLst/>
          </a:prstGeom>
          <a:noFill/>
          <a:ln w="9525">
            <a:noFill/>
          </a:ln>
        </p:spPr>
        <p:txBody>
          <a:bodyPr anchor="t">
            <a:spAutoFit/>
          </a:bodyPr>
          <a:p>
            <a:pPr>
              <a:spcBef>
                <a:spcPct val="50000"/>
              </a:spcBef>
            </a:pPr>
            <a:r>
              <a:rPr lang="en-US" altLang="zh-CN" sz="2400" b="1" i="1" dirty="0">
                <a:solidFill>
                  <a:srgbClr val="DDDDDD"/>
                </a:solidFill>
                <a:latin typeface="Times New Roman" panose="02020603050405020304" pitchFamily="18" charset="0"/>
                <a:ea typeface="宋体" panose="02010600030101010101" pitchFamily="2" charset="-122"/>
              </a:rPr>
              <a:t>U</a:t>
            </a:r>
            <a:r>
              <a:rPr lang="en-US" altLang="zh-CN" sz="2400" b="1" baseline="-25000" dirty="0">
                <a:solidFill>
                  <a:srgbClr val="DDDDDD"/>
                </a:solidFill>
                <a:latin typeface="Times New Roman" panose="02020603050405020304" pitchFamily="18" charset="0"/>
                <a:ea typeface="宋体" panose="02010600030101010101" pitchFamily="2" charset="-122"/>
              </a:rPr>
              <a:t>BB</a:t>
            </a:r>
            <a:endParaRPr lang="en-US" altLang="zh-CN" sz="2400" b="1" baseline="-25000" dirty="0">
              <a:solidFill>
                <a:srgbClr val="DDDDDD"/>
              </a:solidFill>
              <a:latin typeface="Times New Roman" panose="02020603050405020304" pitchFamily="18" charset="0"/>
              <a:ea typeface="宋体" panose="02010600030101010101" pitchFamily="2" charset="-122"/>
            </a:endParaRPr>
          </a:p>
        </p:txBody>
      </p:sp>
      <p:sp>
        <p:nvSpPr>
          <p:cNvPr id="34845" name="Text Box 30"/>
          <p:cNvSpPr txBox="1"/>
          <p:nvPr/>
        </p:nvSpPr>
        <p:spPr>
          <a:xfrm>
            <a:off x="1371600" y="3429000"/>
            <a:ext cx="762000" cy="457200"/>
          </a:xfrm>
          <a:prstGeom prst="rect">
            <a:avLst/>
          </a:prstGeom>
          <a:noFill/>
          <a:ln w="9525">
            <a:noFill/>
          </a:ln>
        </p:spPr>
        <p:txBody>
          <a:bodyPr anchor="t">
            <a:spAutoFit/>
          </a:bodyPr>
          <a:p>
            <a:pPr>
              <a:spcBef>
                <a:spcPct val="50000"/>
              </a:spcBef>
            </a:pPr>
            <a:r>
              <a:rPr lang="en-US" altLang="zh-CN" sz="2400" b="1" i="1" dirty="0">
                <a:solidFill>
                  <a:srgbClr val="DDDDDD"/>
                </a:solidFill>
                <a:latin typeface="Times New Roman" panose="02020603050405020304" pitchFamily="18" charset="0"/>
                <a:ea typeface="宋体" panose="02010600030101010101" pitchFamily="2" charset="-122"/>
              </a:rPr>
              <a:t>R</a:t>
            </a:r>
            <a:r>
              <a:rPr lang="en-US" altLang="zh-CN" sz="2400" b="1" baseline="-25000" dirty="0">
                <a:solidFill>
                  <a:srgbClr val="DDDDDD"/>
                </a:solidFill>
                <a:latin typeface="Times New Roman" panose="02020603050405020304" pitchFamily="18" charset="0"/>
                <a:ea typeface="宋体" panose="02010600030101010101" pitchFamily="2" charset="-122"/>
              </a:rPr>
              <a:t>B</a:t>
            </a:r>
            <a:endParaRPr lang="en-US" altLang="zh-CN" sz="2400" b="1" baseline="-25000" dirty="0">
              <a:solidFill>
                <a:srgbClr val="DDDDDD"/>
              </a:solidFill>
              <a:latin typeface="Times New Roman" panose="02020603050405020304" pitchFamily="18" charset="0"/>
              <a:ea typeface="宋体" panose="02010600030101010101" pitchFamily="2" charset="-122"/>
            </a:endParaRPr>
          </a:p>
        </p:txBody>
      </p:sp>
      <p:sp>
        <p:nvSpPr>
          <p:cNvPr id="9247" name="Text Box 31"/>
          <p:cNvSpPr txBox="1"/>
          <p:nvPr/>
        </p:nvSpPr>
        <p:spPr>
          <a:xfrm>
            <a:off x="2057400" y="2590800"/>
            <a:ext cx="5334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9248" name="Text Box 32"/>
          <p:cNvSpPr txBox="1"/>
          <p:nvPr/>
        </p:nvSpPr>
        <p:spPr>
          <a:xfrm>
            <a:off x="5867400" y="457200"/>
            <a:ext cx="5334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4848" name="Text Box 33"/>
          <p:cNvSpPr txBox="1"/>
          <p:nvPr/>
        </p:nvSpPr>
        <p:spPr>
          <a:xfrm>
            <a:off x="8382000" y="4076700"/>
            <a:ext cx="762000" cy="457200"/>
          </a:xfrm>
          <a:prstGeom prst="rect">
            <a:avLst/>
          </a:prstGeom>
          <a:noFill/>
          <a:ln w="9525">
            <a:noFill/>
          </a:ln>
        </p:spPr>
        <p:txBody>
          <a:bodyPr anchor="t">
            <a:spAutoFit/>
          </a:bodyPr>
          <a:p>
            <a:pPr>
              <a:spcBef>
                <a:spcPct val="50000"/>
              </a:spcBef>
            </a:pPr>
            <a:r>
              <a:rPr lang="en-US" altLang="zh-CN" sz="2400" b="1" i="1" dirty="0">
                <a:solidFill>
                  <a:srgbClr val="DDDDDD"/>
                </a:solidFill>
                <a:latin typeface="Times New Roman" panose="02020603050405020304" pitchFamily="18" charset="0"/>
                <a:ea typeface="宋体" panose="02010600030101010101" pitchFamily="2" charset="-122"/>
              </a:rPr>
              <a:t>U</a:t>
            </a:r>
            <a:r>
              <a:rPr lang="en-US" altLang="zh-CN" sz="2400" b="1" baseline="-25000" dirty="0">
                <a:solidFill>
                  <a:srgbClr val="DDDDDD"/>
                </a:solidFill>
                <a:latin typeface="Times New Roman" panose="02020603050405020304" pitchFamily="18" charset="0"/>
                <a:ea typeface="宋体" panose="02010600030101010101" pitchFamily="2" charset="-122"/>
              </a:rPr>
              <a:t>CC</a:t>
            </a:r>
            <a:endParaRPr lang="en-US" altLang="zh-CN" sz="2400" b="1" baseline="-25000" dirty="0">
              <a:solidFill>
                <a:srgbClr val="DDDDDD"/>
              </a:solidFill>
              <a:latin typeface="Times New Roman" panose="02020603050405020304" pitchFamily="18" charset="0"/>
              <a:ea typeface="宋体" panose="02010600030101010101" pitchFamily="2" charset="-122"/>
            </a:endParaRPr>
          </a:p>
        </p:txBody>
      </p:sp>
      <p:sp>
        <p:nvSpPr>
          <p:cNvPr id="34849" name="Text Box 34"/>
          <p:cNvSpPr txBox="1"/>
          <p:nvPr/>
        </p:nvSpPr>
        <p:spPr>
          <a:xfrm>
            <a:off x="8305800" y="2819400"/>
            <a:ext cx="609600" cy="457200"/>
          </a:xfrm>
          <a:prstGeom prst="rect">
            <a:avLst/>
          </a:prstGeom>
          <a:noFill/>
          <a:ln w="9525">
            <a:noFill/>
          </a:ln>
        </p:spPr>
        <p:txBody>
          <a:bodyPr anchor="t">
            <a:spAutoFit/>
          </a:bodyPr>
          <a:p>
            <a:pPr>
              <a:spcBef>
                <a:spcPct val="50000"/>
              </a:spcBef>
            </a:pPr>
            <a:r>
              <a:rPr lang="en-US" altLang="zh-CN" sz="2400" b="1" i="1" dirty="0">
                <a:solidFill>
                  <a:srgbClr val="DDDDDD"/>
                </a:solidFill>
                <a:latin typeface="Times New Roman" panose="02020603050405020304" pitchFamily="18" charset="0"/>
                <a:ea typeface="宋体" panose="02010600030101010101" pitchFamily="2" charset="-122"/>
              </a:rPr>
              <a:t>R</a:t>
            </a:r>
            <a:r>
              <a:rPr lang="en-US" altLang="zh-CN" sz="2400" b="1" baseline="-25000" dirty="0">
                <a:solidFill>
                  <a:srgbClr val="DDDDDD"/>
                </a:solidFill>
                <a:latin typeface="Times New Roman" panose="02020603050405020304" pitchFamily="18" charset="0"/>
                <a:ea typeface="宋体" panose="02010600030101010101" pitchFamily="2" charset="-122"/>
              </a:rPr>
              <a:t>C</a:t>
            </a:r>
            <a:endParaRPr lang="en-US" altLang="zh-CN" sz="2400" b="1" baseline="-25000" dirty="0">
              <a:solidFill>
                <a:srgbClr val="DDDDDD"/>
              </a:solidFill>
              <a:latin typeface="Times New Roman" panose="02020603050405020304" pitchFamily="18" charset="0"/>
              <a:ea typeface="宋体" panose="02010600030101010101" pitchFamily="2" charset="-122"/>
            </a:endParaRPr>
          </a:p>
        </p:txBody>
      </p:sp>
      <p:sp>
        <p:nvSpPr>
          <p:cNvPr id="34850" name="Text Box 35"/>
          <p:cNvSpPr txBox="1"/>
          <p:nvPr/>
        </p:nvSpPr>
        <p:spPr>
          <a:xfrm>
            <a:off x="2971800" y="1447800"/>
            <a:ext cx="457200" cy="457200"/>
          </a:xfrm>
          <a:prstGeom prst="rect">
            <a:avLst/>
          </a:prstGeom>
          <a:noFill/>
          <a:ln w="9525">
            <a:noFill/>
          </a:ln>
        </p:spPr>
        <p:txBody>
          <a:bodyPr anchor="t">
            <a:spAutoFit/>
          </a:bodyPr>
          <a:p>
            <a:pPr>
              <a:spcBef>
                <a:spcPct val="50000"/>
              </a:spcBef>
            </a:pPr>
            <a:r>
              <a:rPr lang="en-US" altLang="zh-CN" sz="2400" b="1" dirty="0">
                <a:solidFill>
                  <a:srgbClr val="DDDDDD"/>
                </a:solidFill>
                <a:latin typeface="Times New Roman" panose="02020603050405020304" pitchFamily="18" charset="0"/>
                <a:ea typeface="宋体" panose="02010600030101010101" pitchFamily="2" charset="-122"/>
              </a:rPr>
              <a:t>N</a:t>
            </a:r>
            <a:endParaRPr lang="en-US" altLang="zh-CN" sz="2400" b="1" dirty="0">
              <a:solidFill>
                <a:srgbClr val="DDDDDD"/>
              </a:solidFill>
              <a:latin typeface="Times New Roman" panose="02020603050405020304" pitchFamily="18" charset="0"/>
              <a:ea typeface="宋体" panose="02010600030101010101" pitchFamily="2" charset="-122"/>
            </a:endParaRPr>
          </a:p>
        </p:txBody>
      </p:sp>
      <p:sp>
        <p:nvSpPr>
          <p:cNvPr id="34851" name="Text Box 36"/>
          <p:cNvSpPr txBox="1"/>
          <p:nvPr/>
        </p:nvSpPr>
        <p:spPr>
          <a:xfrm>
            <a:off x="2971800" y="2590800"/>
            <a:ext cx="685800" cy="457200"/>
          </a:xfrm>
          <a:prstGeom prst="rect">
            <a:avLst/>
          </a:prstGeom>
          <a:noFill/>
          <a:ln w="9525">
            <a:noFill/>
          </a:ln>
        </p:spPr>
        <p:txBody>
          <a:bodyPr anchor="t">
            <a:spAutoFit/>
          </a:bodyPr>
          <a:p>
            <a:pPr>
              <a:spcBef>
                <a:spcPct val="50000"/>
              </a:spcBef>
            </a:pPr>
            <a:r>
              <a:rPr lang="en-US" altLang="zh-CN" sz="2400" b="1" dirty="0">
                <a:solidFill>
                  <a:srgbClr val="DDDDDD"/>
                </a:solidFill>
                <a:latin typeface="Times New Roman" panose="02020603050405020304" pitchFamily="18" charset="0"/>
                <a:ea typeface="宋体" panose="02010600030101010101" pitchFamily="2" charset="-122"/>
              </a:rPr>
              <a:t>P</a:t>
            </a:r>
            <a:endParaRPr lang="en-US" altLang="zh-CN" sz="2400" b="1" dirty="0">
              <a:solidFill>
                <a:srgbClr val="DDDDDD"/>
              </a:solidFill>
              <a:latin typeface="Times New Roman" panose="02020603050405020304" pitchFamily="18" charset="0"/>
              <a:ea typeface="宋体" panose="02010600030101010101" pitchFamily="2" charset="-122"/>
            </a:endParaRPr>
          </a:p>
        </p:txBody>
      </p:sp>
      <p:sp>
        <p:nvSpPr>
          <p:cNvPr id="9253" name="Text Box 37"/>
          <p:cNvSpPr txBox="1"/>
          <p:nvPr/>
        </p:nvSpPr>
        <p:spPr>
          <a:xfrm>
            <a:off x="4787900" y="5516563"/>
            <a:ext cx="533400"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4853" name="Text Box 38"/>
          <p:cNvSpPr txBox="1"/>
          <p:nvPr/>
        </p:nvSpPr>
        <p:spPr>
          <a:xfrm>
            <a:off x="2971800" y="4876800"/>
            <a:ext cx="457200" cy="457200"/>
          </a:xfrm>
          <a:prstGeom prst="rect">
            <a:avLst/>
          </a:prstGeom>
          <a:noFill/>
          <a:ln w="9525">
            <a:noFill/>
          </a:ln>
        </p:spPr>
        <p:txBody>
          <a:bodyPr anchor="t">
            <a:spAutoFit/>
          </a:bodyPr>
          <a:p>
            <a:pPr>
              <a:spcBef>
                <a:spcPct val="50000"/>
              </a:spcBef>
            </a:pPr>
            <a:r>
              <a:rPr lang="en-US" altLang="zh-CN" sz="2400" b="1" dirty="0">
                <a:solidFill>
                  <a:srgbClr val="DDDDDD"/>
                </a:solidFill>
                <a:latin typeface="Times New Roman" panose="02020603050405020304" pitchFamily="18" charset="0"/>
                <a:ea typeface="宋体" panose="02010600030101010101" pitchFamily="2" charset="-122"/>
              </a:rPr>
              <a:t>N</a:t>
            </a:r>
            <a:endParaRPr lang="en-US" altLang="zh-CN" sz="2400" b="1" dirty="0">
              <a:solidFill>
                <a:srgbClr val="DDDDDD"/>
              </a:solidFill>
              <a:latin typeface="Times New Roman" panose="02020603050405020304" pitchFamily="18" charset="0"/>
              <a:ea typeface="宋体" panose="02010600030101010101" pitchFamily="2" charset="-122"/>
            </a:endParaRPr>
          </a:p>
        </p:txBody>
      </p:sp>
      <p:graphicFrame>
        <p:nvGraphicFramePr>
          <p:cNvPr id="34854" name="Object 39"/>
          <p:cNvGraphicFramePr>
            <a:graphicFrameLocks noChangeAspect="1"/>
          </p:cNvGraphicFramePr>
          <p:nvPr/>
        </p:nvGraphicFramePr>
        <p:xfrm>
          <a:off x="3581400" y="3962400"/>
          <a:ext cx="304800" cy="303213"/>
        </p:xfrm>
        <a:graphic>
          <a:graphicData uri="http://schemas.openxmlformats.org/presentationml/2006/ole">
            <mc:AlternateContent xmlns:mc="http://schemas.openxmlformats.org/markup-compatibility/2006">
              <mc:Choice xmlns:v="urn:schemas-microsoft-com:vml" Requires="v">
                <p:oleObj spid="_x0000_s3141" name="" r:id="rId1" imgW="9525" imgH="9525" progId="CorelDraw.Graphic.8">
                  <p:embed/>
                </p:oleObj>
              </mc:Choice>
              <mc:Fallback>
                <p:oleObj name="" r:id="rId1" imgW="9525" imgH="9525" progId="CorelDraw.Graphic.8">
                  <p:embed/>
                  <p:pic>
                    <p:nvPicPr>
                      <p:cNvPr id="0" name="图片 3140"/>
                      <p:cNvPicPr/>
                      <p:nvPr/>
                    </p:nvPicPr>
                    <p:blipFill>
                      <a:blip r:embed="rId2"/>
                      <a:stretch>
                        <a:fillRect/>
                      </a:stretch>
                    </p:blipFill>
                    <p:spPr>
                      <a:xfrm>
                        <a:off x="3581400" y="3962400"/>
                        <a:ext cx="304800" cy="303213"/>
                      </a:xfrm>
                      <a:prstGeom prst="rect">
                        <a:avLst/>
                      </a:prstGeom>
                      <a:noFill/>
                      <a:ln w="38100">
                        <a:noFill/>
                        <a:miter/>
                      </a:ln>
                    </p:spPr>
                  </p:pic>
                </p:oleObj>
              </mc:Fallback>
            </mc:AlternateContent>
          </a:graphicData>
        </a:graphic>
      </p:graphicFrame>
      <p:graphicFrame>
        <p:nvGraphicFramePr>
          <p:cNvPr id="34855" name="Object 40"/>
          <p:cNvGraphicFramePr>
            <a:graphicFrameLocks noChangeAspect="1"/>
          </p:cNvGraphicFramePr>
          <p:nvPr/>
        </p:nvGraphicFramePr>
        <p:xfrm>
          <a:off x="3505200" y="3048000"/>
          <a:ext cx="304800" cy="292100"/>
        </p:xfrm>
        <a:graphic>
          <a:graphicData uri="http://schemas.openxmlformats.org/presentationml/2006/ole">
            <mc:AlternateContent xmlns:mc="http://schemas.openxmlformats.org/markup-compatibility/2006">
              <mc:Choice xmlns:v="urn:schemas-microsoft-com:vml" Requires="v">
                <p:oleObj spid="_x0000_s3109" name="" r:id="rId3" imgW="9525" imgH="9525" progId="CorelDraw.Graphic.8">
                  <p:embed/>
                </p:oleObj>
              </mc:Choice>
              <mc:Fallback>
                <p:oleObj name="" r:id="rId3" imgW="9525" imgH="9525" progId="CorelDraw.Graphic.8">
                  <p:embed/>
                  <p:pic>
                    <p:nvPicPr>
                      <p:cNvPr id="0" name="图片 3108"/>
                      <p:cNvPicPr/>
                      <p:nvPr/>
                    </p:nvPicPr>
                    <p:blipFill>
                      <a:blip r:embed="rId4"/>
                      <a:stretch>
                        <a:fillRect/>
                      </a:stretch>
                    </p:blipFill>
                    <p:spPr>
                      <a:xfrm>
                        <a:off x="3505200" y="3048000"/>
                        <a:ext cx="304800" cy="292100"/>
                      </a:xfrm>
                      <a:prstGeom prst="rect">
                        <a:avLst/>
                      </a:prstGeom>
                      <a:noFill/>
                      <a:ln w="38100">
                        <a:noFill/>
                        <a:miter/>
                      </a:ln>
                    </p:spPr>
                  </p:pic>
                </p:oleObj>
              </mc:Fallback>
            </mc:AlternateContent>
          </a:graphicData>
        </a:graphic>
      </p:graphicFrame>
      <p:graphicFrame>
        <p:nvGraphicFramePr>
          <p:cNvPr id="34856" name="Object 41"/>
          <p:cNvGraphicFramePr>
            <a:graphicFrameLocks noChangeAspect="1"/>
          </p:cNvGraphicFramePr>
          <p:nvPr/>
        </p:nvGraphicFramePr>
        <p:xfrm>
          <a:off x="4114800" y="3962400"/>
          <a:ext cx="304800" cy="301625"/>
        </p:xfrm>
        <a:graphic>
          <a:graphicData uri="http://schemas.openxmlformats.org/presentationml/2006/ole">
            <mc:AlternateContent xmlns:mc="http://schemas.openxmlformats.org/markup-compatibility/2006">
              <mc:Choice xmlns:v="urn:schemas-microsoft-com:vml" Requires="v">
                <p:oleObj spid="_x0000_s3108" name="" r:id="rId5" imgW="9525" imgH="9525" progId="CorelDraw.Graphic.8">
                  <p:embed/>
                </p:oleObj>
              </mc:Choice>
              <mc:Fallback>
                <p:oleObj name="" r:id="rId5" imgW="9525" imgH="9525" progId="CorelDraw.Graphic.8">
                  <p:embed/>
                  <p:pic>
                    <p:nvPicPr>
                      <p:cNvPr id="0" name="图片 3107"/>
                      <p:cNvPicPr/>
                      <p:nvPr/>
                    </p:nvPicPr>
                    <p:blipFill>
                      <a:blip r:embed="rId2"/>
                      <a:stretch>
                        <a:fillRect/>
                      </a:stretch>
                    </p:blipFill>
                    <p:spPr>
                      <a:xfrm>
                        <a:off x="4114800" y="3962400"/>
                        <a:ext cx="304800" cy="301625"/>
                      </a:xfrm>
                      <a:prstGeom prst="rect">
                        <a:avLst/>
                      </a:prstGeom>
                      <a:noFill/>
                      <a:ln w="38100">
                        <a:noFill/>
                        <a:miter/>
                      </a:ln>
                    </p:spPr>
                  </p:pic>
                </p:oleObj>
              </mc:Fallback>
            </mc:AlternateContent>
          </a:graphicData>
        </a:graphic>
      </p:graphicFrame>
      <p:graphicFrame>
        <p:nvGraphicFramePr>
          <p:cNvPr id="9258" name="Object 42"/>
          <p:cNvGraphicFramePr>
            <a:graphicFrameLocks noChangeAspect="1"/>
          </p:cNvGraphicFramePr>
          <p:nvPr/>
        </p:nvGraphicFramePr>
        <p:xfrm>
          <a:off x="5029200" y="4876800"/>
          <a:ext cx="304800" cy="301625"/>
        </p:xfrm>
        <a:graphic>
          <a:graphicData uri="http://schemas.openxmlformats.org/presentationml/2006/ole">
            <mc:AlternateContent xmlns:mc="http://schemas.openxmlformats.org/markup-compatibility/2006">
              <mc:Choice xmlns:v="urn:schemas-microsoft-com:vml" Requires="v">
                <p:oleObj spid="_x0000_s3106" name="" r:id="rId6" imgW="9525" imgH="9525" progId="CorelDraw.Graphic.8">
                  <p:embed/>
                </p:oleObj>
              </mc:Choice>
              <mc:Fallback>
                <p:oleObj name="" r:id="rId6" imgW="9525" imgH="9525" progId="CorelDraw.Graphic.8">
                  <p:embed/>
                  <p:pic>
                    <p:nvPicPr>
                      <p:cNvPr id="0" name="图片 3105"/>
                      <p:cNvPicPr/>
                      <p:nvPr/>
                    </p:nvPicPr>
                    <p:blipFill>
                      <a:blip r:embed="rId2"/>
                      <a:stretch>
                        <a:fillRect/>
                      </a:stretch>
                    </p:blipFill>
                    <p:spPr>
                      <a:xfrm>
                        <a:off x="5029200" y="4876800"/>
                        <a:ext cx="304800" cy="301625"/>
                      </a:xfrm>
                      <a:prstGeom prst="rect">
                        <a:avLst/>
                      </a:prstGeom>
                      <a:noFill/>
                      <a:ln w="38100">
                        <a:noFill/>
                        <a:miter/>
                      </a:ln>
                    </p:spPr>
                  </p:pic>
                </p:oleObj>
              </mc:Fallback>
            </mc:AlternateContent>
          </a:graphicData>
        </a:graphic>
      </p:graphicFrame>
      <p:graphicFrame>
        <p:nvGraphicFramePr>
          <p:cNvPr id="34858" name="Object 43"/>
          <p:cNvGraphicFramePr>
            <a:graphicFrameLocks noChangeAspect="1"/>
          </p:cNvGraphicFramePr>
          <p:nvPr/>
        </p:nvGraphicFramePr>
        <p:xfrm>
          <a:off x="3810000" y="4419600"/>
          <a:ext cx="304800" cy="301625"/>
        </p:xfrm>
        <a:graphic>
          <a:graphicData uri="http://schemas.openxmlformats.org/presentationml/2006/ole">
            <mc:AlternateContent xmlns:mc="http://schemas.openxmlformats.org/markup-compatibility/2006">
              <mc:Choice xmlns:v="urn:schemas-microsoft-com:vml" Requires="v">
                <p:oleObj spid="_x0000_s3107" name="" r:id="rId7" imgW="9525" imgH="9525" progId="CorelDraw.Graphic.8">
                  <p:embed/>
                </p:oleObj>
              </mc:Choice>
              <mc:Fallback>
                <p:oleObj name="" r:id="rId7" imgW="9525" imgH="9525" progId="CorelDraw.Graphic.8">
                  <p:embed/>
                  <p:pic>
                    <p:nvPicPr>
                      <p:cNvPr id="0" name="图片 3106"/>
                      <p:cNvPicPr/>
                      <p:nvPr/>
                    </p:nvPicPr>
                    <p:blipFill>
                      <a:blip r:embed="rId2"/>
                      <a:stretch>
                        <a:fillRect/>
                      </a:stretch>
                    </p:blipFill>
                    <p:spPr>
                      <a:xfrm>
                        <a:off x="3810000" y="4419600"/>
                        <a:ext cx="304800" cy="301625"/>
                      </a:xfrm>
                      <a:prstGeom prst="rect">
                        <a:avLst/>
                      </a:prstGeom>
                      <a:noFill/>
                      <a:ln w="38100">
                        <a:noFill/>
                        <a:miter/>
                      </a:ln>
                    </p:spPr>
                  </p:pic>
                </p:oleObj>
              </mc:Fallback>
            </mc:AlternateContent>
          </a:graphicData>
        </a:graphic>
      </p:graphicFrame>
      <p:graphicFrame>
        <p:nvGraphicFramePr>
          <p:cNvPr id="34859" name="Object 44"/>
          <p:cNvGraphicFramePr>
            <a:graphicFrameLocks noChangeAspect="1"/>
          </p:cNvGraphicFramePr>
          <p:nvPr/>
        </p:nvGraphicFramePr>
        <p:xfrm>
          <a:off x="3505200" y="4800600"/>
          <a:ext cx="304800" cy="301625"/>
        </p:xfrm>
        <a:graphic>
          <a:graphicData uri="http://schemas.openxmlformats.org/presentationml/2006/ole">
            <mc:AlternateContent xmlns:mc="http://schemas.openxmlformats.org/markup-compatibility/2006">
              <mc:Choice xmlns:v="urn:schemas-microsoft-com:vml" Requires="v">
                <p:oleObj spid="_x0000_s3103" name="" r:id="rId8" imgW="9525" imgH="9525" progId="CorelDraw.Graphic.8">
                  <p:embed/>
                </p:oleObj>
              </mc:Choice>
              <mc:Fallback>
                <p:oleObj name="" r:id="rId8" imgW="9525" imgH="9525" progId="CorelDraw.Graphic.8">
                  <p:embed/>
                  <p:pic>
                    <p:nvPicPr>
                      <p:cNvPr id="0" name="图片 3102"/>
                      <p:cNvPicPr/>
                      <p:nvPr/>
                    </p:nvPicPr>
                    <p:blipFill>
                      <a:blip r:embed="rId2"/>
                      <a:stretch>
                        <a:fillRect/>
                      </a:stretch>
                    </p:blipFill>
                    <p:spPr>
                      <a:xfrm>
                        <a:off x="3505200" y="4800600"/>
                        <a:ext cx="304800" cy="301625"/>
                      </a:xfrm>
                      <a:prstGeom prst="rect">
                        <a:avLst/>
                      </a:prstGeom>
                      <a:noFill/>
                      <a:ln w="38100">
                        <a:noFill/>
                        <a:miter/>
                      </a:ln>
                    </p:spPr>
                  </p:pic>
                </p:oleObj>
              </mc:Fallback>
            </mc:AlternateContent>
          </a:graphicData>
        </a:graphic>
      </p:graphicFrame>
      <p:graphicFrame>
        <p:nvGraphicFramePr>
          <p:cNvPr id="34860" name="Object 45"/>
          <p:cNvGraphicFramePr>
            <a:graphicFrameLocks noChangeAspect="1"/>
          </p:cNvGraphicFramePr>
          <p:nvPr/>
        </p:nvGraphicFramePr>
        <p:xfrm>
          <a:off x="4572000" y="3884613"/>
          <a:ext cx="304800" cy="303212"/>
        </p:xfrm>
        <a:graphic>
          <a:graphicData uri="http://schemas.openxmlformats.org/presentationml/2006/ole">
            <mc:AlternateContent xmlns:mc="http://schemas.openxmlformats.org/markup-compatibility/2006">
              <mc:Choice xmlns:v="urn:schemas-microsoft-com:vml" Requires="v">
                <p:oleObj spid="_x0000_s3122" name="" r:id="rId9" imgW="9525" imgH="9525" progId="CorelDraw.Graphic.8">
                  <p:embed/>
                </p:oleObj>
              </mc:Choice>
              <mc:Fallback>
                <p:oleObj name="" r:id="rId9" imgW="9525" imgH="9525" progId="CorelDraw.Graphic.8">
                  <p:embed/>
                  <p:pic>
                    <p:nvPicPr>
                      <p:cNvPr id="0" name="图片 3121"/>
                      <p:cNvPicPr/>
                      <p:nvPr/>
                    </p:nvPicPr>
                    <p:blipFill>
                      <a:blip r:embed="rId2"/>
                      <a:stretch>
                        <a:fillRect/>
                      </a:stretch>
                    </p:blipFill>
                    <p:spPr>
                      <a:xfrm>
                        <a:off x="4572000" y="3884613"/>
                        <a:ext cx="304800" cy="303212"/>
                      </a:xfrm>
                      <a:prstGeom prst="rect">
                        <a:avLst/>
                      </a:prstGeom>
                      <a:noFill/>
                      <a:ln w="38100">
                        <a:noFill/>
                        <a:miter/>
                      </a:ln>
                    </p:spPr>
                  </p:pic>
                </p:oleObj>
              </mc:Fallback>
            </mc:AlternateContent>
          </a:graphicData>
        </a:graphic>
      </p:graphicFrame>
      <p:graphicFrame>
        <p:nvGraphicFramePr>
          <p:cNvPr id="34861" name="Object 46"/>
          <p:cNvGraphicFramePr>
            <a:graphicFrameLocks noChangeAspect="1"/>
          </p:cNvGraphicFramePr>
          <p:nvPr/>
        </p:nvGraphicFramePr>
        <p:xfrm>
          <a:off x="5105400" y="3886200"/>
          <a:ext cx="304800" cy="301625"/>
        </p:xfrm>
        <a:graphic>
          <a:graphicData uri="http://schemas.openxmlformats.org/presentationml/2006/ole">
            <mc:AlternateContent xmlns:mc="http://schemas.openxmlformats.org/markup-compatibility/2006">
              <mc:Choice xmlns:v="urn:schemas-microsoft-com:vml" Requires="v">
                <p:oleObj spid="_x0000_s3125" name="" r:id="rId10" imgW="9525" imgH="9525" progId="CorelDraw.Graphic.8">
                  <p:embed/>
                </p:oleObj>
              </mc:Choice>
              <mc:Fallback>
                <p:oleObj name="" r:id="rId10" imgW="9525" imgH="9525" progId="CorelDraw.Graphic.8">
                  <p:embed/>
                  <p:pic>
                    <p:nvPicPr>
                      <p:cNvPr id="0" name="图片 3124"/>
                      <p:cNvPicPr/>
                      <p:nvPr/>
                    </p:nvPicPr>
                    <p:blipFill>
                      <a:blip r:embed="rId2"/>
                      <a:stretch>
                        <a:fillRect/>
                      </a:stretch>
                    </p:blipFill>
                    <p:spPr>
                      <a:xfrm>
                        <a:off x="5105400" y="3886200"/>
                        <a:ext cx="304800" cy="301625"/>
                      </a:xfrm>
                      <a:prstGeom prst="rect">
                        <a:avLst/>
                      </a:prstGeom>
                      <a:noFill/>
                      <a:ln w="38100">
                        <a:noFill/>
                        <a:miter/>
                      </a:ln>
                    </p:spPr>
                  </p:pic>
                </p:oleObj>
              </mc:Fallback>
            </mc:AlternateContent>
          </a:graphicData>
        </a:graphic>
      </p:graphicFrame>
      <p:graphicFrame>
        <p:nvGraphicFramePr>
          <p:cNvPr id="34862" name="Object 47"/>
          <p:cNvGraphicFramePr>
            <a:graphicFrameLocks noChangeAspect="1"/>
          </p:cNvGraphicFramePr>
          <p:nvPr/>
        </p:nvGraphicFramePr>
        <p:xfrm>
          <a:off x="4800600" y="4343400"/>
          <a:ext cx="304800" cy="303213"/>
        </p:xfrm>
        <a:graphic>
          <a:graphicData uri="http://schemas.openxmlformats.org/presentationml/2006/ole">
            <mc:AlternateContent xmlns:mc="http://schemas.openxmlformats.org/markup-compatibility/2006">
              <mc:Choice xmlns:v="urn:schemas-microsoft-com:vml" Requires="v">
                <p:oleObj spid="_x0000_s3123" name="" r:id="rId11" imgW="9525" imgH="9525" progId="CorelDraw.Graphic.8">
                  <p:embed/>
                </p:oleObj>
              </mc:Choice>
              <mc:Fallback>
                <p:oleObj name="" r:id="rId11" imgW="9525" imgH="9525" progId="CorelDraw.Graphic.8">
                  <p:embed/>
                  <p:pic>
                    <p:nvPicPr>
                      <p:cNvPr id="0" name="图片 3122"/>
                      <p:cNvPicPr/>
                      <p:nvPr/>
                    </p:nvPicPr>
                    <p:blipFill>
                      <a:blip r:embed="rId2"/>
                      <a:stretch>
                        <a:fillRect/>
                      </a:stretch>
                    </p:blipFill>
                    <p:spPr>
                      <a:xfrm>
                        <a:off x="4800600" y="4343400"/>
                        <a:ext cx="304800" cy="303213"/>
                      </a:xfrm>
                      <a:prstGeom prst="rect">
                        <a:avLst/>
                      </a:prstGeom>
                      <a:noFill/>
                      <a:ln w="38100">
                        <a:noFill/>
                        <a:miter/>
                      </a:ln>
                    </p:spPr>
                  </p:pic>
                </p:oleObj>
              </mc:Fallback>
            </mc:AlternateContent>
          </a:graphicData>
        </a:graphic>
      </p:graphicFrame>
      <p:graphicFrame>
        <p:nvGraphicFramePr>
          <p:cNvPr id="9264" name="Object 48"/>
          <p:cNvGraphicFramePr>
            <a:graphicFrameLocks noChangeAspect="1"/>
          </p:cNvGraphicFramePr>
          <p:nvPr/>
        </p:nvGraphicFramePr>
        <p:xfrm>
          <a:off x="5257800" y="3198813"/>
          <a:ext cx="304800" cy="303212"/>
        </p:xfrm>
        <a:graphic>
          <a:graphicData uri="http://schemas.openxmlformats.org/presentationml/2006/ole">
            <mc:AlternateContent xmlns:mc="http://schemas.openxmlformats.org/markup-compatibility/2006">
              <mc:Choice xmlns:v="urn:schemas-microsoft-com:vml" Requires="v">
                <p:oleObj spid="_x0000_s3105" name="" r:id="rId12" imgW="9525" imgH="9525" progId="CorelDraw.Graphic.8">
                  <p:embed/>
                </p:oleObj>
              </mc:Choice>
              <mc:Fallback>
                <p:oleObj name="" r:id="rId12" imgW="9525" imgH="9525" progId="CorelDraw.Graphic.8">
                  <p:embed/>
                  <p:pic>
                    <p:nvPicPr>
                      <p:cNvPr id="0" name="图片 3104"/>
                      <p:cNvPicPr/>
                      <p:nvPr/>
                    </p:nvPicPr>
                    <p:blipFill>
                      <a:blip r:embed="rId2"/>
                      <a:stretch>
                        <a:fillRect/>
                      </a:stretch>
                    </p:blipFill>
                    <p:spPr>
                      <a:xfrm>
                        <a:off x="5257800" y="3198813"/>
                        <a:ext cx="304800" cy="303212"/>
                      </a:xfrm>
                      <a:prstGeom prst="rect">
                        <a:avLst/>
                      </a:prstGeom>
                      <a:noFill/>
                      <a:ln w="38100">
                        <a:noFill/>
                        <a:miter/>
                      </a:ln>
                    </p:spPr>
                  </p:pic>
                </p:oleObj>
              </mc:Fallback>
            </mc:AlternateContent>
          </a:graphicData>
        </a:graphic>
      </p:graphicFrame>
      <p:graphicFrame>
        <p:nvGraphicFramePr>
          <p:cNvPr id="9265" name="Object 49"/>
          <p:cNvGraphicFramePr>
            <a:graphicFrameLocks noChangeAspect="1"/>
          </p:cNvGraphicFramePr>
          <p:nvPr/>
        </p:nvGraphicFramePr>
        <p:xfrm>
          <a:off x="4800600" y="3200400"/>
          <a:ext cx="304800" cy="301625"/>
        </p:xfrm>
        <a:graphic>
          <a:graphicData uri="http://schemas.openxmlformats.org/presentationml/2006/ole">
            <mc:AlternateContent xmlns:mc="http://schemas.openxmlformats.org/markup-compatibility/2006">
              <mc:Choice xmlns:v="urn:schemas-microsoft-com:vml" Requires="v">
                <p:oleObj spid="_x0000_s3124" name="" r:id="rId13" imgW="9525" imgH="9525" progId="CorelDraw.Graphic.8">
                  <p:embed/>
                </p:oleObj>
              </mc:Choice>
              <mc:Fallback>
                <p:oleObj name="" r:id="rId13" imgW="9525" imgH="9525" progId="CorelDraw.Graphic.8">
                  <p:embed/>
                  <p:pic>
                    <p:nvPicPr>
                      <p:cNvPr id="0" name="图片 3123"/>
                      <p:cNvPicPr/>
                      <p:nvPr/>
                    </p:nvPicPr>
                    <p:blipFill>
                      <a:blip r:embed="rId2"/>
                      <a:stretch>
                        <a:fillRect/>
                      </a:stretch>
                    </p:blipFill>
                    <p:spPr>
                      <a:xfrm>
                        <a:off x="4800600" y="3200400"/>
                        <a:ext cx="304800" cy="301625"/>
                      </a:xfrm>
                      <a:prstGeom prst="rect">
                        <a:avLst/>
                      </a:prstGeom>
                      <a:noFill/>
                      <a:ln w="38100">
                        <a:noFill/>
                        <a:miter/>
                      </a:ln>
                    </p:spPr>
                  </p:pic>
                </p:oleObj>
              </mc:Fallback>
            </mc:AlternateContent>
          </a:graphicData>
        </a:graphic>
      </p:graphicFrame>
      <p:graphicFrame>
        <p:nvGraphicFramePr>
          <p:cNvPr id="9266" name="Object 50"/>
          <p:cNvGraphicFramePr>
            <a:graphicFrameLocks noChangeAspect="1"/>
          </p:cNvGraphicFramePr>
          <p:nvPr/>
        </p:nvGraphicFramePr>
        <p:xfrm>
          <a:off x="4343400" y="3048000"/>
          <a:ext cx="304800" cy="301625"/>
        </p:xfrm>
        <a:graphic>
          <a:graphicData uri="http://schemas.openxmlformats.org/presentationml/2006/ole">
            <mc:AlternateContent xmlns:mc="http://schemas.openxmlformats.org/markup-compatibility/2006">
              <mc:Choice xmlns:v="urn:schemas-microsoft-com:vml" Requires="v">
                <p:oleObj spid="_x0000_s3144" name="" r:id="rId14" imgW="9525" imgH="9525" progId="CorelDraw.Graphic.8">
                  <p:embed/>
                </p:oleObj>
              </mc:Choice>
              <mc:Fallback>
                <p:oleObj name="" r:id="rId14" imgW="9525" imgH="9525" progId="CorelDraw.Graphic.8">
                  <p:embed/>
                  <p:pic>
                    <p:nvPicPr>
                      <p:cNvPr id="0" name="图片 3143"/>
                      <p:cNvPicPr/>
                      <p:nvPr/>
                    </p:nvPicPr>
                    <p:blipFill>
                      <a:blip r:embed="rId2"/>
                      <a:stretch>
                        <a:fillRect/>
                      </a:stretch>
                    </p:blipFill>
                    <p:spPr>
                      <a:xfrm>
                        <a:off x="4343400" y="3048000"/>
                        <a:ext cx="304800" cy="301625"/>
                      </a:xfrm>
                      <a:prstGeom prst="rect">
                        <a:avLst/>
                      </a:prstGeom>
                      <a:noFill/>
                      <a:ln w="38100">
                        <a:noFill/>
                        <a:miter/>
                      </a:ln>
                    </p:spPr>
                  </p:pic>
                </p:oleObj>
              </mc:Fallback>
            </mc:AlternateContent>
          </a:graphicData>
        </a:graphic>
      </p:graphicFrame>
      <p:graphicFrame>
        <p:nvGraphicFramePr>
          <p:cNvPr id="9267" name="Object 51"/>
          <p:cNvGraphicFramePr>
            <a:graphicFrameLocks noChangeAspect="1"/>
          </p:cNvGraphicFramePr>
          <p:nvPr/>
        </p:nvGraphicFramePr>
        <p:xfrm>
          <a:off x="2667000" y="3200400"/>
          <a:ext cx="304800" cy="301625"/>
        </p:xfrm>
        <a:graphic>
          <a:graphicData uri="http://schemas.openxmlformats.org/presentationml/2006/ole">
            <mc:AlternateContent xmlns:mc="http://schemas.openxmlformats.org/markup-compatibility/2006">
              <mc:Choice xmlns:v="urn:schemas-microsoft-com:vml" Requires="v">
                <p:oleObj spid="_x0000_s3100" name="" r:id="rId15" imgW="9525" imgH="9525" progId="CorelDraw.Graphic.8">
                  <p:embed/>
                </p:oleObj>
              </mc:Choice>
              <mc:Fallback>
                <p:oleObj name="" r:id="rId15" imgW="9525" imgH="9525" progId="CorelDraw.Graphic.8">
                  <p:embed/>
                  <p:pic>
                    <p:nvPicPr>
                      <p:cNvPr id="0" name="图片 3099"/>
                      <p:cNvPicPr/>
                      <p:nvPr/>
                    </p:nvPicPr>
                    <p:blipFill>
                      <a:blip r:embed="rId2"/>
                      <a:stretch>
                        <a:fillRect/>
                      </a:stretch>
                    </p:blipFill>
                    <p:spPr>
                      <a:xfrm>
                        <a:off x="2667000" y="3200400"/>
                        <a:ext cx="304800" cy="301625"/>
                      </a:xfrm>
                      <a:prstGeom prst="rect">
                        <a:avLst/>
                      </a:prstGeom>
                      <a:noFill/>
                      <a:ln w="38100">
                        <a:noFill/>
                        <a:miter/>
                      </a:ln>
                    </p:spPr>
                  </p:pic>
                </p:oleObj>
              </mc:Fallback>
            </mc:AlternateContent>
          </a:graphicData>
        </a:graphic>
      </p:graphicFrame>
      <p:graphicFrame>
        <p:nvGraphicFramePr>
          <p:cNvPr id="9268" name="Object 52"/>
          <p:cNvGraphicFramePr>
            <a:graphicFrameLocks noChangeAspect="1"/>
          </p:cNvGraphicFramePr>
          <p:nvPr/>
        </p:nvGraphicFramePr>
        <p:xfrm>
          <a:off x="4114800" y="5410200"/>
          <a:ext cx="304800" cy="301625"/>
        </p:xfrm>
        <a:graphic>
          <a:graphicData uri="http://schemas.openxmlformats.org/presentationml/2006/ole">
            <mc:AlternateContent xmlns:mc="http://schemas.openxmlformats.org/markup-compatibility/2006">
              <mc:Choice xmlns:v="urn:schemas-microsoft-com:vml" Requires="v">
                <p:oleObj spid="_x0000_s3102" name="" r:id="rId16" imgW="9525" imgH="9525" progId="CorelDraw.Graphic.8">
                  <p:embed/>
                </p:oleObj>
              </mc:Choice>
              <mc:Fallback>
                <p:oleObj name="" r:id="rId16" imgW="9525" imgH="9525" progId="CorelDraw.Graphic.8">
                  <p:embed/>
                  <p:pic>
                    <p:nvPicPr>
                      <p:cNvPr id="0" name="图片 3101"/>
                      <p:cNvPicPr/>
                      <p:nvPr/>
                    </p:nvPicPr>
                    <p:blipFill>
                      <a:blip r:embed="rId2"/>
                      <a:stretch>
                        <a:fillRect/>
                      </a:stretch>
                    </p:blipFill>
                    <p:spPr>
                      <a:xfrm>
                        <a:off x="4114800" y="5410200"/>
                        <a:ext cx="304800" cy="301625"/>
                      </a:xfrm>
                      <a:prstGeom prst="rect">
                        <a:avLst/>
                      </a:prstGeom>
                      <a:noFill/>
                      <a:ln w="38100">
                        <a:noFill/>
                        <a:miter/>
                      </a:ln>
                    </p:spPr>
                  </p:pic>
                </p:oleObj>
              </mc:Fallback>
            </mc:AlternateContent>
          </a:graphicData>
        </a:graphic>
      </p:graphicFrame>
      <p:graphicFrame>
        <p:nvGraphicFramePr>
          <p:cNvPr id="34868" name="Object 53"/>
          <p:cNvGraphicFramePr>
            <a:graphicFrameLocks noChangeAspect="1"/>
          </p:cNvGraphicFramePr>
          <p:nvPr/>
        </p:nvGraphicFramePr>
        <p:xfrm>
          <a:off x="4343400" y="4343400"/>
          <a:ext cx="304800" cy="301625"/>
        </p:xfrm>
        <a:graphic>
          <a:graphicData uri="http://schemas.openxmlformats.org/presentationml/2006/ole">
            <mc:AlternateContent xmlns:mc="http://schemas.openxmlformats.org/markup-compatibility/2006">
              <mc:Choice xmlns:v="urn:schemas-microsoft-com:vml" Requires="v">
                <p:oleObj spid="_x0000_s3127" name="" r:id="rId17" imgW="9525" imgH="9525" progId="CorelDraw.Graphic.8">
                  <p:embed/>
                </p:oleObj>
              </mc:Choice>
              <mc:Fallback>
                <p:oleObj name="" r:id="rId17" imgW="9525" imgH="9525" progId="CorelDraw.Graphic.8">
                  <p:embed/>
                  <p:pic>
                    <p:nvPicPr>
                      <p:cNvPr id="0" name="图片 3126"/>
                      <p:cNvPicPr/>
                      <p:nvPr/>
                    </p:nvPicPr>
                    <p:blipFill>
                      <a:blip r:embed="rId2"/>
                      <a:stretch>
                        <a:fillRect/>
                      </a:stretch>
                    </p:blipFill>
                    <p:spPr>
                      <a:xfrm>
                        <a:off x="4343400" y="4343400"/>
                        <a:ext cx="304800" cy="301625"/>
                      </a:xfrm>
                      <a:prstGeom prst="rect">
                        <a:avLst/>
                      </a:prstGeom>
                      <a:noFill/>
                      <a:ln w="38100">
                        <a:noFill/>
                        <a:miter/>
                      </a:ln>
                    </p:spPr>
                  </p:pic>
                </p:oleObj>
              </mc:Fallback>
            </mc:AlternateContent>
          </a:graphicData>
        </a:graphic>
      </p:graphicFrame>
      <p:graphicFrame>
        <p:nvGraphicFramePr>
          <p:cNvPr id="9270" name="Object 54"/>
          <p:cNvGraphicFramePr>
            <a:graphicFrameLocks noChangeAspect="1"/>
          </p:cNvGraphicFramePr>
          <p:nvPr/>
        </p:nvGraphicFramePr>
        <p:xfrm>
          <a:off x="4038600" y="5715000"/>
          <a:ext cx="304800" cy="303213"/>
        </p:xfrm>
        <a:graphic>
          <a:graphicData uri="http://schemas.openxmlformats.org/presentationml/2006/ole">
            <mc:AlternateContent xmlns:mc="http://schemas.openxmlformats.org/markup-compatibility/2006">
              <mc:Choice xmlns:v="urn:schemas-microsoft-com:vml" Requires="v">
                <p:oleObj spid="_x0000_s3128" name="" r:id="rId18" imgW="9525" imgH="9525" progId="CorelDraw.Graphic.8">
                  <p:embed/>
                </p:oleObj>
              </mc:Choice>
              <mc:Fallback>
                <p:oleObj name="" r:id="rId18" imgW="9525" imgH="9525" progId="CorelDraw.Graphic.8">
                  <p:embed/>
                  <p:pic>
                    <p:nvPicPr>
                      <p:cNvPr id="0" name="图片 3127"/>
                      <p:cNvPicPr/>
                      <p:nvPr/>
                    </p:nvPicPr>
                    <p:blipFill>
                      <a:blip r:embed="rId2"/>
                      <a:stretch>
                        <a:fillRect/>
                      </a:stretch>
                    </p:blipFill>
                    <p:spPr>
                      <a:xfrm>
                        <a:off x="4038600" y="5715000"/>
                        <a:ext cx="304800" cy="303213"/>
                      </a:xfrm>
                      <a:prstGeom prst="rect">
                        <a:avLst/>
                      </a:prstGeom>
                      <a:noFill/>
                      <a:ln w="38100">
                        <a:noFill/>
                        <a:miter/>
                      </a:ln>
                    </p:spPr>
                  </p:pic>
                </p:oleObj>
              </mc:Fallback>
            </mc:AlternateContent>
          </a:graphicData>
        </a:graphic>
      </p:graphicFrame>
      <p:graphicFrame>
        <p:nvGraphicFramePr>
          <p:cNvPr id="9271" name="Object 55"/>
          <p:cNvGraphicFramePr>
            <a:graphicFrameLocks noChangeAspect="1"/>
          </p:cNvGraphicFramePr>
          <p:nvPr/>
        </p:nvGraphicFramePr>
        <p:xfrm>
          <a:off x="3962400" y="4800600"/>
          <a:ext cx="304800" cy="303213"/>
        </p:xfrm>
        <a:graphic>
          <a:graphicData uri="http://schemas.openxmlformats.org/presentationml/2006/ole">
            <mc:AlternateContent xmlns:mc="http://schemas.openxmlformats.org/markup-compatibility/2006">
              <mc:Choice xmlns:v="urn:schemas-microsoft-com:vml" Requires="v">
                <p:oleObj spid="_x0000_s3126" name="" r:id="rId19" imgW="9525" imgH="9525" progId="CorelDraw.Graphic.8">
                  <p:embed/>
                </p:oleObj>
              </mc:Choice>
              <mc:Fallback>
                <p:oleObj name="" r:id="rId19" imgW="9525" imgH="9525" progId="CorelDraw.Graphic.8">
                  <p:embed/>
                  <p:pic>
                    <p:nvPicPr>
                      <p:cNvPr id="0" name="图片 3125"/>
                      <p:cNvPicPr/>
                      <p:nvPr/>
                    </p:nvPicPr>
                    <p:blipFill>
                      <a:blip r:embed="rId2"/>
                      <a:stretch>
                        <a:fillRect/>
                      </a:stretch>
                    </p:blipFill>
                    <p:spPr>
                      <a:xfrm>
                        <a:off x="3962400" y="4800600"/>
                        <a:ext cx="304800" cy="303213"/>
                      </a:xfrm>
                      <a:prstGeom prst="rect">
                        <a:avLst/>
                      </a:prstGeom>
                      <a:noFill/>
                      <a:ln w="38100">
                        <a:noFill/>
                        <a:miter/>
                      </a:ln>
                    </p:spPr>
                  </p:pic>
                </p:oleObj>
              </mc:Fallback>
            </mc:AlternateContent>
          </a:graphicData>
        </a:graphic>
      </p:graphicFrame>
      <p:graphicFrame>
        <p:nvGraphicFramePr>
          <p:cNvPr id="34871" name="Object 56"/>
          <p:cNvGraphicFramePr>
            <a:graphicFrameLocks noChangeAspect="1"/>
          </p:cNvGraphicFramePr>
          <p:nvPr/>
        </p:nvGraphicFramePr>
        <p:xfrm>
          <a:off x="3505200" y="2133600"/>
          <a:ext cx="304800" cy="301625"/>
        </p:xfrm>
        <a:graphic>
          <a:graphicData uri="http://schemas.openxmlformats.org/presentationml/2006/ole">
            <mc:AlternateContent xmlns:mc="http://schemas.openxmlformats.org/markup-compatibility/2006">
              <mc:Choice xmlns:v="urn:schemas-microsoft-com:vml" Requires="v">
                <p:oleObj spid="_x0000_s3129" name="" r:id="rId20" imgW="9525" imgH="9525" progId="CorelDraw.Graphic.8">
                  <p:embed/>
                </p:oleObj>
              </mc:Choice>
              <mc:Fallback>
                <p:oleObj name="" r:id="rId20" imgW="9525" imgH="9525" progId="CorelDraw.Graphic.8">
                  <p:embed/>
                  <p:pic>
                    <p:nvPicPr>
                      <p:cNvPr id="0" name="图片 3128"/>
                      <p:cNvPicPr/>
                      <p:nvPr/>
                    </p:nvPicPr>
                    <p:blipFill>
                      <a:blip r:embed="rId2"/>
                      <a:stretch>
                        <a:fillRect/>
                      </a:stretch>
                    </p:blipFill>
                    <p:spPr>
                      <a:xfrm>
                        <a:off x="3505200" y="2133600"/>
                        <a:ext cx="304800" cy="301625"/>
                      </a:xfrm>
                      <a:prstGeom prst="rect">
                        <a:avLst/>
                      </a:prstGeom>
                      <a:noFill/>
                      <a:ln w="38100">
                        <a:noFill/>
                        <a:miter/>
                      </a:ln>
                    </p:spPr>
                  </p:pic>
                </p:oleObj>
              </mc:Fallback>
            </mc:AlternateContent>
          </a:graphicData>
        </a:graphic>
      </p:graphicFrame>
      <p:graphicFrame>
        <p:nvGraphicFramePr>
          <p:cNvPr id="34872" name="Object 57"/>
          <p:cNvGraphicFramePr>
            <a:graphicFrameLocks noChangeAspect="1"/>
          </p:cNvGraphicFramePr>
          <p:nvPr/>
        </p:nvGraphicFramePr>
        <p:xfrm>
          <a:off x="4343400" y="1600200"/>
          <a:ext cx="304800" cy="301625"/>
        </p:xfrm>
        <a:graphic>
          <a:graphicData uri="http://schemas.openxmlformats.org/presentationml/2006/ole">
            <mc:AlternateContent xmlns:mc="http://schemas.openxmlformats.org/markup-compatibility/2006">
              <mc:Choice xmlns:v="urn:schemas-microsoft-com:vml" Requires="v">
                <p:oleObj spid="_x0000_s3099" name="" r:id="rId21" imgW="9525" imgH="9525" progId="CorelDraw.Graphic.8">
                  <p:embed/>
                </p:oleObj>
              </mc:Choice>
              <mc:Fallback>
                <p:oleObj name="" r:id="rId21" imgW="9525" imgH="9525" progId="CorelDraw.Graphic.8">
                  <p:embed/>
                  <p:pic>
                    <p:nvPicPr>
                      <p:cNvPr id="0" name="图片 3098"/>
                      <p:cNvPicPr/>
                      <p:nvPr/>
                    </p:nvPicPr>
                    <p:blipFill>
                      <a:blip r:embed="rId2"/>
                      <a:stretch>
                        <a:fillRect/>
                      </a:stretch>
                    </p:blipFill>
                    <p:spPr>
                      <a:xfrm>
                        <a:off x="4343400" y="1600200"/>
                        <a:ext cx="304800" cy="301625"/>
                      </a:xfrm>
                      <a:prstGeom prst="rect">
                        <a:avLst/>
                      </a:prstGeom>
                      <a:noFill/>
                      <a:ln w="38100">
                        <a:noFill/>
                        <a:miter/>
                      </a:ln>
                    </p:spPr>
                  </p:pic>
                </p:oleObj>
              </mc:Fallback>
            </mc:AlternateContent>
          </a:graphicData>
        </a:graphic>
      </p:graphicFrame>
      <p:graphicFrame>
        <p:nvGraphicFramePr>
          <p:cNvPr id="34873" name="Object 58"/>
          <p:cNvGraphicFramePr>
            <a:graphicFrameLocks noChangeAspect="1"/>
          </p:cNvGraphicFramePr>
          <p:nvPr/>
        </p:nvGraphicFramePr>
        <p:xfrm>
          <a:off x="3581400" y="1600200"/>
          <a:ext cx="304800" cy="301625"/>
        </p:xfrm>
        <a:graphic>
          <a:graphicData uri="http://schemas.openxmlformats.org/presentationml/2006/ole">
            <mc:AlternateContent xmlns:mc="http://schemas.openxmlformats.org/markup-compatibility/2006">
              <mc:Choice xmlns:v="urn:schemas-microsoft-com:vml" Requires="v">
                <p:oleObj spid="_x0000_s3142" name="" r:id="rId22" imgW="9525" imgH="9525" progId="CorelDraw.Graphic.8">
                  <p:embed/>
                </p:oleObj>
              </mc:Choice>
              <mc:Fallback>
                <p:oleObj name="" r:id="rId22" imgW="9525" imgH="9525" progId="CorelDraw.Graphic.8">
                  <p:embed/>
                  <p:pic>
                    <p:nvPicPr>
                      <p:cNvPr id="0" name="图片 3141"/>
                      <p:cNvPicPr/>
                      <p:nvPr/>
                    </p:nvPicPr>
                    <p:blipFill>
                      <a:blip r:embed="rId2"/>
                      <a:stretch>
                        <a:fillRect/>
                      </a:stretch>
                    </p:blipFill>
                    <p:spPr>
                      <a:xfrm>
                        <a:off x="3581400" y="1600200"/>
                        <a:ext cx="304800" cy="301625"/>
                      </a:xfrm>
                      <a:prstGeom prst="rect">
                        <a:avLst/>
                      </a:prstGeom>
                      <a:noFill/>
                      <a:ln w="38100">
                        <a:noFill/>
                        <a:miter/>
                      </a:ln>
                    </p:spPr>
                  </p:pic>
                </p:oleObj>
              </mc:Fallback>
            </mc:AlternateContent>
          </a:graphicData>
        </a:graphic>
      </p:graphicFrame>
      <p:graphicFrame>
        <p:nvGraphicFramePr>
          <p:cNvPr id="34874" name="Object 59"/>
          <p:cNvGraphicFramePr>
            <a:graphicFrameLocks noChangeAspect="1"/>
          </p:cNvGraphicFramePr>
          <p:nvPr/>
        </p:nvGraphicFramePr>
        <p:xfrm>
          <a:off x="5181600" y="1600200"/>
          <a:ext cx="304800" cy="301625"/>
        </p:xfrm>
        <a:graphic>
          <a:graphicData uri="http://schemas.openxmlformats.org/presentationml/2006/ole">
            <mc:AlternateContent xmlns:mc="http://schemas.openxmlformats.org/markup-compatibility/2006">
              <mc:Choice xmlns:v="urn:schemas-microsoft-com:vml" Requires="v">
                <p:oleObj spid="_x0000_s3101" name="" r:id="rId23" imgW="9525" imgH="9525" progId="CorelDraw.Graphic.8">
                  <p:embed/>
                </p:oleObj>
              </mc:Choice>
              <mc:Fallback>
                <p:oleObj name="" r:id="rId23" imgW="9525" imgH="9525" progId="CorelDraw.Graphic.8">
                  <p:embed/>
                  <p:pic>
                    <p:nvPicPr>
                      <p:cNvPr id="0" name="图片 3100"/>
                      <p:cNvPicPr/>
                      <p:nvPr/>
                    </p:nvPicPr>
                    <p:blipFill>
                      <a:blip r:embed="rId2"/>
                      <a:stretch>
                        <a:fillRect/>
                      </a:stretch>
                    </p:blipFill>
                    <p:spPr>
                      <a:xfrm>
                        <a:off x="5181600" y="1600200"/>
                        <a:ext cx="304800" cy="301625"/>
                      </a:xfrm>
                      <a:prstGeom prst="rect">
                        <a:avLst/>
                      </a:prstGeom>
                      <a:noFill/>
                      <a:ln w="38100">
                        <a:noFill/>
                        <a:miter/>
                      </a:ln>
                    </p:spPr>
                  </p:pic>
                </p:oleObj>
              </mc:Fallback>
            </mc:AlternateContent>
          </a:graphicData>
        </a:graphic>
      </p:graphicFrame>
      <p:graphicFrame>
        <p:nvGraphicFramePr>
          <p:cNvPr id="9276" name="Object 60"/>
          <p:cNvGraphicFramePr>
            <a:graphicFrameLocks noChangeAspect="1"/>
          </p:cNvGraphicFramePr>
          <p:nvPr/>
        </p:nvGraphicFramePr>
        <p:xfrm>
          <a:off x="2133600" y="3200400"/>
          <a:ext cx="304800" cy="301625"/>
        </p:xfrm>
        <a:graphic>
          <a:graphicData uri="http://schemas.openxmlformats.org/presentationml/2006/ole">
            <mc:AlternateContent xmlns:mc="http://schemas.openxmlformats.org/markup-compatibility/2006">
              <mc:Choice xmlns:v="urn:schemas-microsoft-com:vml" Requires="v">
                <p:oleObj spid="_x0000_s3104" name="" r:id="rId24" imgW="9525" imgH="9525" progId="CorelDraw.Graphic.8">
                  <p:embed/>
                </p:oleObj>
              </mc:Choice>
              <mc:Fallback>
                <p:oleObj name="" r:id="rId24" imgW="9525" imgH="9525" progId="CorelDraw.Graphic.8">
                  <p:embed/>
                  <p:pic>
                    <p:nvPicPr>
                      <p:cNvPr id="0" name="图片 3103"/>
                      <p:cNvPicPr/>
                      <p:nvPr/>
                    </p:nvPicPr>
                    <p:blipFill>
                      <a:blip r:embed="rId2"/>
                      <a:stretch>
                        <a:fillRect/>
                      </a:stretch>
                    </p:blipFill>
                    <p:spPr>
                      <a:xfrm>
                        <a:off x="2133600" y="3200400"/>
                        <a:ext cx="304800" cy="301625"/>
                      </a:xfrm>
                      <a:prstGeom prst="rect">
                        <a:avLst/>
                      </a:prstGeom>
                      <a:noFill/>
                      <a:ln w="38100">
                        <a:noFill/>
                        <a:miter/>
                      </a:ln>
                    </p:spPr>
                  </p:pic>
                </p:oleObj>
              </mc:Fallback>
            </mc:AlternateContent>
          </a:graphicData>
        </a:graphic>
      </p:graphicFrame>
      <p:graphicFrame>
        <p:nvGraphicFramePr>
          <p:cNvPr id="9277" name="Object 61"/>
          <p:cNvGraphicFramePr>
            <a:graphicFrameLocks noChangeAspect="1"/>
          </p:cNvGraphicFramePr>
          <p:nvPr/>
        </p:nvGraphicFramePr>
        <p:xfrm>
          <a:off x="4419600" y="4724400"/>
          <a:ext cx="304800" cy="301625"/>
        </p:xfrm>
        <a:graphic>
          <a:graphicData uri="http://schemas.openxmlformats.org/presentationml/2006/ole">
            <mc:AlternateContent xmlns:mc="http://schemas.openxmlformats.org/markup-compatibility/2006">
              <mc:Choice xmlns:v="urn:schemas-microsoft-com:vml" Requires="v">
                <p:oleObj spid="_x0000_s3143" name="" r:id="rId25" imgW="9525" imgH="9525" progId="CorelDraw.Graphic.8">
                  <p:embed/>
                </p:oleObj>
              </mc:Choice>
              <mc:Fallback>
                <p:oleObj name="" r:id="rId25" imgW="9525" imgH="9525" progId="CorelDraw.Graphic.8">
                  <p:embed/>
                  <p:pic>
                    <p:nvPicPr>
                      <p:cNvPr id="0" name="图片 3142"/>
                      <p:cNvPicPr/>
                      <p:nvPr/>
                    </p:nvPicPr>
                    <p:blipFill>
                      <a:blip r:embed="rId2"/>
                      <a:stretch>
                        <a:fillRect/>
                      </a:stretch>
                    </p:blipFill>
                    <p:spPr>
                      <a:xfrm>
                        <a:off x="4419600" y="4724400"/>
                        <a:ext cx="304800" cy="301625"/>
                      </a:xfrm>
                      <a:prstGeom prst="rect">
                        <a:avLst/>
                      </a:prstGeom>
                      <a:noFill/>
                      <a:ln w="38100">
                        <a:noFill/>
                        <a:miter/>
                      </a:ln>
                    </p:spPr>
                  </p:pic>
                </p:oleObj>
              </mc:Fallback>
            </mc:AlternateContent>
          </a:graphicData>
        </a:graphic>
      </p:graphicFrame>
      <p:graphicFrame>
        <p:nvGraphicFramePr>
          <p:cNvPr id="9278" name="Object 62"/>
          <p:cNvGraphicFramePr>
            <a:graphicFrameLocks noChangeAspect="1"/>
          </p:cNvGraphicFramePr>
          <p:nvPr/>
        </p:nvGraphicFramePr>
        <p:xfrm>
          <a:off x="4191000" y="2133600"/>
          <a:ext cx="304800" cy="301625"/>
        </p:xfrm>
        <a:graphic>
          <a:graphicData uri="http://schemas.openxmlformats.org/presentationml/2006/ole">
            <mc:AlternateContent xmlns:mc="http://schemas.openxmlformats.org/markup-compatibility/2006">
              <mc:Choice xmlns:v="urn:schemas-microsoft-com:vml" Requires="v">
                <p:oleObj spid="_x0000_s3087" name="" r:id="rId26" imgW="9525" imgH="9525" progId="CorelDraw.Graphic.8">
                  <p:embed/>
                </p:oleObj>
              </mc:Choice>
              <mc:Fallback>
                <p:oleObj name="" r:id="rId26" imgW="9525" imgH="9525" progId="CorelDraw.Graphic.8">
                  <p:embed/>
                  <p:pic>
                    <p:nvPicPr>
                      <p:cNvPr id="0" name="图片 3086"/>
                      <p:cNvPicPr/>
                      <p:nvPr/>
                    </p:nvPicPr>
                    <p:blipFill>
                      <a:blip r:embed="rId2"/>
                      <a:stretch>
                        <a:fillRect/>
                      </a:stretch>
                    </p:blipFill>
                    <p:spPr>
                      <a:xfrm>
                        <a:off x="4191000" y="2133600"/>
                        <a:ext cx="304800" cy="301625"/>
                      </a:xfrm>
                      <a:prstGeom prst="rect">
                        <a:avLst/>
                      </a:prstGeom>
                      <a:noFill/>
                      <a:ln w="38100">
                        <a:noFill/>
                        <a:miter/>
                      </a:ln>
                    </p:spPr>
                  </p:pic>
                </p:oleObj>
              </mc:Fallback>
            </mc:AlternateContent>
          </a:graphicData>
        </a:graphic>
      </p:graphicFrame>
      <p:graphicFrame>
        <p:nvGraphicFramePr>
          <p:cNvPr id="34878" name="Object 63"/>
          <p:cNvGraphicFramePr>
            <a:graphicFrameLocks noChangeAspect="1"/>
          </p:cNvGraphicFramePr>
          <p:nvPr/>
        </p:nvGraphicFramePr>
        <p:xfrm>
          <a:off x="5105400" y="2132013"/>
          <a:ext cx="304800" cy="303212"/>
        </p:xfrm>
        <a:graphic>
          <a:graphicData uri="http://schemas.openxmlformats.org/presentationml/2006/ole">
            <mc:AlternateContent xmlns:mc="http://schemas.openxmlformats.org/markup-compatibility/2006">
              <mc:Choice xmlns:v="urn:schemas-microsoft-com:vml" Requires="v">
                <p:oleObj spid="_x0000_s3096" name="" r:id="rId27" imgW="9525" imgH="9525" progId="CorelDraw.Graphic.8">
                  <p:embed/>
                </p:oleObj>
              </mc:Choice>
              <mc:Fallback>
                <p:oleObj name="" r:id="rId27" imgW="9525" imgH="9525" progId="CorelDraw.Graphic.8">
                  <p:embed/>
                  <p:pic>
                    <p:nvPicPr>
                      <p:cNvPr id="0" name="图片 3095"/>
                      <p:cNvPicPr/>
                      <p:nvPr/>
                    </p:nvPicPr>
                    <p:blipFill>
                      <a:blip r:embed="rId2"/>
                      <a:stretch>
                        <a:fillRect/>
                      </a:stretch>
                    </p:blipFill>
                    <p:spPr>
                      <a:xfrm>
                        <a:off x="5105400" y="2132013"/>
                        <a:ext cx="304800" cy="303212"/>
                      </a:xfrm>
                      <a:prstGeom prst="rect">
                        <a:avLst/>
                      </a:prstGeom>
                      <a:noFill/>
                      <a:ln w="38100">
                        <a:noFill/>
                        <a:miter/>
                      </a:ln>
                    </p:spPr>
                  </p:pic>
                </p:oleObj>
              </mc:Fallback>
            </mc:AlternateContent>
          </a:graphicData>
        </a:graphic>
      </p:graphicFrame>
      <p:graphicFrame>
        <p:nvGraphicFramePr>
          <p:cNvPr id="9280" name="Object 64"/>
          <p:cNvGraphicFramePr>
            <a:graphicFrameLocks noChangeAspect="1"/>
          </p:cNvGraphicFramePr>
          <p:nvPr/>
        </p:nvGraphicFramePr>
        <p:xfrm>
          <a:off x="4648200" y="2133600"/>
          <a:ext cx="304800" cy="301625"/>
        </p:xfrm>
        <a:graphic>
          <a:graphicData uri="http://schemas.openxmlformats.org/presentationml/2006/ole">
            <mc:AlternateContent xmlns:mc="http://schemas.openxmlformats.org/markup-compatibility/2006">
              <mc:Choice xmlns:v="urn:schemas-microsoft-com:vml" Requires="v">
                <p:oleObj spid="_x0000_s3092" name="" r:id="rId28" imgW="9525" imgH="9525" progId="CorelDraw.Graphic.8">
                  <p:embed/>
                </p:oleObj>
              </mc:Choice>
              <mc:Fallback>
                <p:oleObj name="" r:id="rId28" imgW="9525" imgH="9525" progId="CorelDraw.Graphic.8">
                  <p:embed/>
                  <p:pic>
                    <p:nvPicPr>
                      <p:cNvPr id="0" name="图片 3091"/>
                      <p:cNvPicPr/>
                      <p:nvPr/>
                    </p:nvPicPr>
                    <p:blipFill>
                      <a:blip r:embed="rId2"/>
                      <a:stretch>
                        <a:fillRect/>
                      </a:stretch>
                    </p:blipFill>
                    <p:spPr>
                      <a:xfrm>
                        <a:off x="4648200" y="2133600"/>
                        <a:ext cx="304800" cy="301625"/>
                      </a:xfrm>
                      <a:prstGeom prst="rect">
                        <a:avLst/>
                      </a:prstGeom>
                      <a:noFill/>
                      <a:ln w="38100">
                        <a:noFill/>
                        <a:miter/>
                      </a:ln>
                    </p:spPr>
                  </p:pic>
                </p:oleObj>
              </mc:Fallback>
            </mc:AlternateContent>
          </a:graphicData>
        </a:graphic>
      </p:graphicFrame>
      <p:sp>
        <p:nvSpPr>
          <p:cNvPr id="9281" name="Oval 65"/>
          <p:cNvSpPr/>
          <p:nvPr/>
        </p:nvSpPr>
        <p:spPr>
          <a:xfrm>
            <a:off x="3505200" y="3886200"/>
            <a:ext cx="457200" cy="3810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graphicFrame>
        <p:nvGraphicFramePr>
          <p:cNvPr id="9282" name="Object 66"/>
          <p:cNvGraphicFramePr>
            <a:graphicFrameLocks noChangeAspect="1"/>
          </p:cNvGraphicFramePr>
          <p:nvPr/>
        </p:nvGraphicFramePr>
        <p:xfrm>
          <a:off x="3810000" y="3427413"/>
          <a:ext cx="304800" cy="303212"/>
        </p:xfrm>
        <a:graphic>
          <a:graphicData uri="http://schemas.openxmlformats.org/presentationml/2006/ole">
            <mc:AlternateContent xmlns:mc="http://schemas.openxmlformats.org/markup-compatibility/2006">
              <mc:Choice xmlns:v="urn:schemas-microsoft-com:vml" Requires="v">
                <p:oleObj spid="_x0000_s3084" name="" r:id="rId29" imgW="9525" imgH="9525" progId="CorelDraw.Graphic.8">
                  <p:embed/>
                </p:oleObj>
              </mc:Choice>
              <mc:Fallback>
                <p:oleObj name="" r:id="rId29" imgW="9525" imgH="9525" progId="CorelDraw.Graphic.8">
                  <p:embed/>
                  <p:pic>
                    <p:nvPicPr>
                      <p:cNvPr id="0" name="图片 3083"/>
                      <p:cNvPicPr/>
                      <p:nvPr/>
                    </p:nvPicPr>
                    <p:blipFill>
                      <a:blip r:embed="rId2"/>
                      <a:stretch>
                        <a:fillRect/>
                      </a:stretch>
                    </p:blipFill>
                    <p:spPr>
                      <a:xfrm>
                        <a:off x="3810000" y="3427413"/>
                        <a:ext cx="304800" cy="303212"/>
                      </a:xfrm>
                      <a:prstGeom prst="rect">
                        <a:avLst/>
                      </a:prstGeom>
                      <a:noFill/>
                      <a:ln w="38100">
                        <a:noFill/>
                        <a:miter/>
                      </a:ln>
                    </p:spPr>
                  </p:pic>
                </p:oleObj>
              </mc:Fallback>
            </mc:AlternateContent>
          </a:graphicData>
        </a:graphic>
      </p:graphicFrame>
      <p:graphicFrame>
        <p:nvGraphicFramePr>
          <p:cNvPr id="9283" name="Object 67"/>
          <p:cNvGraphicFramePr>
            <a:graphicFrameLocks noChangeAspect="1"/>
          </p:cNvGraphicFramePr>
          <p:nvPr/>
        </p:nvGraphicFramePr>
        <p:xfrm>
          <a:off x="4800600" y="3505200"/>
          <a:ext cx="304800" cy="303213"/>
        </p:xfrm>
        <a:graphic>
          <a:graphicData uri="http://schemas.openxmlformats.org/presentationml/2006/ole">
            <mc:AlternateContent xmlns:mc="http://schemas.openxmlformats.org/markup-compatibility/2006">
              <mc:Choice xmlns:v="urn:schemas-microsoft-com:vml" Requires="v">
                <p:oleObj spid="_x0000_s3093" name="" r:id="rId30" imgW="9525" imgH="9525" progId="CorelDraw.Graphic.8">
                  <p:embed/>
                </p:oleObj>
              </mc:Choice>
              <mc:Fallback>
                <p:oleObj name="" r:id="rId30" imgW="9525" imgH="9525" progId="CorelDraw.Graphic.8">
                  <p:embed/>
                  <p:pic>
                    <p:nvPicPr>
                      <p:cNvPr id="0" name="图片 3092"/>
                      <p:cNvPicPr/>
                      <p:nvPr/>
                    </p:nvPicPr>
                    <p:blipFill>
                      <a:blip r:embed="rId2"/>
                      <a:stretch>
                        <a:fillRect/>
                      </a:stretch>
                    </p:blipFill>
                    <p:spPr>
                      <a:xfrm>
                        <a:off x="4800600" y="3505200"/>
                        <a:ext cx="304800" cy="303213"/>
                      </a:xfrm>
                      <a:prstGeom prst="rect">
                        <a:avLst/>
                      </a:prstGeom>
                      <a:noFill/>
                      <a:ln w="38100">
                        <a:noFill/>
                        <a:miter/>
                      </a:ln>
                    </p:spPr>
                  </p:pic>
                </p:oleObj>
              </mc:Fallback>
            </mc:AlternateContent>
          </a:graphicData>
        </a:graphic>
      </p:graphicFrame>
      <p:graphicFrame>
        <p:nvGraphicFramePr>
          <p:cNvPr id="9284" name="Object 68"/>
          <p:cNvGraphicFramePr>
            <a:graphicFrameLocks noChangeAspect="1"/>
          </p:cNvGraphicFramePr>
          <p:nvPr/>
        </p:nvGraphicFramePr>
        <p:xfrm>
          <a:off x="4648200" y="2822575"/>
          <a:ext cx="304800" cy="301625"/>
        </p:xfrm>
        <a:graphic>
          <a:graphicData uri="http://schemas.openxmlformats.org/presentationml/2006/ole">
            <mc:AlternateContent xmlns:mc="http://schemas.openxmlformats.org/markup-compatibility/2006">
              <mc:Choice xmlns:v="urn:schemas-microsoft-com:vml" Requires="v">
                <p:oleObj spid="_x0000_s3091" name="" r:id="rId31" imgW="9525" imgH="9525" progId="CorelDraw.Graphic.8">
                  <p:embed/>
                </p:oleObj>
              </mc:Choice>
              <mc:Fallback>
                <p:oleObj name="" r:id="rId31" imgW="9525" imgH="9525" progId="CorelDraw.Graphic.8">
                  <p:embed/>
                  <p:pic>
                    <p:nvPicPr>
                      <p:cNvPr id="0" name="图片 3090"/>
                      <p:cNvPicPr/>
                      <p:nvPr/>
                    </p:nvPicPr>
                    <p:blipFill>
                      <a:blip r:embed="rId2"/>
                      <a:stretch>
                        <a:fillRect/>
                      </a:stretch>
                    </p:blipFill>
                    <p:spPr>
                      <a:xfrm>
                        <a:off x="4648200" y="2822575"/>
                        <a:ext cx="304800" cy="301625"/>
                      </a:xfrm>
                      <a:prstGeom prst="rect">
                        <a:avLst/>
                      </a:prstGeom>
                      <a:noFill/>
                      <a:ln w="38100">
                        <a:noFill/>
                        <a:miter/>
                      </a:ln>
                    </p:spPr>
                  </p:pic>
                </p:oleObj>
              </mc:Fallback>
            </mc:AlternateContent>
          </a:graphicData>
        </a:graphic>
      </p:graphicFrame>
      <p:graphicFrame>
        <p:nvGraphicFramePr>
          <p:cNvPr id="9285" name="Object 69"/>
          <p:cNvGraphicFramePr>
            <a:graphicFrameLocks noChangeAspect="1"/>
          </p:cNvGraphicFramePr>
          <p:nvPr/>
        </p:nvGraphicFramePr>
        <p:xfrm>
          <a:off x="5105400" y="2819400"/>
          <a:ext cx="304800" cy="303213"/>
        </p:xfrm>
        <a:graphic>
          <a:graphicData uri="http://schemas.openxmlformats.org/presentationml/2006/ole">
            <mc:AlternateContent xmlns:mc="http://schemas.openxmlformats.org/markup-compatibility/2006">
              <mc:Choice xmlns:v="urn:schemas-microsoft-com:vml" Requires="v">
                <p:oleObj spid="_x0000_s3089" name="" r:id="rId32" imgW="9525" imgH="9525" progId="CorelDraw.Graphic.8">
                  <p:embed/>
                </p:oleObj>
              </mc:Choice>
              <mc:Fallback>
                <p:oleObj name="" r:id="rId32" imgW="9525" imgH="9525" progId="CorelDraw.Graphic.8">
                  <p:embed/>
                  <p:pic>
                    <p:nvPicPr>
                      <p:cNvPr id="0" name="图片 3088"/>
                      <p:cNvPicPr/>
                      <p:nvPr/>
                    </p:nvPicPr>
                    <p:blipFill>
                      <a:blip r:embed="rId2"/>
                      <a:stretch>
                        <a:fillRect/>
                      </a:stretch>
                    </p:blipFill>
                    <p:spPr>
                      <a:xfrm>
                        <a:off x="5105400" y="2819400"/>
                        <a:ext cx="304800" cy="303213"/>
                      </a:xfrm>
                      <a:prstGeom prst="rect">
                        <a:avLst/>
                      </a:prstGeom>
                      <a:noFill/>
                      <a:ln w="38100">
                        <a:noFill/>
                        <a:miter/>
                      </a:ln>
                    </p:spPr>
                  </p:pic>
                </p:oleObj>
              </mc:Fallback>
            </mc:AlternateContent>
          </a:graphicData>
        </a:graphic>
      </p:graphicFrame>
      <p:sp>
        <p:nvSpPr>
          <p:cNvPr id="9286" name="Oval 70"/>
          <p:cNvSpPr/>
          <p:nvPr/>
        </p:nvSpPr>
        <p:spPr>
          <a:xfrm>
            <a:off x="4495800" y="3886200"/>
            <a:ext cx="457200" cy="3810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graphicFrame>
        <p:nvGraphicFramePr>
          <p:cNvPr id="9287" name="Object 71"/>
          <p:cNvGraphicFramePr>
            <a:graphicFrameLocks noChangeAspect="1"/>
          </p:cNvGraphicFramePr>
          <p:nvPr/>
        </p:nvGraphicFramePr>
        <p:xfrm>
          <a:off x="4343400" y="3581400"/>
          <a:ext cx="304800" cy="301625"/>
        </p:xfrm>
        <a:graphic>
          <a:graphicData uri="http://schemas.openxmlformats.org/presentationml/2006/ole">
            <mc:AlternateContent xmlns:mc="http://schemas.openxmlformats.org/markup-compatibility/2006">
              <mc:Choice xmlns:v="urn:schemas-microsoft-com:vml" Requires="v">
                <p:oleObj spid="_x0000_s3098" name="" r:id="rId33" imgW="9525" imgH="9525" progId="CorelDraw.Graphic.8">
                  <p:embed/>
                </p:oleObj>
              </mc:Choice>
              <mc:Fallback>
                <p:oleObj name="" r:id="rId33" imgW="9525" imgH="9525" progId="CorelDraw.Graphic.8">
                  <p:embed/>
                  <p:pic>
                    <p:nvPicPr>
                      <p:cNvPr id="0" name="图片 3097"/>
                      <p:cNvPicPr/>
                      <p:nvPr/>
                    </p:nvPicPr>
                    <p:blipFill>
                      <a:blip r:embed="rId2"/>
                      <a:stretch>
                        <a:fillRect/>
                      </a:stretch>
                    </p:blipFill>
                    <p:spPr>
                      <a:xfrm>
                        <a:off x="4343400" y="3581400"/>
                        <a:ext cx="304800" cy="301625"/>
                      </a:xfrm>
                      <a:prstGeom prst="rect">
                        <a:avLst/>
                      </a:prstGeom>
                      <a:noFill/>
                      <a:ln w="38100">
                        <a:noFill/>
                        <a:miter/>
                      </a:ln>
                    </p:spPr>
                  </p:pic>
                </p:oleObj>
              </mc:Fallback>
            </mc:AlternateContent>
          </a:graphicData>
        </a:graphic>
      </p:graphicFrame>
      <p:graphicFrame>
        <p:nvGraphicFramePr>
          <p:cNvPr id="9288" name="Object 72"/>
          <p:cNvGraphicFramePr>
            <a:graphicFrameLocks noChangeAspect="1"/>
          </p:cNvGraphicFramePr>
          <p:nvPr/>
        </p:nvGraphicFramePr>
        <p:xfrm>
          <a:off x="4876800" y="609600"/>
          <a:ext cx="304800" cy="303213"/>
        </p:xfrm>
        <a:graphic>
          <a:graphicData uri="http://schemas.openxmlformats.org/presentationml/2006/ole">
            <mc:AlternateContent xmlns:mc="http://schemas.openxmlformats.org/markup-compatibility/2006">
              <mc:Choice xmlns:v="urn:schemas-microsoft-com:vml" Requires="v">
                <p:oleObj spid="_x0000_s3097" name="" r:id="rId34" imgW="9525" imgH="9525" progId="CorelDraw.Graphic.8">
                  <p:embed/>
                </p:oleObj>
              </mc:Choice>
              <mc:Fallback>
                <p:oleObj name="" r:id="rId34" imgW="9525" imgH="9525" progId="CorelDraw.Graphic.8">
                  <p:embed/>
                  <p:pic>
                    <p:nvPicPr>
                      <p:cNvPr id="0" name="图片 3096"/>
                      <p:cNvPicPr/>
                      <p:nvPr/>
                    </p:nvPicPr>
                    <p:blipFill>
                      <a:blip r:embed="rId2"/>
                      <a:stretch>
                        <a:fillRect/>
                      </a:stretch>
                    </p:blipFill>
                    <p:spPr>
                      <a:xfrm>
                        <a:off x="4876800" y="609600"/>
                        <a:ext cx="304800" cy="303213"/>
                      </a:xfrm>
                      <a:prstGeom prst="rect">
                        <a:avLst/>
                      </a:prstGeom>
                      <a:noFill/>
                      <a:ln w="38100">
                        <a:noFill/>
                        <a:miter/>
                      </a:ln>
                    </p:spPr>
                  </p:pic>
                </p:oleObj>
              </mc:Fallback>
            </mc:AlternateContent>
          </a:graphicData>
        </a:graphic>
      </p:graphicFrame>
      <p:graphicFrame>
        <p:nvGraphicFramePr>
          <p:cNvPr id="9289" name="Object 73"/>
          <p:cNvGraphicFramePr>
            <a:graphicFrameLocks noChangeAspect="1"/>
          </p:cNvGraphicFramePr>
          <p:nvPr/>
        </p:nvGraphicFramePr>
        <p:xfrm>
          <a:off x="4038600" y="989013"/>
          <a:ext cx="304800" cy="303212"/>
        </p:xfrm>
        <a:graphic>
          <a:graphicData uri="http://schemas.openxmlformats.org/presentationml/2006/ole">
            <mc:AlternateContent xmlns:mc="http://schemas.openxmlformats.org/markup-compatibility/2006">
              <mc:Choice xmlns:v="urn:schemas-microsoft-com:vml" Requires="v">
                <p:oleObj spid="_x0000_s3095" name="" r:id="rId35" imgW="9525" imgH="9525" progId="CorelDraw.Graphic.8">
                  <p:embed/>
                </p:oleObj>
              </mc:Choice>
              <mc:Fallback>
                <p:oleObj name="" r:id="rId35" imgW="9525" imgH="9525" progId="CorelDraw.Graphic.8">
                  <p:embed/>
                  <p:pic>
                    <p:nvPicPr>
                      <p:cNvPr id="0" name="图片 3094"/>
                      <p:cNvPicPr/>
                      <p:nvPr/>
                    </p:nvPicPr>
                    <p:blipFill>
                      <a:blip r:embed="rId2"/>
                      <a:stretch>
                        <a:fillRect/>
                      </a:stretch>
                    </p:blipFill>
                    <p:spPr>
                      <a:xfrm>
                        <a:off x="4038600" y="989013"/>
                        <a:ext cx="304800" cy="303212"/>
                      </a:xfrm>
                      <a:prstGeom prst="rect">
                        <a:avLst/>
                      </a:prstGeom>
                      <a:noFill/>
                      <a:ln w="38100">
                        <a:noFill/>
                        <a:miter/>
                      </a:ln>
                    </p:spPr>
                  </p:pic>
                </p:oleObj>
              </mc:Fallback>
            </mc:AlternateContent>
          </a:graphicData>
        </a:graphic>
      </p:graphicFrame>
      <p:graphicFrame>
        <p:nvGraphicFramePr>
          <p:cNvPr id="9290" name="Object 74"/>
          <p:cNvGraphicFramePr>
            <a:graphicFrameLocks noChangeAspect="1"/>
          </p:cNvGraphicFramePr>
          <p:nvPr/>
        </p:nvGraphicFramePr>
        <p:xfrm>
          <a:off x="4419600" y="608013"/>
          <a:ext cx="304800" cy="303212"/>
        </p:xfrm>
        <a:graphic>
          <a:graphicData uri="http://schemas.openxmlformats.org/presentationml/2006/ole">
            <mc:AlternateContent xmlns:mc="http://schemas.openxmlformats.org/markup-compatibility/2006">
              <mc:Choice xmlns:v="urn:schemas-microsoft-com:vml" Requires="v">
                <p:oleObj spid="_x0000_s3094" name="" r:id="rId36" imgW="9525" imgH="9525" progId="CorelDraw.Graphic.8">
                  <p:embed/>
                </p:oleObj>
              </mc:Choice>
              <mc:Fallback>
                <p:oleObj name="" r:id="rId36" imgW="9525" imgH="9525" progId="CorelDraw.Graphic.8">
                  <p:embed/>
                  <p:pic>
                    <p:nvPicPr>
                      <p:cNvPr id="0" name="图片 3093"/>
                      <p:cNvPicPr/>
                      <p:nvPr/>
                    </p:nvPicPr>
                    <p:blipFill>
                      <a:blip r:embed="rId2"/>
                      <a:stretch>
                        <a:fillRect/>
                      </a:stretch>
                    </p:blipFill>
                    <p:spPr>
                      <a:xfrm>
                        <a:off x="4419600" y="608013"/>
                        <a:ext cx="304800" cy="303212"/>
                      </a:xfrm>
                      <a:prstGeom prst="rect">
                        <a:avLst/>
                      </a:prstGeom>
                      <a:noFill/>
                      <a:ln w="38100">
                        <a:noFill/>
                        <a:miter/>
                      </a:ln>
                    </p:spPr>
                  </p:pic>
                </p:oleObj>
              </mc:Fallback>
            </mc:AlternateContent>
          </a:graphicData>
        </a:graphic>
      </p:graphicFrame>
      <p:graphicFrame>
        <p:nvGraphicFramePr>
          <p:cNvPr id="9291" name="Object 75"/>
          <p:cNvGraphicFramePr>
            <a:graphicFrameLocks noChangeAspect="1"/>
          </p:cNvGraphicFramePr>
          <p:nvPr/>
        </p:nvGraphicFramePr>
        <p:xfrm>
          <a:off x="3886200" y="2743200"/>
          <a:ext cx="304800" cy="301625"/>
        </p:xfrm>
        <a:graphic>
          <a:graphicData uri="http://schemas.openxmlformats.org/presentationml/2006/ole">
            <mc:AlternateContent xmlns:mc="http://schemas.openxmlformats.org/markup-compatibility/2006">
              <mc:Choice xmlns:v="urn:schemas-microsoft-com:vml" Requires="v">
                <p:oleObj spid="_x0000_s3090" name="" r:id="rId37" imgW="9525" imgH="9525" progId="CorelDraw.Graphic.8">
                  <p:embed/>
                </p:oleObj>
              </mc:Choice>
              <mc:Fallback>
                <p:oleObj name="" r:id="rId37" imgW="9525" imgH="9525" progId="CorelDraw.Graphic.8">
                  <p:embed/>
                  <p:pic>
                    <p:nvPicPr>
                      <p:cNvPr id="0" name="图片 3089"/>
                      <p:cNvPicPr/>
                      <p:nvPr/>
                    </p:nvPicPr>
                    <p:blipFill>
                      <a:blip r:embed="rId2"/>
                      <a:stretch>
                        <a:fillRect/>
                      </a:stretch>
                    </p:blipFill>
                    <p:spPr>
                      <a:xfrm>
                        <a:off x="3886200" y="2743200"/>
                        <a:ext cx="304800" cy="301625"/>
                      </a:xfrm>
                      <a:prstGeom prst="rect">
                        <a:avLst/>
                      </a:prstGeom>
                      <a:noFill/>
                      <a:ln w="38100">
                        <a:noFill/>
                        <a:miter/>
                      </a:ln>
                    </p:spPr>
                  </p:pic>
                </p:oleObj>
              </mc:Fallback>
            </mc:AlternateContent>
          </a:graphicData>
        </a:graphic>
      </p:graphicFrame>
      <p:sp>
        <p:nvSpPr>
          <p:cNvPr id="9292" name="Oval 76"/>
          <p:cNvSpPr/>
          <p:nvPr/>
        </p:nvSpPr>
        <p:spPr>
          <a:xfrm>
            <a:off x="4038600" y="3886200"/>
            <a:ext cx="381000" cy="4572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9293" name="Oval 77"/>
          <p:cNvSpPr/>
          <p:nvPr/>
        </p:nvSpPr>
        <p:spPr>
          <a:xfrm>
            <a:off x="4343400" y="2971800"/>
            <a:ext cx="381000" cy="4572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9294" name="Oval 78"/>
          <p:cNvSpPr/>
          <p:nvPr/>
        </p:nvSpPr>
        <p:spPr>
          <a:xfrm>
            <a:off x="4724400" y="3124200"/>
            <a:ext cx="457200" cy="3810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9295" name="Oval 79"/>
          <p:cNvSpPr/>
          <p:nvPr/>
        </p:nvSpPr>
        <p:spPr>
          <a:xfrm>
            <a:off x="5181600" y="3124200"/>
            <a:ext cx="381000" cy="4572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9296" name="Oval 80"/>
          <p:cNvSpPr/>
          <p:nvPr/>
        </p:nvSpPr>
        <p:spPr>
          <a:xfrm>
            <a:off x="3429000" y="2971800"/>
            <a:ext cx="381000" cy="4572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graphicFrame>
        <p:nvGraphicFramePr>
          <p:cNvPr id="9297" name="Object 81"/>
          <p:cNvGraphicFramePr>
            <a:graphicFrameLocks noChangeAspect="1"/>
          </p:cNvGraphicFramePr>
          <p:nvPr/>
        </p:nvGraphicFramePr>
        <p:xfrm>
          <a:off x="3505200" y="3048000"/>
          <a:ext cx="304800" cy="292100"/>
        </p:xfrm>
        <a:graphic>
          <a:graphicData uri="http://schemas.openxmlformats.org/presentationml/2006/ole">
            <mc:AlternateContent xmlns:mc="http://schemas.openxmlformats.org/markup-compatibility/2006">
              <mc:Choice xmlns:v="urn:schemas-microsoft-com:vml" Requires="v">
                <p:oleObj spid="_x0000_s3088" name="" r:id="rId38" imgW="9525" imgH="9525" progId="CorelDraw.Graphic.8">
                  <p:embed/>
                </p:oleObj>
              </mc:Choice>
              <mc:Fallback>
                <p:oleObj name="" r:id="rId38" imgW="9525" imgH="9525" progId="CorelDraw.Graphic.8">
                  <p:embed/>
                  <p:pic>
                    <p:nvPicPr>
                      <p:cNvPr id="0" name="图片 3087"/>
                      <p:cNvPicPr/>
                      <p:nvPr/>
                    </p:nvPicPr>
                    <p:blipFill>
                      <a:blip r:embed="rId4"/>
                      <a:stretch>
                        <a:fillRect/>
                      </a:stretch>
                    </p:blipFill>
                    <p:spPr>
                      <a:xfrm>
                        <a:off x="3505200" y="3048000"/>
                        <a:ext cx="304800" cy="292100"/>
                      </a:xfrm>
                      <a:prstGeom prst="rect">
                        <a:avLst/>
                      </a:prstGeom>
                      <a:noFill/>
                      <a:ln w="38100">
                        <a:noFill/>
                        <a:miter/>
                      </a:ln>
                    </p:spPr>
                  </p:pic>
                </p:oleObj>
              </mc:Fallback>
            </mc:AlternateContent>
          </a:graphicData>
        </a:graphic>
      </p:graphicFrame>
      <p:sp>
        <p:nvSpPr>
          <p:cNvPr id="9298" name="Oval 82"/>
          <p:cNvSpPr/>
          <p:nvPr/>
        </p:nvSpPr>
        <p:spPr>
          <a:xfrm>
            <a:off x="5029200" y="2743200"/>
            <a:ext cx="457200" cy="4572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9299" name="Oval 83"/>
          <p:cNvSpPr/>
          <p:nvPr/>
        </p:nvSpPr>
        <p:spPr>
          <a:xfrm>
            <a:off x="4572000" y="2819400"/>
            <a:ext cx="457200" cy="3810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9300" name="Oval 84"/>
          <p:cNvSpPr/>
          <p:nvPr/>
        </p:nvSpPr>
        <p:spPr>
          <a:xfrm>
            <a:off x="4267200" y="1524000"/>
            <a:ext cx="457200" cy="3810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9301" name="Oval 85"/>
          <p:cNvSpPr/>
          <p:nvPr/>
        </p:nvSpPr>
        <p:spPr>
          <a:xfrm>
            <a:off x="3505200" y="1524000"/>
            <a:ext cx="457200" cy="381000"/>
          </a:xfrm>
          <a:prstGeom prst="ellipse">
            <a:avLst/>
          </a:prstGeom>
          <a:solidFill>
            <a:srgbClr val="3366FF"/>
          </a:solidFill>
          <a:ln w="9525">
            <a:noFill/>
          </a:ln>
        </p:spPr>
        <p:txBody>
          <a:bodyPr wrap="none" anchor="ctr"/>
          <a:p>
            <a:endParaRPr lang="zh-CN" altLang="en-US" dirty="0">
              <a:latin typeface="Arial" panose="020B0604020202020204" pitchFamily="34" charset="0"/>
              <a:ea typeface="宋体" panose="02010600030101010101" pitchFamily="2" charset="-122"/>
            </a:endParaRPr>
          </a:p>
        </p:txBody>
      </p:sp>
      <p:graphicFrame>
        <p:nvGraphicFramePr>
          <p:cNvPr id="9302" name="Object 86"/>
          <p:cNvGraphicFramePr>
            <a:graphicFrameLocks noChangeAspect="1"/>
          </p:cNvGraphicFramePr>
          <p:nvPr/>
        </p:nvGraphicFramePr>
        <p:xfrm>
          <a:off x="4114800" y="5410200"/>
          <a:ext cx="304800" cy="301625"/>
        </p:xfrm>
        <a:graphic>
          <a:graphicData uri="http://schemas.openxmlformats.org/presentationml/2006/ole">
            <mc:AlternateContent xmlns:mc="http://schemas.openxmlformats.org/markup-compatibility/2006">
              <mc:Choice xmlns:v="urn:schemas-microsoft-com:vml" Requires="v">
                <p:oleObj spid="_x0000_s3086" name="" r:id="rId39" imgW="9525" imgH="9525" progId="CorelDraw.Graphic.8">
                  <p:embed/>
                </p:oleObj>
              </mc:Choice>
              <mc:Fallback>
                <p:oleObj name="" r:id="rId39" imgW="9525" imgH="9525" progId="CorelDraw.Graphic.8">
                  <p:embed/>
                  <p:pic>
                    <p:nvPicPr>
                      <p:cNvPr id="0" name="图片 3085"/>
                      <p:cNvPicPr/>
                      <p:nvPr/>
                    </p:nvPicPr>
                    <p:blipFill>
                      <a:blip r:embed="rId2"/>
                      <a:stretch>
                        <a:fillRect/>
                      </a:stretch>
                    </p:blipFill>
                    <p:spPr>
                      <a:xfrm>
                        <a:off x="4114800" y="5410200"/>
                        <a:ext cx="304800" cy="301625"/>
                      </a:xfrm>
                      <a:prstGeom prst="rect">
                        <a:avLst/>
                      </a:prstGeom>
                      <a:noFill/>
                      <a:ln w="38100">
                        <a:noFill/>
                        <a:miter/>
                      </a:ln>
                    </p:spPr>
                  </p:pic>
                </p:oleObj>
              </mc:Fallback>
            </mc:AlternateContent>
          </a:graphicData>
        </a:graphic>
      </p:graphicFrame>
      <p:graphicFrame>
        <p:nvGraphicFramePr>
          <p:cNvPr id="9303" name="Object 87"/>
          <p:cNvGraphicFramePr>
            <a:graphicFrameLocks noChangeAspect="1"/>
          </p:cNvGraphicFramePr>
          <p:nvPr/>
        </p:nvGraphicFramePr>
        <p:xfrm>
          <a:off x="4038600" y="990600"/>
          <a:ext cx="304800" cy="303213"/>
        </p:xfrm>
        <a:graphic>
          <a:graphicData uri="http://schemas.openxmlformats.org/presentationml/2006/ole">
            <mc:AlternateContent xmlns:mc="http://schemas.openxmlformats.org/markup-compatibility/2006">
              <mc:Choice xmlns:v="urn:schemas-microsoft-com:vml" Requires="v">
                <p:oleObj spid="_x0000_s3085" name="" r:id="rId40" imgW="9525" imgH="9525" progId="CorelDraw.Graphic.8">
                  <p:embed/>
                </p:oleObj>
              </mc:Choice>
              <mc:Fallback>
                <p:oleObj name="" r:id="rId40" imgW="9525" imgH="9525" progId="CorelDraw.Graphic.8">
                  <p:embed/>
                  <p:pic>
                    <p:nvPicPr>
                      <p:cNvPr id="0" name="图片 3084"/>
                      <p:cNvPicPr/>
                      <p:nvPr/>
                    </p:nvPicPr>
                    <p:blipFill>
                      <a:blip r:embed="rId2"/>
                      <a:stretch>
                        <a:fillRect/>
                      </a:stretch>
                    </p:blipFill>
                    <p:spPr>
                      <a:xfrm>
                        <a:off x="4038600" y="990600"/>
                        <a:ext cx="304800" cy="303213"/>
                      </a:xfrm>
                      <a:prstGeom prst="rect">
                        <a:avLst/>
                      </a:prstGeom>
                      <a:noFill/>
                      <a:ln w="38100">
                        <a:noFill/>
                        <a:miter/>
                      </a:ln>
                    </p:spPr>
                  </p:pic>
                </p:oleObj>
              </mc:Fallback>
            </mc:AlternateContent>
          </a:graphicData>
        </a:graphic>
      </p:graphicFrame>
      <p:graphicFrame>
        <p:nvGraphicFramePr>
          <p:cNvPr id="9304" name="Object 88"/>
          <p:cNvGraphicFramePr>
            <a:graphicFrameLocks noChangeAspect="1"/>
          </p:cNvGraphicFramePr>
          <p:nvPr/>
        </p:nvGraphicFramePr>
        <p:xfrm>
          <a:off x="4038600" y="5715000"/>
          <a:ext cx="304800" cy="301625"/>
        </p:xfrm>
        <a:graphic>
          <a:graphicData uri="http://schemas.openxmlformats.org/presentationml/2006/ole">
            <mc:AlternateContent xmlns:mc="http://schemas.openxmlformats.org/markup-compatibility/2006">
              <mc:Choice xmlns:v="urn:schemas-microsoft-com:vml" Requires="v">
                <p:oleObj spid="_x0000_s3083" name="" r:id="rId41" imgW="9525" imgH="9525" progId="CorelDraw.Graphic.8">
                  <p:embed/>
                </p:oleObj>
              </mc:Choice>
              <mc:Fallback>
                <p:oleObj name="" r:id="rId41" imgW="9525" imgH="9525" progId="CorelDraw.Graphic.8">
                  <p:embed/>
                  <p:pic>
                    <p:nvPicPr>
                      <p:cNvPr id="0" name="图片 3082"/>
                      <p:cNvPicPr/>
                      <p:nvPr/>
                    </p:nvPicPr>
                    <p:blipFill>
                      <a:blip r:embed="rId2"/>
                      <a:stretch>
                        <a:fillRect/>
                      </a:stretch>
                    </p:blipFill>
                    <p:spPr>
                      <a:xfrm>
                        <a:off x="4038600" y="5715000"/>
                        <a:ext cx="304800" cy="301625"/>
                      </a:xfrm>
                      <a:prstGeom prst="rect">
                        <a:avLst/>
                      </a:prstGeom>
                      <a:noFill/>
                      <a:ln w="38100">
                        <a:noFill/>
                        <a:miter/>
                      </a:ln>
                    </p:spPr>
                  </p:pic>
                </p:oleObj>
              </mc:Fallback>
            </mc:AlternateContent>
          </a:graphicData>
        </a:graphic>
      </p:graphicFrame>
      <p:sp>
        <p:nvSpPr>
          <p:cNvPr id="9305" name="Line 89"/>
          <p:cNvSpPr/>
          <p:nvPr/>
        </p:nvSpPr>
        <p:spPr>
          <a:xfrm flipV="1">
            <a:off x="5791200" y="3505200"/>
            <a:ext cx="0" cy="838200"/>
          </a:xfrm>
          <a:prstGeom prst="line">
            <a:avLst/>
          </a:prstGeom>
          <a:ln w="38100" cap="flat" cmpd="sng">
            <a:solidFill>
              <a:srgbClr val="FF9966"/>
            </a:solidFill>
            <a:prstDash val="solid"/>
            <a:round/>
            <a:headEnd type="none" w="med" len="med"/>
            <a:tailEnd type="stealth" w="med" len="med"/>
          </a:ln>
        </p:spPr>
      </p:sp>
      <p:sp>
        <p:nvSpPr>
          <p:cNvPr id="9306" name="Text Box 90"/>
          <p:cNvSpPr txBox="1"/>
          <p:nvPr/>
        </p:nvSpPr>
        <p:spPr>
          <a:xfrm>
            <a:off x="5791200" y="3641725"/>
            <a:ext cx="1524000" cy="701675"/>
          </a:xfrm>
          <a:prstGeom prst="rect">
            <a:avLst/>
          </a:prstGeom>
          <a:noFill/>
          <a:ln w="9525">
            <a:noFill/>
          </a:ln>
        </p:spPr>
        <p:txBody>
          <a:bodyPr anchor="t">
            <a:spAutoFit/>
          </a:bodyPr>
          <a:p>
            <a:pPr>
              <a:spcBef>
                <a:spcPct val="50000"/>
              </a:spcBef>
            </a:pPr>
            <a:r>
              <a:rPr lang="zh-CN" altLang="en-US" sz="2000" b="1" dirty="0">
                <a:solidFill>
                  <a:srgbClr val="FFFF66"/>
                </a:solidFill>
                <a:latin typeface="Times New Roman" panose="02020603050405020304" pitchFamily="18" charset="0"/>
                <a:ea typeface="幼圆" panose="02010509060101010101" pitchFamily="49" charset="-122"/>
              </a:rPr>
              <a:t>发射区向基区扩散电子</a:t>
            </a:r>
            <a:endParaRPr lang="zh-CN" altLang="en-US" sz="2000" b="1" dirty="0">
              <a:solidFill>
                <a:srgbClr val="FFFF66"/>
              </a:solidFill>
              <a:latin typeface="Times New Roman" panose="02020603050405020304" pitchFamily="18" charset="0"/>
              <a:ea typeface="幼圆" panose="02010509060101010101" pitchFamily="49" charset="-122"/>
            </a:endParaRPr>
          </a:p>
        </p:txBody>
      </p:sp>
      <p:sp>
        <p:nvSpPr>
          <p:cNvPr id="9307" name="Line 91"/>
          <p:cNvSpPr/>
          <p:nvPr/>
        </p:nvSpPr>
        <p:spPr>
          <a:xfrm flipH="1">
            <a:off x="5105400" y="5715000"/>
            <a:ext cx="685800" cy="0"/>
          </a:xfrm>
          <a:prstGeom prst="line">
            <a:avLst/>
          </a:prstGeom>
          <a:ln w="28575" cap="flat" cmpd="sng">
            <a:solidFill>
              <a:srgbClr val="FF9966"/>
            </a:solidFill>
            <a:prstDash val="solid"/>
            <a:round/>
            <a:headEnd type="none" w="med" len="med"/>
            <a:tailEnd type="stealth" w="med" len="med"/>
          </a:ln>
        </p:spPr>
      </p:sp>
      <p:sp>
        <p:nvSpPr>
          <p:cNvPr id="9308" name="Text Box 92"/>
          <p:cNvSpPr txBox="1"/>
          <p:nvPr/>
        </p:nvSpPr>
        <p:spPr>
          <a:xfrm>
            <a:off x="5791200" y="5013325"/>
            <a:ext cx="1981200" cy="1006475"/>
          </a:xfrm>
          <a:prstGeom prst="rect">
            <a:avLst/>
          </a:prstGeom>
          <a:noFill/>
          <a:ln w="9525">
            <a:noFill/>
          </a:ln>
        </p:spPr>
        <p:txBody>
          <a:bodyPr anchor="t">
            <a:spAutoFit/>
          </a:bodyPr>
          <a:p>
            <a:pPr>
              <a:spcBef>
                <a:spcPct val="50000"/>
              </a:spcBef>
            </a:pPr>
            <a:r>
              <a:rPr lang="zh-CN" altLang="en-US" sz="2000" b="1" dirty="0">
                <a:solidFill>
                  <a:schemeClr val="bg1"/>
                </a:solidFill>
                <a:latin typeface="幼圆" panose="02010509060101010101" pitchFamily="49" charset="-122"/>
                <a:ea typeface="幼圆" panose="02010509060101010101" pitchFamily="49" charset="-122"/>
              </a:rPr>
              <a:t>电源负极向发射区补充电子形成发射极电流</a:t>
            </a:r>
            <a:r>
              <a:rPr lang="en-US" altLang="zh-CN" sz="2000" b="1" i="1" dirty="0">
                <a:solidFill>
                  <a:schemeClr val="bg1"/>
                </a:solidFill>
                <a:latin typeface="幼圆" panose="02010509060101010101" pitchFamily="49" charset="-122"/>
                <a:ea typeface="幼圆" panose="02010509060101010101" pitchFamily="49" charset="-122"/>
              </a:rPr>
              <a:t>I</a:t>
            </a:r>
            <a:r>
              <a:rPr lang="en-US" altLang="zh-CN" sz="2000" b="1" baseline="-25000" dirty="0">
                <a:solidFill>
                  <a:schemeClr val="bg1"/>
                </a:solidFill>
                <a:latin typeface="幼圆" panose="02010509060101010101" pitchFamily="49" charset="-122"/>
                <a:ea typeface="幼圆" panose="02010509060101010101" pitchFamily="49" charset="-122"/>
              </a:rPr>
              <a:t>E</a:t>
            </a:r>
            <a:endParaRPr lang="en-US" altLang="zh-CN" sz="2000" b="1" baseline="-25000" dirty="0">
              <a:solidFill>
                <a:schemeClr val="bg1"/>
              </a:solidFill>
              <a:latin typeface="幼圆" panose="02010509060101010101" pitchFamily="49" charset="-122"/>
              <a:ea typeface="幼圆" panose="02010509060101010101" pitchFamily="49" charset="-122"/>
            </a:endParaRPr>
          </a:p>
        </p:txBody>
      </p:sp>
      <p:sp>
        <p:nvSpPr>
          <p:cNvPr id="9309" name="Text Box 93"/>
          <p:cNvSpPr txBox="1"/>
          <p:nvPr/>
        </p:nvSpPr>
        <p:spPr>
          <a:xfrm>
            <a:off x="6248400" y="2667000"/>
            <a:ext cx="1752600" cy="701675"/>
          </a:xfrm>
          <a:prstGeom prst="rect">
            <a:avLst/>
          </a:prstGeom>
          <a:noFill/>
          <a:ln w="9525">
            <a:noFill/>
          </a:ln>
        </p:spPr>
        <p:txBody>
          <a:bodyPr anchor="t">
            <a:spAutoFit/>
          </a:bodyPr>
          <a:p>
            <a:pPr>
              <a:spcBef>
                <a:spcPct val="50000"/>
              </a:spcBef>
            </a:pPr>
            <a:r>
              <a:rPr lang="zh-CN" altLang="en-US" sz="2000" b="1" dirty="0">
                <a:solidFill>
                  <a:srgbClr val="FFFF66"/>
                </a:solidFill>
                <a:latin typeface="Times New Roman" panose="02020603050405020304" pitchFamily="18" charset="0"/>
                <a:ea typeface="幼圆" panose="02010509060101010101" pitchFamily="49" charset="-122"/>
              </a:rPr>
              <a:t>电子在基区的扩散与复合</a:t>
            </a:r>
            <a:endParaRPr lang="zh-CN" altLang="en-US" sz="2000" b="1" dirty="0">
              <a:solidFill>
                <a:srgbClr val="FFFF66"/>
              </a:solidFill>
              <a:latin typeface="Times New Roman" panose="02020603050405020304" pitchFamily="18" charset="0"/>
              <a:ea typeface="幼圆" panose="02010509060101010101" pitchFamily="49" charset="-122"/>
            </a:endParaRPr>
          </a:p>
        </p:txBody>
      </p:sp>
      <p:sp>
        <p:nvSpPr>
          <p:cNvPr id="9310" name="AutoShape 94"/>
          <p:cNvSpPr/>
          <p:nvPr/>
        </p:nvSpPr>
        <p:spPr>
          <a:xfrm rot="10800000">
            <a:off x="5486400" y="2895600"/>
            <a:ext cx="609600" cy="304800"/>
          </a:xfrm>
          <a:prstGeom prst="notchedRightArrow">
            <a:avLst>
              <a:gd name="adj1" fmla="val 48962"/>
              <a:gd name="adj2" fmla="val 100000"/>
            </a:avLst>
          </a:prstGeom>
          <a:noFill/>
          <a:ln w="38100" cap="flat" cmpd="sng">
            <a:solidFill>
              <a:srgbClr val="FF9966"/>
            </a:solidFill>
            <a:prstDash val="solid"/>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9311" name="Line 95"/>
          <p:cNvSpPr/>
          <p:nvPr/>
        </p:nvSpPr>
        <p:spPr>
          <a:xfrm flipV="1">
            <a:off x="5791200" y="2209800"/>
            <a:ext cx="0" cy="533400"/>
          </a:xfrm>
          <a:prstGeom prst="line">
            <a:avLst/>
          </a:prstGeom>
          <a:ln w="28575" cap="flat" cmpd="sng">
            <a:solidFill>
              <a:srgbClr val="FF9966"/>
            </a:solidFill>
            <a:prstDash val="solid"/>
            <a:round/>
            <a:headEnd type="none" w="med" len="med"/>
            <a:tailEnd type="stealth" w="med" len="med"/>
          </a:ln>
        </p:spPr>
      </p:sp>
      <p:sp>
        <p:nvSpPr>
          <p:cNvPr id="9312" name="Text Box 96"/>
          <p:cNvSpPr txBox="1"/>
          <p:nvPr/>
        </p:nvSpPr>
        <p:spPr>
          <a:xfrm>
            <a:off x="5791200" y="2209800"/>
            <a:ext cx="1981200" cy="396875"/>
          </a:xfrm>
          <a:prstGeom prst="rect">
            <a:avLst/>
          </a:prstGeom>
          <a:noFill/>
          <a:ln w="9525">
            <a:noFill/>
          </a:ln>
        </p:spPr>
        <p:txBody>
          <a:bodyPr anchor="t">
            <a:spAutoFit/>
          </a:bodyPr>
          <a:p>
            <a:pPr>
              <a:spcBef>
                <a:spcPct val="50000"/>
              </a:spcBef>
            </a:pPr>
            <a:r>
              <a:rPr lang="zh-CN" altLang="en-US" sz="2000" b="1" dirty="0">
                <a:solidFill>
                  <a:srgbClr val="FFFF66"/>
                </a:solidFill>
                <a:latin typeface="Times New Roman" panose="02020603050405020304" pitchFamily="18" charset="0"/>
                <a:ea typeface="幼圆" panose="02010509060101010101" pitchFamily="49" charset="-122"/>
              </a:rPr>
              <a:t>集电区收集电子</a:t>
            </a:r>
            <a:endParaRPr lang="zh-CN" altLang="en-US" sz="2000" b="1" dirty="0">
              <a:solidFill>
                <a:srgbClr val="FFFF66"/>
              </a:solidFill>
              <a:latin typeface="Times New Roman" panose="02020603050405020304" pitchFamily="18" charset="0"/>
              <a:ea typeface="幼圆" panose="02010509060101010101" pitchFamily="49" charset="-122"/>
            </a:endParaRPr>
          </a:p>
        </p:txBody>
      </p:sp>
      <p:sp>
        <p:nvSpPr>
          <p:cNvPr id="9313" name="Line 97"/>
          <p:cNvSpPr/>
          <p:nvPr/>
        </p:nvSpPr>
        <p:spPr>
          <a:xfrm>
            <a:off x="5562600" y="990600"/>
            <a:ext cx="381000" cy="381000"/>
          </a:xfrm>
          <a:prstGeom prst="line">
            <a:avLst/>
          </a:prstGeom>
          <a:ln w="28575" cap="flat" cmpd="sng">
            <a:solidFill>
              <a:srgbClr val="FF9966"/>
            </a:solidFill>
            <a:prstDash val="solid"/>
            <a:round/>
            <a:headEnd type="stealth" w="med" len="med"/>
            <a:tailEnd type="none" w="med" len="med"/>
          </a:ln>
        </p:spPr>
      </p:sp>
      <p:sp>
        <p:nvSpPr>
          <p:cNvPr id="9314" name="Text Box 98"/>
          <p:cNvSpPr txBox="1"/>
          <p:nvPr/>
        </p:nvSpPr>
        <p:spPr>
          <a:xfrm>
            <a:off x="5867400" y="1219200"/>
            <a:ext cx="2133600" cy="701675"/>
          </a:xfrm>
          <a:prstGeom prst="rect">
            <a:avLst/>
          </a:prstGeom>
          <a:noFill/>
          <a:ln w="9525">
            <a:noFill/>
          </a:ln>
        </p:spPr>
        <p:txBody>
          <a:bodyPr anchor="t">
            <a:spAutoFit/>
          </a:bodyPr>
          <a:p>
            <a:pPr>
              <a:spcBef>
                <a:spcPct val="50000"/>
              </a:spcBef>
            </a:pPr>
            <a:r>
              <a:rPr lang="zh-CN" altLang="en-US" sz="2000" b="1" dirty="0">
                <a:solidFill>
                  <a:schemeClr val="bg1"/>
                </a:solidFill>
                <a:latin typeface="幼圆" panose="02010509060101010101" pitchFamily="49" charset="-122"/>
                <a:ea typeface="幼圆" panose="02010509060101010101" pitchFamily="49" charset="-122"/>
              </a:rPr>
              <a:t>电子流向电源正极形成</a:t>
            </a:r>
            <a:r>
              <a:rPr lang="en-US" altLang="zh-CN" sz="2000" b="1" i="1" dirty="0">
                <a:solidFill>
                  <a:schemeClr val="bg1"/>
                </a:solidFill>
                <a:latin typeface="幼圆" panose="02010509060101010101" pitchFamily="49" charset="-122"/>
                <a:ea typeface="幼圆" panose="02010509060101010101" pitchFamily="49" charset="-122"/>
              </a:rPr>
              <a:t>I</a:t>
            </a:r>
            <a:r>
              <a:rPr lang="en-US" altLang="zh-CN" sz="2000" b="1" baseline="-25000" dirty="0">
                <a:solidFill>
                  <a:schemeClr val="bg1"/>
                </a:solidFill>
                <a:latin typeface="幼圆" panose="02010509060101010101" pitchFamily="49" charset="-122"/>
                <a:ea typeface="幼圆" panose="02010509060101010101" pitchFamily="49" charset="-122"/>
              </a:rPr>
              <a:t>C</a:t>
            </a:r>
            <a:endParaRPr lang="en-US" altLang="zh-CN" sz="2000" b="1" baseline="-25000" dirty="0">
              <a:solidFill>
                <a:schemeClr val="bg1"/>
              </a:solidFill>
              <a:latin typeface="幼圆" panose="02010509060101010101" pitchFamily="49" charset="-122"/>
              <a:ea typeface="幼圆" panose="02010509060101010101" pitchFamily="49" charset="-122"/>
            </a:endParaRPr>
          </a:p>
        </p:txBody>
      </p:sp>
      <p:sp>
        <p:nvSpPr>
          <p:cNvPr id="9315" name="Text Box 99"/>
          <p:cNvSpPr txBox="1"/>
          <p:nvPr/>
        </p:nvSpPr>
        <p:spPr>
          <a:xfrm>
            <a:off x="914400" y="1371600"/>
            <a:ext cx="2057400" cy="1006475"/>
          </a:xfrm>
          <a:prstGeom prst="rect">
            <a:avLst/>
          </a:prstGeom>
          <a:noFill/>
          <a:ln w="9525">
            <a:noFill/>
          </a:ln>
        </p:spPr>
        <p:txBody>
          <a:bodyPr anchor="t">
            <a:spAutoFit/>
          </a:bodyPr>
          <a:p>
            <a:pPr>
              <a:spcBef>
                <a:spcPct val="50000"/>
              </a:spcBef>
            </a:pPr>
            <a:r>
              <a:rPr lang="en-US" altLang="zh-CN" sz="2000" b="1" i="1" dirty="0">
                <a:solidFill>
                  <a:srgbClr val="FFFF99"/>
                </a:solidFill>
                <a:latin typeface="Times New Roman" panose="02020603050405020304" pitchFamily="18" charset="0"/>
                <a:ea typeface="幼圆" panose="02010509060101010101" pitchFamily="49" charset="-122"/>
              </a:rPr>
              <a:t>E</a:t>
            </a:r>
            <a:r>
              <a:rPr lang="en-US" altLang="zh-CN" sz="2000" b="1" baseline="-25000" dirty="0">
                <a:solidFill>
                  <a:srgbClr val="FFFF99"/>
                </a:solidFill>
                <a:latin typeface="Times New Roman" panose="02020603050405020304" pitchFamily="18" charset="0"/>
                <a:ea typeface="幼圆" panose="02010509060101010101" pitchFamily="49" charset="-122"/>
              </a:rPr>
              <a:t>B</a:t>
            </a:r>
            <a:r>
              <a:rPr lang="zh-CN" altLang="en-US" sz="2000" b="1" dirty="0">
                <a:solidFill>
                  <a:srgbClr val="FFFF99"/>
                </a:solidFill>
                <a:latin typeface="幼圆" panose="02010509060101010101" pitchFamily="49" charset="-122"/>
                <a:ea typeface="幼圆" panose="02010509060101010101" pitchFamily="49" charset="-122"/>
              </a:rPr>
              <a:t>正极拉走电子，补充被复合的空穴，形成</a:t>
            </a:r>
            <a:r>
              <a:rPr lang="en-US" altLang="zh-CN" sz="2000" b="1" i="1" dirty="0">
                <a:solidFill>
                  <a:srgbClr val="FFFF99"/>
                </a:solidFill>
                <a:latin typeface="Times New Roman" panose="02020603050405020304" pitchFamily="18" charset="0"/>
                <a:ea typeface="幼圆" panose="02010509060101010101" pitchFamily="49" charset="-122"/>
              </a:rPr>
              <a:t>I</a:t>
            </a:r>
            <a:r>
              <a:rPr lang="en-US" altLang="zh-CN" sz="2000" b="1" baseline="-25000" dirty="0">
                <a:solidFill>
                  <a:srgbClr val="FFFF99"/>
                </a:solidFill>
                <a:latin typeface="Times New Roman" panose="02020603050405020304" pitchFamily="18" charset="0"/>
                <a:ea typeface="幼圆" panose="02010509060101010101" pitchFamily="49" charset="-122"/>
              </a:rPr>
              <a:t>B</a:t>
            </a:r>
            <a:endParaRPr lang="en-US" altLang="zh-CN" sz="2000" b="1" baseline="-25000" dirty="0">
              <a:solidFill>
                <a:srgbClr val="FFFF99"/>
              </a:solidFill>
              <a:latin typeface="Times New Roman" panose="02020603050405020304" pitchFamily="18" charset="0"/>
              <a:ea typeface="幼圆" panose="02010509060101010101" pitchFamily="49" charset="-122"/>
            </a:endParaRPr>
          </a:p>
        </p:txBody>
      </p:sp>
      <p:sp>
        <p:nvSpPr>
          <p:cNvPr id="9316" name="Line 100"/>
          <p:cNvSpPr/>
          <p:nvPr/>
        </p:nvSpPr>
        <p:spPr>
          <a:xfrm>
            <a:off x="2286000" y="2286000"/>
            <a:ext cx="0" cy="457200"/>
          </a:xfrm>
          <a:prstGeom prst="line">
            <a:avLst/>
          </a:prstGeom>
          <a:ln w="38100" cap="flat" cmpd="sng">
            <a:solidFill>
              <a:srgbClr val="FF9966"/>
            </a:solidFill>
            <a:prstDash val="solid"/>
            <a:round/>
            <a:headEnd type="none" w="med" len="med"/>
            <a:tailEnd type="stealth" w="med" len="med"/>
          </a:ln>
        </p:spPr>
      </p:sp>
      <p:sp>
        <p:nvSpPr>
          <p:cNvPr id="34917" name="Text Box 102">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4918" name="Text Box 103">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2" name="Text Box 105"/>
          <p:cNvSpPr txBox="1"/>
          <p:nvPr/>
        </p:nvSpPr>
        <p:spPr>
          <a:xfrm>
            <a:off x="7667625" y="629443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4921" name="Rectangle 106"/>
          <p:cNvSpPr/>
          <p:nvPr/>
        </p:nvSpPr>
        <p:spPr>
          <a:xfrm>
            <a:off x="8064500" y="2708275"/>
            <a:ext cx="215900" cy="649288"/>
          </a:xfrm>
          <a:prstGeom prst="rect">
            <a:avLst/>
          </a:prstGeom>
          <a:gradFill rotWithShape="1">
            <a:gsLst>
              <a:gs pos="0">
                <a:srgbClr val="767600"/>
              </a:gs>
              <a:gs pos="50000">
                <a:srgbClr val="FFFF00"/>
              </a:gs>
              <a:gs pos="100000">
                <a:srgbClr val="767600"/>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4922" name="Rectangle 107"/>
          <p:cNvSpPr/>
          <p:nvPr/>
        </p:nvSpPr>
        <p:spPr>
          <a:xfrm>
            <a:off x="1116013" y="3429000"/>
            <a:ext cx="215900" cy="504825"/>
          </a:xfrm>
          <a:prstGeom prst="rect">
            <a:avLst/>
          </a:prstGeom>
          <a:gradFill rotWithShape="1">
            <a:gsLst>
              <a:gs pos="0">
                <a:srgbClr val="767600"/>
              </a:gs>
              <a:gs pos="50000">
                <a:srgbClr val="FFFF00"/>
              </a:gs>
              <a:gs pos="100000">
                <a:srgbClr val="767600"/>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81"/>
                                        </p:tgtEl>
                                        <p:attrNameLst>
                                          <p:attrName>style.visibility</p:attrName>
                                        </p:attrNameLst>
                                      </p:cBhvr>
                                      <p:to>
                                        <p:strVal val="visible"/>
                                      </p:to>
                                    </p:set>
                                  </p:childTnLst>
                                </p:cTn>
                              </p:par>
                            </p:childTnLst>
                          </p:cTn>
                        </p:par>
                        <p:par>
                          <p:cTn id="7" fill="hold">
                            <p:stCondLst>
                              <p:cond delay="500"/>
                            </p:stCondLst>
                            <p:childTnLst>
                              <p:par>
                                <p:cTn id="8" presetID="11" presetClass="entr" presetSubtype="0" fill="hold" nodeType="afterEffect">
                                  <p:stCondLst>
                                    <p:cond delay="0"/>
                                  </p:stCondLst>
                                  <p:childTnLst>
                                    <p:set>
                                      <p:cBhvr>
                                        <p:cTn id="9" dur="1000">
                                          <p:stCondLst>
                                            <p:cond delay="0"/>
                                          </p:stCondLst>
                                        </p:cTn>
                                        <p:tgtEl>
                                          <p:spTgt spid="9282"/>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nodeType="afterEffect">
                                  <p:stCondLst>
                                    <p:cond delay="0"/>
                                  </p:stCondLst>
                                  <p:childTnLst>
                                    <p:set>
                                      <p:cBhvr>
                                        <p:cTn id="12" dur="1" fill="hold">
                                          <p:stCondLst>
                                            <p:cond delay="499"/>
                                          </p:stCondLst>
                                        </p:cTn>
                                        <p:tgtEl>
                                          <p:spTgt spid="9266"/>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499"/>
                                          </p:stCondLst>
                                        </p:cTn>
                                        <p:tgtEl>
                                          <p:spTgt spid="9292"/>
                                        </p:tgtEl>
                                        <p:attrNameLst>
                                          <p:attrName>style.visibility</p:attrName>
                                        </p:attrNameLst>
                                      </p:cBhvr>
                                      <p:to>
                                        <p:strVal val="visible"/>
                                      </p:to>
                                    </p:set>
                                  </p:childTnLst>
                                </p:cTn>
                              </p:par>
                            </p:childTnLst>
                          </p:cTn>
                        </p:par>
                        <p:par>
                          <p:cTn id="16" fill="hold">
                            <p:stCondLst>
                              <p:cond delay="2500"/>
                            </p:stCondLst>
                            <p:childTnLst>
                              <p:par>
                                <p:cTn id="17" presetID="11" presetClass="entr" presetSubtype="0" fill="hold" nodeType="afterEffect">
                                  <p:stCondLst>
                                    <p:cond delay="0"/>
                                  </p:stCondLst>
                                  <p:childTnLst>
                                    <p:set>
                                      <p:cBhvr>
                                        <p:cTn id="18" dur="1000">
                                          <p:stCondLst>
                                            <p:cond delay="0"/>
                                          </p:stCondLst>
                                        </p:cTn>
                                        <p:tgtEl>
                                          <p:spTgt spid="9287"/>
                                        </p:tgtEl>
                                        <p:attrNameLst>
                                          <p:attrName>style.visibility</p:attrName>
                                        </p:attrNameLst>
                                      </p:cBhvr>
                                      <p:to>
                                        <p:strVal val="visible"/>
                                      </p:to>
                                    </p:set>
                                  </p:childTnLst>
                                </p:cTn>
                              </p:par>
                            </p:childTnLst>
                          </p:cTn>
                        </p:par>
                        <p:par>
                          <p:cTn id="19" fill="hold">
                            <p:stCondLst>
                              <p:cond delay="3500"/>
                            </p:stCondLst>
                            <p:childTnLst>
                              <p:par>
                                <p:cTn id="20" presetID="1" presetClass="entr" presetSubtype="0" fill="hold" nodeType="afterEffect">
                                  <p:stCondLst>
                                    <p:cond delay="0"/>
                                  </p:stCondLst>
                                  <p:childTnLst>
                                    <p:set>
                                      <p:cBhvr>
                                        <p:cTn id="21" dur="1" fill="hold">
                                          <p:stCondLst>
                                            <p:cond delay="499"/>
                                          </p:stCondLst>
                                        </p:cTn>
                                        <p:tgtEl>
                                          <p:spTgt spid="9265"/>
                                        </p:tgtEl>
                                        <p:attrNameLst>
                                          <p:attrName>style.visibility</p:attrName>
                                        </p:attrNameLst>
                                      </p:cBhvr>
                                      <p:to>
                                        <p:strVal val="visible"/>
                                      </p:to>
                                    </p:set>
                                  </p:childTnLst>
                                </p:cTn>
                              </p:par>
                            </p:childTnLst>
                          </p:cTn>
                        </p:par>
                        <p:par>
                          <p:cTn id="22" fill="hold">
                            <p:stCondLst>
                              <p:cond delay="4000"/>
                            </p:stCondLst>
                            <p:childTnLst>
                              <p:par>
                                <p:cTn id="23" presetID="1" presetClass="entr" presetSubtype="0" fill="hold" grpId="0" nodeType="afterEffect">
                                  <p:stCondLst>
                                    <p:cond delay="0"/>
                                  </p:stCondLst>
                                  <p:childTnLst>
                                    <p:set>
                                      <p:cBhvr>
                                        <p:cTn id="24" dur="1" fill="hold">
                                          <p:stCondLst>
                                            <p:cond delay="499"/>
                                          </p:stCondLst>
                                        </p:cTn>
                                        <p:tgtEl>
                                          <p:spTgt spid="9286"/>
                                        </p:tgtEl>
                                        <p:attrNameLst>
                                          <p:attrName>style.visibility</p:attrName>
                                        </p:attrNameLst>
                                      </p:cBhvr>
                                      <p:to>
                                        <p:strVal val="visible"/>
                                      </p:to>
                                    </p:set>
                                  </p:childTnLst>
                                </p:cTn>
                              </p:par>
                            </p:childTnLst>
                          </p:cTn>
                        </p:par>
                        <p:par>
                          <p:cTn id="25" fill="hold">
                            <p:stCondLst>
                              <p:cond delay="4500"/>
                            </p:stCondLst>
                            <p:childTnLst>
                              <p:par>
                                <p:cTn id="26" presetID="11" presetClass="entr" presetSubtype="0" fill="hold" nodeType="afterEffect">
                                  <p:stCondLst>
                                    <p:cond delay="0"/>
                                  </p:stCondLst>
                                  <p:childTnLst>
                                    <p:set>
                                      <p:cBhvr>
                                        <p:cTn id="27" dur="1000">
                                          <p:stCondLst>
                                            <p:cond delay="0"/>
                                          </p:stCondLst>
                                        </p:cTn>
                                        <p:tgtEl>
                                          <p:spTgt spid="9283"/>
                                        </p:tgtEl>
                                        <p:attrNameLst>
                                          <p:attrName>style.visibility</p:attrName>
                                        </p:attrNameLst>
                                      </p:cBhvr>
                                      <p:to>
                                        <p:strVal val="visible"/>
                                      </p:to>
                                    </p:set>
                                  </p:childTnLst>
                                </p:cTn>
                              </p:par>
                            </p:childTnLst>
                          </p:cTn>
                        </p:par>
                        <p:par>
                          <p:cTn id="28" fill="hold">
                            <p:stCondLst>
                              <p:cond delay="5500"/>
                            </p:stCondLst>
                            <p:childTnLst>
                              <p:par>
                                <p:cTn id="29" presetID="1" presetClass="entr" presetSubtype="0" fill="hold" nodeType="afterEffect">
                                  <p:stCondLst>
                                    <p:cond delay="0"/>
                                  </p:stCondLst>
                                  <p:childTnLst>
                                    <p:set>
                                      <p:cBhvr>
                                        <p:cTn id="30" dur="1" fill="hold">
                                          <p:stCondLst>
                                            <p:cond delay="499"/>
                                          </p:stCondLst>
                                        </p:cTn>
                                        <p:tgtEl>
                                          <p:spTgt spid="9264"/>
                                        </p:tgtEl>
                                        <p:attrNameLst>
                                          <p:attrName>style.visibility</p:attrName>
                                        </p:attrNameLst>
                                      </p:cBhvr>
                                      <p:to>
                                        <p:strVal val="visible"/>
                                      </p:to>
                                    </p:set>
                                  </p:childTnLst>
                                </p:cTn>
                              </p:par>
                            </p:childTnLst>
                          </p:cTn>
                        </p:par>
                        <p:par>
                          <p:cTn id="31" fill="hold">
                            <p:stCondLst>
                              <p:cond delay="6000"/>
                            </p:stCondLst>
                            <p:childTnLst>
                              <p:par>
                                <p:cTn id="32" presetID="17" presetClass="entr" presetSubtype="4" fill="hold" nodeType="afterEffect">
                                  <p:stCondLst>
                                    <p:cond delay="0"/>
                                  </p:stCondLst>
                                  <p:childTnLst>
                                    <p:set>
                                      <p:cBhvr>
                                        <p:cTn id="33" dur="1" fill="hold">
                                          <p:stCondLst>
                                            <p:cond delay="0"/>
                                          </p:stCondLst>
                                        </p:cTn>
                                        <p:tgtEl>
                                          <p:spTgt spid="9305"/>
                                        </p:tgtEl>
                                        <p:attrNameLst>
                                          <p:attrName>style.visibility</p:attrName>
                                        </p:attrNameLst>
                                      </p:cBhvr>
                                      <p:to>
                                        <p:strVal val="visible"/>
                                      </p:to>
                                    </p:set>
                                    <p:anim calcmode="lin" valueType="num">
                                      <p:cBhvr>
                                        <p:cTn id="34" dur="500" fill="hold"/>
                                        <p:tgtEl>
                                          <p:spTgt spid="9305"/>
                                        </p:tgtEl>
                                        <p:attrNameLst>
                                          <p:attrName>ppt_x</p:attrName>
                                        </p:attrNameLst>
                                      </p:cBhvr>
                                      <p:tavLst>
                                        <p:tav tm="0">
                                          <p:val>
                                            <p:strVal val="#ppt_x"/>
                                          </p:val>
                                        </p:tav>
                                        <p:tav tm="100000">
                                          <p:val>
                                            <p:strVal val="#ppt_x"/>
                                          </p:val>
                                        </p:tav>
                                      </p:tavLst>
                                    </p:anim>
                                    <p:anim calcmode="lin" valueType="num">
                                      <p:cBhvr>
                                        <p:cTn id="35" dur="500" fill="hold"/>
                                        <p:tgtEl>
                                          <p:spTgt spid="9305"/>
                                        </p:tgtEl>
                                        <p:attrNameLst>
                                          <p:attrName>ppt_y</p:attrName>
                                        </p:attrNameLst>
                                      </p:cBhvr>
                                      <p:tavLst>
                                        <p:tav tm="0">
                                          <p:val>
                                            <p:strVal val="#ppt_y+#ppt_h/2"/>
                                          </p:val>
                                        </p:tav>
                                        <p:tav tm="100000">
                                          <p:val>
                                            <p:strVal val="#ppt_y"/>
                                          </p:val>
                                        </p:tav>
                                      </p:tavLst>
                                    </p:anim>
                                    <p:anim calcmode="lin" valueType="num">
                                      <p:cBhvr>
                                        <p:cTn id="36" dur="500" fill="hold"/>
                                        <p:tgtEl>
                                          <p:spTgt spid="9305"/>
                                        </p:tgtEl>
                                        <p:attrNameLst>
                                          <p:attrName>ppt_w</p:attrName>
                                        </p:attrNameLst>
                                      </p:cBhvr>
                                      <p:tavLst>
                                        <p:tav tm="0">
                                          <p:val>
                                            <p:strVal val="#ppt_w"/>
                                          </p:val>
                                        </p:tav>
                                        <p:tav tm="100000">
                                          <p:val>
                                            <p:strVal val="#ppt_w"/>
                                          </p:val>
                                        </p:tav>
                                      </p:tavLst>
                                    </p:anim>
                                    <p:anim calcmode="lin" valueType="num">
                                      <p:cBhvr>
                                        <p:cTn id="37" dur="500" fill="hold"/>
                                        <p:tgtEl>
                                          <p:spTgt spid="9305"/>
                                        </p:tgtEl>
                                        <p:attrNameLst>
                                          <p:attrName>ppt_h</p:attrName>
                                        </p:attrNameLst>
                                      </p:cBhvr>
                                      <p:tavLst>
                                        <p:tav tm="0">
                                          <p:val>
                                            <p:fltVal val="0.000000"/>
                                          </p:val>
                                        </p:tav>
                                        <p:tav tm="100000">
                                          <p:val>
                                            <p:strVal val="#ppt_h"/>
                                          </p:val>
                                        </p:tav>
                                      </p:tavLst>
                                    </p:anim>
                                  </p:childTnLst>
                                </p:cTn>
                              </p:par>
                            </p:childTnLst>
                          </p:cTn>
                        </p:par>
                        <p:par>
                          <p:cTn id="38" fill="hold">
                            <p:stCondLst>
                              <p:cond delay="6500"/>
                            </p:stCondLst>
                            <p:childTnLst>
                              <p:par>
                                <p:cTn id="39" presetID="9" presetClass="entr" presetSubtype="0" fill="hold" grpId="0" nodeType="afterEffect">
                                  <p:stCondLst>
                                    <p:cond delay="0"/>
                                  </p:stCondLst>
                                  <p:childTnLst>
                                    <p:set>
                                      <p:cBhvr>
                                        <p:cTn id="40" dur="1" fill="hold">
                                          <p:stCondLst>
                                            <p:cond delay="0"/>
                                          </p:stCondLst>
                                        </p:cTn>
                                        <p:tgtEl>
                                          <p:spTgt spid="9306"/>
                                        </p:tgtEl>
                                        <p:attrNameLst>
                                          <p:attrName>style.visibility</p:attrName>
                                        </p:attrNameLst>
                                      </p:cBhvr>
                                      <p:to>
                                        <p:strVal val="visible"/>
                                      </p:to>
                                    </p:set>
                                    <p:animEffect transition="in" filter="dissolve">
                                      <p:cBhvr>
                                        <p:cTn id="41" dur="500"/>
                                        <p:tgtEl>
                                          <p:spTgt spid="9306"/>
                                        </p:tgtEl>
                                      </p:cBhvr>
                                    </p:animEffect>
                                  </p:childTnLst>
                                </p:cTn>
                              </p:par>
                            </p:childTnLst>
                          </p:cTn>
                        </p:par>
                      </p:childTnLst>
                    </p:cTn>
                  </p:par>
                  <p:par>
                    <p:cTn id="42" fill="hold">
                      <p:stCondLst>
                        <p:cond delay="indefinite"/>
                      </p:stCondLst>
                      <p:childTnLst>
                        <p:par>
                          <p:cTn id="43" fill="hold">
                            <p:stCondLst>
                              <p:cond delay="0"/>
                            </p:stCondLst>
                            <p:childTnLst>
                              <p:par>
                                <p:cTn id="44" presetID="11" presetClass="entr" presetSubtype="0" fill="hold" nodeType="clickEffect">
                                  <p:stCondLst>
                                    <p:cond delay="0"/>
                                  </p:stCondLst>
                                  <p:childTnLst>
                                    <p:set>
                                      <p:cBhvr>
                                        <p:cTn id="45" dur="1000">
                                          <p:stCondLst>
                                            <p:cond delay="0"/>
                                          </p:stCondLst>
                                        </p:cTn>
                                        <p:tgtEl>
                                          <p:spTgt spid="9270"/>
                                        </p:tgtEl>
                                        <p:attrNameLst>
                                          <p:attrName>style.visibility</p:attrName>
                                        </p:attrNameLst>
                                      </p:cBhvr>
                                      <p:to>
                                        <p:strVal val="visible"/>
                                      </p:to>
                                    </p:set>
                                  </p:childTnLst>
                                </p:cTn>
                              </p:par>
                            </p:childTnLst>
                          </p:cTn>
                        </p:par>
                        <p:par>
                          <p:cTn id="46" fill="hold">
                            <p:stCondLst>
                              <p:cond delay="1000"/>
                            </p:stCondLst>
                            <p:childTnLst>
                              <p:par>
                                <p:cTn id="47" presetID="11" presetClass="entr" presetSubtype="0" fill="hold" nodeType="afterEffect">
                                  <p:stCondLst>
                                    <p:cond delay="0"/>
                                  </p:stCondLst>
                                  <p:childTnLst>
                                    <p:set>
                                      <p:cBhvr>
                                        <p:cTn id="48" dur="1000">
                                          <p:stCondLst>
                                            <p:cond delay="0"/>
                                          </p:stCondLst>
                                        </p:cTn>
                                        <p:tgtEl>
                                          <p:spTgt spid="9268"/>
                                        </p:tgtEl>
                                        <p:attrNameLst>
                                          <p:attrName>style.visibility</p:attrName>
                                        </p:attrNameLst>
                                      </p:cBhvr>
                                      <p:to>
                                        <p:strVal val="visible"/>
                                      </p:to>
                                    </p:set>
                                  </p:childTnLst>
                                </p:cTn>
                              </p:par>
                            </p:childTnLst>
                          </p:cTn>
                        </p:par>
                        <p:par>
                          <p:cTn id="49" fill="hold">
                            <p:stCondLst>
                              <p:cond delay="2000"/>
                            </p:stCondLst>
                            <p:childTnLst>
                              <p:par>
                                <p:cTn id="50" presetID="1" presetClass="entr" presetSubtype="0" fill="hold" nodeType="afterEffect">
                                  <p:stCondLst>
                                    <p:cond delay="0"/>
                                  </p:stCondLst>
                                  <p:childTnLst>
                                    <p:set>
                                      <p:cBhvr>
                                        <p:cTn id="51" dur="1" fill="hold">
                                          <p:stCondLst>
                                            <p:cond delay="499"/>
                                          </p:stCondLst>
                                        </p:cTn>
                                        <p:tgtEl>
                                          <p:spTgt spid="9258"/>
                                        </p:tgtEl>
                                        <p:attrNameLst>
                                          <p:attrName>style.visibility</p:attrName>
                                        </p:attrNameLst>
                                      </p:cBhvr>
                                      <p:to>
                                        <p:strVal val="visible"/>
                                      </p:to>
                                    </p:set>
                                  </p:childTnLst>
                                </p:cTn>
                              </p:par>
                            </p:childTnLst>
                          </p:cTn>
                        </p:par>
                        <p:par>
                          <p:cTn id="52" fill="hold">
                            <p:stCondLst>
                              <p:cond delay="2500"/>
                            </p:stCondLst>
                            <p:childTnLst>
                              <p:par>
                                <p:cTn id="53" presetID="1" presetClass="entr" presetSubtype="0" fill="hold" nodeType="afterEffect">
                                  <p:stCondLst>
                                    <p:cond delay="0"/>
                                  </p:stCondLst>
                                  <p:childTnLst>
                                    <p:set>
                                      <p:cBhvr>
                                        <p:cTn id="54" dur="1" fill="hold">
                                          <p:stCondLst>
                                            <p:cond delay="499"/>
                                          </p:stCondLst>
                                        </p:cTn>
                                        <p:tgtEl>
                                          <p:spTgt spid="9277"/>
                                        </p:tgtEl>
                                        <p:attrNameLst>
                                          <p:attrName>style.visibility</p:attrName>
                                        </p:attrNameLst>
                                      </p:cBhvr>
                                      <p:to>
                                        <p:strVal val="visible"/>
                                      </p:to>
                                    </p:set>
                                  </p:childTnLst>
                                </p:cTn>
                              </p:par>
                            </p:childTnLst>
                          </p:cTn>
                        </p:par>
                        <p:par>
                          <p:cTn id="55" fill="hold">
                            <p:stCondLst>
                              <p:cond delay="3000"/>
                            </p:stCondLst>
                            <p:childTnLst>
                              <p:par>
                                <p:cTn id="56" presetID="1" presetClass="entr" presetSubtype="0" fill="hold" nodeType="afterEffect">
                                  <p:stCondLst>
                                    <p:cond delay="0"/>
                                  </p:stCondLst>
                                  <p:childTnLst>
                                    <p:set>
                                      <p:cBhvr>
                                        <p:cTn id="57" dur="1" fill="hold">
                                          <p:stCondLst>
                                            <p:cond delay="499"/>
                                          </p:stCondLst>
                                        </p:cTn>
                                        <p:tgtEl>
                                          <p:spTgt spid="9271"/>
                                        </p:tgtEl>
                                        <p:attrNameLst>
                                          <p:attrName>style.visibility</p:attrName>
                                        </p:attrNameLst>
                                      </p:cBhvr>
                                      <p:to>
                                        <p:strVal val="visible"/>
                                      </p:to>
                                    </p:set>
                                  </p:childTnLst>
                                </p:cTn>
                              </p:par>
                            </p:childTnLst>
                          </p:cTn>
                        </p:par>
                        <p:par>
                          <p:cTn id="58" fill="hold">
                            <p:stCondLst>
                              <p:cond delay="3500"/>
                            </p:stCondLst>
                            <p:childTnLst>
                              <p:par>
                                <p:cTn id="59" presetID="11" presetClass="entr" presetSubtype="0" fill="hold" nodeType="afterEffect">
                                  <p:stCondLst>
                                    <p:cond delay="0"/>
                                  </p:stCondLst>
                                  <p:childTnLst>
                                    <p:set>
                                      <p:cBhvr>
                                        <p:cTn id="60" dur="1000">
                                          <p:stCondLst>
                                            <p:cond delay="0"/>
                                          </p:stCondLst>
                                        </p:cTn>
                                        <p:tgtEl>
                                          <p:spTgt spid="9304"/>
                                        </p:tgtEl>
                                        <p:attrNameLst>
                                          <p:attrName>style.visibility</p:attrName>
                                        </p:attrNameLst>
                                      </p:cBhvr>
                                      <p:to>
                                        <p:strVal val="visible"/>
                                      </p:to>
                                    </p:set>
                                  </p:childTnLst>
                                </p:cTn>
                              </p:par>
                            </p:childTnLst>
                          </p:cTn>
                        </p:par>
                        <p:par>
                          <p:cTn id="61" fill="hold">
                            <p:stCondLst>
                              <p:cond delay="4500"/>
                            </p:stCondLst>
                            <p:childTnLst>
                              <p:par>
                                <p:cTn id="62" presetID="1" presetClass="entr" presetSubtype="0" fill="hold" nodeType="afterEffect">
                                  <p:stCondLst>
                                    <p:cond delay="0"/>
                                  </p:stCondLst>
                                  <p:childTnLst>
                                    <p:set>
                                      <p:cBhvr>
                                        <p:cTn id="63" dur="1" fill="hold">
                                          <p:stCondLst>
                                            <p:cond delay="499"/>
                                          </p:stCondLst>
                                        </p:cTn>
                                        <p:tgtEl>
                                          <p:spTgt spid="9302"/>
                                        </p:tgtEl>
                                        <p:attrNameLst>
                                          <p:attrName>style.visibility</p:attrName>
                                        </p:attrNameLst>
                                      </p:cBhvr>
                                      <p:to>
                                        <p:strVal val="visible"/>
                                      </p:to>
                                    </p:set>
                                  </p:childTnLst>
                                </p:cTn>
                              </p:par>
                            </p:childTnLst>
                          </p:cTn>
                        </p:par>
                        <p:par>
                          <p:cTn id="64" fill="hold">
                            <p:stCondLst>
                              <p:cond delay="5000"/>
                            </p:stCondLst>
                            <p:childTnLst>
                              <p:par>
                                <p:cTn id="65" presetID="17" presetClass="entr" presetSubtype="1" fill="hold" nodeType="afterEffect">
                                  <p:stCondLst>
                                    <p:cond delay="0"/>
                                  </p:stCondLst>
                                  <p:childTnLst>
                                    <p:set>
                                      <p:cBhvr>
                                        <p:cTn id="66" dur="1" fill="hold">
                                          <p:stCondLst>
                                            <p:cond delay="0"/>
                                          </p:stCondLst>
                                        </p:cTn>
                                        <p:tgtEl>
                                          <p:spTgt spid="9244"/>
                                        </p:tgtEl>
                                        <p:attrNameLst>
                                          <p:attrName>style.visibility</p:attrName>
                                        </p:attrNameLst>
                                      </p:cBhvr>
                                      <p:to>
                                        <p:strVal val="visible"/>
                                      </p:to>
                                    </p:set>
                                    <p:anim calcmode="lin" valueType="num">
                                      <p:cBhvr>
                                        <p:cTn id="67" dur="500" fill="hold"/>
                                        <p:tgtEl>
                                          <p:spTgt spid="9244"/>
                                        </p:tgtEl>
                                        <p:attrNameLst>
                                          <p:attrName>ppt_x</p:attrName>
                                        </p:attrNameLst>
                                      </p:cBhvr>
                                      <p:tavLst>
                                        <p:tav tm="0">
                                          <p:val>
                                            <p:strVal val="#ppt_x"/>
                                          </p:val>
                                        </p:tav>
                                        <p:tav tm="100000">
                                          <p:val>
                                            <p:strVal val="#ppt_x"/>
                                          </p:val>
                                        </p:tav>
                                      </p:tavLst>
                                    </p:anim>
                                    <p:anim calcmode="lin" valueType="num">
                                      <p:cBhvr>
                                        <p:cTn id="68" dur="500" fill="hold"/>
                                        <p:tgtEl>
                                          <p:spTgt spid="9244"/>
                                        </p:tgtEl>
                                        <p:attrNameLst>
                                          <p:attrName>ppt_y</p:attrName>
                                        </p:attrNameLst>
                                      </p:cBhvr>
                                      <p:tavLst>
                                        <p:tav tm="0">
                                          <p:val>
                                            <p:strVal val="#ppt_y-#ppt_h/2"/>
                                          </p:val>
                                        </p:tav>
                                        <p:tav tm="100000">
                                          <p:val>
                                            <p:strVal val="#ppt_y"/>
                                          </p:val>
                                        </p:tav>
                                      </p:tavLst>
                                    </p:anim>
                                    <p:anim calcmode="lin" valueType="num">
                                      <p:cBhvr>
                                        <p:cTn id="69" dur="500" fill="hold"/>
                                        <p:tgtEl>
                                          <p:spTgt spid="9244"/>
                                        </p:tgtEl>
                                        <p:attrNameLst>
                                          <p:attrName>ppt_w</p:attrName>
                                        </p:attrNameLst>
                                      </p:cBhvr>
                                      <p:tavLst>
                                        <p:tav tm="0">
                                          <p:val>
                                            <p:strVal val="#ppt_w"/>
                                          </p:val>
                                        </p:tav>
                                        <p:tav tm="100000">
                                          <p:val>
                                            <p:strVal val="#ppt_w"/>
                                          </p:val>
                                        </p:tav>
                                      </p:tavLst>
                                    </p:anim>
                                    <p:anim calcmode="lin" valueType="num">
                                      <p:cBhvr>
                                        <p:cTn id="70" dur="500" fill="hold"/>
                                        <p:tgtEl>
                                          <p:spTgt spid="9244"/>
                                        </p:tgtEl>
                                        <p:attrNameLst>
                                          <p:attrName>ppt_h</p:attrName>
                                        </p:attrNameLst>
                                      </p:cBhvr>
                                      <p:tavLst>
                                        <p:tav tm="0">
                                          <p:val>
                                            <p:fltVal val="0.000000"/>
                                          </p:val>
                                        </p:tav>
                                        <p:tav tm="100000">
                                          <p:val>
                                            <p:strVal val="#ppt_h"/>
                                          </p:val>
                                        </p:tav>
                                      </p:tavLst>
                                    </p:anim>
                                  </p:childTnLst>
                                </p:cTn>
                              </p:par>
                            </p:childTnLst>
                          </p:cTn>
                        </p:par>
                        <p:par>
                          <p:cTn id="71" fill="hold">
                            <p:stCondLst>
                              <p:cond delay="5500"/>
                            </p:stCondLst>
                            <p:childTnLst>
                              <p:par>
                                <p:cTn id="72" presetID="9" presetClass="entr" presetSubtype="0" fill="hold" grpId="0" nodeType="afterEffect">
                                  <p:stCondLst>
                                    <p:cond delay="0"/>
                                  </p:stCondLst>
                                  <p:childTnLst>
                                    <p:set>
                                      <p:cBhvr>
                                        <p:cTn id="73" dur="1" fill="hold">
                                          <p:stCondLst>
                                            <p:cond delay="0"/>
                                          </p:stCondLst>
                                        </p:cTn>
                                        <p:tgtEl>
                                          <p:spTgt spid="9253"/>
                                        </p:tgtEl>
                                        <p:attrNameLst>
                                          <p:attrName>style.visibility</p:attrName>
                                        </p:attrNameLst>
                                      </p:cBhvr>
                                      <p:to>
                                        <p:strVal val="visible"/>
                                      </p:to>
                                    </p:set>
                                    <p:animEffect transition="in" filter="dissolve">
                                      <p:cBhvr>
                                        <p:cTn id="74" dur="500"/>
                                        <p:tgtEl>
                                          <p:spTgt spid="9253"/>
                                        </p:tgtEl>
                                      </p:cBhvr>
                                    </p:animEffect>
                                  </p:childTnLst>
                                </p:cTn>
                              </p:par>
                            </p:childTnLst>
                          </p:cTn>
                        </p:par>
                        <p:par>
                          <p:cTn id="75" fill="hold">
                            <p:stCondLst>
                              <p:cond delay="6000"/>
                            </p:stCondLst>
                            <p:childTnLst>
                              <p:par>
                                <p:cTn id="76" presetID="17" presetClass="entr" presetSubtype="2" fill="hold" nodeType="afterEffect">
                                  <p:stCondLst>
                                    <p:cond delay="0"/>
                                  </p:stCondLst>
                                  <p:childTnLst>
                                    <p:set>
                                      <p:cBhvr>
                                        <p:cTn id="77" dur="1" fill="hold">
                                          <p:stCondLst>
                                            <p:cond delay="0"/>
                                          </p:stCondLst>
                                        </p:cTn>
                                        <p:tgtEl>
                                          <p:spTgt spid="9307"/>
                                        </p:tgtEl>
                                        <p:attrNameLst>
                                          <p:attrName>style.visibility</p:attrName>
                                        </p:attrNameLst>
                                      </p:cBhvr>
                                      <p:to>
                                        <p:strVal val="visible"/>
                                      </p:to>
                                    </p:set>
                                    <p:anim calcmode="lin" valueType="num">
                                      <p:cBhvr>
                                        <p:cTn id="78" dur="500" fill="hold"/>
                                        <p:tgtEl>
                                          <p:spTgt spid="9307"/>
                                        </p:tgtEl>
                                        <p:attrNameLst>
                                          <p:attrName>ppt_x</p:attrName>
                                        </p:attrNameLst>
                                      </p:cBhvr>
                                      <p:tavLst>
                                        <p:tav tm="0">
                                          <p:val>
                                            <p:strVal val="#ppt_x+#ppt_w/2"/>
                                          </p:val>
                                        </p:tav>
                                        <p:tav tm="100000">
                                          <p:val>
                                            <p:strVal val="#ppt_x"/>
                                          </p:val>
                                        </p:tav>
                                      </p:tavLst>
                                    </p:anim>
                                    <p:anim calcmode="lin" valueType="num">
                                      <p:cBhvr>
                                        <p:cTn id="79" dur="500" fill="hold"/>
                                        <p:tgtEl>
                                          <p:spTgt spid="9307"/>
                                        </p:tgtEl>
                                        <p:attrNameLst>
                                          <p:attrName>ppt_y</p:attrName>
                                        </p:attrNameLst>
                                      </p:cBhvr>
                                      <p:tavLst>
                                        <p:tav tm="0">
                                          <p:val>
                                            <p:strVal val="#ppt_y"/>
                                          </p:val>
                                        </p:tav>
                                        <p:tav tm="100000">
                                          <p:val>
                                            <p:strVal val="#ppt_y"/>
                                          </p:val>
                                        </p:tav>
                                      </p:tavLst>
                                    </p:anim>
                                    <p:anim calcmode="lin" valueType="num">
                                      <p:cBhvr>
                                        <p:cTn id="80" dur="500" fill="hold"/>
                                        <p:tgtEl>
                                          <p:spTgt spid="9307"/>
                                        </p:tgtEl>
                                        <p:attrNameLst>
                                          <p:attrName>ppt_w</p:attrName>
                                        </p:attrNameLst>
                                      </p:cBhvr>
                                      <p:tavLst>
                                        <p:tav tm="0">
                                          <p:val>
                                            <p:fltVal val="0.000000"/>
                                          </p:val>
                                        </p:tav>
                                        <p:tav tm="100000">
                                          <p:val>
                                            <p:strVal val="#ppt_w"/>
                                          </p:val>
                                        </p:tav>
                                      </p:tavLst>
                                    </p:anim>
                                    <p:anim calcmode="lin" valueType="num">
                                      <p:cBhvr>
                                        <p:cTn id="81" dur="500" fill="hold"/>
                                        <p:tgtEl>
                                          <p:spTgt spid="9307"/>
                                        </p:tgtEl>
                                        <p:attrNameLst>
                                          <p:attrName>ppt_h</p:attrName>
                                        </p:attrNameLst>
                                      </p:cBhvr>
                                      <p:tavLst>
                                        <p:tav tm="0">
                                          <p:val>
                                            <p:strVal val="#ppt_h"/>
                                          </p:val>
                                        </p:tav>
                                        <p:tav tm="100000">
                                          <p:val>
                                            <p:strVal val="#ppt_h"/>
                                          </p:val>
                                        </p:tav>
                                      </p:tavLst>
                                    </p:anim>
                                  </p:childTnLst>
                                </p:cTn>
                              </p:par>
                            </p:childTnLst>
                          </p:cTn>
                        </p:par>
                        <p:par>
                          <p:cTn id="82" fill="hold">
                            <p:stCondLst>
                              <p:cond delay="6500"/>
                            </p:stCondLst>
                            <p:childTnLst>
                              <p:par>
                                <p:cTn id="83" presetID="4" presetClass="entr" presetSubtype="16" fill="hold" grpId="0" nodeType="afterEffect">
                                  <p:stCondLst>
                                    <p:cond delay="0"/>
                                  </p:stCondLst>
                                  <p:childTnLst>
                                    <p:set>
                                      <p:cBhvr>
                                        <p:cTn id="84" dur="1" fill="hold">
                                          <p:stCondLst>
                                            <p:cond delay="0"/>
                                          </p:stCondLst>
                                        </p:cTn>
                                        <p:tgtEl>
                                          <p:spTgt spid="9308"/>
                                        </p:tgtEl>
                                        <p:attrNameLst>
                                          <p:attrName>style.visibility</p:attrName>
                                        </p:attrNameLst>
                                      </p:cBhvr>
                                      <p:to>
                                        <p:strVal val="visible"/>
                                      </p:to>
                                    </p:set>
                                    <p:animEffect transition="in" filter="box(in)">
                                      <p:cBhvr>
                                        <p:cTn id="85" dur="500"/>
                                        <p:tgtEl>
                                          <p:spTgt spid="9308"/>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499"/>
                                          </p:stCondLst>
                                        </p:cTn>
                                        <p:tgtEl>
                                          <p:spTgt spid="9294"/>
                                        </p:tgtEl>
                                        <p:attrNameLst>
                                          <p:attrName>style.visibility</p:attrName>
                                        </p:attrNameLst>
                                      </p:cBhvr>
                                      <p:to>
                                        <p:strVal val="visible"/>
                                      </p:to>
                                    </p:set>
                                  </p:childTnLst>
                                </p:cTn>
                              </p:par>
                            </p:childTnLst>
                          </p:cTn>
                        </p:par>
                        <p:par>
                          <p:cTn id="90" fill="hold">
                            <p:stCondLst>
                              <p:cond delay="500"/>
                            </p:stCondLst>
                            <p:childTnLst>
                              <p:par>
                                <p:cTn id="91" presetID="1" presetClass="entr" presetSubtype="0" fill="hold" nodeType="afterEffect">
                                  <p:stCondLst>
                                    <p:cond delay="0"/>
                                  </p:stCondLst>
                                  <p:childTnLst>
                                    <p:set>
                                      <p:cBhvr>
                                        <p:cTn id="92" dur="1" fill="hold">
                                          <p:stCondLst>
                                            <p:cond delay="499"/>
                                          </p:stCondLst>
                                        </p:cTn>
                                        <p:tgtEl>
                                          <p:spTgt spid="9284"/>
                                        </p:tgtEl>
                                        <p:attrNameLst>
                                          <p:attrName>style.visibility</p:attrName>
                                        </p:attrNameLst>
                                      </p:cBhvr>
                                      <p:to>
                                        <p:strVal val="visible"/>
                                      </p:to>
                                    </p:set>
                                  </p:childTnLst>
                                </p:cTn>
                              </p:par>
                            </p:childTnLst>
                          </p:cTn>
                        </p:par>
                        <p:par>
                          <p:cTn id="93" fill="hold">
                            <p:stCondLst>
                              <p:cond delay="1000"/>
                            </p:stCondLst>
                            <p:childTnLst>
                              <p:par>
                                <p:cTn id="94" presetID="1" presetClass="entr" presetSubtype="0" fill="hold" grpId="0" nodeType="afterEffect">
                                  <p:stCondLst>
                                    <p:cond delay="0"/>
                                  </p:stCondLst>
                                  <p:childTnLst>
                                    <p:set>
                                      <p:cBhvr>
                                        <p:cTn id="95" dur="1" fill="hold">
                                          <p:stCondLst>
                                            <p:cond delay="499"/>
                                          </p:stCondLst>
                                        </p:cTn>
                                        <p:tgtEl>
                                          <p:spTgt spid="9295"/>
                                        </p:tgtEl>
                                        <p:attrNameLst>
                                          <p:attrName>style.visibility</p:attrName>
                                        </p:attrNameLst>
                                      </p:cBhvr>
                                      <p:to>
                                        <p:strVal val="visible"/>
                                      </p:to>
                                    </p:set>
                                  </p:childTnLst>
                                </p:cTn>
                              </p:par>
                            </p:childTnLst>
                          </p:cTn>
                        </p:par>
                        <p:par>
                          <p:cTn id="96" fill="hold">
                            <p:stCondLst>
                              <p:cond delay="1500"/>
                            </p:stCondLst>
                            <p:childTnLst>
                              <p:par>
                                <p:cTn id="97" presetID="1" presetClass="entr" presetSubtype="0" fill="hold" nodeType="afterEffect">
                                  <p:stCondLst>
                                    <p:cond delay="0"/>
                                  </p:stCondLst>
                                  <p:childTnLst>
                                    <p:set>
                                      <p:cBhvr>
                                        <p:cTn id="98" dur="1" fill="hold">
                                          <p:stCondLst>
                                            <p:cond delay="499"/>
                                          </p:stCondLst>
                                        </p:cTn>
                                        <p:tgtEl>
                                          <p:spTgt spid="9285"/>
                                        </p:tgtEl>
                                        <p:attrNameLst>
                                          <p:attrName>style.visibility</p:attrName>
                                        </p:attrNameLst>
                                      </p:cBhvr>
                                      <p:to>
                                        <p:strVal val="visible"/>
                                      </p:to>
                                    </p:set>
                                  </p:childTnLst>
                                </p:cTn>
                              </p:par>
                            </p:childTnLst>
                          </p:cTn>
                        </p:par>
                        <p:par>
                          <p:cTn id="99" fill="hold">
                            <p:stCondLst>
                              <p:cond delay="2000"/>
                            </p:stCondLst>
                            <p:childTnLst>
                              <p:par>
                                <p:cTn id="100" presetID="1" presetClass="entr" presetSubtype="0" fill="hold" grpId="0" nodeType="afterEffect">
                                  <p:stCondLst>
                                    <p:cond delay="0"/>
                                  </p:stCondLst>
                                  <p:childTnLst>
                                    <p:set>
                                      <p:cBhvr>
                                        <p:cTn id="101" dur="1" fill="hold">
                                          <p:stCondLst>
                                            <p:cond delay="499"/>
                                          </p:stCondLst>
                                        </p:cTn>
                                        <p:tgtEl>
                                          <p:spTgt spid="9293"/>
                                        </p:tgtEl>
                                        <p:attrNameLst>
                                          <p:attrName>style.visibility</p:attrName>
                                        </p:attrNameLst>
                                      </p:cBhvr>
                                      <p:to>
                                        <p:strVal val="visible"/>
                                      </p:to>
                                    </p:set>
                                  </p:childTnLst>
                                </p:cTn>
                              </p:par>
                            </p:childTnLst>
                          </p:cTn>
                        </p:par>
                        <p:par>
                          <p:cTn id="102" fill="hold">
                            <p:stCondLst>
                              <p:cond delay="2500"/>
                            </p:stCondLst>
                            <p:childTnLst>
                              <p:par>
                                <p:cTn id="103" presetID="11" presetClass="entr" presetSubtype="0" fill="hold" nodeType="afterEffect">
                                  <p:stCondLst>
                                    <p:cond delay="0"/>
                                  </p:stCondLst>
                                  <p:childTnLst>
                                    <p:set>
                                      <p:cBhvr>
                                        <p:cTn id="104" dur="1000">
                                          <p:stCondLst>
                                            <p:cond delay="0"/>
                                          </p:stCondLst>
                                        </p:cTn>
                                        <p:tgtEl>
                                          <p:spTgt spid="9291"/>
                                        </p:tgtEl>
                                        <p:attrNameLst>
                                          <p:attrName>style.visibility</p:attrName>
                                        </p:attrNameLst>
                                      </p:cBhvr>
                                      <p:to>
                                        <p:strVal val="visible"/>
                                      </p:to>
                                    </p:set>
                                  </p:childTnLst>
                                </p:cTn>
                              </p:par>
                            </p:childTnLst>
                          </p:cTn>
                        </p:par>
                        <p:par>
                          <p:cTn id="105" fill="hold">
                            <p:stCondLst>
                              <p:cond delay="3500"/>
                            </p:stCondLst>
                            <p:childTnLst>
                              <p:par>
                                <p:cTn id="106" presetID="1" presetClass="entr" presetSubtype="0" fill="hold" grpId="0" nodeType="afterEffect">
                                  <p:stCondLst>
                                    <p:cond delay="0"/>
                                  </p:stCondLst>
                                  <p:childTnLst>
                                    <p:set>
                                      <p:cBhvr>
                                        <p:cTn id="107" dur="1" fill="hold">
                                          <p:stCondLst>
                                            <p:cond delay="499"/>
                                          </p:stCondLst>
                                        </p:cTn>
                                        <p:tgtEl>
                                          <p:spTgt spid="9296"/>
                                        </p:tgtEl>
                                        <p:attrNameLst>
                                          <p:attrName>style.visibility</p:attrName>
                                        </p:attrNameLst>
                                      </p:cBhvr>
                                      <p:to>
                                        <p:strVal val="visible"/>
                                      </p:to>
                                    </p:set>
                                  </p:childTnLst>
                                </p:cTn>
                              </p:par>
                            </p:childTnLst>
                          </p:cTn>
                        </p:par>
                        <p:par>
                          <p:cTn id="108" fill="hold">
                            <p:stCondLst>
                              <p:cond delay="4000"/>
                            </p:stCondLst>
                            <p:childTnLst>
                              <p:par>
                                <p:cTn id="109" presetID="17" presetClass="entr" presetSubtype="2" fill="hold" grpId="0" nodeType="afterEffect">
                                  <p:stCondLst>
                                    <p:cond delay="0"/>
                                  </p:stCondLst>
                                  <p:childTnLst>
                                    <p:set>
                                      <p:cBhvr>
                                        <p:cTn id="110" dur="1" fill="hold">
                                          <p:stCondLst>
                                            <p:cond delay="0"/>
                                          </p:stCondLst>
                                        </p:cTn>
                                        <p:tgtEl>
                                          <p:spTgt spid="9310"/>
                                        </p:tgtEl>
                                        <p:attrNameLst>
                                          <p:attrName>style.visibility</p:attrName>
                                        </p:attrNameLst>
                                      </p:cBhvr>
                                      <p:to>
                                        <p:strVal val="visible"/>
                                      </p:to>
                                    </p:set>
                                    <p:anim calcmode="lin" valueType="num">
                                      <p:cBhvr>
                                        <p:cTn id="111" dur="500" fill="hold"/>
                                        <p:tgtEl>
                                          <p:spTgt spid="9310"/>
                                        </p:tgtEl>
                                        <p:attrNameLst>
                                          <p:attrName>ppt_x</p:attrName>
                                        </p:attrNameLst>
                                      </p:cBhvr>
                                      <p:tavLst>
                                        <p:tav tm="0">
                                          <p:val>
                                            <p:strVal val="#ppt_x+#ppt_w/2"/>
                                          </p:val>
                                        </p:tav>
                                        <p:tav tm="100000">
                                          <p:val>
                                            <p:strVal val="#ppt_x"/>
                                          </p:val>
                                        </p:tav>
                                      </p:tavLst>
                                    </p:anim>
                                    <p:anim calcmode="lin" valueType="num">
                                      <p:cBhvr>
                                        <p:cTn id="112" dur="500" fill="hold"/>
                                        <p:tgtEl>
                                          <p:spTgt spid="9310"/>
                                        </p:tgtEl>
                                        <p:attrNameLst>
                                          <p:attrName>ppt_y</p:attrName>
                                        </p:attrNameLst>
                                      </p:cBhvr>
                                      <p:tavLst>
                                        <p:tav tm="0">
                                          <p:val>
                                            <p:strVal val="#ppt_y"/>
                                          </p:val>
                                        </p:tav>
                                        <p:tav tm="100000">
                                          <p:val>
                                            <p:strVal val="#ppt_y"/>
                                          </p:val>
                                        </p:tav>
                                      </p:tavLst>
                                    </p:anim>
                                    <p:anim calcmode="lin" valueType="num">
                                      <p:cBhvr>
                                        <p:cTn id="113" dur="500" fill="hold"/>
                                        <p:tgtEl>
                                          <p:spTgt spid="9310"/>
                                        </p:tgtEl>
                                        <p:attrNameLst>
                                          <p:attrName>ppt_w</p:attrName>
                                        </p:attrNameLst>
                                      </p:cBhvr>
                                      <p:tavLst>
                                        <p:tav tm="0">
                                          <p:val>
                                            <p:fltVal val="0.000000"/>
                                          </p:val>
                                        </p:tav>
                                        <p:tav tm="100000">
                                          <p:val>
                                            <p:strVal val="#ppt_w"/>
                                          </p:val>
                                        </p:tav>
                                      </p:tavLst>
                                    </p:anim>
                                    <p:anim calcmode="lin" valueType="num">
                                      <p:cBhvr>
                                        <p:cTn id="114" dur="500" fill="hold"/>
                                        <p:tgtEl>
                                          <p:spTgt spid="9310"/>
                                        </p:tgtEl>
                                        <p:attrNameLst>
                                          <p:attrName>ppt_h</p:attrName>
                                        </p:attrNameLst>
                                      </p:cBhvr>
                                      <p:tavLst>
                                        <p:tav tm="0">
                                          <p:val>
                                            <p:strVal val="#ppt_h"/>
                                          </p:val>
                                        </p:tav>
                                        <p:tav tm="100000">
                                          <p:val>
                                            <p:strVal val="#ppt_h"/>
                                          </p:val>
                                        </p:tav>
                                      </p:tavLst>
                                    </p:anim>
                                  </p:childTnLst>
                                </p:cTn>
                              </p:par>
                            </p:childTnLst>
                          </p:cTn>
                        </p:par>
                        <p:par>
                          <p:cTn id="115" fill="hold">
                            <p:stCondLst>
                              <p:cond delay="4500"/>
                            </p:stCondLst>
                            <p:childTnLst>
                              <p:par>
                                <p:cTn id="116" presetID="4" presetClass="entr" presetSubtype="16" fill="hold" grpId="0" nodeType="afterEffect">
                                  <p:stCondLst>
                                    <p:cond delay="0"/>
                                  </p:stCondLst>
                                  <p:childTnLst>
                                    <p:set>
                                      <p:cBhvr>
                                        <p:cTn id="117" dur="1" fill="hold">
                                          <p:stCondLst>
                                            <p:cond delay="0"/>
                                          </p:stCondLst>
                                        </p:cTn>
                                        <p:tgtEl>
                                          <p:spTgt spid="9309"/>
                                        </p:tgtEl>
                                        <p:attrNameLst>
                                          <p:attrName>style.visibility</p:attrName>
                                        </p:attrNameLst>
                                      </p:cBhvr>
                                      <p:to>
                                        <p:strVal val="visible"/>
                                      </p:to>
                                    </p:set>
                                    <p:animEffect transition="in" filter="box(in)">
                                      <p:cBhvr>
                                        <p:cTn id="118" dur="500"/>
                                        <p:tgtEl>
                                          <p:spTgt spid="9309"/>
                                        </p:tgtEl>
                                      </p:cBhvr>
                                    </p:animEffect>
                                  </p:childTnLst>
                                </p:cTn>
                              </p:par>
                            </p:childTnLst>
                          </p:cTn>
                        </p:par>
                      </p:childTnLst>
                    </p:cTn>
                  </p:par>
                  <p:par>
                    <p:cTn id="119" fill="hold">
                      <p:stCondLst>
                        <p:cond delay="indefinite"/>
                      </p:stCondLst>
                      <p:childTnLst>
                        <p:par>
                          <p:cTn id="120" fill="hold">
                            <p:stCondLst>
                              <p:cond delay="0"/>
                            </p:stCondLst>
                            <p:childTnLst>
                              <p:par>
                                <p:cTn id="121" presetID="11" presetClass="entr" presetSubtype="0" fill="hold" nodeType="clickEffect">
                                  <p:stCondLst>
                                    <p:cond delay="0"/>
                                  </p:stCondLst>
                                  <p:childTnLst>
                                    <p:set>
                                      <p:cBhvr>
                                        <p:cTn id="122" dur="1000">
                                          <p:stCondLst>
                                            <p:cond delay="0"/>
                                          </p:stCondLst>
                                        </p:cTn>
                                        <p:tgtEl>
                                          <p:spTgt spid="9267"/>
                                        </p:tgtEl>
                                        <p:attrNameLst>
                                          <p:attrName>style.visibility</p:attrName>
                                        </p:attrNameLst>
                                      </p:cBhvr>
                                      <p:to>
                                        <p:strVal val="visible"/>
                                      </p:to>
                                    </p:set>
                                  </p:childTnLst>
                                </p:cTn>
                              </p:par>
                            </p:childTnLst>
                          </p:cTn>
                        </p:par>
                        <p:par>
                          <p:cTn id="123" fill="hold">
                            <p:stCondLst>
                              <p:cond delay="1000"/>
                            </p:stCondLst>
                            <p:childTnLst>
                              <p:par>
                                <p:cTn id="124" presetID="1" presetClass="entr" presetSubtype="0" fill="hold" nodeType="afterEffect">
                                  <p:stCondLst>
                                    <p:cond delay="0"/>
                                  </p:stCondLst>
                                  <p:childTnLst>
                                    <p:set>
                                      <p:cBhvr>
                                        <p:cTn id="125" dur="1" fill="hold">
                                          <p:stCondLst>
                                            <p:cond delay="499"/>
                                          </p:stCondLst>
                                        </p:cTn>
                                        <p:tgtEl>
                                          <p:spTgt spid="9276"/>
                                        </p:tgtEl>
                                        <p:attrNameLst>
                                          <p:attrName>style.visibility</p:attrName>
                                        </p:attrNameLst>
                                      </p:cBhvr>
                                      <p:to>
                                        <p:strVal val="visible"/>
                                      </p:to>
                                    </p:set>
                                  </p:childTnLst>
                                </p:cTn>
                              </p:par>
                            </p:childTnLst>
                          </p:cTn>
                        </p:par>
                        <p:par>
                          <p:cTn id="126" fill="hold">
                            <p:stCondLst>
                              <p:cond delay="1500"/>
                            </p:stCondLst>
                            <p:childTnLst>
                              <p:par>
                                <p:cTn id="127" presetID="1" presetClass="entr" presetSubtype="0" fill="hold" nodeType="afterEffect">
                                  <p:stCondLst>
                                    <p:cond delay="0"/>
                                  </p:stCondLst>
                                  <p:childTnLst>
                                    <p:set>
                                      <p:cBhvr>
                                        <p:cTn id="128" dur="1" fill="hold">
                                          <p:stCondLst>
                                            <p:cond delay="499"/>
                                          </p:stCondLst>
                                        </p:cTn>
                                        <p:tgtEl>
                                          <p:spTgt spid="9297"/>
                                        </p:tgtEl>
                                        <p:attrNameLst>
                                          <p:attrName>style.visibility</p:attrName>
                                        </p:attrNameLst>
                                      </p:cBhvr>
                                      <p:to>
                                        <p:strVal val="visible"/>
                                      </p:to>
                                    </p:set>
                                  </p:childTnLst>
                                </p:cTn>
                              </p:par>
                            </p:childTnLst>
                          </p:cTn>
                        </p:par>
                        <p:par>
                          <p:cTn id="129" fill="hold">
                            <p:stCondLst>
                              <p:cond delay="2000"/>
                            </p:stCondLst>
                            <p:childTnLst>
                              <p:par>
                                <p:cTn id="130" presetID="17" presetClass="entr" presetSubtype="8" fill="hold" nodeType="afterEffect">
                                  <p:stCondLst>
                                    <p:cond delay="0"/>
                                  </p:stCondLst>
                                  <p:childTnLst>
                                    <p:set>
                                      <p:cBhvr>
                                        <p:cTn id="131" dur="1" fill="hold">
                                          <p:stCondLst>
                                            <p:cond delay="0"/>
                                          </p:stCondLst>
                                        </p:cTn>
                                        <p:tgtEl>
                                          <p:spTgt spid="9242"/>
                                        </p:tgtEl>
                                        <p:attrNameLst>
                                          <p:attrName>style.visibility</p:attrName>
                                        </p:attrNameLst>
                                      </p:cBhvr>
                                      <p:to>
                                        <p:strVal val="visible"/>
                                      </p:to>
                                    </p:set>
                                    <p:anim calcmode="lin" valueType="num">
                                      <p:cBhvr>
                                        <p:cTn id="132" dur="500" fill="hold"/>
                                        <p:tgtEl>
                                          <p:spTgt spid="9242"/>
                                        </p:tgtEl>
                                        <p:attrNameLst>
                                          <p:attrName>ppt_x</p:attrName>
                                        </p:attrNameLst>
                                      </p:cBhvr>
                                      <p:tavLst>
                                        <p:tav tm="0">
                                          <p:val>
                                            <p:strVal val="#ppt_x-#ppt_w/2"/>
                                          </p:val>
                                        </p:tav>
                                        <p:tav tm="100000">
                                          <p:val>
                                            <p:strVal val="#ppt_x"/>
                                          </p:val>
                                        </p:tav>
                                      </p:tavLst>
                                    </p:anim>
                                    <p:anim calcmode="lin" valueType="num">
                                      <p:cBhvr>
                                        <p:cTn id="133" dur="500" fill="hold"/>
                                        <p:tgtEl>
                                          <p:spTgt spid="9242"/>
                                        </p:tgtEl>
                                        <p:attrNameLst>
                                          <p:attrName>ppt_y</p:attrName>
                                        </p:attrNameLst>
                                      </p:cBhvr>
                                      <p:tavLst>
                                        <p:tav tm="0">
                                          <p:val>
                                            <p:strVal val="#ppt_y"/>
                                          </p:val>
                                        </p:tav>
                                        <p:tav tm="100000">
                                          <p:val>
                                            <p:strVal val="#ppt_y"/>
                                          </p:val>
                                        </p:tav>
                                      </p:tavLst>
                                    </p:anim>
                                    <p:anim calcmode="lin" valueType="num">
                                      <p:cBhvr>
                                        <p:cTn id="134" dur="500" fill="hold"/>
                                        <p:tgtEl>
                                          <p:spTgt spid="9242"/>
                                        </p:tgtEl>
                                        <p:attrNameLst>
                                          <p:attrName>ppt_w</p:attrName>
                                        </p:attrNameLst>
                                      </p:cBhvr>
                                      <p:tavLst>
                                        <p:tav tm="0">
                                          <p:val>
                                            <p:fltVal val="0.000000"/>
                                          </p:val>
                                        </p:tav>
                                        <p:tav tm="100000">
                                          <p:val>
                                            <p:strVal val="#ppt_w"/>
                                          </p:val>
                                        </p:tav>
                                      </p:tavLst>
                                    </p:anim>
                                    <p:anim calcmode="lin" valueType="num">
                                      <p:cBhvr>
                                        <p:cTn id="135" dur="500" fill="hold"/>
                                        <p:tgtEl>
                                          <p:spTgt spid="9242"/>
                                        </p:tgtEl>
                                        <p:attrNameLst>
                                          <p:attrName>ppt_h</p:attrName>
                                        </p:attrNameLst>
                                      </p:cBhvr>
                                      <p:tavLst>
                                        <p:tav tm="0">
                                          <p:val>
                                            <p:strVal val="#ppt_h"/>
                                          </p:val>
                                        </p:tav>
                                        <p:tav tm="100000">
                                          <p:val>
                                            <p:strVal val="#ppt_h"/>
                                          </p:val>
                                        </p:tav>
                                      </p:tavLst>
                                    </p:anim>
                                  </p:childTnLst>
                                </p:cTn>
                              </p:par>
                            </p:childTnLst>
                          </p:cTn>
                        </p:par>
                        <p:par>
                          <p:cTn id="136" fill="hold">
                            <p:stCondLst>
                              <p:cond delay="2500"/>
                            </p:stCondLst>
                            <p:childTnLst>
                              <p:par>
                                <p:cTn id="137" presetID="5" presetClass="entr" presetSubtype="10" fill="hold" grpId="0" nodeType="afterEffect">
                                  <p:stCondLst>
                                    <p:cond delay="0"/>
                                  </p:stCondLst>
                                  <p:childTnLst>
                                    <p:set>
                                      <p:cBhvr>
                                        <p:cTn id="138" dur="1" fill="hold">
                                          <p:stCondLst>
                                            <p:cond delay="0"/>
                                          </p:stCondLst>
                                        </p:cTn>
                                        <p:tgtEl>
                                          <p:spTgt spid="9247"/>
                                        </p:tgtEl>
                                        <p:attrNameLst>
                                          <p:attrName>style.visibility</p:attrName>
                                        </p:attrNameLst>
                                      </p:cBhvr>
                                      <p:to>
                                        <p:strVal val="visible"/>
                                      </p:to>
                                    </p:set>
                                    <p:animEffect transition="in" filter="checkerboard(across)">
                                      <p:cBhvr>
                                        <p:cTn id="139" dur="500"/>
                                        <p:tgtEl>
                                          <p:spTgt spid="9247"/>
                                        </p:tgtEl>
                                      </p:cBhvr>
                                    </p:animEffect>
                                  </p:childTnLst>
                                </p:cTn>
                              </p:par>
                            </p:childTnLst>
                          </p:cTn>
                        </p:par>
                        <p:par>
                          <p:cTn id="140" fill="hold">
                            <p:stCondLst>
                              <p:cond delay="3000"/>
                            </p:stCondLst>
                            <p:childTnLst>
                              <p:par>
                                <p:cTn id="141" presetID="17" presetClass="entr" presetSubtype="1" fill="hold" nodeType="afterEffect">
                                  <p:stCondLst>
                                    <p:cond delay="0"/>
                                  </p:stCondLst>
                                  <p:childTnLst>
                                    <p:set>
                                      <p:cBhvr>
                                        <p:cTn id="142" dur="1" fill="hold">
                                          <p:stCondLst>
                                            <p:cond delay="0"/>
                                          </p:stCondLst>
                                        </p:cTn>
                                        <p:tgtEl>
                                          <p:spTgt spid="9316"/>
                                        </p:tgtEl>
                                        <p:attrNameLst>
                                          <p:attrName>style.visibility</p:attrName>
                                        </p:attrNameLst>
                                      </p:cBhvr>
                                      <p:to>
                                        <p:strVal val="visible"/>
                                      </p:to>
                                    </p:set>
                                    <p:anim calcmode="lin" valueType="num">
                                      <p:cBhvr>
                                        <p:cTn id="143" dur="500" fill="hold"/>
                                        <p:tgtEl>
                                          <p:spTgt spid="9316"/>
                                        </p:tgtEl>
                                        <p:attrNameLst>
                                          <p:attrName>ppt_x</p:attrName>
                                        </p:attrNameLst>
                                      </p:cBhvr>
                                      <p:tavLst>
                                        <p:tav tm="0">
                                          <p:val>
                                            <p:strVal val="#ppt_x"/>
                                          </p:val>
                                        </p:tav>
                                        <p:tav tm="100000">
                                          <p:val>
                                            <p:strVal val="#ppt_x"/>
                                          </p:val>
                                        </p:tav>
                                      </p:tavLst>
                                    </p:anim>
                                    <p:anim calcmode="lin" valueType="num">
                                      <p:cBhvr>
                                        <p:cTn id="144" dur="500" fill="hold"/>
                                        <p:tgtEl>
                                          <p:spTgt spid="9316"/>
                                        </p:tgtEl>
                                        <p:attrNameLst>
                                          <p:attrName>ppt_y</p:attrName>
                                        </p:attrNameLst>
                                      </p:cBhvr>
                                      <p:tavLst>
                                        <p:tav tm="0">
                                          <p:val>
                                            <p:strVal val="#ppt_y-#ppt_h/2"/>
                                          </p:val>
                                        </p:tav>
                                        <p:tav tm="100000">
                                          <p:val>
                                            <p:strVal val="#ppt_y"/>
                                          </p:val>
                                        </p:tav>
                                      </p:tavLst>
                                    </p:anim>
                                    <p:anim calcmode="lin" valueType="num">
                                      <p:cBhvr>
                                        <p:cTn id="145" dur="500" fill="hold"/>
                                        <p:tgtEl>
                                          <p:spTgt spid="9316"/>
                                        </p:tgtEl>
                                        <p:attrNameLst>
                                          <p:attrName>ppt_w</p:attrName>
                                        </p:attrNameLst>
                                      </p:cBhvr>
                                      <p:tavLst>
                                        <p:tav tm="0">
                                          <p:val>
                                            <p:strVal val="#ppt_w"/>
                                          </p:val>
                                        </p:tav>
                                        <p:tav tm="100000">
                                          <p:val>
                                            <p:strVal val="#ppt_w"/>
                                          </p:val>
                                        </p:tav>
                                      </p:tavLst>
                                    </p:anim>
                                    <p:anim calcmode="lin" valueType="num">
                                      <p:cBhvr>
                                        <p:cTn id="146" dur="500" fill="hold"/>
                                        <p:tgtEl>
                                          <p:spTgt spid="9316"/>
                                        </p:tgtEl>
                                        <p:attrNameLst>
                                          <p:attrName>ppt_h</p:attrName>
                                        </p:attrNameLst>
                                      </p:cBhvr>
                                      <p:tavLst>
                                        <p:tav tm="0">
                                          <p:val>
                                            <p:fltVal val="0.000000"/>
                                          </p:val>
                                        </p:tav>
                                        <p:tav tm="100000">
                                          <p:val>
                                            <p:strVal val="#ppt_h"/>
                                          </p:val>
                                        </p:tav>
                                      </p:tavLst>
                                    </p:anim>
                                  </p:childTnLst>
                                </p:cTn>
                              </p:par>
                            </p:childTnLst>
                          </p:cTn>
                        </p:par>
                        <p:par>
                          <p:cTn id="147" fill="hold">
                            <p:stCondLst>
                              <p:cond delay="3500"/>
                            </p:stCondLst>
                            <p:childTnLst>
                              <p:par>
                                <p:cTn id="148" presetID="2" presetClass="entr" presetSubtype="8" fill="hold" grpId="0" nodeType="afterEffect">
                                  <p:stCondLst>
                                    <p:cond delay="0"/>
                                  </p:stCondLst>
                                  <p:childTnLst>
                                    <p:set>
                                      <p:cBhvr>
                                        <p:cTn id="149" dur="1" fill="hold">
                                          <p:stCondLst>
                                            <p:cond delay="0"/>
                                          </p:stCondLst>
                                        </p:cTn>
                                        <p:tgtEl>
                                          <p:spTgt spid="9315"/>
                                        </p:tgtEl>
                                        <p:attrNameLst>
                                          <p:attrName>style.visibility</p:attrName>
                                        </p:attrNameLst>
                                      </p:cBhvr>
                                      <p:to>
                                        <p:strVal val="visible"/>
                                      </p:to>
                                    </p:set>
                                    <p:anim calcmode="lin" valueType="num">
                                      <p:cBhvr additive="base">
                                        <p:cTn id="150" dur="500" fill="hold"/>
                                        <p:tgtEl>
                                          <p:spTgt spid="9315"/>
                                        </p:tgtEl>
                                        <p:attrNameLst>
                                          <p:attrName>ppt_x</p:attrName>
                                        </p:attrNameLst>
                                      </p:cBhvr>
                                      <p:tavLst>
                                        <p:tav tm="0">
                                          <p:val>
                                            <p:strVal val="0-#ppt_w/2"/>
                                          </p:val>
                                        </p:tav>
                                        <p:tav tm="100000">
                                          <p:val>
                                            <p:strVal val="#ppt_x"/>
                                          </p:val>
                                        </p:tav>
                                      </p:tavLst>
                                    </p:anim>
                                    <p:anim calcmode="lin" valueType="num">
                                      <p:cBhvr additive="base">
                                        <p:cTn id="151" dur="500" fill="hold"/>
                                        <p:tgtEl>
                                          <p:spTgt spid="9315"/>
                                        </p:tgtEl>
                                        <p:attrNameLst>
                                          <p:attrName>ppt_y</p:attrName>
                                        </p:attrNameLst>
                                      </p:cBhvr>
                                      <p:tavLst>
                                        <p:tav tm="0">
                                          <p:val>
                                            <p:strVal val="#ppt_y"/>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9298"/>
                                        </p:tgtEl>
                                        <p:attrNameLst>
                                          <p:attrName>style.visibility</p:attrName>
                                        </p:attrNameLst>
                                      </p:cBhvr>
                                      <p:to>
                                        <p:strVal val="visible"/>
                                      </p:to>
                                    </p:set>
                                  </p:childTnLst>
                                </p:cTn>
                              </p:par>
                            </p:childTnLst>
                          </p:cTn>
                        </p:par>
                        <p:par>
                          <p:cTn id="156" fill="hold">
                            <p:stCondLst>
                              <p:cond delay="500"/>
                            </p:stCondLst>
                            <p:childTnLst>
                              <p:par>
                                <p:cTn id="157" presetID="1" presetClass="entr" presetSubtype="0" fill="hold" nodeType="afterEffect">
                                  <p:stCondLst>
                                    <p:cond delay="0"/>
                                  </p:stCondLst>
                                  <p:childTnLst>
                                    <p:set>
                                      <p:cBhvr>
                                        <p:cTn id="158" dur="1" fill="hold">
                                          <p:stCondLst>
                                            <p:cond delay="499"/>
                                          </p:stCondLst>
                                        </p:cTn>
                                        <p:tgtEl>
                                          <p:spTgt spid="9280"/>
                                        </p:tgtEl>
                                        <p:attrNameLst>
                                          <p:attrName>style.visibility</p:attrName>
                                        </p:attrNameLst>
                                      </p:cBhvr>
                                      <p:to>
                                        <p:strVal val="visible"/>
                                      </p:to>
                                    </p:set>
                                  </p:childTnLst>
                                </p:cTn>
                              </p:par>
                            </p:childTnLst>
                          </p:cTn>
                        </p:par>
                        <p:par>
                          <p:cTn id="159" fill="hold">
                            <p:stCondLst>
                              <p:cond delay="1000"/>
                            </p:stCondLst>
                            <p:childTnLst>
                              <p:par>
                                <p:cTn id="160" presetID="1" presetClass="entr" presetSubtype="0" fill="hold" grpId="0" nodeType="afterEffect">
                                  <p:stCondLst>
                                    <p:cond delay="0"/>
                                  </p:stCondLst>
                                  <p:childTnLst>
                                    <p:set>
                                      <p:cBhvr>
                                        <p:cTn id="161" dur="1" fill="hold">
                                          <p:stCondLst>
                                            <p:cond delay="499"/>
                                          </p:stCondLst>
                                        </p:cTn>
                                        <p:tgtEl>
                                          <p:spTgt spid="9299"/>
                                        </p:tgtEl>
                                        <p:attrNameLst>
                                          <p:attrName>style.visibility</p:attrName>
                                        </p:attrNameLst>
                                      </p:cBhvr>
                                      <p:to>
                                        <p:strVal val="visible"/>
                                      </p:to>
                                    </p:set>
                                  </p:childTnLst>
                                </p:cTn>
                              </p:par>
                            </p:childTnLst>
                          </p:cTn>
                        </p:par>
                        <p:par>
                          <p:cTn id="162" fill="hold">
                            <p:stCondLst>
                              <p:cond delay="1500"/>
                            </p:stCondLst>
                            <p:childTnLst>
                              <p:par>
                                <p:cTn id="163" presetID="1" presetClass="entr" presetSubtype="0" fill="hold" nodeType="afterEffect">
                                  <p:stCondLst>
                                    <p:cond delay="0"/>
                                  </p:stCondLst>
                                  <p:childTnLst>
                                    <p:set>
                                      <p:cBhvr>
                                        <p:cTn id="164" dur="1" fill="hold">
                                          <p:stCondLst>
                                            <p:cond delay="499"/>
                                          </p:stCondLst>
                                        </p:cTn>
                                        <p:tgtEl>
                                          <p:spTgt spid="9278"/>
                                        </p:tgtEl>
                                        <p:attrNameLst>
                                          <p:attrName>style.visibility</p:attrName>
                                        </p:attrNameLst>
                                      </p:cBhvr>
                                      <p:to>
                                        <p:strVal val="visible"/>
                                      </p:to>
                                    </p:set>
                                  </p:childTnLst>
                                </p:cTn>
                              </p:par>
                            </p:childTnLst>
                          </p:cTn>
                        </p:par>
                        <p:par>
                          <p:cTn id="165" fill="hold">
                            <p:stCondLst>
                              <p:cond delay="2000"/>
                            </p:stCondLst>
                            <p:childTnLst>
                              <p:par>
                                <p:cTn id="166" presetID="17" presetClass="entr" presetSubtype="4" fill="hold" nodeType="afterEffect">
                                  <p:stCondLst>
                                    <p:cond delay="0"/>
                                  </p:stCondLst>
                                  <p:childTnLst>
                                    <p:set>
                                      <p:cBhvr>
                                        <p:cTn id="167" dur="1" fill="hold">
                                          <p:stCondLst>
                                            <p:cond delay="0"/>
                                          </p:stCondLst>
                                        </p:cTn>
                                        <p:tgtEl>
                                          <p:spTgt spid="9311"/>
                                        </p:tgtEl>
                                        <p:attrNameLst>
                                          <p:attrName>style.visibility</p:attrName>
                                        </p:attrNameLst>
                                      </p:cBhvr>
                                      <p:to>
                                        <p:strVal val="visible"/>
                                      </p:to>
                                    </p:set>
                                    <p:anim calcmode="lin" valueType="num">
                                      <p:cBhvr>
                                        <p:cTn id="168" dur="500" fill="hold"/>
                                        <p:tgtEl>
                                          <p:spTgt spid="9311"/>
                                        </p:tgtEl>
                                        <p:attrNameLst>
                                          <p:attrName>ppt_x</p:attrName>
                                        </p:attrNameLst>
                                      </p:cBhvr>
                                      <p:tavLst>
                                        <p:tav tm="0">
                                          <p:val>
                                            <p:strVal val="#ppt_x"/>
                                          </p:val>
                                        </p:tav>
                                        <p:tav tm="100000">
                                          <p:val>
                                            <p:strVal val="#ppt_x"/>
                                          </p:val>
                                        </p:tav>
                                      </p:tavLst>
                                    </p:anim>
                                    <p:anim calcmode="lin" valueType="num">
                                      <p:cBhvr>
                                        <p:cTn id="169" dur="500" fill="hold"/>
                                        <p:tgtEl>
                                          <p:spTgt spid="9311"/>
                                        </p:tgtEl>
                                        <p:attrNameLst>
                                          <p:attrName>ppt_y</p:attrName>
                                        </p:attrNameLst>
                                      </p:cBhvr>
                                      <p:tavLst>
                                        <p:tav tm="0">
                                          <p:val>
                                            <p:strVal val="#ppt_y+#ppt_h/2"/>
                                          </p:val>
                                        </p:tav>
                                        <p:tav tm="100000">
                                          <p:val>
                                            <p:strVal val="#ppt_y"/>
                                          </p:val>
                                        </p:tav>
                                      </p:tavLst>
                                    </p:anim>
                                    <p:anim calcmode="lin" valueType="num">
                                      <p:cBhvr>
                                        <p:cTn id="170" dur="500" fill="hold"/>
                                        <p:tgtEl>
                                          <p:spTgt spid="9311"/>
                                        </p:tgtEl>
                                        <p:attrNameLst>
                                          <p:attrName>ppt_w</p:attrName>
                                        </p:attrNameLst>
                                      </p:cBhvr>
                                      <p:tavLst>
                                        <p:tav tm="0">
                                          <p:val>
                                            <p:strVal val="#ppt_w"/>
                                          </p:val>
                                        </p:tav>
                                        <p:tav tm="100000">
                                          <p:val>
                                            <p:strVal val="#ppt_w"/>
                                          </p:val>
                                        </p:tav>
                                      </p:tavLst>
                                    </p:anim>
                                    <p:anim calcmode="lin" valueType="num">
                                      <p:cBhvr>
                                        <p:cTn id="171" dur="500" fill="hold"/>
                                        <p:tgtEl>
                                          <p:spTgt spid="9311"/>
                                        </p:tgtEl>
                                        <p:attrNameLst>
                                          <p:attrName>ppt_h</p:attrName>
                                        </p:attrNameLst>
                                      </p:cBhvr>
                                      <p:tavLst>
                                        <p:tav tm="0">
                                          <p:val>
                                            <p:fltVal val="0.000000"/>
                                          </p:val>
                                        </p:tav>
                                        <p:tav tm="100000">
                                          <p:val>
                                            <p:strVal val="#ppt_h"/>
                                          </p:val>
                                        </p:tav>
                                      </p:tavLst>
                                    </p:anim>
                                  </p:childTnLst>
                                </p:cTn>
                              </p:par>
                            </p:childTnLst>
                          </p:cTn>
                        </p:par>
                        <p:par>
                          <p:cTn id="172" fill="hold">
                            <p:stCondLst>
                              <p:cond delay="2500"/>
                            </p:stCondLst>
                            <p:childTnLst>
                              <p:par>
                                <p:cTn id="173" presetID="9" presetClass="entr" presetSubtype="0" fill="hold" grpId="0" nodeType="afterEffect">
                                  <p:stCondLst>
                                    <p:cond delay="0"/>
                                  </p:stCondLst>
                                  <p:childTnLst>
                                    <p:set>
                                      <p:cBhvr>
                                        <p:cTn id="174" dur="1" fill="hold">
                                          <p:stCondLst>
                                            <p:cond delay="0"/>
                                          </p:stCondLst>
                                        </p:cTn>
                                        <p:tgtEl>
                                          <p:spTgt spid="9312"/>
                                        </p:tgtEl>
                                        <p:attrNameLst>
                                          <p:attrName>style.visibility</p:attrName>
                                        </p:attrNameLst>
                                      </p:cBhvr>
                                      <p:to>
                                        <p:strVal val="visible"/>
                                      </p:to>
                                    </p:set>
                                    <p:animEffect transition="in" filter="dissolve">
                                      <p:cBhvr>
                                        <p:cTn id="175" dur="500"/>
                                        <p:tgtEl>
                                          <p:spTgt spid="9312"/>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499"/>
                                          </p:stCondLst>
                                        </p:cTn>
                                        <p:tgtEl>
                                          <p:spTgt spid="9300"/>
                                        </p:tgtEl>
                                        <p:attrNameLst>
                                          <p:attrName>style.visibility</p:attrName>
                                        </p:attrNameLst>
                                      </p:cBhvr>
                                      <p:to>
                                        <p:strVal val="visible"/>
                                      </p:to>
                                    </p:set>
                                  </p:childTnLst>
                                </p:cTn>
                              </p:par>
                            </p:childTnLst>
                          </p:cTn>
                        </p:par>
                        <p:par>
                          <p:cTn id="180" fill="hold">
                            <p:stCondLst>
                              <p:cond delay="500"/>
                            </p:stCondLst>
                            <p:childTnLst>
                              <p:par>
                                <p:cTn id="181" presetID="11" presetClass="entr" presetSubtype="0" fill="hold" nodeType="afterEffect">
                                  <p:stCondLst>
                                    <p:cond delay="0"/>
                                  </p:stCondLst>
                                  <p:childTnLst>
                                    <p:set>
                                      <p:cBhvr>
                                        <p:cTn id="182" dur="1000">
                                          <p:stCondLst>
                                            <p:cond delay="0"/>
                                          </p:stCondLst>
                                        </p:cTn>
                                        <p:tgtEl>
                                          <p:spTgt spid="9289"/>
                                        </p:tgtEl>
                                        <p:attrNameLst>
                                          <p:attrName>style.visibility</p:attrName>
                                        </p:attrNameLst>
                                      </p:cBhvr>
                                      <p:to>
                                        <p:strVal val="visible"/>
                                      </p:to>
                                    </p:set>
                                  </p:childTnLst>
                                </p:cTn>
                              </p:par>
                            </p:childTnLst>
                          </p:cTn>
                        </p:par>
                        <p:par>
                          <p:cTn id="183" fill="hold">
                            <p:stCondLst>
                              <p:cond delay="1500"/>
                            </p:stCondLst>
                            <p:childTnLst>
                              <p:par>
                                <p:cTn id="184" presetID="11" presetClass="entr" presetSubtype="0" fill="hold" nodeType="afterEffect">
                                  <p:stCondLst>
                                    <p:cond delay="0"/>
                                  </p:stCondLst>
                                  <p:childTnLst>
                                    <p:set>
                                      <p:cBhvr>
                                        <p:cTn id="185" dur="1000">
                                          <p:stCondLst>
                                            <p:cond delay="0"/>
                                          </p:stCondLst>
                                        </p:cTn>
                                        <p:tgtEl>
                                          <p:spTgt spid="9290"/>
                                        </p:tgtEl>
                                        <p:attrNameLst>
                                          <p:attrName>style.visibility</p:attrName>
                                        </p:attrNameLst>
                                      </p:cBhvr>
                                      <p:to>
                                        <p:strVal val="visible"/>
                                      </p:to>
                                    </p:set>
                                  </p:childTnLst>
                                </p:cTn>
                              </p:par>
                            </p:childTnLst>
                          </p:cTn>
                        </p:par>
                        <p:par>
                          <p:cTn id="186" fill="hold">
                            <p:stCondLst>
                              <p:cond delay="2500"/>
                            </p:stCondLst>
                            <p:childTnLst>
                              <p:par>
                                <p:cTn id="187" presetID="1" presetClass="entr" presetSubtype="0" fill="hold" nodeType="afterEffect">
                                  <p:stCondLst>
                                    <p:cond delay="0"/>
                                  </p:stCondLst>
                                  <p:childTnLst>
                                    <p:set>
                                      <p:cBhvr>
                                        <p:cTn id="188" dur="1" fill="hold">
                                          <p:stCondLst>
                                            <p:cond delay="499"/>
                                          </p:stCondLst>
                                        </p:cTn>
                                        <p:tgtEl>
                                          <p:spTgt spid="9288"/>
                                        </p:tgtEl>
                                        <p:attrNameLst>
                                          <p:attrName>style.visibility</p:attrName>
                                        </p:attrNameLst>
                                      </p:cBhvr>
                                      <p:to>
                                        <p:strVal val="visible"/>
                                      </p:to>
                                    </p:set>
                                  </p:childTnLst>
                                </p:cTn>
                              </p:par>
                            </p:childTnLst>
                          </p:cTn>
                        </p:par>
                        <p:par>
                          <p:cTn id="189" fill="hold">
                            <p:stCondLst>
                              <p:cond delay="3000"/>
                            </p:stCondLst>
                            <p:childTnLst>
                              <p:par>
                                <p:cTn id="190" presetID="1" presetClass="entr" presetSubtype="0" fill="hold" grpId="0" nodeType="afterEffect">
                                  <p:stCondLst>
                                    <p:cond delay="0"/>
                                  </p:stCondLst>
                                  <p:childTnLst>
                                    <p:set>
                                      <p:cBhvr>
                                        <p:cTn id="191" dur="1" fill="hold">
                                          <p:stCondLst>
                                            <p:cond delay="499"/>
                                          </p:stCondLst>
                                        </p:cTn>
                                        <p:tgtEl>
                                          <p:spTgt spid="9301"/>
                                        </p:tgtEl>
                                        <p:attrNameLst>
                                          <p:attrName>style.visibility</p:attrName>
                                        </p:attrNameLst>
                                      </p:cBhvr>
                                      <p:to>
                                        <p:strVal val="visible"/>
                                      </p:to>
                                    </p:set>
                                  </p:childTnLst>
                                </p:cTn>
                              </p:par>
                            </p:childTnLst>
                          </p:cTn>
                        </p:par>
                        <p:par>
                          <p:cTn id="192" fill="hold">
                            <p:stCondLst>
                              <p:cond delay="3500"/>
                            </p:stCondLst>
                            <p:childTnLst>
                              <p:par>
                                <p:cTn id="193" presetID="1" presetClass="entr" presetSubtype="0" fill="hold" nodeType="afterEffect">
                                  <p:stCondLst>
                                    <p:cond delay="0"/>
                                  </p:stCondLst>
                                  <p:childTnLst>
                                    <p:set>
                                      <p:cBhvr>
                                        <p:cTn id="194" dur="1" fill="hold">
                                          <p:stCondLst>
                                            <p:cond delay="499"/>
                                          </p:stCondLst>
                                        </p:cTn>
                                        <p:tgtEl>
                                          <p:spTgt spid="9303"/>
                                        </p:tgtEl>
                                        <p:attrNameLst>
                                          <p:attrName>style.visibility</p:attrName>
                                        </p:attrNameLst>
                                      </p:cBhvr>
                                      <p:to>
                                        <p:strVal val="visible"/>
                                      </p:to>
                                    </p:set>
                                  </p:childTnLst>
                                </p:cTn>
                              </p:par>
                            </p:childTnLst>
                          </p:cTn>
                        </p:par>
                        <p:par>
                          <p:cTn id="195" fill="hold">
                            <p:stCondLst>
                              <p:cond delay="4000"/>
                            </p:stCondLst>
                            <p:childTnLst>
                              <p:par>
                                <p:cTn id="196" presetID="17" presetClass="entr" presetSubtype="2" fill="hold" nodeType="afterEffect">
                                  <p:stCondLst>
                                    <p:cond delay="0"/>
                                  </p:stCondLst>
                                  <p:childTnLst>
                                    <p:set>
                                      <p:cBhvr>
                                        <p:cTn id="197" dur="1" fill="hold">
                                          <p:stCondLst>
                                            <p:cond delay="0"/>
                                          </p:stCondLst>
                                        </p:cTn>
                                        <p:tgtEl>
                                          <p:spTgt spid="9243"/>
                                        </p:tgtEl>
                                        <p:attrNameLst>
                                          <p:attrName>style.visibility</p:attrName>
                                        </p:attrNameLst>
                                      </p:cBhvr>
                                      <p:to>
                                        <p:strVal val="visible"/>
                                      </p:to>
                                    </p:set>
                                    <p:anim calcmode="lin" valueType="num">
                                      <p:cBhvr>
                                        <p:cTn id="198" dur="500" fill="hold"/>
                                        <p:tgtEl>
                                          <p:spTgt spid="9243"/>
                                        </p:tgtEl>
                                        <p:attrNameLst>
                                          <p:attrName>ppt_x</p:attrName>
                                        </p:attrNameLst>
                                      </p:cBhvr>
                                      <p:tavLst>
                                        <p:tav tm="0">
                                          <p:val>
                                            <p:strVal val="#ppt_x+#ppt_w/2"/>
                                          </p:val>
                                        </p:tav>
                                        <p:tav tm="100000">
                                          <p:val>
                                            <p:strVal val="#ppt_x"/>
                                          </p:val>
                                        </p:tav>
                                      </p:tavLst>
                                    </p:anim>
                                    <p:anim calcmode="lin" valueType="num">
                                      <p:cBhvr>
                                        <p:cTn id="199" dur="500" fill="hold"/>
                                        <p:tgtEl>
                                          <p:spTgt spid="9243"/>
                                        </p:tgtEl>
                                        <p:attrNameLst>
                                          <p:attrName>ppt_y</p:attrName>
                                        </p:attrNameLst>
                                      </p:cBhvr>
                                      <p:tavLst>
                                        <p:tav tm="0">
                                          <p:val>
                                            <p:strVal val="#ppt_y"/>
                                          </p:val>
                                        </p:tav>
                                        <p:tav tm="100000">
                                          <p:val>
                                            <p:strVal val="#ppt_y"/>
                                          </p:val>
                                        </p:tav>
                                      </p:tavLst>
                                    </p:anim>
                                    <p:anim calcmode="lin" valueType="num">
                                      <p:cBhvr>
                                        <p:cTn id="200" dur="500" fill="hold"/>
                                        <p:tgtEl>
                                          <p:spTgt spid="9243"/>
                                        </p:tgtEl>
                                        <p:attrNameLst>
                                          <p:attrName>ppt_w</p:attrName>
                                        </p:attrNameLst>
                                      </p:cBhvr>
                                      <p:tavLst>
                                        <p:tav tm="0">
                                          <p:val>
                                            <p:fltVal val="0.000000"/>
                                          </p:val>
                                        </p:tav>
                                        <p:tav tm="100000">
                                          <p:val>
                                            <p:strVal val="#ppt_w"/>
                                          </p:val>
                                        </p:tav>
                                      </p:tavLst>
                                    </p:anim>
                                    <p:anim calcmode="lin" valueType="num">
                                      <p:cBhvr>
                                        <p:cTn id="201" dur="500" fill="hold"/>
                                        <p:tgtEl>
                                          <p:spTgt spid="9243"/>
                                        </p:tgtEl>
                                        <p:attrNameLst>
                                          <p:attrName>ppt_h</p:attrName>
                                        </p:attrNameLst>
                                      </p:cBhvr>
                                      <p:tavLst>
                                        <p:tav tm="0">
                                          <p:val>
                                            <p:strVal val="#ppt_h"/>
                                          </p:val>
                                        </p:tav>
                                        <p:tav tm="100000">
                                          <p:val>
                                            <p:strVal val="#ppt_h"/>
                                          </p:val>
                                        </p:tav>
                                      </p:tavLst>
                                    </p:anim>
                                  </p:childTnLst>
                                </p:cTn>
                              </p:par>
                            </p:childTnLst>
                          </p:cTn>
                        </p:par>
                        <p:par>
                          <p:cTn id="202" fill="hold">
                            <p:stCondLst>
                              <p:cond delay="4500"/>
                            </p:stCondLst>
                            <p:childTnLst>
                              <p:par>
                                <p:cTn id="203" presetID="4" presetClass="entr" presetSubtype="16" fill="hold" grpId="0" nodeType="afterEffect">
                                  <p:stCondLst>
                                    <p:cond delay="0"/>
                                  </p:stCondLst>
                                  <p:childTnLst>
                                    <p:set>
                                      <p:cBhvr>
                                        <p:cTn id="204" dur="1" fill="hold">
                                          <p:stCondLst>
                                            <p:cond delay="0"/>
                                          </p:stCondLst>
                                        </p:cTn>
                                        <p:tgtEl>
                                          <p:spTgt spid="9248"/>
                                        </p:tgtEl>
                                        <p:attrNameLst>
                                          <p:attrName>style.visibility</p:attrName>
                                        </p:attrNameLst>
                                      </p:cBhvr>
                                      <p:to>
                                        <p:strVal val="visible"/>
                                      </p:to>
                                    </p:set>
                                    <p:animEffect transition="in" filter="box(in)">
                                      <p:cBhvr>
                                        <p:cTn id="205" dur="500"/>
                                        <p:tgtEl>
                                          <p:spTgt spid="9248"/>
                                        </p:tgtEl>
                                      </p:cBhvr>
                                    </p:animEffect>
                                  </p:childTnLst>
                                </p:cTn>
                              </p:par>
                            </p:childTnLst>
                          </p:cTn>
                        </p:par>
                        <p:par>
                          <p:cTn id="206" fill="hold">
                            <p:stCondLst>
                              <p:cond delay="5000"/>
                            </p:stCondLst>
                            <p:childTnLst>
                              <p:par>
                                <p:cTn id="207" presetID="9" presetClass="entr" presetSubtype="0" fill="hold" nodeType="afterEffect">
                                  <p:stCondLst>
                                    <p:cond delay="0"/>
                                  </p:stCondLst>
                                  <p:childTnLst>
                                    <p:set>
                                      <p:cBhvr>
                                        <p:cTn id="208" dur="1" fill="hold">
                                          <p:stCondLst>
                                            <p:cond delay="0"/>
                                          </p:stCondLst>
                                        </p:cTn>
                                        <p:tgtEl>
                                          <p:spTgt spid="9313"/>
                                        </p:tgtEl>
                                        <p:attrNameLst>
                                          <p:attrName>style.visibility</p:attrName>
                                        </p:attrNameLst>
                                      </p:cBhvr>
                                      <p:to>
                                        <p:strVal val="visible"/>
                                      </p:to>
                                    </p:set>
                                    <p:animEffect transition="in" filter="dissolve">
                                      <p:cBhvr>
                                        <p:cTn id="209" dur="500"/>
                                        <p:tgtEl>
                                          <p:spTgt spid="9313"/>
                                        </p:tgtEl>
                                      </p:cBhvr>
                                    </p:animEffect>
                                  </p:childTnLst>
                                </p:cTn>
                              </p:par>
                            </p:childTnLst>
                          </p:cTn>
                        </p:par>
                        <p:par>
                          <p:cTn id="210" fill="hold">
                            <p:stCondLst>
                              <p:cond delay="5500"/>
                            </p:stCondLst>
                            <p:childTnLst>
                              <p:par>
                                <p:cTn id="211" presetID="4" presetClass="entr" presetSubtype="16" fill="hold" grpId="0" nodeType="afterEffect">
                                  <p:stCondLst>
                                    <p:cond delay="0"/>
                                  </p:stCondLst>
                                  <p:childTnLst>
                                    <p:set>
                                      <p:cBhvr>
                                        <p:cTn id="212" dur="1" fill="hold">
                                          <p:stCondLst>
                                            <p:cond delay="0"/>
                                          </p:stCondLst>
                                        </p:cTn>
                                        <p:tgtEl>
                                          <p:spTgt spid="9314"/>
                                        </p:tgtEl>
                                        <p:attrNameLst>
                                          <p:attrName>style.visibility</p:attrName>
                                        </p:attrNameLst>
                                      </p:cBhvr>
                                      <p:to>
                                        <p:strVal val="visible"/>
                                      </p:to>
                                    </p:set>
                                    <p:animEffect transition="in" filter="box(in)">
                                      <p:cBhvr>
                                        <p:cTn id="213" dur="500"/>
                                        <p:tgtEl>
                                          <p:spTgt spid="9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7" grpId="0"/>
      <p:bldP spid="9248" grpId="0"/>
      <p:bldP spid="9253" grpId="0"/>
      <p:bldP spid="9281" grpId="0" animBg="1"/>
      <p:bldP spid="9286" grpId="0" animBg="1"/>
      <p:bldP spid="9292" grpId="0" animBg="1"/>
      <p:bldP spid="9293" grpId="0" animBg="1"/>
      <p:bldP spid="9294" grpId="0" animBg="1"/>
      <p:bldP spid="9295" grpId="0" animBg="1"/>
      <p:bldP spid="9296" grpId="0" animBg="1"/>
      <p:bldP spid="9298" grpId="0" animBg="1"/>
      <p:bldP spid="9299" grpId="0" animBg="1"/>
      <p:bldP spid="9300" grpId="0" animBg="1"/>
      <p:bldP spid="9301" grpId="0" animBg="1"/>
      <p:bldP spid="9306" grpId="0"/>
      <p:bldP spid="9308" grpId="0"/>
      <p:bldP spid="9309" grpId="0"/>
      <p:bldP spid="9310" grpId="0" animBg="1"/>
      <p:bldP spid="9312" grpId="0"/>
      <p:bldP spid="9314" grpId="0"/>
      <p:bldP spid="93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2" descr="line14"/>
          <p:cNvPicPr/>
          <p:nvPr/>
        </p:nvPicPr>
        <p:blipFill>
          <a:blip r:embed="rId1"/>
          <a:stretch>
            <a:fillRect/>
          </a:stretch>
        </p:blipFill>
        <p:spPr>
          <a:xfrm>
            <a:off x="1300163" y="476250"/>
            <a:ext cx="3200400" cy="685800"/>
          </a:xfrm>
          <a:prstGeom prst="rect">
            <a:avLst/>
          </a:prstGeom>
          <a:noFill/>
          <a:ln w="9525">
            <a:noFill/>
          </a:ln>
        </p:spPr>
      </p:pic>
      <p:sp>
        <p:nvSpPr>
          <p:cNvPr id="10243" name="Text Box 3"/>
          <p:cNvSpPr txBox="1">
            <a:spLocks noChangeArrowheads="1"/>
          </p:cNvSpPr>
          <p:nvPr/>
        </p:nvSpPr>
        <p:spPr bwMode="auto">
          <a:xfrm>
            <a:off x="1838325" y="404813"/>
            <a:ext cx="37417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32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由上所述可知</a:t>
            </a:r>
            <a:r>
              <a:rPr lang="en-US" altLang="zh-CN" sz="32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a:t>
            </a:r>
            <a:endParaRPr lang="en-US" altLang="zh-CN" sz="32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graphicFrame>
        <p:nvGraphicFramePr>
          <p:cNvPr id="10244" name="Object 4"/>
          <p:cNvGraphicFramePr>
            <a:graphicFrameLocks noChangeAspect="1"/>
          </p:cNvGraphicFramePr>
          <p:nvPr/>
        </p:nvGraphicFramePr>
        <p:xfrm>
          <a:off x="914400" y="1298575"/>
          <a:ext cx="439738" cy="457200"/>
        </p:xfrm>
        <a:graphic>
          <a:graphicData uri="http://schemas.openxmlformats.org/presentationml/2006/ole">
            <mc:AlternateContent xmlns:mc="http://schemas.openxmlformats.org/markup-compatibility/2006">
              <mc:Choice xmlns:v="urn:schemas-microsoft-com:vml" Requires="v">
                <p:oleObj spid="_x0000_s3082" name="" r:id="rId2" imgW="9525" imgH="9525" progId="CorelDraw.Graphic.8">
                  <p:embed/>
                </p:oleObj>
              </mc:Choice>
              <mc:Fallback>
                <p:oleObj name="" r:id="rId2" imgW="9525" imgH="9525" progId="CorelDraw.Graphic.8">
                  <p:embed/>
                  <p:pic>
                    <p:nvPicPr>
                      <p:cNvPr id="0" name="图片 3081"/>
                      <p:cNvPicPr/>
                      <p:nvPr/>
                    </p:nvPicPr>
                    <p:blipFill>
                      <a:blip r:embed="rId3"/>
                      <a:stretch>
                        <a:fillRect/>
                      </a:stretch>
                    </p:blipFill>
                    <p:spPr>
                      <a:xfrm>
                        <a:off x="914400" y="1298575"/>
                        <a:ext cx="439738" cy="457200"/>
                      </a:xfrm>
                      <a:prstGeom prst="rect">
                        <a:avLst/>
                      </a:prstGeom>
                      <a:noFill/>
                      <a:ln w="38100">
                        <a:noFill/>
                        <a:miter/>
                      </a:ln>
                    </p:spPr>
                  </p:pic>
                </p:oleObj>
              </mc:Fallback>
            </mc:AlternateContent>
          </a:graphicData>
        </a:graphic>
      </p:graphicFrame>
      <p:sp>
        <p:nvSpPr>
          <p:cNvPr id="10245" name="Text Box 5"/>
          <p:cNvSpPr txBox="1"/>
          <p:nvPr/>
        </p:nvSpPr>
        <p:spPr>
          <a:xfrm>
            <a:off x="1524000" y="1298575"/>
            <a:ext cx="7162800" cy="946150"/>
          </a:xfrm>
          <a:prstGeom prst="rect">
            <a:avLst/>
          </a:prstGeom>
          <a:noFill/>
          <a:ln w="9525">
            <a:noFill/>
          </a:ln>
        </p:spPr>
        <p:txBody>
          <a:bodyPr anchor="t">
            <a:spAutoFit/>
          </a:bodyPr>
          <a:p>
            <a:pPr>
              <a:spcBef>
                <a:spcPct val="50000"/>
              </a:spcBef>
            </a:pPr>
            <a:r>
              <a:rPr lang="zh-CN" altLang="en-US" sz="2800" b="1" dirty="0">
                <a:solidFill>
                  <a:schemeClr val="bg1"/>
                </a:solidFill>
                <a:latin typeface="幼圆" panose="02010509060101010101" pitchFamily="49" charset="-122"/>
                <a:ea typeface="幼圆" panose="02010509060101010101" pitchFamily="49" charset="-122"/>
              </a:rPr>
              <a:t>由于基区很薄且掺杂浓度小</a:t>
            </a:r>
            <a:r>
              <a:rPr lang="en-US" altLang="zh-CN" sz="2800" b="1" dirty="0">
                <a:solidFill>
                  <a:schemeClr val="bg1"/>
                </a:solidFill>
                <a:latin typeface="幼圆" panose="02010509060101010101" pitchFamily="49" charset="-122"/>
                <a:ea typeface="幼圆" panose="02010509060101010101" pitchFamily="49" charset="-122"/>
              </a:rPr>
              <a:t>,</a:t>
            </a:r>
            <a:r>
              <a:rPr lang="zh-CN" altLang="en-US" sz="2800" b="1" dirty="0">
                <a:solidFill>
                  <a:schemeClr val="bg1"/>
                </a:solidFill>
                <a:latin typeface="幼圆" panose="02010509060101010101" pitchFamily="49" charset="-122"/>
                <a:ea typeface="幼圆" panose="02010509060101010101" pitchFamily="49" charset="-122"/>
              </a:rPr>
              <a:t>电子在基区扩散的数量远远大于复合的数量。即：</a:t>
            </a:r>
            <a:endParaRPr lang="zh-CN" altLang="en-US" sz="2800" b="1" dirty="0">
              <a:solidFill>
                <a:schemeClr val="bg1"/>
              </a:solidFill>
              <a:latin typeface="幼圆" panose="02010509060101010101" pitchFamily="49" charset="-122"/>
              <a:ea typeface="幼圆" panose="02010509060101010101" pitchFamily="49" charset="-122"/>
            </a:endParaRPr>
          </a:p>
        </p:txBody>
      </p:sp>
      <p:sp>
        <p:nvSpPr>
          <p:cNvPr id="10246" name="Text Box 6"/>
          <p:cNvSpPr txBox="1"/>
          <p:nvPr/>
        </p:nvSpPr>
        <p:spPr>
          <a:xfrm>
            <a:off x="1692275" y="2489200"/>
            <a:ext cx="6264275" cy="579438"/>
          </a:xfrm>
          <a:prstGeom prst="rect">
            <a:avLst/>
          </a:prstGeom>
          <a:noFill/>
          <a:ln w="9525">
            <a:noFill/>
          </a:ln>
        </p:spPr>
        <p:txBody>
          <a:bodyPr anchor="t">
            <a:spAutoFit/>
          </a:bodyPr>
          <a:p>
            <a:pPr>
              <a:spcBef>
                <a:spcPct val="50000"/>
              </a:spcBef>
            </a:pPr>
            <a:r>
              <a:rPr lang="en-US" altLang="zh-CN" sz="3200" b="1" i="1" dirty="0">
                <a:solidFill>
                  <a:srgbClr val="FFFF66"/>
                </a:solidFill>
                <a:latin typeface="Times New Roman" panose="02020603050405020304" pitchFamily="18" charset="0"/>
                <a:ea typeface="幼圆" panose="02010509060101010101" pitchFamily="49" charset="-122"/>
              </a:rPr>
              <a:t>I</a:t>
            </a:r>
            <a:r>
              <a:rPr lang="en-US" altLang="zh-CN" sz="3200" b="1" baseline="-25000" dirty="0">
                <a:solidFill>
                  <a:srgbClr val="FFFF66"/>
                </a:solidFill>
                <a:latin typeface="Times New Roman" panose="02020603050405020304" pitchFamily="18" charset="0"/>
                <a:ea typeface="幼圆" panose="02010509060101010101" pitchFamily="49" charset="-122"/>
              </a:rPr>
              <a:t>C</a:t>
            </a:r>
            <a:r>
              <a:rPr lang="en-US" altLang="zh-CN" sz="3200" b="1" dirty="0">
                <a:solidFill>
                  <a:srgbClr val="FFFF66"/>
                </a:solidFill>
                <a:latin typeface="Times New Roman" panose="02020603050405020304" pitchFamily="18" charset="0"/>
                <a:ea typeface="幼圆" panose="02010509060101010101" pitchFamily="49" charset="-122"/>
              </a:rPr>
              <a:t>&gt;&gt;</a:t>
            </a:r>
            <a:r>
              <a:rPr lang="en-US" altLang="zh-CN" sz="3200" b="1" i="1" dirty="0">
                <a:solidFill>
                  <a:srgbClr val="FFFF66"/>
                </a:solidFill>
                <a:latin typeface="Times New Roman" panose="02020603050405020304" pitchFamily="18" charset="0"/>
                <a:ea typeface="幼圆" panose="02010509060101010101" pitchFamily="49" charset="-122"/>
              </a:rPr>
              <a:t>I</a:t>
            </a:r>
            <a:r>
              <a:rPr lang="en-US" altLang="zh-CN" sz="3200" b="1" baseline="-25000" dirty="0">
                <a:solidFill>
                  <a:srgbClr val="FFFF66"/>
                </a:solidFill>
                <a:latin typeface="Times New Roman" panose="02020603050405020304" pitchFamily="18" charset="0"/>
                <a:ea typeface="幼圆" panose="02010509060101010101" pitchFamily="49" charset="-122"/>
              </a:rPr>
              <a:t>B</a:t>
            </a:r>
            <a:r>
              <a:rPr lang="en-US" altLang="zh-CN" sz="3200" b="1" dirty="0">
                <a:solidFill>
                  <a:srgbClr val="FFFF66"/>
                </a:solidFill>
                <a:latin typeface="幼圆" panose="02010509060101010101" pitchFamily="49" charset="-122"/>
                <a:ea typeface="幼圆" panose="02010509060101010101" pitchFamily="49" charset="-122"/>
              </a:rPr>
              <a:t>      </a:t>
            </a:r>
            <a:r>
              <a:rPr lang="zh-CN" altLang="en-US" sz="3200" b="1" dirty="0">
                <a:solidFill>
                  <a:srgbClr val="FFFF66"/>
                </a:solidFill>
                <a:latin typeface="幼圆" panose="02010509060101010101" pitchFamily="49" charset="-122"/>
                <a:ea typeface="幼圆" panose="02010509060101010101" pitchFamily="49" charset="-122"/>
              </a:rPr>
              <a:t>或  </a:t>
            </a:r>
            <a:r>
              <a:rPr lang="zh-CN" altLang="en-US" sz="3200" b="1" dirty="0">
                <a:solidFill>
                  <a:srgbClr val="FFFF66"/>
                </a:solidFill>
                <a:latin typeface="Times New Roman" panose="02020603050405020304" pitchFamily="18" charset="0"/>
                <a:ea typeface="幼圆" panose="02010509060101010101" pitchFamily="49" charset="-122"/>
              </a:rPr>
              <a:t>△</a:t>
            </a:r>
            <a:r>
              <a:rPr lang="en-US" altLang="zh-CN" sz="3200" b="1" i="1" dirty="0">
                <a:solidFill>
                  <a:srgbClr val="FFFF66"/>
                </a:solidFill>
                <a:latin typeface="Times New Roman" panose="02020603050405020304" pitchFamily="18" charset="0"/>
                <a:ea typeface="幼圆" panose="02010509060101010101" pitchFamily="49" charset="-122"/>
              </a:rPr>
              <a:t>I</a:t>
            </a:r>
            <a:r>
              <a:rPr lang="en-US" altLang="zh-CN" sz="3200" b="1" baseline="-25000" dirty="0">
                <a:solidFill>
                  <a:srgbClr val="FFFF66"/>
                </a:solidFill>
                <a:latin typeface="Times New Roman" panose="02020603050405020304" pitchFamily="18" charset="0"/>
                <a:ea typeface="幼圆" panose="02010509060101010101" pitchFamily="49" charset="-122"/>
              </a:rPr>
              <a:t>C</a:t>
            </a:r>
            <a:r>
              <a:rPr lang="en-US" altLang="zh-CN" sz="3200" b="1" dirty="0">
                <a:solidFill>
                  <a:srgbClr val="FFFF66"/>
                </a:solidFill>
                <a:latin typeface="Times New Roman" panose="02020603050405020304" pitchFamily="18" charset="0"/>
                <a:ea typeface="幼圆" panose="02010509060101010101" pitchFamily="49" charset="-122"/>
              </a:rPr>
              <a:t>&gt;&gt;△</a:t>
            </a:r>
            <a:r>
              <a:rPr lang="en-US" altLang="zh-CN" sz="3200" b="1" i="1" dirty="0">
                <a:solidFill>
                  <a:srgbClr val="FFFF66"/>
                </a:solidFill>
                <a:latin typeface="Times New Roman" panose="02020603050405020304" pitchFamily="18" charset="0"/>
                <a:ea typeface="幼圆" panose="02010509060101010101" pitchFamily="49" charset="-122"/>
              </a:rPr>
              <a:t>I</a:t>
            </a:r>
            <a:r>
              <a:rPr lang="en-US" altLang="zh-CN" sz="3200" b="1" baseline="-25000" dirty="0">
                <a:solidFill>
                  <a:srgbClr val="FFFF66"/>
                </a:solidFill>
                <a:latin typeface="Times New Roman" panose="02020603050405020304" pitchFamily="18" charset="0"/>
                <a:ea typeface="幼圆" panose="02010509060101010101" pitchFamily="49" charset="-122"/>
              </a:rPr>
              <a:t>B</a:t>
            </a:r>
            <a:endParaRPr lang="en-US" altLang="zh-CN" sz="3200" b="1" baseline="-25000" dirty="0">
              <a:solidFill>
                <a:srgbClr val="FFFF66"/>
              </a:solidFill>
              <a:latin typeface="Times New Roman" panose="02020603050405020304" pitchFamily="18" charset="0"/>
              <a:ea typeface="幼圆" panose="02010509060101010101" pitchFamily="49" charset="-122"/>
            </a:endParaRPr>
          </a:p>
        </p:txBody>
      </p:sp>
      <p:sp>
        <p:nvSpPr>
          <p:cNvPr id="35846" name="Text Box 8">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5847" name="Text Box 9">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5848" name="Text Box 11"/>
          <p:cNvSpPr txBox="1"/>
          <p:nvPr/>
        </p:nvSpPr>
        <p:spPr>
          <a:xfrm>
            <a:off x="7667625" y="629443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grpSp>
        <p:nvGrpSpPr>
          <p:cNvPr id="10264" name="Group 24"/>
          <p:cNvGrpSpPr/>
          <p:nvPr/>
        </p:nvGrpSpPr>
        <p:grpSpPr>
          <a:xfrm>
            <a:off x="982663" y="5105400"/>
            <a:ext cx="8415337" cy="1203325"/>
            <a:chOff x="619" y="3216"/>
            <a:chExt cx="5301" cy="758"/>
          </a:xfrm>
        </p:grpSpPr>
        <p:sp>
          <p:nvSpPr>
            <p:cNvPr id="35850" name="Text Box 13"/>
            <p:cNvSpPr txBox="1"/>
            <p:nvPr/>
          </p:nvSpPr>
          <p:spPr>
            <a:xfrm>
              <a:off x="931" y="3216"/>
              <a:ext cx="4989" cy="758"/>
            </a:xfrm>
            <a:prstGeom prst="rect">
              <a:avLst/>
            </a:prstGeom>
            <a:noFill/>
            <a:ln w="9525">
              <a:noFill/>
            </a:ln>
          </p:spPr>
          <p:txBody>
            <a:bodyPr anchor="t">
              <a:spAutoFit/>
            </a:bodyPr>
            <a:p>
              <a:pPr>
                <a:lnSpc>
                  <a:spcPct val="130000"/>
                </a:lnSpc>
                <a:spcBef>
                  <a:spcPct val="50000"/>
                </a:spcBef>
              </a:pPr>
              <a:r>
                <a:rPr lang="zh-CN" altLang="en-US" sz="2800" b="1" dirty="0">
                  <a:solidFill>
                    <a:schemeClr val="bg1"/>
                  </a:solidFill>
                  <a:latin typeface="幼圆" panose="02010509060101010101" pitchFamily="49" charset="-122"/>
                  <a:ea typeface="幼圆" panose="02010509060101010101" pitchFamily="49" charset="-122"/>
                </a:rPr>
                <a:t>晶体管起电流放大作用，必须满足发射结正偏，集电结反偏的条件。</a:t>
              </a:r>
              <a:endParaRPr lang="zh-CN" altLang="en-US" sz="2800" b="1" dirty="0">
                <a:solidFill>
                  <a:schemeClr val="bg1"/>
                </a:solidFill>
                <a:latin typeface="幼圆" panose="02010509060101010101" pitchFamily="49" charset="-122"/>
                <a:ea typeface="幼圆" panose="02010509060101010101" pitchFamily="49" charset="-122"/>
              </a:endParaRPr>
            </a:p>
          </p:txBody>
        </p:sp>
        <p:grpSp>
          <p:nvGrpSpPr>
            <p:cNvPr id="35851" name="Group 23"/>
            <p:cNvGrpSpPr/>
            <p:nvPr/>
          </p:nvGrpSpPr>
          <p:grpSpPr>
            <a:xfrm>
              <a:off x="619" y="3321"/>
              <a:ext cx="437" cy="327"/>
              <a:chOff x="336" y="3312"/>
              <a:chExt cx="437" cy="327"/>
            </a:xfrm>
          </p:grpSpPr>
          <p:graphicFrame>
            <p:nvGraphicFramePr>
              <p:cNvPr id="35852" name="Object 15"/>
              <p:cNvGraphicFramePr>
                <a:graphicFrameLocks noChangeAspect="1"/>
              </p:cNvGraphicFramePr>
              <p:nvPr/>
            </p:nvGraphicFramePr>
            <p:xfrm>
              <a:off x="336" y="3325"/>
              <a:ext cx="275" cy="285"/>
            </p:xfrm>
            <a:graphic>
              <a:graphicData uri="http://schemas.openxmlformats.org/presentationml/2006/ole">
                <mc:AlternateContent xmlns:mc="http://schemas.openxmlformats.org/markup-compatibility/2006">
                  <mc:Choice xmlns:v="urn:schemas-microsoft-com:vml" Requires="v">
                    <p:oleObj spid="_x0000_s3140" name="" r:id="rId4" imgW="9525" imgH="9525" progId="CorelDraw.Graphic.8">
                      <p:embed/>
                    </p:oleObj>
                  </mc:Choice>
                  <mc:Fallback>
                    <p:oleObj name="" r:id="rId4" imgW="9525" imgH="9525" progId="CorelDraw.Graphic.8">
                      <p:embed/>
                      <p:pic>
                        <p:nvPicPr>
                          <p:cNvPr id="0" name="图片 3139"/>
                          <p:cNvPicPr/>
                          <p:nvPr/>
                        </p:nvPicPr>
                        <p:blipFill>
                          <a:blip r:embed="rId5"/>
                          <a:stretch>
                            <a:fillRect/>
                          </a:stretch>
                        </p:blipFill>
                        <p:spPr>
                          <a:xfrm>
                            <a:off x="336" y="3325"/>
                            <a:ext cx="275" cy="285"/>
                          </a:xfrm>
                          <a:prstGeom prst="rect">
                            <a:avLst/>
                          </a:prstGeom>
                          <a:noFill/>
                          <a:ln w="38100">
                            <a:noFill/>
                            <a:miter/>
                          </a:ln>
                        </p:spPr>
                      </p:pic>
                    </p:oleObj>
                  </mc:Fallback>
                </mc:AlternateContent>
              </a:graphicData>
            </a:graphic>
          </p:graphicFrame>
          <p:sp>
            <p:nvSpPr>
              <p:cNvPr id="35853" name="Text Box 16"/>
              <p:cNvSpPr txBox="1"/>
              <p:nvPr/>
            </p:nvSpPr>
            <p:spPr>
              <a:xfrm>
                <a:off x="384" y="3312"/>
                <a:ext cx="389" cy="327"/>
              </a:xfrm>
              <a:prstGeom prst="rect">
                <a:avLst/>
              </a:prstGeom>
              <a:noFill/>
              <a:ln w="34925">
                <a:noFill/>
              </a:ln>
            </p:spPr>
            <p:txBody>
              <a:bodyPr anchor="t">
                <a:spAutoFit/>
              </a:bodyPr>
              <a:p>
                <a:pPr eaLnBrk="0" hangingPunct="0"/>
                <a:r>
                  <a:rPr lang="en-US" altLang="zh-CN" sz="2800" dirty="0">
                    <a:solidFill>
                      <a:srgbClr val="FF3300"/>
                    </a:solidFill>
                    <a:latin typeface="幼圆" panose="02010509060101010101" pitchFamily="49" charset="-122"/>
                    <a:ea typeface="幼圆" panose="02010509060101010101" pitchFamily="49" charset="-122"/>
                  </a:rPr>
                  <a:t>3</a:t>
                </a:r>
                <a:endParaRPr lang="en-US" altLang="zh-CN" sz="2800" dirty="0">
                  <a:solidFill>
                    <a:srgbClr val="FF3300"/>
                  </a:solidFill>
                  <a:latin typeface="幼圆" panose="02010509060101010101" pitchFamily="49" charset="-122"/>
                  <a:ea typeface="幼圆" panose="02010509060101010101" pitchFamily="49" charset="-122"/>
                </a:endParaRPr>
              </a:p>
            </p:txBody>
          </p:sp>
        </p:grpSp>
      </p:grpSp>
      <p:grpSp>
        <p:nvGrpSpPr>
          <p:cNvPr id="10257" name="Group 17"/>
          <p:cNvGrpSpPr/>
          <p:nvPr/>
        </p:nvGrpSpPr>
        <p:grpSpPr>
          <a:xfrm>
            <a:off x="927100" y="3284538"/>
            <a:ext cx="8216900" cy="1920875"/>
            <a:chOff x="584" y="2202"/>
            <a:chExt cx="5176" cy="1210"/>
          </a:xfrm>
        </p:grpSpPr>
        <p:graphicFrame>
          <p:nvGraphicFramePr>
            <p:cNvPr id="35855" name="Object 18"/>
            <p:cNvGraphicFramePr>
              <a:graphicFrameLocks noChangeAspect="1"/>
            </p:cNvGraphicFramePr>
            <p:nvPr/>
          </p:nvGraphicFramePr>
          <p:xfrm>
            <a:off x="584" y="2256"/>
            <a:ext cx="255" cy="288"/>
          </p:xfrm>
          <a:graphic>
            <a:graphicData uri="http://schemas.openxmlformats.org/presentationml/2006/ole">
              <mc:AlternateContent xmlns:mc="http://schemas.openxmlformats.org/markup-compatibility/2006">
                <mc:Choice xmlns:v="urn:schemas-microsoft-com:vml" Requires="v">
                  <p:oleObj spid="_x0000_s3139" name="" r:id="rId6" imgW="9525" imgH="9525" progId="CorelDraw.Graphic.8">
                    <p:embed/>
                  </p:oleObj>
                </mc:Choice>
                <mc:Fallback>
                  <p:oleObj name="" r:id="rId6" imgW="9525" imgH="9525" progId="CorelDraw.Graphic.8">
                    <p:embed/>
                    <p:pic>
                      <p:nvPicPr>
                        <p:cNvPr id="0" name="图片 3138"/>
                        <p:cNvPicPr/>
                        <p:nvPr/>
                      </p:nvPicPr>
                      <p:blipFill>
                        <a:blip r:embed="rId7"/>
                        <a:stretch>
                          <a:fillRect/>
                        </a:stretch>
                      </p:blipFill>
                      <p:spPr>
                        <a:xfrm>
                          <a:off x="584" y="2256"/>
                          <a:ext cx="255" cy="288"/>
                        </a:xfrm>
                        <a:prstGeom prst="rect">
                          <a:avLst/>
                        </a:prstGeom>
                        <a:noFill/>
                        <a:ln w="38100">
                          <a:noFill/>
                          <a:miter/>
                        </a:ln>
                      </p:spPr>
                    </p:pic>
                  </p:oleObj>
                </mc:Fallback>
              </mc:AlternateContent>
            </a:graphicData>
          </a:graphic>
        </p:graphicFrame>
        <p:sp>
          <p:nvSpPr>
            <p:cNvPr id="35856" name="Text Box 19"/>
            <p:cNvSpPr txBox="1"/>
            <p:nvPr/>
          </p:nvSpPr>
          <p:spPr>
            <a:xfrm>
              <a:off x="975" y="2202"/>
              <a:ext cx="4785" cy="1210"/>
            </a:xfrm>
            <a:prstGeom prst="rect">
              <a:avLst/>
            </a:prstGeom>
            <a:noFill/>
            <a:ln w="34925">
              <a:noFill/>
            </a:ln>
          </p:spPr>
          <p:txBody>
            <a:bodyPr anchor="t">
              <a:spAutoFit/>
            </a:bodyPr>
            <a:p>
              <a:pPr eaLnBrk="0" hangingPunct="0"/>
              <a:r>
                <a:rPr lang="zh-CN" altLang="en-US" sz="2800" b="1" dirty="0">
                  <a:solidFill>
                    <a:schemeClr val="bg1"/>
                  </a:solidFill>
                  <a:latin typeface="Times New Roman" panose="02020603050405020304" pitchFamily="18" charset="0"/>
                  <a:ea typeface="幼圆" panose="02010509060101010101" pitchFamily="49" charset="-122"/>
                </a:rPr>
                <a:t>当基极电路由于外加电压或电阻改变而引起</a:t>
              </a:r>
              <a:r>
                <a:rPr lang="en-US" altLang="zh-CN" sz="3200" b="1" i="1" dirty="0">
                  <a:solidFill>
                    <a:schemeClr val="bg1"/>
                  </a:solidFill>
                  <a:latin typeface="Times New Roman" panose="02020603050405020304" pitchFamily="18" charset="0"/>
                  <a:ea typeface="幼圆" panose="02010509060101010101" pitchFamily="49" charset="-122"/>
                </a:rPr>
                <a:t>I</a:t>
              </a:r>
              <a:r>
                <a:rPr lang="en-US" altLang="zh-CN" sz="2800" b="1" baseline="-25000" dirty="0">
                  <a:solidFill>
                    <a:schemeClr val="bg1"/>
                  </a:solidFill>
                  <a:latin typeface="Times New Roman" panose="02020603050405020304" pitchFamily="18" charset="0"/>
                  <a:ea typeface="幼圆" panose="02010509060101010101" pitchFamily="49" charset="-122"/>
                </a:rPr>
                <a:t>B</a:t>
              </a:r>
              <a:r>
                <a:rPr lang="zh-CN" altLang="en-US" sz="2800" b="1" dirty="0">
                  <a:solidFill>
                    <a:schemeClr val="bg1"/>
                  </a:solidFill>
                  <a:latin typeface="Times New Roman" panose="02020603050405020304" pitchFamily="18" charset="0"/>
                  <a:ea typeface="幼圆" panose="02010509060101010101" pitchFamily="49" charset="-122"/>
                </a:rPr>
                <a:t>的微小变化时，必定使</a:t>
              </a:r>
              <a:r>
                <a:rPr lang="en-US" altLang="zh-CN" sz="3200" b="1" i="1" dirty="0">
                  <a:solidFill>
                    <a:schemeClr val="bg1"/>
                  </a:solidFill>
                  <a:latin typeface="Times New Roman" panose="02020603050405020304" pitchFamily="18" charset="0"/>
                  <a:ea typeface="幼圆" panose="02010509060101010101" pitchFamily="49" charset="-122"/>
                </a:rPr>
                <a:t>I</a:t>
              </a:r>
              <a:r>
                <a:rPr lang="en-US" altLang="zh-CN" sz="2800" b="1" baseline="-25000" dirty="0">
                  <a:solidFill>
                    <a:schemeClr val="bg1"/>
                  </a:solidFill>
                  <a:latin typeface="Times New Roman" panose="02020603050405020304" pitchFamily="18" charset="0"/>
                  <a:ea typeface="幼圆" panose="02010509060101010101" pitchFamily="49" charset="-122"/>
                </a:rPr>
                <a:t>C</a:t>
              </a:r>
              <a:r>
                <a:rPr lang="zh-CN" altLang="en-US" sz="2800" b="1" dirty="0">
                  <a:solidFill>
                    <a:schemeClr val="bg1"/>
                  </a:solidFill>
                  <a:latin typeface="Times New Roman" panose="02020603050405020304" pitchFamily="18" charset="0"/>
                  <a:ea typeface="幼圆" panose="02010509060101010101" pitchFamily="49" charset="-122"/>
                </a:rPr>
                <a:t>发生较大的变化。即三极管的基极电流对集电极电流具有控制作用。</a:t>
              </a:r>
              <a:endParaRPr lang="zh-CN" altLang="en-US" sz="2800" b="1" dirty="0">
                <a:solidFill>
                  <a:schemeClr val="bg1"/>
                </a:solidFill>
                <a:latin typeface="Times New Roman" panose="02020603050405020304" pitchFamily="18" charset="0"/>
                <a:ea typeface="幼圆" panose="02010509060101010101" pitchFamily="49" charset="-122"/>
              </a:endParaRPr>
            </a:p>
          </p:txBody>
        </p:sp>
      </p:grpSp>
      <p:sp>
        <p:nvSpPr>
          <p:cNvPr id="10260" name="Line 20"/>
          <p:cNvSpPr/>
          <p:nvPr/>
        </p:nvSpPr>
        <p:spPr>
          <a:xfrm>
            <a:off x="1763713" y="4797425"/>
            <a:ext cx="7056437" cy="0"/>
          </a:xfrm>
          <a:prstGeom prst="line">
            <a:avLst/>
          </a:prstGeom>
          <a:ln w="28575" cap="flat" cmpd="sng">
            <a:solidFill>
              <a:srgbClr val="FF9900"/>
            </a:solidFill>
            <a:prstDash val="solid"/>
            <a:round/>
            <a:headEnd type="none" w="med" len="med"/>
            <a:tailEnd type="none" w="sm" len="lg"/>
          </a:ln>
        </p:spPr>
      </p:sp>
      <p:sp>
        <p:nvSpPr>
          <p:cNvPr id="10261" name="Line 21"/>
          <p:cNvSpPr/>
          <p:nvPr/>
        </p:nvSpPr>
        <p:spPr>
          <a:xfrm>
            <a:off x="7019925" y="5734050"/>
            <a:ext cx="1655763" cy="0"/>
          </a:xfrm>
          <a:prstGeom prst="line">
            <a:avLst/>
          </a:prstGeom>
          <a:ln w="28575" cap="flat" cmpd="sng">
            <a:solidFill>
              <a:srgbClr val="FF9900"/>
            </a:solidFill>
            <a:prstDash val="solid"/>
            <a:round/>
            <a:headEnd type="none" w="med" len="med"/>
            <a:tailEnd type="none" w="sm" len="lg"/>
          </a:ln>
        </p:spPr>
      </p:sp>
      <p:sp>
        <p:nvSpPr>
          <p:cNvPr id="10262" name="Line 22"/>
          <p:cNvSpPr/>
          <p:nvPr/>
        </p:nvSpPr>
        <p:spPr>
          <a:xfrm>
            <a:off x="1547813" y="6237288"/>
            <a:ext cx="1871662" cy="0"/>
          </a:xfrm>
          <a:prstGeom prst="line">
            <a:avLst/>
          </a:prstGeom>
          <a:ln w="28575" cap="flat" cmpd="sng">
            <a:solidFill>
              <a:srgbClr val="FF9900"/>
            </a:solidFill>
            <a:prstDash val="solid"/>
            <a:round/>
            <a:headEnd type="none" w="med" len="med"/>
            <a:tailEnd type="none" w="sm" len="lg"/>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p:cTn id="7" dur="500" fill="hold"/>
                                        <p:tgtEl>
                                          <p:spTgt spid="10242"/>
                                        </p:tgtEl>
                                        <p:attrNameLst>
                                          <p:attrName>ppt_x</p:attrName>
                                        </p:attrNameLst>
                                      </p:cBhvr>
                                      <p:tavLst>
                                        <p:tav tm="0">
                                          <p:val>
                                            <p:strVal val="#ppt_x-#ppt_w/2"/>
                                          </p:val>
                                        </p:tav>
                                        <p:tav tm="100000">
                                          <p:val>
                                            <p:strVal val="#ppt_x"/>
                                          </p:val>
                                        </p:tav>
                                      </p:tavLst>
                                    </p:anim>
                                    <p:anim calcmode="lin" valueType="num">
                                      <p:cBhvr>
                                        <p:cTn id="8" dur="500" fill="hold"/>
                                        <p:tgtEl>
                                          <p:spTgt spid="10242"/>
                                        </p:tgtEl>
                                        <p:attrNameLst>
                                          <p:attrName>ppt_y</p:attrName>
                                        </p:attrNameLst>
                                      </p:cBhvr>
                                      <p:tavLst>
                                        <p:tav tm="0">
                                          <p:val>
                                            <p:strVal val="#ppt_y"/>
                                          </p:val>
                                        </p:tav>
                                        <p:tav tm="100000">
                                          <p:val>
                                            <p:strVal val="#ppt_y"/>
                                          </p:val>
                                        </p:tav>
                                      </p:tavLst>
                                    </p:anim>
                                    <p:anim calcmode="lin" valueType="num">
                                      <p:cBhvr>
                                        <p:cTn id="9" dur="500" fill="hold"/>
                                        <p:tgtEl>
                                          <p:spTgt spid="10242"/>
                                        </p:tgtEl>
                                        <p:attrNameLst>
                                          <p:attrName>ppt_w</p:attrName>
                                        </p:attrNameLst>
                                      </p:cBhvr>
                                      <p:tavLst>
                                        <p:tav tm="0">
                                          <p:val>
                                            <p:fltVal val="0.000000"/>
                                          </p:val>
                                        </p:tav>
                                        <p:tav tm="100000">
                                          <p:val>
                                            <p:strVal val="#ppt_w"/>
                                          </p:val>
                                        </p:tav>
                                      </p:tavLst>
                                    </p:anim>
                                    <p:anim calcmode="lin" valueType="num">
                                      <p:cBhvr>
                                        <p:cTn id="10" dur="500" fill="hold"/>
                                        <p:tgtEl>
                                          <p:spTgt spid="1024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0244"/>
                                        </p:tgtEl>
                                        <p:attrNameLst>
                                          <p:attrName>style.visibility</p:attrName>
                                        </p:attrNameLst>
                                      </p:cBhvr>
                                      <p:to>
                                        <p:strVal val="visible"/>
                                      </p:to>
                                    </p:set>
                                    <p:animEffect transition="in" filter="dissolve">
                                      <p:cBhvr>
                                        <p:cTn id="15" dur="500"/>
                                        <p:tgtEl>
                                          <p:spTgt spid="10244"/>
                                        </p:tgtEl>
                                      </p:cBhvr>
                                    </p:animEffect>
                                  </p:childTnLst>
                                </p:cTn>
                              </p:par>
                            </p:childTnLst>
                          </p:cTn>
                        </p:par>
                        <p:par>
                          <p:cTn id="16" fill="hold">
                            <p:stCondLst>
                              <p:cond delay="500"/>
                            </p:stCondLst>
                            <p:childTnLst>
                              <p:par>
                                <p:cTn id="17" presetID="4" presetClass="entr" presetSubtype="16" fill="hold" grpId="0" nodeType="afterEffect">
                                  <p:stCondLst>
                                    <p:cond delay="0"/>
                                  </p:stCondLst>
                                  <p:childTnLst>
                                    <p:set>
                                      <p:cBhvr>
                                        <p:cTn id="18" dur="1" fill="hold">
                                          <p:stCondLst>
                                            <p:cond delay="0"/>
                                          </p:stCondLst>
                                        </p:cTn>
                                        <p:tgtEl>
                                          <p:spTgt spid="10245"/>
                                        </p:tgtEl>
                                        <p:attrNameLst>
                                          <p:attrName>style.visibility</p:attrName>
                                        </p:attrNameLst>
                                      </p:cBhvr>
                                      <p:to>
                                        <p:strVal val="visible"/>
                                      </p:to>
                                    </p:set>
                                    <p:animEffect transition="in" filter="box(in)">
                                      <p:cBhvr>
                                        <p:cTn id="19" dur="500"/>
                                        <p:tgtEl>
                                          <p:spTgt spid="10245"/>
                                        </p:tgtEl>
                                      </p:cBhvr>
                                    </p:animEffect>
                                  </p:childTnLst>
                                </p:cTn>
                              </p:par>
                            </p:childTnLst>
                          </p:cTn>
                        </p:par>
                        <p:par>
                          <p:cTn id="20" fill="hold">
                            <p:stCondLst>
                              <p:cond delay="1000"/>
                            </p:stCondLst>
                            <p:childTnLst>
                              <p:par>
                                <p:cTn id="21" presetID="16" presetClass="entr" presetSubtype="37" fill="hold" grpId="0" nodeType="afterEffect">
                                  <p:stCondLst>
                                    <p:cond delay="0"/>
                                  </p:stCondLst>
                                  <p:childTnLst>
                                    <p:set>
                                      <p:cBhvr>
                                        <p:cTn id="22" dur="1" fill="hold">
                                          <p:stCondLst>
                                            <p:cond delay="0"/>
                                          </p:stCondLst>
                                        </p:cTn>
                                        <p:tgtEl>
                                          <p:spTgt spid="10246"/>
                                        </p:tgtEl>
                                        <p:attrNameLst>
                                          <p:attrName>style.visibility</p:attrName>
                                        </p:attrNameLst>
                                      </p:cBhvr>
                                      <p:to>
                                        <p:strVal val="visible"/>
                                      </p:to>
                                    </p:set>
                                    <p:animEffect transition="in" filter="barn(outVertical)">
                                      <p:cBhvr>
                                        <p:cTn id="23" dur="500"/>
                                        <p:tgtEl>
                                          <p:spTgt spid="1024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0257"/>
                                        </p:tgtEl>
                                        <p:attrNameLst>
                                          <p:attrName>style.visibility</p:attrName>
                                        </p:attrNameLst>
                                      </p:cBhvr>
                                      <p:to>
                                        <p:strVal val="visible"/>
                                      </p:to>
                                    </p:set>
                                    <p:animEffect transition="in" filter="blinds(horizontal)">
                                      <p:cBhvr>
                                        <p:cTn id="28" dur="500"/>
                                        <p:tgtEl>
                                          <p:spTgt spid="10257"/>
                                        </p:tgtEl>
                                      </p:cBhvr>
                                    </p:animEffect>
                                  </p:childTnLst>
                                </p:cTn>
                              </p:par>
                            </p:childTnLst>
                          </p:cTn>
                        </p:par>
                        <p:par>
                          <p:cTn id="29" fill="hold">
                            <p:stCondLst>
                              <p:cond delay="500"/>
                            </p:stCondLst>
                            <p:childTnLst>
                              <p:par>
                                <p:cTn id="30" presetID="4" presetClass="entr" presetSubtype="32" fill="hold" nodeType="afterEffect">
                                  <p:stCondLst>
                                    <p:cond delay="0"/>
                                  </p:stCondLst>
                                  <p:childTnLst>
                                    <p:set>
                                      <p:cBhvr>
                                        <p:cTn id="31" dur="1" fill="hold">
                                          <p:stCondLst>
                                            <p:cond delay="0"/>
                                          </p:stCondLst>
                                        </p:cTn>
                                        <p:tgtEl>
                                          <p:spTgt spid="10260"/>
                                        </p:tgtEl>
                                        <p:attrNameLst>
                                          <p:attrName>style.visibility</p:attrName>
                                        </p:attrNameLst>
                                      </p:cBhvr>
                                      <p:to>
                                        <p:strVal val="visible"/>
                                      </p:to>
                                    </p:set>
                                    <p:animEffect transition="in" filter="box(out)">
                                      <p:cBhvr>
                                        <p:cTn id="32" dur="500"/>
                                        <p:tgtEl>
                                          <p:spTgt spid="1026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0264"/>
                                        </p:tgtEl>
                                        <p:attrNameLst>
                                          <p:attrName>style.visibility</p:attrName>
                                        </p:attrNameLst>
                                      </p:cBhvr>
                                      <p:to>
                                        <p:strVal val="visible"/>
                                      </p:to>
                                    </p:set>
                                    <p:animEffect transition="in" filter="blinds(horizontal)">
                                      <p:cBhvr>
                                        <p:cTn id="37" dur="500"/>
                                        <p:tgtEl>
                                          <p:spTgt spid="10264"/>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0261"/>
                                        </p:tgtEl>
                                        <p:attrNameLst>
                                          <p:attrName>style.visibility</p:attrName>
                                        </p:attrNameLst>
                                      </p:cBhvr>
                                      <p:to>
                                        <p:strVal val="visible"/>
                                      </p:to>
                                    </p:set>
                                    <p:animEffect transition="in" filter="wipe(left)">
                                      <p:cBhvr>
                                        <p:cTn id="41" dur="500"/>
                                        <p:tgtEl>
                                          <p:spTgt spid="10261"/>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10262"/>
                                        </p:tgtEl>
                                        <p:attrNameLst>
                                          <p:attrName>style.visibility</p:attrName>
                                        </p:attrNameLst>
                                      </p:cBhvr>
                                      <p:to>
                                        <p:strVal val="visible"/>
                                      </p:to>
                                    </p:set>
                                    <p:animEffect transition="in" filter="wipe(left)">
                                      <p:cBhvr>
                                        <p:cTn id="45" dur="500"/>
                                        <p:tgtEl>
                                          <p:spTgt spid="10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P spid="102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Text Box 2"/>
          <p:cNvSpPr txBox="1"/>
          <p:nvPr/>
        </p:nvSpPr>
        <p:spPr>
          <a:xfrm>
            <a:off x="836613" y="377825"/>
            <a:ext cx="6607175" cy="706755"/>
          </a:xfrm>
          <a:prstGeom prst="rect">
            <a:avLst/>
          </a:prstGeom>
          <a:noFill/>
          <a:ln w="9525">
            <a:noFill/>
          </a:ln>
          <a:effectLst>
            <a:outerShdw dist="35921" dir="2699999" algn="ctr" rotWithShape="0">
              <a:schemeClr val="bg2"/>
            </a:outerShdw>
          </a:effectLst>
        </p:spPr>
        <p:txBody>
          <a:bodyPr anchor="t">
            <a:spAutoFit/>
          </a:bodyPr>
          <a:p>
            <a:pPr>
              <a:spcBef>
                <a:spcPct val="50000"/>
              </a:spcBef>
            </a:pPr>
            <a:r>
              <a:rPr lang="zh-CN" altLang="en-US" sz="4000" b="1" dirty="0">
                <a:solidFill>
                  <a:schemeClr val="bg1"/>
                </a:solidFill>
                <a:latin typeface="隶书" panose="02010509060101010101" pitchFamily="49" charset="-122"/>
                <a:ea typeface="隶书" panose="02010509060101010101" pitchFamily="49" charset="-122"/>
              </a:rPr>
              <a:t>二、特性曲线和主要参数</a:t>
            </a:r>
            <a:endParaRPr lang="zh-CN" altLang="en-US" sz="4000" b="1" dirty="0">
              <a:solidFill>
                <a:schemeClr val="bg1"/>
              </a:solidFill>
              <a:latin typeface="隶书" panose="02010509060101010101" pitchFamily="49" charset="-122"/>
              <a:ea typeface="隶书" panose="02010509060101010101" pitchFamily="49" charset="-122"/>
            </a:endParaRPr>
          </a:p>
        </p:txBody>
      </p:sp>
      <p:sp>
        <p:nvSpPr>
          <p:cNvPr id="11267" name="Text Box 3"/>
          <p:cNvSpPr txBox="1">
            <a:spLocks noChangeArrowheads="1"/>
          </p:cNvSpPr>
          <p:nvPr/>
        </p:nvSpPr>
        <p:spPr bwMode="auto">
          <a:xfrm>
            <a:off x="1714500" y="1120775"/>
            <a:ext cx="2686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lang="en-US" altLang="zh-CN" sz="2800" b="1" dirty="0">
                <a:solidFill>
                  <a:srgbClr val="FFFF99"/>
                </a:solidFill>
                <a:effectLst>
                  <a:outerShdw blurRad="38100" dist="38100" dir="2700000">
                    <a:srgbClr val="C0C0C0"/>
                  </a:outerShdw>
                </a:effectLst>
                <a:latin typeface="幼圆" panose="02010509060101010101" pitchFamily="49" charset="-122"/>
                <a:ea typeface="幼圆" panose="02010509060101010101" pitchFamily="49" charset="-122"/>
              </a:rPr>
              <a:t>1.</a:t>
            </a:r>
            <a:r>
              <a:rPr lang="zh-CN" altLang="en-US" sz="2800" b="1" dirty="0">
                <a:solidFill>
                  <a:srgbClr val="FFFF99"/>
                </a:solidFill>
                <a:effectLst>
                  <a:outerShdw blurRad="38100" dist="38100" dir="2700000">
                    <a:srgbClr val="C0C0C0"/>
                  </a:outerShdw>
                </a:effectLst>
                <a:latin typeface="幼圆" panose="02010509060101010101" pitchFamily="49" charset="-122"/>
                <a:ea typeface="幼圆" panose="02010509060101010101" pitchFamily="49" charset="-122"/>
              </a:rPr>
              <a:t>输入特性曲线</a:t>
            </a:r>
            <a:endParaRPr lang="zh-CN" altLang="en-US" sz="2800" b="1" dirty="0">
              <a:solidFill>
                <a:srgbClr val="FFFF99"/>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11268" name="Rectangle 4"/>
          <p:cNvSpPr/>
          <p:nvPr/>
        </p:nvSpPr>
        <p:spPr>
          <a:xfrm>
            <a:off x="4572000" y="1196975"/>
            <a:ext cx="1863725" cy="457200"/>
          </a:xfrm>
          <a:prstGeom prst="rect">
            <a:avLst/>
          </a:prstGeom>
          <a:noFill/>
          <a:ln w="9525">
            <a:noFill/>
          </a:ln>
        </p:spPr>
        <p:txBody>
          <a:bodyPr wrap="none" anchor="t">
            <a:spAutoFit/>
          </a:bodyPr>
          <a:p>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r>
              <a:rPr lang="en-US" altLang="zh-CN" sz="2400" dirty="0">
                <a:solidFill>
                  <a:schemeClr val="bg1"/>
                </a:solidFill>
                <a:latin typeface="Times New Roman" panose="02020603050405020304" pitchFamily="18" charset="0"/>
                <a:ea typeface="宋体" panose="02010600030101010101" pitchFamily="2" charset="-122"/>
              </a:rPr>
              <a:t> </a:t>
            </a:r>
            <a:r>
              <a:rPr lang="en-US" altLang="zh-CN" sz="2400" b="1" dirty="0">
                <a:solidFill>
                  <a:schemeClr val="bg1"/>
                </a:solidFill>
                <a:latin typeface="Times New Roman" panose="02020603050405020304" pitchFamily="18" charset="0"/>
                <a:ea typeface="宋体" panose="02010600030101010101" pitchFamily="2" charset="-122"/>
              </a:rPr>
              <a:t>= </a:t>
            </a:r>
            <a:r>
              <a:rPr lang="en-US" altLang="zh-CN" sz="2400" b="1" i="1" dirty="0">
                <a:solidFill>
                  <a:schemeClr val="bg1"/>
                </a:solidFill>
                <a:latin typeface="Times New Roman" panose="02020603050405020304" pitchFamily="18" charset="0"/>
                <a:ea typeface="宋体" panose="02010600030101010101" pitchFamily="2" charset="-122"/>
              </a:rPr>
              <a:t> f</a:t>
            </a:r>
            <a:r>
              <a:rPr lang="en-US" altLang="zh-CN" sz="2400" b="1" dirty="0">
                <a:solidFill>
                  <a:schemeClr val="bg1"/>
                </a:solidFill>
                <a:latin typeface="Times New Roman" panose="02020603050405020304" pitchFamily="18" charset="0"/>
                <a:ea typeface="宋体" panose="02010600030101010101" pitchFamily="2" charset="-122"/>
              </a:rPr>
              <a:t> (</a:t>
            </a: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BE</a:t>
            </a:r>
            <a:r>
              <a:rPr lang="en-US" altLang="zh-CN" sz="2400" b="1" dirty="0">
                <a:solidFill>
                  <a:schemeClr val="bg1"/>
                </a:solidFill>
                <a:latin typeface="Times New Roman" panose="02020603050405020304" pitchFamily="18" charset="0"/>
                <a:ea typeface="宋体" panose="02010600030101010101" pitchFamily="2" charset="-122"/>
              </a:rPr>
              <a:t>  )</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269" name="Rectangle 5"/>
          <p:cNvSpPr/>
          <p:nvPr/>
        </p:nvSpPr>
        <p:spPr>
          <a:xfrm>
            <a:off x="6516688" y="1268413"/>
            <a:ext cx="1484312" cy="396875"/>
          </a:xfrm>
          <a:prstGeom prst="rect">
            <a:avLst/>
          </a:prstGeom>
          <a:noFill/>
          <a:ln w="9525">
            <a:noFill/>
          </a:ln>
        </p:spPr>
        <p:txBody>
          <a:bodyPr wrap="none" anchor="t">
            <a:spAutoFit/>
          </a:bodyPr>
          <a:p>
            <a:r>
              <a:rPr lang="en-US" altLang="zh-CN" sz="2000" b="1" i="1" dirty="0">
                <a:solidFill>
                  <a:schemeClr val="bg1"/>
                </a:solidFill>
                <a:latin typeface="Times New Roman" panose="02020603050405020304" pitchFamily="18" charset="0"/>
                <a:ea typeface="宋体" panose="02010600030101010101" pitchFamily="2" charset="-122"/>
              </a:rPr>
              <a:t>U</a:t>
            </a:r>
            <a:r>
              <a:rPr lang="en-US" altLang="zh-CN" sz="2000" b="1" baseline="-25000" dirty="0">
                <a:solidFill>
                  <a:schemeClr val="bg1"/>
                </a:solidFill>
                <a:latin typeface="Times New Roman" panose="02020603050405020304" pitchFamily="18" charset="0"/>
                <a:ea typeface="宋体" panose="02010600030101010101" pitchFamily="2" charset="-122"/>
              </a:rPr>
              <a:t>C E</a:t>
            </a:r>
            <a:r>
              <a:rPr lang="en-US" altLang="zh-CN" sz="2000" b="1" dirty="0">
                <a:solidFill>
                  <a:schemeClr val="bg1"/>
                </a:solidFill>
                <a:latin typeface="Times New Roman" panose="02020603050405020304" pitchFamily="18" charset="0"/>
                <a:ea typeface="宋体" panose="02010600030101010101" pitchFamily="2" charset="-122"/>
              </a:rPr>
              <a:t>  = </a:t>
            </a:r>
            <a:r>
              <a:rPr lang="zh-CN" altLang="en-US" sz="2000" b="1" dirty="0">
                <a:solidFill>
                  <a:schemeClr val="bg1"/>
                </a:solidFill>
                <a:latin typeface="Times New Roman" panose="02020603050405020304" pitchFamily="18" charset="0"/>
                <a:ea typeface="幼圆" panose="02010509060101010101" pitchFamily="49" charset="-122"/>
              </a:rPr>
              <a:t>常数</a:t>
            </a:r>
            <a:endParaRPr lang="zh-CN" altLang="en-US" sz="2000" b="1" dirty="0">
              <a:solidFill>
                <a:schemeClr val="bg1"/>
              </a:solidFill>
              <a:latin typeface="Times New Roman" panose="02020603050405020304" pitchFamily="18" charset="0"/>
              <a:ea typeface="幼圆" panose="02010509060101010101" pitchFamily="49" charset="-122"/>
            </a:endParaRPr>
          </a:p>
        </p:txBody>
      </p:sp>
      <p:sp>
        <p:nvSpPr>
          <p:cNvPr id="11270" name="Line 6"/>
          <p:cNvSpPr/>
          <p:nvPr/>
        </p:nvSpPr>
        <p:spPr>
          <a:xfrm>
            <a:off x="6443663" y="1227138"/>
            <a:ext cx="0" cy="457200"/>
          </a:xfrm>
          <a:prstGeom prst="line">
            <a:avLst/>
          </a:prstGeom>
          <a:ln w="9525" cap="flat" cmpd="sng">
            <a:solidFill>
              <a:schemeClr val="bg1"/>
            </a:solidFill>
            <a:prstDash val="solid"/>
            <a:round/>
            <a:headEnd type="none" w="med" len="med"/>
            <a:tailEnd type="none" w="med" len="med"/>
          </a:ln>
        </p:spPr>
      </p:sp>
      <p:sp>
        <p:nvSpPr>
          <p:cNvPr id="11271" name="Text Box 7"/>
          <p:cNvSpPr txBox="1"/>
          <p:nvPr/>
        </p:nvSpPr>
        <p:spPr>
          <a:xfrm>
            <a:off x="7092950" y="3357563"/>
            <a:ext cx="1365250" cy="457200"/>
          </a:xfrm>
          <a:prstGeom prst="rect">
            <a:avLst/>
          </a:prstGeom>
          <a:noFill/>
          <a:ln w="9525">
            <a:noFill/>
          </a:ln>
        </p:spPr>
        <p:txBody>
          <a:bodyPr wrap="none" anchor="t">
            <a:spAutoFit/>
          </a:bodyPr>
          <a:p>
            <a:r>
              <a:rPr lang="en-US" altLang="zh-CN" sz="2400" b="1" i="1" dirty="0">
                <a:solidFill>
                  <a:schemeClr val="bg1"/>
                </a:solidFill>
                <a:latin typeface="Times New Roman" panose="02020603050405020304" pitchFamily="18" charset="0"/>
                <a:ea typeface="幼圆" panose="02010509060101010101" pitchFamily="49" charset="-122"/>
              </a:rPr>
              <a:t>U</a:t>
            </a:r>
            <a:r>
              <a:rPr lang="en-US" altLang="zh-CN" sz="2400" b="1" baseline="-25000" dirty="0">
                <a:solidFill>
                  <a:schemeClr val="bg1"/>
                </a:solidFill>
                <a:latin typeface="Times New Roman" panose="02020603050405020304" pitchFamily="18" charset="0"/>
                <a:ea typeface="幼圆" panose="02010509060101010101" pitchFamily="49" charset="-122"/>
              </a:rPr>
              <a:t>CE</a:t>
            </a:r>
            <a:r>
              <a:rPr lang="en-US" altLang="zh-CN" sz="2400" b="1" dirty="0">
                <a:solidFill>
                  <a:schemeClr val="bg1"/>
                </a:solidFill>
                <a:latin typeface="Times New Roman" panose="02020603050405020304" pitchFamily="18" charset="0"/>
                <a:ea typeface="幼圆" panose="02010509060101010101" pitchFamily="49" charset="-122"/>
              </a:rPr>
              <a:t>≥1V</a:t>
            </a:r>
            <a:endParaRPr lang="en-US" altLang="zh-CN" sz="2400" b="1" dirty="0">
              <a:solidFill>
                <a:schemeClr val="bg1"/>
              </a:solidFill>
              <a:latin typeface="Times New Roman" panose="02020603050405020304" pitchFamily="18" charset="0"/>
              <a:ea typeface="幼圆" panose="02010509060101010101" pitchFamily="49" charset="-122"/>
            </a:endParaRPr>
          </a:p>
        </p:txBody>
      </p:sp>
      <p:sp>
        <p:nvSpPr>
          <p:cNvPr id="36871" name="Text Box 9">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6872" name="Text Box 10">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6873" name="Text Box 12"/>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grpSp>
        <p:nvGrpSpPr>
          <p:cNvPr id="36874" name="Group 13"/>
          <p:cNvGrpSpPr/>
          <p:nvPr/>
        </p:nvGrpSpPr>
        <p:grpSpPr>
          <a:xfrm>
            <a:off x="684213" y="2420938"/>
            <a:ext cx="4294187" cy="3600450"/>
            <a:chOff x="431" y="1525"/>
            <a:chExt cx="2705" cy="2404"/>
          </a:xfrm>
        </p:grpSpPr>
        <p:sp>
          <p:nvSpPr>
            <p:cNvPr id="36875" name="Line 14"/>
            <p:cNvSpPr/>
            <p:nvPr/>
          </p:nvSpPr>
          <p:spPr>
            <a:xfrm>
              <a:off x="1610" y="2745"/>
              <a:ext cx="0" cy="316"/>
            </a:xfrm>
            <a:prstGeom prst="line">
              <a:avLst/>
            </a:prstGeom>
            <a:ln w="28575" cap="flat" cmpd="sng">
              <a:solidFill>
                <a:srgbClr val="DDDDDD"/>
              </a:solidFill>
              <a:prstDash val="solid"/>
              <a:round/>
              <a:headEnd type="none" w="med" len="med"/>
              <a:tailEnd type="stealth" w="med" len="lg"/>
            </a:ln>
          </p:spPr>
        </p:sp>
        <p:sp>
          <p:nvSpPr>
            <p:cNvPr id="36876" name="Text Box 15"/>
            <p:cNvSpPr txBox="1"/>
            <p:nvPr/>
          </p:nvSpPr>
          <p:spPr>
            <a:xfrm>
              <a:off x="1656" y="2703"/>
              <a:ext cx="336"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877" name="Text Box 16"/>
            <p:cNvSpPr txBox="1"/>
            <p:nvPr/>
          </p:nvSpPr>
          <p:spPr>
            <a:xfrm>
              <a:off x="658" y="1945"/>
              <a:ext cx="336"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878" name="Text Box 17"/>
            <p:cNvSpPr txBox="1"/>
            <p:nvPr/>
          </p:nvSpPr>
          <p:spPr>
            <a:xfrm>
              <a:off x="658" y="2618"/>
              <a:ext cx="394"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R</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879" name="Text Box 18"/>
            <p:cNvSpPr txBox="1"/>
            <p:nvPr/>
          </p:nvSpPr>
          <p:spPr>
            <a:xfrm>
              <a:off x="659" y="3101"/>
              <a:ext cx="384"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880" name="Line 19"/>
            <p:cNvSpPr/>
            <p:nvPr/>
          </p:nvSpPr>
          <p:spPr>
            <a:xfrm>
              <a:off x="1565" y="1616"/>
              <a:ext cx="0" cy="223"/>
            </a:xfrm>
            <a:prstGeom prst="line">
              <a:avLst/>
            </a:prstGeom>
            <a:ln w="28575" cap="flat" cmpd="sng">
              <a:solidFill>
                <a:srgbClr val="DDDDDD"/>
              </a:solidFill>
              <a:prstDash val="solid"/>
              <a:round/>
              <a:headEnd type="none" w="med" len="med"/>
              <a:tailEnd type="stealth" w="med" len="lg"/>
            </a:ln>
          </p:spPr>
        </p:sp>
        <p:sp>
          <p:nvSpPr>
            <p:cNvPr id="36881" name="Text Box 20"/>
            <p:cNvSpPr txBox="1"/>
            <p:nvPr/>
          </p:nvSpPr>
          <p:spPr>
            <a:xfrm>
              <a:off x="1610" y="1525"/>
              <a:ext cx="336"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882" name="Text Box 21"/>
            <p:cNvSpPr txBox="1"/>
            <p:nvPr/>
          </p:nvSpPr>
          <p:spPr>
            <a:xfrm>
              <a:off x="2608" y="2523"/>
              <a:ext cx="528" cy="306"/>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CC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883" name="Line 22"/>
            <p:cNvSpPr/>
            <p:nvPr/>
          </p:nvSpPr>
          <p:spPr>
            <a:xfrm>
              <a:off x="658" y="2219"/>
              <a:ext cx="336" cy="0"/>
            </a:xfrm>
            <a:prstGeom prst="line">
              <a:avLst/>
            </a:prstGeom>
            <a:ln w="28575" cap="flat" cmpd="sng">
              <a:solidFill>
                <a:srgbClr val="DDDDDD"/>
              </a:solidFill>
              <a:prstDash val="solid"/>
              <a:round/>
              <a:headEnd type="none" w="med" len="med"/>
              <a:tailEnd type="triangle" w="med" len="lg"/>
            </a:ln>
          </p:spPr>
        </p:sp>
        <p:sp>
          <p:nvSpPr>
            <p:cNvPr id="36884" name="Line 23"/>
            <p:cNvSpPr/>
            <p:nvPr/>
          </p:nvSpPr>
          <p:spPr>
            <a:xfrm>
              <a:off x="1295" y="2104"/>
              <a:ext cx="0" cy="356"/>
            </a:xfrm>
            <a:prstGeom prst="line">
              <a:avLst/>
            </a:prstGeom>
            <a:ln w="28575" cap="flat" cmpd="sng">
              <a:solidFill>
                <a:srgbClr val="FFCC99"/>
              </a:solidFill>
              <a:prstDash val="solid"/>
              <a:round/>
              <a:headEnd type="none" w="med" len="med"/>
              <a:tailEnd type="none" w="med" len="med"/>
            </a:ln>
          </p:spPr>
        </p:sp>
        <p:sp>
          <p:nvSpPr>
            <p:cNvPr id="36885" name="Line 24"/>
            <p:cNvSpPr/>
            <p:nvPr/>
          </p:nvSpPr>
          <p:spPr>
            <a:xfrm flipV="1">
              <a:off x="1295" y="2059"/>
              <a:ext cx="192" cy="178"/>
            </a:xfrm>
            <a:prstGeom prst="line">
              <a:avLst/>
            </a:prstGeom>
            <a:ln w="38100" cap="flat" cmpd="sng">
              <a:solidFill>
                <a:srgbClr val="FFCC99"/>
              </a:solidFill>
              <a:prstDash val="solid"/>
              <a:round/>
              <a:headEnd type="none" w="med" len="med"/>
              <a:tailEnd type="none" w="med" len="med"/>
            </a:ln>
          </p:spPr>
        </p:sp>
        <p:sp>
          <p:nvSpPr>
            <p:cNvPr id="36886" name="Line 25"/>
            <p:cNvSpPr/>
            <p:nvPr/>
          </p:nvSpPr>
          <p:spPr>
            <a:xfrm>
              <a:off x="1293" y="2324"/>
              <a:ext cx="272" cy="168"/>
            </a:xfrm>
            <a:prstGeom prst="line">
              <a:avLst/>
            </a:prstGeom>
            <a:ln w="38100" cap="flat" cmpd="sng">
              <a:solidFill>
                <a:srgbClr val="FFCC99"/>
              </a:solidFill>
              <a:prstDash val="solid"/>
              <a:round/>
              <a:headEnd type="none" w="med" len="med"/>
              <a:tailEnd type="stealth" w="med" len="lg"/>
            </a:ln>
          </p:spPr>
        </p:sp>
        <p:sp>
          <p:nvSpPr>
            <p:cNvPr id="36887" name="Line 26"/>
            <p:cNvSpPr/>
            <p:nvPr/>
          </p:nvSpPr>
          <p:spPr>
            <a:xfrm>
              <a:off x="1487" y="1525"/>
              <a:ext cx="0" cy="534"/>
            </a:xfrm>
            <a:prstGeom prst="line">
              <a:avLst/>
            </a:prstGeom>
            <a:ln w="38100" cap="flat" cmpd="sng">
              <a:solidFill>
                <a:srgbClr val="FFCC99"/>
              </a:solidFill>
              <a:prstDash val="solid"/>
              <a:round/>
              <a:headEnd type="none" w="med" len="med"/>
              <a:tailEnd type="none" w="med" len="med"/>
            </a:ln>
          </p:spPr>
        </p:sp>
        <p:sp>
          <p:nvSpPr>
            <p:cNvPr id="36888" name="Line 27"/>
            <p:cNvSpPr/>
            <p:nvPr/>
          </p:nvSpPr>
          <p:spPr>
            <a:xfrm>
              <a:off x="1535" y="2460"/>
              <a:ext cx="0" cy="1469"/>
            </a:xfrm>
            <a:prstGeom prst="line">
              <a:avLst/>
            </a:prstGeom>
            <a:ln w="38100" cap="flat" cmpd="sng">
              <a:solidFill>
                <a:srgbClr val="FFCC99"/>
              </a:solidFill>
              <a:prstDash val="solid"/>
              <a:round/>
              <a:headEnd type="none" w="med" len="med"/>
              <a:tailEnd type="none" w="med" len="med"/>
            </a:ln>
          </p:spPr>
        </p:sp>
        <p:sp>
          <p:nvSpPr>
            <p:cNvPr id="36889" name="Line 28"/>
            <p:cNvSpPr/>
            <p:nvPr/>
          </p:nvSpPr>
          <p:spPr>
            <a:xfrm>
              <a:off x="575" y="2282"/>
              <a:ext cx="720" cy="0"/>
            </a:xfrm>
            <a:prstGeom prst="line">
              <a:avLst/>
            </a:prstGeom>
            <a:ln w="38100" cap="flat" cmpd="sng">
              <a:solidFill>
                <a:srgbClr val="FFCC99"/>
              </a:solidFill>
              <a:prstDash val="solid"/>
              <a:round/>
              <a:headEnd type="none" w="med" len="med"/>
              <a:tailEnd type="none" w="med" len="med"/>
            </a:ln>
          </p:spPr>
        </p:sp>
        <p:sp>
          <p:nvSpPr>
            <p:cNvPr id="36890" name="Line 29"/>
            <p:cNvSpPr/>
            <p:nvPr/>
          </p:nvSpPr>
          <p:spPr>
            <a:xfrm>
              <a:off x="575" y="2282"/>
              <a:ext cx="0" cy="890"/>
            </a:xfrm>
            <a:prstGeom prst="line">
              <a:avLst/>
            </a:prstGeom>
            <a:ln w="38100" cap="flat" cmpd="sng">
              <a:solidFill>
                <a:srgbClr val="FFCC99"/>
              </a:solidFill>
              <a:prstDash val="solid"/>
              <a:round/>
              <a:headEnd type="none" w="med" len="med"/>
              <a:tailEnd type="none" w="med" len="med"/>
            </a:ln>
          </p:spPr>
        </p:sp>
        <p:sp>
          <p:nvSpPr>
            <p:cNvPr id="36891" name="Line 30"/>
            <p:cNvSpPr/>
            <p:nvPr/>
          </p:nvSpPr>
          <p:spPr>
            <a:xfrm>
              <a:off x="431" y="3172"/>
              <a:ext cx="288" cy="0"/>
            </a:xfrm>
            <a:prstGeom prst="line">
              <a:avLst/>
            </a:prstGeom>
            <a:ln w="28575" cap="flat" cmpd="sng">
              <a:solidFill>
                <a:srgbClr val="FFCC99"/>
              </a:solidFill>
              <a:prstDash val="solid"/>
              <a:round/>
              <a:headEnd type="none" w="med" len="med"/>
              <a:tailEnd type="none" w="med" len="med"/>
            </a:ln>
          </p:spPr>
        </p:sp>
        <p:sp>
          <p:nvSpPr>
            <p:cNvPr id="36892" name="Line 31"/>
            <p:cNvSpPr/>
            <p:nvPr/>
          </p:nvSpPr>
          <p:spPr>
            <a:xfrm flipV="1">
              <a:off x="527" y="3217"/>
              <a:ext cx="144" cy="0"/>
            </a:xfrm>
            <a:prstGeom prst="line">
              <a:avLst/>
            </a:prstGeom>
            <a:ln w="28575" cap="flat" cmpd="sng">
              <a:solidFill>
                <a:srgbClr val="FFCC99"/>
              </a:solidFill>
              <a:prstDash val="solid"/>
              <a:round/>
              <a:headEnd type="none" w="med" len="med"/>
              <a:tailEnd type="none" w="med" len="med"/>
            </a:ln>
          </p:spPr>
        </p:sp>
        <p:sp>
          <p:nvSpPr>
            <p:cNvPr id="36893" name="Line 32"/>
            <p:cNvSpPr/>
            <p:nvPr/>
          </p:nvSpPr>
          <p:spPr>
            <a:xfrm>
              <a:off x="575" y="3217"/>
              <a:ext cx="0" cy="400"/>
            </a:xfrm>
            <a:prstGeom prst="line">
              <a:avLst/>
            </a:prstGeom>
            <a:ln w="38100" cap="flat" cmpd="sng">
              <a:solidFill>
                <a:srgbClr val="FFCC99"/>
              </a:solidFill>
              <a:prstDash val="solid"/>
              <a:round/>
              <a:headEnd type="none" w="med" len="med"/>
              <a:tailEnd type="none" w="med" len="med"/>
            </a:ln>
          </p:spPr>
        </p:sp>
        <p:sp>
          <p:nvSpPr>
            <p:cNvPr id="36894" name="Line 33"/>
            <p:cNvSpPr/>
            <p:nvPr/>
          </p:nvSpPr>
          <p:spPr>
            <a:xfrm>
              <a:off x="1439" y="3929"/>
              <a:ext cx="192" cy="0"/>
            </a:xfrm>
            <a:prstGeom prst="line">
              <a:avLst/>
            </a:prstGeom>
            <a:ln w="28575" cap="flat" cmpd="sng">
              <a:solidFill>
                <a:srgbClr val="FFCC99"/>
              </a:solidFill>
              <a:prstDash val="solid"/>
              <a:round/>
              <a:headEnd type="none" w="med" len="med"/>
              <a:tailEnd type="none" w="med" len="med"/>
            </a:ln>
          </p:spPr>
        </p:sp>
        <p:sp>
          <p:nvSpPr>
            <p:cNvPr id="36895" name="Line 34"/>
            <p:cNvSpPr/>
            <p:nvPr/>
          </p:nvSpPr>
          <p:spPr>
            <a:xfrm>
              <a:off x="575" y="3617"/>
              <a:ext cx="2016" cy="0"/>
            </a:xfrm>
            <a:prstGeom prst="line">
              <a:avLst/>
            </a:prstGeom>
            <a:ln w="38100" cap="flat" cmpd="sng">
              <a:solidFill>
                <a:srgbClr val="FFCC99"/>
              </a:solidFill>
              <a:prstDash val="solid"/>
              <a:round/>
              <a:headEnd type="none" w="med" len="med"/>
              <a:tailEnd type="none" w="med" len="med"/>
            </a:ln>
          </p:spPr>
        </p:sp>
        <p:sp>
          <p:nvSpPr>
            <p:cNvPr id="36896" name="Line 35"/>
            <p:cNvSpPr/>
            <p:nvPr/>
          </p:nvSpPr>
          <p:spPr>
            <a:xfrm>
              <a:off x="1487" y="1525"/>
              <a:ext cx="1104" cy="0"/>
            </a:xfrm>
            <a:prstGeom prst="line">
              <a:avLst/>
            </a:prstGeom>
            <a:ln w="38100" cap="flat" cmpd="sng">
              <a:solidFill>
                <a:srgbClr val="FFCC99"/>
              </a:solidFill>
              <a:prstDash val="solid"/>
              <a:round/>
              <a:headEnd type="none" w="med" len="med"/>
              <a:tailEnd type="none" w="med" len="med"/>
            </a:ln>
          </p:spPr>
        </p:sp>
        <p:sp>
          <p:nvSpPr>
            <p:cNvPr id="36897" name="Line 36"/>
            <p:cNvSpPr/>
            <p:nvPr/>
          </p:nvSpPr>
          <p:spPr>
            <a:xfrm>
              <a:off x="2591" y="1525"/>
              <a:ext cx="0" cy="890"/>
            </a:xfrm>
            <a:prstGeom prst="line">
              <a:avLst/>
            </a:prstGeom>
            <a:ln w="38100" cap="flat" cmpd="sng">
              <a:solidFill>
                <a:srgbClr val="FFCC99"/>
              </a:solidFill>
              <a:prstDash val="solid"/>
              <a:round/>
              <a:headEnd type="none" w="med" len="med"/>
              <a:tailEnd type="none" w="med" len="med"/>
            </a:ln>
          </p:spPr>
        </p:sp>
        <p:sp>
          <p:nvSpPr>
            <p:cNvPr id="36898" name="Line 37"/>
            <p:cNvSpPr/>
            <p:nvPr/>
          </p:nvSpPr>
          <p:spPr>
            <a:xfrm>
              <a:off x="2591" y="2549"/>
              <a:ext cx="0" cy="1068"/>
            </a:xfrm>
            <a:prstGeom prst="line">
              <a:avLst/>
            </a:prstGeom>
            <a:ln w="38100" cap="flat" cmpd="sng">
              <a:solidFill>
                <a:srgbClr val="FFCC99"/>
              </a:solidFill>
              <a:prstDash val="solid"/>
              <a:round/>
              <a:headEnd type="none" w="med" len="med"/>
              <a:tailEnd type="none" w="med" len="med"/>
            </a:ln>
          </p:spPr>
        </p:sp>
        <p:sp>
          <p:nvSpPr>
            <p:cNvPr id="36899" name="Line 38"/>
            <p:cNvSpPr/>
            <p:nvPr/>
          </p:nvSpPr>
          <p:spPr>
            <a:xfrm>
              <a:off x="2399" y="2415"/>
              <a:ext cx="384" cy="0"/>
            </a:xfrm>
            <a:prstGeom prst="line">
              <a:avLst/>
            </a:prstGeom>
            <a:ln w="28575" cap="flat" cmpd="sng">
              <a:solidFill>
                <a:srgbClr val="FFCC99"/>
              </a:solidFill>
              <a:prstDash val="solid"/>
              <a:round/>
              <a:headEnd type="none" w="med" len="med"/>
              <a:tailEnd type="none" w="med" len="med"/>
            </a:ln>
          </p:spPr>
        </p:sp>
        <p:sp>
          <p:nvSpPr>
            <p:cNvPr id="36900" name="Line 39"/>
            <p:cNvSpPr/>
            <p:nvPr/>
          </p:nvSpPr>
          <p:spPr>
            <a:xfrm>
              <a:off x="2447" y="2460"/>
              <a:ext cx="240" cy="0"/>
            </a:xfrm>
            <a:prstGeom prst="line">
              <a:avLst/>
            </a:prstGeom>
            <a:ln w="28575" cap="flat" cmpd="sng">
              <a:solidFill>
                <a:srgbClr val="FFCC99"/>
              </a:solidFill>
              <a:prstDash val="solid"/>
              <a:round/>
              <a:headEnd type="none" w="med" len="med"/>
              <a:tailEnd type="none" w="med" len="med"/>
            </a:ln>
          </p:spPr>
        </p:sp>
        <p:sp>
          <p:nvSpPr>
            <p:cNvPr id="36901" name="Line 40"/>
            <p:cNvSpPr/>
            <p:nvPr/>
          </p:nvSpPr>
          <p:spPr>
            <a:xfrm>
              <a:off x="2399" y="2504"/>
              <a:ext cx="384" cy="0"/>
            </a:xfrm>
            <a:prstGeom prst="line">
              <a:avLst/>
            </a:prstGeom>
            <a:ln w="28575" cap="flat" cmpd="sng">
              <a:solidFill>
                <a:srgbClr val="FFCC99"/>
              </a:solidFill>
              <a:prstDash val="solid"/>
              <a:round/>
              <a:headEnd type="none" w="med" len="med"/>
              <a:tailEnd type="none" w="med" len="med"/>
            </a:ln>
          </p:spPr>
        </p:sp>
        <p:sp>
          <p:nvSpPr>
            <p:cNvPr id="36902" name="Line 41"/>
            <p:cNvSpPr/>
            <p:nvPr/>
          </p:nvSpPr>
          <p:spPr>
            <a:xfrm>
              <a:off x="2495" y="2549"/>
              <a:ext cx="192" cy="0"/>
            </a:xfrm>
            <a:prstGeom prst="line">
              <a:avLst/>
            </a:prstGeom>
            <a:ln w="28575" cap="flat" cmpd="sng">
              <a:solidFill>
                <a:srgbClr val="FFCC99"/>
              </a:solidFill>
              <a:prstDash val="solid"/>
              <a:round/>
              <a:headEnd type="none" w="med" len="med"/>
              <a:tailEnd type="none" w="med" len="med"/>
            </a:ln>
          </p:spPr>
        </p:sp>
        <p:sp>
          <p:nvSpPr>
            <p:cNvPr id="36903" name="Oval 42"/>
            <p:cNvSpPr/>
            <p:nvPr/>
          </p:nvSpPr>
          <p:spPr>
            <a:xfrm>
              <a:off x="1487" y="3573"/>
              <a:ext cx="96" cy="89"/>
            </a:xfrm>
            <a:prstGeom prst="ellipse">
              <a:avLst/>
            </a:prstGeom>
            <a:solidFill>
              <a:srgbClr val="DDDDDD"/>
            </a:solidFill>
            <a:ln w="28575" cap="flat" cmpd="sng">
              <a:solidFill>
                <a:srgbClr val="FFCC99"/>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6904" name="Line 43"/>
            <p:cNvSpPr/>
            <p:nvPr/>
          </p:nvSpPr>
          <p:spPr>
            <a:xfrm>
              <a:off x="575" y="2371"/>
              <a:ext cx="240" cy="0"/>
            </a:xfrm>
            <a:prstGeom prst="line">
              <a:avLst/>
            </a:prstGeom>
            <a:ln w="28575" cap="flat" cmpd="sng">
              <a:solidFill>
                <a:srgbClr val="FFCC99"/>
              </a:solidFill>
              <a:prstDash val="solid"/>
              <a:round/>
              <a:headEnd type="none" w="med" len="med"/>
              <a:tailEnd type="none" w="med" len="med"/>
            </a:ln>
          </p:spPr>
        </p:sp>
        <p:sp>
          <p:nvSpPr>
            <p:cNvPr id="36905" name="Line 44"/>
            <p:cNvSpPr/>
            <p:nvPr/>
          </p:nvSpPr>
          <p:spPr>
            <a:xfrm>
              <a:off x="815" y="2371"/>
              <a:ext cx="0" cy="178"/>
            </a:xfrm>
            <a:prstGeom prst="line">
              <a:avLst/>
            </a:prstGeom>
            <a:ln w="28575" cap="flat" cmpd="sng">
              <a:solidFill>
                <a:srgbClr val="FFCC99"/>
              </a:solidFill>
              <a:prstDash val="solid"/>
              <a:round/>
              <a:headEnd type="none" w="med" len="med"/>
              <a:tailEnd type="none" w="med" len="med"/>
            </a:ln>
          </p:spPr>
        </p:sp>
        <p:sp>
          <p:nvSpPr>
            <p:cNvPr id="36906" name="Line 45"/>
            <p:cNvSpPr/>
            <p:nvPr/>
          </p:nvSpPr>
          <p:spPr>
            <a:xfrm flipH="1">
              <a:off x="623" y="2549"/>
              <a:ext cx="192" cy="0"/>
            </a:xfrm>
            <a:prstGeom prst="line">
              <a:avLst/>
            </a:prstGeom>
            <a:ln w="28575" cap="flat" cmpd="sng">
              <a:solidFill>
                <a:srgbClr val="FFCC99"/>
              </a:solidFill>
              <a:prstDash val="solid"/>
              <a:round/>
              <a:headEnd type="none" w="med" len="med"/>
              <a:tailEnd type="triangle" w="med" len="med"/>
            </a:ln>
          </p:spPr>
        </p:sp>
        <p:sp>
          <p:nvSpPr>
            <p:cNvPr id="36907" name="Rectangle 46"/>
            <p:cNvSpPr/>
            <p:nvPr/>
          </p:nvSpPr>
          <p:spPr>
            <a:xfrm>
              <a:off x="2517" y="1861"/>
              <a:ext cx="136" cy="324"/>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6908" name="Rectangle 47"/>
            <p:cNvSpPr/>
            <p:nvPr/>
          </p:nvSpPr>
          <p:spPr>
            <a:xfrm>
              <a:off x="499" y="2450"/>
              <a:ext cx="136" cy="252"/>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6909" name="Rectangle 48"/>
            <p:cNvSpPr/>
            <p:nvPr/>
          </p:nvSpPr>
          <p:spPr>
            <a:xfrm>
              <a:off x="499" y="2829"/>
              <a:ext cx="136" cy="252"/>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6910" name="Text Box 49"/>
            <p:cNvSpPr txBox="1"/>
            <p:nvPr/>
          </p:nvSpPr>
          <p:spPr>
            <a:xfrm>
              <a:off x="2608" y="1888"/>
              <a:ext cx="394"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R</a:t>
              </a:r>
              <a:r>
                <a:rPr lang="en-US" altLang="zh-CN" sz="2400" b="1" baseline="-25000" dirty="0">
                  <a:solidFill>
                    <a:schemeClr val="bg1"/>
                  </a:solidFill>
                  <a:latin typeface="Times New Roman" panose="02020603050405020304" pitchFamily="18" charset="0"/>
                  <a:ea typeface="宋体" panose="02010600030101010101" pitchFamily="2" charset="-122"/>
                </a:rPr>
                <a:t>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911" name="Rectangle 50"/>
            <p:cNvSpPr/>
            <p:nvPr/>
          </p:nvSpPr>
          <p:spPr>
            <a:xfrm>
              <a:off x="930" y="2271"/>
              <a:ext cx="276" cy="265"/>
            </a:xfrm>
            <a:prstGeom prst="rect">
              <a:avLst/>
            </a:prstGeom>
            <a:noFill/>
            <a:ln w="34925">
              <a:noFill/>
            </a:ln>
          </p:spPr>
          <p:txBody>
            <a:bodyPr wrap="none" anchor="t">
              <a:spAutoFit/>
            </a:bodyPr>
            <a:p>
              <a:pPr eaLnBrk="0" hangingPunct="0"/>
              <a:r>
                <a:rPr lang="zh-CN" altLang="en-US" sz="2000" dirty="0">
                  <a:solidFill>
                    <a:srgbClr val="FFFFFF"/>
                  </a:solidFill>
                  <a:latin typeface="隶书" panose="02010509060101010101" pitchFamily="49" charset="-122"/>
                  <a:ea typeface="隶书" panose="02010509060101010101" pitchFamily="49" charset="-122"/>
                </a:rPr>
                <a:t>＋</a:t>
              </a:r>
              <a:endParaRPr lang="zh-CN" altLang="en-US" sz="2000" dirty="0">
                <a:solidFill>
                  <a:srgbClr val="FFFFFF"/>
                </a:solidFill>
                <a:latin typeface="隶书" panose="02010509060101010101" pitchFamily="49" charset="-122"/>
                <a:ea typeface="隶书" panose="02010509060101010101" pitchFamily="49" charset="-122"/>
              </a:endParaRPr>
            </a:p>
          </p:txBody>
        </p:sp>
        <p:sp>
          <p:nvSpPr>
            <p:cNvPr id="36912" name="Rectangle 51"/>
            <p:cNvSpPr/>
            <p:nvPr/>
          </p:nvSpPr>
          <p:spPr>
            <a:xfrm>
              <a:off x="1247" y="2849"/>
              <a:ext cx="197" cy="265"/>
            </a:xfrm>
            <a:prstGeom prst="rect">
              <a:avLst/>
            </a:prstGeom>
            <a:noFill/>
            <a:ln w="34925">
              <a:noFill/>
            </a:ln>
          </p:spPr>
          <p:txBody>
            <a:bodyPr wrap="none" anchor="t">
              <a:spAutoFit/>
            </a:bodyPr>
            <a:p>
              <a:pPr eaLnBrk="0" hangingPunct="0"/>
              <a:r>
                <a:rPr lang="en-US" altLang="zh-CN" sz="2000" b="1" dirty="0">
                  <a:solidFill>
                    <a:schemeClr val="bg1"/>
                  </a:solidFill>
                  <a:latin typeface="隶书" panose="02010509060101010101" pitchFamily="49" charset="-122"/>
                  <a:ea typeface="隶书" panose="02010509060101010101" pitchFamily="49" charset="-122"/>
                </a:rPr>
                <a:t>-</a:t>
              </a:r>
              <a:endParaRPr lang="en-US" altLang="zh-CN" sz="2000" b="1" dirty="0">
                <a:solidFill>
                  <a:schemeClr val="bg1"/>
                </a:solidFill>
                <a:latin typeface="隶书" panose="02010509060101010101" pitchFamily="49" charset="-122"/>
                <a:ea typeface="隶书" panose="02010509060101010101" pitchFamily="49" charset="-122"/>
              </a:endParaRPr>
            </a:p>
          </p:txBody>
        </p:sp>
        <p:sp>
          <p:nvSpPr>
            <p:cNvPr id="36913" name="Rectangle 52"/>
            <p:cNvSpPr/>
            <p:nvPr/>
          </p:nvSpPr>
          <p:spPr>
            <a:xfrm>
              <a:off x="1565" y="2440"/>
              <a:ext cx="197" cy="265"/>
            </a:xfrm>
            <a:prstGeom prst="rect">
              <a:avLst/>
            </a:prstGeom>
            <a:noFill/>
            <a:ln w="34925">
              <a:noFill/>
            </a:ln>
          </p:spPr>
          <p:txBody>
            <a:bodyPr wrap="none" anchor="t">
              <a:spAutoFit/>
            </a:bodyPr>
            <a:p>
              <a:pPr eaLnBrk="0" hangingPunct="0"/>
              <a:r>
                <a:rPr lang="en-US" altLang="zh-CN" sz="2000" b="1" dirty="0">
                  <a:solidFill>
                    <a:schemeClr val="bg1"/>
                  </a:solidFill>
                  <a:latin typeface="隶书" panose="02010509060101010101" pitchFamily="49" charset="-122"/>
                  <a:ea typeface="隶书" panose="02010509060101010101" pitchFamily="49" charset="-122"/>
                </a:rPr>
                <a:t>-</a:t>
              </a:r>
              <a:endParaRPr lang="en-US" altLang="zh-CN" sz="2000" b="1" dirty="0">
                <a:solidFill>
                  <a:schemeClr val="bg1"/>
                </a:solidFill>
                <a:latin typeface="隶书" panose="02010509060101010101" pitchFamily="49" charset="-122"/>
                <a:ea typeface="隶书" panose="02010509060101010101" pitchFamily="49" charset="-122"/>
              </a:endParaRPr>
            </a:p>
          </p:txBody>
        </p:sp>
        <p:sp>
          <p:nvSpPr>
            <p:cNvPr id="36914" name="Rectangle 53"/>
            <p:cNvSpPr/>
            <p:nvPr/>
          </p:nvSpPr>
          <p:spPr>
            <a:xfrm>
              <a:off x="1519" y="1888"/>
              <a:ext cx="276" cy="264"/>
            </a:xfrm>
            <a:prstGeom prst="rect">
              <a:avLst/>
            </a:prstGeom>
            <a:noFill/>
            <a:ln w="34925">
              <a:noFill/>
            </a:ln>
          </p:spPr>
          <p:txBody>
            <a:bodyPr wrap="none" anchor="t">
              <a:spAutoFit/>
            </a:bodyPr>
            <a:p>
              <a:pPr eaLnBrk="0" hangingPunct="0"/>
              <a:r>
                <a:rPr lang="zh-CN" altLang="en-US" sz="2000" dirty="0">
                  <a:solidFill>
                    <a:srgbClr val="FFFFFF"/>
                  </a:solidFill>
                  <a:latin typeface="隶书" panose="02010509060101010101" pitchFamily="49" charset="-122"/>
                  <a:ea typeface="隶书" panose="02010509060101010101" pitchFamily="49" charset="-122"/>
                </a:rPr>
                <a:t>＋</a:t>
              </a:r>
              <a:endParaRPr lang="zh-CN" altLang="en-US" sz="2000" dirty="0">
                <a:solidFill>
                  <a:srgbClr val="FFFFFF"/>
                </a:solidFill>
                <a:latin typeface="隶书" panose="02010509060101010101" pitchFamily="49" charset="-122"/>
                <a:ea typeface="隶书" panose="02010509060101010101" pitchFamily="49" charset="-122"/>
              </a:endParaRPr>
            </a:p>
          </p:txBody>
        </p:sp>
        <p:sp>
          <p:nvSpPr>
            <p:cNvPr id="36915" name="Rectangle 54"/>
            <p:cNvSpPr/>
            <p:nvPr/>
          </p:nvSpPr>
          <p:spPr>
            <a:xfrm>
              <a:off x="1066" y="2523"/>
              <a:ext cx="425" cy="306"/>
            </a:xfrm>
            <a:prstGeom prst="rect">
              <a:avLst/>
            </a:prstGeom>
            <a:noFill/>
            <a:ln w="34925">
              <a:noFill/>
            </a:ln>
          </p:spPr>
          <p:txBody>
            <a:bodyPr wrap="none" anchor="t">
              <a:spAutoFit/>
            </a:bodyPr>
            <a:p>
              <a:pPr eaLnBrk="0" hangingPunct="0"/>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BE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916" name="Rectangle 55"/>
            <p:cNvSpPr/>
            <p:nvPr/>
          </p:nvSpPr>
          <p:spPr>
            <a:xfrm>
              <a:off x="1519" y="2115"/>
              <a:ext cx="432" cy="306"/>
            </a:xfrm>
            <a:prstGeom prst="rect">
              <a:avLst/>
            </a:prstGeom>
            <a:noFill/>
            <a:ln w="34925">
              <a:noFill/>
            </a:ln>
          </p:spPr>
          <p:txBody>
            <a:bodyPr wrap="none" anchor="t">
              <a:spAutoFit/>
            </a:bodyPr>
            <a:p>
              <a:pPr eaLnBrk="0" hangingPunct="0"/>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CE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grpSp>
      <p:sp>
        <p:nvSpPr>
          <p:cNvPr id="36917" name="Line 56"/>
          <p:cNvSpPr/>
          <p:nvPr/>
        </p:nvSpPr>
        <p:spPr>
          <a:xfrm flipV="1">
            <a:off x="5638800" y="5638800"/>
            <a:ext cx="2590800" cy="0"/>
          </a:xfrm>
          <a:prstGeom prst="line">
            <a:avLst/>
          </a:prstGeom>
          <a:ln w="31750" cap="flat" cmpd="sng">
            <a:solidFill>
              <a:srgbClr val="C0C0C0"/>
            </a:solidFill>
            <a:prstDash val="solid"/>
            <a:round/>
            <a:headEnd type="none" w="med" len="med"/>
            <a:tailEnd type="stealth" w="med" len="lg"/>
          </a:ln>
        </p:spPr>
      </p:sp>
      <p:sp>
        <p:nvSpPr>
          <p:cNvPr id="36918" name="Line 57"/>
          <p:cNvSpPr/>
          <p:nvPr/>
        </p:nvSpPr>
        <p:spPr>
          <a:xfrm flipV="1">
            <a:off x="5613400" y="2366963"/>
            <a:ext cx="1588" cy="3271837"/>
          </a:xfrm>
          <a:prstGeom prst="line">
            <a:avLst/>
          </a:prstGeom>
          <a:ln w="31750" cap="flat" cmpd="sng">
            <a:solidFill>
              <a:srgbClr val="C0C0C0"/>
            </a:solidFill>
            <a:prstDash val="solid"/>
            <a:round/>
            <a:headEnd type="none" w="med" len="med"/>
            <a:tailEnd type="stealth" w="med" len="lg"/>
          </a:ln>
        </p:spPr>
      </p:sp>
      <p:sp>
        <p:nvSpPr>
          <p:cNvPr id="11322" name="Freeform 58"/>
          <p:cNvSpPr/>
          <p:nvPr/>
        </p:nvSpPr>
        <p:spPr>
          <a:xfrm>
            <a:off x="5614988" y="2655888"/>
            <a:ext cx="1257300" cy="3005137"/>
          </a:xfrm>
          <a:custGeom>
            <a:avLst/>
            <a:gdLst/>
            <a:ahLst/>
            <a:cxnLst>
              <a:cxn ang="0">
                <a:pos x="1257300" y="0"/>
              </a:cxn>
              <a:cxn ang="0">
                <a:pos x="800100" y="2506959"/>
              </a:cxn>
              <a:cxn ang="0">
                <a:pos x="0" y="2989067"/>
              </a:cxn>
            </a:cxnLst>
            <a:pathLst>
              <a:path w="528" h="1496">
                <a:moveTo>
                  <a:pt x="528" y="0"/>
                </a:moveTo>
                <a:cubicBezTo>
                  <a:pt x="476" y="500"/>
                  <a:pt x="424" y="1000"/>
                  <a:pt x="336" y="1248"/>
                </a:cubicBezTo>
                <a:cubicBezTo>
                  <a:pt x="248" y="1496"/>
                  <a:pt x="56" y="1448"/>
                  <a:pt x="0" y="1488"/>
                </a:cubicBezTo>
              </a:path>
            </a:pathLst>
          </a:custGeom>
          <a:noFill/>
          <a:ln w="50800" cap="flat" cmpd="sng">
            <a:solidFill>
              <a:srgbClr val="FFFF66"/>
            </a:solidFill>
            <a:prstDash val="solid"/>
            <a:round/>
            <a:headEnd type="none" w="med" len="med"/>
            <a:tailEnd type="none" w="med" len="med"/>
          </a:ln>
        </p:spPr>
        <p:txBody>
          <a:bodyPr/>
          <a:p>
            <a:endParaRPr lang="zh-CN" altLang="en-US"/>
          </a:p>
        </p:txBody>
      </p:sp>
      <p:sp>
        <p:nvSpPr>
          <p:cNvPr id="36920" name="Rectangle 59"/>
          <p:cNvSpPr/>
          <p:nvPr/>
        </p:nvSpPr>
        <p:spPr>
          <a:xfrm>
            <a:off x="7235825" y="5589588"/>
            <a:ext cx="863600" cy="457200"/>
          </a:xfrm>
          <a:prstGeom prst="rect">
            <a:avLst/>
          </a:prstGeom>
          <a:noFill/>
          <a:ln w="222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BE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6921" name="Text Box 60"/>
          <p:cNvSpPr txBox="1"/>
          <p:nvPr/>
        </p:nvSpPr>
        <p:spPr>
          <a:xfrm>
            <a:off x="7793038" y="5484813"/>
            <a:ext cx="539750" cy="579437"/>
          </a:xfrm>
          <a:prstGeom prst="rect">
            <a:avLst/>
          </a:prstGeom>
          <a:noFill/>
          <a:ln w="34925">
            <a:noFill/>
          </a:ln>
        </p:spPr>
        <p:txBody>
          <a:bodyPr wrap="none" anchor="t">
            <a:spAutoFit/>
          </a:bodyPr>
          <a:p>
            <a:pPr eaLnBrk="0" hangingPunct="0"/>
            <a:r>
              <a:rPr lang="en-US" altLang="zh-CN" sz="3200" dirty="0">
                <a:solidFill>
                  <a:schemeClr val="bg1"/>
                </a:solidFill>
                <a:latin typeface="隶书" panose="02010509060101010101" pitchFamily="49" charset="-122"/>
                <a:ea typeface="隶书" panose="02010509060101010101" pitchFamily="49" charset="-122"/>
              </a:rPr>
              <a:t>/</a:t>
            </a:r>
            <a:r>
              <a:rPr lang="en-US" altLang="zh-CN" sz="2400" dirty="0">
                <a:solidFill>
                  <a:schemeClr val="bg1"/>
                </a:solidFill>
                <a:latin typeface="隶书" panose="02010509060101010101" pitchFamily="49" charset="-122"/>
                <a:ea typeface="隶书" panose="02010509060101010101" pitchFamily="49" charset="-122"/>
              </a:rPr>
              <a:t>V</a:t>
            </a:r>
            <a:endParaRPr lang="en-US" altLang="zh-CN" sz="2400" dirty="0">
              <a:solidFill>
                <a:schemeClr val="bg1"/>
              </a:solidFill>
              <a:latin typeface="隶书" panose="02010509060101010101" pitchFamily="49" charset="-122"/>
              <a:ea typeface="隶书" panose="02010509060101010101" pitchFamily="49" charset="-122"/>
            </a:endParaRPr>
          </a:p>
        </p:txBody>
      </p:sp>
      <p:sp>
        <p:nvSpPr>
          <p:cNvPr id="36922" name="Text Box 61"/>
          <p:cNvSpPr txBox="1"/>
          <p:nvPr/>
        </p:nvSpPr>
        <p:spPr>
          <a:xfrm>
            <a:off x="5580063" y="2205038"/>
            <a:ext cx="1081087" cy="457200"/>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r>
              <a:rPr lang="en-US" altLang="zh-CN" sz="2400" b="1" i="1" dirty="0">
                <a:solidFill>
                  <a:schemeClr val="bg1"/>
                </a:solidFill>
                <a:latin typeface="Times New Roman" panose="02020603050405020304" pitchFamily="18" charset="0"/>
                <a:ea typeface="宋体" panose="02010600030101010101" pitchFamily="2" charset="-122"/>
              </a:rPr>
              <a:t>/</a:t>
            </a:r>
            <a:endParaRPr lang="en-US" altLang="zh-CN" b="1" dirty="0">
              <a:solidFill>
                <a:schemeClr val="bg1"/>
              </a:solidFill>
              <a:latin typeface="Times New Roman" panose="02020603050405020304" pitchFamily="18" charset="0"/>
              <a:ea typeface="宋体" panose="02010600030101010101" pitchFamily="2" charset="-122"/>
            </a:endParaRPr>
          </a:p>
        </p:txBody>
      </p:sp>
      <p:sp>
        <p:nvSpPr>
          <p:cNvPr id="36923" name="Rectangle 62"/>
          <p:cNvSpPr/>
          <p:nvPr/>
        </p:nvSpPr>
        <p:spPr>
          <a:xfrm>
            <a:off x="5940425" y="2278063"/>
            <a:ext cx="514350" cy="396875"/>
          </a:xfrm>
          <a:prstGeom prst="rect">
            <a:avLst/>
          </a:prstGeom>
          <a:noFill/>
          <a:ln w="34925">
            <a:noFill/>
          </a:ln>
        </p:spPr>
        <p:txBody>
          <a:bodyPr wrap="none" anchor="t">
            <a:spAutoFit/>
          </a:bodyPr>
          <a:p>
            <a:pPr eaLnBrk="0" hangingPunct="0"/>
            <a:r>
              <a:rPr lang="en-US" altLang="zh-CN" sz="2000" b="1" dirty="0">
                <a:solidFill>
                  <a:schemeClr val="bg1"/>
                </a:solidFill>
                <a:latin typeface="Times New Roman" panose="02020603050405020304" pitchFamily="18" charset="0"/>
                <a:ea typeface="宋体" panose="02010600030101010101" pitchFamily="2" charset="-122"/>
              </a:rPr>
              <a:t>µA</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36924" name="Text Box 63"/>
          <p:cNvSpPr txBox="1"/>
          <p:nvPr/>
        </p:nvSpPr>
        <p:spPr>
          <a:xfrm>
            <a:off x="5148263" y="5370513"/>
            <a:ext cx="576262" cy="457200"/>
          </a:xfrm>
          <a:prstGeom prst="rect">
            <a:avLst/>
          </a:prstGeom>
          <a:noFill/>
          <a:ln w="34925">
            <a:noFill/>
          </a:ln>
        </p:spPr>
        <p:txBody>
          <a:bodyPr anchor="t">
            <a:spAutoFit/>
          </a:bodyPr>
          <a:p>
            <a:pPr eaLnBrk="0" hangingPunct="0">
              <a:spcBef>
                <a:spcPct val="50000"/>
              </a:spcBef>
            </a:pPr>
            <a:r>
              <a:rPr lang="en-US" altLang="zh-CN" sz="2400" b="1" i="1" dirty="0">
                <a:solidFill>
                  <a:schemeClr val="bg1"/>
                </a:solidFill>
                <a:latin typeface="Times New Roman" panose="02020603050405020304" pitchFamily="18" charset="0"/>
                <a:ea typeface="幼圆" panose="02010509060101010101" pitchFamily="49" charset="-122"/>
              </a:rPr>
              <a:t>O</a:t>
            </a:r>
            <a:endParaRPr lang="en-US" altLang="zh-CN" sz="2400" b="1" i="1" dirty="0">
              <a:solidFill>
                <a:schemeClr val="bg1"/>
              </a:solidFill>
              <a:latin typeface="Times New Roman" panose="02020603050405020304" pitchFamily="18" charset="0"/>
              <a:ea typeface="幼圆"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box(in)">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wd">
                                    <p:tmPct val="100000"/>
                                  </p:iterate>
                                  <p:childTnLst>
                                    <p:set>
                                      <p:cBhvr>
                                        <p:cTn id="11" dur="1" fill="hold">
                                          <p:stCondLst>
                                            <p:cond delay="0"/>
                                          </p:stCondLst>
                                        </p:cTn>
                                        <p:tgtEl>
                                          <p:spTgt spid="11268"/>
                                        </p:tgtEl>
                                        <p:attrNameLst>
                                          <p:attrName>style.visibility</p:attrName>
                                        </p:attrNameLst>
                                      </p:cBhvr>
                                      <p:to>
                                        <p:strVal val="visible"/>
                                      </p:to>
                                    </p:set>
                                    <p:animEffect transition="in" filter="wipe(up)">
                                      <p:cBhvr>
                                        <p:cTn id="12" dur="300"/>
                                        <p:tgtEl>
                                          <p:spTgt spid="11268"/>
                                        </p:tgtEl>
                                      </p:cBhvr>
                                    </p:animEffect>
                                  </p:childTnLst>
                                </p:cTn>
                              </p:par>
                            </p:childTnLst>
                          </p:cTn>
                        </p:par>
                        <p:par>
                          <p:cTn id="13" fill="hold">
                            <p:stCondLst>
                              <p:cond delay="4500"/>
                            </p:stCondLst>
                            <p:childTnLst>
                              <p:par>
                                <p:cTn id="14" presetID="1" presetClass="entr" presetSubtype="0" fill="hold" nodeType="afterEffect">
                                  <p:stCondLst>
                                    <p:cond delay="0"/>
                                  </p:stCondLst>
                                  <p:childTnLst>
                                    <p:set>
                                      <p:cBhvr>
                                        <p:cTn id="15" dur="1" fill="hold">
                                          <p:stCondLst>
                                            <p:cond delay="499"/>
                                          </p:stCondLst>
                                        </p:cTn>
                                        <p:tgtEl>
                                          <p:spTgt spid="11270"/>
                                        </p:tgtEl>
                                        <p:attrNameLst>
                                          <p:attrName>style.visibility</p:attrName>
                                        </p:attrNameLst>
                                      </p:cBhvr>
                                      <p:to>
                                        <p:strVal val="visible"/>
                                      </p:to>
                                    </p:set>
                                  </p:childTnLst>
                                </p:cTn>
                              </p:par>
                            </p:childTnLst>
                          </p:cTn>
                        </p:par>
                        <p:par>
                          <p:cTn id="16" fill="hold">
                            <p:stCondLst>
                              <p:cond delay="5000"/>
                            </p:stCondLst>
                            <p:childTnLst>
                              <p:par>
                                <p:cTn id="17" presetID="15" presetClass="entr" presetSubtype="0" fill="hold" grpId="0" nodeType="afterEffect">
                                  <p:stCondLst>
                                    <p:cond delay="0"/>
                                  </p:stCondLst>
                                  <p:childTnLst>
                                    <p:set>
                                      <p:cBhvr>
                                        <p:cTn id="18" dur="1" fill="hold">
                                          <p:stCondLst>
                                            <p:cond delay="0"/>
                                          </p:stCondLst>
                                        </p:cTn>
                                        <p:tgtEl>
                                          <p:spTgt spid="11269"/>
                                        </p:tgtEl>
                                        <p:attrNameLst>
                                          <p:attrName>style.visibility</p:attrName>
                                        </p:attrNameLst>
                                      </p:cBhvr>
                                      <p:to>
                                        <p:strVal val="visible"/>
                                      </p:to>
                                    </p:set>
                                    <p:anim calcmode="lin" valueType="num">
                                      <p:cBhvr>
                                        <p:cTn id="19" dur="1000" fill="hold"/>
                                        <p:tgtEl>
                                          <p:spTgt spid="11269"/>
                                        </p:tgtEl>
                                        <p:attrNameLst>
                                          <p:attrName>ppt_w</p:attrName>
                                        </p:attrNameLst>
                                      </p:cBhvr>
                                      <p:tavLst>
                                        <p:tav tm="0">
                                          <p:val>
                                            <p:fltVal val="0.000000"/>
                                          </p:val>
                                        </p:tav>
                                        <p:tav tm="100000">
                                          <p:val>
                                            <p:strVal val="#ppt_w"/>
                                          </p:val>
                                        </p:tav>
                                      </p:tavLst>
                                    </p:anim>
                                    <p:anim calcmode="lin" valueType="num">
                                      <p:cBhvr>
                                        <p:cTn id="20" dur="1000" fill="hold"/>
                                        <p:tgtEl>
                                          <p:spTgt spid="11269"/>
                                        </p:tgtEl>
                                        <p:attrNameLst>
                                          <p:attrName>ppt_h</p:attrName>
                                        </p:attrNameLst>
                                      </p:cBhvr>
                                      <p:tavLst>
                                        <p:tav tm="0">
                                          <p:val>
                                            <p:fltVal val="0.000000"/>
                                          </p:val>
                                        </p:tav>
                                        <p:tav tm="100000">
                                          <p:val>
                                            <p:strVal val="#ppt_h"/>
                                          </p:val>
                                        </p:tav>
                                      </p:tavLst>
                                    </p:anim>
                                    <p:anim calcmode="lin" valueType="num">
                                      <p:cBhvr>
                                        <p:cTn id="21" dur="1000" fill="hold"/>
                                        <p:tgtEl>
                                          <p:spTgt spid="11269"/>
                                        </p:tgtEl>
                                        <p:attrNameLst>
                                          <p:attrName>ppt_x</p:attrName>
                                        </p:attrNameLst>
                                      </p:cBhvr>
                                      <p:tavLst>
                                        <p:tav tm="0" fmla="#ppt_x+(cos(-2*pi*(1-$))*-#ppt_x-sin(-2*pi*(1-$))*(1-#ppt_y))*(1-$)">
                                          <p:val>
                                            <p:fltVal val="0.000000"/>
                                          </p:val>
                                        </p:tav>
                                        <p:tav tm="100000">
                                          <p:val>
                                            <p:fltVal val="1.000000"/>
                                          </p:val>
                                        </p:tav>
                                      </p:tavLst>
                                    </p:anim>
                                    <p:anim calcmode="lin" valueType="num">
                                      <p:cBhvr>
                                        <p:cTn id="22" dur="1000" fill="hold"/>
                                        <p:tgtEl>
                                          <p:spTgt spid="1126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322"/>
                                        </p:tgtEl>
                                        <p:attrNameLst>
                                          <p:attrName>style.visibility</p:attrName>
                                        </p:attrNameLst>
                                      </p:cBhvr>
                                      <p:to>
                                        <p:strVal val="visible"/>
                                      </p:to>
                                    </p:set>
                                    <p:animEffect transition="in" filter="wipe(down)">
                                      <p:cBhvr>
                                        <p:cTn id="27" dur="500"/>
                                        <p:tgtEl>
                                          <p:spTgt spid="11322"/>
                                        </p:tgtEl>
                                      </p:cBhvr>
                                    </p:animEffect>
                                  </p:childTnLst>
                                </p:cTn>
                              </p:par>
                            </p:childTnLst>
                          </p:cTn>
                        </p:par>
                        <p:par>
                          <p:cTn id="28" fill="hold">
                            <p:stCondLst>
                              <p:cond delay="500"/>
                            </p:stCondLst>
                            <p:childTnLst>
                              <p:par>
                                <p:cTn id="29" presetID="4" presetClass="entr" presetSubtype="16" fill="hold" grpId="0" nodeType="afterEffect">
                                  <p:stCondLst>
                                    <p:cond delay="2000"/>
                                  </p:stCondLst>
                                  <p:childTnLst>
                                    <p:set>
                                      <p:cBhvr>
                                        <p:cTn id="30" dur="1" fill="hold">
                                          <p:stCondLst>
                                            <p:cond delay="0"/>
                                          </p:stCondLst>
                                        </p:cTn>
                                        <p:tgtEl>
                                          <p:spTgt spid="11271"/>
                                        </p:tgtEl>
                                        <p:attrNameLst>
                                          <p:attrName>style.visibility</p:attrName>
                                        </p:attrNameLst>
                                      </p:cBhvr>
                                      <p:to>
                                        <p:strVal val="visible"/>
                                      </p:to>
                                    </p:set>
                                    <p:animEffect transition="in" filter="box(in)">
                                      <p:cBhvr>
                                        <p:cTn id="31" dur="500"/>
                                        <p:tgtEl>
                                          <p:spTgt spid="11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8" grpId="0"/>
      <p:bldP spid="11269" grpId="0"/>
      <p:bldP spid="1127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290" name="Group 2"/>
          <p:cNvGrpSpPr/>
          <p:nvPr/>
        </p:nvGrpSpPr>
        <p:grpSpPr>
          <a:xfrm>
            <a:off x="4643438" y="1812925"/>
            <a:ext cx="3973512" cy="4038600"/>
            <a:chOff x="2925" y="1142"/>
            <a:chExt cx="2401" cy="2544"/>
          </a:xfrm>
        </p:grpSpPr>
        <p:pic>
          <p:nvPicPr>
            <p:cNvPr id="37890" name="Picture 3"/>
            <p:cNvPicPr>
              <a:picLocks noChangeAspect="1"/>
            </p:cNvPicPr>
            <p:nvPr/>
          </p:nvPicPr>
          <p:blipFill>
            <a:blip r:embed="rId1"/>
            <a:stretch>
              <a:fillRect/>
            </a:stretch>
          </p:blipFill>
          <p:spPr>
            <a:xfrm>
              <a:off x="3181" y="1142"/>
              <a:ext cx="2145" cy="2544"/>
            </a:xfrm>
            <a:prstGeom prst="rect">
              <a:avLst/>
            </a:prstGeom>
            <a:noFill/>
            <a:ln w="9525">
              <a:noFill/>
            </a:ln>
          </p:spPr>
        </p:pic>
        <p:sp>
          <p:nvSpPr>
            <p:cNvPr id="37891" name="Text Box 4"/>
            <p:cNvSpPr txBox="1"/>
            <p:nvPr/>
          </p:nvSpPr>
          <p:spPr>
            <a:xfrm>
              <a:off x="2925" y="3428"/>
              <a:ext cx="273" cy="250"/>
            </a:xfrm>
            <a:prstGeom prst="rect">
              <a:avLst/>
            </a:prstGeom>
            <a:noFill/>
            <a:ln w="34925">
              <a:noFill/>
            </a:ln>
          </p:spPr>
          <p:txBody>
            <a:bodyPr anchor="t">
              <a:spAutoFit/>
            </a:bodyPr>
            <a:p>
              <a:pPr eaLnBrk="0" hangingPunct="0">
                <a:spcBef>
                  <a:spcPct val="50000"/>
                </a:spcBef>
              </a:pPr>
              <a:r>
                <a:rPr lang="en-US" altLang="zh-CN" sz="2000" b="1" i="1" dirty="0">
                  <a:solidFill>
                    <a:srgbClr val="FFFF99"/>
                  </a:solidFill>
                  <a:latin typeface="Times New Roman" panose="02020603050405020304" pitchFamily="18" charset="0"/>
                  <a:ea typeface="幼圆" panose="02010509060101010101" pitchFamily="49" charset="-122"/>
                </a:rPr>
                <a:t>O</a:t>
              </a:r>
              <a:endParaRPr lang="en-US" altLang="zh-CN" sz="2000" b="1" i="1" dirty="0">
                <a:solidFill>
                  <a:srgbClr val="FFFF99"/>
                </a:solidFill>
                <a:latin typeface="Times New Roman" panose="02020603050405020304" pitchFamily="18" charset="0"/>
                <a:ea typeface="幼圆" panose="02010509060101010101" pitchFamily="49" charset="-122"/>
              </a:endParaRPr>
            </a:p>
          </p:txBody>
        </p:sp>
      </p:grpSp>
      <p:sp>
        <p:nvSpPr>
          <p:cNvPr id="12293" name="Text Box 5"/>
          <p:cNvSpPr txBox="1">
            <a:spLocks noChangeArrowheads="1"/>
          </p:cNvSpPr>
          <p:nvPr/>
        </p:nvSpPr>
        <p:spPr bwMode="auto">
          <a:xfrm>
            <a:off x="1619250" y="476250"/>
            <a:ext cx="5257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en-US" altLang="zh-CN" sz="3200" b="1" dirty="0">
                <a:solidFill>
                  <a:srgbClr val="FFFF99"/>
                </a:solidFill>
                <a:effectLst>
                  <a:outerShdw blurRad="38100" dist="38100" dir="2700000">
                    <a:srgbClr val="C0C0C0"/>
                  </a:outerShdw>
                </a:effectLst>
                <a:latin typeface="幼圆" panose="02010509060101010101" pitchFamily="49" charset="-122"/>
                <a:ea typeface="幼圆" panose="02010509060101010101" pitchFamily="49" charset="-122"/>
              </a:rPr>
              <a:t>2.</a:t>
            </a:r>
            <a:r>
              <a:rPr lang="zh-CN" altLang="en-US" sz="3200" b="1" dirty="0">
                <a:solidFill>
                  <a:srgbClr val="FFFF99"/>
                </a:solidFill>
                <a:effectLst>
                  <a:outerShdw blurRad="38100" dist="38100" dir="2700000">
                    <a:srgbClr val="C0C0C0"/>
                  </a:outerShdw>
                </a:effectLst>
                <a:latin typeface="幼圆" panose="02010509060101010101" pitchFamily="49" charset="-122"/>
                <a:ea typeface="幼圆" panose="02010509060101010101" pitchFamily="49" charset="-122"/>
              </a:rPr>
              <a:t>晶体管输出特性曲线</a:t>
            </a:r>
            <a:endParaRPr lang="zh-CN" altLang="en-US" sz="3200" b="1" dirty="0">
              <a:solidFill>
                <a:srgbClr val="FFFF99"/>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12294" name="Rectangle 6"/>
          <p:cNvSpPr/>
          <p:nvPr/>
        </p:nvSpPr>
        <p:spPr>
          <a:xfrm>
            <a:off x="2051050" y="1196975"/>
            <a:ext cx="3810000" cy="519113"/>
          </a:xfrm>
          <a:prstGeom prst="rect">
            <a:avLst/>
          </a:prstGeom>
          <a:noFill/>
          <a:ln w="9525">
            <a:noFill/>
          </a:ln>
        </p:spPr>
        <p:txBody>
          <a:bodyPr anchor="t">
            <a:spAutoFit/>
          </a:bodyPr>
          <a:p>
            <a:r>
              <a:rPr lang="en-US" altLang="zh-CN" sz="2800" b="1" i="1" dirty="0">
                <a:solidFill>
                  <a:schemeClr val="bg1"/>
                </a:solidFill>
                <a:latin typeface="Times New Roman" panose="02020603050405020304" pitchFamily="18" charset="0"/>
                <a:ea typeface="宋体" panose="02010600030101010101" pitchFamily="2" charset="-122"/>
              </a:rPr>
              <a:t>I</a:t>
            </a:r>
            <a:r>
              <a:rPr lang="en-US" altLang="zh-CN" sz="2800" b="1" baseline="-25000" dirty="0">
                <a:solidFill>
                  <a:schemeClr val="bg1"/>
                </a:solidFill>
                <a:latin typeface="Times New Roman" panose="02020603050405020304" pitchFamily="18" charset="0"/>
                <a:ea typeface="宋体" panose="02010600030101010101" pitchFamily="2" charset="-122"/>
              </a:rPr>
              <a:t>C</a:t>
            </a:r>
            <a:r>
              <a:rPr lang="en-US" altLang="zh-CN" sz="2800" b="1" i="1" dirty="0">
                <a:solidFill>
                  <a:schemeClr val="bg1"/>
                </a:solidFill>
                <a:latin typeface="Times New Roman" panose="02020603050405020304" pitchFamily="18" charset="0"/>
                <a:ea typeface="宋体" panose="02010600030101010101" pitchFamily="2" charset="-122"/>
              </a:rPr>
              <a:t> </a:t>
            </a:r>
            <a:r>
              <a:rPr lang="en-US" altLang="zh-CN" b="1" dirty="0">
                <a:solidFill>
                  <a:schemeClr val="bg1"/>
                </a:solidFill>
                <a:latin typeface="Times New Roman" panose="02020603050405020304" pitchFamily="18" charset="0"/>
                <a:ea typeface="宋体" panose="02010600030101010101" pitchFamily="2" charset="-122"/>
              </a:rPr>
              <a:t> </a:t>
            </a:r>
            <a:r>
              <a:rPr lang="en-US" altLang="zh-CN" sz="2400" b="1" dirty="0">
                <a:solidFill>
                  <a:schemeClr val="bg1"/>
                </a:solidFill>
                <a:latin typeface="Times New Roman" panose="02020603050405020304" pitchFamily="18" charset="0"/>
                <a:ea typeface="宋体" panose="02010600030101010101" pitchFamily="2" charset="-122"/>
              </a:rPr>
              <a:t> =  </a:t>
            </a:r>
            <a:r>
              <a:rPr lang="en-US" altLang="zh-CN" sz="2800" b="1" i="1" dirty="0">
                <a:solidFill>
                  <a:schemeClr val="bg1"/>
                </a:solidFill>
                <a:latin typeface="Times New Roman" panose="02020603050405020304" pitchFamily="18" charset="0"/>
                <a:ea typeface="宋体" panose="02010600030101010101" pitchFamily="2" charset="-122"/>
              </a:rPr>
              <a:t>f</a:t>
            </a:r>
            <a:r>
              <a:rPr lang="en-US" altLang="zh-CN" sz="2800" b="1" dirty="0">
                <a:solidFill>
                  <a:schemeClr val="bg1"/>
                </a:solidFill>
                <a:latin typeface="Times New Roman" panose="02020603050405020304" pitchFamily="18" charset="0"/>
                <a:ea typeface="宋体" panose="02010600030101010101" pitchFamily="2" charset="-122"/>
              </a:rPr>
              <a:t> </a:t>
            </a:r>
            <a:r>
              <a:rPr lang="en-US" altLang="zh-CN" sz="2400" b="1" dirty="0">
                <a:solidFill>
                  <a:schemeClr val="bg1"/>
                </a:solidFill>
                <a:latin typeface="Times New Roman" panose="02020603050405020304" pitchFamily="18" charset="0"/>
                <a:ea typeface="宋体" panose="02010600030101010101" pitchFamily="2" charset="-122"/>
              </a:rPr>
              <a:t> (</a:t>
            </a:r>
            <a:r>
              <a:rPr lang="en-US" altLang="zh-CN" sz="2800" b="1" i="1" dirty="0">
                <a:solidFill>
                  <a:schemeClr val="bg1"/>
                </a:solidFill>
                <a:latin typeface="Times New Roman" panose="02020603050405020304" pitchFamily="18" charset="0"/>
                <a:ea typeface="宋体" panose="02010600030101010101" pitchFamily="2" charset="-122"/>
              </a:rPr>
              <a:t>U</a:t>
            </a:r>
            <a:r>
              <a:rPr lang="en-US" altLang="zh-CN" sz="2800" b="1" baseline="-25000" dirty="0">
                <a:solidFill>
                  <a:schemeClr val="bg1"/>
                </a:solidFill>
                <a:latin typeface="Times New Roman" panose="02020603050405020304" pitchFamily="18" charset="0"/>
                <a:ea typeface="宋体" panose="02010600030101010101" pitchFamily="2" charset="-122"/>
              </a:rPr>
              <a:t>CE</a:t>
            </a:r>
            <a:r>
              <a:rPr lang="en-US" altLang="zh-CN" sz="2400" b="1" dirty="0">
                <a:solidFill>
                  <a:schemeClr val="bg1"/>
                </a:solidFill>
                <a:latin typeface="Times New Roman" panose="02020603050405020304" pitchFamily="18" charset="0"/>
                <a:ea typeface="宋体" panose="02010600030101010101" pitchFamily="2" charset="-122"/>
              </a:rPr>
              <a:t> )  | </a:t>
            </a: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r>
              <a:rPr lang="en-US" altLang="zh-CN" sz="2400" b="1" dirty="0">
                <a:solidFill>
                  <a:schemeClr val="bg1"/>
                </a:solidFill>
                <a:latin typeface="Times New Roman" panose="02020603050405020304" pitchFamily="18" charset="0"/>
                <a:ea typeface="宋体" panose="02010600030101010101" pitchFamily="2" charset="-122"/>
              </a:rPr>
              <a:t> =</a:t>
            </a:r>
            <a:r>
              <a:rPr lang="en-US" altLang="zh-CN" sz="2000" b="1" dirty="0">
                <a:solidFill>
                  <a:schemeClr val="bg1"/>
                </a:solidFill>
                <a:latin typeface="Times New Roman" panose="02020603050405020304" pitchFamily="18" charset="0"/>
                <a:ea typeface="宋体" panose="02010600030101010101" pitchFamily="2" charset="-122"/>
              </a:rPr>
              <a:t>  </a:t>
            </a:r>
            <a:r>
              <a:rPr lang="zh-CN" altLang="en-US" b="1" dirty="0">
                <a:solidFill>
                  <a:schemeClr val="bg1"/>
                </a:solidFill>
                <a:latin typeface="Times New Roman" panose="02020603050405020304" pitchFamily="18" charset="0"/>
                <a:ea typeface="幼圆" panose="02010509060101010101" pitchFamily="49" charset="-122"/>
              </a:rPr>
              <a:t>常数</a:t>
            </a:r>
            <a:endParaRPr lang="zh-CN" altLang="en-US" sz="2400" b="1" dirty="0">
              <a:solidFill>
                <a:schemeClr val="bg1"/>
              </a:solidFill>
              <a:latin typeface="Times New Roman" panose="02020603050405020304" pitchFamily="18" charset="0"/>
              <a:ea typeface="幼圆" panose="02010509060101010101" pitchFamily="49" charset="-122"/>
            </a:endParaRPr>
          </a:p>
        </p:txBody>
      </p:sp>
      <p:pic>
        <p:nvPicPr>
          <p:cNvPr id="12295" name="Picture 7"/>
          <p:cNvPicPr>
            <a:picLocks noChangeAspect="1"/>
          </p:cNvPicPr>
          <p:nvPr/>
        </p:nvPicPr>
        <p:blipFill>
          <a:blip r:embed="rId2"/>
          <a:stretch>
            <a:fillRect/>
          </a:stretch>
        </p:blipFill>
        <p:spPr>
          <a:xfrm>
            <a:off x="5278438" y="3413125"/>
            <a:ext cx="1789112" cy="276225"/>
          </a:xfrm>
          <a:prstGeom prst="rect">
            <a:avLst/>
          </a:prstGeom>
          <a:noFill/>
          <a:ln w="9525">
            <a:noFill/>
          </a:ln>
        </p:spPr>
      </p:pic>
      <p:pic>
        <p:nvPicPr>
          <p:cNvPr id="12296" name="Picture 8"/>
          <p:cNvPicPr>
            <a:picLocks noChangeAspect="1"/>
          </p:cNvPicPr>
          <p:nvPr/>
        </p:nvPicPr>
        <p:blipFill>
          <a:blip r:embed="rId3"/>
          <a:stretch>
            <a:fillRect/>
          </a:stretch>
        </p:blipFill>
        <p:spPr>
          <a:xfrm>
            <a:off x="6954838" y="3311525"/>
            <a:ext cx="1219200" cy="358775"/>
          </a:xfrm>
          <a:prstGeom prst="rect">
            <a:avLst/>
          </a:prstGeom>
          <a:noFill/>
          <a:ln w="9525">
            <a:noFill/>
          </a:ln>
        </p:spPr>
      </p:pic>
      <p:pic>
        <p:nvPicPr>
          <p:cNvPr id="12297" name="Picture 9"/>
          <p:cNvPicPr>
            <a:picLocks noChangeAspect="1"/>
          </p:cNvPicPr>
          <p:nvPr/>
        </p:nvPicPr>
        <p:blipFill>
          <a:blip r:embed="rId4"/>
          <a:stretch>
            <a:fillRect/>
          </a:stretch>
        </p:blipFill>
        <p:spPr>
          <a:xfrm>
            <a:off x="5295900" y="2462213"/>
            <a:ext cx="304800" cy="1295400"/>
          </a:xfrm>
          <a:prstGeom prst="rect">
            <a:avLst/>
          </a:prstGeom>
          <a:noFill/>
          <a:ln w="9525">
            <a:noFill/>
          </a:ln>
        </p:spPr>
      </p:pic>
      <p:pic>
        <p:nvPicPr>
          <p:cNvPr id="12298" name="Picture 10"/>
          <p:cNvPicPr>
            <a:picLocks noChangeAspect="1"/>
          </p:cNvPicPr>
          <p:nvPr/>
        </p:nvPicPr>
        <p:blipFill>
          <a:blip r:embed="rId5"/>
          <a:stretch>
            <a:fillRect/>
          </a:stretch>
        </p:blipFill>
        <p:spPr>
          <a:xfrm>
            <a:off x="5199063" y="4556125"/>
            <a:ext cx="2828925" cy="238125"/>
          </a:xfrm>
          <a:prstGeom prst="rect">
            <a:avLst/>
          </a:prstGeom>
          <a:noFill/>
          <a:ln w="9525">
            <a:noFill/>
          </a:ln>
        </p:spPr>
      </p:pic>
      <p:pic>
        <p:nvPicPr>
          <p:cNvPr id="12299" name="Picture 11"/>
          <p:cNvPicPr>
            <a:picLocks noChangeAspect="1"/>
          </p:cNvPicPr>
          <p:nvPr/>
        </p:nvPicPr>
        <p:blipFill>
          <a:blip r:embed="rId6"/>
          <a:stretch>
            <a:fillRect/>
          </a:stretch>
        </p:blipFill>
        <p:spPr>
          <a:xfrm>
            <a:off x="5508625" y="2270125"/>
            <a:ext cx="2579688" cy="430213"/>
          </a:xfrm>
          <a:prstGeom prst="rect">
            <a:avLst/>
          </a:prstGeom>
          <a:noFill/>
          <a:ln w="9525">
            <a:noFill/>
          </a:ln>
        </p:spPr>
      </p:pic>
      <p:sp>
        <p:nvSpPr>
          <p:cNvPr id="12300" name="Rectangle 12"/>
          <p:cNvSpPr/>
          <p:nvPr/>
        </p:nvSpPr>
        <p:spPr>
          <a:xfrm>
            <a:off x="6421438" y="3870325"/>
            <a:ext cx="966787" cy="396875"/>
          </a:xfrm>
          <a:prstGeom prst="rect">
            <a:avLst/>
          </a:prstGeom>
          <a:noFill/>
          <a:ln w="9525">
            <a:noFill/>
          </a:ln>
        </p:spPr>
        <p:txBody>
          <a:bodyPr wrap="none" anchor="t">
            <a:spAutoFit/>
          </a:bodyPr>
          <a:p>
            <a:r>
              <a:rPr lang="en-US" altLang="zh-CN" sz="2000" b="1" i="1" dirty="0">
                <a:solidFill>
                  <a:schemeClr val="bg1"/>
                </a:solidFill>
                <a:latin typeface="Times New Roman" panose="02020603050405020304" pitchFamily="18" charset="0"/>
                <a:ea typeface="宋体" panose="02010600030101010101" pitchFamily="2" charset="-122"/>
              </a:rPr>
              <a:t>I</a:t>
            </a:r>
            <a:r>
              <a:rPr lang="en-US" altLang="zh-CN" sz="2000" b="1" baseline="-25000" dirty="0">
                <a:solidFill>
                  <a:schemeClr val="bg1"/>
                </a:solidFill>
                <a:latin typeface="Times New Roman" panose="02020603050405020304" pitchFamily="18" charset="0"/>
                <a:ea typeface="宋体" panose="02010600030101010101" pitchFamily="2" charset="-122"/>
              </a:rPr>
              <a:t>B</a:t>
            </a:r>
            <a:r>
              <a:rPr lang="en-US" altLang="zh-CN" sz="2000" b="1" i="1" dirty="0">
                <a:solidFill>
                  <a:schemeClr val="bg1"/>
                </a:solidFill>
                <a:latin typeface="Times New Roman" panose="02020603050405020304" pitchFamily="18" charset="0"/>
                <a:ea typeface="方正琥珀繁体" pitchFamily="2" charset="-122"/>
              </a:rPr>
              <a:t> </a:t>
            </a:r>
            <a:r>
              <a:rPr lang="zh-CN" altLang="en-US" sz="2000" b="1" dirty="0">
                <a:solidFill>
                  <a:schemeClr val="bg1"/>
                </a:solidFill>
                <a:latin typeface="Times New Roman" panose="02020603050405020304" pitchFamily="18" charset="0"/>
                <a:ea typeface="宋体" panose="02010600030101010101" pitchFamily="2" charset="-122"/>
              </a:rPr>
              <a:t>减小</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301" name="Rectangle 13"/>
          <p:cNvSpPr/>
          <p:nvPr/>
        </p:nvSpPr>
        <p:spPr>
          <a:xfrm>
            <a:off x="6421438" y="2635250"/>
            <a:ext cx="903287" cy="396875"/>
          </a:xfrm>
          <a:prstGeom prst="rect">
            <a:avLst/>
          </a:prstGeom>
          <a:noFill/>
          <a:ln w="9525">
            <a:noFill/>
          </a:ln>
        </p:spPr>
        <p:txBody>
          <a:bodyPr wrap="none" anchor="t">
            <a:spAutoFit/>
          </a:bodyPr>
          <a:p>
            <a:r>
              <a:rPr lang="en-US" altLang="zh-CN" sz="2000" b="1" i="1" dirty="0">
                <a:solidFill>
                  <a:schemeClr val="bg1"/>
                </a:solidFill>
                <a:latin typeface="Times New Roman" panose="02020603050405020304" pitchFamily="18" charset="0"/>
                <a:ea typeface="宋体" panose="02010600030101010101" pitchFamily="2" charset="-122"/>
              </a:rPr>
              <a:t>I</a:t>
            </a:r>
            <a:r>
              <a:rPr lang="en-US" altLang="zh-CN" sz="2000" b="1" baseline="-25000" dirty="0">
                <a:solidFill>
                  <a:schemeClr val="bg1"/>
                </a:solidFill>
                <a:latin typeface="Times New Roman" panose="02020603050405020304" pitchFamily="18" charset="0"/>
                <a:ea typeface="宋体" panose="02010600030101010101" pitchFamily="2" charset="-122"/>
              </a:rPr>
              <a:t>B</a:t>
            </a:r>
            <a:r>
              <a:rPr lang="zh-CN" altLang="en-US" sz="2000" b="1" dirty="0">
                <a:solidFill>
                  <a:schemeClr val="bg1"/>
                </a:solidFill>
                <a:latin typeface="Times New Roman" panose="02020603050405020304" pitchFamily="18" charset="0"/>
                <a:ea typeface="宋体" panose="02010600030101010101" pitchFamily="2" charset="-122"/>
              </a:rPr>
              <a:t>增加</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302" name="Rectangle 14"/>
          <p:cNvSpPr/>
          <p:nvPr/>
        </p:nvSpPr>
        <p:spPr>
          <a:xfrm>
            <a:off x="8034338" y="5699125"/>
            <a:ext cx="596900" cy="396875"/>
          </a:xfrm>
          <a:prstGeom prst="rect">
            <a:avLst/>
          </a:prstGeom>
          <a:noFill/>
          <a:ln w="9525">
            <a:noFill/>
          </a:ln>
        </p:spPr>
        <p:txBody>
          <a:bodyPr wrap="none" anchor="t">
            <a:spAutoFit/>
          </a:bodyPr>
          <a:p>
            <a:r>
              <a:rPr lang="en-US" altLang="zh-CN" sz="2000" b="1" i="1" dirty="0">
                <a:solidFill>
                  <a:srgbClr val="FFFF99"/>
                </a:solidFill>
                <a:latin typeface="Times New Roman" panose="02020603050405020304" pitchFamily="18" charset="0"/>
                <a:ea typeface="宋体" panose="02010600030101010101" pitchFamily="2" charset="-122"/>
              </a:rPr>
              <a:t>U</a:t>
            </a:r>
            <a:r>
              <a:rPr lang="en-US" altLang="zh-CN" sz="2000" b="1" baseline="-25000" dirty="0">
                <a:solidFill>
                  <a:srgbClr val="FFFF99"/>
                </a:solidFill>
                <a:latin typeface="Times New Roman" panose="02020603050405020304" pitchFamily="18" charset="0"/>
                <a:ea typeface="宋体" panose="02010600030101010101" pitchFamily="2" charset="-122"/>
              </a:rPr>
              <a:t>CE</a:t>
            </a:r>
            <a:endParaRPr lang="en-US" altLang="zh-CN" sz="2000" b="1" baseline="-25000" dirty="0">
              <a:solidFill>
                <a:srgbClr val="FFFF99"/>
              </a:solidFill>
              <a:latin typeface="Times New Roman" panose="02020603050405020304" pitchFamily="18" charset="0"/>
              <a:ea typeface="宋体" panose="02010600030101010101" pitchFamily="2" charset="-122"/>
            </a:endParaRPr>
          </a:p>
        </p:txBody>
      </p:sp>
      <p:sp>
        <p:nvSpPr>
          <p:cNvPr id="12303" name="Rectangle 15"/>
          <p:cNvSpPr/>
          <p:nvPr/>
        </p:nvSpPr>
        <p:spPr>
          <a:xfrm>
            <a:off x="4648200" y="1736725"/>
            <a:ext cx="401638" cy="396875"/>
          </a:xfrm>
          <a:prstGeom prst="rect">
            <a:avLst/>
          </a:prstGeom>
          <a:noFill/>
          <a:ln w="9525">
            <a:noFill/>
          </a:ln>
        </p:spPr>
        <p:txBody>
          <a:bodyPr wrap="none" anchor="t">
            <a:spAutoFit/>
          </a:bodyPr>
          <a:p>
            <a:r>
              <a:rPr lang="en-US" altLang="zh-CN" sz="2000" b="1" i="1" dirty="0">
                <a:solidFill>
                  <a:srgbClr val="FFFF99"/>
                </a:solidFill>
                <a:latin typeface="Times New Roman" panose="02020603050405020304" pitchFamily="18" charset="0"/>
                <a:ea typeface="宋体" panose="02010600030101010101" pitchFamily="2" charset="-122"/>
              </a:rPr>
              <a:t>I</a:t>
            </a:r>
            <a:r>
              <a:rPr lang="en-US" altLang="zh-CN" sz="2000" b="1" baseline="-25000" dirty="0">
                <a:solidFill>
                  <a:srgbClr val="FFFF99"/>
                </a:solidFill>
                <a:latin typeface="Times New Roman" panose="02020603050405020304" pitchFamily="18" charset="0"/>
                <a:ea typeface="宋体" panose="02010600030101010101" pitchFamily="2" charset="-122"/>
              </a:rPr>
              <a:t>C</a:t>
            </a:r>
            <a:endParaRPr lang="en-US" altLang="zh-CN" sz="2000" b="1" baseline="-25000" dirty="0">
              <a:solidFill>
                <a:srgbClr val="FFFF99"/>
              </a:solidFill>
              <a:latin typeface="Times New Roman" panose="02020603050405020304" pitchFamily="18" charset="0"/>
              <a:ea typeface="宋体" panose="02010600030101010101" pitchFamily="2" charset="-122"/>
            </a:endParaRPr>
          </a:p>
        </p:txBody>
      </p:sp>
      <p:sp>
        <p:nvSpPr>
          <p:cNvPr id="12304" name="Line 16"/>
          <p:cNvSpPr/>
          <p:nvPr/>
        </p:nvSpPr>
        <p:spPr>
          <a:xfrm flipV="1">
            <a:off x="7335838" y="2574925"/>
            <a:ext cx="0" cy="685800"/>
          </a:xfrm>
          <a:prstGeom prst="line">
            <a:avLst/>
          </a:prstGeom>
          <a:ln w="38100" cap="flat" cmpd="sng">
            <a:solidFill>
              <a:srgbClr val="FFFF99"/>
            </a:solidFill>
            <a:prstDash val="solid"/>
            <a:round/>
            <a:headEnd type="none" w="med" len="med"/>
            <a:tailEnd type="stealth" w="med" len="lg"/>
          </a:ln>
        </p:spPr>
      </p:sp>
      <p:sp>
        <p:nvSpPr>
          <p:cNvPr id="12305" name="Line 17"/>
          <p:cNvSpPr/>
          <p:nvPr/>
        </p:nvSpPr>
        <p:spPr>
          <a:xfrm>
            <a:off x="7335838" y="3870325"/>
            <a:ext cx="0" cy="609600"/>
          </a:xfrm>
          <a:prstGeom prst="line">
            <a:avLst/>
          </a:prstGeom>
          <a:ln w="38100" cap="flat" cmpd="sng">
            <a:solidFill>
              <a:srgbClr val="FFFF99"/>
            </a:solidFill>
            <a:prstDash val="solid"/>
            <a:round/>
            <a:headEnd type="none" w="med" len="med"/>
            <a:tailEnd type="stealth" w="med" len="lg"/>
          </a:ln>
        </p:spPr>
      </p:sp>
      <p:sp>
        <p:nvSpPr>
          <p:cNvPr id="12306" name="Rectangle 18"/>
          <p:cNvSpPr/>
          <p:nvPr/>
        </p:nvSpPr>
        <p:spPr>
          <a:xfrm>
            <a:off x="7396163" y="4708525"/>
            <a:ext cx="1311275" cy="396875"/>
          </a:xfrm>
          <a:prstGeom prst="rect">
            <a:avLst/>
          </a:prstGeom>
          <a:noFill/>
          <a:ln w="9525">
            <a:noFill/>
          </a:ln>
        </p:spPr>
        <p:txBody>
          <a:bodyPr wrap="none" anchor="t">
            <a:spAutoFit/>
          </a:bodyPr>
          <a:p>
            <a:r>
              <a:rPr lang="en-US" altLang="zh-CN" sz="2000" b="1" i="1" dirty="0">
                <a:solidFill>
                  <a:srgbClr val="FFFF00"/>
                </a:solidFill>
                <a:latin typeface="Times New Roman" panose="02020603050405020304" pitchFamily="18" charset="0"/>
                <a:ea typeface="宋体" panose="02010600030101010101" pitchFamily="2" charset="-122"/>
              </a:rPr>
              <a:t>I</a:t>
            </a:r>
            <a:r>
              <a:rPr lang="en-US" altLang="zh-CN" sz="2000" b="1" baseline="-25000" dirty="0">
                <a:solidFill>
                  <a:srgbClr val="FFFF00"/>
                </a:solidFill>
                <a:latin typeface="Times New Roman" panose="02020603050405020304" pitchFamily="18" charset="0"/>
                <a:ea typeface="宋体" panose="02010600030101010101" pitchFamily="2" charset="-122"/>
              </a:rPr>
              <a:t>B</a:t>
            </a:r>
            <a:r>
              <a:rPr lang="en-US" altLang="zh-CN" sz="2000" b="1" i="1" dirty="0">
                <a:solidFill>
                  <a:srgbClr val="FFFF00"/>
                </a:solidFill>
                <a:latin typeface="Times New Roman" panose="02020603050405020304" pitchFamily="18" charset="0"/>
                <a:ea typeface="方正琥珀繁体" pitchFamily="2" charset="-122"/>
              </a:rPr>
              <a:t>  </a:t>
            </a:r>
            <a:r>
              <a:rPr lang="en-US" altLang="zh-CN" sz="2000" b="1" dirty="0">
                <a:solidFill>
                  <a:srgbClr val="FFFF00"/>
                </a:solidFill>
                <a:latin typeface="Times New Roman" panose="02020603050405020304" pitchFamily="18" charset="0"/>
                <a:ea typeface="方正琥珀繁体" pitchFamily="2" charset="-122"/>
              </a:rPr>
              <a:t>= 20µA</a:t>
            </a:r>
            <a:endParaRPr lang="en-US" altLang="zh-CN" sz="2000" b="1" dirty="0">
              <a:solidFill>
                <a:srgbClr val="FFFF00"/>
              </a:solidFill>
              <a:latin typeface="Times New Roman" panose="02020603050405020304" pitchFamily="18" charset="0"/>
              <a:ea typeface="方正琥珀繁体" pitchFamily="2" charset="-122"/>
            </a:endParaRPr>
          </a:p>
        </p:txBody>
      </p:sp>
      <p:sp>
        <p:nvSpPr>
          <p:cNvPr id="12307" name="Rectangle 19"/>
          <p:cNvSpPr/>
          <p:nvPr/>
        </p:nvSpPr>
        <p:spPr>
          <a:xfrm>
            <a:off x="7412038" y="2406650"/>
            <a:ext cx="1182687" cy="396875"/>
          </a:xfrm>
          <a:prstGeom prst="rect">
            <a:avLst/>
          </a:prstGeom>
          <a:noFill/>
          <a:ln w="9525">
            <a:noFill/>
          </a:ln>
        </p:spPr>
        <p:txBody>
          <a:bodyPr wrap="none" anchor="t">
            <a:spAutoFit/>
          </a:bodyPr>
          <a:p>
            <a:r>
              <a:rPr lang="en-US" altLang="zh-CN" sz="2000" b="1" i="1" dirty="0">
                <a:solidFill>
                  <a:srgbClr val="FFFF00"/>
                </a:solidFill>
                <a:latin typeface="Times New Roman" panose="02020603050405020304" pitchFamily="18" charset="0"/>
                <a:ea typeface="宋体" panose="02010600030101010101" pitchFamily="2" charset="-122"/>
              </a:rPr>
              <a:t>I</a:t>
            </a:r>
            <a:r>
              <a:rPr lang="en-US" altLang="zh-CN" sz="2000" b="1" baseline="-25000" dirty="0">
                <a:solidFill>
                  <a:srgbClr val="FFFF00"/>
                </a:solidFill>
                <a:latin typeface="Times New Roman" panose="02020603050405020304" pitchFamily="18" charset="0"/>
                <a:ea typeface="宋体" panose="02010600030101010101" pitchFamily="2" charset="-122"/>
              </a:rPr>
              <a:t>B</a:t>
            </a:r>
            <a:r>
              <a:rPr lang="en-US" altLang="zh-CN" sz="2000" b="1" i="1" dirty="0">
                <a:solidFill>
                  <a:srgbClr val="FFFF00"/>
                </a:solidFill>
                <a:latin typeface="Times New Roman" panose="02020603050405020304" pitchFamily="18" charset="0"/>
                <a:ea typeface="方正琥珀繁体" pitchFamily="2" charset="-122"/>
              </a:rPr>
              <a:t> </a:t>
            </a:r>
            <a:r>
              <a:rPr lang="en-US" altLang="zh-CN" sz="2000" dirty="0">
                <a:solidFill>
                  <a:srgbClr val="FFFF00"/>
                </a:solidFill>
                <a:latin typeface="Times New Roman" panose="02020603050405020304" pitchFamily="18" charset="0"/>
                <a:ea typeface="方正琥珀繁体" pitchFamily="2" charset="-122"/>
              </a:rPr>
              <a:t>=</a:t>
            </a:r>
            <a:r>
              <a:rPr lang="en-US" altLang="zh-CN" sz="2000" b="1" dirty="0">
                <a:solidFill>
                  <a:srgbClr val="FFFF00"/>
                </a:solidFill>
                <a:latin typeface="Times New Roman" panose="02020603050405020304" pitchFamily="18" charset="0"/>
                <a:ea typeface="方正琥珀繁体" pitchFamily="2" charset="-122"/>
              </a:rPr>
              <a:t>60µA</a:t>
            </a:r>
            <a:endParaRPr lang="en-US" altLang="zh-CN" sz="2000" b="1" dirty="0">
              <a:solidFill>
                <a:srgbClr val="FFFF00"/>
              </a:solidFill>
              <a:latin typeface="Times New Roman" panose="02020603050405020304" pitchFamily="18" charset="0"/>
              <a:ea typeface="方正琥珀繁体" pitchFamily="2" charset="-122"/>
            </a:endParaRPr>
          </a:p>
        </p:txBody>
      </p:sp>
      <p:sp>
        <p:nvSpPr>
          <p:cNvPr id="12308" name="Rectangle 20"/>
          <p:cNvSpPr/>
          <p:nvPr/>
        </p:nvSpPr>
        <p:spPr>
          <a:xfrm>
            <a:off x="7488238" y="3489325"/>
            <a:ext cx="1182687" cy="427038"/>
          </a:xfrm>
          <a:prstGeom prst="rect">
            <a:avLst/>
          </a:prstGeom>
          <a:noFill/>
          <a:ln w="9525">
            <a:noFill/>
          </a:ln>
        </p:spPr>
        <p:txBody>
          <a:bodyPr wrap="none" anchor="t">
            <a:spAutoFit/>
          </a:bodyPr>
          <a:p>
            <a:pPr>
              <a:lnSpc>
                <a:spcPct val="110000"/>
              </a:lnSpc>
            </a:pPr>
            <a:r>
              <a:rPr lang="en-US" altLang="zh-CN" sz="2000" b="1" i="1" dirty="0">
                <a:solidFill>
                  <a:srgbClr val="FFFF00"/>
                </a:solidFill>
                <a:latin typeface="Times New Roman" panose="02020603050405020304" pitchFamily="18" charset="0"/>
                <a:ea typeface="宋体" panose="02010600030101010101" pitchFamily="2" charset="-122"/>
              </a:rPr>
              <a:t>I</a:t>
            </a:r>
            <a:r>
              <a:rPr lang="en-US" altLang="zh-CN" sz="2000" b="1" baseline="-25000" dirty="0">
                <a:solidFill>
                  <a:srgbClr val="FFFF00"/>
                </a:solidFill>
                <a:latin typeface="Times New Roman" panose="02020603050405020304" pitchFamily="18" charset="0"/>
                <a:ea typeface="宋体" panose="02010600030101010101" pitchFamily="2" charset="-122"/>
              </a:rPr>
              <a:t>B</a:t>
            </a:r>
            <a:r>
              <a:rPr lang="en-US" altLang="zh-CN" sz="2000" b="1" i="1" dirty="0">
                <a:solidFill>
                  <a:srgbClr val="FFFF00"/>
                </a:solidFill>
                <a:latin typeface="Times New Roman" panose="02020603050405020304" pitchFamily="18" charset="0"/>
                <a:ea typeface="方正琥珀繁体" pitchFamily="2" charset="-122"/>
              </a:rPr>
              <a:t> </a:t>
            </a:r>
            <a:r>
              <a:rPr lang="en-US" altLang="zh-CN" sz="2000" dirty="0">
                <a:solidFill>
                  <a:srgbClr val="FFFF00"/>
                </a:solidFill>
                <a:latin typeface="Times New Roman" panose="02020603050405020304" pitchFamily="18" charset="0"/>
                <a:ea typeface="方正琥珀繁体" pitchFamily="2" charset="-122"/>
              </a:rPr>
              <a:t>=</a:t>
            </a:r>
            <a:r>
              <a:rPr lang="en-US" altLang="zh-CN" sz="2000" b="1" dirty="0">
                <a:solidFill>
                  <a:srgbClr val="FFFF00"/>
                </a:solidFill>
                <a:latin typeface="Times New Roman" panose="02020603050405020304" pitchFamily="18" charset="0"/>
                <a:ea typeface="方正琥珀繁体" pitchFamily="2" charset="-122"/>
              </a:rPr>
              <a:t>40µA</a:t>
            </a:r>
            <a:endParaRPr lang="en-US" altLang="zh-CN" sz="2000" b="1" dirty="0">
              <a:solidFill>
                <a:srgbClr val="FFFF00"/>
              </a:solidFill>
              <a:latin typeface="Times New Roman" panose="02020603050405020304" pitchFamily="18" charset="0"/>
              <a:ea typeface="方正琥珀繁体" pitchFamily="2" charset="-122"/>
            </a:endParaRPr>
          </a:p>
        </p:txBody>
      </p:sp>
      <p:pic>
        <p:nvPicPr>
          <p:cNvPr id="12309" name="Picture 21"/>
          <p:cNvPicPr>
            <a:picLocks noChangeAspect="1"/>
          </p:cNvPicPr>
          <p:nvPr/>
        </p:nvPicPr>
        <p:blipFill>
          <a:blip r:embed="rId7"/>
          <a:stretch>
            <a:fillRect/>
          </a:stretch>
        </p:blipFill>
        <p:spPr>
          <a:xfrm>
            <a:off x="5167313" y="3667125"/>
            <a:ext cx="220662" cy="1981200"/>
          </a:xfrm>
          <a:prstGeom prst="rect">
            <a:avLst/>
          </a:prstGeom>
          <a:noFill/>
          <a:ln w="9525">
            <a:noFill/>
          </a:ln>
        </p:spPr>
      </p:pic>
      <p:pic>
        <p:nvPicPr>
          <p:cNvPr id="12310" name="Picture 22"/>
          <p:cNvPicPr>
            <a:picLocks noChangeAspect="1"/>
          </p:cNvPicPr>
          <p:nvPr/>
        </p:nvPicPr>
        <p:blipFill>
          <a:blip r:embed="rId8"/>
          <a:stretch>
            <a:fillRect/>
          </a:stretch>
        </p:blipFill>
        <p:spPr>
          <a:xfrm>
            <a:off x="5232400" y="3681413"/>
            <a:ext cx="223838" cy="1190625"/>
          </a:xfrm>
          <a:prstGeom prst="rect">
            <a:avLst/>
          </a:prstGeom>
          <a:noFill/>
          <a:ln w="9525">
            <a:noFill/>
          </a:ln>
        </p:spPr>
      </p:pic>
      <p:pic>
        <p:nvPicPr>
          <p:cNvPr id="12311" name="Picture 23"/>
          <p:cNvPicPr>
            <a:picLocks noChangeAspect="1"/>
          </p:cNvPicPr>
          <p:nvPr/>
        </p:nvPicPr>
        <p:blipFill>
          <a:blip r:embed="rId9"/>
          <a:stretch>
            <a:fillRect/>
          </a:stretch>
        </p:blipFill>
        <p:spPr>
          <a:xfrm>
            <a:off x="5145088" y="4745038"/>
            <a:ext cx="209550" cy="979487"/>
          </a:xfrm>
          <a:prstGeom prst="rect">
            <a:avLst/>
          </a:prstGeom>
          <a:noFill/>
          <a:ln w="9525">
            <a:noFill/>
          </a:ln>
        </p:spPr>
      </p:pic>
      <p:sp>
        <p:nvSpPr>
          <p:cNvPr id="37911" name="Text Box 25">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7912" name="Text Box 26">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7913" name="Text Box 28"/>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grpSp>
        <p:nvGrpSpPr>
          <p:cNvPr id="37914" name="Group 29"/>
          <p:cNvGrpSpPr/>
          <p:nvPr/>
        </p:nvGrpSpPr>
        <p:grpSpPr>
          <a:xfrm>
            <a:off x="684213" y="2420938"/>
            <a:ext cx="4294187" cy="3600450"/>
            <a:chOff x="431" y="1525"/>
            <a:chExt cx="2705" cy="2404"/>
          </a:xfrm>
        </p:grpSpPr>
        <p:sp>
          <p:nvSpPr>
            <p:cNvPr id="37915" name="Line 30"/>
            <p:cNvSpPr/>
            <p:nvPr/>
          </p:nvSpPr>
          <p:spPr>
            <a:xfrm>
              <a:off x="1610" y="2745"/>
              <a:ext cx="0" cy="316"/>
            </a:xfrm>
            <a:prstGeom prst="line">
              <a:avLst/>
            </a:prstGeom>
            <a:ln w="28575" cap="flat" cmpd="sng">
              <a:solidFill>
                <a:srgbClr val="DDDDDD"/>
              </a:solidFill>
              <a:prstDash val="solid"/>
              <a:round/>
              <a:headEnd type="none" w="med" len="med"/>
              <a:tailEnd type="stealth" w="med" len="lg"/>
            </a:ln>
          </p:spPr>
        </p:sp>
        <p:sp>
          <p:nvSpPr>
            <p:cNvPr id="37916" name="Text Box 31"/>
            <p:cNvSpPr txBox="1"/>
            <p:nvPr/>
          </p:nvSpPr>
          <p:spPr>
            <a:xfrm>
              <a:off x="1656" y="2703"/>
              <a:ext cx="336"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17" name="Text Box 32"/>
            <p:cNvSpPr txBox="1"/>
            <p:nvPr/>
          </p:nvSpPr>
          <p:spPr>
            <a:xfrm>
              <a:off x="658" y="1945"/>
              <a:ext cx="336"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18" name="Text Box 33"/>
            <p:cNvSpPr txBox="1"/>
            <p:nvPr/>
          </p:nvSpPr>
          <p:spPr>
            <a:xfrm>
              <a:off x="658" y="2618"/>
              <a:ext cx="394"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R</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19" name="Text Box 34"/>
            <p:cNvSpPr txBox="1"/>
            <p:nvPr/>
          </p:nvSpPr>
          <p:spPr>
            <a:xfrm>
              <a:off x="659" y="3101"/>
              <a:ext cx="384"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20" name="Line 35"/>
            <p:cNvSpPr/>
            <p:nvPr/>
          </p:nvSpPr>
          <p:spPr>
            <a:xfrm>
              <a:off x="1565" y="1616"/>
              <a:ext cx="0" cy="223"/>
            </a:xfrm>
            <a:prstGeom prst="line">
              <a:avLst/>
            </a:prstGeom>
            <a:ln w="28575" cap="flat" cmpd="sng">
              <a:solidFill>
                <a:srgbClr val="DDDDDD"/>
              </a:solidFill>
              <a:prstDash val="solid"/>
              <a:round/>
              <a:headEnd type="none" w="med" len="med"/>
              <a:tailEnd type="stealth" w="med" len="lg"/>
            </a:ln>
          </p:spPr>
        </p:sp>
        <p:sp>
          <p:nvSpPr>
            <p:cNvPr id="37921" name="Text Box 36"/>
            <p:cNvSpPr txBox="1"/>
            <p:nvPr/>
          </p:nvSpPr>
          <p:spPr>
            <a:xfrm>
              <a:off x="1610" y="1525"/>
              <a:ext cx="336"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22" name="Text Box 37"/>
            <p:cNvSpPr txBox="1"/>
            <p:nvPr/>
          </p:nvSpPr>
          <p:spPr>
            <a:xfrm>
              <a:off x="2608" y="2523"/>
              <a:ext cx="528" cy="306"/>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CC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23" name="Line 38"/>
            <p:cNvSpPr/>
            <p:nvPr/>
          </p:nvSpPr>
          <p:spPr>
            <a:xfrm>
              <a:off x="658" y="2219"/>
              <a:ext cx="336" cy="0"/>
            </a:xfrm>
            <a:prstGeom prst="line">
              <a:avLst/>
            </a:prstGeom>
            <a:ln w="28575" cap="flat" cmpd="sng">
              <a:solidFill>
                <a:srgbClr val="DDDDDD"/>
              </a:solidFill>
              <a:prstDash val="solid"/>
              <a:round/>
              <a:headEnd type="none" w="med" len="med"/>
              <a:tailEnd type="triangle" w="med" len="lg"/>
            </a:ln>
          </p:spPr>
        </p:sp>
        <p:sp>
          <p:nvSpPr>
            <p:cNvPr id="37924" name="Line 39"/>
            <p:cNvSpPr/>
            <p:nvPr/>
          </p:nvSpPr>
          <p:spPr>
            <a:xfrm>
              <a:off x="1295" y="2104"/>
              <a:ext cx="0" cy="356"/>
            </a:xfrm>
            <a:prstGeom prst="line">
              <a:avLst/>
            </a:prstGeom>
            <a:ln w="28575" cap="flat" cmpd="sng">
              <a:solidFill>
                <a:srgbClr val="FFCC99"/>
              </a:solidFill>
              <a:prstDash val="solid"/>
              <a:round/>
              <a:headEnd type="none" w="med" len="med"/>
              <a:tailEnd type="none" w="med" len="med"/>
            </a:ln>
          </p:spPr>
        </p:sp>
        <p:sp>
          <p:nvSpPr>
            <p:cNvPr id="37925" name="Line 40"/>
            <p:cNvSpPr/>
            <p:nvPr/>
          </p:nvSpPr>
          <p:spPr>
            <a:xfrm flipV="1">
              <a:off x="1295" y="2059"/>
              <a:ext cx="192" cy="178"/>
            </a:xfrm>
            <a:prstGeom prst="line">
              <a:avLst/>
            </a:prstGeom>
            <a:ln w="38100" cap="flat" cmpd="sng">
              <a:solidFill>
                <a:srgbClr val="FFCC99"/>
              </a:solidFill>
              <a:prstDash val="solid"/>
              <a:round/>
              <a:headEnd type="none" w="med" len="med"/>
              <a:tailEnd type="none" w="med" len="med"/>
            </a:ln>
          </p:spPr>
        </p:sp>
        <p:sp>
          <p:nvSpPr>
            <p:cNvPr id="37926" name="Line 41"/>
            <p:cNvSpPr/>
            <p:nvPr/>
          </p:nvSpPr>
          <p:spPr>
            <a:xfrm>
              <a:off x="1293" y="2324"/>
              <a:ext cx="272" cy="168"/>
            </a:xfrm>
            <a:prstGeom prst="line">
              <a:avLst/>
            </a:prstGeom>
            <a:ln w="38100" cap="flat" cmpd="sng">
              <a:solidFill>
                <a:srgbClr val="FFCC99"/>
              </a:solidFill>
              <a:prstDash val="solid"/>
              <a:round/>
              <a:headEnd type="none" w="med" len="med"/>
              <a:tailEnd type="stealth" w="med" len="lg"/>
            </a:ln>
          </p:spPr>
        </p:sp>
        <p:sp>
          <p:nvSpPr>
            <p:cNvPr id="37927" name="Line 42"/>
            <p:cNvSpPr/>
            <p:nvPr/>
          </p:nvSpPr>
          <p:spPr>
            <a:xfrm>
              <a:off x="1487" y="1525"/>
              <a:ext cx="0" cy="534"/>
            </a:xfrm>
            <a:prstGeom prst="line">
              <a:avLst/>
            </a:prstGeom>
            <a:ln w="38100" cap="flat" cmpd="sng">
              <a:solidFill>
                <a:srgbClr val="FFCC99"/>
              </a:solidFill>
              <a:prstDash val="solid"/>
              <a:round/>
              <a:headEnd type="none" w="med" len="med"/>
              <a:tailEnd type="none" w="med" len="med"/>
            </a:ln>
          </p:spPr>
        </p:sp>
        <p:sp>
          <p:nvSpPr>
            <p:cNvPr id="37928" name="Line 43"/>
            <p:cNvSpPr/>
            <p:nvPr/>
          </p:nvSpPr>
          <p:spPr>
            <a:xfrm>
              <a:off x="1535" y="2460"/>
              <a:ext cx="0" cy="1469"/>
            </a:xfrm>
            <a:prstGeom prst="line">
              <a:avLst/>
            </a:prstGeom>
            <a:ln w="38100" cap="flat" cmpd="sng">
              <a:solidFill>
                <a:srgbClr val="FFCC99"/>
              </a:solidFill>
              <a:prstDash val="solid"/>
              <a:round/>
              <a:headEnd type="none" w="med" len="med"/>
              <a:tailEnd type="none" w="med" len="med"/>
            </a:ln>
          </p:spPr>
        </p:sp>
        <p:sp>
          <p:nvSpPr>
            <p:cNvPr id="37929" name="Line 44"/>
            <p:cNvSpPr/>
            <p:nvPr/>
          </p:nvSpPr>
          <p:spPr>
            <a:xfrm>
              <a:off x="575" y="2282"/>
              <a:ext cx="720" cy="0"/>
            </a:xfrm>
            <a:prstGeom prst="line">
              <a:avLst/>
            </a:prstGeom>
            <a:ln w="38100" cap="flat" cmpd="sng">
              <a:solidFill>
                <a:srgbClr val="FFCC99"/>
              </a:solidFill>
              <a:prstDash val="solid"/>
              <a:round/>
              <a:headEnd type="none" w="med" len="med"/>
              <a:tailEnd type="none" w="med" len="med"/>
            </a:ln>
          </p:spPr>
        </p:sp>
        <p:sp>
          <p:nvSpPr>
            <p:cNvPr id="37930" name="Line 45"/>
            <p:cNvSpPr/>
            <p:nvPr/>
          </p:nvSpPr>
          <p:spPr>
            <a:xfrm>
              <a:off x="575" y="2282"/>
              <a:ext cx="0" cy="890"/>
            </a:xfrm>
            <a:prstGeom prst="line">
              <a:avLst/>
            </a:prstGeom>
            <a:ln w="38100" cap="flat" cmpd="sng">
              <a:solidFill>
                <a:srgbClr val="FFCC99"/>
              </a:solidFill>
              <a:prstDash val="solid"/>
              <a:round/>
              <a:headEnd type="none" w="med" len="med"/>
              <a:tailEnd type="none" w="med" len="med"/>
            </a:ln>
          </p:spPr>
        </p:sp>
        <p:sp>
          <p:nvSpPr>
            <p:cNvPr id="37931" name="Line 46"/>
            <p:cNvSpPr/>
            <p:nvPr/>
          </p:nvSpPr>
          <p:spPr>
            <a:xfrm>
              <a:off x="431" y="3172"/>
              <a:ext cx="288" cy="0"/>
            </a:xfrm>
            <a:prstGeom prst="line">
              <a:avLst/>
            </a:prstGeom>
            <a:ln w="28575" cap="flat" cmpd="sng">
              <a:solidFill>
                <a:srgbClr val="FFCC99"/>
              </a:solidFill>
              <a:prstDash val="solid"/>
              <a:round/>
              <a:headEnd type="none" w="med" len="med"/>
              <a:tailEnd type="none" w="med" len="med"/>
            </a:ln>
          </p:spPr>
        </p:sp>
        <p:sp>
          <p:nvSpPr>
            <p:cNvPr id="37932" name="Line 47"/>
            <p:cNvSpPr/>
            <p:nvPr/>
          </p:nvSpPr>
          <p:spPr>
            <a:xfrm flipV="1">
              <a:off x="527" y="3217"/>
              <a:ext cx="144" cy="0"/>
            </a:xfrm>
            <a:prstGeom prst="line">
              <a:avLst/>
            </a:prstGeom>
            <a:ln w="28575" cap="flat" cmpd="sng">
              <a:solidFill>
                <a:srgbClr val="FFCC99"/>
              </a:solidFill>
              <a:prstDash val="solid"/>
              <a:round/>
              <a:headEnd type="none" w="med" len="med"/>
              <a:tailEnd type="none" w="med" len="med"/>
            </a:ln>
          </p:spPr>
        </p:sp>
        <p:sp>
          <p:nvSpPr>
            <p:cNvPr id="37933" name="Line 48"/>
            <p:cNvSpPr/>
            <p:nvPr/>
          </p:nvSpPr>
          <p:spPr>
            <a:xfrm>
              <a:off x="575" y="3217"/>
              <a:ext cx="0" cy="400"/>
            </a:xfrm>
            <a:prstGeom prst="line">
              <a:avLst/>
            </a:prstGeom>
            <a:ln w="38100" cap="flat" cmpd="sng">
              <a:solidFill>
                <a:srgbClr val="FFCC99"/>
              </a:solidFill>
              <a:prstDash val="solid"/>
              <a:round/>
              <a:headEnd type="none" w="med" len="med"/>
              <a:tailEnd type="none" w="med" len="med"/>
            </a:ln>
          </p:spPr>
        </p:sp>
        <p:sp>
          <p:nvSpPr>
            <p:cNvPr id="37934" name="Line 49"/>
            <p:cNvSpPr/>
            <p:nvPr/>
          </p:nvSpPr>
          <p:spPr>
            <a:xfrm>
              <a:off x="1439" y="3929"/>
              <a:ext cx="192" cy="0"/>
            </a:xfrm>
            <a:prstGeom prst="line">
              <a:avLst/>
            </a:prstGeom>
            <a:ln w="28575" cap="flat" cmpd="sng">
              <a:solidFill>
                <a:srgbClr val="FFCC99"/>
              </a:solidFill>
              <a:prstDash val="solid"/>
              <a:round/>
              <a:headEnd type="none" w="med" len="med"/>
              <a:tailEnd type="none" w="med" len="med"/>
            </a:ln>
          </p:spPr>
        </p:sp>
        <p:sp>
          <p:nvSpPr>
            <p:cNvPr id="37935" name="Line 50"/>
            <p:cNvSpPr/>
            <p:nvPr/>
          </p:nvSpPr>
          <p:spPr>
            <a:xfrm>
              <a:off x="575" y="3617"/>
              <a:ext cx="2016" cy="0"/>
            </a:xfrm>
            <a:prstGeom prst="line">
              <a:avLst/>
            </a:prstGeom>
            <a:ln w="38100" cap="flat" cmpd="sng">
              <a:solidFill>
                <a:srgbClr val="FFCC99"/>
              </a:solidFill>
              <a:prstDash val="solid"/>
              <a:round/>
              <a:headEnd type="none" w="med" len="med"/>
              <a:tailEnd type="none" w="med" len="med"/>
            </a:ln>
          </p:spPr>
        </p:sp>
        <p:sp>
          <p:nvSpPr>
            <p:cNvPr id="37936" name="Line 51"/>
            <p:cNvSpPr/>
            <p:nvPr/>
          </p:nvSpPr>
          <p:spPr>
            <a:xfrm>
              <a:off x="1487" y="1525"/>
              <a:ext cx="1104" cy="0"/>
            </a:xfrm>
            <a:prstGeom prst="line">
              <a:avLst/>
            </a:prstGeom>
            <a:ln w="38100" cap="flat" cmpd="sng">
              <a:solidFill>
                <a:srgbClr val="FFCC99"/>
              </a:solidFill>
              <a:prstDash val="solid"/>
              <a:round/>
              <a:headEnd type="none" w="med" len="med"/>
              <a:tailEnd type="none" w="med" len="med"/>
            </a:ln>
          </p:spPr>
        </p:sp>
        <p:sp>
          <p:nvSpPr>
            <p:cNvPr id="37937" name="Line 52"/>
            <p:cNvSpPr/>
            <p:nvPr/>
          </p:nvSpPr>
          <p:spPr>
            <a:xfrm>
              <a:off x="2591" y="1525"/>
              <a:ext cx="0" cy="890"/>
            </a:xfrm>
            <a:prstGeom prst="line">
              <a:avLst/>
            </a:prstGeom>
            <a:ln w="38100" cap="flat" cmpd="sng">
              <a:solidFill>
                <a:srgbClr val="FFCC99"/>
              </a:solidFill>
              <a:prstDash val="solid"/>
              <a:round/>
              <a:headEnd type="none" w="med" len="med"/>
              <a:tailEnd type="none" w="med" len="med"/>
            </a:ln>
          </p:spPr>
        </p:sp>
        <p:sp>
          <p:nvSpPr>
            <p:cNvPr id="37938" name="Line 53"/>
            <p:cNvSpPr/>
            <p:nvPr/>
          </p:nvSpPr>
          <p:spPr>
            <a:xfrm>
              <a:off x="2591" y="2549"/>
              <a:ext cx="0" cy="1068"/>
            </a:xfrm>
            <a:prstGeom prst="line">
              <a:avLst/>
            </a:prstGeom>
            <a:ln w="38100" cap="flat" cmpd="sng">
              <a:solidFill>
                <a:srgbClr val="FFCC99"/>
              </a:solidFill>
              <a:prstDash val="solid"/>
              <a:round/>
              <a:headEnd type="none" w="med" len="med"/>
              <a:tailEnd type="none" w="med" len="med"/>
            </a:ln>
          </p:spPr>
        </p:sp>
        <p:sp>
          <p:nvSpPr>
            <p:cNvPr id="37939" name="Line 54"/>
            <p:cNvSpPr/>
            <p:nvPr/>
          </p:nvSpPr>
          <p:spPr>
            <a:xfrm>
              <a:off x="2399" y="2415"/>
              <a:ext cx="384" cy="0"/>
            </a:xfrm>
            <a:prstGeom prst="line">
              <a:avLst/>
            </a:prstGeom>
            <a:ln w="28575" cap="flat" cmpd="sng">
              <a:solidFill>
                <a:srgbClr val="FFCC99"/>
              </a:solidFill>
              <a:prstDash val="solid"/>
              <a:round/>
              <a:headEnd type="none" w="med" len="med"/>
              <a:tailEnd type="none" w="med" len="med"/>
            </a:ln>
          </p:spPr>
        </p:sp>
        <p:sp>
          <p:nvSpPr>
            <p:cNvPr id="37940" name="Line 55"/>
            <p:cNvSpPr/>
            <p:nvPr/>
          </p:nvSpPr>
          <p:spPr>
            <a:xfrm>
              <a:off x="2447" y="2460"/>
              <a:ext cx="240" cy="0"/>
            </a:xfrm>
            <a:prstGeom prst="line">
              <a:avLst/>
            </a:prstGeom>
            <a:ln w="28575" cap="flat" cmpd="sng">
              <a:solidFill>
                <a:srgbClr val="FFCC99"/>
              </a:solidFill>
              <a:prstDash val="solid"/>
              <a:round/>
              <a:headEnd type="none" w="med" len="med"/>
              <a:tailEnd type="none" w="med" len="med"/>
            </a:ln>
          </p:spPr>
        </p:sp>
        <p:sp>
          <p:nvSpPr>
            <p:cNvPr id="37941" name="Line 56"/>
            <p:cNvSpPr/>
            <p:nvPr/>
          </p:nvSpPr>
          <p:spPr>
            <a:xfrm>
              <a:off x="2399" y="2504"/>
              <a:ext cx="384" cy="0"/>
            </a:xfrm>
            <a:prstGeom prst="line">
              <a:avLst/>
            </a:prstGeom>
            <a:ln w="28575" cap="flat" cmpd="sng">
              <a:solidFill>
                <a:srgbClr val="FFCC99"/>
              </a:solidFill>
              <a:prstDash val="solid"/>
              <a:round/>
              <a:headEnd type="none" w="med" len="med"/>
              <a:tailEnd type="none" w="med" len="med"/>
            </a:ln>
          </p:spPr>
        </p:sp>
        <p:sp>
          <p:nvSpPr>
            <p:cNvPr id="37942" name="Line 57"/>
            <p:cNvSpPr/>
            <p:nvPr/>
          </p:nvSpPr>
          <p:spPr>
            <a:xfrm>
              <a:off x="2495" y="2549"/>
              <a:ext cx="192" cy="0"/>
            </a:xfrm>
            <a:prstGeom prst="line">
              <a:avLst/>
            </a:prstGeom>
            <a:ln w="28575" cap="flat" cmpd="sng">
              <a:solidFill>
                <a:srgbClr val="FFCC99"/>
              </a:solidFill>
              <a:prstDash val="solid"/>
              <a:round/>
              <a:headEnd type="none" w="med" len="med"/>
              <a:tailEnd type="none" w="med" len="med"/>
            </a:ln>
          </p:spPr>
        </p:sp>
        <p:sp>
          <p:nvSpPr>
            <p:cNvPr id="37943" name="Oval 58"/>
            <p:cNvSpPr/>
            <p:nvPr/>
          </p:nvSpPr>
          <p:spPr>
            <a:xfrm>
              <a:off x="1487" y="3573"/>
              <a:ext cx="96" cy="89"/>
            </a:xfrm>
            <a:prstGeom prst="ellipse">
              <a:avLst/>
            </a:prstGeom>
            <a:solidFill>
              <a:srgbClr val="DDDDDD"/>
            </a:solidFill>
            <a:ln w="28575" cap="flat" cmpd="sng">
              <a:solidFill>
                <a:srgbClr val="FFCC99"/>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37944" name="Line 59"/>
            <p:cNvSpPr/>
            <p:nvPr/>
          </p:nvSpPr>
          <p:spPr>
            <a:xfrm>
              <a:off x="575" y="2371"/>
              <a:ext cx="240" cy="0"/>
            </a:xfrm>
            <a:prstGeom prst="line">
              <a:avLst/>
            </a:prstGeom>
            <a:ln w="28575" cap="flat" cmpd="sng">
              <a:solidFill>
                <a:srgbClr val="FFCC99"/>
              </a:solidFill>
              <a:prstDash val="solid"/>
              <a:round/>
              <a:headEnd type="none" w="med" len="med"/>
              <a:tailEnd type="none" w="med" len="med"/>
            </a:ln>
          </p:spPr>
        </p:sp>
        <p:sp>
          <p:nvSpPr>
            <p:cNvPr id="37945" name="Line 60"/>
            <p:cNvSpPr/>
            <p:nvPr/>
          </p:nvSpPr>
          <p:spPr>
            <a:xfrm>
              <a:off x="815" y="2371"/>
              <a:ext cx="0" cy="178"/>
            </a:xfrm>
            <a:prstGeom prst="line">
              <a:avLst/>
            </a:prstGeom>
            <a:ln w="28575" cap="flat" cmpd="sng">
              <a:solidFill>
                <a:srgbClr val="FFCC99"/>
              </a:solidFill>
              <a:prstDash val="solid"/>
              <a:round/>
              <a:headEnd type="none" w="med" len="med"/>
              <a:tailEnd type="none" w="med" len="med"/>
            </a:ln>
          </p:spPr>
        </p:sp>
        <p:sp>
          <p:nvSpPr>
            <p:cNvPr id="37946" name="Line 61"/>
            <p:cNvSpPr/>
            <p:nvPr/>
          </p:nvSpPr>
          <p:spPr>
            <a:xfrm flipH="1">
              <a:off x="623" y="2549"/>
              <a:ext cx="192" cy="0"/>
            </a:xfrm>
            <a:prstGeom prst="line">
              <a:avLst/>
            </a:prstGeom>
            <a:ln w="28575" cap="flat" cmpd="sng">
              <a:solidFill>
                <a:srgbClr val="FFCC99"/>
              </a:solidFill>
              <a:prstDash val="solid"/>
              <a:round/>
              <a:headEnd type="none" w="med" len="med"/>
              <a:tailEnd type="triangle" w="med" len="med"/>
            </a:ln>
          </p:spPr>
        </p:sp>
        <p:sp>
          <p:nvSpPr>
            <p:cNvPr id="37947" name="Rectangle 62"/>
            <p:cNvSpPr/>
            <p:nvPr/>
          </p:nvSpPr>
          <p:spPr>
            <a:xfrm>
              <a:off x="2517" y="1861"/>
              <a:ext cx="136" cy="324"/>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7948" name="Rectangle 63"/>
            <p:cNvSpPr/>
            <p:nvPr/>
          </p:nvSpPr>
          <p:spPr>
            <a:xfrm>
              <a:off x="499" y="2450"/>
              <a:ext cx="136" cy="252"/>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7949" name="Rectangle 64"/>
            <p:cNvSpPr/>
            <p:nvPr/>
          </p:nvSpPr>
          <p:spPr>
            <a:xfrm>
              <a:off x="499" y="2829"/>
              <a:ext cx="136" cy="252"/>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Arial" panose="020B0604020202020204" pitchFamily="34" charset="0"/>
                <a:ea typeface="宋体" panose="02010600030101010101" pitchFamily="2" charset="-122"/>
              </a:endParaRPr>
            </a:p>
          </p:txBody>
        </p:sp>
        <p:sp>
          <p:nvSpPr>
            <p:cNvPr id="37950" name="Text Box 65"/>
            <p:cNvSpPr txBox="1"/>
            <p:nvPr/>
          </p:nvSpPr>
          <p:spPr>
            <a:xfrm>
              <a:off x="2608" y="1888"/>
              <a:ext cx="394" cy="305"/>
            </a:xfrm>
            <a:prstGeom prst="rect">
              <a:avLst/>
            </a:prstGeom>
            <a:noFill/>
            <a:ln w="9525">
              <a:noFill/>
            </a:ln>
          </p:spPr>
          <p:txBody>
            <a:bodyPr anchor="t">
              <a:spAutoFit/>
            </a:bodyPr>
            <a:p>
              <a:pPr>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R</a:t>
              </a:r>
              <a:r>
                <a:rPr lang="en-US" altLang="zh-CN" sz="2400" b="1" baseline="-25000" dirty="0">
                  <a:solidFill>
                    <a:schemeClr val="bg1"/>
                  </a:solidFill>
                  <a:latin typeface="Times New Roman" panose="02020603050405020304" pitchFamily="18" charset="0"/>
                  <a:ea typeface="宋体" panose="02010600030101010101" pitchFamily="2" charset="-122"/>
                </a:rPr>
                <a:t>C</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51" name="Rectangle 66"/>
            <p:cNvSpPr/>
            <p:nvPr/>
          </p:nvSpPr>
          <p:spPr>
            <a:xfrm>
              <a:off x="930" y="2271"/>
              <a:ext cx="276" cy="265"/>
            </a:xfrm>
            <a:prstGeom prst="rect">
              <a:avLst/>
            </a:prstGeom>
            <a:noFill/>
            <a:ln w="34925">
              <a:noFill/>
            </a:ln>
          </p:spPr>
          <p:txBody>
            <a:bodyPr wrap="none" anchor="t">
              <a:spAutoFit/>
            </a:bodyPr>
            <a:p>
              <a:pPr eaLnBrk="0" hangingPunct="0"/>
              <a:r>
                <a:rPr lang="zh-CN" altLang="en-US" sz="2000" dirty="0">
                  <a:solidFill>
                    <a:srgbClr val="FFFFFF"/>
                  </a:solidFill>
                  <a:latin typeface="隶书" panose="02010509060101010101" pitchFamily="49" charset="-122"/>
                  <a:ea typeface="隶书" panose="02010509060101010101" pitchFamily="49" charset="-122"/>
                </a:rPr>
                <a:t>＋</a:t>
              </a:r>
              <a:endParaRPr lang="zh-CN" altLang="en-US" sz="2000" dirty="0">
                <a:solidFill>
                  <a:srgbClr val="FFFFFF"/>
                </a:solidFill>
                <a:latin typeface="隶书" panose="02010509060101010101" pitchFamily="49" charset="-122"/>
                <a:ea typeface="隶书" panose="02010509060101010101" pitchFamily="49" charset="-122"/>
              </a:endParaRPr>
            </a:p>
          </p:txBody>
        </p:sp>
        <p:sp>
          <p:nvSpPr>
            <p:cNvPr id="37952" name="Rectangle 67"/>
            <p:cNvSpPr/>
            <p:nvPr/>
          </p:nvSpPr>
          <p:spPr>
            <a:xfrm>
              <a:off x="1247" y="2849"/>
              <a:ext cx="197" cy="265"/>
            </a:xfrm>
            <a:prstGeom prst="rect">
              <a:avLst/>
            </a:prstGeom>
            <a:noFill/>
            <a:ln w="34925">
              <a:noFill/>
            </a:ln>
          </p:spPr>
          <p:txBody>
            <a:bodyPr wrap="none" anchor="t">
              <a:spAutoFit/>
            </a:bodyPr>
            <a:p>
              <a:pPr eaLnBrk="0" hangingPunct="0"/>
              <a:r>
                <a:rPr lang="en-US" altLang="zh-CN" sz="2000" b="1" dirty="0">
                  <a:solidFill>
                    <a:schemeClr val="bg1"/>
                  </a:solidFill>
                  <a:latin typeface="隶书" panose="02010509060101010101" pitchFamily="49" charset="-122"/>
                  <a:ea typeface="隶书" panose="02010509060101010101" pitchFamily="49" charset="-122"/>
                </a:rPr>
                <a:t>-</a:t>
              </a:r>
              <a:endParaRPr lang="en-US" altLang="zh-CN" sz="2000" b="1" dirty="0">
                <a:solidFill>
                  <a:schemeClr val="bg1"/>
                </a:solidFill>
                <a:latin typeface="隶书" panose="02010509060101010101" pitchFamily="49" charset="-122"/>
                <a:ea typeface="隶书" panose="02010509060101010101" pitchFamily="49" charset="-122"/>
              </a:endParaRPr>
            </a:p>
          </p:txBody>
        </p:sp>
        <p:sp>
          <p:nvSpPr>
            <p:cNvPr id="37953" name="Rectangle 68"/>
            <p:cNvSpPr/>
            <p:nvPr/>
          </p:nvSpPr>
          <p:spPr>
            <a:xfrm>
              <a:off x="1565" y="2440"/>
              <a:ext cx="197" cy="265"/>
            </a:xfrm>
            <a:prstGeom prst="rect">
              <a:avLst/>
            </a:prstGeom>
            <a:noFill/>
            <a:ln w="34925">
              <a:noFill/>
            </a:ln>
          </p:spPr>
          <p:txBody>
            <a:bodyPr wrap="none" anchor="t">
              <a:spAutoFit/>
            </a:bodyPr>
            <a:p>
              <a:pPr eaLnBrk="0" hangingPunct="0"/>
              <a:r>
                <a:rPr lang="en-US" altLang="zh-CN" sz="2000" b="1" dirty="0">
                  <a:solidFill>
                    <a:schemeClr val="bg1"/>
                  </a:solidFill>
                  <a:latin typeface="隶书" panose="02010509060101010101" pitchFamily="49" charset="-122"/>
                  <a:ea typeface="隶书" panose="02010509060101010101" pitchFamily="49" charset="-122"/>
                </a:rPr>
                <a:t>-</a:t>
              </a:r>
              <a:endParaRPr lang="en-US" altLang="zh-CN" sz="2000" b="1" dirty="0">
                <a:solidFill>
                  <a:schemeClr val="bg1"/>
                </a:solidFill>
                <a:latin typeface="隶书" panose="02010509060101010101" pitchFamily="49" charset="-122"/>
                <a:ea typeface="隶书" panose="02010509060101010101" pitchFamily="49" charset="-122"/>
              </a:endParaRPr>
            </a:p>
          </p:txBody>
        </p:sp>
        <p:sp>
          <p:nvSpPr>
            <p:cNvPr id="37954" name="Rectangle 69"/>
            <p:cNvSpPr/>
            <p:nvPr/>
          </p:nvSpPr>
          <p:spPr>
            <a:xfrm>
              <a:off x="1519" y="1888"/>
              <a:ext cx="276" cy="264"/>
            </a:xfrm>
            <a:prstGeom prst="rect">
              <a:avLst/>
            </a:prstGeom>
            <a:noFill/>
            <a:ln w="34925">
              <a:noFill/>
            </a:ln>
          </p:spPr>
          <p:txBody>
            <a:bodyPr wrap="none" anchor="t">
              <a:spAutoFit/>
            </a:bodyPr>
            <a:p>
              <a:pPr eaLnBrk="0" hangingPunct="0"/>
              <a:r>
                <a:rPr lang="zh-CN" altLang="en-US" sz="2000" dirty="0">
                  <a:solidFill>
                    <a:srgbClr val="FFFFFF"/>
                  </a:solidFill>
                  <a:latin typeface="隶书" panose="02010509060101010101" pitchFamily="49" charset="-122"/>
                  <a:ea typeface="隶书" panose="02010509060101010101" pitchFamily="49" charset="-122"/>
                </a:rPr>
                <a:t>＋</a:t>
              </a:r>
              <a:endParaRPr lang="zh-CN" altLang="en-US" sz="2000" dirty="0">
                <a:solidFill>
                  <a:srgbClr val="FFFFFF"/>
                </a:solidFill>
                <a:latin typeface="隶书" panose="02010509060101010101" pitchFamily="49" charset="-122"/>
                <a:ea typeface="隶书" panose="02010509060101010101" pitchFamily="49" charset="-122"/>
              </a:endParaRPr>
            </a:p>
          </p:txBody>
        </p:sp>
        <p:sp>
          <p:nvSpPr>
            <p:cNvPr id="37955" name="Rectangle 70"/>
            <p:cNvSpPr/>
            <p:nvPr/>
          </p:nvSpPr>
          <p:spPr>
            <a:xfrm>
              <a:off x="1066" y="2523"/>
              <a:ext cx="425" cy="306"/>
            </a:xfrm>
            <a:prstGeom prst="rect">
              <a:avLst/>
            </a:prstGeom>
            <a:noFill/>
            <a:ln w="34925">
              <a:noFill/>
            </a:ln>
          </p:spPr>
          <p:txBody>
            <a:bodyPr wrap="none" anchor="t">
              <a:spAutoFit/>
            </a:bodyPr>
            <a:p>
              <a:pPr eaLnBrk="0" hangingPunct="0"/>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BE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37956" name="Rectangle 71"/>
            <p:cNvSpPr/>
            <p:nvPr/>
          </p:nvSpPr>
          <p:spPr>
            <a:xfrm>
              <a:off x="1519" y="2115"/>
              <a:ext cx="432" cy="306"/>
            </a:xfrm>
            <a:prstGeom prst="rect">
              <a:avLst/>
            </a:prstGeom>
            <a:noFill/>
            <a:ln w="34925">
              <a:noFill/>
            </a:ln>
          </p:spPr>
          <p:txBody>
            <a:bodyPr wrap="none" anchor="t">
              <a:spAutoFit/>
            </a:bodyPr>
            <a:p>
              <a:pPr eaLnBrk="0" hangingPunct="0"/>
              <a:r>
                <a:rPr lang="en-US" altLang="zh-CN" sz="2400" b="1" i="1" dirty="0">
                  <a:solidFill>
                    <a:schemeClr val="bg1"/>
                  </a:solidFill>
                  <a:latin typeface="Times New Roman" panose="02020603050405020304" pitchFamily="18" charset="0"/>
                  <a:ea typeface="宋体" panose="02010600030101010101" pitchFamily="2" charset="-122"/>
                </a:rPr>
                <a:t>U</a:t>
              </a:r>
              <a:r>
                <a:rPr lang="en-US" altLang="zh-CN" sz="2400" b="1" baseline="-25000" dirty="0">
                  <a:solidFill>
                    <a:schemeClr val="bg1"/>
                  </a:solidFill>
                  <a:latin typeface="Times New Roman" panose="02020603050405020304" pitchFamily="18" charset="0"/>
                  <a:ea typeface="宋体" panose="02010600030101010101" pitchFamily="2" charset="-122"/>
                </a:rPr>
                <a:t>CE</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wd">
                                    <p:tmPct val="100000"/>
                                  </p:iterate>
                                  <p:childTnLst>
                                    <p:set>
                                      <p:cBhvr>
                                        <p:cTn id="6" dur="1" fill="hold">
                                          <p:stCondLst>
                                            <p:cond delay="0"/>
                                          </p:stCondLst>
                                        </p:cTn>
                                        <p:tgtEl>
                                          <p:spTgt spid="12294"/>
                                        </p:tgtEl>
                                        <p:attrNameLst>
                                          <p:attrName>style.visibility</p:attrName>
                                        </p:attrNameLst>
                                      </p:cBhvr>
                                      <p:to>
                                        <p:strVal val="visible"/>
                                      </p:to>
                                    </p:set>
                                    <p:animEffect transition="in" filter="box(in)">
                                      <p:cBhvr>
                                        <p:cTn id="7" dur="300"/>
                                        <p:tgtEl>
                                          <p:spTgt spid="1229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box(in)">
                                      <p:cBhvr>
                                        <p:cTn id="12" dur="500"/>
                                        <p:tgtEl>
                                          <p:spTgt spid="12290"/>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12302"/>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123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7" presetClass="entr" presetSubtype="4" fill="hold" nodeType="clickEffect">
                                  <p:stCondLst>
                                    <p:cond delay="0"/>
                                  </p:stCondLst>
                                  <p:childTnLst>
                                    <p:set>
                                      <p:cBhvr>
                                        <p:cTn id="22" dur="1" fill="hold">
                                          <p:stCondLst>
                                            <p:cond delay="0"/>
                                          </p:stCondLst>
                                        </p:cTn>
                                        <p:tgtEl>
                                          <p:spTgt spid="12309"/>
                                        </p:tgtEl>
                                        <p:attrNameLst>
                                          <p:attrName>style.visibility</p:attrName>
                                        </p:attrNameLst>
                                      </p:cBhvr>
                                      <p:to>
                                        <p:strVal val="visible"/>
                                      </p:to>
                                    </p:set>
                                    <p:anim calcmode="lin" valueType="num">
                                      <p:cBhvr>
                                        <p:cTn id="23" dur="500" fill="hold"/>
                                        <p:tgtEl>
                                          <p:spTgt spid="12309"/>
                                        </p:tgtEl>
                                        <p:attrNameLst>
                                          <p:attrName>ppt_x</p:attrName>
                                        </p:attrNameLst>
                                      </p:cBhvr>
                                      <p:tavLst>
                                        <p:tav tm="0">
                                          <p:val>
                                            <p:strVal val="#ppt_x"/>
                                          </p:val>
                                        </p:tav>
                                        <p:tav tm="100000">
                                          <p:val>
                                            <p:strVal val="#ppt_x"/>
                                          </p:val>
                                        </p:tav>
                                      </p:tavLst>
                                    </p:anim>
                                    <p:anim calcmode="lin" valueType="num">
                                      <p:cBhvr>
                                        <p:cTn id="24" dur="500" fill="hold"/>
                                        <p:tgtEl>
                                          <p:spTgt spid="12309"/>
                                        </p:tgtEl>
                                        <p:attrNameLst>
                                          <p:attrName>ppt_y</p:attrName>
                                        </p:attrNameLst>
                                      </p:cBhvr>
                                      <p:tavLst>
                                        <p:tav tm="0">
                                          <p:val>
                                            <p:strVal val="#ppt_y+#ppt_h/2"/>
                                          </p:val>
                                        </p:tav>
                                        <p:tav tm="100000">
                                          <p:val>
                                            <p:strVal val="#ppt_y"/>
                                          </p:val>
                                        </p:tav>
                                      </p:tavLst>
                                    </p:anim>
                                    <p:anim calcmode="lin" valueType="num">
                                      <p:cBhvr>
                                        <p:cTn id="25" dur="500" fill="hold"/>
                                        <p:tgtEl>
                                          <p:spTgt spid="12309"/>
                                        </p:tgtEl>
                                        <p:attrNameLst>
                                          <p:attrName>ppt_w</p:attrName>
                                        </p:attrNameLst>
                                      </p:cBhvr>
                                      <p:tavLst>
                                        <p:tav tm="0">
                                          <p:val>
                                            <p:strVal val="#ppt_w"/>
                                          </p:val>
                                        </p:tav>
                                        <p:tav tm="100000">
                                          <p:val>
                                            <p:strVal val="#ppt_w"/>
                                          </p:val>
                                        </p:tav>
                                      </p:tavLst>
                                    </p:anim>
                                    <p:anim calcmode="lin" valueType="num">
                                      <p:cBhvr>
                                        <p:cTn id="26" dur="500" fill="hold"/>
                                        <p:tgtEl>
                                          <p:spTgt spid="12309"/>
                                        </p:tgtEl>
                                        <p:attrNameLst>
                                          <p:attrName>ppt_h</p:attrName>
                                        </p:attrNameLst>
                                      </p:cBhvr>
                                      <p:tavLst>
                                        <p:tav tm="0">
                                          <p:val>
                                            <p:fltVal val="0.000000"/>
                                          </p:val>
                                        </p:tav>
                                        <p:tav tm="100000">
                                          <p:val>
                                            <p:strVal val="#ppt_h"/>
                                          </p:val>
                                        </p:tav>
                                      </p:tavLst>
                                    </p:anim>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2295"/>
                                        </p:tgtEl>
                                        <p:attrNameLst>
                                          <p:attrName>style.visibility</p:attrName>
                                        </p:attrNameLst>
                                      </p:cBhvr>
                                      <p:to>
                                        <p:strVal val="visible"/>
                                      </p:to>
                                    </p:set>
                                    <p:animEffect transition="in" filter="wipe(left)">
                                      <p:cBhvr>
                                        <p:cTn id="30" dur="500"/>
                                        <p:tgtEl>
                                          <p:spTgt spid="12295"/>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12296"/>
                                        </p:tgtEl>
                                        <p:attrNameLst>
                                          <p:attrName>style.visibility</p:attrName>
                                        </p:attrNameLst>
                                      </p:cBhvr>
                                      <p:to>
                                        <p:strVal val="visible"/>
                                      </p:to>
                                    </p:set>
                                    <p:animEffect transition="in" filter="wipe(left)">
                                      <p:cBhvr>
                                        <p:cTn id="34" dur="500"/>
                                        <p:tgtEl>
                                          <p:spTgt spid="12296"/>
                                        </p:tgtEl>
                                      </p:cBhvr>
                                    </p:animEffect>
                                  </p:childTnLst>
                                </p:cTn>
                              </p:par>
                            </p:childTnLst>
                          </p:cTn>
                        </p:par>
                        <p:par>
                          <p:cTn id="35" fill="hold">
                            <p:stCondLst>
                              <p:cond delay="1500"/>
                            </p:stCondLst>
                            <p:childTnLst>
                              <p:par>
                                <p:cTn id="36" presetID="9" presetClass="entr" presetSubtype="0" fill="hold" grpId="0" nodeType="afterEffect">
                                  <p:stCondLst>
                                    <p:cond delay="0"/>
                                  </p:stCondLst>
                                  <p:childTnLst>
                                    <p:set>
                                      <p:cBhvr>
                                        <p:cTn id="37" dur="1" fill="hold">
                                          <p:stCondLst>
                                            <p:cond delay="0"/>
                                          </p:stCondLst>
                                        </p:cTn>
                                        <p:tgtEl>
                                          <p:spTgt spid="12308"/>
                                        </p:tgtEl>
                                        <p:attrNameLst>
                                          <p:attrName>style.visibility</p:attrName>
                                        </p:attrNameLst>
                                      </p:cBhvr>
                                      <p:to>
                                        <p:strVal val="visible"/>
                                      </p:to>
                                    </p:set>
                                    <p:animEffect transition="in" filter="dissolve">
                                      <p:cBhvr>
                                        <p:cTn id="38" dur="500"/>
                                        <p:tgtEl>
                                          <p:spTgt spid="12308"/>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1" fill="hold" grpId="0" nodeType="clickEffect">
                                  <p:stCondLst>
                                    <p:cond delay="0"/>
                                  </p:stCondLst>
                                  <p:childTnLst>
                                    <p:set>
                                      <p:cBhvr>
                                        <p:cTn id="42" dur="1" fill="hold">
                                          <p:stCondLst>
                                            <p:cond delay="0"/>
                                          </p:stCondLst>
                                        </p:cTn>
                                        <p:tgtEl>
                                          <p:spTgt spid="12300"/>
                                        </p:tgtEl>
                                        <p:attrNameLst>
                                          <p:attrName>style.visibility</p:attrName>
                                        </p:attrNameLst>
                                      </p:cBhvr>
                                      <p:to>
                                        <p:strVal val="visible"/>
                                      </p:to>
                                    </p:set>
                                    <p:anim calcmode="lin" valueType="num">
                                      <p:cBhvr>
                                        <p:cTn id="43" dur="500" fill="hold"/>
                                        <p:tgtEl>
                                          <p:spTgt spid="12300"/>
                                        </p:tgtEl>
                                        <p:attrNameLst>
                                          <p:attrName>ppt_x</p:attrName>
                                        </p:attrNameLst>
                                      </p:cBhvr>
                                      <p:tavLst>
                                        <p:tav tm="0">
                                          <p:val>
                                            <p:strVal val="#ppt_x"/>
                                          </p:val>
                                        </p:tav>
                                        <p:tav tm="100000">
                                          <p:val>
                                            <p:strVal val="#ppt_x"/>
                                          </p:val>
                                        </p:tav>
                                      </p:tavLst>
                                    </p:anim>
                                    <p:anim calcmode="lin" valueType="num">
                                      <p:cBhvr>
                                        <p:cTn id="44" dur="500" fill="hold"/>
                                        <p:tgtEl>
                                          <p:spTgt spid="12300"/>
                                        </p:tgtEl>
                                        <p:attrNameLst>
                                          <p:attrName>ppt_y</p:attrName>
                                        </p:attrNameLst>
                                      </p:cBhvr>
                                      <p:tavLst>
                                        <p:tav tm="0">
                                          <p:val>
                                            <p:strVal val="#ppt_y-#ppt_h/2"/>
                                          </p:val>
                                        </p:tav>
                                        <p:tav tm="100000">
                                          <p:val>
                                            <p:strVal val="#ppt_y"/>
                                          </p:val>
                                        </p:tav>
                                      </p:tavLst>
                                    </p:anim>
                                    <p:anim calcmode="lin" valueType="num">
                                      <p:cBhvr>
                                        <p:cTn id="45" dur="500" fill="hold"/>
                                        <p:tgtEl>
                                          <p:spTgt spid="12300"/>
                                        </p:tgtEl>
                                        <p:attrNameLst>
                                          <p:attrName>ppt_w</p:attrName>
                                        </p:attrNameLst>
                                      </p:cBhvr>
                                      <p:tavLst>
                                        <p:tav tm="0">
                                          <p:val>
                                            <p:strVal val="#ppt_w"/>
                                          </p:val>
                                        </p:tav>
                                        <p:tav tm="100000">
                                          <p:val>
                                            <p:strVal val="#ppt_w"/>
                                          </p:val>
                                        </p:tav>
                                      </p:tavLst>
                                    </p:anim>
                                    <p:anim calcmode="lin" valueType="num">
                                      <p:cBhvr>
                                        <p:cTn id="46" dur="500" fill="hold"/>
                                        <p:tgtEl>
                                          <p:spTgt spid="12300"/>
                                        </p:tgtEl>
                                        <p:attrNameLst>
                                          <p:attrName>ppt_h</p:attrName>
                                        </p:attrNameLst>
                                      </p:cBhvr>
                                      <p:tavLst>
                                        <p:tav tm="0">
                                          <p:val>
                                            <p:fltVal val="0.000000"/>
                                          </p:val>
                                        </p:tav>
                                        <p:tav tm="100000">
                                          <p:val>
                                            <p:strVal val="#ppt_h"/>
                                          </p:val>
                                        </p:tav>
                                      </p:tavLst>
                                    </p:anim>
                                  </p:childTnLst>
                                </p:cTn>
                              </p:par>
                            </p:childTnLst>
                          </p:cTn>
                        </p:par>
                        <p:par>
                          <p:cTn id="47" fill="hold">
                            <p:stCondLst>
                              <p:cond delay="500"/>
                            </p:stCondLst>
                            <p:childTnLst>
                              <p:par>
                                <p:cTn id="48" presetID="17" presetClass="entr" presetSubtype="1" fill="hold" nodeType="afterEffect">
                                  <p:stCondLst>
                                    <p:cond delay="0"/>
                                  </p:stCondLst>
                                  <p:childTnLst>
                                    <p:set>
                                      <p:cBhvr>
                                        <p:cTn id="49" dur="1" fill="hold">
                                          <p:stCondLst>
                                            <p:cond delay="0"/>
                                          </p:stCondLst>
                                        </p:cTn>
                                        <p:tgtEl>
                                          <p:spTgt spid="12305"/>
                                        </p:tgtEl>
                                        <p:attrNameLst>
                                          <p:attrName>style.visibility</p:attrName>
                                        </p:attrNameLst>
                                      </p:cBhvr>
                                      <p:to>
                                        <p:strVal val="visible"/>
                                      </p:to>
                                    </p:set>
                                    <p:anim calcmode="lin" valueType="num">
                                      <p:cBhvr>
                                        <p:cTn id="50" dur="500" fill="hold"/>
                                        <p:tgtEl>
                                          <p:spTgt spid="12305"/>
                                        </p:tgtEl>
                                        <p:attrNameLst>
                                          <p:attrName>ppt_x</p:attrName>
                                        </p:attrNameLst>
                                      </p:cBhvr>
                                      <p:tavLst>
                                        <p:tav tm="0">
                                          <p:val>
                                            <p:strVal val="#ppt_x"/>
                                          </p:val>
                                        </p:tav>
                                        <p:tav tm="100000">
                                          <p:val>
                                            <p:strVal val="#ppt_x"/>
                                          </p:val>
                                        </p:tav>
                                      </p:tavLst>
                                    </p:anim>
                                    <p:anim calcmode="lin" valueType="num">
                                      <p:cBhvr>
                                        <p:cTn id="51" dur="500" fill="hold"/>
                                        <p:tgtEl>
                                          <p:spTgt spid="12305"/>
                                        </p:tgtEl>
                                        <p:attrNameLst>
                                          <p:attrName>ppt_y</p:attrName>
                                        </p:attrNameLst>
                                      </p:cBhvr>
                                      <p:tavLst>
                                        <p:tav tm="0">
                                          <p:val>
                                            <p:strVal val="#ppt_y-#ppt_h/2"/>
                                          </p:val>
                                        </p:tav>
                                        <p:tav tm="100000">
                                          <p:val>
                                            <p:strVal val="#ppt_y"/>
                                          </p:val>
                                        </p:tav>
                                      </p:tavLst>
                                    </p:anim>
                                    <p:anim calcmode="lin" valueType="num">
                                      <p:cBhvr>
                                        <p:cTn id="52" dur="500" fill="hold"/>
                                        <p:tgtEl>
                                          <p:spTgt spid="12305"/>
                                        </p:tgtEl>
                                        <p:attrNameLst>
                                          <p:attrName>ppt_w</p:attrName>
                                        </p:attrNameLst>
                                      </p:cBhvr>
                                      <p:tavLst>
                                        <p:tav tm="0">
                                          <p:val>
                                            <p:strVal val="#ppt_w"/>
                                          </p:val>
                                        </p:tav>
                                        <p:tav tm="100000">
                                          <p:val>
                                            <p:strVal val="#ppt_w"/>
                                          </p:val>
                                        </p:tav>
                                      </p:tavLst>
                                    </p:anim>
                                    <p:anim calcmode="lin" valueType="num">
                                      <p:cBhvr>
                                        <p:cTn id="53" dur="500" fill="hold"/>
                                        <p:tgtEl>
                                          <p:spTgt spid="12305"/>
                                        </p:tgtEl>
                                        <p:attrNameLst>
                                          <p:attrName>ppt_h</p:attrName>
                                        </p:attrNameLst>
                                      </p:cBhvr>
                                      <p:tavLst>
                                        <p:tav tm="0">
                                          <p:val>
                                            <p:fltVal val="0.000000"/>
                                          </p:val>
                                        </p:tav>
                                        <p:tav tm="100000">
                                          <p:val>
                                            <p:strVal val="#ppt_h"/>
                                          </p:val>
                                        </p:tav>
                                      </p:tavLst>
                                    </p:anim>
                                  </p:childTnLst>
                                </p:cTn>
                              </p:par>
                            </p:childTnLst>
                          </p:cTn>
                        </p:par>
                        <p:par>
                          <p:cTn id="54" fill="hold">
                            <p:stCondLst>
                              <p:cond delay="1000"/>
                            </p:stCondLst>
                            <p:childTnLst>
                              <p:par>
                                <p:cTn id="55" presetID="22" presetClass="entr" presetSubtype="4" fill="hold" nodeType="afterEffect">
                                  <p:stCondLst>
                                    <p:cond delay="0"/>
                                  </p:stCondLst>
                                  <p:childTnLst>
                                    <p:set>
                                      <p:cBhvr>
                                        <p:cTn id="56" dur="1" fill="hold">
                                          <p:stCondLst>
                                            <p:cond delay="0"/>
                                          </p:stCondLst>
                                        </p:cTn>
                                        <p:tgtEl>
                                          <p:spTgt spid="12311"/>
                                        </p:tgtEl>
                                        <p:attrNameLst>
                                          <p:attrName>style.visibility</p:attrName>
                                        </p:attrNameLst>
                                      </p:cBhvr>
                                      <p:to>
                                        <p:strVal val="visible"/>
                                      </p:to>
                                    </p:set>
                                    <p:animEffect transition="in" filter="wipe(down)">
                                      <p:cBhvr>
                                        <p:cTn id="57" dur="500"/>
                                        <p:tgtEl>
                                          <p:spTgt spid="12311"/>
                                        </p:tgtEl>
                                      </p:cBhvr>
                                    </p:animEffect>
                                  </p:childTnLst>
                                </p:cTn>
                              </p:par>
                            </p:childTnLst>
                          </p:cTn>
                        </p:par>
                        <p:par>
                          <p:cTn id="58" fill="hold">
                            <p:stCondLst>
                              <p:cond delay="1500"/>
                            </p:stCondLst>
                            <p:childTnLst>
                              <p:par>
                                <p:cTn id="59" presetID="1" presetClass="entr" presetSubtype="0" fill="hold" nodeType="afterEffect">
                                  <p:stCondLst>
                                    <p:cond delay="0"/>
                                  </p:stCondLst>
                                  <p:childTnLst>
                                    <p:set>
                                      <p:cBhvr>
                                        <p:cTn id="60" dur="1" fill="hold">
                                          <p:stCondLst>
                                            <p:cond delay="499"/>
                                          </p:stCondLst>
                                        </p:cTn>
                                        <p:tgtEl>
                                          <p:spTgt spid="12310"/>
                                        </p:tgtEl>
                                        <p:attrNameLst>
                                          <p:attrName>style.visibility</p:attrName>
                                        </p:attrNameLst>
                                      </p:cBhvr>
                                      <p:to>
                                        <p:strVal val="visible"/>
                                      </p:to>
                                    </p:set>
                                  </p:childTnLst>
                                </p:cTn>
                              </p:par>
                            </p:childTnLst>
                          </p:cTn>
                        </p:par>
                        <p:par>
                          <p:cTn id="61" fill="hold">
                            <p:stCondLst>
                              <p:cond delay="2000"/>
                            </p:stCondLst>
                            <p:childTnLst>
                              <p:par>
                                <p:cTn id="62" presetID="22" presetClass="entr" presetSubtype="8" fill="hold" nodeType="afterEffect">
                                  <p:stCondLst>
                                    <p:cond delay="0"/>
                                  </p:stCondLst>
                                  <p:childTnLst>
                                    <p:set>
                                      <p:cBhvr>
                                        <p:cTn id="63" dur="1" fill="hold">
                                          <p:stCondLst>
                                            <p:cond delay="0"/>
                                          </p:stCondLst>
                                        </p:cTn>
                                        <p:tgtEl>
                                          <p:spTgt spid="12298"/>
                                        </p:tgtEl>
                                        <p:attrNameLst>
                                          <p:attrName>style.visibility</p:attrName>
                                        </p:attrNameLst>
                                      </p:cBhvr>
                                      <p:to>
                                        <p:strVal val="visible"/>
                                      </p:to>
                                    </p:set>
                                    <p:animEffect transition="in" filter="wipe(left)">
                                      <p:cBhvr>
                                        <p:cTn id="64" dur="500"/>
                                        <p:tgtEl>
                                          <p:spTgt spid="12298"/>
                                        </p:tgtEl>
                                      </p:cBhvr>
                                    </p:animEffect>
                                  </p:childTnLst>
                                </p:cTn>
                              </p:par>
                            </p:childTnLst>
                          </p:cTn>
                        </p:par>
                        <p:par>
                          <p:cTn id="65" fill="hold">
                            <p:stCondLst>
                              <p:cond delay="2500"/>
                            </p:stCondLst>
                            <p:childTnLst>
                              <p:par>
                                <p:cTn id="66" presetID="4" presetClass="entr" presetSubtype="16" fill="hold" grpId="0" nodeType="afterEffect">
                                  <p:stCondLst>
                                    <p:cond delay="0"/>
                                  </p:stCondLst>
                                  <p:childTnLst>
                                    <p:set>
                                      <p:cBhvr>
                                        <p:cTn id="67" dur="1" fill="hold">
                                          <p:stCondLst>
                                            <p:cond delay="0"/>
                                          </p:stCondLst>
                                        </p:cTn>
                                        <p:tgtEl>
                                          <p:spTgt spid="12306"/>
                                        </p:tgtEl>
                                        <p:attrNameLst>
                                          <p:attrName>style.visibility</p:attrName>
                                        </p:attrNameLst>
                                      </p:cBhvr>
                                      <p:to>
                                        <p:strVal val="visible"/>
                                      </p:to>
                                    </p:set>
                                    <p:animEffect transition="in" filter="box(in)">
                                      <p:cBhvr>
                                        <p:cTn id="68" dur="500"/>
                                        <p:tgtEl>
                                          <p:spTgt spid="12306"/>
                                        </p:tgtEl>
                                      </p:cBhvr>
                                    </p:animEffect>
                                  </p:childTnLst>
                                </p:cTn>
                              </p:par>
                            </p:childTnLst>
                          </p:cTn>
                        </p:par>
                      </p:childTnLst>
                    </p:cTn>
                  </p:par>
                  <p:par>
                    <p:cTn id="69" fill="hold">
                      <p:stCondLst>
                        <p:cond delay="indefinite"/>
                      </p:stCondLst>
                      <p:childTnLst>
                        <p:par>
                          <p:cTn id="70" fill="hold">
                            <p:stCondLst>
                              <p:cond delay="0"/>
                            </p:stCondLst>
                            <p:childTnLst>
                              <p:par>
                                <p:cTn id="71" presetID="17" presetClass="entr" presetSubtype="4" fill="hold" grpId="0" nodeType="clickEffect">
                                  <p:stCondLst>
                                    <p:cond delay="0"/>
                                  </p:stCondLst>
                                  <p:childTnLst>
                                    <p:set>
                                      <p:cBhvr>
                                        <p:cTn id="72" dur="1" fill="hold">
                                          <p:stCondLst>
                                            <p:cond delay="0"/>
                                          </p:stCondLst>
                                        </p:cTn>
                                        <p:tgtEl>
                                          <p:spTgt spid="12301"/>
                                        </p:tgtEl>
                                        <p:attrNameLst>
                                          <p:attrName>style.visibility</p:attrName>
                                        </p:attrNameLst>
                                      </p:cBhvr>
                                      <p:to>
                                        <p:strVal val="visible"/>
                                      </p:to>
                                    </p:set>
                                    <p:anim calcmode="lin" valueType="num">
                                      <p:cBhvr>
                                        <p:cTn id="73" dur="500" fill="hold"/>
                                        <p:tgtEl>
                                          <p:spTgt spid="12301"/>
                                        </p:tgtEl>
                                        <p:attrNameLst>
                                          <p:attrName>ppt_x</p:attrName>
                                        </p:attrNameLst>
                                      </p:cBhvr>
                                      <p:tavLst>
                                        <p:tav tm="0">
                                          <p:val>
                                            <p:strVal val="#ppt_x"/>
                                          </p:val>
                                        </p:tav>
                                        <p:tav tm="100000">
                                          <p:val>
                                            <p:strVal val="#ppt_x"/>
                                          </p:val>
                                        </p:tav>
                                      </p:tavLst>
                                    </p:anim>
                                    <p:anim calcmode="lin" valueType="num">
                                      <p:cBhvr>
                                        <p:cTn id="74" dur="500" fill="hold"/>
                                        <p:tgtEl>
                                          <p:spTgt spid="12301"/>
                                        </p:tgtEl>
                                        <p:attrNameLst>
                                          <p:attrName>ppt_y</p:attrName>
                                        </p:attrNameLst>
                                      </p:cBhvr>
                                      <p:tavLst>
                                        <p:tav tm="0">
                                          <p:val>
                                            <p:strVal val="#ppt_y+#ppt_h/2"/>
                                          </p:val>
                                        </p:tav>
                                        <p:tav tm="100000">
                                          <p:val>
                                            <p:strVal val="#ppt_y"/>
                                          </p:val>
                                        </p:tav>
                                      </p:tavLst>
                                    </p:anim>
                                    <p:anim calcmode="lin" valueType="num">
                                      <p:cBhvr>
                                        <p:cTn id="75" dur="500" fill="hold"/>
                                        <p:tgtEl>
                                          <p:spTgt spid="12301"/>
                                        </p:tgtEl>
                                        <p:attrNameLst>
                                          <p:attrName>ppt_w</p:attrName>
                                        </p:attrNameLst>
                                      </p:cBhvr>
                                      <p:tavLst>
                                        <p:tav tm="0">
                                          <p:val>
                                            <p:strVal val="#ppt_w"/>
                                          </p:val>
                                        </p:tav>
                                        <p:tav tm="100000">
                                          <p:val>
                                            <p:strVal val="#ppt_w"/>
                                          </p:val>
                                        </p:tav>
                                      </p:tavLst>
                                    </p:anim>
                                    <p:anim calcmode="lin" valueType="num">
                                      <p:cBhvr>
                                        <p:cTn id="76" dur="500" fill="hold"/>
                                        <p:tgtEl>
                                          <p:spTgt spid="12301"/>
                                        </p:tgtEl>
                                        <p:attrNameLst>
                                          <p:attrName>ppt_h</p:attrName>
                                        </p:attrNameLst>
                                      </p:cBhvr>
                                      <p:tavLst>
                                        <p:tav tm="0">
                                          <p:val>
                                            <p:fltVal val="0.000000"/>
                                          </p:val>
                                        </p:tav>
                                        <p:tav tm="100000">
                                          <p:val>
                                            <p:strVal val="#ppt_h"/>
                                          </p:val>
                                        </p:tav>
                                      </p:tavLst>
                                    </p:anim>
                                  </p:childTnLst>
                                </p:cTn>
                              </p:par>
                            </p:childTnLst>
                          </p:cTn>
                        </p:par>
                        <p:par>
                          <p:cTn id="77" fill="hold">
                            <p:stCondLst>
                              <p:cond delay="500"/>
                            </p:stCondLst>
                            <p:childTnLst>
                              <p:par>
                                <p:cTn id="78" presetID="17" presetClass="entr" presetSubtype="4" fill="hold" nodeType="afterEffect">
                                  <p:stCondLst>
                                    <p:cond delay="0"/>
                                  </p:stCondLst>
                                  <p:childTnLst>
                                    <p:set>
                                      <p:cBhvr>
                                        <p:cTn id="79" dur="1" fill="hold">
                                          <p:stCondLst>
                                            <p:cond delay="0"/>
                                          </p:stCondLst>
                                        </p:cTn>
                                        <p:tgtEl>
                                          <p:spTgt spid="12304"/>
                                        </p:tgtEl>
                                        <p:attrNameLst>
                                          <p:attrName>style.visibility</p:attrName>
                                        </p:attrNameLst>
                                      </p:cBhvr>
                                      <p:to>
                                        <p:strVal val="visible"/>
                                      </p:to>
                                    </p:set>
                                    <p:anim calcmode="lin" valueType="num">
                                      <p:cBhvr>
                                        <p:cTn id="80" dur="500" fill="hold"/>
                                        <p:tgtEl>
                                          <p:spTgt spid="12304"/>
                                        </p:tgtEl>
                                        <p:attrNameLst>
                                          <p:attrName>ppt_x</p:attrName>
                                        </p:attrNameLst>
                                      </p:cBhvr>
                                      <p:tavLst>
                                        <p:tav tm="0">
                                          <p:val>
                                            <p:strVal val="#ppt_x"/>
                                          </p:val>
                                        </p:tav>
                                        <p:tav tm="100000">
                                          <p:val>
                                            <p:strVal val="#ppt_x"/>
                                          </p:val>
                                        </p:tav>
                                      </p:tavLst>
                                    </p:anim>
                                    <p:anim calcmode="lin" valueType="num">
                                      <p:cBhvr>
                                        <p:cTn id="81" dur="500" fill="hold"/>
                                        <p:tgtEl>
                                          <p:spTgt spid="12304"/>
                                        </p:tgtEl>
                                        <p:attrNameLst>
                                          <p:attrName>ppt_y</p:attrName>
                                        </p:attrNameLst>
                                      </p:cBhvr>
                                      <p:tavLst>
                                        <p:tav tm="0">
                                          <p:val>
                                            <p:strVal val="#ppt_y+#ppt_h/2"/>
                                          </p:val>
                                        </p:tav>
                                        <p:tav tm="100000">
                                          <p:val>
                                            <p:strVal val="#ppt_y"/>
                                          </p:val>
                                        </p:tav>
                                      </p:tavLst>
                                    </p:anim>
                                    <p:anim calcmode="lin" valueType="num">
                                      <p:cBhvr>
                                        <p:cTn id="82" dur="500" fill="hold"/>
                                        <p:tgtEl>
                                          <p:spTgt spid="12304"/>
                                        </p:tgtEl>
                                        <p:attrNameLst>
                                          <p:attrName>ppt_w</p:attrName>
                                        </p:attrNameLst>
                                      </p:cBhvr>
                                      <p:tavLst>
                                        <p:tav tm="0">
                                          <p:val>
                                            <p:strVal val="#ppt_w"/>
                                          </p:val>
                                        </p:tav>
                                        <p:tav tm="100000">
                                          <p:val>
                                            <p:strVal val="#ppt_w"/>
                                          </p:val>
                                        </p:tav>
                                      </p:tavLst>
                                    </p:anim>
                                    <p:anim calcmode="lin" valueType="num">
                                      <p:cBhvr>
                                        <p:cTn id="83" dur="500" fill="hold"/>
                                        <p:tgtEl>
                                          <p:spTgt spid="12304"/>
                                        </p:tgtEl>
                                        <p:attrNameLst>
                                          <p:attrName>ppt_h</p:attrName>
                                        </p:attrNameLst>
                                      </p:cBhvr>
                                      <p:tavLst>
                                        <p:tav tm="0">
                                          <p:val>
                                            <p:fltVal val="0.000000"/>
                                          </p:val>
                                        </p:tav>
                                        <p:tav tm="100000">
                                          <p:val>
                                            <p:strVal val="#ppt_h"/>
                                          </p:val>
                                        </p:tav>
                                      </p:tavLst>
                                    </p:anim>
                                  </p:childTnLst>
                                </p:cTn>
                              </p:par>
                            </p:childTnLst>
                          </p:cTn>
                        </p:par>
                        <p:par>
                          <p:cTn id="84" fill="hold">
                            <p:stCondLst>
                              <p:cond delay="1000"/>
                            </p:stCondLst>
                            <p:childTnLst>
                              <p:par>
                                <p:cTn id="85" presetID="22" presetClass="entr" presetSubtype="4" fill="hold" nodeType="afterEffect">
                                  <p:stCondLst>
                                    <p:cond delay="0"/>
                                  </p:stCondLst>
                                  <p:childTnLst>
                                    <p:set>
                                      <p:cBhvr>
                                        <p:cTn id="86" dur="1" fill="hold">
                                          <p:stCondLst>
                                            <p:cond delay="0"/>
                                          </p:stCondLst>
                                        </p:cTn>
                                        <p:tgtEl>
                                          <p:spTgt spid="12297"/>
                                        </p:tgtEl>
                                        <p:attrNameLst>
                                          <p:attrName>style.visibility</p:attrName>
                                        </p:attrNameLst>
                                      </p:cBhvr>
                                      <p:to>
                                        <p:strVal val="visible"/>
                                      </p:to>
                                    </p:set>
                                    <p:animEffect transition="in" filter="wipe(down)">
                                      <p:cBhvr>
                                        <p:cTn id="87" dur="500"/>
                                        <p:tgtEl>
                                          <p:spTgt spid="12297"/>
                                        </p:tgtEl>
                                      </p:cBhvr>
                                    </p:animEffect>
                                  </p:childTnLst>
                                </p:cTn>
                              </p:par>
                            </p:childTnLst>
                          </p:cTn>
                        </p:par>
                        <p:par>
                          <p:cTn id="88" fill="hold">
                            <p:stCondLst>
                              <p:cond delay="1500"/>
                            </p:stCondLst>
                            <p:childTnLst>
                              <p:par>
                                <p:cTn id="89" presetID="22" presetClass="entr" presetSubtype="8" fill="hold" nodeType="afterEffect">
                                  <p:stCondLst>
                                    <p:cond delay="0"/>
                                  </p:stCondLst>
                                  <p:childTnLst>
                                    <p:set>
                                      <p:cBhvr>
                                        <p:cTn id="90" dur="1" fill="hold">
                                          <p:stCondLst>
                                            <p:cond delay="0"/>
                                          </p:stCondLst>
                                        </p:cTn>
                                        <p:tgtEl>
                                          <p:spTgt spid="12299"/>
                                        </p:tgtEl>
                                        <p:attrNameLst>
                                          <p:attrName>style.visibility</p:attrName>
                                        </p:attrNameLst>
                                      </p:cBhvr>
                                      <p:to>
                                        <p:strVal val="visible"/>
                                      </p:to>
                                    </p:set>
                                    <p:animEffect transition="in" filter="wipe(left)">
                                      <p:cBhvr>
                                        <p:cTn id="91" dur="500"/>
                                        <p:tgtEl>
                                          <p:spTgt spid="12299"/>
                                        </p:tgtEl>
                                      </p:cBhvr>
                                    </p:animEffect>
                                  </p:childTnLst>
                                </p:cTn>
                              </p:par>
                            </p:childTnLst>
                          </p:cTn>
                        </p:par>
                        <p:par>
                          <p:cTn id="92" fill="hold">
                            <p:stCondLst>
                              <p:cond delay="2000"/>
                            </p:stCondLst>
                            <p:childTnLst>
                              <p:par>
                                <p:cTn id="93" presetID="4" presetClass="entr" presetSubtype="16" fill="hold" grpId="0" nodeType="afterEffect">
                                  <p:stCondLst>
                                    <p:cond delay="0"/>
                                  </p:stCondLst>
                                  <p:childTnLst>
                                    <p:set>
                                      <p:cBhvr>
                                        <p:cTn id="94" dur="1" fill="hold">
                                          <p:stCondLst>
                                            <p:cond delay="0"/>
                                          </p:stCondLst>
                                        </p:cTn>
                                        <p:tgtEl>
                                          <p:spTgt spid="12307"/>
                                        </p:tgtEl>
                                        <p:attrNameLst>
                                          <p:attrName>style.visibility</p:attrName>
                                        </p:attrNameLst>
                                      </p:cBhvr>
                                      <p:to>
                                        <p:strVal val="visible"/>
                                      </p:to>
                                    </p:set>
                                    <p:animEffect transition="in" filter="box(in)">
                                      <p:cBhvr>
                                        <p:cTn id="95" dur="500"/>
                                        <p:tgtEl>
                                          <p:spTgt spid="12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p:bldP spid="12300" grpId="0"/>
      <p:bldP spid="12301" grpId="0"/>
      <p:bldP spid="12302" grpId="0"/>
      <p:bldP spid="12303" grpId="0"/>
      <p:bldP spid="12306" grpId="0"/>
      <p:bldP spid="12307" grpId="0"/>
      <p:bldP spid="1230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7" name="Picture 2"/>
          <p:cNvPicPr>
            <a:picLocks noChangeAspect="1"/>
          </p:cNvPicPr>
          <p:nvPr/>
        </p:nvPicPr>
        <p:blipFill>
          <a:blip r:embed="rId1"/>
          <a:stretch>
            <a:fillRect/>
          </a:stretch>
        </p:blipFill>
        <p:spPr>
          <a:xfrm>
            <a:off x="1828800" y="1447800"/>
            <a:ext cx="5486400" cy="4243388"/>
          </a:xfrm>
          <a:prstGeom prst="rect">
            <a:avLst/>
          </a:prstGeom>
          <a:noFill/>
          <a:ln w="9525">
            <a:noFill/>
          </a:ln>
        </p:spPr>
      </p:pic>
      <p:sp>
        <p:nvSpPr>
          <p:cNvPr id="39938" name="Text Box 3"/>
          <p:cNvSpPr txBox="1"/>
          <p:nvPr/>
        </p:nvSpPr>
        <p:spPr>
          <a:xfrm>
            <a:off x="1258888" y="404813"/>
            <a:ext cx="7065962" cy="641350"/>
          </a:xfrm>
          <a:prstGeom prst="rect">
            <a:avLst/>
          </a:prstGeom>
          <a:noFill/>
          <a:ln w="9525">
            <a:noFill/>
          </a:ln>
        </p:spPr>
        <p:txBody>
          <a:bodyPr wrap="none" anchor="t">
            <a:spAutoFit/>
          </a:bodyPr>
          <a:p>
            <a:r>
              <a:rPr lang="zh-CN" altLang="en-US" sz="3600" b="1" dirty="0">
                <a:solidFill>
                  <a:schemeClr val="bg1"/>
                </a:solidFill>
                <a:latin typeface="Times New Roman" panose="02020603050405020304" pitchFamily="18" charset="0"/>
                <a:ea typeface="隶书" panose="02010509060101010101" pitchFamily="49" charset="-122"/>
              </a:rPr>
              <a:t>晶体管输出特性曲线分三个工作区</a:t>
            </a:r>
            <a:endParaRPr lang="zh-CN" altLang="en-US" sz="3600" b="1" dirty="0">
              <a:solidFill>
                <a:schemeClr val="bg1"/>
              </a:solidFill>
              <a:latin typeface="Times New Roman" panose="02020603050405020304" pitchFamily="18" charset="0"/>
              <a:ea typeface="隶书" panose="02010509060101010101" pitchFamily="49" charset="-122"/>
            </a:endParaRPr>
          </a:p>
        </p:txBody>
      </p:sp>
      <p:sp>
        <p:nvSpPr>
          <p:cNvPr id="39939" name="Rectangle 4"/>
          <p:cNvSpPr/>
          <p:nvPr/>
        </p:nvSpPr>
        <p:spPr>
          <a:xfrm>
            <a:off x="7086600" y="5562600"/>
            <a:ext cx="977900" cy="396875"/>
          </a:xfrm>
          <a:prstGeom prst="rect">
            <a:avLst/>
          </a:prstGeom>
          <a:noFill/>
          <a:ln w="9525">
            <a:noFill/>
          </a:ln>
        </p:spPr>
        <p:txBody>
          <a:bodyPr wrap="none" anchor="t">
            <a:spAutoFit/>
          </a:bodyPr>
          <a:p>
            <a:r>
              <a:rPr lang="en-US" altLang="zh-CN" sz="2000" b="1" i="1" dirty="0">
                <a:solidFill>
                  <a:schemeClr val="bg1"/>
                </a:solidFill>
                <a:latin typeface="Times New Roman" panose="02020603050405020304" pitchFamily="18" charset="0"/>
                <a:ea typeface="宋体" panose="02010600030101010101" pitchFamily="2" charset="-122"/>
              </a:rPr>
              <a:t>U</a:t>
            </a:r>
            <a:r>
              <a:rPr lang="en-US" altLang="zh-CN" sz="2000" b="1" baseline="-25000" dirty="0">
                <a:solidFill>
                  <a:schemeClr val="bg1"/>
                </a:solidFill>
                <a:latin typeface="Times New Roman" panose="02020603050405020304" pitchFamily="18" charset="0"/>
                <a:ea typeface="宋体" panose="02010600030101010101" pitchFamily="2" charset="-122"/>
              </a:rPr>
              <a:t>CE</a:t>
            </a:r>
            <a:r>
              <a:rPr lang="en-US" altLang="zh-CN" sz="2000" b="1" i="1" dirty="0">
                <a:solidFill>
                  <a:schemeClr val="bg1"/>
                </a:solidFill>
                <a:latin typeface="Times New Roman" panose="02020603050405020304" pitchFamily="18" charset="0"/>
                <a:ea typeface="宋体" panose="02010600030101010101" pitchFamily="2" charset="-122"/>
              </a:rPr>
              <a:t> </a:t>
            </a:r>
            <a:r>
              <a:rPr lang="en-US" altLang="zh-CN" sz="2000" dirty="0">
                <a:solidFill>
                  <a:schemeClr val="bg1"/>
                </a:solidFill>
                <a:latin typeface="Times New Roman" panose="02020603050405020304" pitchFamily="18" charset="0"/>
                <a:ea typeface="宋体" panose="02010600030101010101" pitchFamily="2" charset="-122"/>
              </a:rPr>
              <a:t> </a:t>
            </a:r>
            <a:r>
              <a:rPr lang="en-US" altLang="zh-CN" sz="2000" b="1" dirty="0">
                <a:solidFill>
                  <a:schemeClr val="bg1"/>
                </a:solidFill>
                <a:latin typeface="Times New Roman" panose="02020603050405020304" pitchFamily="18" charset="0"/>
                <a:ea typeface="宋体" panose="02010600030101010101" pitchFamily="2" charset="-122"/>
              </a:rPr>
              <a:t>/V</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39940" name="Rectangle 5"/>
          <p:cNvSpPr/>
          <p:nvPr/>
        </p:nvSpPr>
        <p:spPr>
          <a:xfrm>
            <a:off x="1981200" y="1508125"/>
            <a:ext cx="1057275" cy="396875"/>
          </a:xfrm>
          <a:prstGeom prst="rect">
            <a:avLst/>
          </a:prstGeom>
          <a:noFill/>
          <a:ln w="9525">
            <a:noFill/>
          </a:ln>
        </p:spPr>
        <p:txBody>
          <a:bodyPr wrap="none" anchor="t">
            <a:spAutoFit/>
          </a:bodyPr>
          <a:p>
            <a:r>
              <a:rPr lang="en-US" altLang="zh-CN" sz="2000" b="1" i="1" dirty="0">
                <a:solidFill>
                  <a:schemeClr val="bg1"/>
                </a:solidFill>
                <a:latin typeface="Times New Roman" panose="02020603050405020304" pitchFamily="18" charset="0"/>
                <a:ea typeface="宋体" panose="02010600030101010101" pitchFamily="2" charset="-122"/>
              </a:rPr>
              <a:t>I</a:t>
            </a:r>
            <a:r>
              <a:rPr lang="en-US" altLang="zh-CN" sz="2000" b="1" baseline="-25000" dirty="0">
                <a:solidFill>
                  <a:schemeClr val="bg1"/>
                </a:solidFill>
                <a:latin typeface="Times New Roman" panose="02020603050405020304" pitchFamily="18" charset="0"/>
                <a:ea typeface="宋体" panose="02010600030101010101" pitchFamily="2" charset="-122"/>
              </a:rPr>
              <a:t>C</a:t>
            </a:r>
            <a:r>
              <a:rPr lang="en-US" altLang="zh-CN" sz="2000" b="1" i="1" dirty="0">
                <a:solidFill>
                  <a:schemeClr val="bg1"/>
                </a:solidFill>
                <a:latin typeface="Times New Roman" panose="02020603050405020304" pitchFamily="18" charset="0"/>
                <a:ea typeface="宋体" panose="02010600030101010101" pitchFamily="2" charset="-122"/>
              </a:rPr>
              <a:t> </a:t>
            </a:r>
            <a:r>
              <a:rPr lang="en-US" altLang="zh-CN" sz="2000" dirty="0">
                <a:solidFill>
                  <a:schemeClr val="bg1"/>
                </a:solidFill>
                <a:latin typeface="Times New Roman" panose="02020603050405020304" pitchFamily="18" charset="0"/>
                <a:ea typeface="宋体" panose="02010600030101010101" pitchFamily="2" charset="-122"/>
              </a:rPr>
              <a:t> / </a:t>
            </a:r>
            <a:r>
              <a:rPr lang="en-US" altLang="zh-CN" sz="2000" b="1" dirty="0">
                <a:solidFill>
                  <a:schemeClr val="bg1"/>
                </a:solidFill>
                <a:latin typeface="Times New Roman" panose="02020603050405020304" pitchFamily="18" charset="0"/>
                <a:ea typeface="宋体" panose="02010600030101010101" pitchFamily="2" charset="-122"/>
              </a:rPr>
              <a:t>mA</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39941" name="Rectangle 6"/>
          <p:cNvSpPr/>
          <p:nvPr/>
        </p:nvSpPr>
        <p:spPr>
          <a:xfrm>
            <a:off x="6300788" y="1773238"/>
            <a:ext cx="438150" cy="396875"/>
          </a:xfrm>
          <a:prstGeom prst="rect">
            <a:avLst/>
          </a:prstGeom>
          <a:noFill/>
          <a:ln w="9525">
            <a:noFill/>
          </a:ln>
        </p:spPr>
        <p:txBody>
          <a:bodyPr wrap="none" anchor="t">
            <a:spAutoFit/>
          </a:bodyPr>
          <a:p>
            <a:r>
              <a:rPr lang="en-US" altLang="zh-CN" sz="2000" b="1" dirty="0">
                <a:solidFill>
                  <a:srgbClr val="FFFF00"/>
                </a:solidFill>
                <a:latin typeface="Times New Roman" panose="02020603050405020304" pitchFamily="18" charset="0"/>
                <a:ea typeface="宋体" panose="02010600030101010101" pitchFamily="2" charset="-122"/>
              </a:rPr>
              <a:t>80</a:t>
            </a:r>
            <a:endParaRPr lang="en-US" altLang="zh-CN" sz="2000" b="1" dirty="0">
              <a:solidFill>
                <a:srgbClr val="FFFF00"/>
              </a:solidFill>
              <a:latin typeface="Times New Roman" panose="02020603050405020304" pitchFamily="18" charset="0"/>
              <a:ea typeface="宋体" panose="02010600030101010101" pitchFamily="2" charset="-122"/>
            </a:endParaRPr>
          </a:p>
        </p:txBody>
      </p:sp>
      <p:sp>
        <p:nvSpPr>
          <p:cNvPr id="39942" name="Rectangle 7"/>
          <p:cNvSpPr/>
          <p:nvPr/>
        </p:nvSpPr>
        <p:spPr>
          <a:xfrm>
            <a:off x="6372225" y="2565400"/>
            <a:ext cx="438150" cy="396875"/>
          </a:xfrm>
          <a:prstGeom prst="rect">
            <a:avLst/>
          </a:prstGeom>
          <a:noFill/>
          <a:ln w="9525">
            <a:noFill/>
          </a:ln>
        </p:spPr>
        <p:txBody>
          <a:bodyPr wrap="none" anchor="t">
            <a:spAutoFit/>
          </a:bodyPr>
          <a:p>
            <a:r>
              <a:rPr lang="en-US" altLang="zh-CN" sz="2000" b="1" dirty="0">
                <a:solidFill>
                  <a:srgbClr val="FFFF00"/>
                </a:solidFill>
                <a:latin typeface="Times New Roman" panose="02020603050405020304" pitchFamily="18" charset="0"/>
                <a:ea typeface="宋体" panose="02010600030101010101" pitchFamily="2" charset="-122"/>
              </a:rPr>
              <a:t>60</a:t>
            </a:r>
            <a:endParaRPr lang="en-US" altLang="zh-CN" sz="2000" b="1" dirty="0">
              <a:solidFill>
                <a:srgbClr val="FFFF00"/>
              </a:solidFill>
              <a:latin typeface="Times New Roman" panose="02020603050405020304" pitchFamily="18" charset="0"/>
              <a:ea typeface="宋体" panose="02010600030101010101" pitchFamily="2" charset="-122"/>
            </a:endParaRPr>
          </a:p>
        </p:txBody>
      </p:sp>
      <p:sp>
        <p:nvSpPr>
          <p:cNvPr id="39943" name="Rectangle 8"/>
          <p:cNvSpPr/>
          <p:nvPr/>
        </p:nvSpPr>
        <p:spPr>
          <a:xfrm>
            <a:off x="6419850" y="3200400"/>
            <a:ext cx="438150" cy="396875"/>
          </a:xfrm>
          <a:prstGeom prst="rect">
            <a:avLst/>
          </a:prstGeom>
          <a:noFill/>
          <a:ln w="9525">
            <a:noFill/>
          </a:ln>
        </p:spPr>
        <p:txBody>
          <a:bodyPr wrap="none" anchor="t">
            <a:spAutoFit/>
          </a:bodyPr>
          <a:p>
            <a:r>
              <a:rPr lang="en-US" altLang="zh-CN" sz="2000" b="1" dirty="0">
                <a:solidFill>
                  <a:srgbClr val="FFFF00"/>
                </a:solidFill>
                <a:latin typeface="Times New Roman" panose="02020603050405020304" pitchFamily="18" charset="0"/>
                <a:ea typeface="宋体" panose="02010600030101010101" pitchFamily="2" charset="-122"/>
              </a:rPr>
              <a:t>40</a:t>
            </a:r>
            <a:endParaRPr lang="en-US" altLang="zh-CN" b="1" dirty="0">
              <a:solidFill>
                <a:srgbClr val="FFFF00"/>
              </a:solidFill>
              <a:latin typeface="Times New Roman" panose="02020603050405020304" pitchFamily="18" charset="0"/>
              <a:ea typeface="宋体" panose="02010600030101010101" pitchFamily="2" charset="-122"/>
            </a:endParaRPr>
          </a:p>
        </p:txBody>
      </p:sp>
      <p:sp>
        <p:nvSpPr>
          <p:cNvPr id="39944" name="Rectangle 9"/>
          <p:cNvSpPr/>
          <p:nvPr/>
        </p:nvSpPr>
        <p:spPr>
          <a:xfrm>
            <a:off x="6477000" y="4937125"/>
            <a:ext cx="438150" cy="396875"/>
          </a:xfrm>
          <a:prstGeom prst="rect">
            <a:avLst/>
          </a:prstGeom>
          <a:noFill/>
          <a:ln w="9525">
            <a:noFill/>
          </a:ln>
        </p:spPr>
        <p:txBody>
          <a:bodyPr wrap="none" anchor="t">
            <a:spAutoFit/>
          </a:bodyPr>
          <a:p>
            <a:r>
              <a:rPr lang="en-US" altLang="zh-CN" sz="2000" b="1" dirty="0">
                <a:solidFill>
                  <a:srgbClr val="FFFF00"/>
                </a:solidFill>
                <a:latin typeface="Times New Roman" panose="02020603050405020304" pitchFamily="18" charset="0"/>
                <a:ea typeface="宋体" panose="02010600030101010101" pitchFamily="2" charset="-122"/>
              </a:rPr>
              <a:t> 0 </a:t>
            </a:r>
            <a:endParaRPr lang="en-US" altLang="zh-CN" sz="2000" b="1" dirty="0">
              <a:solidFill>
                <a:srgbClr val="FFFF00"/>
              </a:solidFill>
              <a:latin typeface="Times New Roman" panose="02020603050405020304" pitchFamily="18" charset="0"/>
              <a:ea typeface="宋体" panose="02010600030101010101" pitchFamily="2" charset="-122"/>
            </a:endParaRPr>
          </a:p>
        </p:txBody>
      </p:sp>
      <p:sp>
        <p:nvSpPr>
          <p:cNvPr id="39945" name="Rectangle 10"/>
          <p:cNvSpPr/>
          <p:nvPr/>
        </p:nvSpPr>
        <p:spPr>
          <a:xfrm>
            <a:off x="5867400" y="4038600"/>
            <a:ext cx="1311275" cy="396875"/>
          </a:xfrm>
          <a:prstGeom prst="rect">
            <a:avLst/>
          </a:prstGeom>
          <a:noFill/>
          <a:ln w="9525">
            <a:noFill/>
          </a:ln>
        </p:spPr>
        <p:txBody>
          <a:bodyPr wrap="none" anchor="t">
            <a:spAutoFit/>
          </a:bodyPr>
          <a:p>
            <a:r>
              <a:rPr lang="en-US" altLang="zh-CN" sz="2000" b="1" i="1" dirty="0">
                <a:solidFill>
                  <a:srgbClr val="FFFF00"/>
                </a:solidFill>
                <a:latin typeface="Times New Roman" panose="02020603050405020304" pitchFamily="18" charset="0"/>
                <a:ea typeface="宋体" panose="02010600030101010101" pitchFamily="2" charset="-122"/>
              </a:rPr>
              <a:t>I</a:t>
            </a:r>
            <a:r>
              <a:rPr lang="en-US" altLang="zh-CN" sz="2000" b="1" baseline="-25000" dirty="0">
                <a:solidFill>
                  <a:srgbClr val="FFFF00"/>
                </a:solidFill>
                <a:latin typeface="Times New Roman" panose="02020603050405020304" pitchFamily="18" charset="0"/>
                <a:ea typeface="宋体" panose="02010600030101010101" pitchFamily="2" charset="-122"/>
              </a:rPr>
              <a:t>B</a:t>
            </a:r>
            <a:r>
              <a:rPr lang="en-US" altLang="zh-CN" sz="2000" b="1" dirty="0">
                <a:solidFill>
                  <a:srgbClr val="FFFF00"/>
                </a:solidFill>
                <a:latin typeface="Times New Roman" panose="02020603050405020304" pitchFamily="18" charset="0"/>
                <a:ea typeface="宋体" panose="02010600030101010101" pitchFamily="2" charset="-122"/>
              </a:rPr>
              <a:t>=  20 µA</a:t>
            </a:r>
            <a:endParaRPr lang="en-US" altLang="zh-CN" sz="2000" b="1" dirty="0">
              <a:solidFill>
                <a:srgbClr val="FFFF00"/>
              </a:solidFill>
              <a:latin typeface="Times New Roman" panose="02020603050405020304" pitchFamily="18" charset="0"/>
              <a:ea typeface="宋体" panose="02010600030101010101" pitchFamily="2" charset="-122"/>
            </a:endParaRPr>
          </a:p>
        </p:txBody>
      </p:sp>
      <p:sp>
        <p:nvSpPr>
          <p:cNvPr id="39946" name="Line 11"/>
          <p:cNvSpPr/>
          <p:nvPr/>
        </p:nvSpPr>
        <p:spPr>
          <a:xfrm>
            <a:off x="1981200" y="2133600"/>
            <a:ext cx="125413" cy="0"/>
          </a:xfrm>
          <a:prstGeom prst="line">
            <a:avLst/>
          </a:prstGeom>
          <a:ln w="38100" cap="flat" cmpd="sng">
            <a:solidFill>
              <a:srgbClr val="0099FF"/>
            </a:solidFill>
            <a:prstDash val="solid"/>
            <a:round/>
            <a:headEnd type="none" w="med" len="med"/>
            <a:tailEnd type="none" w="med" len="med"/>
          </a:ln>
        </p:spPr>
      </p:sp>
      <p:sp>
        <p:nvSpPr>
          <p:cNvPr id="39947" name="Line 12"/>
          <p:cNvSpPr/>
          <p:nvPr/>
        </p:nvSpPr>
        <p:spPr>
          <a:xfrm>
            <a:off x="1981200" y="2971800"/>
            <a:ext cx="125413" cy="0"/>
          </a:xfrm>
          <a:prstGeom prst="line">
            <a:avLst/>
          </a:prstGeom>
          <a:ln w="38100" cap="flat" cmpd="sng">
            <a:solidFill>
              <a:srgbClr val="0099FF"/>
            </a:solidFill>
            <a:prstDash val="solid"/>
            <a:round/>
            <a:headEnd type="none" w="med" len="med"/>
            <a:tailEnd type="none" w="med" len="med"/>
          </a:ln>
        </p:spPr>
      </p:sp>
      <p:sp>
        <p:nvSpPr>
          <p:cNvPr id="39948" name="Line 13"/>
          <p:cNvSpPr/>
          <p:nvPr/>
        </p:nvSpPr>
        <p:spPr>
          <a:xfrm flipV="1">
            <a:off x="1981200" y="4648200"/>
            <a:ext cx="125413" cy="0"/>
          </a:xfrm>
          <a:prstGeom prst="line">
            <a:avLst/>
          </a:prstGeom>
          <a:ln w="38100" cap="flat" cmpd="sng">
            <a:solidFill>
              <a:srgbClr val="0099FF"/>
            </a:solidFill>
            <a:prstDash val="solid"/>
            <a:round/>
            <a:headEnd type="none" w="med" len="med"/>
            <a:tailEnd type="none" w="med" len="med"/>
          </a:ln>
        </p:spPr>
      </p:sp>
      <p:sp>
        <p:nvSpPr>
          <p:cNvPr id="39949" name="Line 14"/>
          <p:cNvSpPr/>
          <p:nvPr/>
        </p:nvSpPr>
        <p:spPr>
          <a:xfrm>
            <a:off x="1981200" y="3810000"/>
            <a:ext cx="125413" cy="0"/>
          </a:xfrm>
          <a:prstGeom prst="line">
            <a:avLst/>
          </a:prstGeom>
          <a:ln w="38100" cap="flat" cmpd="sng">
            <a:solidFill>
              <a:srgbClr val="0099FF"/>
            </a:solidFill>
            <a:prstDash val="solid"/>
            <a:round/>
            <a:headEnd type="none" w="med" len="med"/>
            <a:tailEnd type="none" w="med" len="med"/>
          </a:ln>
        </p:spPr>
      </p:sp>
      <p:sp>
        <p:nvSpPr>
          <p:cNvPr id="39950" name="Text Box 15"/>
          <p:cNvSpPr txBox="1"/>
          <p:nvPr/>
        </p:nvSpPr>
        <p:spPr>
          <a:xfrm>
            <a:off x="1682750" y="5424488"/>
            <a:ext cx="368300" cy="396875"/>
          </a:xfrm>
          <a:prstGeom prst="rect">
            <a:avLst/>
          </a:prstGeom>
          <a:noFill/>
          <a:ln w="9525">
            <a:noFill/>
          </a:ln>
        </p:spPr>
        <p:txBody>
          <a:bodyPr wrap="none" anchor="t">
            <a:spAutoFit/>
          </a:bodyPr>
          <a:p>
            <a:r>
              <a:rPr lang="en-US" altLang="zh-CN" sz="2000" i="1" dirty="0">
                <a:solidFill>
                  <a:schemeClr val="bg1"/>
                </a:solidFill>
                <a:latin typeface="Times New Roman" panose="02020603050405020304" pitchFamily="18" charset="0"/>
                <a:ea typeface="宋体" panose="02010600030101010101" pitchFamily="2" charset="-122"/>
              </a:rPr>
              <a:t>O</a:t>
            </a:r>
            <a:endParaRPr lang="en-US" altLang="zh-CN" sz="2000" i="1" dirty="0">
              <a:solidFill>
                <a:schemeClr val="bg1"/>
              </a:solidFill>
              <a:latin typeface="Times New Roman" panose="02020603050405020304" pitchFamily="18" charset="0"/>
              <a:ea typeface="宋体" panose="02010600030101010101" pitchFamily="2" charset="-122"/>
            </a:endParaRPr>
          </a:p>
        </p:txBody>
      </p:sp>
      <p:sp>
        <p:nvSpPr>
          <p:cNvPr id="39951" name="Line 16"/>
          <p:cNvSpPr/>
          <p:nvPr/>
        </p:nvSpPr>
        <p:spPr>
          <a:xfrm>
            <a:off x="6781800" y="5437188"/>
            <a:ext cx="0" cy="125412"/>
          </a:xfrm>
          <a:prstGeom prst="line">
            <a:avLst/>
          </a:prstGeom>
          <a:ln w="38100" cap="flat" cmpd="sng">
            <a:solidFill>
              <a:srgbClr val="0099FF"/>
            </a:solidFill>
            <a:prstDash val="solid"/>
            <a:round/>
            <a:headEnd type="none" w="med" len="med"/>
            <a:tailEnd type="none" w="med" len="med"/>
          </a:ln>
        </p:spPr>
      </p:sp>
      <p:sp>
        <p:nvSpPr>
          <p:cNvPr id="39952" name="Line 17"/>
          <p:cNvSpPr/>
          <p:nvPr/>
        </p:nvSpPr>
        <p:spPr>
          <a:xfrm>
            <a:off x="5562600" y="5437188"/>
            <a:ext cx="0" cy="125412"/>
          </a:xfrm>
          <a:prstGeom prst="line">
            <a:avLst/>
          </a:prstGeom>
          <a:ln w="38100" cap="flat" cmpd="sng">
            <a:solidFill>
              <a:srgbClr val="0099FF"/>
            </a:solidFill>
            <a:prstDash val="solid"/>
            <a:round/>
            <a:headEnd type="none" w="med" len="med"/>
            <a:tailEnd type="none" w="med" len="med"/>
          </a:ln>
        </p:spPr>
      </p:sp>
      <p:sp>
        <p:nvSpPr>
          <p:cNvPr id="39953" name="Line 18"/>
          <p:cNvSpPr/>
          <p:nvPr/>
        </p:nvSpPr>
        <p:spPr>
          <a:xfrm>
            <a:off x="4343400" y="5437188"/>
            <a:ext cx="0" cy="125412"/>
          </a:xfrm>
          <a:prstGeom prst="line">
            <a:avLst/>
          </a:prstGeom>
          <a:ln w="38100" cap="flat" cmpd="sng">
            <a:solidFill>
              <a:srgbClr val="0099FF"/>
            </a:solidFill>
            <a:prstDash val="solid"/>
            <a:round/>
            <a:headEnd type="none" w="med" len="med"/>
            <a:tailEnd type="none" w="med" len="med"/>
          </a:ln>
        </p:spPr>
      </p:sp>
      <p:sp>
        <p:nvSpPr>
          <p:cNvPr id="39954" name="Line 19"/>
          <p:cNvSpPr/>
          <p:nvPr/>
        </p:nvSpPr>
        <p:spPr>
          <a:xfrm>
            <a:off x="3200400" y="5437188"/>
            <a:ext cx="0" cy="125412"/>
          </a:xfrm>
          <a:prstGeom prst="line">
            <a:avLst/>
          </a:prstGeom>
          <a:ln w="38100" cap="flat" cmpd="sng">
            <a:solidFill>
              <a:srgbClr val="0099FF"/>
            </a:solidFill>
            <a:prstDash val="solid"/>
            <a:round/>
            <a:headEnd type="none" w="med" len="med"/>
            <a:tailEnd type="none" w="med" len="med"/>
          </a:ln>
        </p:spPr>
      </p:sp>
      <p:sp>
        <p:nvSpPr>
          <p:cNvPr id="39955" name="Text Box 20"/>
          <p:cNvSpPr txBox="1"/>
          <p:nvPr/>
        </p:nvSpPr>
        <p:spPr>
          <a:xfrm>
            <a:off x="3032125" y="5546725"/>
            <a:ext cx="311150" cy="396875"/>
          </a:xfrm>
          <a:prstGeom prst="rect">
            <a:avLst/>
          </a:prstGeom>
          <a:noFill/>
          <a:ln w="9525">
            <a:noFill/>
          </a:ln>
        </p:spPr>
        <p:txBody>
          <a:bodyPr wrap="none" anchor="t">
            <a:spAutoFit/>
          </a:bodyPr>
          <a:p>
            <a:r>
              <a:rPr lang="en-US" altLang="zh-CN" sz="2000" dirty="0">
                <a:solidFill>
                  <a:schemeClr val="bg1"/>
                </a:solidFill>
                <a:latin typeface="Times New Roman" panose="02020603050405020304" pitchFamily="18" charset="0"/>
                <a:ea typeface="宋体" panose="02010600030101010101" pitchFamily="2" charset="-122"/>
              </a:rPr>
              <a:t>2</a:t>
            </a:r>
            <a:endParaRPr lang="en-US" altLang="zh-CN" sz="2000" dirty="0">
              <a:solidFill>
                <a:schemeClr val="bg1"/>
              </a:solidFill>
              <a:latin typeface="Times New Roman" panose="02020603050405020304" pitchFamily="18" charset="0"/>
              <a:ea typeface="宋体" panose="02010600030101010101" pitchFamily="2" charset="-122"/>
            </a:endParaRPr>
          </a:p>
        </p:txBody>
      </p:sp>
      <p:sp>
        <p:nvSpPr>
          <p:cNvPr id="39956" name="Text Box 21"/>
          <p:cNvSpPr txBox="1"/>
          <p:nvPr/>
        </p:nvSpPr>
        <p:spPr>
          <a:xfrm>
            <a:off x="4191000" y="5486400"/>
            <a:ext cx="336550" cy="457200"/>
          </a:xfrm>
          <a:prstGeom prst="rect">
            <a:avLst/>
          </a:prstGeom>
          <a:noFill/>
          <a:ln w="9525">
            <a:noFill/>
          </a:ln>
        </p:spPr>
        <p:txBody>
          <a:bodyPr wrap="none" anchor="t">
            <a:spAutoFit/>
          </a:bodyPr>
          <a:p>
            <a:r>
              <a:rPr lang="en-US" altLang="zh-CN" sz="2400" dirty="0">
                <a:solidFill>
                  <a:schemeClr val="bg1"/>
                </a:solidFill>
                <a:latin typeface="Times New Roman" panose="02020603050405020304" pitchFamily="18" charset="0"/>
                <a:ea typeface="宋体" panose="02010600030101010101" pitchFamily="2" charset="-122"/>
              </a:rPr>
              <a:t>4</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39957" name="Text Box 22"/>
          <p:cNvSpPr txBox="1"/>
          <p:nvPr/>
        </p:nvSpPr>
        <p:spPr>
          <a:xfrm>
            <a:off x="5410200" y="5486400"/>
            <a:ext cx="336550" cy="457200"/>
          </a:xfrm>
          <a:prstGeom prst="rect">
            <a:avLst/>
          </a:prstGeom>
          <a:noFill/>
          <a:ln w="9525">
            <a:noFill/>
          </a:ln>
        </p:spPr>
        <p:txBody>
          <a:bodyPr wrap="none" anchor="t">
            <a:spAutoFit/>
          </a:bodyPr>
          <a:p>
            <a:r>
              <a:rPr lang="en-US" altLang="zh-CN" sz="2400" dirty="0">
                <a:solidFill>
                  <a:schemeClr val="bg1"/>
                </a:solidFill>
                <a:latin typeface="Times New Roman" panose="02020603050405020304" pitchFamily="18" charset="0"/>
                <a:ea typeface="宋体" panose="02010600030101010101" pitchFamily="2" charset="-122"/>
              </a:rPr>
              <a:t>6</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39958" name="Text Box 23"/>
          <p:cNvSpPr txBox="1"/>
          <p:nvPr/>
        </p:nvSpPr>
        <p:spPr>
          <a:xfrm>
            <a:off x="6673850" y="5486400"/>
            <a:ext cx="336550" cy="457200"/>
          </a:xfrm>
          <a:prstGeom prst="rect">
            <a:avLst/>
          </a:prstGeom>
          <a:noFill/>
          <a:ln w="9525">
            <a:noFill/>
          </a:ln>
        </p:spPr>
        <p:txBody>
          <a:bodyPr wrap="none" anchor="t">
            <a:spAutoFit/>
          </a:bodyPr>
          <a:p>
            <a:r>
              <a:rPr lang="en-US" altLang="zh-CN" sz="2400" dirty="0">
                <a:solidFill>
                  <a:schemeClr val="bg1"/>
                </a:solidFill>
                <a:latin typeface="Times New Roman" panose="02020603050405020304" pitchFamily="18" charset="0"/>
                <a:ea typeface="宋体" panose="02010600030101010101" pitchFamily="2" charset="-122"/>
              </a:rPr>
              <a:t>8</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39959" name="Text Box 24"/>
          <p:cNvSpPr txBox="1"/>
          <p:nvPr/>
        </p:nvSpPr>
        <p:spPr>
          <a:xfrm>
            <a:off x="1720850" y="4460875"/>
            <a:ext cx="336550" cy="457200"/>
          </a:xfrm>
          <a:prstGeom prst="rect">
            <a:avLst/>
          </a:prstGeom>
          <a:noFill/>
          <a:ln w="9525">
            <a:noFill/>
          </a:ln>
        </p:spPr>
        <p:txBody>
          <a:bodyPr wrap="none" anchor="t">
            <a:spAutoFit/>
          </a:bodyPr>
          <a:p>
            <a:r>
              <a:rPr lang="en-US" altLang="zh-CN" sz="2400" dirty="0">
                <a:solidFill>
                  <a:schemeClr val="bg1"/>
                </a:solidFill>
                <a:latin typeface="Times New Roman" panose="02020603050405020304" pitchFamily="18" charset="0"/>
                <a:ea typeface="宋体" panose="02010600030101010101" pitchFamily="2" charset="-122"/>
              </a:rPr>
              <a:t>1</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39960" name="Text Box 25"/>
          <p:cNvSpPr txBox="1"/>
          <p:nvPr/>
        </p:nvSpPr>
        <p:spPr>
          <a:xfrm>
            <a:off x="1676400" y="3546475"/>
            <a:ext cx="336550" cy="457200"/>
          </a:xfrm>
          <a:prstGeom prst="rect">
            <a:avLst/>
          </a:prstGeom>
          <a:noFill/>
          <a:ln w="9525">
            <a:noFill/>
          </a:ln>
        </p:spPr>
        <p:txBody>
          <a:bodyPr wrap="none" anchor="t">
            <a:spAutoFit/>
          </a:bodyPr>
          <a:p>
            <a:r>
              <a:rPr lang="en-US" altLang="zh-CN" sz="2400" dirty="0">
                <a:solidFill>
                  <a:schemeClr val="bg1"/>
                </a:solidFill>
                <a:latin typeface="Times New Roman" panose="02020603050405020304" pitchFamily="18" charset="0"/>
                <a:ea typeface="宋体" panose="02010600030101010101" pitchFamily="2" charset="-122"/>
              </a:rPr>
              <a:t>2</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39961" name="Text Box 26"/>
          <p:cNvSpPr txBox="1"/>
          <p:nvPr/>
        </p:nvSpPr>
        <p:spPr>
          <a:xfrm>
            <a:off x="1676400" y="2708275"/>
            <a:ext cx="336550" cy="457200"/>
          </a:xfrm>
          <a:prstGeom prst="rect">
            <a:avLst/>
          </a:prstGeom>
          <a:noFill/>
          <a:ln w="9525">
            <a:noFill/>
          </a:ln>
        </p:spPr>
        <p:txBody>
          <a:bodyPr wrap="none" anchor="t">
            <a:spAutoFit/>
          </a:bodyPr>
          <a:p>
            <a:r>
              <a:rPr lang="en-US" altLang="zh-CN" sz="2400" dirty="0">
                <a:solidFill>
                  <a:schemeClr val="bg1"/>
                </a:solidFill>
                <a:latin typeface="Times New Roman" panose="02020603050405020304" pitchFamily="18" charset="0"/>
                <a:ea typeface="宋体" panose="02010600030101010101" pitchFamily="2" charset="-122"/>
              </a:rPr>
              <a:t>3</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39962" name="Text Box 27"/>
          <p:cNvSpPr txBox="1"/>
          <p:nvPr/>
        </p:nvSpPr>
        <p:spPr>
          <a:xfrm>
            <a:off x="1676400" y="1870075"/>
            <a:ext cx="336550" cy="457200"/>
          </a:xfrm>
          <a:prstGeom prst="rect">
            <a:avLst/>
          </a:prstGeom>
          <a:noFill/>
          <a:ln w="9525">
            <a:noFill/>
          </a:ln>
        </p:spPr>
        <p:txBody>
          <a:bodyPr wrap="none" anchor="t">
            <a:spAutoFit/>
          </a:bodyPr>
          <a:p>
            <a:r>
              <a:rPr lang="en-US" altLang="zh-CN" sz="2400" dirty="0">
                <a:solidFill>
                  <a:schemeClr val="bg1"/>
                </a:solidFill>
                <a:latin typeface="Times New Roman" panose="02020603050405020304" pitchFamily="18" charset="0"/>
                <a:ea typeface="宋体" panose="02010600030101010101" pitchFamily="2" charset="-122"/>
              </a:rPr>
              <a:t>4</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15388" name="Line 28"/>
          <p:cNvSpPr/>
          <p:nvPr/>
        </p:nvSpPr>
        <p:spPr>
          <a:xfrm>
            <a:off x="2590800" y="1981200"/>
            <a:ext cx="0" cy="3581400"/>
          </a:xfrm>
          <a:prstGeom prst="line">
            <a:avLst/>
          </a:prstGeom>
          <a:ln w="19050" cap="flat" cmpd="sng">
            <a:solidFill>
              <a:schemeClr val="accent1"/>
            </a:solidFill>
            <a:prstDash val="dash"/>
            <a:round/>
            <a:headEnd type="none" w="med" len="med"/>
            <a:tailEnd type="none" w="med" len="med"/>
          </a:ln>
        </p:spPr>
      </p:sp>
      <p:grpSp>
        <p:nvGrpSpPr>
          <p:cNvPr id="15389" name="Group 29"/>
          <p:cNvGrpSpPr/>
          <p:nvPr/>
        </p:nvGrpSpPr>
        <p:grpSpPr>
          <a:xfrm>
            <a:off x="2895600" y="5410200"/>
            <a:ext cx="4343400" cy="152400"/>
            <a:chOff x="1824" y="3312"/>
            <a:chExt cx="2736" cy="192"/>
          </a:xfrm>
        </p:grpSpPr>
        <p:sp>
          <p:nvSpPr>
            <p:cNvPr id="39965" name="Line 30"/>
            <p:cNvSpPr/>
            <p:nvPr/>
          </p:nvSpPr>
          <p:spPr>
            <a:xfrm>
              <a:off x="4368" y="3312"/>
              <a:ext cx="192" cy="192"/>
            </a:xfrm>
            <a:prstGeom prst="line">
              <a:avLst/>
            </a:prstGeom>
            <a:ln w="19050" cap="flat" cmpd="sng">
              <a:solidFill>
                <a:srgbClr val="FFFF99"/>
              </a:solidFill>
              <a:prstDash val="solid"/>
              <a:round/>
              <a:headEnd type="none" w="med" len="med"/>
              <a:tailEnd type="none" w="med" len="med"/>
            </a:ln>
          </p:spPr>
        </p:sp>
        <p:sp>
          <p:nvSpPr>
            <p:cNvPr id="39966" name="Line 31"/>
            <p:cNvSpPr/>
            <p:nvPr/>
          </p:nvSpPr>
          <p:spPr>
            <a:xfrm>
              <a:off x="4176" y="3312"/>
              <a:ext cx="192" cy="192"/>
            </a:xfrm>
            <a:prstGeom prst="line">
              <a:avLst/>
            </a:prstGeom>
            <a:ln w="19050" cap="flat" cmpd="sng">
              <a:solidFill>
                <a:srgbClr val="FFFF99"/>
              </a:solidFill>
              <a:prstDash val="solid"/>
              <a:round/>
              <a:headEnd type="none" w="med" len="med"/>
              <a:tailEnd type="none" w="med" len="med"/>
            </a:ln>
          </p:spPr>
        </p:sp>
        <p:sp>
          <p:nvSpPr>
            <p:cNvPr id="39967" name="Line 32"/>
            <p:cNvSpPr/>
            <p:nvPr/>
          </p:nvSpPr>
          <p:spPr>
            <a:xfrm>
              <a:off x="4032" y="3360"/>
              <a:ext cx="144" cy="144"/>
            </a:xfrm>
            <a:prstGeom prst="line">
              <a:avLst/>
            </a:prstGeom>
            <a:ln w="19050" cap="flat" cmpd="sng">
              <a:solidFill>
                <a:srgbClr val="FFFF99"/>
              </a:solidFill>
              <a:prstDash val="solid"/>
              <a:round/>
              <a:headEnd type="none" w="med" len="med"/>
              <a:tailEnd type="none" w="med" len="med"/>
            </a:ln>
          </p:spPr>
        </p:sp>
        <p:sp>
          <p:nvSpPr>
            <p:cNvPr id="39968" name="Line 33"/>
            <p:cNvSpPr/>
            <p:nvPr/>
          </p:nvSpPr>
          <p:spPr>
            <a:xfrm>
              <a:off x="3840" y="3360"/>
              <a:ext cx="144" cy="144"/>
            </a:xfrm>
            <a:prstGeom prst="line">
              <a:avLst/>
            </a:prstGeom>
            <a:ln w="19050" cap="flat" cmpd="sng">
              <a:solidFill>
                <a:srgbClr val="FFFF99"/>
              </a:solidFill>
              <a:prstDash val="solid"/>
              <a:round/>
              <a:headEnd type="none" w="med" len="med"/>
              <a:tailEnd type="none" w="med" len="med"/>
            </a:ln>
          </p:spPr>
        </p:sp>
        <p:sp>
          <p:nvSpPr>
            <p:cNvPr id="39969" name="Line 34"/>
            <p:cNvSpPr/>
            <p:nvPr/>
          </p:nvSpPr>
          <p:spPr>
            <a:xfrm>
              <a:off x="3648" y="3360"/>
              <a:ext cx="144" cy="144"/>
            </a:xfrm>
            <a:prstGeom prst="line">
              <a:avLst/>
            </a:prstGeom>
            <a:ln w="19050" cap="flat" cmpd="sng">
              <a:solidFill>
                <a:srgbClr val="FFFF99"/>
              </a:solidFill>
              <a:prstDash val="solid"/>
              <a:round/>
              <a:headEnd type="none" w="med" len="med"/>
              <a:tailEnd type="none" w="med" len="med"/>
            </a:ln>
          </p:spPr>
        </p:sp>
        <p:sp>
          <p:nvSpPr>
            <p:cNvPr id="39970" name="Line 35"/>
            <p:cNvSpPr/>
            <p:nvPr/>
          </p:nvSpPr>
          <p:spPr>
            <a:xfrm>
              <a:off x="3456" y="3360"/>
              <a:ext cx="144" cy="144"/>
            </a:xfrm>
            <a:prstGeom prst="line">
              <a:avLst/>
            </a:prstGeom>
            <a:ln w="19050" cap="flat" cmpd="sng">
              <a:solidFill>
                <a:srgbClr val="FFFF99"/>
              </a:solidFill>
              <a:prstDash val="solid"/>
              <a:round/>
              <a:headEnd type="none" w="med" len="med"/>
              <a:tailEnd type="none" w="med" len="med"/>
            </a:ln>
          </p:spPr>
        </p:sp>
        <p:sp>
          <p:nvSpPr>
            <p:cNvPr id="39971" name="Line 36"/>
            <p:cNvSpPr/>
            <p:nvPr/>
          </p:nvSpPr>
          <p:spPr>
            <a:xfrm>
              <a:off x="3264" y="3360"/>
              <a:ext cx="144" cy="144"/>
            </a:xfrm>
            <a:prstGeom prst="line">
              <a:avLst/>
            </a:prstGeom>
            <a:ln w="19050" cap="flat" cmpd="sng">
              <a:solidFill>
                <a:srgbClr val="FFFF99"/>
              </a:solidFill>
              <a:prstDash val="solid"/>
              <a:round/>
              <a:headEnd type="none" w="med" len="med"/>
              <a:tailEnd type="none" w="med" len="med"/>
            </a:ln>
          </p:spPr>
        </p:sp>
        <p:sp>
          <p:nvSpPr>
            <p:cNvPr id="39972" name="Line 37"/>
            <p:cNvSpPr/>
            <p:nvPr/>
          </p:nvSpPr>
          <p:spPr>
            <a:xfrm>
              <a:off x="3120" y="3408"/>
              <a:ext cx="96" cy="96"/>
            </a:xfrm>
            <a:prstGeom prst="line">
              <a:avLst/>
            </a:prstGeom>
            <a:ln w="19050" cap="flat" cmpd="sng">
              <a:solidFill>
                <a:srgbClr val="FFFF99"/>
              </a:solidFill>
              <a:prstDash val="solid"/>
              <a:round/>
              <a:headEnd type="none" w="med" len="med"/>
              <a:tailEnd type="none" w="med" len="med"/>
            </a:ln>
          </p:spPr>
        </p:sp>
        <p:sp>
          <p:nvSpPr>
            <p:cNvPr id="39973" name="Line 38"/>
            <p:cNvSpPr/>
            <p:nvPr/>
          </p:nvSpPr>
          <p:spPr>
            <a:xfrm>
              <a:off x="2928" y="3408"/>
              <a:ext cx="96" cy="96"/>
            </a:xfrm>
            <a:prstGeom prst="line">
              <a:avLst/>
            </a:prstGeom>
            <a:ln w="19050" cap="flat" cmpd="sng">
              <a:solidFill>
                <a:srgbClr val="FFFF99"/>
              </a:solidFill>
              <a:prstDash val="solid"/>
              <a:round/>
              <a:headEnd type="none" w="med" len="med"/>
              <a:tailEnd type="none" w="med" len="med"/>
            </a:ln>
          </p:spPr>
        </p:sp>
        <p:sp>
          <p:nvSpPr>
            <p:cNvPr id="39974" name="Line 39"/>
            <p:cNvSpPr/>
            <p:nvPr/>
          </p:nvSpPr>
          <p:spPr>
            <a:xfrm>
              <a:off x="2736" y="3408"/>
              <a:ext cx="96" cy="96"/>
            </a:xfrm>
            <a:prstGeom prst="line">
              <a:avLst/>
            </a:prstGeom>
            <a:ln w="19050" cap="flat" cmpd="sng">
              <a:solidFill>
                <a:srgbClr val="FFFF99"/>
              </a:solidFill>
              <a:prstDash val="solid"/>
              <a:round/>
              <a:headEnd type="none" w="med" len="med"/>
              <a:tailEnd type="none" w="med" len="med"/>
            </a:ln>
          </p:spPr>
        </p:sp>
        <p:sp>
          <p:nvSpPr>
            <p:cNvPr id="39975" name="Line 40"/>
            <p:cNvSpPr/>
            <p:nvPr/>
          </p:nvSpPr>
          <p:spPr>
            <a:xfrm>
              <a:off x="2544" y="3408"/>
              <a:ext cx="96" cy="96"/>
            </a:xfrm>
            <a:prstGeom prst="line">
              <a:avLst/>
            </a:prstGeom>
            <a:ln w="19050" cap="flat" cmpd="sng">
              <a:solidFill>
                <a:srgbClr val="FFFF99"/>
              </a:solidFill>
              <a:prstDash val="solid"/>
              <a:round/>
              <a:headEnd type="none" w="med" len="med"/>
              <a:tailEnd type="none" w="med" len="med"/>
            </a:ln>
          </p:spPr>
        </p:sp>
        <p:sp>
          <p:nvSpPr>
            <p:cNvPr id="39976" name="Line 41"/>
            <p:cNvSpPr/>
            <p:nvPr/>
          </p:nvSpPr>
          <p:spPr>
            <a:xfrm>
              <a:off x="2400" y="3456"/>
              <a:ext cx="48" cy="48"/>
            </a:xfrm>
            <a:prstGeom prst="line">
              <a:avLst/>
            </a:prstGeom>
            <a:ln w="19050" cap="flat" cmpd="sng">
              <a:solidFill>
                <a:srgbClr val="FFFF99"/>
              </a:solidFill>
              <a:prstDash val="solid"/>
              <a:round/>
              <a:headEnd type="none" w="med" len="med"/>
              <a:tailEnd type="none" w="med" len="med"/>
            </a:ln>
          </p:spPr>
        </p:sp>
        <p:sp>
          <p:nvSpPr>
            <p:cNvPr id="39977" name="Line 42"/>
            <p:cNvSpPr/>
            <p:nvPr/>
          </p:nvSpPr>
          <p:spPr>
            <a:xfrm>
              <a:off x="2208" y="3456"/>
              <a:ext cx="48" cy="48"/>
            </a:xfrm>
            <a:prstGeom prst="line">
              <a:avLst/>
            </a:prstGeom>
            <a:ln w="19050" cap="flat" cmpd="sng">
              <a:solidFill>
                <a:srgbClr val="FFFF99"/>
              </a:solidFill>
              <a:prstDash val="solid"/>
              <a:round/>
              <a:headEnd type="none" w="med" len="med"/>
              <a:tailEnd type="none" w="med" len="med"/>
            </a:ln>
          </p:spPr>
        </p:sp>
        <p:sp>
          <p:nvSpPr>
            <p:cNvPr id="39978" name="Line 43"/>
            <p:cNvSpPr/>
            <p:nvPr/>
          </p:nvSpPr>
          <p:spPr>
            <a:xfrm>
              <a:off x="1824" y="3456"/>
              <a:ext cx="48" cy="48"/>
            </a:xfrm>
            <a:prstGeom prst="line">
              <a:avLst/>
            </a:prstGeom>
            <a:ln w="19050" cap="flat" cmpd="sng">
              <a:solidFill>
                <a:srgbClr val="FFFF99"/>
              </a:solidFill>
              <a:prstDash val="solid"/>
              <a:round/>
              <a:headEnd type="none" w="med" len="med"/>
              <a:tailEnd type="none" w="med" len="med"/>
            </a:ln>
          </p:spPr>
        </p:sp>
        <p:sp>
          <p:nvSpPr>
            <p:cNvPr id="39979" name="Line 44"/>
            <p:cNvSpPr/>
            <p:nvPr/>
          </p:nvSpPr>
          <p:spPr>
            <a:xfrm>
              <a:off x="2016" y="3456"/>
              <a:ext cx="48" cy="48"/>
            </a:xfrm>
            <a:prstGeom prst="line">
              <a:avLst/>
            </a:prstGeom>
            <a:ln w="19050" cap="flat" cmpd="sng">
              <a:solidFill>
                <a:srgbClr val="FFFF99"/>
              </a:solidFill>
              <a:prstDash val="solid"/>
              <a:round/>
              <a:headEnd type="none" w="med" len="med"/>
              <a:tailEnd type="none" w="med" len="med"/>
            </a:ln>
          </p:spPr>
        </p:sp>
      </p:grpSp>
      <p:grpSp>
        <p:nvGrpSpPr>
          <p:cNvPr id="15405" name="Group 45"/>
          <p:cNvGrpSpPr/>
          <p:nvPr/>
        </p:nvGrpSpPr>
        <p:grpSpPr>
          <a:xfrm>
            <a:off x="1981200" y="1828800"/>
            <a:ext cx="609600" cy="3733800"/>
            <a:chOff x="1248" y="1152"/>
            <a:chExt cx="480" cy="2352"/>
          </a:xfrm>
        </p:grpSpPr>
        <p:sp>
          <p:nvSpPr>
            <p:cNvPr id="39981" name="Line 46"/>
            <p:cNvSpPr/>
            <p:nvPr/>
          </p:nvSpPr>
          <p:spPr>
            <a:xfrm>
              <a:off x="1248" y="3216"/>
              <a:ext cx="288" cy="288"/>
            </a:xfrm>
            <a:prstGeom prst="line">
              <a:avLst/>
            </a:prstGeom>
            <a:ln w="19050" cap="flat" cmpd="sng">
              <a:solidFill>
                <a:srgbClr val="FF9966"/>
              </a:solidFill>
              <a:prstDash val="solid"/>
              <a:round/>
              <a:headEnd type="none" w="med" len="med"/>
              <a:tailEnd type="none" w="med" len="med"/>
            </a:ln>
          </p:spPr>
        </p:sp>
        <p:sp>
          <p:nvSpPr>
            <p:cNvPr id="39982" name="Line 47"/>
            <p:cNvSpPr/>
            <p:nvPr/>
          </p:nvSpPr>
          <p:spPr>
            <a:xfrm>
              <a:off x="1248" y="3024"/>
              <a:ext cx="432" cy="432"/>
            </a:xfrm>
            <a:prstGeom prst="line">
              <a:avLst/>
            </a:prstGeom>
            <a:ln w="19050" cap="flat" cmpd="sng">
              <a:solidFill>
                <a:srgbClr val="FF9966"/>
              </a:solidFill>
              <a:prstDash val="solid"/>
              <a:round/>
              <a:headEnd type="none" w="med" len="med"/>
              <a:tailEnd type="none" w="med" len="med"/>
            </a:ln>
          </p:spPr>
        </p:sp>
        <p:sp>
          <p:nvSpPr>
            <p:cNvPr id="39983" name="Line 48"/>
            <p:cNvSpPr/>
            <p:nvPr/>
          </p:nvSpPr>
          <p:spPr>
            <a:xfrm>
              <a:off x="1248" y="2832"/>
              <a:ext cx="480" cy="480"/>
            </a:xfrm>
            <a:prstGeom prst="line">
              <a:avLst/>
            </a:prstGeom>
            <a:ln w="19050" cap="flat" cmpd="sng">
              <a:solidFill>
                <a:srgbClr val="FF9966"/>
              </a:solidFill>
              <a:prstDash val="solid"/>
              <a:round/>
              <a:headEnd type="none" w="med" len="med"/>
              <a:tailEnd type="none" w="med" len="med"/>
            </a:ln>
          </p:spPr>
        </p:sp>
        <p:sp>
          <p:nvSpPr>
            <p:cNvPr id="39984" name="Line 49"/>
            <p:cNvSpPr/>
            <p:nvPr/>
          </p:nvSpPr>
          <p:spPr>
            <a:xfrm>
              <a:off x="1248" y="2640"/>
              <a:ext cx="480" cy="480"/>
            </a:xfrm>
            <a:prstGeom prst="line">
              <a:avLst/>
            </a:prstGeom>
            <a:ln w="19050" cap="flat" cmpd="sng">
              <a:solidFill>
                <a:srgbClr val="FF9966"/>
              </a:solidFill>
              <a:prstDash val="solid"/>
              <a:round/>
              <a:headEnd type="none" w="med" len="med"/>
              <a:tailEnd type="none" w="med" len="med"/>
            </a:ln>
          </p:spPr>
        </p:sp>
        <p:sp>
          <p:nvSpPr>
            <p:cNvPr id="39985" name="Line 50"/>
            <p:cNvSpPr/>
            <p:nvPr/>
          </p:nvSpPr>
          <p:spPr>
            <a:xfrm>
              <a:off x="1248" y="2496"/>
              <a:ext cx="480" cy="480"/>
            </a:xfrm>
            <a:prstGeom prst="line">
              <a:avLst/>
            </a:prstGeom>
            <a:ln w="19050" cap="flat" cmpd="sng">
              <a:solidFill>
                <a:srgbClr val="FF9966"/>
              </a:solidFill>
              <a:prstDash val="solid"/>
              <a:round/>
              <a:headEnd type="none" w="med" len="med"/>
              <a:tailEnd type="none" w="med" len="med"/>
            </a:ln>
          </p:spPr>
        </p:sp>
        <p:sp>
          <p:nvSpPr>
            <p:cNvPr id="39986" name="Line 51"/>
            <p:cNvSpPr/>
            <p:nvPr/>
          </p:nvSpPr>
          <p:spPr>
            <a:xfrm>
              <a:off x="1248" y="2304"/>
              <a:ext cx="480" cy="480"/>
            </a:xfrm>
            <a:prstGeom prst="line">
              <a:avLst/>
            </a:prstGeom>
            <a:ln w="19050" cap="flat" cmpd="sng">
              <a:solidFill>
                <a:srgbClr val="FF9966"/>
              </a:solidFill>
              <a:prstDash val="solid"/>
              <a:round/>
              <a:headEnd type="none" w="med" len="med"/>
              <a:tailEnd type="none" w="med" len="med"/>
            </a:ln>
          </p:spPr>
        </p:sp>
        <p:sp>
          <p:nvSpPr>
            <p:cNvPr id="39987" name="Line 52"/>
            <p:cNvSpPr/>
            <p:nvPr/>
          </p:nvSpPr>
          <p:spPr>
            <a:xfrm>
              <a:off x="1248" y="2112"/>
              <a:ext cx="480" cy="480"/>
            </a:xfrm>
            <a:prstGeom prst="line">
              <a:avLst/>
            </a:prstGeom>
            <a:ln w="19050" cap="flat" cmpd="sng">
              <a:solidFill>
                <a:srgbClr val="FF9966"/>
              </a:solidFill>
              <a:prstDash val="solid"/>
              <a:round/>
              <a:headEnd type="none" w="med" len="med"/>
              <a:tailEnd type="none" w="med" len="med"/>
            </a:ln>
          </p:spPr>
        </p:sp>
        <p:sp>
          <p:nvSpPr>
            <p:cNvPr id="39988" name="Line 53"/>
            <p:cNvSpPr/>
            <p:nvPr/>
          </p:nvSpPr>
          <p:spPr>
            <a:xfrm>
              <a:off x="1248" y="1920"/>
              <a:ext cx="480" cy="480"/>
            </a:xfrm>
            <a:prstGeom prst="line">
              <a:avLst/>
            </a:prstGeom>
            <a:ln w="19050" cap="flat" cmpd="sng">
              <a:solidFill>
                <a:srgbClr val="FF9966"/>
              </a:solidFill>
              <a:prstDash val="solid"/>
              <a:round/>
              <a:headEnd type="none" w="med" len="med"/>
              <a:tailEnd type="none" w="med" len="med"/>
            </a:ln>
          </p:spPr>
        </p:sp>
        <p:sp>
          <p:nvSpPr>
            <p:cNvPr id="39989" name="Line 54"/>
            <p:cNvSpPr/>
            <p:nvPr/>
          </p:nvSpPr>
          <p:spPr>
            <a:xfrm>
              <a:off x="1248" y="1728"/>
              <a:ext cx="480" cy="480"/>
            </a:xfrm>
            <a:prstGeom prst="line">
              <a:avLst/>
            </a:prstGeom>
            <a:ln w="19050" cap="flat" cmpd="sng">
              <a:solidFill>
                <a:srgbClr val="FF9966"/>
              </a:solidFill>
              <a:prstDash val="solid"/>
              <a:round/>
              <a:headEnd type="none" w="med" len="med"/>
              <a:tailEnd type="none" w="med" len="med"/>
            </a:ln>
          </p:spPr>
        </p:sp>
        <p:sp>
          <p:nvSpPr>
            <p:cNvPr id="39990" name="Line 55"/>
            <p:cNvSpPr/>
            <p:nvPr/>
          </p:nvSpPr>
          <p:spPr>
            <a:xfrm>
              <a:off x="1248" y="1344"/>
              <a:ext cx="480" cy="480"/>
            </a:xfrm>
            <a:prstGeom prst="line">
              <a:avLst/>
            </a:prstGeom>
            <a:ln w="19050" cap="flat" cmpd="sng">
              <a:solidFill>
                <a:srgbClr val="FF9966"/>
              </a:solidFill>
              <a:prstDash val="solid"/>
              <a:round/>
              <a:headEnd type="none" w="med" len="med"/>
              <a:tailEnd type="none" w="med" len="med"/>
            </a:ln>
          </p:spPr>
        </p:sp>
        <p:sp>
          <p:nvSpPr>
            <p:cNvPr id="39991" name="Line 56"/>
            <p:cNvSpPr/>
            <p:nvPr/>
          </p:nvSpPr>
          <p:spPr>
            <a:xfrm>
              <a:off x="1248" y="1152"/>
              <a:ext cx="480" cy="480"/>
            </a:xfrm>
            <a:prstGeom prst="line">
              <a:avLst/>
            </a:prstGeom>
            <a:ln w="19050" cap="flat" cmpd="sng">
              <a:solidFill>
                <a:srgbClr val="FF9966"/>
              </a:solidFill>
              <a:prstDash val="solid"/>
              <a:round/>
              <a:headEnd type="none" w="med" len="med"/>
              <a:tailEnd type="none" w="med" len="med"/>
            </a:ln>
          </p:spPr>
        </p:sp>
        <p:sp>
          <p:nvSpPr>
            <p:cNvPr id="39992" name="Line 57"/>
            <p:cNvSpPr/>
            <p:nvPr/>
          </p:nvSpPr>
          <p:spPr>
            <a:xfrm>
              <a:off x="1488" y="1248"/>
              <a:ext cx="240" cy="240"/>
            </a:xfrm>
            <a:prstGeom prst="line">
              <a:avLst/>
            </a:prstGeom>
            <a:ln w="19050" cap="flat" cmpd="sng">
              <a:solidFill>
                <a:srgbClr val="FF9966"/>
              </a:solidFill>
              <a:prstDash val="solid"/>
              <a:round/>
              <a:headEnd type="none" w="med" len="med"/>
              <a:tailEnd type="none" w="med" len="med"/>
            </a:ln>
          </p:spPr>
        </p:sp>
        <p:sp>
          <p:nvSpPr>
            <p:cNvPr id="39993" name="Line 58"/>
            <p:cNvSpPr/>
            <p:nvPr/>
          </p:nvSpPr>
          <p:spPr>
            <a:xfrm>
              <a:off x="1248" y="1536"/>
              <a:ext cx="480" cy="480"/>
            </a:xfrm>
            <a:prstGeom prst="line">
              <a:avLst/>
            </a:prstGeom>
            <a:ln w="19050" cap="flat" cmpd="sng">
              <a:solidFill>
                <a:srgbClr val="FF9966"/>
              </a:solidFill>
              <a:prstDash val="solid"/>
              <a:round/>
              <a:headEnd type="none" w="med" len="med"/>
              <a:tailEnd type="none" w="med" len="med"/>
            </a:ln>
          </p:spPr>
        </p:sp>
      </p:grpSp>
      <p:sp>
        <p:nvSpPr>
          <p:cNvPr id="15419" name="Text Box 59"/>
          <p:cNvSpPr txBox="1"/>
          <p:nvPr/>
        </p:nvSpPr>
        <p:spPr>
          <a:xfrm>
            <a:off x="3641725" y="4511675"/>
            <a:ext cx="1560513" cy="641350"/>
          </a:xfrm>
          <a:prstGeom prst="rect">
            <a:avLst/>
          </a:prstGeom>
          <a:noFill/>
          <a:ln w="9525">
            <a:noFill/>
          </a:ln>
        </p:spPr>
        <p:txBody>
          <a:bodyPr wrap="none" anchor="t">
            <a:spAutoFit/>
          </a:bodyPr>
          <a:p>
            <a:r>
              <a:rPr lang="zh-CN" altLang="en-US" sz="3600" b="1" dirty="0">
                <a:solidFill>
                  <a:srgbClr val="FF9933"/>
                </a:solidFill>
                <a:latin typeface="Times New Roman" panose="02020603050405020304" pitchFamily="18" charset="0"/>
                <a:ea typeface="隶书" panose="02010509060101010101" pitchFamily="49" charset="-122"/>
              </a:rPr>
              <a:t>截止区</a:t>
            </a:r>
            <a:endParaRPr lang="zh-CN" altLang="en-US" sz="3600" b="1" dirty="0">
              <a:solidFill>
                <a:srgbClr val="FF9933"/>
              </a:solidFill>
              <a:latin typeface="Times New Roman" panose="02020603050405020304" pitchFamily="18" charset="0"/>
              <a:ea typeface="隶书" panose="02010509060101010101" pitchFamily="49" charset="-122"/>
            </a:endParaRPr>
          </a:p>
        </p:txBody>
      </p:sp>
      <p:sp>
        <p:nvSpPr>
          <p:cNvPr id="15420" name="Line 60"/>
          <p:cNvSpPr/>
          <p:nvPr/>
        </p:nvSpPr>
        <p:spPr>
          <a:xfrm>
            <a:off x="4724400" y="5029200"/>
            <a:ext cx="762000" cy="457200"/>
          </a:xfrm>
          <a:prstGeom prst="line">
            <a:avLst/>
          </a:prstGeom>
          <a:ln w="28575" cap="flat" cmpd="sng">
            <a:solidFill>
              <a:srgbClr val="FFFF99"/>
            </a:solidFill>
            <a:prstDash val="solid"/>
            <a:round/>
            <a:headEnd type="none" w="med" len="med"/>
            <a:tailEnd type="none" w="med" len="med"/>
          </a:ln>
        </p:spPr>
      </p:sp>
      <p:sp>
        <p:nvSpPr>
          <p:cNvPr id="15421" name="Text Box 61"/>
          <p:cNvSpPr txBox="1"/>
          <p:nvPr/>
        </p:nvSpPr>
        <p:spPr>
          <a:xfrm>
            <a:off x="395288" y="2852738"/>
            <a:ext cx="1560512" cy="641350"/>
          </a:xfrm>
          <a:prstGeom prst="rect">
            <a:avLst/>
          </a:prstGeom>
          <a:noFill/>
          <a:ln w="9525">
            <a:noFill/>
          </a:ln>
        </p:spPr>
        <p:txBody>
          <a:bodyPr wrap="none" anchor="t">
            <a:spAutoFit/>
          </a:bodyPr>
          <a:p>
            <a:r>
              <a:rPr lang="zh-CN" altLang="en-US" sz="3600" b="1" dirty="0">
                <a:solidFill>
                  <a:srgbClr val="FFFF00"/>
                </a:solidFill>
                <a:latin typeface="Times New Roman" panose="02020603050405020304" pitchFamily="18" charset="0"/>
                <a:ea typeface="隶书" panose="02010509060101010101" pitchFamily="49" charset="-122"/>
              </a:rPr>
              <a:t>饱和区</a:t>
            </a:r>
            <a:endParaRPr lang="zh-CN" altLang="en-US" sz="3600" b="1" dirty="0">
              <a:solidFill>
                <a:srgbClr val="FFFF00"/>
              </a:solidFill>
              <a:latin typeface="Times New Roman" panose="02020603050405020304" pitchFamily="18" charset="0"/>
              <a:ea typeface="隶书" panose="02010509060101010101" pitchFamily="49" charset="-122"/>
            </a:endParaRPr>
          </a:p>
        </p:txBody>
      </p:sp>
      <p:sp>
        <p:nvSpPr>
          <p:cNvPr id="15422" name="Text Box 62"/>
          <p:cNvSpPr txBox="1"/>
          <p:nvPr/>
        </p:nvSpPr>
        <p:spPr>
          <a:xfrm>
            <a:off x="3635375" y="2984500"/>
            <a:ext cx="1560513" cy="641350"/>
          </a:xfrm>
          <a:prstGeom prst="rect">
            <a:avLst/>
          </a:prstGeom>
          <a:noFill/>
          <a:ln w="9525">
            <a:noFill/>
          </a:ln>
        </p:spPr>
        <p:txBody>
          <a:bodyPr wrap="none" anchor="t">
            <a:spAutoFit/>
          </a:bodyPr>
          <a:p>
            <a:r>
              <a:rPr lang="zh-CN" altLang="en-US" sz="3600" b="1" dirty="0">
                <a:solidFill>
                  <a:srgbClr val="FFCCFF"/>
                </a:solidFill>
                <a:latin typeface="Times New Roman" panose="02020603050405020304" pitchFamily="18" charset="0"/>
                <a:ea typeface="隶书" panose="02010509060101010101" pitchFamily="49" charset="-122"/>
              </a:rPr>
              <a:t>放大区</a:t>
            </a:r>
            <a:endParaRPr lang="zh-CN" altLang="en-US" sz="3600" b="1" dirty="0">
              <a:solidFill>
                <a:srgbClr val="FFCCFF"/>
              </a:solidFill>
              <a:latin typeface="Times New Roman" panose="02020603050405020304" pitchFamily="18" charset="0"/>
              <a:ea typeface="隶书" panose="02010509060101010101" pitchFamily="49" charset="-122"/>
            </a:endParaRPr>
          </a:p>
        </p:txBody>
      </p:sp>
      <p:sp>
        <p:nvSpPr>
          <p:cNvPr id="39998" name="Text Box 64">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39999" name="Text Box 65">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0000" name="Text Box 67"/>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5389"/>
                                        </p:tgtEl>
                                        <p:attrNameLst>
                                          <p:attrName>style.visibility</p:attrName>
                                        </p:attrNameLst>
                                      </p:cBhvr>
                                      <p:to>
                                        <p:strVal val="visible"/>
                                      </p:to>
                                    </p:set>
                                    <p:animEffect transition="in" filter="checkerboard(across)">
                                      <p:cBhvr>
                                        <p:cTn id="7" dur="500"/>
                                        <p:tgtEl>
                                          <p:spTgt spid="1538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5420"/>
                                        </p:tgtEl>
                                        <p:attrNameLst>
                                          <p:attrName>style.visibility</p:attrName>
                                        </p:attrNameLst>
                                      </p:cBhvr>
                                      <p:to>
                                        <p:strVal val="visible"/>
                                      </p:to>
                                    </p:set>
                                    <p:animEffect transition="in" filter="wipe(up)">
                                      <p:cBhvr>
                                        <p:cTn id="11" dur="500"/>
                                        <p:tgtEl>
                                          <p:spTgt spid="15420"/>
                                        </p:tgtEl>
                                      </p:cBhvr>
                                    </p:animEffect>
                                  </p:childTnLst>
                                </p:cTn>
                              </p:par>
                            </p:childTnLst>
                          </p:cTn>
                        </p:par>
                        <p:par>
                          <p:cTn id="12" fill="hold">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15419"/>
                                        </p:tgtEl>
                                        <p:attrNameLst>
                                          <p:attrName>style.visibility</p:attrName>
                                        </p:attrNameLst>
                                      </p:cBhvr>
                                      <p:to>
                                        <p:strVal val="visible"/>
                                      </p:to>
                                    </p:set>
                                    <p:animEffect transition="in" filter="box(in)">
                                      <p:cBhvr>
                                        <p:cTn id="15" dur="500"/>
                                        <p:tgtEl>
                                          <p:spTgt spid="1541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0"/>
                                  </p:stCondLst>
                                  <p:childTnLst>
                                    <p:set>
                                      <p:cBhvr>
                                        <p:cTn id="19" dur="1" fill="hold">
                                          <p:stCondLst>
                                            <p:cond delay="0"/>
                                          </p:stCondLst>
                                        </p:cTn>
                                        <p:tgtEl>
                                          <p:spTgt spid="15388"/>
                                        </p:tgtEl>
                                        <p:attrNameLst>
                                          <p:attrName>style.visibility</p:attrName>
                                        </p:attrNameLst>
                                      </p:cBhvr>
                                      <p:to>
                                        <p:strVal val="visible"/>
                                      </p:to>
                                    </p:set>
                                    <p:anim calcmode="lin" valueType="num">
                                      <p:cBhvr additive="base">
                                        <p:cTn id="20" dur="500" fill="hold"/>
                                        <p:tgtEl>
                                          <p:spTgt spid="15388"/>
                                        </p:tgtEl>
                                        <p:attrNameLst>
                                          <p:attrName>ppt_x</p:attrName>
                                        </p:attrNameLst>
                                      </p:cBhvr>
                                      <p:tavLst>
                                        <p:tav tm="0">
                                          <p:val>
                                            <p:strVal val="#ppt_x"/>
                                          </p:val>
                                        </p:tav>
                                        <p:tav tm="100000">
                                          <p:val>
                                            <p:strVal val="#ppt_x"/>
                                          </p:val>
                                        </p:tav>
                                      </p:tavLst>
                                    </p:anim>
                                    <p:anim calcmode="lin" valueType="num">
                                      <p:cBhvr additive="base">
                                        <p:cTn id="21" dur="500" fill="hold"/>
                                        <p:tgtEl>
                                          <p:spTgt spid="15388"/>
                                        </p:tgtEl>
                                        <p:attrNameLst>
                                          <p:attrName>ppt_y</p:attrName>
                                        </p:attrNameLst>
                                      </p:cBhvr>
                                      <p:tavLst>
                                        <p:tav tm="0">
                                          <p:val>
                                            <p:strVal val="0-#ppt_h/2"/>
                                          </p:val>
                                        </p:tav>
                                        <p:tav tm="100000">
                                          <p:val>
                                            <p:strVal val="#ppt_y"/>
                                          </p:val>
                                        </p:tav>
                                      </p:tavLst>
                                    </p:anim>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15405"/>
                                        </p:tgtEl>
                                        <p:attrNameLst>
                                          <p:attrName>style.visibility</p:attrName>
                                        </p:attrNameLst>
                                      </p:cBhvr>
                                      <p:to>
                                        <p:strVal val="visible"/>
                                      </p:to>
                                    </p:set>
                                    <p:animEffect transition="in" filter="dissolve">
                                      <p:cBhvr>
                                        <p:cTn id="25" dur="500"/>
                                        <p:tgtEl>
                                          <p:spTgt spid="15405"/>
                                        </p:tgtEl>
                                      </p:cBhvr>
                                    </p:animEffect>
                                  </p:childTnLst>
                                </p:cTn>
                              </p:par>
                            </p:childTnLst>
                          </p:cTn>
                        </p:par>
                        <p:par>
                          <p:cTn id="26" fill="hold">
                            <p:stCondLst>
                              <p:cond delay="1000"/>
                            </p:stCondLst>
                            <p:childTnLst>
                              <p:par>
                                <p:cTn id="27" presetID="17" presetClass="entr" presetSubtype="10" fill="hold" grpId="0" nodeType="afterEffect">
                                  <p:stCondLst>
                                    <p:cond delay="0"/>
                                  </p:stCondLst>
                                  <p:childTnLst>
                                    <p:set>
                                      <p:cBhvr>
                                        <p:cTn id="28" dur="1" fill="hold">
                                          <p:stCondLst>
                                            <p:cond delay="0"/>
                                          </p:stCondLst>
                                        </p:cTn>
                                        <p:tgtEl>
                                          <p:spTgt spid="15421"/>
                                        </p:tgtEl>
                                        <p:attrNameLst>
                                          <p:attrName>style.visibility</p:attrName>
                                        </p:attrNameLst>
                                      </p:cBhvr>
                                      <p:to>
                                        <p:strVal val="visible"/>
                                      </p:to>
                                    </p:set>
                                    <p:anim calcmode="lin" valueType="num">
                                      <p:cBhvr>
                                        <p:cTn id="29" dur="500" fill="hold"/>
                                        <p:tgtEl>
                                          <p:spTgt spid="15421"/>
                                        </p:tgtEl>
                                        <p:attrNameLst>
                                          <p:attrName>ppt_w</p:attrName>
                                        </p:attrNameLst>
                                      </p:cBhvr>
                                      <p:tavLst>
                                        <p:tav tm="0">
                                          <p:val>
                                            <p:fltVal val="0.000000"/>
                                          </p:val>
                                        </p:tav>
                                        <p:tav tm="100000">
                                          <p:val>
                                            <p:strVal val="#ppt_w"/>
                                          </p:val>
                                        </p:tav>
                                      </p:tavLst>
                                    </p:anim>
                                    <p:anim calcmode="lin" valueType="num">
                                      <p:cBhvr>
                                        <p:cTn id="30" dur="500" fill="hold"/>
                                        <p:tgtEl>
                                          <p:spTgt spid="15421"/>
                                        </p:tgtEl>
                                        <p:attrNameLst>
                                          <p:attrName>ppt_h</p:attrName>
                                        </p:attrNameLst>
                                      </p:cBhvr>
                                      <p:tavLst>
                                        <p:tav tm="0">
                                          <p:val>
                                            <p:strVal val="#ppt_h"/>
                                          </p:val>
                                        </p:tav>
                                        <p:tav tm="100000">
                                          <p:val>
                                            <p:strVal val="#ppt_h"/>
                                          </p:val>
                                        </p:tav>
                                      </p:tavLst>
                                    </p:anim>
                                  </p:childTnLst>
                                </p:cTn>
                              </p:par>
                            </p:childTnLst>
                          </p:cTn>
                        </p:par>
                        <p:par>
                          <p:cTn id="31" fill="hold">
                            <p:stCondLst>
                              <p:cond delay="1500"/>
                            </p:stCondLst>
                            <p:childTnLst>
                              <p:par>
                                <p:cTn id="32" presetID="23" presetClass="entr" presetSubtype="32" fill="hold" grpId="0" nodeType="afterEffect">
                                  <p:stCondLst>
                                    <p:cond delay="0"/>
                                  </p:stCondLst>
                                  <p:childTnLst>
                                    <p:set>
                                      <p:cBhvr>
                                        <p:cTn id="33" dur="1" fill="hold">
                                          <p:stCondLst>
                                            <p:cond delay="0"/>
                                          </p:stCondLst>
                                        </p:cTn>
                                        <p:tgtEl>
                                          <p:spTgt spid="15422"/>
                                        </p:tgtEl>
                                        <p:attrNameLst>
                                          <p:attrName>style.visibility</p:attrName>
                                        </p:attrNameLst>
                                      </p:cBhvr>
                                      <p:to>
                                        <p:strVal val="visible"/>
                                      </p:to>
                                    </p:set>
                                    <p:anim calcmode="lin" valueType="num">
                                      <p:cBhvr>
                                        <p:cTn id="34" dur="500" fill="hold"/>
                                        <p:tgtEl>
                                          <p:spTgt spid="15422"/>
                                        </p:tgtEl>
                                        <p:attrNameLst>
                                          <p:attrName>ppt_w</p:attrName>
                                        </p:attrNameLst>
                                      </p:cBhvr>
                                      <p:tavLst>
                                        <p:tav tm="0">
                                          <p:val>
                                            <p:strVal val="4*#ppt_w"/>
                                          </p:val>
                                        </p:tav>
                                        <p:tav tm="100000">
                                          <p:val>
                                            <p:strVal val="#ppt_w"/>
                                          </p:val>
                                        </p:tav>
                                      </p:tavLst>
                                    </p:anim>
                                    <p:anim calcmode="lin" valueType="num">
                                      <p:cBhvr>
                                        <p:cTn id="35" dur="500" fill="hold"/>
                                        <p:tgtEl>
                                          <p:spTgt spid="1542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19" grpId="0"/>
      <p:bldP spid="15421" grpId="0"/>
      <p:bldP spid="154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2"/>
          <p:cNvSpPr txBox="1">
            <a:spLocks noChangeArrowheads="1"/>
          </p:cNvSpPr>
          <p:nvPr/>
        </p:nvSpPr>
        <p:spPr bwMode="auto">
          <a:xfrm>
            <a:off x="304800" y="533400"/>
            <a:ext cx="6643688" cy="6413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p>
            <a:pPr>
              <a:spcBef>
                <a:spcPct val="50000"/>
              </a:spcBef>
            </a:pPr>
            <a:r>
              <a:rPr lang="en-US" altLang="zh-CN" sz="2400" b="1" dirty="0">
                <a:solidFill>
                  <a:srgbClr val="DDDDDD"/>
                </a:solidFill>
                <a:effectLst>
                  <a:outerShdw blurRad="38100" dist="38100" dir="2700000">
                    <a:srgbClr val="C0C0C0"/>
                  </a:outerShdw>
                </a:effectLst>
                <a:latin typeface="幼圆" panose="02010509060101010101" pitchFamily="49" charset="-122"/>
                <a:ea typeface="幼圆" panose="02010509060101010101" pitchFamily="49" charset="-122"/>
              </a:rPr>
              <a:t>        </a:t>
            </a:r>
            <a:r>
              <a:rPr lang="zh-CN" altLang="en-US" sz="3600" b="1" dirty="0">
                <a:solidFill>
                  <a:schemeClr val="bg1"/>
                </a:solidFill>
                <a:latin typeface="隶书" panose="02010509060101010101" pitchFamily="49" charset="-122"/>
                <a:ea typeface="隶书" panose="02010509060101010101" pitchFamily="49" charset="-122"/>
              </a:rPr>
              <a:t>晶体管三个工作区的特点</a:t>
            </a:r>
            <a:r>
              <a:rPr lang="en-US" altLang="zh-CN" sz="3600" b="1" dirty="0">
                <a:solidFill>
                  <a:schemeClr val="bg1"/>
                </a:solidFill>
                <a:effectLst>
                  <a:outerShdw blurRad="38100" dist="38100" dir="2700000">
                    <a:srgbClr val="C0C0C0"/>
                  </a:outerShdw>
                </a:effectLst>
                <a:latin typeface="隶书" panose="02010509060101010101" pitchFamily="49" charset="-122"/>
                <a:ea typeface="隶书" panose="02010509060101010101" pitchFamily="49" charset="-122"/>
              </a:rPr>
              <a:t>:</a:t>
            </a:r>
            <a:endParaRPr lang="en-US" altLang="zh-CN" sz="3600" b="1" dirty="0">
              <a:solidFill>
                <a:schemeClr val="bg1"/>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
        <p:nvSpPr>
          <p:cNvPr id="17411" name="Text Box 3"/>
          <p:cNvSpPr txBox="1">
            <a:spLocks noChangeArrowheads="1"/>
          </p:cNvSpPr>
          <p:nvPr/>
        </p:nvSpPr>
        <p:spPr bwMode="auto">
          <a:xfrm>
            <a:off x="609600" y="17526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放大区</a:t>
            </a:r>
            <a:r>
              <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a:t>
            </a:r>
            <a:endPar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17412" name="Text Box 4"/>
          <p:cNvSpPr txBox="1">
            <a:spLocks noChangeArrowheads="1"/>
          </p:cNvSpPr>
          <p:nvPr/>
        </p:nvSpPr>
        <p:spPr bwMode="auto">
          <a:xfrm>
            <a:off x="609600" y="35052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截止区</a:t>
            </a:r>
            <a:r>
              <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a:t>
            </a:r>
            <a:endPar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17413" name="Text Box 5"/>
          <p:cNvSpPr txBox="1">
            <a:spLocks noChangeArrowheads="1"/>
          </p:cNvSpPr>
          <p:nvPr/>
        </p:nvSpPr>
        <p:spPr bwMode="auto">
          <a:xfrm>
            <a:off x="611188" y="5013325"/>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饱和区</a:t>
            </a:r>
            <a:r>
              <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a:t>
            </a:r>
            <a:endPar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graphicFrame>
        <p:nvGraphicFramePr>
          <p:cNvPr id="17414" name="Object 6"/>
          <p:cNvGraphicFramePr>
            <a:graphicFrameLocks noChangeAspect="1"/>
          </p:cNvGraphicFramePr>
          <p:nvPr/>
        </p:nvGraphicFramePr>
        <p:xfrm>
          <a:off x="1981200" y="1382713"/>
          <a:ext cx="220663" cy="228600"/>
        </p:xfrm>
        <a:graphic>
          <a:graphicData uri="http://schemas.openxmlformats.org/presentationml/2006/ole">
            <mc:AlternateContent xmlns:mc="http://schemas.openxmlformats.org/markup-compatibility/2006">
              <mc:Choice xmlns:v="urn:schemas-microsoft-com:vml" Requires="v">
                <p:oleObj spid="_x0000_s3110" name="" r:id="rId1" imgW="9525" imgH="9525" progId="CorelDraw.Graphic.8">
                  <p:embed/>
                </p:oleObj>
              </mc:Choice>
              <mc:Fallback>
                <p:oleObj name="" r:id="rId1" imgW="9525" imgH="9525" progId="CorelDraw.Graphic.8">
                  <p:embed/>
                  <p:pic>
                    <p:nvPicPr>
                      <p:cNvPr id="0" name="图片 3109"/>
                      <p:cNvPicPr/>
                      <p:nvPr/>
                    </p:nvPicPr>
                    <p:blipFill>
                      <a:blip r:embed="rId2"/>
                      <a:stretch>
                        <a:fillRect/>
                      </a:stretch>
                    </p:blipFill>
                    <p:spPr>
                      <a:xfrm>
                        <a:off x="1981200" y="1382713"/>
                        <a:ext cx="220663" cy="228600"/>
                      </a:xfrm>
                      <a:prstGeom prst="rect">
                        <a:avLst/>
                      </a:prstGeom>
                      <a:noFill/>
                      <a:ln w="38100">
                        <a:noFill/>
                        <a:miter/>
                      </a:ln>
                    </p:spPr>
                  </p:pic>
                </p:oleObj>
              </mc:Fallback>
            </mc:AlternateContent>
          </a:graphicData>
        </a:graphic>
      </p:graphicFrame>
      <p:graphicFrame>
        <p:nvGraphicFramePr>
          <p:cNvPr id="17415" name="Object 7"/>
          <p:cNvGraphicFramePr>
            <a:graphicFrameLocks noChangeAspect="1"/>
          </p:cNvGraphicFramePr>
          <p:nvPr/>
        </p:nvGraphicFramePr>
        <p:xfrm>
          <a:off x="1981200" y="1839913"/>
          <a:ext cx="222250" cy="228600"/>
        </p:xfrm>
        <a:graphic>
          <a:graphicData uri="http://schemas.openxmlformats.org/presentationml/2006/ole">
            <mc:AlternateContent xmlns:mc="http://schemas.openxmlformats.org/markup-compatibility/2006">
              <mc:Choice xmlns:v="urn:schemas-microsoft-com:vml" Requires="v">
                <p:oleObj spid="_x0000_s3117" name="" r:id="rId3" imgW="9525" imgH="9525" progId="CorelDraw.Graphic.8">
                  <p:embed/>
                </p:oleObj>
              </mc:Choice>
              <mc:Fallback>
                <p:oleObj name="" r:id="rId3" imgW="9525" imgH="9525" progId="CorelDraw.Graphic.8">
                  <p:embed/>
                  <p:pic>
                    <p:nvPicPr>
                      <p:cNvPr id="0" name="图片 3116"/>
                      <p:cNvPicPr/>
                      <p:nvPr/>
                    </p:nvPicPr>
                    <p:blipFill>
                      <a:blip r:embed="rId4"/>
                      <a:stretch>
                        <a:fillRect/>
                      </a:stretch>
                    </p:blipFill>
                    <p:spPr>
                      <a:xfrm>
                        <a:off x="1981200" y="1839913"/>
                        <a:ext cx="222250" cy="228600"/>
                      </a:xfrm>
                      <a:prstGeom prst="rect">
                        <a:avLst/>
                      </a:prstGeom>
                      <a:noFill/>
                      <a:ln w="38100">
                        <a:noFill/>
                        <a:miter/>
                      </a:ln>
                    </p:spPr>
                  </p:pic>
                </p:oleObj>
              </mc:Fallback>
            </mc:AlternateContent>
          </a:graphicData>
        </a:graphic>
      </p:graphicFrame>
      <p:graphicFrame>
        <p:nvGraphicFramePr>
          <p:cNvPr id="17416" name="Object 8"/>
          <p:cNvGraphicFramePr>
            <a:graphicFrameLocks noChangeAspect="1"/>
          </p:cNvGraphicFramePr>
          <p:nvPr/>
        </p:nvGraphicFramePr>
        <p:xfrm>
          <a:off x="1981200" y="4049713"/>
          <a:ext cx="222250" cy="228600"/>
        </p:xfrm>
        <a:graphic>
          <a:graphicData uri="http://schemas.openxmlformats.org/presentationml/2006/ole">
            <mc:AlternateContent xmlns:mc="http://schemas.openxmlformats.org/markup-compatibility/2006">
              <mc:Choice xmlns:v="urn:schemas-microsoft-com:vml" Requires="v">
                <p:oleObj spid="_x0000_s3114" name="" r:id="rId5" imgW="9525" imgH="9525" progId="CorelDraw.Graphic.8">
                  <p:embed/>
                </p:oleObj>
              </mc:Choice>
              <mc:Fallback>
                <p:oleObj name="" r:id="rId5" imgW="9525" imgH="9525" progId="CorelDraw.Graphic.8">
                  <p:embed/>
                  <p:pic>
                    <p:nvPicPr>
                      <p:cNvPr id="0" name="图片 3113"/>
                      <p:cNvPicPr/>
                      <p:nvPr/>
                    </p:nvPicPr>
                    <p:blipFill>
                      <a:blip r:embed="rId6"/>
                      <a:stretch>
                        <a:fillRect/>
                      </a:stretch>
                    </p:blipFill>
                    <p:spPr>
                      <a:xfrm>
                        <a:off x="1981200" y="4049713"/>
                        <a:ext cx="222250" cy="228600"/>
                      </a:xfrm>
                      <a:prstGeom prst="rect">
                        <a:avLst/>
                      </a:prstGeom>
                      <a:noFill/>
                      <a:ln w="38100">
                        <a:noFill/>
                        <a:miter/>
                      </a:ln>
                    </p:spPr>
                  </p:pic>
                </p:oleObj>
              </mc:Fallback>
            </mc:AlternateContent>
          </a:graphicData>
        </a:graphic>
      </p:graphicFrame>
      <p:graphicFrame>
        <p:nvGraphicFramePr>
          <p:cNvPr id="17417" name="Object 9"/>
          <p:cNvGraphicFramePr>
            <a:graphicFrameLocks noChangeAspect="1"/>
          </p:cNvGraphicFramePr>
          <p:nvPr/>
        </p:nvGraphicFramePr>
        <p:xfrm>
          <a:off x="1989138" y="3135313"/>
          <a:ext cx="220662" cy="228600"/>
        </p:xfrm>
        <a:graphic>
          <a:graphicData uri="http://schemas.openxmlformats.org/presentationml/2006/ole">
            <mc:AlternateContent xmlns:mc="http://schemas.openxmlformats.org/markup-compatibility/2006">
              <mc:Choice xmlns:v="urn:schemas-microsoft-com:vml" Requires="v">
                <p:oleObj spid="_x0000_s3113" name="" r:id="rId7" imgW="9525" imgH="9525" progId="CorelDraw.Graphic.8">
                  <p:embed/>
                </p:oleObj>
              </mc:Choice>
              <mc:Fallback>
                <p:oleObj name="" r:id="rId7" imgW="9525" imgH="9525" progId="CorelDraw.Graphic.8">
                  <p:embed/>
                  <p:pic>
                    <p:nvPicPr>
                      <p:cNvPr id="0" name="图片 3112"/>
                      <p:cNvPicPr/>
                      <p:nvPr/>
                    </p:nvPicPr>
                    <p:blipFill>
                      <a:blip r:embed="rId2"/>
                      <a:stretch>
                        <a:fillRect/>
                      </a:stretch>
                    </p:blipFill>
                    <p:spPr>
                      <a:xfrm>
                        <a:off x="1989138" y="3135313"/>
                        <a:ext cx="220662" cy="228600"/>
                      </a:xfrm>
                      <a:prstGeom prst="rect">
                        <a:avLst/>
                      </a:prstGeom>
                      <a:noFill/>
                      <a:ln w="38100">
                        <a:noFill/>
                        <a:miter/>
                      </a:ln>
                    </p:spPr>
                  </p:pic>
                </p:oleObj>
              </mc:Fallback>
            </mc:AlternateContent>
          </a:graphicData>
        </a:graphic>
      </p:graphicFrame>
      <p:graphicFrame>
        <p:nvGraphicFramePr>
          <p:cNvPr id="17418" name="Object 10"/>
          <p:cNvGraphicFramePr>
            <a:graphicFrameLocks noChangeAspect="1"/>
          </p:cNvGraphicFramePr>
          <p:nvPr/>
        </p:nvGraphicFramePr>
        <p:xfrm>
          <a:off x="1981200" y="4811713"/>
          <a:ext cx="220663" cy="228600"/>
        </p:xfrm>
        <a:graphic>
          <a:graphicData uri="http://schemas.openxmlformats.org/presentationml/2006/ole">
            <mc:AlternateContent xmlns:mc="http://schemas.openxmlformats.org/markup-compatibility/2006">
              <mc:Choice xmlns:v="urn:schemas-microsoft-com:vml" Requires="v">
                <p:oleObj spid="_x0000_s3112" name="" r:id="rId8" imgW="9525" imgH="9525" progId="CorelDraw.Graphic.8">
                  <p:embed/>
                </p:oleObj>
              </mc:Choice>
              <mc:Fallback>
                <p:oleObj name="" r:id="rId8" imgW="9525" imgH="9525" progId="CorelDraw.Graphic.8">
                  <p:embed/>
                  <p:pic>
                    <p:nvPicPr>
                      <p:cNvPr id="0" name="图片 3111"/>
                      <p:cNvPicPr/>
                      <p:nvPr/>
                    </p:nvPicPr>
                    <p:blipFill>
                      <a:blip r:embed="rId2"/>
                      <a:stretch>
                        <a:fillRect/>
                      </a:stretch>
                    </p:blipFill>
                    <p:spPr>
                      <a:xfrm>
                        <a:off x="1981200" y="4811713"/>
                        <a:ext cx="220663" cy="228600"/>
                      </a:xfrm>
                      <a:prstGeom prst="rect">
                        <a:avLst/>
                      </a:prstGeom>
                      <a:noFill/>
                      <a:ln w="38100">
                        <a:noFill/>
                        <a:miter/>
                      </a:ln>
                    </p:spPr>
                  </p:pic>
                </p:oleObj>
              </mc:Fallback>
            </mc:AlternateContent>
          </a:graphicData>
        </a:graphic>
      </p:graphicFrame>
      <p:graphicFrame>
        <p:nvGraphicFramePr>
          <p:cNvPr id="17419" name="Object 11"/>
          <p:cNvGraphicFramePr>
            <a:graphicFrameLocks noChangeAspect="1"/>
          </p:cNvGraphicFramePr>
          <p:nvPr/>
        </p:nvGraphicFramePr>
        <p:xfrm>
          <a:off x="1981200" y="3592513"/>
          <a:ext cx="222250" cy="228600"/>
        </p:xfrm>
        <a:graphic>
          <a:graphicData uri="http://schemas.openxmlformats.org/presentationml/2006/ole">
            <mc:AlternateContent xmlns:mc="http://schemas.openxmlformats.org/markup-compatibility/2006">
              <mc:Choice xmlns:v="urn:schemas-microsoft-com:vml" Requires="v">
                <p:oleObj spid="_x0000_s3119" name="" r:id="rId9" imgW="9525" imgH="9525" progId="CorelDraw.Graphic.8">
                  <p:embed/>
                </p:oleObj>
              </mc:Choice>
              <mc:Fallback>
                <p:oleObj name="" r:id="rId9" imgW="9525" imgH="9525" progId="CorelDraw.Graphic.8">
                  <p:embed/>
                  <p:pic>
                    <p:nvPicPr>
                      <p:cNvPr id="0" name="图片 3118"/>
                      <p:cNvPicPr/>
                      <p:nvPr/>
                    </p:nvPicPr>
                    <p:blipFill>
                      <a:blip r:embed="rId4"/>
                      <a:stretch>
                        <a:fillRect/>
                      </a:stretch>
                    </p:blipFill>
                    <p:spPr>
                      <a:xfrm>
                        <a:off x="1981200" y="3592513"/>
                        <a:ext cx="222250" cy="228600"/>
                      </a:xfrm>
                      <a:prstGeom prst="rect">
                        <a:avLst/>
                      </a:prstGeom>
                      <a:noFill/>
                      <a:ln w="38100">
                        <a:noFill/>
                        <a:miter/>
                      </a:ln>
                    </p:spPr>
                  </p:pic>
                </p:oleObj>
              </mc:Fallback>
            </mc:AlternateContent>
          </a:graphicData>
        </a:graphic>
      </p:graphicFrame>
      <p:graphicFrame>
        <p:nvGraphicFramePr>
          <p:cNvPr id="17420" name="Object 12"/>
          <p:cNvGraphicFramePr>
            <a:graphicFrameLocks noChangeAspect="1"/>
          </p:cNvGraphicFramePr>
          <p:nvPr/>
        </p:nvGraphicFramePr>
        <p:xfrm>
          <a:off x="1981200" y="5268913"/>
          <a:ext cx="222250" cy="228600"/>
        </p:xfrm>
        <a:graphic>
          <a:graphicData uri="http://schemas.openxmlformats.org/presentationml/2006/ole">
            <mc:AlternateContent xmlns:mc="http://schemas.openxmlformats.org/markup-compatibility/2006">
              <mc:Choice xmlns:v="urn:schemas-microsoft-com:vml" Requires="v">
                <p:oleObj spid="_x0000_s3116" name="" r:id="rId10" imgW="9525" imgH="9525" progId="CorelDraw.Graphic.8">
                  <p:embed/>
                </p:oleObj>
              </mc:Choice>
              <mc:Fallback>
                <p:oleObj name="" r:id="rId10" imgW="9525" imgH="9525" progId="CorelDraw.Graphic.8">
                  <p:embed/>
                  <p:pic>
                    <p:nvPicPr>
                      <p:cNvPr id="0" name="图片 3115"/>
                      <p:cNvPicPr/>
                      <p:nvPr/>
                    </p:nvPicPr>
                    <p:blipFill>
                      <a:blip r:embed="rId4"/>
                      <a:stretch>
                        <a:fillRect/>
                      </a:stretch>
                    </p:blipFill>
                    <p:spPr>
                      <a:xfrm>
                        <a:off x="1981200" y="5268913"/>
                        <a:ext cx="222250" cy="228600"/>
                      </a:xfrm>
                      <a:prstGeom prst="rect">
                        <a:avLst/>
                      </a:prstGeom>
                      <a:noFill/>
                      <a:ln w="38100">
                        <a:noFill/>
                        <a:miter/>
                      </a:ln>
                    </p:spPr>
                  </p:pic>
                </p:oleObj>
              </mc:Fallback>
            </mc:AlternateContent>
          </a:graphicData>
        </a:graphic>
      </p:graphicFrame>
      <p:graphicFrame>
        <p:nvGraphicFramePr>
          <p:cNvPr id="17421" name="Object 13"/>
          <p:cNvGraphicFramePr>
            <a:graphicFrameLocks noChangeAspect="1"/>
          </p:cNvGraphicFramePr>
          <p:nvPr/>
        </p:nvGraphicFramePr>
        <p:xfrm>
          <a:off x="1981200" y="5791200"/>
          <a:ext cx="222250" cy="228600"/>
        </p:xfrm>
        <a:graphic>
          <a:graphicData uri="http://schemas.openxmlformats.org/presentationml/2006/ole">
            <mc:AlternateContent xmlns:mc="http://schemas.openxmlformats.org/markup-compatibility/2006">
              <mc:Choice xmlns:v="urn:schemas-microsoft-com:vml" Requires="v">
                <p:oleObj spid="_x0000_s3115" name="" r:id="rId11" imgW="9525" imgH="9525" progId="CorelDraw.Graphic.8">
                  <p:embed/>
                </p:oleObj>
              </mc:Choice>
              <mc:Fallback>
                <p:oleObj name="" r:id="rId11" imgW="9525" imgH="9525" progId="CorelDraw.Graphic.8">
                  <p:embed/>
                  <p:pic>
                    <p:nvPicPr>
                      <p:cNvPr id="0" name="图片 3114"/>
                      <p:cNvPicPr/>
                      <p:nvPr/>
                    </p:nvPicPr>
                    <p:blipFill>
                      <a:blip r:embed="rId6"/>
                      <a:stretch>
                        <a:fillRect/>
                      </a:stretch>
                    </p:blipFill>
                    <p:spPr>
                      <a:xfrm>
                        <a:off x="1981200" y="5791200"/>
                        <a:ext cx="222250" cy="228600"/>
                      </a:xfrm>
                      <a:prstGeom prst="rect">
                        <a:avLst/>
                      </a:prstGeom>
                      <a:noFill/>
                      <a:ln w="38100">
                        <a:noFill/>
                        <a:miter/>
                      </a:ln>
                    </p:spPr>
                  </p:pic>
                </p:oleObj>
              </mc:Fallback>
            </mc:AlternateContent>
          </a:graphicData>
        </a:graphic>
      </p:graphicFrame>
      <p:graphicFrame>
        <p:nvGraphicFramePr>
          <p:cNvPr id="17422" name="Object 14"/>
          <p:cNvGraphicFramePr>
            <a:graphicFrameLocks noChangeAspect="1"/>
          </p:cNvGraphicFramePr>
          <p:nvPr/>
        </p:nvGraphicFramePr>
        <p:xfrm>
          <a:off x="1981200" y="2297113"/>
          <a:ext cx="222250" cy="228600"/>
        </p:xfrm>
        <a:graphic>
          <a:graphicData uri="http://schemas.openxmlformats.org/presentationml/2006/ole">
            <mc:AlternateContent xmlns:mc="http://schemas.openxmlformats.org/markup-compatibility/2006">
              <mc:Choice xmlns:v="urn:schemas-microsoft-com:vml" Requires="v">
                <p:oleObj spid="_x0000_s3118" name="" r:id="rId12" imgW="9525" imgH="9525" progId="CorelDraw.Graphic.8">
                  <p:embed/>
                </p:oleObj>
              </mc:Choice>
              <mc:Fallback>
                <p:oleObj name="" r:id="rId12" imgW="9525" imgH="9525" progId="CorelDraw.Graphic.8">
                  <p:embed/>
                  <p:pic>
                    <p:nvPicPr>
                      <p:cNvPr id="0" name="图片 3117"/>
                      <p:cNvPicPr/>
                      <p:nvPr/>
                    </p:nvPicPr>
                    <p:blipFill>
                      <a:blip r:embed="rId6"/>
                      <a:stretch>
                        <a:fillRect/>
                      </a:stretch>
                    </p:blipFill>
                    <p:spPr>
                      <a:xfrm>
                        <a:off x="1981200" y="2297113"/>
                        <a:ext cx="222250" cy="228600"/>
                      </a:xfrm>
                      <a:prstGeom prst="rect">
                        <a:avLst/>
                      </a:prstGeom>
                      <a:noFill/>
                      <a:ln w="38100">
                        <a:noFill/>
                        <a:miter/>
                      </a:ln>
                    </p:spPr>
                  </p:pic>
                </p:oleObj>
              </mc:Fallback>
            </mc:AlternateContent>
          </a:graphicData>
        </a:graphic>
      </p:graphicFrame>
      <p:sp>
        <p:nvSpPr>
          <p:cNvPr id="17423" name="Text Box 15"/>
          <p:cNvSpPr txBox="1"/>
          <p:nvPr/>
        </p:nvSpPr>
        <p:spPr>
          <a:xfrm>
            <a:off x="2286000" y="1306513"/>
            <a:ext cx="46482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幼圆" panose="02010509060101010101" pitchFamily="49" charset="-122"/>
                <a:ea typeface="幼圆" panose="02010509060101010101" pitchFamily="49" charset="-122"/>
              </a:rPr>
              <a:t>发射结正偏</a:t>
            </a:r>
            <a:r>
              <a:rPr lang="en-US" altLang="zh-CN" sz="2400" b="1" dirty="0">
                <a:solidFill>
                  <a:schemeClr val="bg1"/>
                </a:solidFill>
                <a:latin typeface="幼圆" panose="02010509060101010101" pitchFamily="49" charset="-122"/>
                <a:ea typeface="幼圆" panose="02010509060101010101" pitchFamily="49" charset="-122"/>
              </a:rPr>
              <a:t>,</a:t>
            </a:r>
            <a:r>
              <a:rPr lang="zh-CN" altLang="en-US" sz="2400" b="1" dirty="0">
                <a:solidFill>
                  <a:schemeClr val="bg1"/>
                </a:solidFill>
                <a:latin typeface="幼圆" panose="02010509060101010101" pitchFamily="49" charset="-122"/>
                <a:ea typeface="幼圆" panose="02010509060101010101" pitchFamily="49" charset="-122"/>
              </a:rPr>
              <a:t>集电结反偏</a:t>
            </a:r>
            <a:endParaRPr lang="zh-CN" altLang="en-US" sz="2400" b="1" dirty="0">
              <a:solidFill>
                <a:schemeClr val="bg1"/>
              </a:solidFill>
              <a:latin typeface="幼圆" panose="02010509060101010101" pitchFamily="49" charset="-122"/>
              <a:ea typeface="幼圆" panose="02010509060101010101" pitchFamily="49" charset="-122"/>
            </a:endParaRPr>
          </a:p>
        </p:txBody>
      </p:sp>
      <p:sp>
        <p:nvSpPr>
          <p:cNvPr id="17424" name="Text Box 16"/>
          <p:cNvSpPr txBox="1"/>
          <p:nvPr/>
        </p:nvSpPr>
        <p:spPr>
          <a:xfrm>
            <a:off x="2286000" y="1763713"/>
            <a:ext cx="35814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有电流放大作用</a:t>
            </a:r>
            <a:r>
              <a:rPr lang="en-US" altLang="zh-CN" sz="2400" b="1" dirty="0">
                <a:solidFill>
                  <a:schemeClr val="bg1"/>
                </a:solidFill>
                <a:latin typeface="Times New Roman" panose="02020603050405020304" pitchFamily="18" charset="0"/>
                <a:ea typeface="宋体" panose="02010600030101010101" pitchFamily="2" charset="-122"/>
              </a:rPr>
              <a:t>,</a:t>
            </a:r>
            <a:r>
              <a:rPr lang="en-US" altLang="zh-CN" sz="2400" b="1" i="1" dirty="0">
                <a:solidFill>
                  <a:schemeClr val="bg1"/>
                </a:solidFill>
                <a:latin typeface="Times New Roman" panose="02020603050405020304" pitchFamily="18" charset="0"/>
                <a:ea typeface="宋体" panose="02010600030101010101" pitchFamily="2" charset="-122"/>
              </a:rPr>
              <a:t> I</a:t>
            </a:r>
            <a:r>
              <a:rPr lang="en-US" altLang="zh-CN" sz="2400" b="1" baseline="-25000" dirty="0">
                <a:solidFill>
                  <a:schemeClr val="bg1"/>
                </a:solidFill>
                <a:latin typeface="Times New Roman" panose="02020603050405020304" pitchFamily="18" charset="0"/>
                <a:ea typeface="宋体" panose="02010600030101010101" pitchFamily="2" charset="-122"/>
              </a:rPr>
              <a:t>C</a:t>
            </a:r>
            <a:r>
              <a:rPr lang="en-US" altLang="zh-CN" sz="2400" b="1" dirty="0">
                <a:solidFill>
                  <a:schemeClr val="bg1"/>
                </a:solidFill>
                <a:latin typeface="Times New Roman" panose="02020603050405020304" pitchFamily="18" charset="0"/>
                <a:ea typeface="宋体" panose="02010600030101010101" pitchFamily="2" charset="-122"/>
              </a:rPr>
              <a:t>=β</a:t>
            </a: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B</a:t>
            </a:r>
            <a:endParaRPr lang="en-US" altLang="zh-CN" sz="2400" b="1" baseline="-25000" dirty="0">
              <a:solidFill>
                <a:schemeClr val="bg1"/>
              </a:solidFill>
              <a:latin typeface="Times New Roman" panose="02020603050405020304" pitchFamily="18" charset="0"/>
              <a:ea typeface="宋体" panose="02010600030101010101" pitchFamily="2" charset="-122"/>
            </a:endParaRPr>
          </a:p>
        </p:txBody>
      </p:sp>
      <p:sp>
        <p:nvSpPr>
          <p:cNvPr id="17425" name="Text Box 17"/>
          <p:cNvSpPr txBox="1"/>
          <p:nvPr/>
        </p:nvSpPr>
        <p:spPr>
          <a:xfrm>
            <a:off x="2362200" y="2144713"/>
            <a:ext cx="39624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输出曲线具有恒流特性</a:t>
            </a:r>
            <a:endParaRPr lang="zh-CN" altLang="en-US" sz="2400" b="1" dirty="0">
              <a:solidFill>
                <a:schemeClr val="bg1"/>
              </a:solidFill>
              <a:latin typeface="Times New Roman" panose="02020603050405020304" pitchFamily="18" charset="0"/>
              <a:ea typeface="幼圆" panose="02010509060101010101" pitchFamily="49" charset="-122"/>
            </a:endParaRPr>
          </a:p>
        </p:txBody>
      </p:sp>
      <p:sp>
        <p:nvSpPr>
          <p:cNvPr id="17426" name="Text Box 18"/>
          <p:cNvSpPr txBox="1"/>
          <p:nvPr/>
        </p:nvSpPr>
        <p:spPr>
          <a:xfrm>
            <a:off x="2362200" y="2982913"/>
            <a:ext cx="35814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发射结、集电结处于反偏</a:t>
            </a:r>
            <a:endParaRPr lang="zh-CN" altLang="en-US" sz="2400" b="1" dirty="0">
              <a:solidFill>
                <a:schemeClr val="bg1"/>
              </a:solidFill>
              <a:latin typeface="Times New Roman" panose="02020603050405020304" pitchFamily="18" charset="0"/>
              <a:ea typeface="幼圆" panose="02010509060101010101" pitchFamily="49" charset="-122"/>
            </a:endParaRPr>
          </a:p>
        </p:txBody>
      </p:sp>
      <p:sp>
        <p:nvSpPr>
          <p:cNvPr id="17427" name="Text Box 19"/>
          <p:cNvSpPr txBox="1"/>
          <p:nvPr/>
        </p:nvSpPr>
        <p:spPr>
          <a:xfrm>
            <a:off x="2362200" y="3516313"/>
            <a:ext cx="37338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失去电流放大作用</a:t>
            </a:r>
            <a:r>
              <a:rPr lang="en-US" altLang="zh-CN" sz="2400" b="1" dirty="0">
                <a:solidFill>
                  <a:schemeClr val="bg1"/>
                </a:solidFill>
                <a:latin typeface="Times New Roman" panose="02020603050405020304" pitchFamily="18" charset="0"/>
                <a:ea typeface="宋体" panose="02010600030101010101" pitchFamily="2" charset="-122"/>
              </a:rPr>
              <a:t>,</a:t>
            </a:r>
            <a:r>
              <a:rPr lang="en-US" altLang="zh-CN" sz="2400" b="1" i="1" dirty="0">
                <a:solidFill>
                  <a:schemeClr val="bg1"/>
                </a:solidFill>
                <a:latin typeface="Times New Roman" panose="02020603050405020304" pitchFamily="18" charset="0"/>
                <a:ea typeface="宋体" panose="02010600030101010101" pitchFamily="2" charset="-122"/>
              </a:rPr>
              <a:t> I</a:t>
            </a:r>
            <a:r>
              <a:rPr lang="en-US" altLang="zh-CN" sz="2400" b="1" baseline="-25000" dirty="0">
                <a:solidFill>
                  <a:schemeClr val="bg1"/>
                </a:solidFill>
                <a:latin typeface="Times New Roman" panose="02020603050405020304" pitchFamily="18" charset="0"/>
                <a:ea typeface="宋体" panose="02010600030101010101" pitchFamily="2" charset="-122"/>
              </a:rPr>
              <a:t>C</a:t>
            </a:r>
            <a:r>
              <a:rPr lang="en-US" altLang="zh-CN" sz="2400" b="1" dirty="0">
                <a:solidFill>
                  <a:schemeClr val="bg1"/>
                </a:solidFill>
                <a:latin typeface="Times New Roman" panose="02020603050405020304" pitchFamily="18" charset="0"/>
                <a:ea typeface="宋体" panose="02010600030101010101" pitchFamily="2" charset="-122"/>
              </a:rPr>
              <a:t>≈0</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7428" name="Text Box 20"/>
          <p:cNvSpPr txBox="1"/>
          <p:nvPr/>
        </p:nvSpPr>
        <p:spPr>
          <a:xfrm>
            <a:off x="2362200" y="3973513"/>
            <a:ext cx="39624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幼圆" panose="02010509060101010101" pitchFamily="49" charset="-122"/>
                <a:ea typeface="幼圆" panose="02010509060101010101" pitchFamily="49" charset="-122"/>
              </a:rPr>
              <a:t>晶体管</a:t>
            </a:r>
            <a:r>
              <a:rPr lang="en-US" altLang="zh-CN" sz="2400" b="1" dirty="0">
                <a:solidFill>
                  <a:schemeClr val="bg1"/>
                </a:solidFill>
                <a:latin typeface="幼圆" panose="02010509060101010101" pitchFamily="49" charset="-122"/>
                <a:ea typeface="幼圆" panose="02010509060101010101" pitchFamily="49" charset="-122"/>
              </a:rPr>
              <a:t>C</a:t>
            </a:r>
            <a:r>
              <a:rPr lang="zh-CN" altLang="en-US" sz="2400" b="1" dirty="0">
                <a:solidFill>
                  <a:schemeClr val="bg1"/>
                </a:solidFill>
                <a:latin typeface="幼圆" panose="02010509060101010101" pitchFamily="49" charset="-122"/>
                <a:ea typeface="幼圆" panose="02010509060101010101" pitchFamily="49" charset="-122"/>
              </a:rPr>
              <a:t>、</a:t>
            </a:r>
            <a:r>
              <a:rPr lang="en-US" altLang="zh-CN" sz="2400" b="1" dirty="0">
                <a:solidFill>
                  <a:schemeClr val="bg1"/>
                </a:solidFill>
                <a:latin typeface="幼圆" panose="02010509060101010101" pitchFamily="49" charset="-122"/>
                <a:ea typeface="幼圆" panose="02010509060101010101" pitchFamily="49" charset="-122"/>
              </a:rPr>
              <a:t>E</a:t>
            </a:r>
            <a:r>
              <a:rPr lang="zh-CN" altLang="en-US" sz="2400" b="1" dirty="0">
                <a:solidFill>
                  <a:schemeClr val="bg1"/>
                </a:solidFill>
                <a:latin typeface="幼圆" panose="02010509060101010101" pitchFamily="49" charset="-122"/>
                <a:ea typeface="幼圆" panose="02010509060101010101" pitchFamily="49" charset="-122"/>
              </a:rPr>
              <a:t>之间相当于开路</a:t>
            </a:r>
            <a:endParaRPr lang="zh-CN" altLang="en-US" sz="2400" b="1" dirty="0">
              <a:solidFill>
                <a:schemeClr val="bg1"/>
              </a:solidFill>
              <a:latin typeface="幼圆" panose="02010509060101010101" pitchFamily="49" charset="-122"/>
              <a:ea typeface="幼圆" panose="02010509060101010101" pitchFamily="49" charset="-122"/>
            </a:endParaRPr>
          </a:p>
        </p:txBody>
      </p:sp>
      <p:sp>
        <p:nvSpPr>
          <p:cNvPr id="17429" name="Text Box 21"/>
          <p:cNvSpPr txBox="1"/>
          <p:nvPr/>
        </p:nvSpPr>
        <p:spPr>
          <a:xfrm>
            <a:off x="2362200" y="4648200"/>
            <a:ext cx="38100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发射结、集电结处于正偏</a:t>
            </a:r>
            <a:endParaRPr lang="zh-CN" altLang="en-US" sz="2400" b="1" dirty="0">
              <a:solidFill>
                <a:schemeClr val="bg1"/>
              </a:solidFill>
              <a:latin typeface="Times New Roman" panose="02020603050405020304" pitchFamily="18" charset="0"/>
              <a:ea typeface="幼圆" panose="02010509060101010101" pitchFamily="49" charset="-122"/>
            </a:endParaRPr>
          </a:p>
        </p:txBody>
      </p:sp>
      <p:sp>
        <p:nvSpPr>
          <p:cNvPr id="17430" name="Text Box 22"/>
          <p:cNvSpPr txBox="1"/>
          <p:nvPr/>
        </p:nvSpPr>
        <p:spPr>
          <a:xfrm>
            <a:off x="2438400" y="5116513"/>
            <a:ext cx="28194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Times New Roman" panose="02020603050405020304" pitchFamily="18" charset="0"/>
                <a:ea typeface="幼圆" panose="02010509060101010101" pitchFamily="49" charset="-122"/>
              </a:rPr>
              <a:t>失去线性放大作用</a:t>
            </a:r>
            <a:endParaRPr lang="zh-CN" altLang="en-US" sz="2400" b="1" dirty="0">
              <a:solidFill>
                <a:schemeClr val="bg1"/>
              </a:solidFill>
              <a:latin typeface="Times New Roman" panose="02020603050405020304" pitchFamily="18" charset="0"/>
              <a:ea typeface="幼圆" panose="02010509060101010101" pitchFamily="49" charset="-122"/>
            </a:endParaRPr>
          </a:p>
        </p:txBody>
      </p:sp>
      <p:sp>
        <p:nvSpPr>
          <p:cNvPr id="17431" name="Text Box 23"/>
          <p:cNvSpPr txBox="1"/>
          <p:nvPr/>
        </p:nvSpPr>
        <p:spPr>
          <a:xfrm>
            <a:off x="2438400" y="5638800"/>
            <a:ext cx="4005263" cy="457200"/>
          </a:xfrm>
          <a:prstGeom prst="rect">
            <a:avLst/>
          </a:prstGeom>
          <a:noFill/>
          <a:ln w="9525">
            <a:noFill/>
          </a:ln>
        </p:spPr>
        <p:txBody>
          <a:bodyPr anchor="t">
            <a:spAutoFit/>
          </a:bodyPr>
          <a:p>
            <a:pPr>
              <a:spcBef>
                <a:spcPct val="50000"/>
              </a:spcBef>
            </a:pPr>
            <a:r>
              <a:rPr lang="zh-CN" altLang="en-US" sz="2400" b="1" dirty="0">
                <a:solidFill>
                  <a:schemeClr val="bg1"/>
                </a:solidFill>
                <a:latin typeface="幼圆" panose="02010509060101010101" pitchFamily="49" charset="-122"/>
                <a:ea typeface="幼圆" panose="02010509060101010101" pitchFamily="49" charset="-122"/>
              </a:rPr>
              <a:t>晶体管</a:t>
            </a:r>
            <a:r>
              <a:rPr lang="en-US" altLang="zh-CN" sz="2400" b="1" dirty="0">
                <a:solidFill>
                  <a:schemeClr val="bg1"/>
                </a:solidFill>
                <a:latin typeface="幼圆" panose="02010509060101010101" pitchFamily="49" charset="-122"/>
                <a:ea typeface="幼圆" panose="02010509060101010101" pitchFamily="49" charset="-122"/>
              </a:rPr>
              <a:t>C</a:t>
            </a:r>
            <a:r>
              <a:rPr lang="zh-CN" altLang="en-US" sz="2400" b="1" dirty="0">
                <a:solidFill>
                  <a:schemeClr val="bg1"/>
                </a:solidFill>
                <a:latin typeface="幼圆" panose="02010509060101010101" pitchFamily="49" charset="-122"/>
                <a:ea typeface="幼圆" panose="02010509060101010101" pitchFamily="49" charset="-122"/>
              </a:rPr>
              <a:t>、</a:t>
            </a:r>
            <a:r>
              <a:rPr lang="en-US" altLang="zh-CN" sz="2400" b="1" dirty="0">
                <a:solidFill>
                  <a:schemeClr val="bg1"/>
                </a:solidFill>
                <a:latin typeface="幼圆" panose="02010509060101010101" pitchFamily="49" charset="-122"/>
                <a:ea typeface="幼圆" panose="02010509060101010101" pitchFamily="49" charset="-122"/>
              </a:rPr>
              <a:t>E</a:t>
            </a:r>
            <a:r>
              <a:rPr lang="zh-CN" altLang="en-US" sz="2400" b="1" dirty="0">
                <a:solidFill>
                  <a:schemeClr val="bg1"/>
                </a:solidFill>
                <a:latin typeface="幼圆" panose="02010509060101010101" pitchFamily="49" charset="-122"/>
                <a:ea typeface="幼圆" panose="02010509060101010101" pitchFamily="49" charset="-122"/>
              </a:rPr>
              <a:t>之间相当于短路</a:t>
            </a:r>
            <a:endParaRPr lang="zh-CN" altLang="en-US" sz="2400" b="1" dirty="0">
              <a:solidFill>
                <a:schemeClr val="bg1"/>
              </a:solidFill>
              <a:latin typeface="幼圆" panose="02010509060101010101" pitchFamily="49" charset="-122"/>
              <a:ea typeface="幼圆" panose="02010509060101010101" pitchFamily="49" charset="-122"/>
            </a:endParaRPr>
          </a:p>
        </p:txBody>
      </p:sp>
      <p:graphicFrame>
        <p:nvGraphicFramePr>
          <p:cNvPr id="17432" name="Object 24"/>
          <p:cNvGraphicFramePr>
            <a:graphicFrameLocks noChangeAspect="1"/>
          </p:cNvGraphicFramePr>
          <p:nvPr/>
        </p:nvGraphicFramePr>
        <p:xfrm>
          <a:off x="6781800" y="838200"/>
          <a:ext cx="1320800" cy="1492250"/>
        </p:xfrm>
        <a:graphic>
          <a:graphicData uri="http://schemas.openxmlformats.org/presentationml/2006/ole">
            <mc:AlternateContent xmlns:mc="http://schemas.openxmlformats.org/markup-compatibility/2006">
              <mc:Choice xmlns:v="urn:schemas-microsoft-com:vml" Requires="v">
                <p:oleObj spid="_x0000_s3111" name="" r:id="rId13" imgW="2819400" imgH="3590925" progId="CorelDraw.Graphic.8">
                  <p:embed/>
                </p:oleObj>
              </mc:Choice>
              <mc:Fallback>
                <p:oleObj name="" r:id="rId13" imgW="2819400" imgH="3590925" progId="CorelDraw.Graphic.8">
                  <p:embed/>
                  <p:pic>
                    <p:nvPicPr>
                      <p:cNvPr id="0" name="图片 3110"/>
                      <p:cNvPicPr/>
                      <p:nvPr/>
                    </p:nvPicPr>
                    <p:blipFill>
                      <a:blip r:embed="rId14"/>
                      <a:stretch>
                        <a:fillRect/>
                      </a:stretch>
                    </p:blipFill>
                    <p:spPr>
                      <a:xfrm>
                        <a:off x="6781800" y="838200"/>
                        <a:ext cx="1320800" cy="1492250"/>
                      </a:xfrm>
                      <a:prstGeom prst="rect">
                        <a:avLst/>
                      </a:prstGeom>
                      <a:noFill/>
                      <a:ln w="38100">
                        <a:noFill/>
                        <a:miter/>
                      </a:ln>
                    </p:spPr>
                  </p:pic>
                </p:oleObj>
              </mc:Fallback>
            </mc:AlternateContent>
          </a:graphicData>
        </a:graphic>
      </p:graphicFrame>
      <p:graphicFrame>
        <p:nvGraphicFramePr>
          <p:cNvPr id="17433" name="Object 25"/>
          <p:cNvGraphicFramePr>
            <a:graphicFrameLocks noChangeAspect="1"/>
          </p:cNvGraphicFramePr>
          <p:nvPr/>
        </p:nvGraphicFramePr>
        <p:xfrm>
          <a:off x="6934200" y="4673600"/>
          <a:ext cx="1219200" cy="1346200"/>
        </p:xfrm>
        <a:graphic>
          <a:graphicData uri="http://schemas.openxmlformats.org/presentationml/2006/ole">
            <mc:AlternateContent xmlns:mc="http://schemas.openxmlformats.org/markup-compatibility/2006">
              <mc:Choice xmlns:v="urn:schemas-microsoft-com:vml" Requires="v">
                <p:oleObj spid="_x0000_s3121" name="" r:id="rId15" imgW="2847975" imgH="3743325" progId="CorelDraw.Graphic.8">
                  <p:embed/>
                </p:oleObj>
              </mc:Choice>
              <mc:Fallback>
                <p:oleObj name="" r:id="rId15" imgW="2847975" imgH="3743325" progId="CorelDraw.Graphic.8">
                  <p:embed/>
                  <p:pic>
                    <p:nvPicPr>
                      <p:cNvPr id="0" name="图片 3120"/>
                      <p:cNvPicPr/>
                      <p:nvPr/>
                    </p:nvPicPr>
                    <p:blipFill>
                      <a:blip r:embed="rId16"/>
                      <a:stretch>
                        <a:fillRect/>
                      </a:stretch>
                    </p:blipFill>
                    <p:spPr>
                      <a:xfrm>
                        <a:off x="6934200" y="4673600"/>
                        <a:ext cx="1219200" cy="1346200"/>
                      </a:xfrm>
                      <a:prstGeom prst="rect">
                        <a:avLst/>
                      </a:prstGeom>
                      <a:noFill/>
                      <a:ln w="38100">
                        <a:noFill/>
                        <a:miter/>
                      </a:ln>
                    </p:spPr>
                  </p:pic>
                </p:oleObj>
              </mc:Fallback>
            </mc:AlternateContent>
          </a:graphicData>
        </a:graphic>
      </p:graphicFrame>
      <p:graphicFrame>
        <p:nvGraphicFramePr>
          <p:cNvPr id="17434" name="Object 26"/>
          <p:cNvGraphicFramePr>
            <a:graphicFrameLocks noChangeAspect="1"/>
          </p:cNvGraphicFramePr>
          <p:nvPr/>
        </p:nvGraphicFramePr>
        <p:xfrm>
          <a:off x="6934200" y="2895600"/>
          <a:ext cx="1187450" cy="1277938"/>
        </p:xfrm>
        <a:graphic>
          <a:graphicData uri="http://schemas.openxmlformats.org/presentationml/2006/ole">
            <mc:AlternateContent xmlns:mc="http://schemas.openxmlformats.org/markup-compatibility/2006">
              <mc:Choice xmlns:v="urn:schemas-microsoft-com:vml" Requires="v">
                <p:oleObj spid="_x0000_s3120" name="" r:id="rId17" imgW="2847975" imgH="3467100" progId="CorelDraw.Graphic.8">
                  <p:embed/>
                </p:oleObj>
              </mc:Choice>
              <mc:Fallback>
                <p:oleObj name="" r:id="rId17" imgW="2847975" imgH="3467100" progId="CorelDraw.Graphic.8">
                  <p:embed/>
                  <p:pic>
                    <p:nvPicPr>
                      <p:cNvPr id="0" name="图片 3119"/>
                      <p:cNvPicPr/>
                      <p:nvPr/>
                    </p:nvPicPr>
                    <p:blipFill>
                      <a:blip r:embed="rId18"/>
                      <a:stretch>
                        <a:fillRect/>
                      </a:stretch>
                    </p:blipFill>
                    <p:spPr>
                      <a:xfrm>
                        <a:off x="6934200" y="2895600"/>
                        <a:ext cx="1187450" cy="1277938"/>
                      </a:xfrm>
                      <a:prstGeom prst="rect">
                        <a:avLst/>
                      </a:prstGeom>
                      <a:noFill/>
                      <a:ln w="38100">
                        <a:noFill/>
                        <a:miter/>
                      </a:ln>
                    </p:spPr>
                  </p:pic>
                </p:oleObj>
              </mc:Fallback>
            </mc:AlternateContent>
          </a:graphicData>
        </a:graphic>
      </p:graphicFrame>
      <p:sp>
        <p:nvSpPr>
          <p:cNvPr id="42010" name="Text Box 28">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2011" name="Text Box 29">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2012" name="Text Box 31"/>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box(in)">
                                      <p:cBhvr>
                                        <p:cTn id="7" dur="5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411"/>
                                        </p:tgtEl>
                                        <p:attrNameLst>
                                          <p:attrName>style.visibility</p:attrName>
                                        </p:attrNameLst>
                                      </p:cBhvr>
                                      <p:to>
                                        <p:strVal val="visible"/>
                                      </p:to>
                                    </p:set>
                                    <p:animEffect transition="in" filter="box(in)">
                                      <p:cBhvr>
                                        <p:cTn id="12" dur="500"/>
                                        <p:tgtEl>
                                          <p:spTgt spid="17411"/>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7414"/>
                                        </p:tgtEl>
                                        <p:attrNameLst>
                                          <p:attrName>style.visibility</p:attrName>
                                        </p:attrNameLst>
                                      </p:cBhvr>
                                      <p:to>
                                        <p:strVal val="visible"/>
                                      </p:to>
                                    </p:set>
                                    <p:animEffect transition="in" filter="dissolve">
                                      <p:cBhvr>
                                        <p:cTn id="16" dur="500"/>
                                        <p:tgtEl>
                                          <p:spTgt spid="17414"/>
                                        </p:tgtEl>
                                      </p:cBhvr>
                                    </p:animEffect>
                                  </p:childTnLst>
                                </p:cTn>
                              </p:par>
                            </p:childTnLst>
                          </p:cTn>
                        </p:par>
                        <p:par>
                          <p:cTn id="17" fill="hold">
                            <p:stCondLst>
                              <p:cond delay="1000"/>
                            </p:stCondLst>
                            <p:childTnLst>
                              <p:par>
                                <p:cTn id="18" presetID="14" presetClass="entr" presetSubtype="10" fill="hold" grpId="0" nodeType="afterEffect">
                                  <p:stCondLst>
                                    <p:cond delay="0"/>
                                  </p:stCondLst>
                                  <p:childTnLst>
                                    <p:set>
                                      <p:cBhvr>
                                        <p:cTn id="19" dur="1" fill="hold">
                                          <p:stCondLst>
                                            <p:cond delay="0"/>
                                          </p:stCondLst>
                                        </p:cTn>
                                        <p:tgtEl>
                                          <p:spTgt spid="17423"/>
                                        </p:tgtEl>
                                        <p:attrNameLst>
                                          <p:attrName>style.visibility</p:attrName>
                                        </p:attrNameLst>
                                      </p:cBhvr>
                                      <p:to>
                                        <p:strVal val="visible"/>
                                      </p:to>
                                    </p:set>
                                    <p:animEffect transition="in" filter="randombar(horizontal)">
                                      <p:cBhvr>
                                        <p:cTn id="20" dur="500"/>
                                        <p:tgtEl>
                                          <p:spTgt spid="1742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7415"/>
                                        </p:tgtEl>
                                        <p:attrNameLst>
                                          <p:attrName>style.visibility</p:attrName>
                                        </p:attrNameLst>
                                      </p:cBhvr>
                                      <p:to>
                                        <p:strVal val="visible"/>
                                      </p:to>
                                    </p:set>
                                    <p:animEffect transition="in" filter="dissolve">
                                      <p:cBhvr>
                                        <p:cTn id="25" dur="500"/>
                                        <p:tgtEl>
                                          <p:spTgt spid="17415"/>
                                        </p:tgtEl>
                                      </p:cBhvr>
                                    </p:animEffect>
                                  </p:childTnLst>
                                </p:cTn>
                              </p:par>
                            </p:childTnLst>
                          </p:cTn>
                        </p:par>
                        <p:par>
                          <p:cTn id="26" fill="hold">
                            <p:stCondLst>
                              <p:cond delay="500"/>
                            </p:stCondLst>
                            <p:childTnLst>
                              <p:par>
                                <p:cTn id="27" presetID="5" presetClass="entr" presetSubtype="10" fill="hold" grpId="0" nodeType="afterEffect">
                                  <p:stCondLst>
                                    <p:cond delay="0"/>
                                  </p:stCondLst>
                                  <p:childTnLst>
                                    <p:set>
                                      <p:cBhvr>
                                        <p:cTn id="28" dur="1" fill="hold">
                                          <p:stCondLst>
                                            <p:cond delay="0"/>
                                          </p:stCondLst>
                                        </p:cTn>
                                        <p:tgtEl>
                                          <p:spTgt spid="17424"/>
                                        </p:tgtEl>
                                        <p:attrNameLst>
                                          <p:attrName>style.visibility</p:attrName>
                                        </p:attrNameLst>
                                      </p:cBhvr>
                                      <p:to>
                                        <p:strVal val="visible"/>
                                      </p:to>
                                    </p:set>
                                    <p:animEffect transition="in" filter="checkerboard(across)">
                                      <p:cBhvr>
                                        <p:cTn id="29" dur="500"/>
                                        <p:tgtEl>
                                          <p:spTgt spid="17424"/>
                                        </p:tgtEl>
                                      </p:cBhvr>
                                    </p:animEffect>
                                  </p:childTnLst>
                                </p:cTn>
                              </p:par>
                            </p:childTnLst>
                          </p:cTn>
                        </p:par>
                        <p:par>
                          <p:cTn id="30" fill="hold">
                            <p:stCondLst>
                              <p:cond delay="1000"/>
                            </p:stCondLst>
                            <p:childTnLst>
                              <p:par>
                                <p:cTn id="31" presetID="2" presetClass="entr" presetSubtype="2" fill="hold" nodeType="afterEffect">
                                  <p:stCondLst>
                                    <p:cond delay="0"/>
                                  </p:stCondLst>
                                  <p:childTnLst>
                                    <p:set>
                                      <p:cBhvr>
                                        <p:cTn id="32" dur="1" fill="hold">
                                          <p:stCondLst>
                                            <p:cond delay="0"/>
                                          </p:stCondLst>
                                        </p:cTn>
                                        <p:tgtEl>
                                          <p:spTgt spid="17432"/>
                                        </p:tgtEl>
                                        <p:attrNameLst>
                                          <p:attrName>style.visibility</p:attrName>
                                        </p:attrNameLst>
                                      </p:cBhvr>
                                      <p:to>
                                        <p:strVal val="visible"/>
                                      </p:to>
                                    </p:set>
                                    <p:anim calcmode="lin" valueType="num">
                                      <p:cBhvr additive="base">
                                        <p:cTn id="33" dur="500" fill="hold"/>
                                        <p:tgtEl>
                                          <p:spTgt spid="17432"/>
                                        </p:tgtEl>
                                        <p:attrNameLst>
                                          <p:attrName>ppt_x</p:attrName>
                                        </p:attrNameLst>
                                      </p:cBhvr>
                                      <p:tavLst>
                                        <p:tav tm="0">
                                          <p:val>
                                            <p:strVal val="1+#ppt_w/2"/>
                                          </p:val>
                                        </p:tav>
                                        <p:tav tm="100000">
                                          <p:val>
                                            <p:strVal val="#ppt_x"/>
                                          </p:val>
                                        </p:tav>
                                      </p:tavLst>
                                    </p:anim>
                                    <p:anim calcmode="lin" valueType="num">
                                      <p:cBhvr additive="base">
                                        <p:cTn id="34" dur="500" fill="hold"/>
                                        <p:tgtEl>
                                          <p:spTgt spid="1743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nodeType="clickEffect">
                                  <p:stCondLst>
                                    <p:cond delay="0"/>
                                  </p:stCondLst>
                                  <p:childTnLst>
                                    <p:set>
                                      <p:cBhvr>
                                        <p:cTn id="38" dur="1" fill="hold">
                                          <p:stCondLst>
                                            <p:cond delay="0"/>
                                          </p:stCondLst>
                                        </p:cTn>
                                        <p:tgtEl>
                                          <p:spTgt spid="17422"/>
                                        </p:tgtEl>
                                        <p:attrNameLst>
                                          <p:attrName>style.visibility</p:attrName>
                                        </p:attrNameLst>
                                      </p:cBhvr>
                                      <p:to>
                                        <p:strVal val="visible"/>
                                      </p:to>
                                    </p:set>
                                    <p:anim calcmode="lin" valueType="num">
                                      <p:cBhvr>
                                        <p:cTn id="39" dur="1000" fill="hold"/>
                                        <p:tgtEl>
                                          <p:spTgt spid="17422"/>
                                        </p:tgtEl>
                                        <p:attrNameLst>
                                          <p:attrName>ppt_w</p:attrName>
                                        </p:attrNameLst>
                                      </p:cBhvr>
                                      <p:tavLst>
                                        <p:tav tm="0">
                                          <p:val>
                                            <p:fltVal val="0.000000"/>
                                          </p:val>
                                        </p:tav>
                                        <p:tav tm="100000">
                                          <p:val>
                                            <p:strVal val="#ppt_w"/>
                                          </p:val>
                                        </p:tav>
                                      </p:tavLst>
                                    </p:anim>
                                    <p:anim calcmode="lin" valueType="num">
                                      <p:cBhvr>
                                        <p:cTn id="40" dur="1000" fill="hold"/>
                                        <p:tgtEl>
                                          <p:spTgt spid="17422"/>
                                        </p:tgtEl>
                                        <p:attrNameLst>
                                          <p:attrName>ppt_h</p:attrName>
                                        </p:attrNameLst>
                                      </p:cBhvr>
                                      <p:tavLst>
                                        <p:tav tm="0">
                                          <p:val>
                                            <p:fltVal val="0.000000"/>
                                          </p:val>
                                        </p:tav>
                                        <p:tav tm="100000">
                                          <p:val>
                                            <p:strVal val="#ppt_h"/>
                                          </p:val>
                                        </p:tav>
                                      </p:tavLst>
                                    </p:anim>
                                    <p:anim calcmode="lin" valueType="num">
                                      <p:cBhvr>
                                        <p:cTn id="41" dur="1000" fill="hold"/>
                                        <p:tgtEl>
                                          <p:spTgt spid="17422"/>
                                        </p:tgtEl>
                                        <p:attrNameLst>
                                          <p:attrName>ppt_x</p:attrName>
                                        </p:attrNameLst>
                                      </p:cBhvr>
                                      <p:tavLst>
                                        <p:tav tm="0" fmla="#ppt_x+(cos(-2*pi*(1-$))*-#ppt_x-sin(-2*pi*(1-$))*(1-#ppt_y))*(1-$)">
                                          <p:val>
                                            <p:fltVal val="0.000000"/>
                                          </p:val>
                                        </p:tav>
                                        <p:tav tm="100000">
                                          <p:val>
                                            <p:fltVal val="1.000000"/>
                                          </p:val>
                                        </p:tav>
                                      </p:tavLst>
                                    </p:anim>
                                    <p:anim calcmode="lin" valueType="num">
                                      <p:cBhvr>
                                        <p:cTn id="42" dur="1000" fill="hold"/>
                                        <p:tgtEl>
                                          <p:spTgt spid="17422"/>
                                        </p:tgtEl>
                                        <p:attrNameLst>
                                          <p:attrName>ppt_y</p:attrName>
                                        </p:attrNameLst>
                                      </p:cBhvr>
                                      <p:tavLst>
                                        <p:tav tm="0" fmla="#ppt_y+(sin(-2*pi*(1-$))*-#ppt_x+cos(-2*pi*(1-$))*(1-#ppt_y))*(1-$)">
                                          <p:val>
                                            <p:fltVal val="0.000000"/>
                                          </p:val>
                                        </p:tav>
                                        <p:tav tm="100000">
                                          <p:val>
                                            <p:fltVal val="1.000000"/>
                                          </p:val>
                                        </p:tav>
                                      </p:tavLst>
                                    </p:anim>
                                  </p:childTnLst>
                                </p:cTn>
                              </p:par>
                            </p:childTnLst>
                          </p:cTn>
                        </p:par>
                        <p:par>
                          <p:cTn id="43" fill="hold">
                            <p:stCondLst>
                              <p:cond delay="1000"/>
                            </p:stCondLst>
                            <p:childTnLst>
                              <p:par>
                                <p:cTn id="44" presetID="9" presetClass="entr" presetSubtype="0" fill="hold" grpId="0" nodeType="afterEffect">
                                  <p:stCondLst>
                                    <p:cond delay="0"/>
                                  </p:stCondLst>
                                  <p:childTnLst>
                                    <p:set>
                                      <p:cBhvr>
                                        <p:cTn id="45" dur="1" fill="hold">
                                          <p:stCondLst>
                                            <p:cond delay="0"/>
                                          </p:stCondLst>
                                        </p:cTn>
                                        <p:tgtEl>
                                          <p:spTgt spid="17425"/>
                                        </p:tgtEl>
                                        <p:attrNameLst>
                                          <p:attrName>style.visibility</p:attrName>
                                        </p:attrNameLst>
                                      </p:cBhvr>
                                      <p:to>
                                        <p:strVal val="visible"/>
                                      </p:to>
                                    </p:set>
                                    <p:animEffect transition="in" filter="dissolve">
                                      <p:cBhvr>
                                        <p:cTn id="46" dur="500"/>
                                        <p:tgtEl>
                                          <p:spTgt spid="17425"/>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7412"/>
                                        </p:tgtEl>
                                        <p:attrNameLst>
                                          <p:attrName>style.visibility</p:attrName>
                                        </p:attrNameLst>
                                      </p:cBhvr>
                                      <p:to>
                                        <p:strVal val="visible"/>
                                      </p:to>
                                    </p:set>
                                    <p:animEffect transition="in" filter="dissolve">
                                      <p:cBhvr>
                                        <p:cTn id="51" dur="500"/>
                                        <p:tgtEl>
                                          <p:spTgt spid="17412"/>
                                        </p:tgtEl>
                                      </p:cBhvr>
                                    </p:animEffect>
                                  </p:childTnLst>
                                </p:cTn>
                              </p:par>
                            </p:childTnLst>
                          </p:cTn>
                        </p:par>
                        <p:par>
                          <p:cTn id="52" fill="hold">
                            <p:stCondLst>
                              <p:cond delay="500"/>
                            </p:stCondLst>
                            <p:childTnLst>
                              <p:par>
                                <p:cTn id="53" presetID="16" presetClass="entr" presetSubtype="26" fill="hold" nodeType="afterEffect">
                                  <p:stCondLst>
                                    <p:cond delay="0"/>
                                  </p:stCondLst>
                                  <p:childTnLst>
                                    <p:set>
                                      <p:cBhvr>
                                        <p:cTn id="54" dur="1" fill="hold">
                                          <p:stCondLst>
                                            <p:cond delay="0"/>
                                          </p:stCondLst>
                                        </p:cTn>
                                        <p:tgtEl>
                                          <p:spTgt spid="17417"/>
                                        </p:tgtEl>
                                        <p:attrNameLst>
                                          <p:attrName>style.visibility</p:attrName>
                                        </p:attrNameLst>
                                      </p:cBhvr>
                                      <p:to>
                                        <p:strVal val="visible"/>
                                      </p:to>
                                    </p:set>
                                    <p:animEffect transition="in" filter="barn(inHorizontal)">
                                      <p:cBhvr>
                                        <p:cTn id="55" dur="500"/>
                                        <p:tgtEl>
                                          <p:spTgt spid="17417"/>
                                        </p:tgtEl>
                                      </p:cBhvr>
                                    </p:animEffect>
                                  </p:childTnLst>
                                </p:cTn>
                              </p:par>
                            </p:childTnLst>
                          </p:cTn>
                        </p:par>
                        <p:par>
                          <p:cTn id="56" fill="hold">
                            <p:stCondLst>
                              <p:cond delay="1000"/>
                            </p:stCondLst>
                            <p:childTnLst>
                              <p:par>
                                <p:cTn id="57" presetID="5" presetClass="entr" presetSubtype="10" fill="hold" grpId="0" nodeType="afterEffect">
                                  <p:stCondLst>
                                    <p:cond delay="0"/>
                                  </p:stCondLst>
                                  <p:childTnLst>
                                    <p:set>
                                      <p:cBhvr>
                                        <p:cTn id="58" dur="1" fill="hold">
                                          <p:stCondLst>
                                            <p:cond delay="0"/>
                                          </p:stCondLst>
                                        </p:cTn>
                                        <p:tgtEl>
                                          <p:spTgt spid="17426"/>
                                        </p:tgtEl>
                                        <p:attrNameLst>
                                          <p:attrName>style.visibility</p:attrName>
                                        </p:attrNameLst>
                                      </p:cBhvr>
                                      <p:to>
                                        <p:strVal val="visible"/>
                                      </p:to>
                                    </p:set>
                                    <p:animEffect transition="in" filter="checkerboard(across)">
                                      <p:cBhvr>
                                        <p:cTn id="59" dur="500"/>
                                        <p:tgtEl>
                                          <p:spTgt spid="17426"/>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499"/>
                                          </p:stCondLst>
                                        </p:cTn>
                                        <p:tgtEl>
                                          <p:spTgt spid="17419"/>
                                        </p:tgtEl>
                                        <p:attrNameLst>
                                          <p:attrName>style.visibility</p:attrName>
                                        </p:attrNameLst>
                                      </p:cBhvr>
                                      <p:to>
                                        <p:strVal val="visible"/>
                                      </p:to>
                                    </p:set>
                                  </p:childTnLst>
                                </p:cTn>
                              </p:par>
                            </p:childTnLst>
                          </p:cTn>
                        </p:par>
                        <p:par>
                          <p:cTn id="64" fill="hold">
                            <p:stCondLst>
                              <p:cond delay="500"/>
                            </p:stCondLst>
                            <p:childTnLst>
                              <p:par>
                                <p:cTn id="65" presetID="16" presetClass="entr" presetSubtype="37" fill="hold" grpId="0" nodeType="afterEffect">
                                  <p:stCondLst>
                                    <p:cond delay="0"/>
                                  </p:stCondLst>
                                  <p:childTnLst>
                                    <p:set>
                                      <p:cBhvr>
                                        <p:cTn id="66" dur="1" fill="hold">
                                          <p:stCondLst>
                                            <p:cond delay="0"/>
                                          </p:stCondLst>
                                        </p:cTn>
                                        <p:tgtEl>
                                          <p:spTgt spid="17427"/>
                                        </p:tgtEl>
                                        <p:attrNameLst>
                                          <p:attrName>style.visibility</p:attrName>
                                        </p:attrNameLst>
                                      </p:cBhvr>
                                      <p:to>
                                        <p:strVal val="visible"/>
                                      </p:to>
                                    </p:set>
                                    <p:animEffect transition="in" filter="barn(outVertical)">
                                      <p:cBhvr>
                                        <p:cTn id="67" dur="500"/>
                                        <p:tgtEl>
                                          <p:spTgt spid="17427"/>
                                        </p:tgtEl>
                                      </p:cBhvr>
                                    </p:animEffect>
                                  </p:childTnLst>
                                </p:cTn>
                              </p:par>
                            </p:childTnLst>
                          </p:cTn>
                        </p:par>
                        <p:par>
                          <p:cTn id="68" fill="hold">
                            <p:stCondLst>
                              <p:cond delay="1000"/>
                            </p:stCondLst>
                            <p:childTnLst>
                              <p:par>
                                <p:cTn id="69" presetID="9" presetClass="entr" presetSubtype="0" fill="hold" nodeType="afterEffect">
                                  <p:stCondLst>
                                    <p:cond delay="0"/>
                                  </p:stCondLst>
                                  <p:childTnLst>
                                    <p:set>
                                      <p:cBhvr>
                                        <p:cTn id="70" dur="1" fill="hold">
                                          <p:stCondLst>
                                            <p:cond delay="0"/>
                                          </p:stCondLst>
                                        </p:cTn>
                                        <p:tgtEl>
                                          <p:spTgt spid="17434"/>
                                        </p:tgtEl>
                                        <p:attrNameLst>
                                          <p:attrName>style.visibility</p:attrName>
                                        </p:attrNameLst>
                                      </p:cBhvr>
                                      <p:to>
                                        <p:strVal val="visible"/>
                                      </p:to>
                                    </p:set>
                                    <p:animEffect transition="in" filter="dissolve">
                                      <p:cBhvr>
                                        <p:cTn id="71" dur="500"/>
                                        <p:tgtEl>
                                          <p:spTgt spid="17434"/>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17416"/>
                                        </p:tgtEl>
                                        <p:attrNameLst>
                                          <p:attrName>style.visibility</p:attrName>
                                        </p:attrNameLst>
                                      </p:cBhvr>
                                      <p:to>
                                        <p:strVal val="visible"/>
                                      </p:to>
                                    </p:set>
                                    <p:animEffect transition="in" filter="box(out)">
                                      <p:cBhvr>
                                        <p:cTn id="76" dur="500"/>
                                        <p:tgtEl>
                                          <p:spTgt spid="17416"/>
                                        </p:tgtEl>
                                      </p:cBhvr>
                                    </p:animEffect>
                                  </p:childTnLst>
                                </p:cTn>
                              </p:par>
                            </p:childTnLst>
                          </p:cTn>
                        </p:par>
                        <p:par>
                          <p:cTn id="77" fill="hold">
                            <p:stCondLst>
                              <p:cond delay="500"/>
                            </p:stCondLst>
                            <p:childTnLst>
                              <p:par>
                                <p:cTn id="78" presetID="4" presetClass="entr" presetSubtype="16" fill="hold" grpId="0" nodeType="afterEffect">
                                  <p:stCondLst>
                                    <p:cond delay="0"/>
                                  </p:stCondLst>
                                  <p:childTnLst>
                                    <p:set>
                                      <p:cBhvr>
                                        <p:cTn id="79" dur="1" fill="hold">
                                          <p:stCondLst>
                                            <p:cond delay="0"/>
                                          </p:stCondLst>
                                        </p:cTn>
                                        <p:tgtEl>
                                          <p:spTgt spid="17428"/>
                                        </p:tgtEl>
                                        <p:attrNameLst>
                                          <p:attrName>style.visibility</p:attrName>
                                        </p:attrNameLst>
                                      </p:cBhvr>
                                      <p:to>
                                        <p:strVal val="visible"/>
                                      </p:to>
                                    </p:set>
                                    <p:animEffect transition="in" filter="box(in)">
                                      <p:cBhvr>
                                        <p:cTn id="80" dur="500"/>
                                        <p:tgtEl>
                                          <p:spTgt spid="17428"/>
                                        </p:tgtEl>
                                      </p:cBhvr>
                                    </p:animEffect>
                                  </p:childTnLst>
                                </p:cTn>
                              </p:par>
                            </p:childTnLst>
                          </p:cTn>
                        </p:par>
                      </p:childTnLst>
                    </p:cTn>
                  </p:par>
                  <p:par>
                    <p:cTn id="81" fill="hold">
                      <p:stCondLst>
                        <p:cond delay="indefinite"/>
                      </p:stCondLst>
                      <p:childTnLst>
                        <p:par>
                          <p:cTn id="82" fill="hold">
                            <p:stCondLst>
                              <p:cond delay="0"/>
                            </p:stCondLst>
                            <p:childTnLst>
                              <p:par>
                                <p:cTn id="83" presetID="5" presetClass="entr" presetSubtype="10" fill="hold" grpId="0" nodeType="clickEffect">
                                  <p:stCondLst>
                                    <p:cond delay="0"/>
                                  </p:stCondLst>
                                  <p:childTnLst>
                                    <p:set>
                                      <p:cBhvr>
                                        <p:cTn id="84" dur="1" fill="hold">
                                          <p:stCondLst>
                                            <p:cond delay="0"/>
                                          </p:stCondLst>
                                        </p:cTn>
                                        <p:tgtEl>
                                          <p:spTgt spid="17413"/>
                                        </p:tgtEl>
                                        <p:attrNameLst>
                                          <p:attrName>style.visibility</p:attrName>
                                        </p:attrNameLst>
                                      </p:cBhvr>
                                      <p:to>
                                        <p:strVal val="visible"/>
                                      </p:to>
                                    </p:set>
                                    <p:animEffect transition="in" filter="checkerboard(across)">
                                      <p:cBhvr>
                                        <p:cTn id="85" dur="500"/>
                                        <p:tgtEl>
                                          <p:spTgt spid="17413"/>
                                        </p:tgtEl>
                                      </p:cBhvr>
                                    </p:animEffect>
                                  </p:childTnLst>
                                </p:cTn>
                              </p:par>
                            </p:childTnLst>
                          </p:cTn>
                        </p:par>
                      </p:childTnLst>
                    </p:cTn>
                  </p:par>
                  <p:par>
                    <p:cTn id="86" fill="hold">
                      <p:stCondLst>
                        <p:cond delay="indefinite"/>
                      </p:stCondLst>
                      <p:childTnLst>
                        <p:par>
                          <p:cTn id="87" fill="hold">
                            <p:stCondLst>
                              <p:cond delay="0"/>
                            </p:stCondLst>
                            <p:childTnLst>
                              <p:par>
                                <p:cTn id="88" presetID="16" presetClass="entr" presetSubtype="42" fill="hold" nodeType="clickEffect">
                                  <p:stCondLst>
                                    <p:cond delay="0"/>
                                  </p:stCondLst>
                                  <p:childTnLst>
                                    <p:set>
                                      <p:cBhvr>
                                        <p:cTn id="89" dur="1" fill="hold">
                                          <p:stCondLst>
                                            <p:cond delay="0"/>
                                          </p:stCondLst>
                                        </p:cTn>
                                        <p:tgtEl>
                                          <p:spTgt spid="17418"/>
                                        </p:tgtEl>
                                        <p:attrNameLst>
                                          <p:attrName>style.visibility</p:attrName>
                                        </p:attrNameLst>
                                      </p:cBhvr>
                                      <p:to>
                                        <p:strVal val="visible"/>
                                      </p:to>
                                    </p:set>
                                    <p:animEffect transition="in" filter="barn(outHorizontal)">
                                      <p:cBhvr>
                                        <p:cTn id="90" dur="500"/>
                                        <p:tgtEl>
                                          <p:spTgt spid="17418"/>
                                        </p:tgtEl>
                                      </p:cBhvr>
                                    </p:animEffect>
                                  </p:childTnLst>
                                </p:cTn>
                              </p:par>
                            </p:childTnLst>
                          </p:cTn>
                        </p:par>
                        <p:par>
                          <p:cTn id="91" fill="hold">
                            <p:stCondLst>
                              <p:cond delay="500"/>
                            </p:stCondLst>
                            <p:childTnLst>
                              <p:par>
                                <p:cTn id="92" presetID="15" presetClass="entr" presetSubtype="0" fill="hold" grpId="0" nodeType="afterEffect">
                                  <p:stCondLst>
                                    <p:cond delay="0"/>
                                  </p:stCondLst>
                                  <p:childTnLst>
                                    <p:set>
                                      <p:cBhvr>
                                        <p:cTn id="93" dur="1" fill="hold">
                                          <p:stCondLst>
                                            <p:cond delay="0"/>
                                          </p:stCondLst>
                                        </p:cTn>
                                        <p:tgtEl>
                                          <p:spTgt spid="17429"/>
                                        </p:tgtEl>
                                        <p:attrNameLst>
                                          <p:attrName>style.visibility</p:attrName>
                                        </p:attrNameLst>
                                      </p:cBhvr>
                                      <p:to>
                                        <p:strVal val="visible"/>
                                      </p:to>
                                    </p:set>
                                    <p:anim calcmode="lin" valueType="num">
                                      <p:cBhvr>
                                        <p:cTn id="94" dur="1000" fill="hold"/>
                                        <p:tgtEl>
                                          <p:spTgt spid="17429"/>
                                        </p:tgtEl>
                                        <p:attrNameLst>
                                          <p:attrName>ppt_w</p:attrName>
                                        </p:attrNameLst>
                                      </p:cBhvr>
                                      <p:tavLst>
                                        <p:tav tm="0">
                                          <p:val>
                                            <p:fltVal val="0.000000"/>
                                          </p:val>
                                        </p:tav>
                                        <p:tav tm="100000">
                                          <p:val>
                                            <p:strVal val="#ppt_w"/>
                                          </p:val>
                                        </p:tav>
                                      </p:tavLst>
                                    </p:anim>
                                    <p:anim calcmode="lin" valueType="num">
                                      <p:cBhvr>
                                        <p:cTn id="95" dur="1000" fill="hold"/>
                                        <p:tgtEl>
                                          <p:spTgt spid="17429"/>
                                        </p:tgtEl>
                                        <p:attrNameLst>
                                          <p:attrName>ppt_h</p:attrName>
                                        </p:attrNameLst>
                                      </p:cBhvr>
                                      <p:tavLst>
                                        <p:tav tm="0">
                                          <p:val>
                                            <p:fltVal val="0.000000"/>
                                          </p:val>
                                        </p:tav>
                                        <p:tav tm="100000">
                                          <p:val>
                                            <p:strVal val="#ppt_h"/>
                                          </p:val>
                                        </p:tav>
                                      </p:tavLst>
                                    </p:anim>
                                    <p:anim calcmode="lin" valueType="num">
                                      <p:cBhvr>
                                        <p:cTn id="96" dur="1000" fill="hold"/>
                                        <p:tgtEl>
                                          <p:spTgt spid="17429"/>
                                        </p:tgtEl>
                                        <p:attrNameLst>
                                          <p:attrName>ppt_x</p:attrName>
                                        </p:attrNameLst>
                                      </p:cBhvr>
                                      <p:tavLst>
                                        <p:tav tm="0" fmla="#ppt_x+(cos(-2*pi*(1-$))*-#ppt_x-sin(-2*pi*(1-$))*(1-#ppt_y))*(1-$)">
                                          <p:val>
                                            <p:fltVal val="0.000000"/>
                                          </p:val>
                                        </p:tav>
                                        <p:tav tm="100000">
                                          <p:val>
                                            <p:fltVal val="1.000000"/>
                                          </p:val>
                                        </p:tav>
                                      </p:tavLst>
                                    </p:anim>
                                    <p:anim calcmode="lin" valueType="num">
                                      <p:cBhvr>
                                        <p:cTn id="97" dur="1000" fill="hold"/>
                                        <p:tgtEl>
                                          <p:spTgt spid="1742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nodeType="clickEffect">
                                  <p:stCondLst>
                                    <p:cond delay="0"/>
                                  </p:stCondLst>
                                  <p:childTnLst>
                                    <p:set>
                                      <p:cBhvr>
                                        <p:cTn id="101" dur="1" fill="hold">
                                          <p:stCondLst>
                                            <p:cond delay="0"/>
                                          </p:stCondLst>
                                        </p:cTn>
                                        <p:tgtEl>
                                          <p:spTgt spid="17420"/>
                                        </p:tgtEl>
                                        <p:attrNameLst>
                                          <p:attrName>style.visibility</p:attrName>
                                        </p:attrNameLst>
                                      </p:cBhvr>
                                      <p:to>
                                        <p:strVal val="visible"/>
                                      </p:to>
                                    </p:set>
                                    <p:animEffect transition="in" filter="dissolve">
                                      <p:cBhvr>
                                        <p:cTn id="102" dur="500"/>
                                        <p:tgtEl>
                                          <p:spTgt spid="17420"/>
                                        </p:tgtEl>
                                      </p:cBhvr>
                                    </p:animEffect>
                                  </p:childTnLst>
                                </p:cTn>
                              </p:par>
                            </p:childTnLst>
                          </p:cTn>
                        </p:par>
                        <p:par>
                          <p:cTn id="103" fill="hold">
                            <p:stCondLst>
                              <p:cond delay="500"/>
                            </p:stCondLst>
                            <p:childTnLst>
                              <p:par>
                                <p:cTn id="104" presetID="4" presetClass="entr" presetSubtype="16" fill="hold" grpId="0" nodeType="afterEffect">
                                  <p:stCondLst>
                                    <p:cond delay="0"/>
                                  </p:stCondLst>
                                  <p:childTnLst>
                                    <p:set>
                                      <p:cBhvr>
                                        <p:cTn id="105" dur="1" fill="hold">
                                          <p:stCondLst>
                                            <p:cond delay="0"/>
                                          </p:stCondLst>
                                        </p:cTn>
                                        <p:tgtEl>
                                          <p:spTgt spid="17430"/>
                                        </p:tgtEl>
                                        <p:attrNameLst>
                                          <p:attrName>style.visibility</p:attrName>
                                        </p:attrNameLst>
                                      </p:cBhvr>
                                      <p:to>
                                        <p:strVal val="visible"/>
                                      </p:to>
                                    </p:set>
                                    <p:animEffect transition="in" filter="box(in)">
                                      <p:cBhvr>
                                        <p:cTn id="106" dur="500"/>
                                        <p:tgtEl>
                                          <p:spTgt spid="17430"/>
                                        </p:tgtEl>
                                      </p:cBhvr>
                                    </p:animEffect>
                                  </p:childTnLst>
                                </p:cTn>
                              </p:par>
                            </p:childTnLst>
                          </p:cTn>
                        </p:par>
                        <p:par>
                          <p:cTn id="107" fill="hold">
                            <p:stCondLst>
                              <p:cond delay="1000"/>
                            </p:stCondLst>
                            <p:childTnLst>
                              <p:par>
                                <p:cTn id="108" presetID="16" presetClass="entr" presetSubtype="26" fill="hold" nodeType="afterEffect">
                                  <p:stCondLst>
                                    <p:cond delay="0"/>
                                  </p:stCondLst>
                                  <p:childTnLst>
                                    <p:set>
                                      <p:cBhvr>
                                        <p:cTn id="109" dur="1" fill="hold">
                                          <p:stCondLst>
                                            <p:cond delay="0"/>
                                          </p:stCondLst>
                                        </p:cTn>
                                        <p:tgtEl>
                                          <p:spTgt spid="17433"/>
                                        </p:tgtEl>
                                        <p:attrNameLst>
                                          <p:attrName>style.visibility</p:attrName>
                                        </p:attrNameLst>
                                      </p:cBhvr>
                                      <p:to>
                                        <p:strVal val="visible"/>
                                      </p:to>
                                    </p:set>
                                    <p:animEffect transition="in" filter="barn(inHorizontal)">
                                      <p:cBhvr>
                                        <p:cTn id="110" dur="500"/>
                                        <p:tgtEl>
                                          <p:spTgt spid="17433"/>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499"/>
                                          </p:stCondLst>
                                        </p:cTn>
                                        <p:tgtEl>
                                          <p:spTgt spid="17421"/>
                                        </p:tgtEl>
                                        <p:attrNameLst>
                                          <p:attrName>style.visibility</p:attrName>
                                        </p:attrNameLst>
                                      </p:cBhvr>
                                      <p:to>
                                        <p:strVal val="visible"/>
                                      </p:to>
                                    </p:set>
                                  </p:childTnLst>
                                </p:cTn>
                              </p:par>
                            </p:childTnLst>
                          </p:cTn>
                        </p:par>
                        <p:par>
                          <p:cTn id="115" fill="hold">
                            <p:stCondLst>
                              <p:cond delay="500"/>
                            </p:stCondLst>
                            <p:childTnLst>
                              <p:par>
                                <p:cTn id="116" presetID="9" presetClass="entr" presetSubtype="0" fill="hold" grpId="0" nodeType="afterEffect">
                                  <p:stCondLst>
                                    <p:cond delay="0"/>
                                  </p:stCondLst>
                                  <p:childTnLst>
                                    <p:set>
                                      <p:cBhvr>
                                        <p:cTn id="117" dur="1" fill="hold">
                                          <p:stCondLst>
                                            <p:cond delay="0"/>
                                          </p:stCondLst>
                                        </p:cTn>
                                        <p:tgtEl>
                                          <p:spTgt spid="17431"/>
                                        </p:tgtEl>
                                        <p:attrNameLst>
                                          <p:attrName>style.visibility</p:attrName>
                                        </p:attrNameLst>
                                      </p:cBhvr>
                                      <p:to>
                                        <p:strVal val="visible"/>
                                      </p:to>
                                    </p:set>
                                    <p:animEffect transition="in" filter="dissolve">
                                      <p:cBhvr>
                                        <p:cTn id="118" dur="500"/>
                                        <p:tgtEl>
                                          <p:spTgt spid="17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p:bldP spid="17412" grpId="0"/>
      <p:bldP spid="17413" grpId="0"/>
      <p:bldP spid="17423" grpId="0"/>
      <p:bldP spid="17424" grpId="0"/>
      <p:bldP spid="17425" grpId="0"/>
      <p:bldP spid="17426" grpId="0"/>
      <p:bldP spid="17427" grpId="0"/>
      <p:bldP spid="17428" grpId="0"/>
      <p:bldP spid="17429" grpId="0"/>
      <p:bldP spid="17430" grpId="0"/>
      <p:bldP spid="174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Text Box 2"/>
          <p:cNvSpPr txBox="1"/>
          <p:nvPr/>
        </p:nvSpPr>
        <p:spPr>
          <a:xfrm>
            <a:off x="611188" y="404813"/>
            <a:ext cx="3114675" cy="641350"/>
          </a:xfrm>
          <a:prstGeom prst="rect">
            <a:avLst/>
          </a:prstGeom>
          <a:noFill/>
          <a:ln w="9525">
            <a:noFill/>
          </a:ln>
          <a:effectLst>
            <a:outerShdw dist="35921" dir="2699999" algn="ctr" rotWithShape="0">
              <a:schemeClr val="bg2"/>
            </a:outerShdw>
          </a:effectLst>
        </p:spPr>
        <p:txBody>
          <a:bodyPr anchor="t">
            <a:spAutoFit/>
          </a:bodyPr>
          <a:p>
            <a:pPr>
              <a:spcBef>
                <a:spcPct val="50000"/>
              </a:spcBef>
            </a:pPr>
            <a:r>
              <a:rPr lang="en-US" altLang="zh-CN" sz="3600" b="1" dirty="0">
                <a:solidFill>
                  <a:schemeClr val="bg1"/>
                </a:solidFill>
                <a:latin typeface="隶书" panose="02010509060101010101" pitchFamily="49" charset="-122"/>
                <a:ea typeface="隶书" panose="02010509060101010101" pitchFamily="49" charset="-122"/>
              </a:rPr>
              <a:t>  </a:t>
            </a:r>
            <a:r>
              <a:rPr lang="en-US" altLang="zh-CN" sz="3200" b="1" dirty="0">
                <a:solidFill>
                  <a:schemeClr val="bg1"/>
                </a:solidFill>
                <a:latin typeface="幼圆" panose="02010509060101010101" pitchFamily="49" charset="-122"/>
                <a:ea typeface="幼圆" panose="02010509060101010101" pitchFamily="49" charset="-122"/>
              </a:rPr>
              <a:t>3.</a:t>
            </a:r>
            <a:r>
              <a:rPr lang="zh-CN" altLang="en-US" sz="3200" b="1" dirty="0">
                <a:solidFill>
                  <a:schemeClr val="bg1"/>
                </a:solidFill>
                <a:latin typeface="幼圆" panose="02010509060101010101" pitchFamily="49" charset="-122"/>
                <a:ea typeface="幼圆" panose="02010509060101010101" pitchFamily="49" charset="-122"/>
              </a:rPr>
              <a:t>主要参数</a:t>
            </a:r>
            <a:endParaRPr lang="zh-CN" altLang="en-US" sz="3200" b="1" dirty="0">
              <a:solidFill>
                <a:schemeClr val="bg1"/>
              </a:solidFill>
              <a:latin typeface="幼圆" panose="02010509060101010101" pitchFamily="49" charset="-122"/>
              <a:ea typeface="幼圆" panose="02010509060101010101" pitchFamily="49" charset="-122"/>
            </a:endParaRPr>
          </a:p>
        </p:txBody>
      </p:sp>
      <p:sp>
        <p:nvSpPr>
          <p:cNvPr id="19459" name="Text Box 3"/>
          <p:cNvSpPr txBox="1"/>
          <p:nvPr/>
        </p:nvSpPr>
        <p:spPr>
          <a:xfrm>
            <a:off x="1403350" y="3429000"/>
            <a:ext cx="4800600" cy="457200"/>
          </a:xfrm>
          <a:prstGeom prst="rect">
            <a:avLst/>
          </a:prstGeom>
          <a:noFill/>
          <a:ln w="9525">
            <a:noFill/>
          </a:ln>
        </p:spPr>
        <p:txBody>
          <a:bodyPr anchor="t">
            <a:spAutoFit/>
          </a:bodyPr>
          <a:p>
            <a:pPr>
              <a:spcBef>
                <a:spcPct val="50000"/>
              </a:spcBef>
            </a:pPr>
            <a:r>
              <a:rPr lang="zh-CN" altLang="en-US" sz="2000" b="1" dirty="0">
                <a:solidFill>
                  <a:srgbClr val="FFFF99"/>
                </a:solidFill>
                <a:latin typeface="幼圆" panose="02010509060101010101" pitchFamily="49" charset="-122"/>
                <a:ea typeface="幼圆" panose="02010509060101010101" pitchFamily="49" charset="-122"/>
              </a:rPr>
              <a:t>集电极基极间反向饱和电流 </a:t>
            </a:r>
            <a:r>
              <a:rPr lang="en-US" altLang="zh-CN" sz="2400" b="1" i="1" dirty="0">
                <a:solidFill>
                  <a:srgbClr val="FFFF99"/>
                </a:solidFill>
                <a:latin typeface="Times New Roman" panose="02020603050405020304" pitchFamily="18" charset="0"/>
                <a:ea typeface="幼圆" panose="02010509060101010101" pitchFamily="49" charset="-122"/>
              </a:rPr>
              <a:t>I</a:t>
            </a:r>
            <a:r>
              <a:rPr lang="en-US" altLang="zh-CN" sz="2400" b="1" baseline="-25000" dirty="0">
                <a:solidFill>
                  <a:srgbClr val="FFFF99"/>
                </a:solidFill>
                <a:latin typeface="Times New Roman" panose="02020603050405020304" pitchFamily="18" charset="0"/>
                <a:ea typeface="幼圆" panose="02010509060101010101" pitchFamily="49" charset="-122"/>
              </a:rPr>
              <a:t>CBO</a:t>
            </a:r>
            <a:endParaRPr lang="en-US" altLang="zh-CN" sz="2400" b="1" baseline="-25000" dirty="0">
              <a:solidFill>
                <a:srgbClr val="FFFF99"/>
              </a:solidFill>
              <a:latin typeface="Times New Roman" panose="02020603050405020304" pitchFamily="18" charset="0"/>
              <a:ea typeface="幼圆" panose="02010509060101010101" pitchFamily="49" charset="-122"/>
            </a:endParaRPr>
          </a:p>
        </p:txBody>
      </p:sp>
      <p:sp>
        <p:nvSpPr>
          <p:cNvPr id="19460" name="Text Box 4"/>
          <p:cNvSpPr txBox="1"/>
          <p:nvPr/>
        </p:nvSpPr>
        <p:spPr>
          <a:xfrm>
            <a:off x="1403350" y="4005263"/>
            <a:ext cx="5638800" cy="457200"/>
          </a:xfrm>
          <a:prstGeom prst="rect">
            <a:avLst/>
          </a:prstGeom>
          <a:noFill/>
          <a:ln w="9525">
            <a:noFill/>
          </a:ln>
        </p:spPr>
        <p:txBody>
          <a:bodyPr anchor="t">
            <a:spAutoFit/>
          </a:bodyPr>
          <a:p>
            <a:pPr>
              <a:spcBef>
                <a:spcPct val="50000"/>
              </a:spcBef>
            </a:pPr>
            <a:r>
              <a:rPr lang="zh-CN" altLang="en-US" sz="2000" b="1" dirty="0">
                <a:solidFill>
                  <a:srgbClr val="FFFF99"/>
                </a:solidFill>
                <a:latin typeface="幼圆" panose="02010509060101010101" pitchFamily="49" charset="-122"/>
                <a:ea typeface="幼圆" panose="02010509060101010101" pitchFamily="49" charset="-122"/>
              </a:rPr>
              <a:t>集电极发射极间穿透电流 </a:t>
            </a:r>
            <a:r>
              <a:rPr lang="en-US" altLang="zh-CN" sz="2400" b="1" i="1" dirty="0">
                <a:solidFill>
                  <a:srgbClr val="FFFF99"/>
                </a:solidFill>
                <a:latin typeface="Times New Roman" panose="02020603050405020304" pitchFamily="18" charset="0"/>
                <a:ea typeface="幼圆" panose="02010509060101010101" pitchFamily="49" charset="-122"/>
              </a:rPr>
              <a:t>I</a:t>
            </a:r>
            <a:r>
              <a:rPr lang="en-US" altLang="zh-CN" sz="2400" b="1" baseline="-25000" dirty="0">
                <a:solidFill>
                  <a:srgbClr val="FFFF99"/>
                </a:solidFill>
                <a:latin typeface="Times New Roman" panose="02020603050405020304" pitchFamily="18" charset="0"/>
                <a:ea typeface="幼圆" panose="02010509060101010101" pitchFamily="49" charset="-122"/>
              </a:rPr>
              <a:t>CEO</a:t>
            </a:r>
            <a:endParaRPr lang="en-US" altLang="zh-CN" sz="2400" b="1" baseline="-25000" dirty="0">
              <a:solidFill>
                <a:srgbClr val="FFFF99"/>
              </a:solidFill>
              <a:latin typeface="Times New Roman" panose="02020603050405020304" pitchFamily="18" charset="0"/>
              <a:ea typeface="幼圆" panose="02010509060101010101" pitchFamily="49" charset="-122"/>
            </a:endParaRPr>
          </a:p>
        </p:txBody>
      </p:sp>
      <p:sp>
        <p:nvSpPr>
          <p:cNvPr id="19461" name="Text Box 5"/>
          <p:cNvSpPr txBox="1"/>
          <p:nvPr/>
        </p:nvSpPr>
        <p:spPr>
          <a:xfrm>
            <a:off x="1835150" y="4868863"/>
            <a:ext cx="2971800" cy="457200"/>
          </a:xfrm>
          <a:prstGeom prst="rect">
            <a:avLst/>
          </a:prstGeom>
          <a:noFill/>
          <a:ln w="38100">
            <a:noFill/>
          </a:ln>
        </p:spPr>
        <p:txBody>
          <a:bodyPr anchor="t">
            <a:spAutoFit/>
          </a:bodyPr>
          <a:p>
            <a:pPr>
              <a:spcBef>
                <a:spcPct val="50000"/>
              </a:spcBef>
            </a:pPr>
            <a:r>
              <a:rPr lang="en-US" altLang="zh-CN" sz="2400" b="1" i="1" dirty="0">
                <a:solidFill>
                  <a:srgbClr val="FFFF99"/>
                </a:solidFill>
                <a:latin typeface="Times New Roman" panose="02020603050405020304" pitchFamily="18" charset="0"/>
                <a:ea typeface="宋体" panose="02010600030101010101" pitchFamily="2" charset="-122"/>
              </a:rPr>
              <a:t>I</a:t>
            </a:r>
            <a:r>
              <a:rPr lang="en-US" altLang="zh-CN" sz="2400" b="1" baseline="-25000" dirty="0">
                <a:solidFill>
                  <a:srgbClr val="FFFF99"/>
                </a:solidFill>
                <a:latin typeface="Times New Roman" panose="02020603050405020304" pitchFamily="18" charset="0"/>
                <a:ea typeface="宋体" panose="02010600030101010101" pitchFamily="2" charset="-122"/>
              </a:rPr>
              <a:t>CEO</a:t>
            </a:r>
            <a:r>
              <a:rPr lang="en-US" altLang="zh-CN" sz="2400" b="1" dirty="0">
                <a:solidFill>
                  <a:srgbClr val="FFFF99"/>
                </a:solidFill>
                <a:latin typeface="Times New Roman" panose="02020603050405020304" pitchFamily="18" charset="0"/>
                <a:ea typeface="宋体" panose="02010600030101010101" pitchFamily="2" charset="-122"/>
              </a:rPr>
              <a:t>=(1+β)</a:t>
            </a:r>
            <a:r>
              <a:rPr lang="en-US" altLang="zh-CN" sz="2400" b="1" i="1" dirty="0">
                <a:solidFill>
                  <a:srgbClr val="FFFF99"/>
                </a:solidFill>
                <a:latin typeface="Times New Roman" panose="02020603050405020304" pitchFamily="18" charset="0"/>
                <a:ea typeface="宋体" panose="02010600030101010101" pitchFamily="2" charset="-122"/>
              </a:rPr>
              <a:t>I</a:t>
            </a:r>
            <a:r>
              <a:rPr lang="en-US" altLang="zh-CN" sz="2400" b="1" baseline="-25000" dirty="0">
                <a:solidFill>
                  <a:srgbClr val="FFFF99"/>
                </a:solidFill>
                <a:latin typeface="Times New Roman" panose="02020603050405020304" pitchFamily="18" charset="0"/>
                <a:ea typeface="宋体" panose="02010600030101010101" pitchFamily="2" charset="-122"/>
              </a:rPr>
              <a:t>CBO</a:t>
            </a:r>
            <a:endParaRPr lang="en-US" altLang="zh-CN" sz="2400" b="1" baseline="-25000" dirty="0">
              <a:solidFill>
                <a:srgbClr val="FFFF99"/>
              </a:solidFill>
              <a:latin typeface="Times New Roman" panose="02020603050405020304" pitchFamily="18" charset="0"/>
              <a:ea typeface="宋体" panose="02010600030101010101" pitchFamily="2" charset="-122"/>
            </a:endParaRPr>
          </a:p>
        </p:txBody>
      </p:sp>
      <p:sp>
        <p:nvSpPr>
          <p:cNvPr id="19462" name="Rectangle 6"/>
          <p:cNvSpPr/>
          <p:nvPr/>
        </p:nvSpPr>
        <p:spPr>
          <a:xfrm>
            <a:off x="1530350" y="4792663"/>
            <a:ext cx="2971800" cy="762000"/>
          </a:xfrm>
          <a:prstGeom prst="rect">
            <a:avLst/>
          </a:prstGeom>
          <a:noFill/>
          <a:ln w="57150" cap="flat" cmpd="sng">
            <a:solidFill>
              <a:schemeClr val="accent1"/>
            </a:solidFill>
            <a:prstDash val="sysDot"/>
            <a:miter/>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19463" name="Group 7"/>
          <p:cNvGrpSpPr/>
          <p:nvPr/>
        </p:nvGrpSpPr>
        <p:grpSpPr>
          <a:xfrm>
            <a:off x="1042988" y="2205038"/>
            <a:ext cx="5268912" cy="457200"/>
            <a:chOff x="521" y="1392"/>
            <a:chExt cx="3319" cy="288"/>
          </a:xfrm>
        </p:grpSpPr>
        <p:sp>
          <p:nvSpPr>
            <p:cNvPr id="44039" name="Text Box 8"/>
            <p:cNvSpPr txBox="1"/>
            <p:nvPr/>
          </p:nvSpPr>
          <p:spPr>
            <a:xfrm>
              <a:off x="720" y="1392"/>
              <a:ext cx="3120" cy="288"/>
            </a:xfrm>
            <a:prstGeom prst="rect">
              <a:avLst/>
            </a:prstGeom>
            <a:noFill/>
            <a:ln w="9525">
              <a:noFill/>
            </a:ln>
          </p:spPr>
          <p:txBody>
            <a:bodyPr anchor="t">
              <a:spAutoFit/>
            </a:bodyPr>
            <a:p>
              <a:pPr>
                <a:spcBef>
                  <a:spcPct val="50000"/>
                </a:spcBef>
              </a:pPr>
              <a:r>
                <a:rPr lang="zh-CN" altLang="en-US" sz="2000" b="1" dirty="0">
                  <a:solidFill>
                    <a:srgbClr val="FFFF99"/>
                  </a:solidFill>
                  <a:latin typeface="幼圆" panose="02010509060101010101" pitchFamily="49" charset="-122"/>
                  <a:ea typeface="幼圆" panose="02010509060101010101" pitchFamily="49" charset="-122"/>
                </a:rPr>
                <a:t>交流电流放大系数</a:t>
              </a:r>
              <a:r>
                <a:rPr lang="en-US" altLang="zh-CN" sz="2400" b="1" dirty="0">
                  <a:solidFill>
                    <a:srgbClr val="FFFF99"/>
                  </a:solidFill>
                  <a:latin typeface="Times New Roman" panose="02020603050405020304" pitchFamily="18" charset="0"/>
                  <a:ea typeface="幼圆" panose="02010509060101010101" pitchFamily="49" charset="-122"/>
                </a:rPr>
                <a:t>β=</a:t>
              </a:r>
              <a:r>
                <a:rPr lang="en-US" altLang="zh-CN" sz="2000" b="1" dirty="0">
                  <a:solidFill>
                    <a:srgbClr val="FFFF99"/>
                  </a:solidFill>
                  <a:latin typeface="Times New Roman" panose="02020603050405020304" pitchFamily="18" charset="0"/>
                  <a:ea typeface="幼圆" panose="02010509060101010101" pitchFamily="49" charset="-122"/>
                </a:rPr>
                <a:t>△</a:t>
              </a:r>
              <a:r>
                <a:rPr lang="en-US" altLang="zh-CN" sz="2400" b="1" i="1" dirty="0">
                  <a:solidFill>
                    <a:srgbClr val="FFFF99"/>
                  </a:solidFill>
                  <a:latin typeface="Times New Roman" panose="02020603050405020304" pitchFamily="18" charset="0"/>
                  <a:ea typeface="幼圆" panose="02010509060101010101" pitchFamily="49" charset="-122"/>
                </a:rPr>
                <a:t>I</a:t>
              </a:r>
              <a:r>
                <a:rPr lang="en-US" altLang="zh-CN" sz="2400" b="1" baseline="-25000" dirty="0">
                  <a:solidFill>
                    <a:srgbClr val="FFFF99"/>
                  </a:solidFill>
                  <a:latin typeface="Times New Roman" panose="02020603050405020304" pitchFamily="18" charset="0"/>
                  <a:ea typeface="幼圆" panose="02010509060101010101" pitchFamily="49" charset="-122"/>
                </a:rPr>
                <a:t>C</a:t>
              </a:r>
              <a:r>
                <a:rPr lang="en-US" altLang="zh-CN" sz="2400" b="1" dirty="0">
                  <a:solidFill>
                    <a:srgbClr val="FFFF99"/>
                  </a:solidFill>
                  <a:latin typeface="Times New Roman" panose="02020603050405020304" pitchFamily="18" charset="0"/>
                  <a:ea typeface="幼圆" panose="02010509060101010101" pitchFamily="49" charset="-122"/>
                </a:rPr>
                <a:t> / </a:t>
              </a:r>
              <a:r>
                <a:rPr lang="en-US" altLang="zh-CN" sz="2000" b="1" dirty="0">
                  <a:solidFill>
                    <a:srgbClr val="FFFF99"/>
                  </a:solidFill>
                  <a:latin typeface="Times New Roman" panose="02020603050405020304" pitchFamily="18" charset="0"/>
                  <a:ea typeface="幼圆" panose="02010509060101010101" pitchFamily="49" charset="-122"/>
                </a:rPr>
                <a:t>△</a:t>
              </a:r>
              <a:r>
                <a:rPr lang="en-US" altLang="zh-CN" sz="2400" b="1" i="1" dirty="0">
                  <a:solidFill>
                    <a:srgbClr val="FFFF99"/>
                  </a:solidFill>
                  <a:latin typeface="Times New Roman" panose="02020603050405020304" pitchFamily="18" charset="0"/>
                  <a:ea typeface="幼圆" panose="02010509060101010101" pitchFamily="49" charset="-122"/>
                </a:rPr>
                <a:t>I</a:t>
              </a:r>
              <a:r>
                <a:rPr lang="en-US" altLang="zh-CN" sz="2400" b="1" baseline="-25000" dirty="0">
                  <a:solidFill>
                    <a:srgbClr val="FFFF99"/>
                  </a:solidFill>
                  <a:latin typeface="Times New Roman" panose="02020603050405020304" pitchFamily="18" charset="0"/>
                  <a:ea typeface="幼圆" panose="02010509060101010101" pitchFamily="49" charset="-122"/>
                </a:rPr>
                <a:t>B</a:t>
              </a:r>
              <a:endParaRPr lang="en-US" altLang="zh-CN" sz="2400" b="1" baseline="-25000" dirty="0">
                <a:solidFill>
                  <a:srgbClr val="FFFF99"/>
                </a:solidFill>
                <a:latin typeface="Times New Roman" panose="02020603050405020304" pitchFamily="18" charset="0"/>
                <a:ea typeface="幼圆" panose="02010509060101010101" pitchFamily="49" charset="-122"/>
              </a:endParaRPr>
            </a:p>
          </p:txBody>
        </p:sp>
        <p:pic>
          <p:nvPicPr>
            <p:cNvPr id="44040" name="Picture 9" descr="BD21300_"/>
            <p:cNvPicPr>
              <a:picLocks noChangeAspect="1"/>
            </p:cNvPicPr>
            <p:nvPr/>
          </p:nvPicPr>
          <p:blipFill>
            <a:blip r:embed="rId1">
              <a:lum bright="39999" contrast="40000"/>
            </a:blip>
            <a:stretch>
              <a:fillRect/>
            </a:stretch>
          </p:blipFill>
          <p:spPr>
            <a:xfrm>
              <a:off x="521" y="1480"/>
              <a:ext cx="236" cy="106"/>
            </a:xfrm>
            <a:prstGeom prst="rect">
              <a:avLst/>
            </a:prstGeom>
            <a:noFill/>
            <a:ln w="9525">
              <a:noFill/>
            </a:ln>
          </p:spPr>
        </p:pic>
      </p:grpSp>
      <p:pic>
        <p:nvPicPr>
          <p:cNvPr id="19466" name="Picture 10" descr="BD21300_"/>
          <p:cNvPicPr>
            <a:picLocks noChangeAspect="1"/>
          </p:cNvPicPr>
          <p:nvPr/>
        </p:nvPicPr>
        <p:blipFill>
          <a:blip r:embed="rId1">
            <a:lum bright="39999" contrast="40000"/>
          </a:blip>
          <a:stretch>
            <a:fillRect/>
          </a:stretch>
        </p:blipFill>
        <p:spPr>
          <a:xfrm>
            <a:off x="1062038" y="3565525"/>
            <a:ext cx="374650" cy="168275"/>
          </a:xfrm>
          <a:prstGeom prst="rect">
            <a:avLst/>
          </a:prstGeom>
          <a:noFill/>
          <a:ln w="9525">
            <a:noFill/>
          </a:ln>
        </p:spPr>
      </p:pic>
      <p:pic>
        <p:nvPicPr>
          <p:cNvPr id="19467" name="Picture 11" descr="BD21300_"/>
          <p:cNvPicPr>
            <a:picLocks noChangeAspect="1"/>
          </p:cNvPicPr>
          <p:nvPr/>
        </p:nvPicPr>
        <p:blipFill>
          <a:blip r:embed="rId1">
            <a:lum bright="39999" contrast="40000"/>
          </a:blip>
          <a:stretch>
            <a:fillRect/>
          </a:stretch>
        </p:blipFill>
        <p:spPr>
          <a:xfrm>
            <a:off x="1079500" y="4167188"/>
            <a:ext cx="374650" cy="168275"/>
          </a:xfrm>
          <a:prstGeom prst="rect">
            <a:avLst/>
          </a:prstGeom>
          <a:noFill/>
          <a:ln w="9525">
            <a:noFill/>
          </a:ln>
        </p:spPr>
      </p:pic>
      <p:sp>
        <p:nvSpPr>
          <p:cNvPr id="44043" name="Text Box 13">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4044" name="Text Box 14">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grpSp>
        <p:nvGrpSpPr>
          <p:cNvPr id="19471" name="Group 15"/>
          <p:cNvGrpSpPr/>
          <p:nvPr/>
        </p:nvGrpSpPr>
        <p:grpSpPr>
          <a:xfrm>
            <a:off x="1062038" y="1765300"/>
            <a:ext cx="4232275" cy="457200"/>
            <a:chOff x="476" y="1048"/>
            <a:chExt cx="2666" cy="288"/>
          </a:xfrm>
        </p:grpSpPr>
        <p:grpSp>
          <p:nvGrpSpPr>
            <p:cNvPr id="44046" name="Group 16"/>
            <p:cNvGrpSpPr/>
            <p:nvPr/>
          </p:nvGrpSpPr>
          <p:grpSpPr>
            <a:xfrm>
              <a:off x="476" y="1048"/>
              <a:ext cx="2666" cy="288"/>
              <a:chOff x="532" y="1056"/>
              <a:chExt cx="2666" cy="288"/>
            </a:xfrm>
          </p:grpSpPr>
          <p:sp>
            <p:nvSpPr>
              <p:cNvPr id="44047" name="Text Box 17"/>
              <p:cNvSpPr txBox="1"/>
              <p:nvPr/>
            </p:nvSpPr>
            <p:spPr>
              <a:xfrm>
                <a:off x="720" y="1056"/>
                <a:ext cx="2478" cy="288"/>
              </a:xfrm>
              <a:prstGeom prst="rect">
                <a:avLst/>
              </a:prstGeom>
              <a:noFill/>
              <a:ln w="9525">
                <a:noFill/>
              </a:ln>
            </p:spPr>
            <p:txBody>
              <a:bodyPr anchor="t">
                <a:spAutoFit/>
              </a:bodyPr>
              <a:p>
                <a:pPr>
                  <a:spcBef>
                    <a:spcPct val="50000"/>
                  </a:spcBef>
                </a:pPr>
                <a:r>
                  <a:rPr lang="zh-CN" altLang="en-US" sz="2000" b="1" dirty="0">
                    <a:solidFill>
                      <a:srgbClr val="FFFF99"/>
                    </a:solidFill>
                    <a:latin typeface="幼圆" panose="02010509060101010101" pitchFamily="49" charset="-122"/>
                    <a:ea typeface="幼圆" panose="02010509060101010101" pitchFamily="49" charset="-122"/>
                  </a:rPr>
                  <a:t>直流电流放大系数</a:t>
                </a:r>
                <a:r>
                  <a:rPr lang="en-US" altLang="zh-CN" sz="2400" b="1" dirty="0">
                    <a:solidFill>
                      <a:srgbClr val="FFFF99"/>
                    </a:solidFill>
                    <a:latin typeface="Times New Roman" panose="02020603050405020304" pitchFamily="18" charset="0"/>
                    <a:ea typeface="幼圆" panose="02010509060101010101" pitchFamily="49" charset="-122"/>
                  </a:rPr>
                  <a:t>β=</a:t>
                </a:r>
                <a:r>
                  <a:rPr lang="en-US" altLang="zh-CN" sz="2400" b="1" i="1" dirty="0">
                    <a:solidFill>
                      <a:srgbClr val="FFFF99"/>
                    </a:solidFill>
                    <a:latin typeface="Times New Roman" panose="02020603050405020304" pitchFamily="18" charset="0"/>
                    <a:ea typeface="幼圆" panose="02010509060101010101" pitchFamily="49" charset="-122"/>
                  </a:rPr>
                  <a:t>I</a:t>
                </a:r>
                <a:r>
                  <a:rPr lang="en-US" altLang="zh-CN" sz="2400" b="1" baseline="-25000" dirty="0">
                    <a:solidFill>
                      <a:srgbClr val="FFFF99"/>
                    </a:solidFill>
                    <a:latin typeface="Times New Roman" panose="02020603050405020304" pitchFamily="18" charset="0"/>
                    <a:ea typeface="幼圆" panose="02010509060101010101" pitchFamily="49" charset="-122"/>
                  </a:rPr>
                  <a:t>C</a:t>
                </a:r>
                <a:r>
                  <a:rPr lang="en-US" altLang="zh-CN" sz="2400" b="1" dirty="0">
                    <a:solidFill>
                      <a:srgbClr val="FFFF99"/>
                    </a:solidFill>
                    <a:latin typeface="Times New Roman" panose="02020603050405020304" pitchFamily="18" charset="0"/>
                    <a:ea typeface="幼圆" panose="02010509060101010101" pitchFamily="49" charset="-122"/>
                  </a:rPr>
                  <a:t> / </a:t>
                </a:r>
                <a:r>
                  <a:rPr lang="en-US" altLang="zh-CN" sz="2400" b="1" i="1" dirty="0">
                    <a:solidFill>
                      <a:srgbClr val="FFFF99"/>
                    </a:solidFill>
                    <a:latin typeface="Times New Roman" panose="02020603050405020304" pitchFamily="18" charset="0"/>
                    <a:ea typeface="幼圆" panose="02010509060101010101" pitchFamily="49" charset="-122"/>
                  </a:rPr>
                  <a:t>I</a:t>
                </a:r>
                <a:r>
                  <a:rPr lang="en-US" altLang="zh-CN" sz="2400" b="1" baseline="-25000" dirty="0">
                    <a:solidFill>
                      <a:srgbClr val="FFFF99"/>
                    </a:solidFill>
                    <a:latin typeface="Times New Roman" panose="02020603050405020304" pitchFamily="18" charset="0"/>
                    <a:ea typeface="幼圆" panose="02010509060101010101" pitchFamily="49" charset="-122"/>
                  </a:rPr>
                  <a:t>B</a:t>
                </a:r>
                <a:endParaRPr lang="en-US" altLang="zh-CN" sz="2400" b="1" baseline="-25000" dirty="0">
                  <a:solidFill>
                    <a:srgbClr val="FFFF99"/>
                  </a:solidFill>
                  <a:latin typeface="Times New Roman" panose="02020603050405020304" pitchFamily="18" charset="0"/>
                  <a:ea typeface="幼圆" panose="02010509060101010101" pitchFamily="49" charset="-122"/>
                </a:endParaRPr>
              </a:p>
            </p:txBody>
          </p:sp>
          <p:pic>
            <p:nvPicPr>
              <p:cNvPr id="44048" name="Picture 18" descr="BD21300_"/>
              <p:cNvPicPr>
                <a:picLocks noChangeAspect="1"/>
              </p:cNvPicPr>
              <p:nvPr/>
            </p:nvPicPr>
            <p:blipFill>
              <a:blip r:embed="rId1">
                <a:lum bright="39999" contrast="40000"/>
              </a:blip>
              <a:stretch>
                <a:fillRect/>
              </a:stretch>
            </p:blipFill>
            <p:spPr>
              <a:xfrm>
                <a:off x="532" y="1142"/>
                <a:ext cx="236" cy="106"/>
              </a:xfrm>
              <a:prstGeom prst="rect">
                <a:avLst/>
              </a:prstGeom>
              <a:noFill/>
              <a:ln w="9525">
                <a:noFill/>
              </a:ln>
            </p:spPr>
          </p:pic>
        </p:grpSp>
        <p:sp>
          <p:nvSpPr>
            <p:cNvPr id="44049" name="Line 19"/>
            <p:cNvSpPr/>
            <p:nvPr/>
          </p:nvSpPr>
          <p:spPr>
            <a:xfrm>
              <a:off x="2064" y="1104"/>
              <a:ext cx="144" cy="0"/>
            </a:xfrm>
            <a:prstGeom prst="line">
              <a:avLst/>
            </a:prstGeom>
            <a:ln w="28575" cap="flat" cmpd="sng">
              <a:solidFill>
                <a:srgbClr val="FFFF99"/>
              </a:solidFill>
              <a:prstDash val="solid"/>
              <a:round/>
              <a:headEnd type="none" w="med" len="med"/>
              <a:tailEnd type="none" w="med" len="med"/>
            </a:ln>
          </p:spPr>
        </p:sp>
      </p:grpSp>
      <p:grpSp>
        <p:nvGrpSpPr>
          <p:cNvPr id="19476" name="Group 20"/>
          <p:cNvGrpSpPr/>
          <p:nvPr/>
        </p:nvGrpSpPr>
        <p:grpSpPr>
          <a:xfrm>
            <a:off x="692150" y="1135063"/>
            <a:ext cx="4114800" cy="457200"/>
            <a:chOff x="288" y="720"/>
            <a:chExt cx="2592" cy="288"/>
          </a:xfrm>
        </p:grpSpPr>
        <p:sp>
          <p:nvSpPr>
            <p:cNvPr id="19477" name="Text Box 21"/>
            <p:cNvSpPr txBox="1">
              <a:spLocks noChangeArrowheads="1"/>
            </p:cNvSpPr>
            <p:nvPr/>
          </p:nvSpPr>
          <p:spPr bwMode="auto">
            <a:xfrm>
              <a:off x="288" y="720"/>
              <a:ext cx="2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en-US" altLang="zh-CN" sz="24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      </a:t>
              </a:r>
              <a:r>
                <a:rPr lang="zh-CN" altLang="en-US" sz="24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电流放大系数</a:t>
              </a:r>
              <a:endParaRPr lang="zh-CN" altLang="en-US" sz="24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44052" name="AutoShape 22"/>
            <p:cNvSpPr/>
            <p:nvPr/>
          </p:nvSpPr>
          <p:spPr>
            <a:xfrm>
              <a:off x="567" y="799"/>
              <a:ext cx="181" cy="181"/>
            </a:xfrm>
            <a:prstGeom prst="flowChartExtract">
              <a:avLst/>
            </a:prstGeom>
            <a:solidFill>
              <a:srgbClr val="FF9933"/>
            </a:solidFill>
            <a:ln w="41275" cap="flat" cmpd="sng">
              <a:solidFill>
                <a:srgbClr val="FFFF66"/>
              </a:solidFill>
              <a:prstDash val="solid"/>
              <a:miter/>
              <a:headEnd type="none" w="med" len="med"/>
              <a:tailEnd type="none" w="med" len="med"/>
            </a:ln>
          </p:spPr>
          <p:txBody>
            <a:bodyPr anchor="ctr">
              <a:spAutoFit/>
            </a:bodyPr>
            <a:p>
              <a:endParaRPr lang="zh-CN" altLang="en-US" dirty="0">
                <a:latin typeface="Arial" panose="020B0604020202020204" pitchFamily="34" charset="0"/>
                <a:ea typeface="宋体" panose="02010600030101010101" pitchFamily="2" charset="-122"/>
              </a:endParaRPr>
            </a:p>
          </p:txBody>
        </p:sp>
      </p:grpSp>
      <p:grpSp>
        <p:nvGrpSpPr>
          <p:cNvPr id="19479" name="Group 23"/>
          <p:cNvGrpSpPr/>
          <p:nvPr/>
        </p:nvGrpSpPr>
        <p:grpSpPr>
          <a:xfrm>
            <a:off x="615950" y="2811463"/>
            <a:ext cx="4114800" cy="457200"/>
            <a:chOff x="240" y="1776"/>
            <a:chExt cx="2592" cy="288"/>
          </a:xfrm>
        </p:grpSpPr>
        <p:sp>
          <p:nvSpPr>
            <p:cNvPr id="19480" name="Text Box 24"/>
            <p:cNvSpPr txBox="1">
              <a:spLocks noChangeArrowheads="1"/>
            </p:cNvSpPr>
            <p:nvPr/>
          </p:nvSpPr>
          <p:spPr bwMode="auto">
            <a:xfrm>
              <a:off x="240" y="1776"/>
              <a:ext cx="2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en-US" altLang="zh-CN" sz="24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      </a:t>
              </a:r>
              <a:r>
                <a:rPr lang="zh-CN" altLang="en-US" sz="24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极间反向饱和电流</a:t>
              </a:r>
              <a:endParaRPr lang="zh-CN" altLang="en-US" sz="24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44055" name="AutoShape 25"/>
            <p:cNvSpPr/>
            <p:nvPr/>
          </p:nvSpPr>
          <p:spPr>
            <a:xfrm>
              <a:off x="567" y="1842"/>
              <a:ext cx="181" cy="181"/>
            </a:xfrm>
            <a:prstGeom prst="flowChartExtract">
              <a:avLst/>
            </a:prstGeom>
            <a:solidFill>
              <a:schemeClr val="accent1"/>
            </a:solidFill>
            <a:ln w="41275" cap="flat" cmpd="sng">
              <a:solidFill>
                <a:srgbClr val="FFFF66"/>
              </a:solidFill>
              <a:prstDash val="solid"/>
              <a:miter/>
              <a:headEnd type="none" w="med" len="med"/>
              <a:tailEnd type="none" w="med" len="med"/>
            </a:ln>
          </p:spPr>
          <p:txBody>
            <a:bodyPr anchor="ctr">
              <a:spAutoFit/>
            </a:bodyPr>
            <a:p>
              <a:endParaRPr lang="zh-CN" altLang="en-US" dirty="0">
                <a:latin typeface="Arial" panose="020B0604020202020204" pitchFamily="34" charset="0"/>
                <a:ea typeface="宋体" panose="02010600030101010101" pitchFamily="2" charset="-122"/>
              </a:endParaRPr>
            </a:p>
          </p:txBody>
        </p:sp>
      </p:grpSp>
      <p:sp>
        <p:nvSpPr>
          <p:cNvPr id="44056" name="Text Box 27"/>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grpSp>
        <p:nvGrpSpPr>
          <p:cNvPr id="19484" name="Group 28"/>
          <p:cNvGrpSpPr/>
          <p:nvPr/>
        </p:nvGrpSpPr>
        <p:grpSpPr>
          <a:xfrm>
            <a:off x="5929313" y="3500438"/>
            <a:ext cx="2459037" cy="2233612"/>
            <a:chOff x="1791" y="2205"/>
            <a:chExt cx="1549" cy="1407"/>
          </a:xfrm>
        </p:grpSpPr>
        <p:grpSp>
          <p:nvGrpSpPr>
            <p:cNvPr id="44058" name="Group 29"/>
            <p:cNvGrpSpPr/>
            <p:nvPr/>
          </p:nvGrpSpPr>
          <p:grpSpPr>
            <a:xfrm>
              <a:off x="1837" y="2205"/>
              <a:ext cx="499" cy="1405"/>
              <a:chOff x="1156" y="2024"/>
              <a:chExt cx="499" cy="1405"/>
            </a:xfrm>
          </p:grpSpPr>
          <p:grpSp>
            <p:nvGrpSpPr>
              <p:cNvPr id="44059" name="Group 30"/>
              <p:cNvGrpSpPr/>
              <p:nvPr/>
            </p:nvGrpSpPr>
            <p:grpSpPr>
              <a:xfrm>
                <a:off x="1156" y="2614"/>
                <a:ext cx="499" cy="363"/>
                <a:chOff x="4363" y="2777"/>
                <a:chExt cx="580" cy="465"/>
              </a:xfrm>
            </p:grpSpPr>
            <p:sp>
              <p:nvSpPr>
                <p:cNvPr id="44060" name="Line 31"/>
                <p:cNvSpPr/>
                <p:nvPr/>
              </p:nvSpPr>
              <p:spPr>
                <a:xfrm>
                  <a:off x="4363" y="3015"/>
                  <a:ext cx="336" cy="0"/>
                </a:xfrm>
                <a:prstGeom prst="line">
                  <a:avLst/>
                </a:prstGeom>
                <a:ln w="44450" cap="flat" cmpd="sng">
                  <a:solidFill>
                    <a:srgbClr val="FFCC99"/>
                  </a:solidFill>
                  <a:prstDash val="solid"/>
                  <a:round/>
                  <a:headEnd type="none" w="med" len="med"/>
                  <a:tailEnd type="none" w="med" len="med"/>
                </a:ln>
              </p:spPr>
            </p:sp>
            <p:sp>
              <p:nvSpPr>
                <p:cNvPr id="44061" name="Line 32"/>
                <p:cNvSpPr/>
                <p:nvPr/>
              </p:nvSpPr>
              <p:spPr>
                <a:xfrm>
                  <a:off x="4701" y="2822"/>
                  <a:ext cx="0" cy="385"/>
                </a:xfrm>
                <a:prstGeom prst="line">
                  <a:avLst/>
                </a:prstGeom>
                <a:ln w="44450" cap="flat" cmpd="sng">
                  <a:solidFill>
                    <a:srgbClr val="FFCC99"/>
                  </a:solidFill>
                  <a:prstDash val="solid"/>
                  <a:round/>
                  <a:headEnd type="none" w="med" len="med"/>
                  <a:tailEnd type="none" w="med" len="med"/>
                </a:ln>
              </p:spPr>
            </p:sp>
            <p:sp>
              <p:nvSpPr>
                <p:cNvPr id="44062" name="Line 33"/>
                <p:cNvSpPr/>
                <p:nvPr/>
              </p:nvSpPr>
              <p:spPr>
                <a:xfrm flipV="1">
                  <a:off x="4701" y="2777"/>
                  <a:ext cx="224" cy="163"/>
                </a:xfrm>
                <a:prstGeom prst="line">
                  <a:avLst/>
                </a:prstGeom>
                <a:ln w="41275" cap="flat" cmpd="sng">
                  <a:solidFill>
                    <a:srgbClr val="FFCC99"/>
                  </a:solidFill>
                  <a:prstDash val="solid"/>
                  <a:round/>
                  <a:headEnd type="none" w="med" len="med"/>
                  <a:tailEnd type="none" w="med" len="med"/>
                </a:ln>
              </p:spPr>
            </p:sp>
            <p:sp>
              <p:nvSpPr>
                <p:cNvPr id="44063" name="Line 34"/>
                <p:cNvSpPr/>
                <p:nvPr/>
              </p:nvSpPr>
              <p:spPr>
                <a:xfrm>
                  <a:off x="4719" y="3083"/>
                  <a:ext cx="224" cy="159"/>
                </a:xfrm>
                <a:prstGeom prst="line">
                  <a:avLst/>
                </a:prstGeom>
                <a:ln w="44450" cap="flat" cmpd="sng">
                  <a:solidFill>
                    <a:srgbClr val="FFCC99"/>
                  </a:solidFill>
                  <a:prstDash val="solid"/>
                  <a:round/>
                  <a:headEnd type="none" w="med" len="med"/>
                  <a:tailEnd type="triangle" w="sm" len="lg"/>
                </a:ln>
              </p:spPr>
            </p:sp>
          </p:grpSp>
          <p:sp>
            <p:nvSpPr>
              <p:cNvPr id="44064" name="Line 35"/>
              <p:cNvSpPr/>
              <p:nvPr/>
            </p:nvSpPr>
            <p:spPr>
              <a:xfrm>
                <a:off x="1655" y="2024"/>
                <a:ext cx="0" cy="589"/>
              </a:xfrm>
              <a:prstGeom prst="line">
                <a:avLst/>
              </a:prstGeom>
              <a:ln w="44450" cap="flat" cmpd="sng">
                <a:solidFill>
                  <a:srgbClr val="FFCC99"/>
                </a:solidFill>
                <a:prstDash val="solid"/>
                <a:round/>
                <a:headEnd type="none" w="med" len="med"/>
                <a:tailEnd type="none" w="sm" len="lg"/>
              </a:ln>
            </p:spPr>
          </p:sp>
          <p:sp>
            <p:nvSpPr>
              <p:cNvPr id="44065" name="Line 36"/>
              <p:cNvSpPr/>
              <p:nvPr/>
            </p:nvSpPr>
            <p:spPr>
              <a:xfrm>
                <a:off x="1654" y="2976"/>
                <a:ext cx="0" cy="453"/>
              </a:xfrm>
              <a:prstGeom prst="line">
                <a:avLst/>
              </a:prstGeom>
              <a:ln w="44450" cap="flat" cmpd="sng">
                <a:solidFill>
                  <a:srgbClr val="FFCC99"/>
                </a:solidFill>
                <a:prstDash val="solid"/>
                <a:round/>
                <a:headEnd type="none" w="med" len="med"/>
                <a:tailEnd type="none" w="sm" len="lg"/>
              </a:ln>
            </p:spPr>
          </p:sp>
        </p:grpSp>
        <p:sp>
          <p:nvSpPr>
            <p:cNvPr id="44066" name="Line 37"/>
            <p:cNvSpPr/>
            <p:nvPr/>
          </p:nvSpPr>
          <p:spPr>
            <a:xfrm>
              <a:off x="2336" y="2205"/>
              <a:ext cx="816" cy="0"/>
            </a:xfrm>
            <a:prstGeom prst="line">
              <a:avLst/>
            </a:prstGeom>
            <a:ln w="44450" cap="flat" cmpd="sng">
              <a:solidFill>
                <a:srgbClr val="FFCC99"/>
              </a:solidFill>
              <a:prstDash val="solid"/>
              <a:round/>
              <a:headEnd type="none" w="med" len="med"/>
              <a:tailEnd type="none" w="sm" len="lg"/>
            </a:ln>
          </p:spPr>
        </p:sp>
        <p:sp>
          <p:nvSpPr>
            <p:cNvPr id="44067" name="Line 38"/>
            <p:cNvSpPr/>
            <p:nvPr/>
          </p:nvSpPr>
          <p:spPr>
            <a:xfrm>
              <a:off x="3152" y="2205"/>
              <a:ext cx="0" cy="953"/>
            </a:xfrm>
            <a:prstGeom prst="line">
              <a:avLst/>
            </a:prstGeom>
            <a:ln w="44450" cap="flat" cmpd="sng">
              <a:solidFill>
                <a:srgbClr val="FFCC99"/>
              </a:solidFill>
              <a:prstDash val="solid"/>
              <a:round/>
              <a:headEnd type="none" w="med" len="med"/>
              <a:tailEnd type="none" w="sm" len="lg"/>
            </a:ln>
          </p:spPr>
        </p:sp>
        <p:grpSp>
          <p:nvGrpSpPr>
            <p:cNvPr id="44068" name="Group 39"/>
            <p:cNvGrpSpPr/>
            <p:nvPr/>
          </p:nvGrpSpPr>
          <p:grpSpPr>
            <a:xfrm>
              <a:off x="3016" y="3158"/>
              <a:ext cx="272" cy="136"/>
              <a:chOff x="3016" y="3158"/>
              <a:chExt cx="272" cy="136"/>
            </a:xfrm>
          </p:grpSpPr>
          <p:sp>
            <p:nvSpPr>
              <p:cNvPr id="44069" name="Line 40"/>
              <p:cNvSpPr/>
              <p:nvPr/>
            </p:nvSpPr>
            <p:spPr>
              <a:xfrm>
                <a:off x="3016" y="3158"/>
                <a:ext cx="272" cy="0"/>
              </a:xfrm>
              <a:prstGeom prst="line">
                <a:avLst/>
              </a:prstGeom>
              <a:ln w="44450" cap="flat" cmpd="sng">
                <a:solidFill>
                  <a:srgbClr val="FFCC99"/>
                </a:solidFill>
                <a:prstDash val="solid"/>
                <a:round/>
                <a:headEnd type="none" w="med" len="med"/>
                <a:tailEnd type="none" w="sm" len="lg"/>
              </a:ln>
            </p:spPr>
          </p:sp>
          <p:sp>
            <p:nvSpPr>
              <p:cNvPr id="44070" name="Line 41"/>
              <p:cNvSpPr/>
              <p:nvPr/>
            </p:nvSpPr>
            <p:spPr>
              <a:xfrm>
                <a:off x="3083" y="3203"/>
                <a:ext cx="136" cy="0"/>
              </a:xfrm>
              <a:prstGeom prst="line">
                <a:avLst/>
              </a:prstGeom>
              <a:ln w="44450" cap="flat" cmpd="sng">
                <a:solidFill>
                  <a:srgbClr val="FFCC99"/>
                </a:solidFill>
                <a:prstDash val="solid"/>
                <a:round/>
                <a:headEnd type="none" w="med" len="med"/>
                <a:tailEnd type="none" w="sm" len="lg"/>
              </a:ln>
            </p:spPr>
          </p:sp>
          <p:sp>
            <p:nvSpPr>
              <p:cNvPr id="44071" name="Line 42"/>
              <p:cNvSpPr/>
              <p:nvPr/>
            </p:nvSpPr>
            <p:spPr>
              <a:xfrm>
                <a:off x="3016" y="3249"/>
                <a:ext cx="272" cy="0"/>
              </a:xfrm>
              <a:prstGeom prst="line">
                <a:avLst/>
              </a:prstGeom>
              <a:ln w="44450" cap="flat" cmpd="sng">
                <a:solidFill>
                  <a:srgbClr val="FFCC99"/>
                </a:solidFill>
                <a:prstDash val="solid"/>
                <a:round/>
                <a:headEnd type="none" w="med" len="med"/>
                <a:tailEnd type="none" w="sm" len="lg"/>
              </a:ln>
            </p:spPr>
          </p:sp>
          <p:sp>
            <p:nvSpPr>
              <p:cNvPr id="44072" name="Line 43"/>
              <p:cNvSpPr/>
              <p:nvPr/>
            </p:nvSpPr>
            <p:spPr>
              <a:xfrm>
                <a:off x="3083" y="3294"/>
                <a:ext cx="136" cy="0"/>
              </a:xfrm>
              <a:prstGeom prst="line">
                <a:avLst/>
              </a:prstGeom>
              <a:ln w="44450" cap="flat" cmpd="sng">
                <a:solidFill>
                  <a:srgbClr val="FFCC99"/>
                </a:solidFill>
                <a:prstDash val="solid"/>
                <a:round/>
                <a:headEnd type="none" w="med" len="med"/>
                <a:tailEnd type="none" w="sm" len="lg"/>
              </a:ln>
            </p:spPr>
          </p:sp>
        </p:grpSp>
        <p:sp>
          <p:nvSpPr>
            <p:cNvPr id="44073" name="Line 44"/>
            <p:cNvSpPr/>
            <p:nvPr/>
          </p:nvSpPr>
          <p:spPr>
            <a:xfrm>
              <a:off x="3152" y="3294"/>
              <a:ext cx="0" cy="318"/>
            </a:xfrm>
            <a:prstGeom prst="line">
              <a:avLst/>
            </a:prstGeom>
            <a:ln w="44450" cap="flat" cmpd="sng">
              <a:solidFill>
                <a:srgbClr val="FFCC99"/>
              </a:solidFill>
              <a:prstDash val="solid"/>
              <a:round/>
              <a:headEnd type="none" w="med" len="med"/>
              <a:tailEnd type="none" w="sm" len="lg"/>
            </a:ln>
          </p:spPr>
        </p:sp>
        <p:sp>
          <p:nvSpPr>
            <p:cNvPr id="44074" name="Line 45"/>
            <p:cNvSpPr/>
            <p:nvPr/>
          </p:nvSpPr>
          <p:spPr>
            <a:xfrm>
              <a:off x="2336" y="3612"/>
              <a:ext cx="816" cy="0"/>
            </a:xfrm>
            <a:prstGeom prst="line">
              <a:avLst/>
            </a:prstGeom>
            <a:ln w="44450" cap="flat" cmpd="sng">
              <a:solidFill>
                <a:srgbClr val="FFCC99"/>
              </a:solidFill>
              <a:prstDash val="solid"/>
              <a:round/>
              <a:headEnd type="none" w="med" len="med"/>
              <a:tailEnd type="none" w="sm" len="lg"/>
            </a:ln>
          </p:spPr>
        </p:sp>
        <p:sp>
          <p:nvSpPr>
            <p:cNvPr id="44075" name="Line 46"/>
            <p:cNvSpPr/>
            <p:nvPr/>
          </p:nvSpPr>
          <p:spPr>
            <a:xfrm>
              <a:off x="2290" y="2296"/>
              <a:ext cx="0" cy="318"/>
            </a:xfrm>
            <a:prstGeom prst="line">
              <a:avLst/>
            </a:prstGeom>
            <a:ln w="44450" cap="flat" cmpd="sng">
              <a:solidFill>
                <a:schemeClr val="bg1"/>
              </a:solidFill>
              <a:prstDash val="solid"/>
              <a:round/>
              <a:headEnd type="none" w="med" len="med"/>
              <a:tailEnd type="triangle" w="sm" len="lg"/>
            </a:ln>
          </p:spPr>
        </p:sp>
        <p:sp>
          <p:nvSpPr>
            <p:cNvPr id="44076" name="Rectangle 47"/>
            <p:cNvSpPr/>
            <p:nvPr/>
          </p:nvSpPr>
          <p:spPr>
            <a:xfrm>
              <a:off x="1887" y="2251"/>
              <a:ext cx="416" cy="288"/>
            </a:xfrm>
            <a:prstGeom prst="rect">
              <a:avLst/>
            </a:prstGeom>
            <a:noFill/>
            <a:ln w="44450">
              <a:noFill/>
            </a:ln>
          </p:spPr>
          <p:txBody>
            <a:bodyPr wrap="none" anchor="t">
              <a:spAutoFit/>
            </a:bodyPr>
            <a:p>
              <a:pPr>
                <a:spcBef>
                  <a:spcPct val="50000"/>
                </a:spcBef>
              </a:pPr>
              <a:r>
                <a:rPr lang="en-US" altLang="zh-CN" sz="2400" b="1" i="1" dirty="0">
                  <a:solidFill>
                    <a:schemeClr val="bg1"/>
                  </a:solidFill>
                  <a:latin typeface="Times New Roman" panose="02020603050405020304" pitchFamily="18" charset="0"/>
                  <a:ea typeface="幼圆" panose="02010509060101010101" pitchFamily="49" charset="-122"/>
                </a:rPr>
                <a:t>I</a:t>
              </a:r>
              <a:r>
                <a:rPr lang="en-US" altLang="zh-CN" sz="2000" b="1" baseline="-25000" dirty="0">
                  <a:solidFill>
                    <a:schemeClr val="bg1"/>
                  </a:solidFill>
                  <a:latin typeface="Times New Roman" panose="02020603050405020304" pitchFamily="18" charset="0"/>
                  <a:ea typeface="幼圆" panose="02010509060101010101" pitchFamily="49" charset="-122"/>
                </a:rPr>
                <a:t>CEO</a:t>
              </a:r>
              <a:endParaRPr lang="en-US" altLang="zh-CN" sz="2000" b="1" baseline="-25000" dirty="0">
                <a:solidFill>
                  <a:schemeClr val="bg1"/>
                </a:solidFill>
                <a:latin typeface="Times New Roman" panose="02020603050405020304" pitchFamily="18" charset="0"/>
                <a:ea typeface="幼圆" panose="02010509060101010101" pitchFamily="49" charset="-122"/>
              </a:endParaRPr>
            </a:p>
          </p:txBody>
        </p:sp>
        <p:sp>
          <p:nvSpPr>
            <p:cNvPr id="44077" name="Text Box 48"/>
            <p:cNvSpPr txBox="1"/>
            <p:nvPr/>
          </p:nvSpPr>
          <p:spPr>
            <a:xfrm>
              <a:off x="2336" y="2604"/>
              <a:ext cx="255" cy="288"/>
            </a:xfrm>
            <a:prstGeom prst="rect">
              <a:avLst/>
            </a:prstGeom>
            <a:noFill/>
            <a:ln w="44450">
              <a:noFill/>
            </a:ln>
          </p:spPr>
          <p:txBody>
            <a:bodyPr wrap="none" anchor="t">
              <a:spAutoFit/>
            </a:bodyPr>
            <a:p>
              <a:pPr eaLnBrk="0" hangingPunct="0"/>
              <a:r>
                <a:rPr lang="en-US" altLang="zh-CN" sz="2400" b="1" dirty="0">
                  <a:solidFill>
                    <a:srgbClr val="FFFF66"/>
                  </a:solidFill>
                  <a:latin typeface="Times New Roman" panose="02020603050405020304" pitchFamily="18" charset="0"/>
                  <a:ea typeface="幼圆" panose="02010509060101010101" pitchFamily="49" charset="-122"/>
                </a:rPr>
                <a:t>C</a:t>
              </a:r>
              <a:endParaRPr lang="en-US" altLang="zh-CN" sz="2400" b="1" dirty="0">
                <a:solidFill>
                  <a:srgbClr val="FFFF66"/>
                </a:solidFill>
                <a:latin typeface="Times New Roman" panose="02020603050405020304" pitchFamily="18" charset="0"/>
                <a:ea typeface="幼圆" panose="02010509060101010101" pitchFamily="49" charset="-122"/>
              </a:endParaRPr>
            </a:p>
          </p:txBody>
        </p:sp>
        <p:sp>
          <p:nvSpPr>
            <p:cNvPr id="44078" name="Rectangle 49"/>
            <p:cNvSpPr/>
            <p:nvPr/>
          </p:nvSpPr>
          <p:spPr>
            <a:xfrm>
              <a:off x="1791" y="2688"/>
              <a:ext cx="244" cy="288"/>
            </a:xfrm>
            <a:prstGeom prst="rect">
              <a:avLst/>
            </a:prstGeom>
            <a:noFill/>
            <a:ln w="44450">
              <a:noFill/>
            </a:ln>
          </p:spPr>
          <p:txBody>
            <a:bodyPr wrap="none" anchor="t">
              <a:spAutoFit/>
            </a:bodyPr>
            <a:p>
              <a:pPr eaLnBrk="0" hangingPunct="0"/>
              <a:r>
                <a:rPr lang="en-US" altLang="zh-CN" sz="2400" b="1" dirty="0">
                  <a:solidFill>
                    <a:srgbClr val="FFFF99"/>
                  </a:solidFill>
                  <a:latin typeface="Times New Roman" panose="02020603050405020304" pitchFamily="18" charset="0"/>
                  <a:ea typeface="幼圆" panose="02010509060101010101" pitchFamily="49" charset="-122"/>
                </a:rPr>
                <a:t>B</a:t>
              </a:r>
              <a:endParaRPr lang="en-US" altLang="zh-CN" sz="2400" b="1" dirty="0">
                <a:solidFill>
                  <a:srgbClr val="FFFF99"/>
                </a:solidFill>
                <a:latin typeface="Times New Roman" panose="02020603050405020304" pitchFamily="18" charset="0"/>
                <a:ea typeface="幼圆" panose="02010509060101010101" pitchFamily="49" charset="-122"/>
              </a:endParaRPr>
            </a:p>
          </p:txBody>
        </p:sp>
        <p:sp>
          <p:nvSpPr>
            <p:cNvPr id="44079" name="Rectangle 50"/>
            <p:cNvSpPr/>
            <p:nvPr/>
          </p:nvSpPr>
          <p:spPr>
            <a:xfrm>
              <a:off x="2336" y="3051"/>
              <a:ext cx="244" cy="288"/>
            </a:xfrm>
            <a:prstGeom prst="rect">
              <a:avLst/>
            </a:prstGeom>
            <a:noFill/>
            <a:ln w="44450">
              <a:noFill/>
            </a:ln>
          </p:spPr>
          <p:txBody>
            <a:bodyPr wrap="none" anchor="t">
              <a:spAutoFit/>
            </a:bodyPr>
            <a:p>
              <a:pPr eaLnBrk="0" hangingPunct="0"/>
              <a:r>
                <a:rPr lang="en-US" altLang="zh-CN" sz="2400" b="1" dirty="0">
                  <a:solidFill>
                    <a:srgbClr val="FFFF66"/>
                  </a:solidFill>
                  <a:latin typeface="Times New Roman" panose="02020603050405020304" pitchFamily="18" charset="0"/>
                  <a:ea typeface="幼圆" panose="02010509060101010101" pitchFamily="49" charset="-122"/>
                </a:rPr>
                <a:t>E</a:t>
              </a:r>
              <a:endParaRPr lang="en-US" altLang="zh-CN" sz="2400" b="1" dirty="0">
                <a:solidFill>
                  <a:srgbClr val="FFFF66"/>
                </a:solidFill>
                <a:latin typeface="Times New Roman" panose="02020603050405020304" pitchFamily="18" charset="0"/>
                <a:ea typeface="幼圆" panose="02010509060101010101" pitchFamily="49" charset="-122"/>
              </a:endParaRPr>
            </a:p>
          </p:txBody>
        </p:sp>
        <p:sp>
          <p:nvSpPr>
            <p:cNvPr id="44080" name="Oval 51"/>
            <p:cNvSpPr/>
            <p:nvPr/>
          </p:nvSpPr>
          <p:spPr>
            <a:xfrm>
              <a:off x="1791" y="2953"/>
              <a:ext cx="46" cy="46"/>
            </a:xfrm>
            <a:prstGeom prst="ellipse">
              <a:avLst/>
            </a:prstGeom>
            <a:noFill/>
            <a:ln w="38100" cap="flat" cmpd="sng">
              <a:solidFill>
                <a:srgbClr val="FFCC99"/>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grpSp>
          <p:nvGrpSpPr>
            <p:cNvPr id="44081" name="Group 52"/>
            <p:cNvGrpSpPr/>
            <p:nvPr/>
          </p:nvGrpSpPr>
          <p:grpSpPr>
            <a:xfrm>
              <a:off x="3016" y="2523"/>
              <a:ext cx="324" cy="277"/>
              <a:chOff x="3010" y="2568"/>
              <a:chExt cx="324" cy="277"/>
            </a:xfrm>
          </p:grpSpPr>
          <p:sp>
            <p:nvSpPr>
              <p:cNvPr id="44082" name="Oval 53"/>
              <p:cNvSpPr/>
              <p:nvPr/>
            </p:nvSpPr>
            <p:spPr>
              <a:xfrm rot="5400000">
                <a:off x="3018" y="2559"/>
                <a:ext cx="277" cy="288"/>
              </a:xfrm>
              <a:prstGeom prst="ellipse">
                <a:avLst/>
              </a:prstGeom>
              <a:gradFill rotWithShape="1">
                <a:gsLst>
                  <a:gs pos="0">
                    <a:srgbClr val="2F765E"/>
                  </a:gs>
                  <a:gs pos="50000">
                    <a:srgbClr val="66FFCC"/>
                  </a:gs>
                  <a:gs pos="100000">
                    <a:srgbClr val="2F765E"/>
                  </a:gs>
                </a:gsLst>
                <a:lin ang="18900000" scaled="1"/>
                <a:tileRect/>
              </a:gradFill>
              <a:ln w="38100" cap="flat" cmpd="sng">
                <a:solidFill>
                  <a:srgbClr val="FFD3A7"/>
                </a:solidFill>
                <a:prstDash val="solid"/>
                <a:round/>
                <a:headEnd type="none" w="med" len="med"/>
                <a:tailEnd type="none" w="med" len="med"/>
              </a:ln>
            </p:spPr>
            <p:txBody>
              <a:bodyPr rot="10800000" vert="eaVert" wrap="none" anchor="ctr"/>
              <a:p>
                <a:pPr algn="ctr" eaLnBrk="0" hangingPunct="0"/>
                <a:endParaRPr lang="zh-CN" altLang="zh-CN" sz="4000" b="1" dirty="0">
                  <a:solidFill>
                    <a:srgbClr val="000000"/>
                  </a:solidFill>
                  <a:latin typeface="Times New Roman" panose="02020603050405020304" pitchFamily="18" charset="0"/>
                  <a:ea typeface="幼圆" panose="02010509060101010101" pitchFamily="49" charset="-122"/>
                </a:endParaRPr>
              </a:p>
            </p:txBody>
          </p:sp>
          <p:sp>
            <p:nvSpPr>
              <p:cNvPr id="44083" name="Rectangle 54"/>
              <p:cNvSpPr/>
              <p:nvPr/>
            </p:nvSpPr>
            <p:spPr>
              <a:xfrm>
                <a:off x="3010" y="2568"/>
                <a:ext cx="324" cy="250"/>
              </a:xfrm>
              <a:prstGeom prst="rect">
                <a:avLst/>
              </a:prstGeom>
              <a:noFill/>
              <a:ln w="44450">
                <a:noFill/>
              </a:ln>
            </p:spPr>
            <p:txBody>
              <a:bodyPr wrap="none" anchor="t">
                <a:spAutoFit/>
              </a:bodyPr>
              <a:p>
                <a:pPr eaLnBrk="0" hangingPunct="0"/>
                <a:r>
                  <a:rPr lang="en-US" altLang="zh-CN" sz="2000" b="1" dirty="0">
                    <a:solidFill>
                      <a:srgbClr val="FF6600"/>
                    </a:solidFill>
                    <a:latin typeface="Times New Roman" panose="02020603050405020304" pitchFamily="18" charset="0"/>
                    <a:ea typeface="宋体" panose="02010600030101010101" pitchFamily="2" charset="-122"/>
                  </a:rPr>
                  <a:t>µA</a:t>
                </a:r>
                <a:endParaRPr lang="en-US" altLang="zh-CN" sz="2000" b="1" dirty="0">
                  <a:solidFill>
                    <a:srgbClr val="FF6600"/>
                  </a:solidFill>
                  <a:latin typeface="Times New Roman" panose="02020603050405020304" pitchFamily="18" charset="0"/>
                  <a:ea typeface="宋体" panose="02010600030101010101" pitchFamily="2" charset="-122"/>
                </a:endParaRPr>
              </a:p>
            </p:txBody>
          </p:sp>
        </p:grpSp>
      </p:grpSp>
      <p:grpSp>
        <p:nvGrpSpPr>
          <p:cNvPr id="19511" name="Group 55"/>
          <p:cNvGrpSpPr/>
          <p:nvPr/>
        </p:nvGrpSpPr>
        <p:grpSpPr>
          <a:xfrm>
            <a:off x="5867400" y="765175"/>
            <a:ext cx="2879725" cy="2159000"/>
            <a:chOff x="3742" y="482"/>
            <a:chExt cx="1814" cy="1360"/>
          </a:xfrm>
        </p:grpSpPr>
        <p:grpSp>
          <p:nvGrpSpPr>
            <p:cNvPr id="44085" name="Group 56"/>
            <p:cNvGrpSpPr/>
            <p:nvPr/>
          </p:nvGrpSpPr>
          <p:grpSpPr>
            <a:xfrm>
              <a:off x="4241" y="1072"/>
              <a:ext cx="499" cy="363"/>
              <a:chOff x="4363" y="2777"/>
              <a:chExt cx="580" cy="465"/>
            </a:xfrm>
          </p:grpSpPr>
          <p:sp>
            <p:nvSpPr>
              <p:cNvPr id="44086" name="Line 57"/>
              <p:cNvSpPr/>
              <p:nvPr/>
            </p:nvSpPr>
            <p:spPr>
              <a:xfrm>
                <a:off x="4363" y="3015"/>
                <a:ext cx="336" cy="0"/>
              </a:xfrm>
              <a:prstGeom prst="line">
                <a:avLst/>
              </a:prstGeom>
              <a:ln w="44450" cap="flat" cmpd="sng">
                <a:solidFill>
                  <a:srgbClr val="FFCC99"/>
                </a:solidFill>
                <a:prstDash val="solid"/>
                <a:round/>
                <a:headEnd type="none" w="med" len="med"/>
                <a:tailEnd type="none" w="med" len="med"/>
              </a:ln>
            </p:spPr>
          </p:sp>
          <p:sp>
            <p:nvSpPr>
              <p:cNvPr id="44087" name="Line 58"/>
              <p:cNvSpPr/>
              <p:nvPr/>
            </p:nvSpPr>
            <p:spPr>
              <a:xfrm>
                <a:off x="4701" y="2822"/>
                <a:ext cx="0" cy="385"/>
              </a:xfrm>
              <a:prstGeom prst="line">
                <a:avLst/>
              </a:prstGeom>
              <a:ln w="44450" cap="flat" cmpd="sng">
                <a:solidFill>
                  <a:srgbClr val="FFCC99"/>
                </a:solidFill>
                <a:prstDash val="solid"/>
                <a:round/>
                <a:headEnd type="none" w="med" len="med"/>
                <a:tailEnd type="none" w="med" len="med"/>
              </a:ln>
            </p:spPr>
          </p:sp>
          <p:sp>
            <p:nvSpPr>
              <p:cNvPr id="44088" name="Line 59"/>
              <p:cNvSpPr/>
              <p:nvPr/>
            </p:nvSpPr>
            <p:spPr>
              <a:xfrm flipV="1">
                <a:off x="4701" y="2777"/>
                <a:ext cx="224" cy="163"/>
              </a:xfrm>
              <a:prstGeom prst="line">
                <a:avLst/>
              </a:prstGeom>
              <a:ln w="41275" cap="flat" cmpd="sng">
                <a:solidFill>
                  <a:srgbClr val="FFCC99"/>
                </a:solidFill>
                <a:prstDash val="solid"/>
                <a:round/>
                <a:headEnd type="none" w="med" len="med"/>
                <a:tailEnd type="none" w="med" len="med"/>
              </a:ln>
            </p:spPr>
          </p:sp>
          <p:sp>
            <p:nvSpPr>
              <p:cNvPr id="44089" name="Line 60"/>
              <p:cNvSpPr/>
              <p:nvPr/>
            </p:nvSpPr>
            <p:spPr>
              <a:xfrm>
                <a:off x="4719" y="3083"/>
                <a:ext cx="224" cy="159"/>
              </a:xfrm>
              <a:prstGeom prst="line">
                <a:avLst/>
              </a:prstGeom>
              <a:ln w="44450" cap="flat" cmpd="sng">
                <a:solidFill>
                  <a:srgbClr val="FFCC99"/>
                </a:solidFill>
                <a:prstDash val="solid"/>
                <a:round/>
                <a:headEnd type="none" w="med" len="med"/>
                <a:tailEnd type="triangle" w="sm" len="lg"/>
              </a:ln>
            </p:spPr>
          </p:sp>
        </p:grpSp>
        <p:sp>
          <p:nvSpPr>
            <p:cNvPr id="44090" name="Line 61"/>
            <p:cNvSpPr/>
            <p:nvPr/>
          </p:nvSpPr>
          <p:spPr>
            <a:xfrm>
              <a:off x="4739" y="482"/>
              <a:ext cx="0" cy="589"/>
            </a:xfrm>
            <a:prstGeom prst="line">
              <a:avLst/>
            </a:prstGeom>
            <a:ln w="44450" cap="flat" cmpd="sng">
              <a:solidFill>
                <a:srgbClr val="FFCC99"/>
              </a:solidFill>
              <a:prstDash val="solid"/>
              <a:round/>
              <a:headEnd type="none" w="med" len="med"/>
              <a:tailEnd type="none" w="sm" len="lg"/>
            </a:ln>
          </p:spPr>
        </p:sp>
        <p:sp>
          <p:nvSpPr>
            <p:cNvPr id="44091" name="Line 62"/>
            <p:cNvSpPr/>
            <p:nvPr/>
          </p:nvSpPr>
          <p:spPr>
            <a:xfrm>
              <a:off x="4739" y="1434"/>
              <a:ext cx="1" cy="227"/>
            </a:xfrm>
            <a:prstGeom prst="line">
              <a:avLst/>
            </a:prstGeom>
            <a:ln w="44450" cap="flat" cmpd="sng">
              <a:solidFill>
                <a:srgbClr val="FFCC99"/>
              </a:solidFill>
              <a:prstDash val="solid"/>
              <a:round/>
              <a:headEnd type="none" w="med" len="med"/>
              <a:tailEnd type="none" w="sm" len="lg"/>
            </a:ln>
          </p:spPr>
        </p:sp>
        <p:grpSp>
          <p:nvGrpSpPr>
            <p:cNvPr id="44092" name="Group 63"/>
            <p:cNvGrpSpPr/>
            <p:nvPr/>
          </p:nvGrpSpPr>
          <p:grpSpPr>
            <a:xfrm>
              <a:off x="3969" y="1117"/>
              <a:ext cx="324" cy="277"/>
              <a:chOff x="3010" y="2568"/>
              <a:chExt cx="324" cy="277"/>
            </a:xfrm>
          </p:grpSpPr>
          <p:sp>
            <p:nvSpPr>
              <p:cNvPr id="44093" name="Oval 64"/>
              <p:cNvSpPr/>
              <p:nvPr/>
            </p:nvSpPr>
            <p:spPr>
              <a:xfrm rot="5400000">
                <a:off x="3018" y="2559"/>
                <a:ext cx="277" cy="288"/>
              </a:xfrm>
              <a:prstGeom prst="ellipse">
                <a:avLst/>
              </a:prstGeom>
              <a:gradFill rotWithShape="1">
                <a:gsLst>
                  <a:gs pos="0">
                    <a:srgbClr val="2F765E"/>
                  </a:gs>
                  <a:gs pos="50000">
                    <a:srgbClr val="66FFCC"/>
                  </a:gs>
                  <a:gs pos="100000">
                    <a:srgbClr val="2F765E"/>
                  </a:gs>
                </a:gsLst>
                <a:lin ang="18900000" scaled="1"/>
                <a:tileRect/>
              </a:gradFill>
              <a:ln w="38100" cap="flat" cmpd="sng">
                <a:solidFill>
                  <a:srgbClr val="FFD3A7"/>
                </a:solidFill>
                <a:prstDash val="solid"/>
                <a:round/>
                <a:headEnd type="none" w="med" len="med"/>
                <a:tailEnd type="none" w="med" len="med"/>
              </a:ln>
            </p:spPr>
            <p:txBody>
              <a:bodyPr rot="10800000" vert="eaVert" wrap="none" anchor="ctr"/>
              <a:p>
                <a:pPr algn="ctr" eaLnBrk="0" hangingPunct="0"/>
                <a:endParaRPr lang="zh-CN" altLang="zh-CN" sz="4000" b="1" dirty="0">
                  <a:solidFill>
                    <a:srgbClr val="000000"/>
                  </a:solidFill>
                  <a:latin typeface="Times New Roman" panose="02020603050405020304" pitchFamily="18" charset="0"/>
                  <a:ea typeface="幼圆" panose="02010509060101010101" pitchFamily="49" charset="-122"/>
                </a:endParaRPr>
              </a:p>
            </p:txBody>
          </p:sp>
          <p:sp>
            <p:nvSpPr>
              <p:cNvPr id="44094" name="Rectangle 65"/>
              <p:cNvSpPr/>
              <p:nvPr/>
            </p:nvSpPr>
            <p:spPr>
              <a:xfrm>
                <a:off x="3010" y="2568"/>
                <a:ext cx="324" cy="250"/>
              </a:xfrm>
              <a:prstGeom prst="rect">
                <a:avLst/>
              </a:prstGeom>
              <a:noFill/>
              <a:ln w="44450">
                <a:noFill/>
              </a:ln>
            </p:spPr>
            <p:txBody>
              <a:bodyPr wrap="none" anchor="t">
                <a:spAutoFit/>
              </a:bodyPr>
              <a:p>
                <a:pPr eaLnBrk="0" hangingPunct="0"/>
                <a:r>
                  <a:rPr lang="en-US" altLang="zh-CN" sz="2000" b="1" dirty="0">
                    <a:solidFill>
                      <a:srgbClr val="FF6600"/>
                    </a:solidFill>
                    <a:latin typeface="Times New Roman" panose="02020603050405020304" pitchFamily="18" charset="0"/>
                    <a:ea typeface="宋体" panose="02010600030101010101" pitchFamily="2" charset="-122"/>
                  </a:rPr>
                  <a:t>µA</a:t>
                </a:r>
                <a:endParaRPr lang="en-US" altLang="zh-CN" sz="2000" b="1" dirty="0">
                  <a:solidFill>
                    <a:srgbClr val="FF6600"/>
                  </a:solidFill>
                  <a:latin typeface="Times New Roman" panose="02020603050405020304" pitchFamily="18" charset="0"/>
                  <a:ea typeface="宋体" panose="02010600030101010101" pitchFamily="2" charset="-122"/>
                </a:endParaRPr>
              </a:p>
            </p:txBody>
          </p:sp>
        </p:grpSp>
        <p:sp>
          <p:nvSpPr>
            <p:cNvPr id="44095" name="Rectangle 66"/>
            <p:cNvSpPr/>
            <p:nvPr/>
          </p:nvSpPr>
          <p:spPr>
            <a:xfrm>
              <a:off x="4150" y="618"/>
              <a:ext cx="468" cy="288"/>
            </a:xfrm>
            <a:prstGeom prst="rect">
              <a:avLst/>
            </a:prstGeom>
            <a:noFill/>
            <a:ln w="44450">
              <a:noFill/>
            </a:ln>
          </p:spPr>
          <p:txBody>
            <a:bodyPr wrap="none" anchor="t">
              <a:spAutoFit/>
            </a:bodyPr>
            <a:p>
              <a:pPr>
                <a:spcBef>
                  <a:spcPct val="50000"/>
                </a:spcBef>
              </a:pPr>
              <a:r>
                <a:rPr lang="en-US" altLang="zh-CN" sz="2400" b="1" i="1" dirty="0">
                  <a:solidFill>
                    <a:schemeClr val="bg1"/>
                  </a:solidFill>
                  <a:latin typeface="Times New Roman" panose="02020603050405020304" pitchFamily="18" charset="0"/>
                  <a:ea typeface="幼圆" panose="02010509060101010101" pitchFamily="49" charset="-122"/>
                </a:rPr>
                <a:t>I</a:t>
              </a:r>
              <a:r>
                <a:rPr lang="en-US" altLang="zh-CN" sz="2400" b="1" baseline="-25000" dirty="0">
                  <a:solidFill>
                    <a:schemeClr val="bg1"/>
                  </a:solidFill>
                  <a:latin typeface="Times New Roman" panose="02020603050405020304" pitchFamily="18" charset="0"/>
                  <a:ea typeface="幼圆" panose="02010509060101010101" pitchFamily="49" charset="-122"/>
                </a:rPr>
                <a:t>CBO</a:t>
              </a:r>
              <a:endParaRPr lang="en-US" altLang="zh-CN" sz="2400" b="1" baseline="-25000" dirty="0">
                <a:solidFill>
                  <a:schemeClr val="bg1"/>
                </a:solidFill>
                <a:latin typeface="Times New Roman" panose="02020603050405020304" pitchFamily="18" charset="0"/>
                <a:ea typeface="幼圆" panose="02010509060101010101" pitchFamily="49" charset="-122"/>
              </a:endParaRPr>
            </a:p>
          </p:txBody>
        </p:sp>
        <p:sp>
          <p:nvSpPr>
            <p:cNvPr id="44096" name="Text Box 67"/>
            <p:cNvSpPr txBox="1"/>
            <p:nvPr/>
          </p:nvSpPr>
          <p:spPr>
            <a:xfrm>
              <a:off x="4785" y="890"/>
              <a:ext cx="255" cy="288"/>
            </a:xfrm>
            <a:prstGeom prst="rect">
              <a:avLst/>
            </a:prstGeom>
            <a:noFill/>
            <a:ln w="44450">
              <a:noFill/>
            </a:ln>
          </p:spPr>
          <p:txBody>
            <a:bodyPr wrap="none" anchor="t">
              <a:spAutoFit/>
            </a:bodyPr>
            <a:p>
              <a:pPr eaLnBrk="0" hangingPunct="0"/>
              <a:r>
                <a:rPr lang="en-US" altLang="zh-CN" sz="2400" b="1" dirty="0">
                  <a:solidFill>
                    <a:srgbClr val="FFFF66"/>
                  </a:solidFill>
                  <a:latin typeface="Times New Roman" panose="02020603050405020304" pitchFamily="18" charset="0"/>
                  <a:ea typeface="幼圆" panose="02010509060101010101" pitchFamily="49" charset="-122"/>
                </a:rPr>
                <a:t>C</a:t>
              </a:r>
              <a:endParaRPr lang="en-US" altLang="zh-CN" sz="2400" b="1" dirty="0">
                <a:solidFill>
                  <a:srgbClr val="FFFF66"/>
                </a:solidFill>
                <a:latin typeface="Times New Roman" panose="02020603050405020304" pitchFamily="18" charset="0"/>
                <a:ea typeface="幼圆" panose="02010509060101010101" pitchFamily="49" charset="-122"/>
              </a:endParaRPr>
            </a:p>
          </p:txBody>
        </p:sp>
        <p:sp>
          <p:nvSpPr>
            <p:cNvPr id="44097" name="Rectangle 68"/>
            <p:cNvSpPr/>
            <p:nvPr/>
          </p:nvSpPr>
          <p:spPr>
            <a:xfrm>
              <a:off x="4785" y="1298"/>
              <a:ext cx="244" cy="288"/>
            </a:xfrm>
            <a:prstGeom prst="rect">
              <a:avLst/>
            </a:prstGeom>
            <a:noFill/>
            <a:ln w="44450">
              <a:noFill/>
            </a:ln>
          </p:spPr>
          <p:txBody>
            <a:bodyPr wrap="none" anchor="t">
              <a:spAutoFit/>
            </a:bodyPr>
            <a:p>
              <a:pPr eaLnBrk="0" hangingPunct="0"/>
              <a:r>
                <a:rPr lang="en-US" altLang="zh-CN" sz="2400" b="1" dirty="0">
                  <a:solidFill>
                    <a:srgbClr val="FFFF66"/>
                  </a:solidFill>
                  <a:latin typeface="Times New Roman" panose="02020603050405020304" pitchFamily="18" charset="0"/>
                  <a:ea typeface="幼圆" panose="02010509060101010101" pitchFamily="49" charset="-122"/>
                </a:rPr>
                <a:t>E</a:t>
              </a:r>
              <a:endParaRPr lang="en-US" altLang="zh-CN" sz="2400" b="1" dirty="0">
                <a:solidFill>
                  <a:srgbClr val="FFFF66"/>
                </a:solidFill>
                <a:latin typeface="Times New Roman" panose="02020603050405020304" pitchFamily="18" charset="0"/>
                <a:ea typeface="幼圆" panose="02010509060101010101" pitchFamily="49" charset="-122"/>
              </a:endParaRPr>
            </a:p>
          </p:txBody>
        </p:sp>
        <p:sp>
          <p:nvSpPr>
            <p:cNvPr id="44098" name="Rectangle 69"/>
            <p:cNvSpPr/>
            <p:nvPr/>
          </p:nvSpPr>
          <p:spPr>
            <a:xfrm>
              <a:off x="4241" y="1010"/>
              <a:ext cx="244" cy="288"/>
            </a:xfrm>
            <a:prstGeom prst="rect">
              <a:avLst/>
            </a:prstGeom>
            <a:noFill/>
            <a:ln w="44450">
              <a:noFill/>
            </a:ln>
          </p:spPr>
          <p:txBody>
            <a:bodyPr wrap="none" anchor="t">
              <a:spAutoFit/>
            </a:bodyPr>
            <a:p>
              <a:pPr eaLnBrk="0" hangingPunct="0"/>
              <a:r>
                <a:rPr lang="en-US" altLang="zh-CN" sz="2400" b="1" dirty="0">
                  <a:solidFill>
                    <a:srgbClr val="FFFF99"/>
                  </a:solidFill>
                  <a:latin typeface="Times New Roman" panose="02020603050405020304" pitchFamily="18" charset="0"/>
                  <a:ea typeface="幼圆" panose="02010509060101010101" pitchFamily="49" charset="-122"/>
                </a:rPr>
                <a:t>B</a:t>
              </a:r>
              <a:endParaRPr lang="en-US" altLang="zh-CN" sz="2400" b="1" dirty="0">
                <a:solidFill>
                  <a:srgbClr val="FFFF99"/>
                </a:solidFill>
                <a:latin typeface="Times New Roman" panose="02020603050405020304" pitchFamily="18" charset="0"/>
                <a:ea typeface="幼圆" panose="02010509060101010101" pitchFamily="49" charset="-122"/>
              </a:endParaRPr>
            </a:p>
          </p:txBody>
        </p:sp>
        <p:sp>
          <p:nvSpPr>
            <p:cNvPr id="44099" name="Line 70"/>
            <p:cNvSpPr/>
            <p:nvPr/>
          </p:nvSpPr>
          <p:spPr>
            <a:xfrm>
              <a:off x="3742" y="1253"/>
              <a:ext cx="227" cy="0"/>
            </a:xfrm>
            <a:prstGeom prst="line">
              <a:avLst/>
            </a:prstGeom>
            <a:ln w="44450" cap="flat" cmpd="sng">
              <a:solidFill>
                <a:srgbClr val="FFCC99"/>
              </a:solidFill>
              <a:prstDash val="solid"/>
              <a:round/>
              <a:headEnd type="none" w="med" len="med"/>
              <a:tailEnd type="none" w="sm" len="lg"/>
            </a:ln>
          </p:spPr>
        </p:sp>
        <p:sp>
          <p:nvSpPr>
            <p:cNvPr id="44100" name="Line 71"/>
            <p:cNvSpPr/>
            <p:nvPr/>
          </p:nvSpPr>
          <p:spPr>
            <a:xfrm>
              <a:off x="3742" y="1253"/>
              <a:ext cx="0" cy="589"/>
            </a:xfrm>
            <a:prstGeom prst="line">
              <a:avLst/>
            </a:prstGeom>
            <a:ln w="44450" cap="flat" cmpd="sng">
              <a:solidFill>
                <a:srgbClr val="FFCC99"/>
              </a:solidFill>
              <a:prstDash val="solid"/>
              <a:round/>
              <a:headEnd type="none" w="med" len="med"/>
              <a:tailEnd type="none" w="sm" len="lg"/>
            </a:ln>
          </p:spPr>
        </p:sp>
        <p:sp>
          <p:nvSpPr>
            <p:cNvPr id="44101" name="Line 72"/>
            <p:cNvSpPr/>
            <p:nvPr/>
          </p:nvSpPr>
          <p:spPr>
            <a:xfrm>
              <a:off x="3742" y="1842"/>
              <a:ext cx="1678" cy="0"/>
            </a:xfrm>
            <a:prstGeom prst="line">
              <a:avLst/>
            </a:prstGeom>
            <a:ln w="44450" cap="flat" cmpd="sng">
              <a:solidFill>
                <a:srgbClr val="FFCC99"/>
              </a:solidFill>
              <a:prstDash val="solid"/>
              <a:round/>
              <a:headEnd type="none" w="med" len="med"/>
              <a:tailEnd type="none" w="sm" len="lg"/>
            </a:ln>
          </p:spPr>
        </p:sp>
        <p:sp>
          <p:nvSpPr>
            <p:cNvPr id="44102" name="Line 73"/>
            <p:cNvSpPr/>
            <p:nvPr/>
          </p:nvSpPr>
          <p:spPr>
            <a:xfrm>
              <a:off x="4740" y="482"/>
              <a:ext cx="680" cy="0"/>
            </a:xfrm>
            <a:prstGeom prst="line">
              <a:avLst/>
            </a:prstGeom>
            <a:ln w="44450" cap="flat" cmpd="sng">
              <a:solidFill>
                <a:srgbClr val="FFCC99"/>
              </a:solidFill>
              <a:prstDash val="solid"/>
              <a:round/>
              <a:headEnd type="none" w="med" len="med"/>
              <a:tailEnd type="none" w="sm" len="lg"/>
            </a:ln>
          </p:spPr>
        </p:sp>
        <p:grpSp>
          <p:nvGrpSpPr>
            <p:cNvPr id="44103" name="Group 74"/>
            <p:cNvGrpSpPr/>
            <p:nvPr/>
          </p:nvGrpSpPr>
          <p:grpSpPr>
            <a:xfrm>
              <a:off x="5284" y="482"/>
              <a:ext cx="272" cy="1360"/>
              <a:chOff x="5375" y="482"/>
              <a:chExt cx="272" cy="1360"/>
            </a:xfrm>
          </p:grpSpPr>
          <p:sp>
            <p:nvSpPr>
              <p:cNvPr id="44104" name="Line 75"/>
              <p:cNvSpPr/>
              <p:nvPr/>
            </p:nvSpPr>
            <p:spPr>
              <a:xfrm>
                <a:off x="5511" y="482"/>
                <a:ext cx="0" cy="589"/>
              </a:xfrm>
              <a:prstGeom prst="line">
                <a:avLst/>
              </a:prstGeom>
              <a:ln w="44450" cap="flat" cmpd="sng">
                <a:solidFill>
                  <a:srgbClr val="FFCC99"/>
                </a:solidFill>
                <a:prstDash val="solid"/>
                <a:round/>
                <a:headEnd type="none" w="med" len="med"/>
                <a:tailEnd type="none" w="sm" len="lg"/>
              </a:ln>
            </p:spPr>
          </p:sp>
          <p:grpSp>
            <p:nvGrpSpPr>
              <p:cNvPr id="44105" name="Group 76"/>
              <p:cNvGrpSpPr/>
              <p:nvPr/>
            </p:nvGrpSpPr>
            <p:grpSpPr>
              <a:xfrm>
                <a:off x="5375" y="1071"/>
                <a:ext cx="272" cy="136"/>
                <a:chOff x="3016" y="3158"/>
                <a:chExt cx="272" cy="136"/>
              </a:xfrm>
            </p:grpSpPr>
            <p:sp>
              <p:nvSpPr>
                <p:cNvPr id="44106" name="Line 77"/>
                <p:cNvSpPr/>
                <p:nvPr/>
              </p:nvSpPr>
              <p:spPr>
                <a:xfrm>
                  <a:off x="3016" y="3158"/>
                  <a:ext cx="272" cy="0"/>
                </a:xfrm>
                <a:prstGeom prst="line">
                  <a:avLst/>
                </a:prstGeom>
                <a:ln w="44450" cap="flat" cmpd="sng">
                  <a:solidFill>
                    <a:srgbClr val="FFCC99"/>
                  </a:solidFill>
                  <a:prstDash val="solid"/>
                  <a:round/>
                  <a:headEnd type="none" w="med" len="med"/>
                  <a:tailEnd type="none" w="sm" len="lg"/>
                </a:ln>
              </p:spPr>
            </p:sp>
            <p:sp>
              <p:nvSpPr>
                <p:cNvPr id="44107" name="Line 78"/>
                <p:cNvSpPr/>
                <p:nvPr/>
              </p:nvSpPr>
              <p:spPr>
                <a:xfrm>
                  <a:off x="3083" y="3203"/>
                  <a:ext cx="136" cy="0"/>
                </a:xfrm>
                <a:prstGeom prst="line">
                  <a:avLst/>
                </a:prstGeom>
                <a:ln w="44450" cap="flat" cmpd="sng">
                  <a:solidFill>
                    <a:srgbClr val="FFCC99"/>
                  </a:solidFill>
                  <a:prstDash val="solid"/>
                  <a:round/>
                  <a:headEnd type="none" w="med" len="med"/>
                  <a:tailEnd type="none" w="sm" len="lg"/>
                </a:ln>
              </p:spPr>
            </p:sp>
            <p:sp>
              <p:nvSpPr>
                <p:cNvPr id="44108" name="Line 79"/>
                <p:cNvSpPr/>
                <p:nvPr/>
              </p:nvSpPr>
              <p:spPr>
                <a:xfrm>
                  <a:off x="3016" y="3249"/>
                  <a:ext cx="272" cy="0"/>
                </a:xfrm>
                <a:prstGeom prst="line">
                  <a:avLst/>
                </a:prstGeom>
                <a:ln w="44450" cap="flat" cmpd="sng">
                  <a:solidFill>
                    <a:srgbClr val="FFCC99"/>
                  </a:solidFill>
                  <a:prstDash val="solid"/>
                  <a:round/>
                  <a:headEnd type="none" w="med" len="med"/>
                  <a:tailEnd type="none" w="sm" len="lg"/>
                </a:ln>
              </p:spPr>
            </p:sp>
            <p:sp>
              <p:nvSpPr>
                <p:cNvPr id="44109" name="Line 80"/>
                <p:cNvSpPr/>
                <p:nvPr/>
              </p:nvSpPr>
              <p:spPr>
                <a:xfrm>
                  <a:off x="3083" y="3294"/>
                  <a:ext cx="136" cy="0"/>
                </a:xfrm>
                <a:prstGeom prst="line">
                  <a:avLst/>
                </a:prstGeom>
                <a:ln w="44450" cap="flat" cmpd="sng">
                  <a:solidFill>
                    <a:srgbClr val="FFCC99"/>
                  </a:solidFill>
                  <a:prstDash val="solid"/>
                  <a:round/>
                  <a:headEnd type="none" w="med" len="med"/>
                  <a:tailEnd type="none" w="sm" len="lg"/>
                </a:ln>
              </p:spPr>
            </p:sp>
          </p:grpSp>
          <p:sp>
            <p:nvSpPr>
              <p:cNvPr id="44110" name="Line 81"/>
              <p:cNvSpPr/>
              <p:nvPr/>
            </p:nvSpPr>
            <p:spPr>
              <a:xfrm>
                <a:off x="5511" y="1207"/>
                <a:ext cx="0" cy="635"/>
              </a:xfrm>
              <a:prstGeom prst="line">
                <a:avLst/>
              </a:prstGeom>
              <a:ln w="44450" cap="flat" cmpd="sng">
                <a:solidFill>
                  <a:srgbClr val="FFCC99"/>
                </a:solidFill>
                <a:prstDash val="solid"/>
                <a:round/>
                <a:headEnd type="none" w="med" len="med"/>
                <a:tailEnd type="none" w="sm" len="lg"/>
              </a:ln>
            </p:spPr>
          </p:sp>
        </p:grpSp>
        <p:sp>
          <p:nvSpPr>
            <p:cNvPr id="44111" name="Oval 82"/>
            <p:cNvSpPr/>
            <p:nvPr/>
          </p:nvSpPr>
          <p:spPr>
            <a:xfrm>
              <a:off x="4716" y="1660"/>
              <a:ext cx="46" cy="46"/>
            </a:xfrm>
            <a:prstGeom prst="ellipse">
              <a:avLst/>
            </a:prstGeom>
            <a:noFill/>
            <a:ln w="38100" cap="flat" cmpd="sng">
              <a:solidFill>
                <a:srgbClr val="FFCC99"/>
              </a:solidFill>
              <a:prstDash val="solid"/>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44112" name="Line 83"/>
            <p:cNvSpPr/>
            <p:nvPr/>
          </p:nvSpPr>
          <p:spPr>
            <a:xfrm flipH="1">
              <a:off x="4422" y="845"/>
              <a:ext cx="272" cy="272"/>
            </a:xfrm>
            <a:prstGeom prst="line">
              <a:avLst/>
            </a:prstGeom>
            <a:ln w="44450" cap="flat" cmpd="sng">
              <a:solidFill>
                <a:schemeClr val="bg1"/>
              </a:solidFill>
              <a:prstDash val="solid"/>
              <a:round/>
              <a:headEnd type="none" w="med" len="med"/>
              <a:tailEnd type="triangl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9476"/>
                                        </p:tgtEl>
                                        <p:attrNameLst>
                                          <p:attrName>style.visibility</p:attrName>
                                        </p:attrNameLst>
                                      </p:cBhvr>
                                      <p:to>
                                        <p:strVal val="visible"/>
                                      </p:to>
                                    </p:set>
                                    <p:animEffect transition="in" filter="blinds(vertical)">
                                      <p:cBhvr>
                                        <p:cTn id="7" dur="500"/>
                                        <p:tgtEl>
                                          <p:spTgt spid="194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471"/>
                                        </p:tgtEl>
                                        <p:attrNameLst>
                                          <p:attrName>style.visibility</p:attrName>
                                        </p:attrNameLst>
                                      </p:cBhvr>
                                      <p:to>
                                        <p:strVal val="visible"/>
                                      </p:to>
                                    </p:set>
                                    <p:animEffect transition="in" filter="wipe(left)">
                                      <p:cBhvr>
                                        <p:cTn id="12" dur="500"/>
                                        <p:tgtEl>
                                          <p:spTgt spid="1947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9463"/>
                                        </p:tgtEl>
                                        <p:attrNameLst>
                                          <p:attrName>style.visibility</p:attrName>
                                        </p:attrNameLst>
                                      </p:cBhvr>
                                      <p:to>
                                        <p:strVal val="visible"/>
                                      </p:to>
                                    </p:set>
                                    <p:animEffect transition="in" filter="wipe(left)">
                                      <p:cBhvr>
                                        <p:cTn id="16" dur="500"/>
                                        <p:tgtEl>
                                          <p:spTgt spid="1946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9479"/>
                                        </p:tgtEl>
                                        <p:attrNameLst>
                                          <p:attrName>style.visibility</p:attrName>
                                        </p:attrNameLst>
                                      </p:cBhvr>
                                      <p:to>
                                        <p:strVal val="visible"/>
                                      </p:to>
                                    </p:set>
                                    <p:animEffect transition="in" filter="wipe(left)">
                                      <p:cBhvr>
                                        <p:cTn id="21" dur="500"/>
                                        <p:tgtEl>
                                          <p:spTgt spid="19479"/>
                                        </p:tgtEl>
                                      </p:cBhvr>
                                    </p:animEffect>
                                  </p:childTnLst>
                                </p:cTn>
                              </p:par>
                            </p:childTnLst>
                          </p:cTn>
                        </p:par>
                        <p:par>
                          <p:cTn id="22" fill="hold">
                            <p:stCondLst>
                              <p:cond delay="500"/>
                            </p:stCondLst>
                            <p:childTnLst>
                              <p:par>
                                <p:cTn id="23" presetID="4" presetClass="entr" presetSubtype="32" fill="hold" nodeType="afterEffect">
                                  <p:stCondLst>
                                    <p:cond delay="0"/>
                                  </p:stCondLst>
                                  <p:childTnLst>
                                    <p:set>
                                      <p:cBhvr>
                                        <p:cTn id="24" dur="1" fill="hold">
                                          <p:stCondLst>
                                            <p:cond delay="0"/>
                                          </p:stCondLst>
                                        </p:cTn>
                                        <p:tgtEl>
                                          <p:spTgt spid="19511"/>
                                        </p:tgtEl>
                                        <p:attrNameLst>
                                          <p:attrName>style.visibility</p:attrName>
                                        </p:attrNameLst>
                                      </p:cBhvr>
                                      <p:to>
                                        <p:strVal val="visible"/>
                                      </p:to>
                                    </p:set>
                                    <p:animEffect transition="in" filter="box(out)">
                                      <p:cBhvr>
                                        <p:cTn id="25" dur="1000"/>
                                        <p:tgtEl>
                                          <p:spTgt spid="19511"/>
                                        </p:tgtEl>
                                      </p:cBhvr>
                                    </p:animEffect>
                                  </p:childTnLst>
                                </p:cTn>
                              </p:par>
                            </p:childTnLst>
                          </p:cTn>
                        </p:par>
                        <p:par>
                          <p:cTn id="26" fill="hold">
                            <p:stCondLst>
                              <p:cond delay="1500"/>
                            </p:stCondLst>
                            <p:childTnLst>
                              <p:par>
                                <p:cTn id="27" presetID="12" presetClass="entr" presetSubtype="8" fill="hold" nodeType="afterEffect">
                                  <p:stCondLst>
                                    <p:cond delay="0"/>
                                  </p:stCondLst>
                                  <p:childTnLst>
                                    <p:set>
                                      <p:cBhvr>
                                        <p:cTn id="28" dur="1" fill="hold">
                                          <p:stCondLst>
                                            <p:cond delay="0"/>
                                          </p:stCondLst>
                                        </p:cTn>
                                        <p:tgtEl>
                                          <p:spTgt spid="19466"/>
                                        </p:tgtEl>
                                        <p:attrNameLst>
                                          <p:attrName>style.visibility</p:attrName>
                                        </p:attrNameLst>
                                      </p:cBhvr>
                                      <p:to>
                                        <p:strVal val="visible"/>
                                      </p:to>
                                    </p:set>
                                    <p:animEffect transition="in" filter="slide(fromLeft)">
                                      <p:cBhvr>
                                        <p:cTn id="29" dur="500"/>
                                        <p:tgtEl>
                                          <p:spTgt spid="19466"/>
                                        </p:tgtEl>
                                      </p:cBhvr>
                                    </p:animEffect>
                                  </p:childTnLst>
                                </p:cTn>
                              </p:par>
                            </p:childTnLst>
                          </p:cTn>
                        </p:par>
                        <p:par>
                          <p:cTn id="30" fill="hold">
                            <p:stCondLst>
                              <p:cond delay="2000"/>
                            </p:stCondLst>
                            <p:childTnLst>
                              <p:par>
                                <p:cTn id="31" presetID="14" presetClass="entr" presetSubtype="10" fill="hold" grpId="0" nodeType="afterEffect">
                                  <p:stCondLst>
                                    <p:cond delay="0"/>
                                  </p:stCondLst>
                                  <p:childTnLst>
                                    <p:set>
                                      <p:cBhvr>
                                        <p:cTn id="32" dur="1" fill="hold">
                                          <p:stCondLst>
                                            <p:cond delay="0"/>
                                          </p:stCondLst>
                                        </p:cTn>
                                        <p:tgtEl>
                                          <p:spTgt spid="19459"/>
                                        </p:tgtEl>
                                        <p:attrNameLst>
                                          <p:attrName>style.visibility</p:attrName>
                                        </p:attrNameLst>
                                      </p:cBhvr>
                                      <p:to>
                                        <p:strVal val="visible"/>
                                      </p:to>
                                    </p:set>
                                    <p:animEffect transition="in" filter="randombar(horizontal)">
                                      <p:cBhvr>
                                        <p:cTn id="33" dur="500"/>
                                        <p:tgtEl>
                                          <p:spTgt spid="1945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nodeType="clickEffect">
                                  <p:stCondLst>
                                    <p:cond delay="0"/>
                                  </p:stCondLst>
                                  <p:childTnLst>
                                    <p:set>
                                      <p:cBhvr>
                                        <p:cTn id="37" dur="1" fill="hold">
                                          <p:stCondLst>
                                            <p:cond delay="0"/>
                                          </p:stCondLst>
                                        </p:cTn>
                                        <p:tgtEl>
                                          <p:spTgt spid="19467"/>
                                        </p:tgtEl>
                                        <p:attrNameLst>
                                          <p:attrName>style.visibility</p:attrName>
                                        </p:attrNameLst>
                                      </p:cBhvr>
                                      <p:to>
                                        <p:strVal val="visible"/>
                                      </p:to>
                                    </p:set>
                                    <p:anim calcmode="lin" valueType="num">
                                      <p:cBhvr additive="base">
                                        <p:cTn id="38" dur="500" fill="hold"/>
                                        <p:tgtEl>
                                          <p:spTgt spid="19467"/>
                                        </p:tgtEl>
                                        <p:attrNameLst>
                                          <p:attrName>ppt_x</p:attrName>
                                        </p:attrNameLst>
                                      </p:cBhvr>
                                      <p:tavLst>
                                        <p:tav tm="0">
                                          <p:val>
                                            <p:strVal val="0-#ppt_w/2"/>
                                          </p:val>
                                        </p:tav>
                                        <p:tav tm="100000">
                                          <p:val>
                                            <p:strVal val="#ppt_x"/>
                                          </p:val>
                                        </p:tav>
                                      </p:tavLst>
                                    </p:anim>
                                    <p:anim calcmode="lin" valueType="num">
                                      <p:cBhvr additive="base">
                                        <p:cTn id="39" dur="500" fill="hold"/>
                                        <p:tgtEl>
                                          <p:spTgt spid="19467"/>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4" presetClass="entr" presetSubtype="32" fill="hold" nodeType="afterEffect">
                                  <p:stCondLst>
                                    <p:cond delay="0"/>
                                  </p:stCondLst>
                                  <p:childTnLst>
                                    <p:set>
                                      <p:cBhvr>
                                        <p:cTn id="42" dur="1" fill="hold">
                                          <p:stCondLst>
                                            <p:cond delay="0"/>
                                          </p:stCondLst>
                                        </p:cTn>
                                        <p:tgtEl>
                                          <p:spTgt spid="19484"/>
                                        </p:tgtEl>
                                        <p:attrNameLst>
                                          <p:attrName>style.visibility</p:attrName>
                                        </p:attrNameLst>
                                      </p:cBhvr>
                                      <p:to>
                                        <p:strVal val="visible"/>
                                      </p:to>
                                    </p:set>
                                    <p:animEffect transition="in" filter="box(out)">
                                      <p:cBhvr>
                                        <p:cTn id="43" dur="1000"/>
                                        <p:tgtEl>
                                          <p:spTgt spid="19484"/>
                                        </p:tgtEl>
                                      </p:cBhvr>
                                    </p:animEffect>
                                  </p:childTnLst>
                                </p:cTn>
                              </p:par>
                            </p:childTnLst>
                          </p:cTn>
                        </p:par>
                        <p:par>
                          <p:cTn id="44" fill="hold">
                            <p:stCondLst>
                              <p:cond delay="1500"/>
                            </p:stCondLst>
                            <p:childTnLst>
                              <p:par>
                                <p:cTn id="45" presetID="3" presetClass="entr" presetSubtype="10" fill="hold" grpId="0" nodeType="afterEffect">
                                  <p:stCondLst>
                                    <p:cond delay="0"/>
                                  </p:stCondLst>
                                  <p:childTnLst>
                                    <p:set>
                                      <p:cBhvr>
                                        <p:cTn id="46" dur="1" fill="hold">
                                          <p:stCondLst>
                                            <p:cond delay="0"/>
                                          </p:stCondLst>
                                        </p:cTn>
                                        <p:tgtEl>
                                          <p:spTgt spid="19460"/>
                                        </p:tgtEl>
                                        <p:attrNameLst>
                                          <p:attrName>style.visibility</p:attrName>
                                        </p:attrNameLst>
                                      </p:cBhvr>
                                      <p:to>
                                        <p:strVal val="visible"/>
                                      </p:to>
                                    </p:set>
                                    <p:animEffect transition="in" filter="blinds(horizontal)">
                                      <p:cBhvr>
                                        <p:cTn id="47" dur="500"/>
                                        <p:tgtEl>
                                          <p:spTgt spid="19460"/>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461"/>
                                        </p:tgtEl>
                                        <p:attrNameLst>
                                          <p:attrName>style.visibility</p:attrName>
                                        </p:attrNameLst>
                                      </p:cBhvr>
                                      <p:to>
                                        <p:strVal val="visible"/>
                                      </p:to>
                                    </p:set>
                                    <p:anim calcmode="lin" valueType="num">
                                      <p:cBhvr>
                                        <p:cTn id="52" dur="500" fill="hold"/>
                                        <p:tgtEl>
                                          <p:spTgt spid="19461"/>
                                        </p:tgtEl>
                                        <p:attrNameLst>
                                          <p:attrName>ppt_w</p:attrName>
                                        </p:attrNameLst>
                                      </p:cBhvr>
                                      <p:tavLst>
                                        <p:tav tm="0">
                                          <p:val>
                                            <p:fltVal val="0.000000"/>
                                          </p:val>
                                        </p:tav>
                                        <p:tav tm="100000">
                                          <p:val>
                                            <p:strVal val="#ppt_w"/>
                                          </p:val>
                                        </p:tav>
                                      </p:tavLst>
                                    </p:anim>
                                    <p:anim calcmode="lin" valueType="num">
                                      <p:cBhvr>
                                        <p:cTn id="53" dur="500" fill="hold"/>
                                        <p:tgtEl>
                                          <p:spTgt spid="19461"/>
                                        </p:tgtEl>
                                        <p:attrNameLst>
                                          <p:attrName>ppt_h</p:attrName>
                                        </p:attrNameLst>
                                      </p:cBhvr>
                                      <p:tavLst>
                                        <p:tav tm="0">
                                          <p:val>
                                            <p:fltVal val="0.000000"/>
                                          </p:val>
                                        </p:tav>
                                        <p:tav tm="100000">
                                          <p:val>
                                            <p:strVal val="#ppt_h"/>
                                          </p:val>
                                        </p:tav>
                                      </p:tavLst>
                                    </p:anim>
                                  </p:childTnLst>
                                </p:cTn>
                              </p:par>
                            </p:childTnLst>
                          </p:cTn>
                        </p:par>
                        <p:par>
                          <p:cTn id="54" fill="hold">
                            <p:stCondLst>
                              <p:cond delay="500"/>
                            </p:stCondLst>
                            <p:childTnLst>
                              <p:par>
                                <p:cTn id="55" presetID="23" presetClass="entr" presetSubtype="32" fill="hold" grpId="0" nodeType="afterEffect">
                                  <p:stCondLst>
                                    <p:cond delay="1000"/>
                                  </p:stCondLst>
                                  <p:childTnLst>
                                    <p:set>
                                      <p:cBhvr>
                                        <p:cTn id="56" dur="1" fill="hold">
                                          <p:stCondLst>
                                            <p:cond delay="0"/>
                                          </p:stCondLst>
                                        </p:cTn>
                                        <p:tgtEl>
                                          <p:spTgt spid="19462"/>
                                        </p:tgtEl>
                                        <p:attrNameLst>
                                          <p:attrName>style.visibility</p:attrName>
                                        </p:attrNameLst>
                                      </p:cBhvr>
                                      <p:to>
                                        <p:strVal val="visible"/>
                                      </p:to>
                                    </p:set>
                                    <p:anim calcmode="lin" valueType="num">
                                      <p:cBhvr>
                                        <p:cTn id="57" dur="500" fill="hold"/>
                                        <p:tgtEl>
                                          <p:spTgt spid="19462"/>
                                        </p:tgtEl>
                                        <p:attrNameLst>
                                          <p:attrName>ppt_w</p:attrName>
                                        </p:attrNameLst>
                                      </p:cBhvr>
                                      <p:tavLst>
                                        <p:tav tm="0">
                                          <p:val>
                                            <p:strVal val="4*#ppt_w"/>
                                          </p:val>
                                        </p:tav>
                                        <p:tav tm="100000">
                                          <p:val>
                                            <p:strVal val="#ppt_w"/>
                                          </p:val>
                                        </p:tav>
                                      </p:tavLst>
                                    </p:anim>
                                    <p:anim calcmode="lin" valueType="num">
                                      <p:cBhvr>
                                        <p:cTn id="58" dur="500" fill="hold"/>
                                        <p:tgtEl>
                                          <p:spTgt spid="19462"/>
                                        </p:tgtEl>
                                        <p:attrNameLst>
                                          <p:attrName>ppt_h</p:attrName>
                                        </p:attrNameLst>
                                      </p:cBhvr>
                                      <p:tavLst>
                                        <p:tav tm="0">
                                          <p:val>
                                            <p:strVal val="4*#ppt_h"/>
                                          </p:val>
                                        </p:tav>
                                        <p:tav tm="100000">
                                          <p:val>
                                            <p:strVal val="#ppt_h"/>
                                          </p:val>
                                        </p:tav>
                                      </p:tavLst>
                                    </p:anim>
                                  </p:childTnLst>
                                  <p:subTnLst>
                                    <p:animClr clrSpc="rgb" dir="cw">
                                      <p:cBhvr override="childStyle">
                                        <p:cTn dur="1" fill="hold" display="0" masterRel="nextClick" afterEffect="1"/>
                                        <p:tgtEl>
                                          <p:spTgt spid="19462"/>
                                        </p:tgtEl>
                                        <p:attrNameLst>
                                          <p:attrName>ppt_c</p:attrName>
                                        </p:attrNameLst>
                                      </p:cBhvr>
                                      <p:to>
                                        <a:srgbClr val="00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0" grpId="0"/>
      <p:bldP spid="19461" grpId="0"/>
      <p:bldP spid="1946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2"/>
          <p:cNvPicPr>
            <a:picLocks noChangeAspect="1"/>
          </p:cNvPicPr>
          <p:nvPr/>
        </p:nvPicPr>
        <p:blipFill>
          <a:blip r:embed="rId1"/>
          <a:stretch>
            <a:fillRect/>
          </a:stretch>
        </p:blipFill>
        <p:spPr>
          <a:xfrm>
            <a:off x="457200" y="1371600"/>
            <a:ext cx="4953000" cy="4425950"/>
          </a:xfrm>
          <a:prstGeom prst="rect">
            <a:avLst/>
          </a:prstGeom>
          <a:noFill/>
          <a:ln w="9525">
            <a:noFill/>
          </a:ln>
        </p:spPr>
      </p:pic>
      <p:sp>
        <p:nvSpPr>
          <p:cNvPr id="21507" name="Text Box 3"/>
          <p:cNvSpPr txBox="1"/>
          <p:nvPr/>
        </p:nvSpPr>
        <p:spPr>
          <a:xfrm>
            <a:off x="4724400" y="1143000"/>
            <a:ext cx="4024313" cy="457200"/>
          </a:xfrm>
          <a:prstGeom prst="rect">
            <a:avLst/>
          </a:prstGeom>
          <a:noFill/>
          <a:ln w="9525">
            <a:noFill/>
          </a:ln>
        </p:spPr>
        <p:txBody>
          <a:bodyPr anchor="t">
            <a:spAutoFit/>
          </a:bodyPr>
          <a:p>
            <a:pPr>
              <a:spcBef>
                <a:spcPct val="50000"/>
              </a:spcBef>
            </a:pPr>
            <a:r>
              <a:rPr lang="zh-CN" altLang="en-US" sz="2400" b="1" dirty="0">
                <a:solidFill>
                  <a:schemeClr val="bg1"/>
                </a:solidFill>
                <a:latin typeface="幼圆" panose="02010509060101010101" pitchFamily="49" charset="-122"/>
                <a:ea typeface="幼圆" panose="02010509060101010101" pitchFamily="49" charset="-122"/>
              </a:rPr>
              <a:t>集电极最大允许电流 </a:t>
            </a:r>
            <a:r>
              <a:rPr lang="en-US" altLang="zh-CN" sz="2400" b="1" i="1" dirty="0">
                <a:solidFill>
                  <a:schemeClr val="bg1"/>
                </a:solidFill>
                <a:latin typeface="Times New Roman" panose="02020603050405020304" pitchFamily="18" charset="0"/>
                <a:ea typeface="幼圆" panose="02010509060101010101" pitchFamily="49" charset="-122"/>
              </a:rPr>
              <a:t>I</a:t>
            </a:r>
            <a:r>
              <a:rPr lang="en-US" altLang="zh-CN" sz="2400" b="1" baseline="-25000" dirty="0">
                <a:solidFill>
                  <a:schemeClr val="bg1"/>
                </a:solidFill>
                <a:latin typeface="Times New Roman" panose="02020603050405020304" pitchFamily="18" charset="0"/>
                <a:ea typeface="幼圆" panose="02010509060101010101" pitchFamily="49" charset="-122"/>
              </a:rPr>
              <a:t>CM</a:t>
            </a:r>
            <a:endParaRPr lang="en-US" altLang="zh-CN" sz="2400" b="1" dirty="0">
              <a:solidFill>
                <a:schemeClr val="bg1"/>
              </a:solidFill>
              <a:latin typeface="Times New Roman" panose="02020603050405020304" pitchFamily="18" charset="0"/>
              <a:ea typeface="幼圆" panose="02010509060101010101" pitchFamily="49" charset="-122"/>
            </a:endParaRPr>
          </a:p>
        </p:txBody>
      </p:sp>
      <p:sp>
        <p:nvSpPr>
          <p:cNvPr id="21508" name="Text Box 4"/>
          <p:cNvSpPr txBox="1"/>
          <p:nvPr/>
        </p:nvSpPr>
        <p:spPr>
          <a:xfrm>
            <a:off x="4724400" y="2057400"/>
            <a:ext cx="40386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幼圆" panose="02010509060101010101" pitchFamily="49" charset="-122"/>
                <a:ea typeface="幼圆" panose="02010509060101010101" pitchFamily="49" charset="-122"/>
              </a:rPr>
              <a:t>集</a:t>
            </a:r>
            <a:r>
              <a:rPr lang="en-US" altLang="zh-CN" sz="2400" b="1" dirty="0">
                <a:solidFill>
                  <a:schemeClr val="bg1"/>
                </a:solidFill>
                <a:latin typeface="幼圆" panose="02010509060101010101" pitchFamily="49" charset="-122"/>
                <a:ea typeface="幼圆" panose="02010509060101010101" pitchFamily="49" charset="-122"/>
              </a:rPr>
              <a:t>-</a:t>
            </a:r>
            <a:r>
              <a:rPr lang="zh-CN" altLang="en-US" sz="2400" b="1" dirty="0">
                <a:solidFill>
                  <a:schemeClr val="bg1"/>
                </a:solidFill>
                <a:latin typeface="幼圆" panose="02010509060101010101" pitchFamily="49" charset="-122"/>
                <a:ea typeface="幼圆" panose="02010509060101010101" pitchFamily="49" charset="-122"/>
              </a:rPr>
              <a:t>射反向击穿电压 </a:t>
            </a:r>
            <a:r>
              <a:rPr lang="en-US" altLang="zh-CN" sz="2400" b="1" i="1" dirty="0">
                <a:solidFill>
                  <a:schemeClr val="bg1"/>
                </a:solidFill>
                <a:latin typeface="Times New Roman" panose="02020603050405020304" pitchFamily="18" charset="0"/>
                <a:ea typeface="幼圆" panose="02010509060101010101" pitchFamily="49" charset="-122"/>
              </a:rPr>
              <a:t>U</a:t>
            </a:r>
            <a:r>
              <a:rPr lang="en-US" altLang="zh-CN" sz="2400" b="1" baseline="-25000" dirty="0">
                <a:solidFill>
                  <a:schemeClr val="bg1"/>
                </a:solidFill>
                <a:latin typeface="Times New Roman" panose="02020603050405020304" pitchFamily="18" charset="0"/>
                <a:ea typeface="幼圆" panose="02010509060101010101" pitchFamily="49" charset="-122"/>
              </a:rPr>
              <a:t>(BR)CEO</a:t>
            </a:r>
            <a:endParaRPr lang="en-US" altLang="zh-CN" sz="2400" b="1" baseline="-25000" dirty="0">
              <a:solidFill>
                <a:schemeClr val="bg1"/>
              </a:solidFill>
              <a:latin typeface="Times New Roman" panose="02020603050405020304" pitchFamily="18" charset="0"/>
              <a:ea typeface="幼圆" panose="02010509060101010101" pitchFamily="49" charset="-122"/>
            </a:endParaRPr>
          </a:p>
        </p:txBody>
      </p:sp>
      <p:sp>
        <p:nvSpPr>
          <p:cNvPr id="21509" name="Text Box 5"/>
          <p:cNvSpPr txBox="1"/>
          <p:nvPr/>
        </p:nvSpPr>
        <p:spPr>
          <a:xfrm>
            <a:off x="4724400" y="2971800"/>
            <a:ext cx="4419600" cy="457200"/>
          </a:xfrm>
          <a:prstGeom prst="rect">
            <a:avLst/>
          </a:prstGeom>
          <a:noFill/>
          <a:ln w="9525">
            <a:noFill/>
          </a:ln>
        </p:spPr>
        <p:txBody>
          <a:bodyPr anchor="t">
            <a:spAutoFit/>
          </a:bodyPr>
          <a:p>
            <a:pPr>
              <a:spcBef>
                <a:spcPct val="50000"/>
              </a:spcBef>
            </a:pPr>
            <a:r>
              <a:rPr lang="zh-CN" altLang="en-US" sz="2400" b="1" dirty="0">
                <a:solidFill>
                  <a:schemeClr val="bg1"/>
                </a:solidFill>
                <a:latin typeface="幼圆" panose="02010509060101010101" pitchFamily="49" charset="-122"/>
                <a:ea typeface="幼圆" panose="02010509060101010101" pitchFamily="49" charset="-122"/>
              </a:rPr>
              <a:t>集电极最大允许耗散功率 </a:t>
            </a:r>
            <a:r>
              <a:rPr lang="en-US" altLang="zh-CN" sz="2400" b="1" i="1" dirty="0">
                <a:solidFill>
                  <a:schemeClr val="bg1"/>
                </a:solidFill>
                <a:latin typeface="Times New Roman" panose="02020603050405020304" pitchFamily="18" charset="0"/>
                <a:ea typeface="幼圆" panose="02010509060101010101" pitchFamily="49" charset="-122"/>
              </a:rPr>
              <a:t>P</a:t>
            </a:r>
            <a:r>
              <a:rPr lang="en-US" altLang="zh-CN" sz="2400" b="1" baseline="-25000" dirty="0">
                <a:solidFill>
                  <a:schemeClr val="bg1"/>
                </a:solidFill>
                <a:latin typeface="Times New Roman" panose="02020603050405020304" pitchFamily="18" charset="0"/>
                <a:ea typeface="幼圆" panose="02010509060101010101" pitchFamily="49" charset="-122"/>
              </a:rPr>
              <a:t>CM</a:t>
            </a:r>
            <a:endParaRPr lang="en-US" altLang="zh-CN" sz="2400" b="1" baseline="-25000" dirty="0">
              <a:solidFill>
                <a:schemeClr val="bg1"/>
              </a:solidFill>
              <a:latin typeface="Times New Roman" panose="02020603050405020304" pitchFamily="18" charset="0"/>
              <a:ea typeface="幼圆" panose="02010509060101010101" pitchFamily="49" charset="-122"/>
            </a:endParaRPr>
          </a:p>
        </p:txBody>
      </p:sp>
      <p:sp>
        <p:nvSpPr>
          <p:cNvPr id="21510" name="Line 6"/>
          <p:cNvSpPr/>
          <p:nvPr/>
        </p:nvSpPr>
        <p:spPr>
          <a:xfrm>
            <a:off x="685800" y="2286000"/>
            <a:ext cx="1676400" cy="0"/>
          </a:xfrm>
          <a:prstGeom prst="line">
            <a:avLst/>
          </a:prstGeom>
          <a:ln w="28575" cap="flat" cmpd="sng">
            <a:solidFill>
              <a:srgbClr val="FFFF66"/>
            </a:solidFill>
            <a:prstDash val="lgDash"/>
            <a:round/>
            <a:headEnd type="none" w="med" len="med"/>
            <a:tailEnd type="none" w="med" len="med"/>
          </a:ln>
        </p:spPr>
      </p:sp>
      <p:sp>
        <p:nvSpPr>
          <p:cNvPr id="21511" name="Line 7"/>
          <p:cNvSpPr/>
          <p:nvPr/>
        </p:nvSpPr>
        <p:spPr>
          <a:xfrm>
            <a:off x="4419600" y="3962400"/>
            <a:ext cx="0" cy="1371600"/>
          </a:xfrm>
          <a:prstGeom prst="line">
            <a:avLst/>
          </a:prstGeom>
          <a:ln w="28575" cap="flat" cmpd="sng">
            <a:solidFill>
              <a:srgbClr val="FFFF66"/>
            </a:solidFill>
            <a:prstDash val="dash"/>
            <a:round/>
            <a:headEnd type="none" w="med" len="med"/>
            <a:tailEnd type="none" w="med" len="med"/>
          </a:ln>
        </p:spPr>
      </p:sp>
      <p:sp>
        <p:nvSpPr>
          <p:cNvPr id="21512" name="Text Box 8"/>
          <p:cNvSpPr txBox="1">
            <a:spLocks noChangeArrowheads="1"/>
          </p:cNvSpPr>
          <p:nvPr/>
        </p:nvSpPr>
        <p:spPr bwMode="auto">
          <a:xfrm>
            <a:off x="4495800" y="3733800"/>
            <a:ext cx="381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rPr>
              <a:t>过压区</a:t>
            </a:r>
            <a:endPar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endParaRPr>
          </a:p>
        </p:txBody>
      </p:sp>
      <p:sp>
        <p:nvSpPr>
          <p:cNvPr id="21513" name="Text Box 9"/>
          <p:cNvSpPr txBox="1">
            <a:spLocks noChangeArrowheads="1"/>
          </p:cNvSpPr>
          <p:nvPr/>
        </p:nvSpPr>
        <p:spPr bwMode="auto">
          <a:xfrm>
            <a:off x="1371600" y="1752600"/>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rPr>
              <a:t>过流区</a:t>
            </a:r>
            <a:endPar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endParaRPr>
          </a:p>
        </p:txBody>
      </p:sp>
      <p:sp>
        <p:nvSpPr>
          <p:cNvPr id="21514" name="Text Box 10"/>
          <p:cNvSpPr txBox="1">
            <a:spLocks noChangeArrowheads="1"/>
          </p:cNvSpPr>
          <p:nvPr/>
        </p:nvSpPr>
        <p:spPr bwMode="auto">
          <a:xfrm>
            <a:off x="1295400" y="3048000"/>
            <a:ext cx="6096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rPr>
              <a:t>安全工作区</a:t>
            </a:r>
            <a:endPar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endParaRPr>
          </a:p>
        </p:txBody>
      </p:sp>
      <p:sp>
        <p:nvSpPr>
          <p:cNvPr id="21515" name="Text Box 11"/>
          <p:cNvSpPr txBox="1">
            <a:spLocks noChangeArrowheads="1"/>
          </p:cNvSpPr>
          <p:nvPr/>
        </p:nvSpPr>
        <p:spPr bwMode="auto">
          <a:xfrm>
            <a:off x="2438400" y="3657600"/>
            <a:ext cx="144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rPr>
              <a:t>过损区</a:t>
            </a:r>
            <a:endParaRPr lang="zh-CN" altLang="en-US" sz="2000" b="1" dirty="0">
              <a:solidFill>
                <a:srgbClr val="FFFF66"/>
              </a:solidFill>
              <a:effectLst>
                <a:outerShdw blurRad="38100" dist="38100" dir="2700000">
                  <a:srgbClr val="C0C0C0"/>
                </a:outerShdw>
              </a:effectLst>
              <a:latin typeface="Times New Roman" panose="02020603050405020304" pitchFamily="18" charset="0"/>
              <a:ea typeface="幼圆" panose="02010509060101010101" pitchFamily="49" charset="-122"/>
            </a:endParaRPr>
          </a:p>
        </p:txBody>
      </p:sp>
      <p:sp>
        <p:nvSpPr>
          <p:cNvPr id="21516" name="Text Box 12"/>
          <p:cNvSpPr txBox="1"/>
          <p:nvPr/>
        </p:nvSpPr>
        <p:spPr>
          <a:xfrm>
            <a:off x="2286000" y="2819400"/>
            <a:ext cx="2133600" cy="396875"/>
          </a:xfrm>
          <a:prstGeom prst="rect">
            <a:avLst/>
          </a:prstGeom>
          <a:noFill/>
          <a:ln w="9525">
            <a:noFill/>
          </a:ln>
        </p:spPr>
        <p:txBody>
          <a:bodyPr anchor="t">
            <a:spAutoFit/>
          </a:bodyPr>
          <a:p>
            <a:pPr>
              <a:spcBef>
                <a:spcPct val="50000"/>
              </a:spcBef>
            </a:pPr>
            <a:r>
              <a:rPr lang="en-US" altLang="zh-CN" sz="2000" b="1" i="1" dirty="0">
                <a:solidFill>
                  <a:schemeClr val="bg1"/>
                </a:solidFill>
                <a:latin typeface="Times New Roman" panose="02020603050405020304" pitchFamily="18" charset="0"/>
                <a:ea typeface="宋体" panose="02010600030101010101" pitchFamily="2" charset="-122"/>
              </a:rPr>
              <a:t>P</a:t>
            </a:r>
            <a:r>
              <a:rPr lang="en-US" altLang="zh-CN" sz="2000" b="1" baseline="-25000" dirty="0">
                <a:solidFill>
                  <a:schemeClr val="bg1"/>
                </a:solidFill>
                <a:latin typeface="Times New Roman" panose="02020603050405020304" pitchFamily="18" charset="0"/>
                <a:ea typeface="宋体" panose="02010600030101010101" pitchFamily="2" charset="-122"/>
              </a:rPr>
              <a:t>CM</a:t>
            </a:r>
            <a:r>
              <a:rPr lang="en-US" altLang="zh-CN" sz="2000" b="1" dirty="0">
                <a:solidFill>
                  <a:schemeClr val="bg1"/>
                </a:solidFill>
                <a:latin typeface="Times New Roman" panose="02020603050405020304" pitchFamily="18" charset="0"/>
                <a:ea typeface="宋体" panose="02010600030101010101" pitchFamily="2" charset="-122"/>
              </a:rPr>
              <a:t>=</a:t>
            </a:r>
            <a:r>
              <a:rPr lang="en-US" altLang="zh-CN" sz="2000" b="1" i="1" dirty="0">
                <a:solidFill>
                  <a:schemeClr val="bg1"/>
                </a:solidFill>
                <a:latin typeface="Times New Roman" panose="02020603050405020304" pitchFamily="18" charset="0"/>
                <a:ea typeface="宋体" panose="02010600030101010101" pitchFamily="2" charset="-122"/>
              </a:rPr>
              <a:t>I</a:t>
            </a:r>
            <a:r>
              <a:rPr lang="en-US" altLang="zh-CN" sz="2000" b="1" baseline="-25000" dirty="0">
                <a:solidFill>
                  <a:schemeClr val="bg1"/>
                </a:solidFill>
                <a:latin typeface="Times New Roman" panose="02020603050405020304" pitchFamily="18" charset="0"/>
                <a:ea typeface="宋体" panose="02010600030101010101" pitchFamily="2" charset="-122"/>
              </a:rPr>
              <a:t>C</a:t>
            </a:r>
            <a:r>
              <a:rPr lang="en-US" altLang="zh-CN" sz="2000" b="1" i="1" dirty="0">
                <a:solidFill>
                  <a:schemeClr val="bg1"/>
                </a:solidFill>
                <a:latin typeface="Times New Roman" panose="02020603050405020304" pitchFamily="18" charset="0"/>
                <a:ea typeface="宋体" panose="02010600030101010101" pitchFamily="2" charset="-122"/>
              </a:rPr>
              <a:t>U</a:t>
            </a:r>
            <a:r>
              <a:rPr lang="en-US" altLang="zh-CN" sz="2000" b="1" baseline="-25000" dirty="0">
                <a:solidFill>
                  <a:schemeClr val="bg1"/>
                </a:solidFill>
                <a:latin typeface="Times New Roman" panose="02020603050405020304" pitchFamily="18" charset="0"/>
                <a:ea typeface="宋体" panose="02010600030101010101" pitchFamily="2" charset="-122"/>
              </a:rPr>
              <a:t>CE</a:t>
            </a:r>
            <a:endParaRPr lang="en-US" altLang="zh-CN" sz="2000" b="1" baseline="-25000" dirty="0">
              <a:solidFill>
                <a:schemeClr val="bg1"/>
              </a:solidFill>
              <a:latin typeface="Times New Roman" panose="02020603050405020304" pitchFamily="18" charset="0"/>
              <a:ea typeface="宋体" panose="02010600030101010101" pitchFamily="2" charset="-122"/>
            </a:endParaRPr>
          </a:p>
        </p:txBody>
      </p:sp>
      <p:sp>
        <p:nvSpPr>
          <p:cNvPr id="21517" name="Line 13"/>
          <p:cNvSpPr/>
          <p:nvPr/>
        </p:nvSpPr>
        <p:spPr>
          <a:xfrm flipH="1">
            <a:off x="2133600" y="3276600"/>
            <a:ext cx="228600" cy="228600"/>
          </a:xfrm>
          <a:prstGeom prst="line">
            <a:avLst/>
          </a:prstGeom>
          <a:ln w="28575" cap="flat" cmpd="sng">
            <a:solidFill>
              <a:srgbClr val="FFFF00"/>
            </a:solidFill>
            <a:prstDash val="solid"/>
            <a:round/>
            <a:headEnd type="none" w="med" len="med"/>
            <a:tailEnd type="stealth" w="med" len="med"/>
          </a:ln>
        </p:spPr>
      </p:sp>
      <p:sp>
        <p:nvSpPr>
          <p:cNvPr id="21518" name="Text Box 14"/>
          <p:cNvSpPr txBox="1"/>
          <p:nvPr/>
        </p:nvSpPr>
        <p:spPr>
          <a:xfrm>
            <a:off x="4953000" y="5334000"/>
            <a:ext cx="1219200" cy="396875"/>
          </a:xfrm>
          <a:prstGeom prst="rect">
            <a:avLst/>
          </a:prstGeom>
          <a:noFill/>
          <a:ln w="9525">
            <a:noFill/>
          </a:ln>
        </p:spPr>
        <p:txBody>
          <a:bodyPr anchor="t">
            <a:spAutoFit/>
          </a:bodyPr>
          <a:p>
            <a:pPr>
              <a:spcBef>
                <a:spcPct val="50000"/>
              </a:spcBef>
            </a:pPr>
            <a:r>
              <a:rPr lang="en-US" altLang="zh-CN" sz="2000" b="1" i="1" dirty="0">
                <a:solidFill>
                  <a:srgbClr val="DDDDDD"/>
                </a:solidFill>
                <a:latin typeface="Times New Roman" panose="02020603050405020304" pitchFamily="18" charset="0"/>
                <a:ea typeface="宋体" panose="02010600030101010101" pitchFamily="2" charset="-122"/>
              </a:rPr>
              <a:t>U</a:t>
            </a:r>
            <a:r>
              <a:rPr lang="en-US" altLang="zh-CN" sz="2000" b="1" baseline="-25000" dirty="0">
                <a:solidFill>
                  <a:srgbClr val="DDDDDD"/>
                </a:solidFill>
                <a:latin typeface="Times New Roman" panose="02020603050405020304" pitchFamily="18" charset="0"/>
                <a:ea typeface="宋体" panose="02010600030101010101" pitchFamily="2" charset="-122"/>
              </a:rPr>
              <a:t>CE</a:t>
            </a:r>
            <a:r>
              <a:rPr lang="en-US" altLang="zh-CN" sz="2000" b="1" i="1" dirty="0">
                <a:solidFill>
                  <a:srgbClr val="DDDDDD"/>
                </a:solidFill>
                <a:latin typeface="Times New Roman" panose="02020603050405020304" pitchFamily="18" charset="0"/>
                <a:ea typeface="宋体" panose="02010600030101010101" pitchFamily="2" charset="-122"/>
              </a:rPr>
              <a:t>/</a:t>
            </a:r>
            <a:r>
              <a:rPr lang="en-US" altLang="zh-CN" sz="2000" b="1" dirty="0">
                <a:solidFill>
                  <a:srgbClr val="DDDDDD"/>
                </a:solidFill>
                <a:latin typeface="Times New Roman" panose="02020603050405020304" pitchFamily="18" charset="0"/>
                <a:ea typeface="宋体" panose="02010600030101010101" pitchFamily="2" charset="-122"/>
              </a:rPr>
              <a:t>V</a:t>
            </a:r>
            <a:endParaRPr lang="en-US" altLang="zh-CN" sz="2000" b="1" dirty="0">
              <a:solidFill>
                <a:srgbClr val="DDDDDD"/>
              </a:solidFill>
              <a:latin typeface="Times New Roman" panose="02020603050405020304" pitchFamily="18" charset="0"/>
              <a:ea typeface="宋体" panose="02010600030101010101" pitchFamily="2" charset="-122"/>
            </a:endParaRPr>
          </a:p>
        </p:txBody>
      </p:sp>
      <p:sp>
        <p:nvSpPr>
          <p:cNvPr id="21519" name="Text Box 15"/>
          <p:cNvSpPr txBox="1"/>
          <p:nvPr/>
        </p:nvSpPr>
        <p:spPr>
          <a:xfrm>
            <a:off x="3733800" y="5334000"/>
            <a:ext cx="1752600" cy="396875"/>
          </a:xfrm>
          <a:prstGeom prst="rect">
            <a:avLst/>
          </a:prstGeom>
          <a:noFill/>
          <a:ln w="9525">
            <a:noFill/>
          </a:ln>
        </p:spPr>
        <p:txBody>
          <a:bodyPr anchor="t">
            <a:spAutoFit/>
          </a:bodyPr>
          <a:p>
            <a:pPr>
              <a:spcBef>
                <a:spcPct val="50000"/>
              </a:spcBef>
            </a:pPr>
            <a:r>
              <a:rPr lang="en-US" altLang="zh-CN" sz="2000" b="1" i="1" dirty="0">
                <a:solidFill>
                  <a:srgbClr val="DDDDDD"/>
                </a:solidFill>
                <a:latin typeface="Times New Roman" panose="02020603050405020304" pitchFamily="18" charset="0"/>
                <a:ea typeface="宋体" panose="02010600030101010101" pitchFamily="2" charset="-122"/>
              </a:rPr>
              <a:t>U</a:t>
            </a:r>
            <a:r>
              <a:rPr lang="en-US" altLang="zh-CN" sz="2000" b="1" baseline="-25000" dirty="0">
                <a:solidFill>
                  <a:srgbClr val="DDDDDD"/>
                </a:solidFill>
                <a:latin typeface="Times New Roman" panose="02020603050405020304" pitchFamily="18" charset="0"/>
                <a:ea typeface="宋体" panose="02010600030101010101" pitchFamily="2" charset="-122"/>
              </a:rPr>
              <a:t>(BR)CEO</a:t>
            </a:r>
            <a:endParaRPr lang="en-US" altLang="zh-CN" sz="2000" b="1" baseline="-25000" dirty="0">
              <a:solidFill>
                <a:srgbClr val="DDDDDD"/>
              </a:solidFill>
              <a:latin typeface="Times New Roman" panose="02020603050405020304" pitchFamily="18" charset="0"/>
              <a:ea typeface="宋体" panose="02010600030101010101" pitchFamily="2" charset="-122"/>
            </a:endParaRPr>
          </a:p>
        </p:txBody>
      </p:sp>
      <p:sp>
        <p:nvSpPr>
          <p:cNvPr id="21520" name="Text Box 16"/>
          <p:cNvSpPr txBox="1"/>
          <p:nvPr/>
        </p:nvSpPr>
        <p:spPr>
          <a:xfrm>
            <a:off x="228600" y="1219200"/>
            <a:ext cx="1524000" cy="396875"/>
          </a:xfrm>
          <a:prstGeom prst="rect">
            <a:avLst/>
          </a:prstGeom>
          <a:noFill/>
          <a:ln w="9525">
            <a:noFill/>
          </a:ln>
        </p:spPr>
        <p:txBody>
          <a:bodyPr anchor="t">
            <a:spAutoFit/>
          </a:bodyPr>
          <a:p>
            <a:pPr>
              <a:spcBef>
                <a:spcPct val="50000"/>
              </a:spcBef>
            </a:pPr>
            <a:r>
              <a:rPr lang="en-US" altLang="zh-CN" sz="2000" b="1" i="1" dirty="0">
                <a:solidFill>
                  <a:srgbClr val="DDDDDD"/>
                </a:solidFill>
                <a:latin typeface="Times New Roman" panose="02020603050405020304" pitchFamily="18" charset="0"/>
                <a:ea typeface="宋体" panose="02010600030101010101" pitchFamily="2" charset="-122"/>
              </a:rPr>
              <a:t>I</a:t>
            </a:r>
            <a:r>
              <a:rPr lang="en-US" altLang="zh-CN" sz="2000" b="1" baseline="-25000" dirty="0">
                <a:solidFill>
                  <a:srgbClr val="DDDDDD"/>
                </a:solidFill>
                <a:latin typeface="Times New Roman" panose="02020603050405020304" pitchFamily="18" charset="0"/>
                <a:ea typeface="宋体" panose="02010600030101010101" pitchFamily="2" charset="-122"/>
              </a:rPr>
              <a:t>C</a:t>
            </a:r>
            <a:r>
              <a:rPr lang="en-US" altLang="zh-CN" sz="2000" b="1" i="1" dirty="0">
                <a:solidFill>
                  <a:srgbClr val="DDDDDD"/>
                </a:solidFill>
                <a:latin typeface="Times New Roman" panose="02020603050405020304" pitchFamily="18" charset="0"/>
                <a:ea typeface="幼圆" panose="02010509060101010101" pitchFamily="49" charset="-122"/>
              </a:rPr>
              <a:t>/</a:t>
            </a:r>
            <a:r>
              <a:rPr lang="en-US" altLang="zh-CN" sz="2000" b="1" dirty="0">
                <a:solidFill>
                  <a:srgbClr val="DDDDDD"/>
                </a:solidFill>
                <a:latin typeface="Times New Roman" panose="02020603050405020304" pitchFamily="18" charset="0"/>
                <a:ea typeface="幼圆" panose="02010509060101010101" pitchFamily="49" charset="-122"/>
              </a:rPr>
              <a:t>mA</a:t>
            </a:r>
            <a:endParaRPr lang="en-US" altLang="zh-CN" sz="2000" b="1" dirty="0">
              <a:solidFill>
                <a:srgbClr val="DDDDDD"/>
              </a:solidFill>
              <a:latin typeface="Times New Roman" panose="02020603050405020304" pitchFamily="18" charset="0"/>
              <a:ea typeface="宋体" panose="02010600030101010101" pitchFamily="2" charset="-122"/>
            </a:endParaRPr>
          </a:p>
        </p:txBody>
      </p:sp>
      <p:sp>
        <p:nvSpPr>
          <p:cNvPr id="21521" name="Text Box 17"/>
          <p:cNvSpPr txBox="1"/>
          <p:nvPr/>
        </p:nvSpPr>
        <p:spPr>
          <a:xfrm>
            <a:off x="152400" y="1981200"/>
            <a:ext cx="762000" cy="396875"/>
          </a:xfrm>
          <a:prstGeom prst="rect">
            <a:avLst/>
          </a:prstGeom>
          <a:noFill/>
          <a:ln w="9525">
            <a:noFill/>
          </a:ln>
        </p:spPr>
        <p:txBody>
          <a:bodyPr anchor="t">
            <a:spAutoFit/>
          </a:bodyPr>
          <a:p>
            <a:pPr>
              <a:spcBef>
                <a:spcPct val="50000"/>
              </a:spcBef>
            </a:pPr>
            <a:r>
              <a:rPr lang="en-US" altLang="zh-CN" sz="2000" b="1" i="1" dirty="0">
                <a:solidFill>
                  <a:srgbClr val="DDDDDD"/>
                </a:solidFill>
                <a:latin typeface="Times New Roman" panose="02020603050405020304" pitchFamily="18" charset="0"/>
                <a:ea typeface="宋体" panose="02010600030101010101" pitchFamily="2" charset="-122"/>
              </a:rPr>
              <a:t>I</a:t>
            </a:r>
            <a:r>
              <a:rPr lang="en-US" altLang="zh-CN" sz="2000" b="1" baseline="-25000" dirty="0">
                <a:solidFill>
                  <a:srgbClr val="DDDDDD"/>
                </a:solidFill>
                <a:latin typeface="Times New Roman" panose="02020603050405020304" pitchFamily="18" charset="0"/>
                <a:ea typeface="宋体" panose="02010600030101010101" pitchFamily="2" charset="-122"/>
              </a:rPr>
              <a:t>CM</a:t>
            </a:r>
            <a:endParaRPr lang="en-US" altLang="zh-CN" sz="2000" b="1" baseline="-25000" dirty="0">
              <a:solidFill>
                <a:srgbClr val="DDDDDD"/>
              </a:solidFill>
              <a:latin typeface="Times New Roman" panose="02020603050405020304" pitchFamily="18" charset="0"/>
              <a:ea typeface="宋体" panose="02010600030101010101" pitchFamily="2" charset="-122"/>
            </a:endParaRPr>
          </a:p>
        </p:txBody>
      </p:sp>
      <p:sp>
        <p:nvSpPr>
          <p:cNvPr id="21522" name="Text Box 18"/>
          <p:cNvSpPr txBox="1"/>
          <p:nvPr/>
        </p:nvSpPr>
        <p:spPr>
          <a:xfrm>
            <a:off x="457200" y="5334000"/>
            <a:ext cx="457200" cy="396875"/>
          </a:xfrm>
          <a:prstGeom prst="rect">
            <a:avLst/>
          </a:prstGeom>
          <a:noFill/>
          <a:ln w="9525">
            <a:noFill/>
          </a:ln>
        </p:spPr>
        <p:txBody>
          <a:bodyPr anchor="t">
            <a:spAutoFit/>
          </a:bodyPr>
          <a:p>
            <a:pPr>
              <a:spcBef>
                <a:spcPct val="50000"/>
              </a:spcBef>
            </a:pPr>
            <a:r>
              <a:rPr lang="en-US" altLang="zh-CN" sz="2000" b="1" i="1" dirty="0">
                <a:solidFill>
                  <a:srgbClr val="DDDDDD"/>
                </a:solidFill>
                <a:latin typeface="Times New Roman" panose="02020603050405020304" pitchFamily="18" charset="0"/>
                <a:ea typeface="宋体" panose="02010600030101010101" pitchFamily="2" charset="-122"/>
              </a:rPr>
              <a:t>O</a:t>
            </a:r>
            <a:endParaRPr lang="en-US" altLang="zh-CN" sz="2000" b="1" i="1" dirty="0">
              <a:solidFill>
                <a:srgbClr val="DDDDDD"/>
              </a:solidFill>
              <a:latin typeface="Times New Roman" panose="02020603050405020304" pitchFamily="18" charset="0"/>
              <a:ea typeface="宋体" panose="02010600030101010101" pitchFamily="2" charset="-122"/>
            </a:endParaRPr>
          </a:p>
        </p:txBody>
      </p:sp>
      <p:pic>
        <p:nvPicPr>
          <p:cNvPr id="21523" name="Picture 19" descr="7"/>
          <p:cNvPicPr>
            <a:picLocks noChangeAspect="1"/>
          </p:cNvPicPr>
          <p:nvPr/>
        </p:nvPicPr>
        <p:blipFill>
          <a:blip r:embed="rId2"/>
          <a:stretch>
            <a:fillRect/>
          </a:stretch>
        </p:blipFill>
        <p:spPr>
          <a:xfrm>
            <a:off x="8610600" y="3444875"/>
            <a:ext cx="533400" cy="631825"/>
          </a:xfrm>
          <a:prstGeom prst="rect">
            <a:avLst/>
          </a:prstGeom>
          <a:noFill/>
          <a:ln w="9525">
            <a:noFill/>
          </a:ln>
        </p:spPr>
      </p:pic>
      <p:pic>
        <p:nvPicPr>
          <p:cNvPr id="21524" name="Picture 20" descr="7"/>
          <p:cNvPicPr>
            <a:picLocks noChangeAspect="1"/>
          </p:cNvPicPr>
          <p:nvPr/>
        </p:nvPicPr>
        <p:blipFill>
          <a:blip r:embed="rId2"/>
          <a:stretch>
            <a:fillRect/>
          </a:stretch>
        </p:blipFill>
        <p:spPr>
          <a:xfrm>
            <a:off x="8077200" y="2514600"/>
            <a:ext cx="598488" cy="455613"/>
          </a:xfrm>
          <a:prstGeom prst="rect">
            <a:avLst/>
          </a:prstGeom>
          <a:noFill/>
          <a:ln w="9525">
            <a:noFill/>
          </a:ln>
        </p:spPr>
      </p:pic>
      <p:pic>
        <p:nvPicPr>
          <p:cNvPr id="21525" name="Picture 21" descr="7"/>
          <p:cNvPicPr>
            <a:picLocks noChangeAspect="1"/>
          </p:cNvPicPr>
          <p:nvPr/>
        </p:nvPicPr>
        <p:blipFill>
          <a:blip r:embed="rId2"/>
          <a:stretch>
            <a:fillRect/>
          </a:stretch>
        </p:blipFill>
        <p:spPr>
          <a:xfrm>
            <a:off x="8001000" y="1616075"/>
            <a:ext cx="531813" cy="458788"/>
          </a:xfrm>
          <a:prstGeom prst="rect">
            <a:avLst/>
          </a:prstGeom>
          <a:noFill/>
          <a:ln w="9525">
            <a:noFill/>
          </a:ln>
        </p:spPr>
      </p:pic>
      <p:graphicFrame>
        <p:nvGraphicFramePr>
          <p:cNvPr id="21526" name="Object 22"/>
          <p:cNvGraphicFramePr>
            <a:graphicFrameLocks noChangeAspect="1"/>
          </p:cNvGraphicFramePr>
          <p:nvPr/>
        </p:nvGraphicFramePr>
        <p:xfrm>
          <a:off x="4343400" y="1295400"/>
          <a:ext cx="220663" cy="228600"/>
        </p:xfrm>
        <a:graphic>
          <a:graphicData uri="http://schemas.openxmlformats.org/presentationml/2006/ole">
            <mc:AlternateContent xmlns:mc="http://schemas.openxmlformats.org/markup-compatibility/2006">
              <mc:Choice xmlns:v="urn:schemas-microsoft-com:vml" Requires="v">
                <p:oleObj spid="_x0000_s3133" name="" r:id="rId3" imgW="9525" imgH="9525" progId="CorelDraw.Graphic.8">
                  <p:embed/>
                </p:oleObj>
              </mc:Choice>
              <mc:Fallback>
                <p:oleObj name="" r:id="rId3" imgW="9525" imgH="9525" progId="CorelDraw.Graphic.8">
                  <p:embed/>
                  <p:pic>
                    <p:nvPicPr>
                      <p:cNvPr id="0" name="图片 3132"/>
                      <p:cNvPicPr/>
                      <p:nvPr/>
                    </p:nvPicPr>
                    <p:blipFill>
                      <a:blip r:embed="rId4"/>
                      <a:stretch>
                        <a:fillRect/>
                      </a:stretch>
                    </p:blipFill>
                    <p:spPr>
                      <a:xfrm>
                        <a:off x="4343400" y="1295400"/>
                        <a:ext cx="220663" cy="228600"/>
                      </a:xfrm>
                      <a:prstGeom prst="rect">
                        <a:avLst/>
                      </a:prstGeom>
                      <a:noFill/>
                      <a:ln w="38100">
                        <a:noFill/>
                        <a:miter/>
                      </a:ln>
                    </p:spPr>
                  </p:pic>
                </p:oleObj>
              </mc:Fallback>
            </mc:AlternateContent>
          </a:graphicData>
        </a:graphic>
      </p:graphicFrame>
      <p:graphicFrame>
        <p:nvGraphicFramePr>
          <p:cNvPr id="21527" name="Object 23"/>
          <p:cNvGraphicFramePr>
            <a:graphicFrameLocks noChangeAspect="1"/>
          </p:cNvGraphicFramePr>
          <p:nvPr/>
        </p:nvGraphicFramePr>
        <p:xfrm>
          <a:off x="4349750" y="2209800"/>
          <a:ext cx="222250" cy="228600"/>
        </p:xfrm>
        <a:graphic>
          <a:graphicData uri="http://schemas.openxmlformats.org/presentationml/2006/ole">
            <mc:AlternateContent xmlns:mc="http://schemas.openxmlformats.org/markup-compatibility/2006">
              <mc:Choice xmlns:v="urn:schemas-microsoft-com:vml" Requires="v">
                <p:oleObj spid="_x0000_s3134" name="" r:id="rId5" imgW="9525" imgH="9525" progId="CorelDraw.Graphic.8">
                  <p:embed/>
                </p:oleObj>
              </mc:Choice>
              <mc:Fallback>
                <p:oleObj name="" r:id="rId5" imgW="9525" imgH="9525" progId="CorelDraw.Graphic.8">
                  <p:embed/>
                  <p:pic>
                    <p:nvPicPr>
                      <p:cNvPr id="0" name="图片 3133"/>
                      <p:cNvPicPr/>
                      <p:nvPr/>
                    </p:nvPicPr>
                    <p:blipFill>
                      <a:blip r:embed="rId6"/>
                      <a:stretch>
                        <a:fillRect/>
                      </a:stretch>
                    </p:blipFill>
                    <p:spPr>
                      <a:xfrm>
                        <a:off x="4349750" y="2209800"/>
                        <a:ext cx="222250" cy="228600"/>
                      </a:xfrm>
                      <a:prstGeom prst="rect">
                        <a:avLst/>
                      </a:prstGeom>
                      <a:noFill/>
                      <a:ln w="38100">
                        <a:noFill/>
                        <a:miter/>
                      </a:ln>
                    </p:spPr>
                  </p:pic>
                </p:oleObj>
              </mc:Fallback>
            </mc:AlternateContent>
          </a:graphicData>
        </a:graphic>
      </p:graphicFrame>
      <p:graphicFrame>
        <p:nvGraphicFramePr>
          <p:cNvPr id="21528" name="Object 24"/>
          <p:cNvGraphicFramePr>
            <a:graphicFrameLocks noChangeAspect="1"/>
          </p:cNvGraphicFramePr>
          <p:nvPr/>
        </p:nvGraphicFramePr>
        <p:xfrm>
          <a:off x="4343400" y="3124200"/>
          <a:ext cx="222250" cy="228600"/>
        </p:xfrm>
        <a:graphic>
          <a:graphicData uri="http://schemas.openxmlformats.org/presentationml/2006/ole">
            <mc:AlternateContent xmlns:mc="http://schemas.openxmlformats.org/markup-compatibility/2006">
              <mc:Choice xmlns:v="urn:schemas-microsoft-com:vml" Requires="v">
                <p:oleObj spid="_x0000_s3130" name="" r:id="rId7" imgW="9525" imgH="9525" progId="CorelDraw.Graphic.8">
                  <p:embed/>
                </p:oleObj>
              </mc:Choice>
              <mc:Fallback>
                <p:oleObj name="" r:id="rId7" imgW="9525" imgH="9525" progId="CorelDraw.Graphic.8">
                  <p:embed/>
                  <p:pic>
                    <p:nvPicPr>
                      <p:cNvPr id="0" name="图片 3129"/>
                      <p:cNvPicPr/>
                      <p:nvPr/>
                    </p:nvPicPr>
                    <p:blipFill>
                      <a:blip r:embed="rId8"/>
                      <a:stretch>
                        <a:fillRect/>
                      </a:stretch>
                    </p:blipFill>
                    <p:spPr>
                      <a:xfrm>
                        <a:off x="4343400" y="3124200"/>
                        <a:ext cx="222250" cy="228600"/>
                      </a:xfrm>
                      <a:prstGeom prst="rect">
                        <a:avLst/>
                      </a:prstGeom>
                      <a:noFill/>
                      <a:ln w="38100">
                        <a:noFill/>
                        <a:miter/>
                      </a:ln>
                    </p:spPr>
                  </p:pic>
                </p:oleObj>
              </mc:Fallback>
            </mc:AlternateContent>
          </a:graphicData>
        </a:graphic>
      </p:graphicFrame>
      <p:sp>
        <p:nvSpPr>
          <p:cNvPr id="21529" name="Text Box 25"/>
          <p:cNvSpPr txBox="1">
            <a:spLocks noChangeArrowheads="1"/>
          </p:cNvSpPr>
          <p:nvPr/>
        </p:nvSpPr>
        <p:spPr bwMode="auto">
          <a:xfrm>
            <a:off x="5943600" y="4114800"/>
            <a:ext cx="25146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zh-CN" altLang="en-US"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使用时不允许超</a:t>
            </a:r>
            <a:endParaRPr lang="zh-CN" altLang="en-US"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endParaRPr>
          </a:p>
          <a:p>
            <a:pPr>
              <a:spcBef>
                <a:spcPct val="50000"/>
              </a:spcBef>
            </a:pPr>
            <a:r>
              <a:rPr lang="zh-CN" altLang="en-US"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过这些极限参数</a:t>
            </a:r>
            <a:r>
              <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rPr>
              <a:t>.</a:t>
            </a:r>
            <a:endParaRPr lang="en-US" altLang="zh-CN" sz="2400" b="1" dirty="0">
              <a:solidFill>
                <a:srgbClr val="FFFF66"/>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21530" name="Oval 26"/>
          <p:cNvSpPr/>
          <p:nvPr/>
        </p:nvSpPr>
        <p:spPr>
          <a:xfrm>
            <a:off x="5410200" y="3810000"/>
            <a:ext cx="3352800" cy="1752600"/>
          </a:xfrm>
          <a:prstGeom prst="ellipse">
            <a:avLst/>
          </a:prstGeom>
          <a:noFill/>
          <a:ln w="12700" cap="flat" cmpd="sng">
            <a:solidFill>
              <a:schemeClr val="bg1"/>
            </a:solidFill>
            <a:prstDash val="sysDot"/>
            <a:round/>
            <a:headEnd type="none" w="med" len="med"/>
            <a:tailEnd type="none" w="med" len="med"/>
          </a:ln>
        </p:spPr>
        <p:txBody>
          <a:bodyPr wrap="none" anchor="ctr"/>
          <a:p>
            <a:endParaRPr lang="zh-CN" altLang="en-US" dirty="0">
              <a:latin typeface="Arial" panose="020B0604020202020204" pitchFamily="34" charset="0"/>
              <a:ea typeface="宋体" panose="02010600030101010101" pitchFamily="2" charset="-122"/>
            </a:endParaRPr>
          </a:p>
        </p:txBody>
      </p:sp>
      <p:sp>
        <p:nvSpPr>
          <p:cNvPr id="46106" name="Text Box 28">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6107" name="Text Box 29">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grpSp>
        <p:nvGrpSpPr>
          <p:cNvPr id="46108" name="Group 31"/>
          <p:cNvGrpSpPr/>
          <p:nvPr/>
        </p:nvGrpSpPr>
        <p:grpSpPr>
          <a:xfrm>
            <a:off x="755650" y="549275"/>
            <a:ext cx="2827338" cy="519113"/>
            <a:chOff x="476" y="391"/>
            <a:chExt cx="1781" cy="327"/>
          </a:xfrm>
        </p:grpSpPr>
        <p:sp>
          <p:nvSpPr>
            <p:cNvPr id="21536" name="Text Box 32"/>
            <p:cNvSpPr txBox="1">
              <a:spLocks noChangeArrowheads="1"/>
            </p:cNvSpPr>
            <p:nvPr/>
          </p:nvSpPr>
          <p:spPr bwMode="auto">
            <a:xfrm>
              <a:off x="476" y="391"/>
              <a:ext cx="178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en-US" altLang="zh-CN" sz="2400" b="1" dirty="0">
                  <a:solidFill>
                    <a:srgbClr val="DDDDDD"/>
                  </a:solidFill>
                  <a:effectLst>
                    <a:outerShdw blurRad="38100" dist="38100" dir="2700000">
                      <a:srgbClr val="C0C0C0"/>
                    </a:outerShdw>
                  </a:effectLst>
                  <a:latin typeface="幼圆" panose="02010509060101010101" pitchFamily="49" charset="-122"/>
                  <a:ea typeface="幼圆" panose="02010509060101010101" pitchFamily="49" charset="-122"/>
                </a:rPr>
                <a:t>   </a:t>
              </a:r>
              <a:r>
                <a:rPr lang="zh-CN" altLang="en-US" sz="28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极限参数</a:t>
              </a:r>
              <a:endParaRPr lang="zh-CN" altLang="en-US" sz="2800" b="1"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46110" name="AutoShape 33"/>
            <p:cNvSpPr/>
            <p:nvPr/>
          </p:nvSpPr>
          <p:spPr>
            <a:xfrm>
              <a:off x="521" y="482"/>
              <a:ext cx="181" cy="181"/>
            </a:xfrm>
            <a:prstGeom prst="flowChartExtract">
              <a:avLst/>
            </a:prstGeom>
            <a:solidFill>
              <a:srgbClr val="FFCCFF"/>
            </a:solidFill>
            <a:ln w="41275">
              <a:noFill/>
            </a:ln>
          </p:spPr>
          <p:txBody>
            <a:bodyPr anchor="ctr">
              <a:spAutoFit/>
            </a:bodyPr>
            <a:p>
              <a:endParaRPr lang="zh-CN" altLang="en-US" dirty="0">
                <a:latin typeface="Arial" panose="020B0604020202020204" pitchFamily="34" charset="0"/>
                <a:ea typeface="宋体" panose="02010600030101010101" pitchFamily="2" charset="-122"/>
              </a:endParaRPr>
            </a:p>
          </p:txBody>
        </p:sp>
      </p:grpSp>
      <p:sp>
        <p:nvSpPr>
          <p:cNvPr id="46111" name="Text Box 34"/>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box(in)">
                                      <p:cBhvr>
                                        <p:cTn id="7" dur="500"/>
                                        <p:tgtEl>
                                          <p:spTgt spid="2150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1518"/>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21520"/>
                                        </p:tgtEl>
                                        <p:attrNameLst>
                                          <p:attrName>style.visibility</p:attrName>
                                        </p:attrNameLst>
                                      </p:cBhvr>
                                      <p:to>
                                        <p:strVal val="visible"/>
                                      </p:to>
                                    </p:se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215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1526"/>
                                        </p:tgtEl>
                                        <p:attrNameLst>
                                          <p:attrName>style.visibility</p:attrName>
                                        </p:attrNameLst>
                                      </p:cBhvr>
                                      <p:to>
                                        <p:strVal val="visible"/>
                                      </p:to>
                                    </p:set>
                                    <p:animEffect transition="in" filter="dissolve">
                                      <p:cBhvr>
                                        <p:cTn id="21" dur="500"/>
                                        <p:tgtEl>
                                          <p:spTgt spid="21526"/>
                                        </p:tgtEl>
                                      </p:cBhvr>
                                    </p:animEffect>
                                  </p:childTnLst>
                                </p:cTn>
                              </p:par>
                            </p:childTnLst>
                          </p:cTn>
                        </p:par>
                        <p:par>
                          <p:cTn id="22" fill="hold">
                            <p:stCondLst>
                              <p:cond delay="500"/>
                            </p:stCondLst>
                            <p:childTnLst>
                              <p:par>
                                <p:cTn id="23" presetID="4" presetClass="entr" presetSubtype="16" fill="hold" grpId="0" nodeType="afterEffect">
                                  <p:stCondLst>
                                    <p:cond delay="0"/>
                                  </p:stCondLst>
                                  <p:childTnLst>
                                    <p:set>
                                      <p:cBhvr>
                                        <p:cTn id="24" dur="1" fill="hold">
                                          <p:stCondLst>
                                            <p:cond delay="0"/>
                                          </p:stCondLst>
                                        </p:cTn>
                                        <p:tgtEl>
                                          <p:spTgt spid="21507"/>
                                        </p:tgtEl>
                                        <p:attrNameLst>
                                          <p:attrName>style.visibility</p:attrName>
                                        </p:attrNameLst>
                                      </p:cBhvr>
                                      <p:to>
                                        <p:strVal val="visible"/>
                                      </p:to>
                                    </p:set>
                                    <p:animEffect transition="in" filter="box(in)">
                                      <p:cBhvr>
                                        <p:cTn id="25" dur="500"/>
                                        <p:tgtEl>
                                          <p:spTgt spid="21507"/>
                                        </p:tgtEl>
                                      </p:cBhvr>
                                    </p:animEffect>
                                  </p:childTnLst>
                                </p:cTn>
                              </p:par>
                            </p:childTnLst>
                          </p:cTn>
                        </p:par>
                        <p:par>
                          <p:cTn id="26" fill="hold">
                            <p:stCondLst>
                              <p:cond delay="1000"/>
                            </p:stCondLst>
                            <p:childTnLst>
                              <p:par>
                                <p:cTn id="27" presetID="17" presetClass="entr" presetSubtype="10" fill="hold" nodeType="afterEffect">
                                  <p:stCondLst>
                                    <p:cond delay="0"/>
                                  </p:stCondLst>
                                  <p:childTnLst>
                                    <p:set>
                                      <p:cBhvr>
                                        <p:cTn id="28" dur="1" fill="hold">
                                          <p:stCondLst>
                                            <p:cond delay="0"/>
                                          </p:stCondLst>
                                        </p:cTn>
                                        <p:tgtEl>
                                          <p:spTgt spid="21510"/>
                                        </p:tgtEl>
                                        <p:attrNameLst>
                                          <p:attrName>style.visibility</p:attrName>
                                        </p:attrNameLst>
                                      </p:cBhvr>
                                      <p:to>
                                        <p:strVal val="visible"/>
                                      </p:to>
                                    </p:set>
                                    <p:anim calcmode="lin" valueType="num">
                                      <p:cBhvr>
                                        <p:cTn id="29" dur="500" fill="hold"/>
                                        <p:tgtEl>
                                          <p:spTgt spid="21510"/>
                                        </p:tgtEl>
                                        <p:attrNameLst>
                                          <p:attrName>ppt_w</p:attrName>
                                        </p:attrNameLst>
                                      </p:cBhvr>
                                      <p:tavLst>
                                        <p:tav tm="0">
                                          <p:val>
                                            <p:fltVal val="0.000000"/>
                                          </p:val>
                                        </p:tav>
                                        <p:tav tm="100000">
                                          <p:val>
                                            <p:strVal val="#ppt_w"/>
                                          </p:val>
                                        </p:tav>
                                      </p:tavLst>
                                    </p:anim>
                                    <p:anim calcmode="lin" valueType="num">
                                      <p:cBhvr>
                                        <p:cTn id="30" dur="500" fill="hold"/>
                                        <p:tgtEl>
                                          <p:spTgt spid="21510"/>
                                        </p:tgtEl>
                                        <p:attrNameLst>
                                          <p:attrName>ppt_h</p:attrName>
                                        </p:attrNameLst>
                                      </p:cBhvr>
                                      <p:tavLst>
                                        <p:tav tm="0">
                                          <p:val>
                                            <p:strVal val="#ppt_h"/>
                                          </p:val>
                                        </p:tav>
                                        <p:tav tm="100000">
                                          <p:val>
                                            <p:strVal val="#ppt_h"/>
                                          </p:val>
                                        </p:tav>
                                      </p:tavLst>
                                    </p:anim>
                                  </p:childTnLst>
                                </p:cTn>
                              </p:par>
                            </p:childTnLst>
                          </p:cTn>
                        </p:par>
                        <p:par>
                          <p:cTn id="31" fill="hold">
                            <p:stCondLst>
                              <p:cond delay="1500"/>
                            </p:stCondLst>
                            <p:childTnLst>
                              <p:par>
                                <p:cTn id="32" presetID="1" presetClass="entr" presetSubtype="0" fill="hold" grpId="0" nodeType="afterEffect">
                                  <p:stCondLst>
                                    <p:cond delay="0"/>
                                  </p:stCondLst>
                                  <p:childTnLst>
                                    <p:set>
                                      <p:cBhvr>
                                        <p:cTn id="33" dur="1" fill="hold">
                                          <p:stCondLst>
                                            <p:cond delay="499"/>
                                          </p:stCondLst>
                                        </p:cTn>
                                        <p:tgtEl>
                                          <p:spTgt spid="21521"/>
                                        </p:tgtEl>
                                        <p:attrNameLst>
                                          <p:attrName>style.visibility</p:attrName>
                                        </p:attrNameLst>
                                      </p:cBhvr>
                                      <p:to>
                                        <p:strVal val="visible"/>
                                      </p:to>
                                    </p:set>
                                  </p:childTnLst>
                                </p:cTn>
                              </p:par>
                            </p:childTnLst>
                          </p:cTn>
                        </p:par>
                        <p:par>
                          <p:cTn id="34" fill="hold">
                            <p:stCondLst>
                              <p:cond delay="2000"/>
                            </p:stCondLst>
                            <p:childTnLst>
                              <p:par>
                                <p:cTn id="35" presetID="4" presetClass="entr" presetSubtype="16" fill="hold" grpId="0" nodeType="afterEffect">
                                  <p:stCondLst>
                                    <p:cond delay="0"/>
                                  </p:stCondLst>
                                  <p:childTnLst>
                                    <p:set>
                                      <p:cBhvr>
                                        <p:cTn id="36" dur="1" fill="hold">
                                          <p:stCondLst>
                                            <p:cond delay="0"/>
                                          </p:stCondLst>
                                        </p:cTn>
                                        <p:tgtEl>
                                          <p:spTgt spid="21513"/>
                                        </p:tgtEl>
                                        <p:attrNameLst>
                                          <p:attrName>style.visibility</p:attrName>
                                        </p:attrNameLst>
                                      </p:cBhvr>
                                      <p:to>
                                        <p:strVal val="visible"/>
                                      </p:to>
                                    </p:set>
                                    <p:animEffect transition="in" filter="box(in)">
                                      <p:cBhvr>
                                        <p:cTn id="37" dur="500"/>
                                        <p:tgtEl>
                                          <p:spTgt spid="2151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1527"/>
                                        </p:tgtEl>
                                        <p:attrNameLst>
                                          <p:attrName>style.visibility</p:attrName>
                                        </p:attrNameLst>
                                      </p:cBhvr>
                                      <p:to>
                                        <p:strVal val="visible"/>
                                      </p:to>
                                    </p:set>
                                    <p:animEffect transition="in" filter="dissolve">
                                      <p:cBhvr>
                                        <p:cTn id="42" dur="500"/>
                                        <p:tgtEl>
                                          <p:spTgt spid="21527"/>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21508"/>
                                        </p:tgtEl>
                                        <p:attrNameLst>
                                          <p:attrName>style.visibility</p:attrName>
                                        </p:attrNameLst>
                                      </p:cBhvr>
                                      <p:to>
                                        <p:strVal val="visible"/>
                                      </p:to>
                                    </p:set>
                                    <p:animEffect transition="in" filter="dissolve">
                                      <p:cBhvr>
                                        <p:cTn id="46" dur="500"/>
                                        <p:tgtEl>
                                          <p:spTgt spid="21508"/>
                                        </p:tgtEl>
                                      </p:cBhvr>
                                    </p:animEffect>
                                  </p:childTnLst>
                                </p:cTn>
                              </p:par>
                            </p:childTnLst>
                          </p:cTn>
                        </p:par>
                        <p:par>
                          <p:cTn id="47" fill="hold">
                            <p:stCondLst>
                              <p:cond delay="1000"/>
                            </p:stCondLst>
                            <p:childTnLst>
                              <p:par>
                                <p:cTn id="48" presetID="17" presetClass="entr" presetSubtype="4" fill="hold" nodeType="afterEffect">
                                  <p:stCondLst>
                                    <p:cond delay="0"/>
                                  </p:stCondLst>
                                  <p:childTnLst>
                                    <p:set>
                                      <p:cBhvr>
                                        <p:cTn id="49" dur="1" fill="hold">
                                          <p:stCondLst>
                                            <p:cond delay="0"/>
                                          </p:stCondLst>
                                        </p:cTn>
                                        <p:tgtEl>
                                          <p:spTgt spid="21511"/>
                                        </p:tgtEl>
                                        <p:attrNameLst>
                                          <p:attrName>style.visibility</p:attrName>
                                        </p:attrNameLst>
                                      </p:cBhvr>
                                      <p:to>
                                        <p:strVal val="visible"/>
                                      </p:to>
                                    </p:set>
                                    <p:anim calcmode="lin" valueType="num">
                                      <p:cBhvr>
                                        <p:cTn id="50" dur="500" fill="hold"/>
                                        <p:tgtEl>
                                          <p:spTgt spid="21511"/>
                                        </p:tgtEl>
                                        <p:attrNameLst>
                                          <p:attrName>ppt_x</p:attrName>
                                        </p:attrNameLst>
                                      </p:cBhvr>
                                      <p:tavLst>
                                        <p:tav tm="0">
                                          <p:val>
                                            <p:strVal val="#ppt_x"/>
                                          </p:val>
                                        </p:tav>
                                        <p:tav tm="100000">
                                          <p:val>
                                            <p:strVal val="#ppt_x"/>
                                          </p:val>
                                        </p:tav>
                                      </p:tavLst>
                                    </p:anim>
                                    <p:anim calcmode="lin" valueType="num">
                                      <p:cBhvr>
                                        <p:cTn id="51" dur="500" fill="hold"/>
                                        <p:tgtEl>
                                          <p:spTgt spid="21511"/>
                                        </p:tgtEl>
                                        <p:attrNameLst>
                                          <p:attrName>ppt_y</p:attrName>
                                        </p:attrNameLst>
                                      </p:cBhvr>
                                      <p:tavLst>
                                        <p:tav tm="0">
                                          <p:val>
                                            <p:strVal val="#ppt_y+#ppt_h/2"/>
                                          </p:val>
                                        </p:tav>
                                        <p:tav tm="100000">
                                          <p:val>
                                            <p:strVal val="#ppt_y"/>
                                          </p:val>
                                        </p:tav>
                                      </p:tavLst>
                                    </p:anim>
                                    <p:anim calcmode="lin" valueType="num">
                                      <p:cBhvr>
                                        <p:cTn id="52" dur="500" fill="hold"/>
                                        <p:tgtEl>
                                          <p:spTgt spid="21511"/>
                                        </p:tgtEl>
                                        <p:attrNameLst>
                                          <p:attrName>ppt_w</p:attrName>
                                        </p:attrNameLst>
                                      </p:cBhvr>
                                      <p:tavLst>
                                        <p:tav tm="0">
                                          <p:val>
                                            <p:strVal val="#ppt_w"/>
                                          </p:val>
                                        </p:tav>
                                        <p:tav tm="100000">
                                          <p:val>
                                            <p:strVal val="#ppt_w"/>
                                          </p:val>
                                        </p:tav>
                                      </p:tavLst>
                                    </p:anim>
                                    <p:anim calcmode="lin" valueType="num">
                                      <p:cBhvr>
                                        <p:cTn id="53" dur="500" fill="hold"/>
                                        <p:tgtEl>
                                          <p:spTgt spid="21511"/>
                                        </p:tgtEl>
                                        <p:attrNameLst>
                                          <p:attrName>ppt_h</p:attrName>
                                        </p:attrNameLst>
                                      </p:cBhvr>
                                      <p:tavLst>
                                        <p:tav tm="0">
                                          <p:val>
                                            <p:fltVal val="0.000000"/>
                                          </p:val>
                                        </p:tav>
                                        <p:tav tm="100000">
                                          <p:val>
                                            <p:strVal val="#ppt_h"/>
                                          </p:val>
                                        </p:tav>
                                      </p:tavLst>
                                    </p:anim>
                                  </p:childTnLst>
                                </p:cTn>
                              </p:par>
                            </p:childTnLst>
                          </p:cTn>
                        </p:par>
                        <p:par>
                          <p:cTn id="54" fill="hold">
                            <p:stCondLst>
                              <p:cond delay="1500"/>
                            </p:stCondLst>
                            <p:childTnLst>
                              <p:par>
                                <p:cTn id="55" presetID="1" presetClass="entr" presetSubtype="0" fill="hold" grpId="0" nodeType="afterEffect">
                                  <p:stCondLst>
                                    <p:cond delay="0"/>
                                  </p:stCondLst>
                                  <p:childTnLst>
                                    <p:set>
                                      <p:cBhvr>
                                        <p:cTn id="56" dur="1" fill="hold">
                                          <p:stCondLst>
                                            <p:cond delay="499"/>
                                          </p:stCondLst>
                                        </p:cTn>
                                        <p:tgtEl>
                                          <p:spTgt spid="21519"/>
                                        </p:tgtEl>
                                        <p:attrNameLst>
                                          <p:attrName>style.visibility</p:attrName>
                                        </p:attrNameLst>
                                      </p:cBhvr>
                                      <p:to>
                                        <p:strVal val="visible"/>
                                      </p:to>
                                    </p:set>
                                  </p:childTnLst>
                                </p:cTn>
                              </p:par>
                            </p:childTnLst>
                          </p:cTn>
                        </p:par>
                        <p:par>
                          <p:cTn id="57" fill="hold">
                            <p:stCondLst>
                              <p:cond delay="2000"/>
                            </p:stCondLst>
                            <p:childTnLst>
                              <p:par>
                                <p:cTn id="58" presetID="4" presetClass="entr" presetSubtype="32" fill="hold" grpId="0" nodeType="afterEffect">
                                  <p:stCondLst>
                                    <p:cond delay="0"/>
                                  </p:stCondLst>
                                  <p:childTnLst>
                                    <p:set>
                                      <p:cBhvr>
                                        <p:cTn id="59" dur="1" fill="hold">
                                          <p:stCondLst>
                                            <p:cond delay="0"/>
                                          </p:stCondLst>
                                        </p:cTn>
                                        <p:tgtEl>
                                          <p:spTgt spid="21512"/>
                                        </p:tgtEl>
                                        <p:attrNameLst>
                                          <p:attrName>style.visibility</p:attrName>
                                        </p:attrNameLst>
                                      </p:cBhvr>
                                      <p:to>
                                        <p:strVal val="visible"/>
                                      </p:to>
                                    </p:set>
                                    <p:animEffect transition="in" filter="box(out)">
                                      <p:cBhvr>
                                        <p:cTn id="60" dur="500"/>
                                        <p:tgtEl>
                                          <p:spTgt spid="21512"/>
                                        </p:tgtEl>
                                      </p:cBhvr>
                                    </p:animEffect>
                                  </p:childTnLst>
                                </p:cTn>
                              </p:par>
                            </p:childTnLst>
                          </p:cTn>
                        </p:par>
                      </p:childTnLst>
                    </p:cTn>
                  </p:par>
                  <p:par>
                    <p:cTn id="61" fill="hold">
                      <p:stCondLst>
                        <p:cond delay="indefinite"/>
                      </p:stCondLst>
                      <p:childTnLst>
                        <p:par>
                          <p:cTn id="62" fill="hold">
                            <p:stCondLst>
                              <p:cond delay="0"/>
                            </p:stCondLst>
                            <p:childTnLst>
                              <p:par>
                                <p:cTn id="63" presetID="15" presetClass="entr" presetSubtype="0" fill="hold" nodeType="clickEffect">
                                  <p:stCondLst>
                                    <p:cond delay="0"/>
                                  </p:stCondLst>
                                  <p:childTnLst>
                                    <p:set>
                                      <p:cBhvr>
                                        <p:cTn id="64" dur="1" fill="hold">
                                          <p:stCondLst>
                                            <p:cond delay="0"/>
                                          </p:stCondLst>
                                        </p:cTn>
                                        <p:tgtEl>
                                          <p:spTgt spid="21528"/>
                                        </p:tgtEl>
                                        <p:attrNameLst>
                                          <p:attrName>style.visibility</p:attrName>
                                        </p:attrNameLst>
                                      </p:cBhvr>
                                      <p:to>
                                        <p:strVal val="visible"/>
                                      </p:to>
                                    </p:set>
                                    <p:anim calcmode="lin" valueType="num">
                                      <p:cBhvr>
                                        <p:cTn id="65" dur="1000" fill="hold"/>
                                        <p:tgtEl>
                                          <p:spTgt spid="21528"/>
                                        </p:tgtEl>
                                        <p:attrNameLst>
                                          <p:attrName>ppt_w</p:attrName>
                                        </p:attrNameLst>
                                      </p:cBhvr>
                                      <p:tavLst>
                                        <p:tav tm="0">
                                          <p:val>
                                            <p:fltVal val="0.000000"/>
                                          </p:val>
                                        </p:tav>
                                        <p:tav tm="100000">
                                          <p:val>
                                            <p:strVal val="#ppt_w"/>
                                          </p:val>
                                        </p:tav>
                                      </p:tavLst>
                                    </p:anim>
                                    <p:anim calcmode="lin" valueType="num">
                                      <p:cBhvr>
                                        <p:cTn id="66" dur="1000" fill="hold"/>
                                        <p:tgtEl>
                                          <p:spTgt spid="21528"/>
                                        </p:tgtEl>
                                        <p:attrNameLst>
                                          <p:attrName>ppt_h</p:attrName>
                                        </p:attrNameLst>
                                      </p:cBhvr>
                                      <p:tavLst>
                                        <p:tav tm="0">
                                          <p:val>
                                            <p:fltVal val="0.000000"/>
                                          </p:val>
                                        </p:tav>
                                        <p:tav tm="100000">
                                          <p:val>
                                            <p:strVal val="#ppt_h"/>
                                          </p:val>
                                        </p:tav>
                                      </p:tavLst>
                                    </p:anim>
                                    <p:anim calcmode="lin" valueType="num">
                                      <p:cBhvr>
                                        <p:cTn id="67" dur="1000" fill="hold"/>
                                        <p:tgtEl>
                                          <p:spTgt spid="21528"/>
                                        </p:tgtEl>
                                        <p:attrNameLst>
                                          <p:attrName>ppt_x</p:attrName>
                                        </p:attrNameLst>
                                      </p:cBhvr>
                                      <p:tavLst>
                                        <p:tav tm="0" fmla="#ppt_x+(cos(-2*pi*(1-$))*-#ppt_x-sin(-2*pi*(1-$))*(1-#ppt_y))*(1-$)">
                                          <p:val>
                                            <p:fltVal val="0.000000"/>
                                          </p:val>
                                        </p:tav>
                                        <p:tav tm="100000">
                                          <p:val>
                                            <p:fltVal val="1.000000"/>
                                          </p:val>
                                        </p:tav>
                                      </p:tavLst>
                                    </p:anim>
                                    <p:anim calcmode="lin" valueType="num">
                                      <p:cBhvr>
                                        <p:cTn id="68" dur="1000" fill="hold"/>
                                        <p:tgtEl>
                                          <p:spTgt spid="21528"/>
                                        </p:tgtEl>
                                        <p:attrNameLst>
                                          <p:attrName>ppt_y</p:attrName>
                                        </p:attrNameLst>
                                      </p:cBhvr>
                                      <p:tavLst>
                                        <p:tav tm="0" fmla="#ppt_y+(sin(-2*pi*(1-$))*-#ppt_x+cos(-2*pi*(1-$))*(1-#ppt_y))*(1-$)">
                                          <p:val>
                                            <p:fltVal val="0.000000"/>
                                          </p:val>
                                        </p:tav>
                                        <p:tav tm="100000">
                                          <p:val>
                                            <p:fltVal val="1.000000"/>
                                          </p:val>
                                        </p:tav>
                                      </p:tavLst>
                                    </p:anim>
                                  </p:childTnLst>
                                </p:cTn>
                              </p:par>
                            </p:childTnLst>
                          </p:cTn>
                        </p:par>
                        <p:par>
                          <p:cTn id="69" fill="hold">
                            <p:stCondLst>
                              <p:cond delay="1000"/>
                            </p:stCondLst>
                            <p:childTnLst>
                              <p:par>
                                <p:cTn id="70" presetID="16" presetClass="entr" presetSubtype="26" fill="hold" grpId="0" nodeType="afterEffect">
                                  <p:stCondLst>
                                    <p:cond delay="0"/>
                                  </p:stCondLst>
                                  <p:childTnLst>
                                    <p:set>
                                      <p:cBhvr>
                                        <p:cTn id="71" dur="1" fill="hold">
                                          <p:stCondLst>
                                            <p:cond delay="0"/>
                                          </p:stCondLst>
                                        </p:cTn>
                                        <p:tgtEl>
                                          <p:spTgt spid="21509"/>
                                        </p:tgtEl>
                                        <p:attrNameLst>
                                          <p:attrName>style.visibility</p:attrName>
                                        </p:attrNameLst>
                                      </p:cBhvr>
                                      <p:to>
                                        <p:strVal val="visible"/>
                                      </p:to>
                                    </p:set>
                                    <p:animEffect transition="in" filter="barn(inHorizontal)">
                                      <p:cBhvr>
                                        <p:cTn id="72" dur="500"/>
                                        <p:tgtEl>
                                          <p:spTgt spid="21509"/>
                                        </p:tgtEl>
                                      </p:cBhvr>
                                    </p:animEffect>
                                  </p:childTnLst>
                                </p:cTn>
                              </p:par>
                            </p:childTnLst>
                          </p:cTn>
                        </p:par>
                        <p:par>
                          <p:cTn id="73" fill="hold">
                            <p:stCondLst>
                              <p:cond delay="1500"/>
                            </p:stCondLst>
                            <p:childTnLst>
                              <p:par>
                                <p:cTn id="74" presetID="22" presetClass="entr" presetSubtype="1" fill="hold" nodeType="afterEffect">
                                  <p:stCondLst>
                                    <p:cond delay="0"/>
                                  </p:stCondLst>
                                  <p:childTnLst>
                                    <p:set>
                                      <p:cBhvr>
                                        <p:cTn id="75" dur="1" fill="hold">
                                          <p:stCondLst>
                                            <p:cond delay="0"/>
                                          </p:stCondLst>
                                        </p:cTn>
                                        <p:tgtEl>
                                          <p:spTgt spid="21517"/>
                                        </p:tgtEl>
                                        <p:attrNameLst>
                                          <p:attrName>style.visibility</p:attrName>
                                        </p:attrNameLst>
                                      </p:cBhvr>
                                      <p:to>
                                        <p:strVal val="visible"/>
                                      </p:to>
                                    </p:set>
                                    <p:animEffect transition="in" filter="wipe(up)">
                                      <p:cBhvr>
                                        <p:cTn id="76" dur="500"/>
                                        <p:tgtEl>
                                          <p:spTgt spid="21517"/>
                                        </p:tgtEl>
                                      </p:cBhvr>
                                    </p:animEffect>
                                  </p:childTnLst>
                                </p:cTn>
                              </p:par>
                            </p:childTnLst>
                          </p:cTn>
                        </p:par>
                        <p:par>
                          <p:cTn id="77" fill="hold">
                            <p:stCondLst>
                              <p:cond delay="2000"/>
                            </p:stCondLst>
                            <p:childTnLst>
                              <p:par>
                                <p:cTn id="78" presetID="4" presetClass="entr" presetSubtype="16" fill="hold" grpId="0" nodeType="afterEffect">
                                  <p:stCondLst>
                                    <p:cond delay="0"/>
                                  </p:stCondLst>
                                  <p:childTnLst>
                                    <p:set>
                                      <p:cBhvr>
                                        <p:cTn id="79" dur="1" fill="hold">
                                          <p:stCondLst>
                                            <p:cond delay="0"/>
                                          </p:stCondLst>
                                        </p:cTn>
                                        <p:tgtEl>
                                          <p:spTgt spid="21516"/>
                                        </p:tgtEl>
                                        <p:attrNameLst>
                                          <p:attrName>style.visibility</p:attrName>
                                        </p:attrNameLst>
                                      </p:cBhvr>
                                      <p:to>
                                        <p:strVal val="visible"/>
                                      </p:to>
                                    </p:set>
                                    <p:animEffect transition="in" filter="box(in)">
                                      <p:cBhvr>
                                        <p:cTn id="80" dur="500"/>
                                        <p:tgtEl>
                                          <p:spTgt spid="21516"/>
                                        </p:tgtEl>
                                      </p:cBhvr>
                                    </p:animEffect>
                                  </p:childTnLst>
                                </p:cTn>
                              </p:par>
                            </p:childTnLst>
                          </p:cTn>
                        </p:par>
                        <p:par>
                          <p:cTn id="81" fill="hold">
                            <p:stCondLst>
                              <p:cond delay="2500"/>
                            </p:stCondLst>
                            <p:childTnLst>
                              <p:par>
                                <p:cTn id="82" presetID="9" presetClass="entr" presetSubtype="0" fill="hold" grpId="0" nodeType="afterEffect">
                                  <p:stCondLst>
                                    <p:cond delay="0"/>
                                  </p:stCondLst>
                                  <p:childTnLst>
                                    <p:set>
                                      <p:cBhvr>
                                        <p:cTn id="83" dur="1" fill="hold">
                                          <p:stCondLst>
                                            <p:cond delay="0"/>
                                          </p:stCondLst>
                                        </p:cTn>
                                        <p:tgtEl>
                                          <p:spTgt spid="21515"/>
                                        </p:tgtEl>
                                        <p:attrNameLst>
                                          <p:attrName>style.visibility</p:attrName>
                                        </p:attrNameLst>
                                      </p:cBhvr>
                                      <p:to>
                                        <p:strVal val="visible"/>
                                      </p:to>
                                    </p:set>
                                    <p:animEffect transition="in" filter="dissolve">
                                      <p:cBhvr>
                                        <p:cTn id="84" dur="500"/>
                                        <p:tgtEl>
                                          <p:spTgt spid="21515"/>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21514"/>
                                        </p:tgtEl>
                                        <p:attrNameLst>
                                          <p:attrName>style.visibility</p:attrName>
                                        </p:attrNameLst>
                                      </p:cBhvr>
                                      <p:to>
                                        <p:strVal val="visible"/>
                                      </p:to>
                                    </p:set>
                                    <p:animEffect transition="in" filter="dissolve">
                                      <p:cBhvr>
                                        <p:cTn id="89" dur="500"/>
                                        <p:tgtEl>
                                          <p:spTgt spid="21514"/>
                                        </p:tgtEl>
                                      </p:cBhvr>
                                    </p:animEffect>
                                  </p:childTnLst>
                                </p:cTn>
                              </p:par>
                            </p:childTnLst>
                          </p:cTn>
                        </p:par>
                      </p:childTnLst>
                    </p:cTn>
                  </p:par>
                  <p:par>
                    <p:cTn id="90" fill="hold">
                      <p:stCondLst>
                        <p:cond delay="indefinite"/>
                      </p:stCondLst>
                      <p:childTnLst>
                        <p:par>
                          <p:cTn id="91" fill="hold">
                            <p:stCondLst>
                              <p:cond delay="0"/>
                            </p:stCondLst>
                            <p:childTnLst>
                              <p:par>
                                <p:cTn id="92" presetID="23" presetClass="entr" presetSubtype="528" fill="hold" grpId="0" nodeType="clickEffect">
                                  <p:stCondLst>
                                    <p:cond delay="0"/>
                                  </p:stCondLst>
                                  <p:childTnLst>
                                    <p:set>
                                      <p:cBhvr>
                                        <p:cTn id="93" dur="1" fill="hold">
                                          <p:stCondLst>
                                            <p:cond delay="0"/>
                                          </p:stCondLst>
                                        </p:cTn>
                                        <p:tgtEl>
                                          <p:spTgt spid="21529"/>
                                        </p:tgtEl>
                                        <p:attrNameLst>
                                          <p:attrName>style.visibility</p:attrName>
                                        </p:attrNameLst>
                                      </p:cBhvr>
                                      <p:to>
                                        <p:strVal val="visible"/>
                                      </p:to>
                                    </p:set>
                                    <p:anim calcmode="lin" valueType="num">
                                      <p:cBhvr>
                                        <p:cTn id="94" dur="500" fill="hold"/>
                                        <p:tgtEl>
                                          <p:spTgt spid="21529"/>
                                        </p:tgtEl>
                                        <p:attrNameLst>
                                          <p:attrName>ppt_w</p:attrName>
                                        </p:attrNameLst>
                                      </p:cBhvr>
                                      <p:tavLst>
                                        <p:tav tm="0">
                                          <p:val>
                                            <p:fltVal val="0.000000"/>
                                          </p:val>
                                        </p:tav>
                                        <p:tav tm="100000">
                                          <p:val>
                                            <p:strVal val="#ppt_w"/>
                                          </p:val>
                                        </p:tav>
                                      </p:tavLst>
                                    </p:anim>
                                    <p:anim calcmode="lin" valueType="num">
                                      <p:cBhvr>
                                        <p:cTn id="95" dur="500" fill="hold"/>
                                        <p:tgtEl>
                                          <p:spTgt spid="21529"/>
                                        </p:tgtEl>
                                        <p:attrNameLst>
                                          <p:attrName>ppt_h</p:attrName>
                                        </p:attrNameLst>
                                      </p:cBhvr>
                                      <p:tavLst>
                                        <p:tav tm="0">
                                          <p:val>
                                            <p:fltVal val="0.000000"/>
                                          </p:val>
                                        </p:tav>
                                        <p:tav tm="100000">
                                          <p:val>
                                            <p:strVal val="#ppt_h"/>
                                          </p:val>
                                        </p:tav>
                                      </p:tavLst>
                                    </p:anim>
                                    <p:anim calcmode="lin" valueType="num">
                                      <p:cBhvr>
                                        <p:cTn id="96" dur="500" fill="hold"/>
                                        <p:tgtEl>
                                          <p:spTgt spid="21529"/>
                                        </p:tgtEl>
                                        <p:attrNameLst>
                                          <p:attrName>ppt_x</p:attrName>
                                        </p:attrNameLst>
                                      </p:cBhvr>
                                      <p:tavLst>
                                        <p:tav tm="0">
                                          <p:val>
                                            <p:fltVal val="0.500000"/>
                                          </p:val>
                                        </p:tav>
                                        <p:tav tm="100000">
                                          <p:val>
                                            <p:strVal val="#ppt_x"/>
                                          </p:val>
                                        </p:tav>
                                      </p:tavLst>
                                    </p:anim>
                                    <p:anim calcmode="lin" valueType="num">
                                      <p:cBhvr>
                                        <p:cTn id="97" dur="500" fill="hold"/>
                                        <p:tgtEl>
                                          <p:spTgt spid="21529"/>
                                        </p:tgtEl>
                                        <p:attrNameLst>
                                          <p:attrName>ppt_y</p:attrName>
                                        </p:attrNameLst>
                                      </p:cBhvr>
                                      <p:tavLst>
                                        <p:tav tm="0">
                                          <p:val>
                                            <p:fltVal val="0.500000"/>
                                          </p:val>
                                        </p:tav>
                                        <p:tav tm="100000">
                                          <p:val>
                                            <p:strVal val="#ppt_y"/>
                                          </p:val>
                                        </p:tav>
                                      </p:tavLst>
                                    </p:anim>
                                  </p:childTnLst>
                                </p:cTn>
                              </p:par>
                            </p:childTnLst>
                          </p:cTn>
                        </p:par>
                        <p:par>
                          <p:cTn id="98" fill="hold">
                            <p:stCondLst>
                              <p:cond delay="500"/>
                            </p:stCondLst>
                            <p:childTnLst>
                              <p:par>
                                <p:cTn id="99" presetID="23" presetClass="entr" presetSubtype="32" fill="hold" grpId="0" nodeType="afterEffect">
                                  <p:stCondLst>
                                    <p:cond delay="0"/>
                                  </p:stCondLst>
                                  <p:childTnLst>
                                    <p:set>
                                      <p:cBhvr>
                                        <p:cTn id="100" dur="1" fill="hold">
                                          <p:stCondLst>
                                            <p:cond delay="0"/>
                                          </p:stCondLst>
                                        </p:cTn>
                                        <p:tgtEl>
                                          <p:spTgt spid="21530"/>
                                        </p:tgtEl>
                                        <p:attrNameLst>
                                          <p:attrName>style.visibility</p:attrName>
                                        </p:attrNameLst>
                                      </p:cBhvr>
                                      <p:to>
                                        <p:strVal val="visible"/>
                                      </p:to>
                                    </p:set>
                                    <p:anim calcmode="lin" valueType="num">
                                      <p:cBhvr>
                                        <p:cTn id="101" dur="500" fill="hold"/>
                                        <p:tgtEl>
                                          <p:spTgt spid="21530"/>
                                        </p:tgtEl>
                                        <p:attrNameLst>
                                          <p:attrName>ppt_w</p:attrName>
                                        </p:attrNameLst>
                                      </p:cBhvr>
                                      <p:tavLst>
                                        <p:tav tm="0">
                                          <p:val>
                                            <p:strVal val="4*#ppt_w"/>
                                          </p:val>
                                        </p:tav>
                                        <p:tav tm="100000">
                                          <p:val>
                                            <p:strVal val="#ppt_w"/>
                                          </p:val>
                                        </p:tav>
                                      </p:tavLst>
                                    </p:anim>
                                    <p:anim calcmode="lin" valueType="num">
                                      <p:cBhvr>
                                        <p:cTn id="102" dur="500" fill="hold"/>
                                        <p:tgtEl>
                                          <p:spTgt spid="21530"/>
                                        </p:tgtEl>
                                        <p:attrNameLst>
                                          <p:attrName>ppt_h</p:attrName>
                                        </p:attrNameLst>
                                      </p:cBhvr>
                                      <p:tavLst>
                                        <p:tav tm="0">
                                          <p:val>
                                            <p:strVal val="4*#ppt_h"/>
                                          </p:val>
                                        </p:tav>
                                        <p:tav tm="100000">
                                          <p:val>
                                            <p:strVal val="#ppt_h"/>
                                          </p:val>
                                        </p:tav>
                                      </p:tavLst>
                                    </p:anim>
                                  </p:childTnLst>
                                  <p:subTnLst>
                                    <p:animClr clrSpc="rgb" dir="cw">
                                      <p:cBhvr override="childStyle">
                                        <p:cTn dur="1" fill="hold" display="0" masterRel="nextClick" afterEffect="1"/>
                                        <p:tgtEl>
                                          <p:spTgt spid="21530"/>
                                        </p:tgtEl>
                                        <p:attrNameLst>
                                          <p:attrName>ppt_c</p:attrName>
                                        </p:attrNameLst>
                                      </p:cBhvr>
                                      <p:to>
                                        <a:schemeClr val="hlink"/>
                                      </p:to>
                                    </p:animClr>
                                  </p:subTnLst>
                                </p:cTn>
                              </p:par>
                            </p:childTnLst>
                          </p:cTn>
                        </p:par>
                        <p:par>
                          <p:cTn id="103" fill="hold">
                            <p:stCondLst>
                              <p:cond delay="1000"/>
                            </p:stCondLst>
                            <p:childTnLst>
                              <p:par>
                                <p:cTn id="104" presetID="9" presetClass="entr" presetSubtype="0" fill="hold" nodeType="afterEffect">
                                  <p:stCondLst>
                                    <p:cond delay="0"/>
                                  </p:stCondLst>
                                  <p:childTnLst>
                                    <p:set>
                                      <p:cBhvr>
                                        <p:cTn id="105" dur="1" fill="hold">
                                          <p:stCondLst>
                                            <p:cond delay="0"/>
                                          </p:stCondLst>
                                        </p:cTn>
                                        <p:tgtEl>
                                          <p:spTgt spid="21525"/>
                                        </p:tgtEl>
                                        <p:attrNameLst>
                                          <p:attrName>style.visibility</p:attrName>
                                        </p:attrNameLst>
                                      </p:cBhvr>
                                      <p:to>
                                        <p:strVal val="visible"/>
                                      </p:to>
                                    </p:set>
                                    <p:animEffect transition="in" filter="dissolve">
                                      <p:cBhvr>
                                        <p:cTn id="106" dur="500"/>
                                        <p:tgtEl>
                                          <p:spTgt spid="21525"/>
                                        </p:tgtEl>
                                      </p:cBhvr>
                                    </p:animEffect>
                                  </p:childTnLst>
                                </p:cTn>
                              </p:par>
                            </p:childTnLst>
                          </p:cTn>
                        </p:par>
                        <p:par>
                          <p:cTn id="107" fill="hold">
                            <p:stCondLst>
                              <p:cond delay="1500"/>
                            </p:stCondLst>
                            <p:childTnLst>
                              <p:par>
                                <p:cTn id="108" presetID="9" presetClass="entr" presetSubtype="0" fill="hold" nodeType="afterEffect">
                                  <p:stCondLst>
                                    <p:cond delay="0"/>
                                  </p:stCondLst>
                                  <p:childTnLst>
                                    <p:set>
                                      <p:cBhvr>
                                        <p:cTn id="109" dur="1" fill="hold">
                                          <p:stCondLst>
                                            <p:cond delay="0"/>
                                          </p:stCondLst>
                                        </p:cTn>
                                        <p:tgtEl>
                                          <p:spTgt spid="21524"/>
                                        </p:tgtEl>
                                        <p:attrNameLst>
                                          <p:attrName>style.visibility</p:attrName>
                                        </p:attrNameLst>
                                      </p:cBhvr>
                                      <p:to>
                                        <p:strVal val="visible"/>
                                      </p:to>
                                    </p:set>
                                    <p:animEffect transition="in" filter="dissolve">
                                      <p:cBhvr>
                                        <p:cTn id="110" dur="500"/>
                                        <p:tgtEl>
                                          <p:spTgt spid="21524"/>
                                        </p:tgtEl>
                                      </p:cBhvr>
                                    </p:animEffect>
                                  </p:childTnLst>
                                </p:cTn>
                              </p:par>
                            </p:childTnLst>
                          </p:cTn>
                        </p:par>
                        <p:par>
                          <p:cTn id="111" fill="hold">
                            <p:stCondLst>
                              <p:cond delay="2000"/>
                            </p:stCondLst>
                            <p:childTnLst>
                              <p:par>
                                <p:cTn id="112" presetID="9" presetClass="entr" presetSubtype="0" fill="hold" nodeType="afterEffect">
                                  <p:stCondLst>
                                    <p:cond delay="0"/>
                                  </p:stCondLst>
                                  <p:childTnLst>
                                    <p:set>
                                      <p:cBhvr>
                                        <p:cTn id="113" dur="1" fill="hold">
                                          <p:stCondLst>
                                            <p:cond delay="0"/>
                                          </p:stCondLst>
                                        </p:cTn>
                                        <p:tgtEl>
                                          <p:spTgt spid="21523"/>
                                        </p:tgtEl>
                                        <p:attrNameLst>
                                          <p:attrName>style.visibility</p:attrName>
                                        </p:attrNameLst>
                                      </p:cBhvr>
                                      <p:to>
                                        <p:strVal val="visible"/>
                                      </p:to>
                                    </p:set>
                                    <p:animEffect transition="in" filter="dissolve">
                                      <p:cBhvr>
                                        <p:cTn id="114" dur="500"/>
                                        <p:tgtEl>
                                          <p:spTgt spid="21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08" grpId="0"/>
      <p:bldP spid="21509" grpId="0"/>
      <p:bldP spid="21512" grpId="0"/>
      <p:bldP spid="21513" grpId="0"/>
      <p:bldP spid="21514" grpId="0"/>
      <p:bldP spid="21515" grpId="0"/>
      <p:bldP spid="21516" grpId="0"/>
      <p:bldP spid="21518" grpId="0"/>
      <p:bldP spid="21519" grpId="0"/>
      <p:bldP spid="21520" grpId="0"/>
      <p:bldP spid="21521" grpId="0"/>
      <p:bldP spid="21522" grpId="0"/>
      <p:bldP spid="21529" grpId="0"/>
      <p:bldP spid="2153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ph type="title"/>
          </p:nvPr>
        </p:nvSpPr>
        <p:spPr>
          <a:xfrm>
            <a:off x="457200" y="274638"/>
            <a:ext cx="5576888" cy="609600"/>
          </a:xfrm>
        </p:spPr>
        <p:txBody>
          <a:bodyPr wrap="square" lIns="91440" tIns="45720" rIns="91440" bIns="45720" anchor="ctr"/>
          <a:p>
            <a:pPr algn="l" eaLnBrk="1" hangingPunct="1"/>
            <a:r>
              <a:rPr lang="en-US" altLang="zh-CN" sz="3200" b="1" dirty="0">
                <a:solidFill>
                  <a:srgbClr val="FFFF00"/>
                </a:solidFill>
              </a:rPr>
              <a:t> </a:t>
            </a:r>
            <a:r>
              <a:rPr lang="zh-CN" altLang="en-US" sz="3200" b="1" dirty="0">
                <a:solidFill>
                  <a:srgbClr val="FFFF00"/>
                </a:solidFill>
              </a:rPr>
              <a:t>温度对晶体管特性的影响</a:t>
            </a:r>
            <a:endParaRPr lang="zh-CN" altLang="en-US" sz="3200" b="1" dirty="0">
              <a:solidFill>
                <a:srgbClr val="FFFF00"/>
              </a:solidFill>
            </a:endParaRPr>
          </a:p>
        </p:txBody>
      </p:sp>
      <p:graphicFrame>
        <p:nvGraphicFramePr>
          <p:cNvPr id="47106" name="Object 3"/>
          <p:cNvGraphicFramePr>
            <a:graphicFrameLocks noGrp="1" noChangeAspect="1"/>
          </p:cNvGraphicFramePr>
          <p:nvPr>
            <p:ph idx="1"/>
          </p:nvPr>
        </p:nvGraphicFramePr>
        <p:xfrm>
          <a:off x="2514600" y="2057400"/>
          <a:ext cx="4441825" cy="4114800"/>
        </p:xfrm>
        <a:graphic>
          <a:graphicData uri="http://schemas.openxmlformats.org/presentationml/2006/ole">
            <mc:AlternateContent xmlns:mc="http://schemas.openxmlformats.org/markup-compatibility/2006">
              <mc:Choice xmlns:v="urn:schemas-microsoft-com:vml" Requires="v">
                <p:oleObj spid="_x0000_s3131" name="" r:id="rId1" imgW="10086975" imgH="9344025" progId="MSPhotoEd.3">
                  <p:embed/>
                </p:oleObj>
              </mc:Choice>
              <mc:Fallback>
                <p:oleObj name="" r:id="rId1" imgW="10086975" imgH="9344025" progId="MSPhotoEd.3">
                  <p:embed/>
                  <p:pic>
                    <p:nvPicPr>
                      <p:cNvPr id="0" name="图片 3130"/>
                      <p:cNvPicPr/>
                      <p:nvPr/>
                    </p:nvPicPr>
                    <p:blipFill>
                      <a:blip r:embed="rId2"/>
                      <a:stretch>
                        <a:fillRect/>
                      </a:stretch>
                    </p:blipFill>
                    <p:spPr>
                      <a:xfrm>
                        <a:off x="2514600" y="2057400"/>
                        <a:ext cx="4441825" cy="4114800"/>
                      </a:xfrm>
                      <a:prstGeom prst="rect">
                        <a:avLst/>
                      </a:prstGeom>
                      <a:noFill/>
                      <a:ln w="38100">
                        <a:miter/>
                      </a:ln>
                    </p:spPr>
                  </p:pic>
                </p:oleObj>
              </mc:Fallback>
            </mc:AlternateContent>
          </a:graphicData>
        </a:graphic>
      </p:graphicFrame>
      <p:sp>
        <p:nvSpPr>
          <p:cNvPr id="47107" name="Text Box 5"/>
          <p:cNvSpPr txBox="1"/>
          <p:nvPr/>
        </p:nvSpPr>
        <p:spPr>
          <a:xfrm>
            <a:off x="1057275" y="1143000"/>
            <a:ext cx="3276600" cy="519113"/>
          </a:xfrm>
          <a:prstGeom prst="rect">
            <a:avLst/>
          </a:prstGeom>
          <a:noFill/>
          <a:ln w="9525">
            <a:noFill/>
          </a:ln>
        </p:spPr>
        <p:txBody>
          <a:bodyPr anchor="t">
            <a:spAutoFit/>
          </a:bodyPr>
          <a:p>
            <a:pPr>
              <a:spcBef>
                <a:spcPct val="50000"/>
              </a:spcBef>
            </a:pPr>
            <a:r>
              <a:rPr lang="zh-CN" altLang="en-US" sz="2800" b="1" dirty="0">
                <a:solidFill>
                  <a:schemeClr val="bg1"/>
                </a:solidFill>
                <a:latin typeface="Times New Roman" panose="02020603050405020304" pitchFamily="18" charset="0"/>
                <a:ea typeface="宋体" panose="02010600030101010101" pitchFamily="2" charset="-122"/>
              </a:rPr>
              <a:t>对输入特性的影响</a:t>
            </a:r>
            <a:endParaRPr lang="zh-CN" altLang="en-US" sz="2800" b="1" dirty="0">
              <a:solidFill>
                <a:schemeClr val="bg1"/>
              </a:solidFill>
              <a:latin typeface="Times New Roman" panose="02020603050405020304" pitchFamily="18" charset="0"/>
              <a:ea typeface="宋体" panose="02010600030101010101" pitchFamily="2" charset="-122"/>
            </a:endParaRPr>
          </a:p>
        </p:txBody>
      </p:sp>
      <p:sp>
        <p:nvSpPr>
          <p:cNvPr id="47108" name="Text Box 6">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7109" name="Text Box 7">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7110" name="Text Box 9"/>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p:nvPr>
        </p:nvSpPr>
        <p:spPr>
          <a:xfrm>
            <a:off x="493713" y="473075"/>
            <a:ext cx="5360987" cy="609600"/>
          </a:xfrm>
        </p:spPr>
        <p:txBody>
          <a:bodyPr wrap="square" lIns="91440" tIns="45720" rIns="91440" bIns="45720" anchor="ctr"/>
          <a:p>
            <a:pPr algn="l" eaLnBrk="1" hangingPunct="1"/>
            <a:r>
              <a:rPr lang="zh-CN" altLang="en-US" sz="3200" b="1" dirty="0">
                <a:solidFill>
                  <a:srgbClr val="FFFF00"/>
                </a:solidFill>
              </a:rPr>
              <a:t>对晶体管输出特性的影响</a:t>
            </a:r>
            <a:endParaRPr lang="zh-CN" altLang="en-US" sz="3200" b="1" dirty="0">
              <a:solidFill>
                <a:srgbClr val="FFFF00"/>
              </a:solidFill>
            </a:endParaRPr>
          </a:p>
        </p:txBody>
      </p:sp>
      <p:graphicFrame>
        <p:nvGraphicFramePr>
          <p:cNvPr id="48130" name="Object 3"/>
          <p:cNvGraphicFramePr>
            <a:graphicFrameLocks noGrp="1" noChangeAspect="1"/>
          </p:cNvGraphicFramePr>
          <p:nvPr>
            <p:ph idx="1"/>
          </p:nvPr>
        </p:nvGraphicFramePr>
        <p:xfrm>
          <a:off x="1447800" y="1752600"/>
          <a:ext cx="6275388" cy="4114800"/>
        </p:xfrm>
        <a:graphic>
          <a:graphicData uri="http://schemas.openxmlformats.org/presentationml/2006/ole">
            <mc:AlternateContent xmlns:mc="http://schemas.openxmlformats.org/markup-compatibility/2006">
              <mc:Choice xmlns:v="urn:schemas-microsoft-com:vml" Requires="v">
                <p:oleObj spid="_x0000_s3132" name="" r:id="rId1" imgW="13249275" imgH="8686800" progId="MSPhotoEd.3">
                  <p:embed/>
                </p:oleObj>
              </mc:Choice>
              <mc:Fallback>
                <p:oleObj name="" r:id="rId1" imgW="13249275" imgH="8686800" progId="MSPhotoEd.3">
                  <p:embed/>
                  <p:pic>
                    <p:nvPicPr>
                      <p:cNvPr id="0" name="图片 3131"/>
                      <p:cNvPicPr/>
                      <p:nvPr/>
                    </p:nvPicPr>
                    <p:blipFill>
                      <a:blip r:embed="rId2"/>
                      <a:stretch>
                        <a:fillRect/>
                      </a:stretch>
                    </p:blipFill>
                    <p:spPr>
                      <a:xfrm>
                        <a:off x="1447800" y="1752600"/>
                        <a:ext cx="6275388" cy="4114800"/>
                      </a:xfrm>
                      <a:prstGeom prst="rect">
                        <a:avLst/>
                      </a:prstGeom>
                      <a:noFill/>
                      <a:ln w="38100">
                        <a:miter/>
                      </a:ln>
                    </p:spPr>
                  </p:pic>
                </p:oleObj>
              </mc:Fallback>
            </mc:AlternateContent>
          </a:graphicData>
        </a:graphic>
      </p:graphicFrame>
      <p:sp>
        <p:nvSpPr>
          <p:cNvPr id="48131" name="Text Box 5">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8132" name="Text Box 6">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8133" name="Text Box 8"/>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a:xfrm>
            <a:off x="944563" y="358775"/>
            <a:ext cx="2747962" cy="762000"/>
          </a:xfrm>
        </p:spPr>
        <p:txBody>
          <a:bodyPr wrap="square" lIns="91440" tIns="45720" rIns="91440" bIns="45720" anchor="ctr"/>
          <a:p>
            <a:pPr algn="l" eaLnBrk="1" hangingPunct="1"/>
            <a:r>
              <a:rPr lang="en-US" altLang="zh-CN" sz="3200" b="1" dirty="0">
                <a:solidFill>
                  <a:srgbClr val="FFFF00"/>
                </a:solidFill>
              </a:rPr>
              <a:t> </a:t>
            </a:r>
            <a:r>
              <a:rPr lang="zh-CN" altLang="en-US" sz="3200" b="1" dirty="0">
                <a:solidFill>
                  <a:srgbClr val="FFFF00"/>
                </a:solidFill>
              </a:rPr>
              <a:t>光电三极管</a:t>
            </a:r>
            <a:endParaRPr lang="zh-CN" altLang="en-US" sz="3200" b="1" dirty="0">
              <a:solidFill>
                <a:srgbClr val="FFFF00"/>
              </a:solidFill>
            </a:endParaRPr>
          </a:p>
        </p:txBody>
      </p:sp>
      <p:graphicFrame>
        <p:nvGraphicFramePr>
          <p:cNvPr id="49154" name="Object 3"/>
          <p:cNvGraphicFramePr>
            <a:graphicFrameLocks noGrp="1" noChangeAspect="1"/>
          </p:cNvGraphicFramePr>
          <p:nvPr>
            <p:ph idx="1"/>
          </p:nvPr>
        </p:nvGraphicFramePr>
        <p:xfrm>
          <a:off x="1143000" y="1752600"/>
          <a:ext cx="7010400" cy="3414713"/>
        </p:xfrm>
        <a:graphic>
          <a:graphicData uri="http://schemas.openxmlformats.org/presentationml/2006/ole">
            <mc:AlternateContent xmlns:mc="http://schemas.openxmlformats.org/markup-compatibility/2006">
              <mc:Choice xmlns:v="urn:schemas-microsoft-com:vml" Requires="v">
                <p:oleObj spid="_x0000_s3138" name="" r:id="rId1" imgW="15906750" imgH="7743825" progId="MSPhotoEd.3">
                  <p:embed/>
                </p:oleObj>
              </mc:Choice>
              <mc:Fallback>
                <p:oleObj name="" r:id="rId1" imgW="15906750" imgH="7743825" progId="MSPhotoEd.3">
                  <p:embed/>
                  <p:pic>
                    <p:nvPicPr>
                      <p:cNvPr id="0" name="图片 3137"/>
                      <p:cNvPicPr/>
                      <p:nvPr/>
                    </p:nvPicPr>
                    <p:blipFill>
                      <a:blip r:embed="rId2"/>
                      <a:stretch>
                        <a:fillRect/>
                      </a:stretch>
                    </p:blipFill>
                    <p:spPr>
                      <a:xfrm>
                        <a:off x="1143000" y="1752600"/>
                        <a:ext cx="7010400" cy="3414713"/>
                      </a:xfrm>
                      <a:prstGeom prst="rect">
                        <a:avLst/>
                      </a:prstGeom>
                      <a:noFill/>
                      <a:ln w="38100">
                        <a:miter/>
                      </a:ln>
                    </p:spPr>
                  </p:pic>
                </p:oleObj>
              </mc:Fallback>
            </mc:AlternateContent>
          </a:graphicData>
        </a:graphic>
      </p:graphicFrame>
      <p:sp>
        <p:nvSpPr>
          <p:cNvPr id="49155" name="Text Box 5">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9156" name="Text Box 6">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49157" name="Text Box 8"/>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p:nvPr>
        </p:nvSpPr>
        <p:spPr>
          <a:xfrm>
            <a:off x="457200" y="274638"/>
            <a:ext cx="8229600" cy="609600"/>
          </a:xfrm>
        </p:spPr>
        <p:txBody>
          <a:bodyPr wrap="square" lIns="91440" tIns="45720" rIns="91440" bIns="45720" anchor="ctr"/>
          <a:p>
            <a:pPr eaLnBrk="1" hangingPunct="1"/>
            <a:r>
              <a:rPr lang="en-US" altLang="zh-CN" sz="3200" b="1" dirty="0">
                <a:solidFill>
                  <a:srgbClr val="FFFF00"/>
                </a:solidFill>
              </a:rPr>
              <a:t> </a:t>
            </a:r>
            <a:r>
              <a:rPr lang="zh-CN" altLang="en-US" sz="3200" b="1" dirty="0">
                <a:solidFill>
                  <a:srgbClr val="FFFF00"/>
                </a:solidFill>
              </a:rPr>
              <a:t>光电三极管的输出特性曲线</a:t>
            </a:r>
            <a:endParaRPr lang="zh-CN" altLang="en-US" sz="3200" b="1" dirty="0">
              <a:solidFill>
                <a:srgbClr val="FFFF00"/>
              </a:solidFill>
            </a:endParaRPr>
          </a:p>
        </p:txBody>
      </p:sp>
      <p:graphicFrame>
        <p:nvGraphicFramePr>
          <p:cNvPr id="50178" name="Object 3"/>
          <p:cNvGraphicFramePr>
            <a:graphicFrameLocks noGrp="1" noChangeAspect="1"/>
          </p:cNvGraphicFramePr>
          <p:nvPr>
            <p:ph idx="1"/>
          </p:nvPr>
        </p:nvGraphicFramePr>
        <p:xfrm>
          <a:off x="1828800" y="1295400"/>
          <a:ext cx="5351463" cy="4114800"/>
        </p:xfrm>
        <a:graphic>
          <a:graphicData uri="http://schemas.openxmlformats.org/presentationml/2006/ole">
            <mc:AlternateContent xmlns:mc="http://schemas.openxmlformats.org/markup-compatibility/2006">
              <mc:Choice xmlns:v="urn:schemas-microsoft-com:vml" Requires="v">
                <p:oleObj spid="_x0000_s3135" name="" r:id="rId1" imgW="12039600" imgH="9258300" progId="MSPhotoEd.3">
                  <p:embed/>
                </p:oleObj>
              </mc:Choice>
              <mc:Fallback>
                <p:oleObj name="" r:id="rId1" imgW="12039600" imgH="9258300" progId="MSPhotoEd.3">
                  <p:embed/>
                  <p:pic>
                    <p:nvPicPr>
                      <p:cNvPr id="0" name="图片 3134"/>
                      <p:cNvPicPr/>
                      <p:nvPr/>
                    </p:nvPicPr>
                    <p:blipFill>
                      <a:blip r:embed="rId2"/>
                      <a:stretch>
                        <a:fillRect/>
                      </a:stretch>
                    </p:blipFill>
                    <p:spPr>
                      <a:xfrm>
                        <a:off x="1828800" y="1295400"/>
                        <a:ext cx="5351463" cy="4114800"/>
                      </a:xfrm>
                      <a:prstGeom prst="rect">
                        <a:avLst/>
                      </a:prstGeom>
                      <a:noFill/>
                      <a:ln w="38100">
                        <a:miter/>
                      </a:ln>
                    </p:spPr>
                  </p:pic>
                </p:oleObj>
              </mc:Fallback>
            </mc:AlternateContent>
          </a:graphicData>
        </a:graphic>
      </p:graphicFrame>
      <p:sp>
        <p:nvSpPr>
          <p:cNvPr id="50179" name="Text Box 5"/>
          <p:cNvSpPr txBox="1"/>
          <p:nvPr/>
        </p:nvSpPr>
        <p:spPr>
          <a:xfrm>
            <a:off x="1116013" y="5651500"/>
            <a:ext cx="6091237" cy="519113"/>
          </a:xfrm>
          <a:prstGeom prst="rect">
            <a:avLst/>
          </a:prstGeom>
          <a:noFill/>
          <a:ln w="9525">
            <a:noFill/>
          </a:ln>
        </p:spPr>
        <p:txBody>
          <a:bodyPr anchor="t">
            <a:spAutoFit/>
          </a:bodyPr>
          <a:p>
            <a:pPr>
              <a:spcBef>
                <a:spcPct val="50000"/>
              </a:spcBef>
            </a:pPr>
            <a:r>
              <a:rPr lang="zh-CN" altLang="en-US" sz="2800" b="1" dirty="0">
                <a:solidFill>
                  <a:schemeClr val="bg1"/>
                </a:solidFill>
                <a:latin typeface="Times New Roman" panose="02020603050405020304" pitchFamily="18" charset="0"/>
                <a:ea typeface="宋体" panose="02010600030101010101" pitchFamily="2" charset="-122"/>
              </a:rPr>
              <a:t>用途：光电信号传输、系统隔离等</a:t>
            </a:r>
            <a:endParaRPr lang="zh-CN" altLang="en-US" sz="2800" b="1" dirty="0">
              <a:solidFill>
                <a:schemeClr val="bg1"/>
              </a:solidFill>
              <a:latin typeface="Times New Roman" panose="02020603050405020304" pitchFamily="18" charset="0"/>
              <a:ea typeface="宋体" panose="02010600030101010101" pitchFamily="2" charset="-122"/>
            </a:endParaRPr>
          </a:p>
        </p:txBody>
      </p:sp>
      <p:sp>
        <p:nvSpPr>
          <p:cNvPr id="50180" name="Text Box 6">
            <a:hlinkClick r:id="" action="ppaction://hlinkshowjump?jump=previousslide"/>
          </p:cNvPr>
          <p:cNvSpPr txBox="1"/>
          <p:nvPr/>
        </p:nvSpPr>
        <p:spPr>
          <a:xfrm>
            <a:off x="5181600" y="6262688"/>
            <a:ext cx="9144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上页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50181" name="Text Box 7">
            <a:hlinkClick r:id="" action="ppaction://hlinkshowjump?jump=nextslide"/>
          </p:cNvPr>
          <p:cNvSpPr txBox="1"/>
          <p:nvPr/>
        </p:nvSpPr>
        <p:spPr>
          <a:xfrm>
            <a:off x="6477000" y="6262688"/>
            <a:ext cx="9906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下页</a:t>
            </a:r>
            <a:endParaRPr lang="zh-CN" altLang="en-US" sz="2800" dirty="0">
              <a:solidFill>
                <a:srgbClr val="CCECFF"/>
              </a:solidFill>
              <a:latin typeface="Times New Roman" panose="02020603050405020304" pitchFamily="18" charset="0"/>
              <a:ea typeface="隶书" panose="02010509060101010101" pitchFamily="49" charset="-122"/>
            </a:endParaRPr>
          </a:p>
        </p:txBody>
      </p:sp>
      <p:sp>
        <p:nvSpPr>
          <p:cNvPr id="50182" name="Text Box 9"/>
          <p:cNvSpPr txBox="1"/>
          <p:nvPr/>
        </p:nvSpPr>
        <p:spPr>
          <a:xfrm>
            <a:off x="7696200" y="6262688"/>
            <a:ext cx="1143000" cy="519112"/>
          </a:xfrm>
          <a:prstGeom prst="rect">
            <a:avLst/>
          </a:prstGeom>
          <a:noFill/>
          <a:ln w="9525">
            <a:noFill/>
          </a:ln>
        </p:spPr>
        <p:txBody>
          <a:bodyPr anchor="t">
            <a:spAutoFit/>
          </a:bodyPr>
          <a:p>
            <a:pPr>
              <a:spcBef>
                <a:spcPct val="50000"/>
              </a:spcBef>
            </a:pPr>
            <a:r>
              <a:rPr lang="zh-CN" altLang="en-US" sz="2800" dirty="0">
                <a:solidFill>
                  <a:srgbClr val="CCECFF"/>
                </a:solidFill>
                <a:latin typeface="Times New Roman" panose="02020603050405020304" pitchFamily="18" charset="0"/>
                <a:ea typeface="隶书" panose="02010509060101010101" pitchFamily="49" charset="-122"/>
              </a:rPr>
              <a:t>返回</a:t>
            </a:r>
            <a:endParaRPr lang="zh-CN" altLang="en-US" sz="2800" dirty="0">
              <a:solidFill>
                <a:srgbClr val="CCEC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316418" name="Rectangle 1026">
            <a:hlinkClick r:id="" action="ppaction://noaction"/>
          </p:cNvPr>
          <p:cNvSpPr>
            <a:spLocks noChangeArrowheads="1"/>
          </p:cNvSpPr>
          <p:nvPr/>
        </p:nvSpPr>
        <p:spPr bwMode="auto">
          <a:xfrm>
            <a:off x="1450975" y="2597150"/>
            <a:ext cx="5980113"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6419" name="Rectangle 1027">
            <a:hlinkClick r:id="" action="ppaction://noaction"/>
          </p:cNvPr>
          <p:cNvSpPr>
            <a:spLocks noChangeArrowheads="1"/>
          </p:cNvSpPr>
          <p:nvPr/>
        </p:nvSpPr>
        <p:spPr bwMode="auto">
          <a:xfrm>
            <a:off x="1166813" y="2235200"/>
            <a:ext cx="59801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6420" name="Text Box 1028"/>
          <p:cNvSpPr txBox="1">
            <a:spLocks noChangeArrowheads="1"/>
          </p:cNvSpPr>
          <p:nvPr/>
        </p:nvSpPr>
        <p:spPr bwMode="auto">
          <a:xfrm>
            <a:off x="1345565" y="860425"/>
            <a:ext cx="63627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R="0" defTabSz="914400" rtl="0">
              <a:spcBef>
                <a:spcPct val="50000"/>
              </a:spcBef>
              <a:buClrTx/>
              <a:buSzTx/>
              <a:buFontTx/>
              <a:buNone/>
              <a:defRPr/>
            </a:pPr>
            <a:r>
              <a:rPr kumimoji="1" lang="en-US" altLang="zh-CN" sz="3200" b="1" kern="1200" cap="none" spc="0" normalizeH="0" baseline="0" noProof="0" smtClean="0">
                <a:effectLst>
                  <a:outerShdw blurRad="38100" dist="38100" dir="2700000" algn="tl">
                    <a:srgbClr val="C0C0C0"/>
                  </a:outerShdw>
                </a:effectLst>
                <a:latin typeface="黑体" panose="02010609060101010101" charset="-122"/>
                <a:ea typeface="黑体" panose="02010609060101010101" charset="-122"/>
                <a:cs typeface="+mn-cs"/>
              </a:rPr>
              <a:t>4-2</a:t>
            </a:r>
            <a:r>
              <a:rPr kumimoji="1" lang="zh-CN" altLang="en-US" sz="3200" b="1" kern="1200" cap="none" spc="0" normalizeH="0" baseline="0" noProof="0" smtClean="0">
                <a:effectLst>
                  <a:outerShdw blurRad="38100" dist="38100" dir="2700000" algn="tl">
                    <a:srgbClr val="C0C0C0"/>
                  </a:outerShdw>
                </a:effectLst>
                <a:latin typeface="黑体" panose="02010609060101010101" charset="-122"/>
                <a:ea typeface="黑体" panose="02010609060101010101" charset="-122"/>
                <a:cs typeface="+mn-cs"/>
              </a:rPr>
              <a:t>  共发射极放大电路及其分析</a:t>
            </a:r>
            <a:endParaRPr kumimoji="1" lang="zh-CN" altLang="en-US" sz="3200" b="1" kern="1200" cap="none" spc="0" normalizeH="0" baseline="0" noProof="0" smtClean="0">
              <a:effectLst>
                <a:outerShdw blurRad="38100" dist="38100" dir="2700000" algn="tl">
                  <a:srgbClr val="C0C0C0"/>
                </a:outerShdw>
              </a:effectLst>
              <a:latin typeface="黑体" panose="02010609060101010101" charset="-122"/>
              <a:ea typeface="黑体" panose="02010609060101010101" charset="-122"/>
              <a:cs typeface="+mn-cs"/>
            </a:endParaRPr>
          </a:p>
        </p:txBody>
      </p:sp>
      <p:sp>
        <p:nvSpPr>
          <p:cNvPr id="316421" name="Text Box 1029"/>
          <p:cNvSpPr txBox="1">
            <a:spLocks noChangeArrowheads="1"/>
          </p:cNvSpPr>
          <p:nvPr/>
        </p:nvSpPr>
        <p:spPr bwMode="auto">
          <a:xfrm>
            <a:off x="1752600" y="2286000"/>
            <a:ext cx="40830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R="0" defTabSz="914400" rtl="0">
              <a:spcBef>
                <a:spcPct val="50000"/>
              </a:spcBef>
              <a:buClrTx/>
              <a:buSzTx/>
              <a:buFontTx/>
              <a:buNone/>
              <a:defRPr/>
            </a:pPr>
            <a:r>
              <a:rPr kumimoji="1" lang="zh-CN" altLang="en-US"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一、</a:t>
            </a:r>
            <a:r>
              <a:rPr kumimoji="1" lang="en-US" altLang="zh-CN"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zh-CN" altLang="en-US"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放大的概念</a:t>
            </a:r>
            <a:endParaRPr kumimoji="1" lang="zh-CN" altLang="en-US"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16422" name="Text Box 1030"/>
          <p:cNvSpPr txBox="1">
            <a:spLocks noChangeArrowheads="1"/>
          </p:cNvSpPr>
          <p:nvPr/>
        </p:nvSpPr>
        <p:spPr bwMode="auto">
          <a:xfrm>
            <a:off x="1752600" y="3352800"/>
            <a:ext cx="60394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R="0" defTabSz="914400" rtl="0">
              <a:spcBef>
                <a:spcPct val="50000"/>
              </a:spcBef>
              <a:buClrTx/>
              <a:buSzTx/>
              <a:buFontTx/>
              <a:buNone/>
              <a:defRPr/>
            </a:pPr>
            <a:r>
              <a:rPr kumimoji="1" lang="zh-CN" altLang="en-US"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二、</a:t>
            </a:r>
            <a:r>
              <a:rPr kumimoji="1" lang="en-US" altLang="zh-CN"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zh-CN" altLang="en-US"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共发射极基本放大电路的组成</a:t>
            </a:r>
            <a:endParaRPr kumimoji="1" lang="zh-CN" altLang="en-US" sz="2800"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 name="文本框 1"/>
          <p:cNvSpPr txBox="1"/>
          <p:nvPr/>
        </p:nvSpPr>
        <p:spPr>
          <a:xfrm>
            <a:off x="1752600" y="4568825"/>
            <a:ext cx="4805680" cy="521970"/>
          </a:xfrm>
          <a:prstGeom prst="rect">
            <a:avLst/>
          </a:prstGeom>
          <a:noFill/>
        </p:spPr>
        <p:txBody>
          <a:bodyPr wrap="none" rtlCol="0">
            <a:spAutoFit/>
          </a:bodyPr>
          <a:p>
            <a:r>
              <a:rPr lang="zh-CN" altLang="en-US" sz="2800"/>
              <a:t>三、共发射极放大电路的分析</a:t>
            </a:r>
            <a:endParaRPr lang="zh-CN" altLang="en-US" sz="2800"/>
          </a:p>
        </p:txBody>
      </p:sp>
    </p:spTree>
  </p:cSld>
  <p:clrMapOvr>
    <a:masterClrMapping/>
  </p:clrMapOvr>
  <p:transition spd="slow">
    <p:random/>
  </p:transition>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73410" name="Rectangle 2"/>
          <p:cNvSpPr>
            <a:spLocks noChangeArrowheads="1"/>
          </p:cNvSpPr>
          <p:nvPr>
            <p:ph type="subTitle" idx="1"/>
          </p:nvPr>
        </p:nvSpPr>
        <p:spPr bwMode="auto">
          <a:xfrm>
            <a:off x="381000" y="360680"/>
            <a:ext cx="2908935"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黑体" panose="02010609060101010101" charset="-122"/>
                <a:ea typeface="黑体" panose="02010609060101010101" charset="-122"/>
                <a:cs typeface="+mn-cs"/>
              </a:rPr>
              <a:t>一、放大的概念</a:t>
            </a:r>
            <a:endParaRPr kumimoji="1" lang="en-US" altLang="zh-CN"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黑体" panose="02010609060101010101" charset="-122"/>
              <a:ea typeface="黑体" panose="02010609060101010101" charset="-122"/>
              <a:cs typeface="+mn-cs"/>
            </a:endParaRPr>
          </a:p>
        </p:txBody>
      </p:sp>
      <p:sp>
        <p:nvSpPr>
          <p:cNvPr id="273411" name="Rectangle 3"/>
          <p:cNvSpPr>
            <a:spLocks noChangeArrowheads="1"/>
          </p:cNvSpPr>
          <p:nvPr/>
        </p:nvSpPr>
        <p:spPr bwMode="auto">
          <a:xfrm>
            <a:off x="250825" y="1041400"/>
            <a:ext cx="8612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5000"/>
              </a:spcBef>
              <a:spcAft>
                <a:spcPct val="0"/>
              </a:spcAft>
              <a:buClrTx/>
              <a:buSzTx/>
              <a:buFontTx/>
              <a:buNone/>
              <a:defRPr/>
            </a:pP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楷体" panose="02010609060101010101" charset="-122"/>
                <a:ea typeface="楷体" panose="02010609060101010101" charset="-122"/>
                <a:cs typeface="+mn-cs"/>
              </a:rPr>
              <a:t>放大的目的：是将微弱的</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变化信号</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楷体" panose="02010609060101010101" charset="-122"/>
                <a:ea typeface="楷体" panose="02010609060101010101" charset="-122"/>
                <a:cs typeface="+mn-cs"/>
              </a:rPr>
              <a:t>放大成较大的信号。</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p:txBody>
      </p:sp>
      <p:sp>
        <p:nvSpPr>
          <p:cNvPr id="273412" name="Rectangle 4"/>
          <p:cNvSpPr>
            <a:spLocks noChangeArrowheads="1"/>
          </p:cNvSpPr>
          <p:nvPr/>
        </p:nvSpPr>
        <p:spPr bwMode="auto">
          <a:xfrm>
            <a:off x="250825" y="1622425"/>
            <a:ext cx="8810625" cy="98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5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放大的实质</a:t>
            </a:r>
            <a:r>
              <a:rPr kumimoji="1" lang="en-US" altLang="zh-CN"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用小能量的信号通过三极管的电流控制作用，将放大电路中直流电源的能量转化成交流能量输出。</a:t>
            </a:r>
            <a:endPar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p:txBody>
      </p:sp>
      <p:sp>
        <p:nvSpPr>
          <p:cNvPr id="273413" name="Rectangle 5"/>
          <p:cNvSpPr>
            <a:spLocks noChangeArrowheads="1"/>
          </p:cNvSpPr>
          <p:nvPr/>
        </p:nvSpPr>
        <p:spPr bwMode="auto">
          <a:xfrm>
            <a:off x="250825" y="2770188"/>
            <a:ext cx="8809038" cy="233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5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endPar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黑体" panose="02010609060101010101" charset="-122"/>
              <a:ea typeface="黑体" panose="02010609060101010101" charset="-122"/>
              <a:cs typeface="+mn-cs"/>
            </a:endParaRPr>
          </a:p>
          <a:p>
            <a:pPr marL="0" marR="0" lvl="0" indent="0" algn="l" defTabSz="914400" rtl="0" eaLnBrk="1" fontAlgn="base" latinLnBrk="0" hangingPunct="1">
              <a:lnSpc>
                <a:spcPct val="105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1. </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要有足够的放大倍数</a:t>
            </a:r>
            <a:r>
              <a:rPr kumimoji="1" lang="en-US" altLang="zh-CN"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电压、电流、功率</a:t>
            </a:r>
            <a:r>
              <a:rPr kumimoji="1" lang="en-US" altLang="zh-CN"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a:t>
            </a:r>
            <a:endPar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a:p>
            <a:pPr marL="0" marR="0" lvl="0" indent="0" algn="l" defTabSz="914400" rtl="0" eaLnBrk="1" fontAlgn="base" latinLnBrk="0" hangingPunct="1">
              <a:lnSpc>
                <a:spcPct val="105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  </a:t>
            </a:r>
            <a:r>
              <a:rPr kumimoji="1" lang="en-US" altLang="zh-CN"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2. </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尽可能小的波形失真。</a:t>
            </a:r>
            <a:endPar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a:p>
            <a:pPr marL="0" marR="0" lvl="0" indent="0" algn="l" defTabSz="914400" rtl="0" eaLnBrk="1" fontAlgn="base" latinLnBrk="0" hangingPunct="1">
              <a:lnSpc>
                <a:spcPct val="105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rPr>
              <a:t>  另外还有输入电阻、输出电阻、通频带等其它技术指标。</a:t>
            </a:r>
            <a:endPar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p:txBody>
      </p:sp>
      <p:sp>
        <p:nvSpPr>
          <p:cNvPr id="273414" name="Rectangle 6"/>
          <p:cNvSpPr>
            <a:spLocks noChangeArrowheads="1"/>
          </p:cNvSpPr>
          <p:nvPr/>
        </p:nvSpPr>
        <p:spPr bwMode="auto">
          <a:xfrm>
            <a:off x="381000" y="5257800"/>
            <a:ext cx="8678863"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以下主要介绍电压放大电路，简单介绍功率放大电路。</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 name="文本框 1"/>
          <p:cNvSpPr txBox="1"/>
          <p:nvPr/>
        </p:nvSpPr>
        <p:spPr>
          <a:xfrm>
            <a:off x="322263" y="2770188"/>
            <a:ext cx="5724525" cy="517525"/>
          </a:xfrm>
          <a:prstGeom prst="rect">
            <a:avLst/>
          </a:prstGeom>
          <a:noFill/>
        </p:spPr>
        <p:txBody>
          <a:bodyPr wrap="none" rtlCol="0">
            <a:spAutoFit/>
          </a:bodyPr>
          <a:p>
            <a:pPr algn="l" fontAlgn="base"/>
            <a:r>
              <a:rPr kumimoji="1" lang="zh-CN" altLang="en-US" sz="2800" b="1" strike="noStrike" noProof="0" smtClean="0">
                <a:ln>
                  <a:noFill/>
                </a:ln>
                <a:solidFill>
                  <a:srgbClr val="CC0000"/>
                </a:solidFill>
                <a:effectLst>
                  <a:outerShdw blurRad="38100" dist="38100" dir="2700000" algn="tl">
                    <a:srgbClr val="C0C0C0"/>
                  </a:outerShdw>
                </a:effectLst>
                <a:uLnTx/>
                <a:uFillTx/>
                <a:latin typeface="黑体" panose="02010609060101010101" charset="-122"/>
                <a:ea typeface="黑体" panose="02010609060101010101" charset="-122"/>
                <a:cs typeface="+mn-cs"/>
                <a:sym typeface="+mn-ea"/>
              </a:rPr>
              <a:t>实际应用对放大电路的基本要求 ：</a:t>
            </a:r>
            <a:endPar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黑体" panose="02010609060101010101" charset="-122"/>
              <a:ea typeface="黑体" panose="0201060906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3411"/>
                                        </p:tgtEl>
                                        <p:attrNameLst>
                                          <p:attrName>style.visibility</p:attrName>
                                        </p:attrNameLst>
                                      </p:cBhvr>
                                      <p:to>
                                        <p:strVal val="visible"/>
                                      </p:to>
                                    </p:set>
                                    <p:animEffect transition="in" filter="wipe(left)">
                                      <p:cBhvr>
                                        <p:cTn id="7" dur="500"/>
                                        <p:tgtEl>
                                          <p:spTgt spid="2734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3412">
                                            <p:txEl>
                                              <p:charRg st="4294967295" end="4294967295"/>
                                            </p:txEl>
                                          </p:spTgt>
                                        </p:tgtEl>
                                        <p:attrNameLst>
                                          <p:attrName>style.visibility</p:attrName>
                                        </p:attrNameLst>
                                      </p:cBhvr>
                                      <p:to>
                                        <p:strVal val="visible"/>
                                      </p:to>
                                    </p:set>
                                    <p:animEffect transition="in" filter="wipe(left)">
                                      <p:cBhvr>
                                        <p:cTn id="12" dur="500"/>
                                        <p:tgtEl>
                                          <p:spTgt spid="273412">
                                            <p:txEl>
                                              <p:char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3412">
                                            <p:txEl>
                                              <p:charRg st="0" end="8"/>
                                            </p:txEl>
                                          </p:spTgt>
                                        </p:tgtEl>
                                        <p:attrNameLst>
                                          <p:attrName>style.visibility</p:attrName>
                                        </p:attrNameLst>
                                      </p:cBhvr>
                                      <p:to>
                                        <p:strVal val="visible"/>
                                      </p:to>
                                    </p:set>
                                    <p:animEffect transition="in" filter="wipe(left)">
                                      <p:cBhvr>
                                        <p:cTn id="17" dur="500"/>
                                        <p:tgtEl>
                                          <p:spTgt spid="273412">
                                            <p:txEl>
                                              <p:charRg st="0"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3413">
                                            <p:txEl>
                                              <p:charRg st="4294967295" end="4294967295"/>
                                            </p:txEl>
                                          </p:spTgt>
                                        </p:tgtEl>
                                        <p:attrNameLst>
                                          <p:attrName>style.visibility</p:attrName>
                                        </p:attrNameLst>
                                      </p:cBhvr>
                                      <p:to>
                                        <p:strVal val="visible"/>
                                      </p:to>
                                    </p:set>
                                    <p:animEffect transition="in" filter="wipe(left)">
                                      <p:cBhvr>
                                        <p:cTn id="27" dur="500"/>
                                        <p:tgtEl>
                                          <p:spTgt spid="273413">
                                            <p:txEl>
                                              <p:charRg st="4294967295" end="42949672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3413">
                                            <p:txEl>
                                              <p:charRg st="0" end="14"/>
                                            </p:txEl>
                                          </p:spTgt>
                                        </p:tgtEl>
                                        <p:attrNameLst>
                                          <p:attrName>style.visibility</p:attrName>
                                        </p:attrNameLst>
                                      </p:cBhvr>
                                      <p:to>
                                        <p:strVal val="visible"/>
                                      </p:to>
                                    </p:set>
                                    <p:animEffect transition="in" filter="wipe(left)">
                                      <p:cBhvr>
                                        <p:cTn id="32" dur="500"/>
                                        <p:tgtEl>
                                          <p:spTgt spid="273413">
                                            <p:txEl>
                                              <p:charRg st="0" end="1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3413">
                                            <p:txEl>
                                              <p:charRg st="14" end="43"/>
                                            </p:txEl>
                                          </p:spTgt>
                                        </p:tgtEl>
                                        <p:attrNameLst>
                                          <p:attrName>style.visibility</p:attrName>
                                        </p:attrNameLst>
                                      </p:cBhvr>
                                      <p:to>
                                        <p:strVal val="visible"/>
                                      </p:to>
                                    </p:set>
                                    <p:animEffect transition="in" filter="wipe(left)">
                                      <p:cBhvr>
                                        <p:cTn id="37" dur="500"/>
                                        <p:tgtEl>
                                          <p:spTgt spid="273413">
                                            <p:txEl>
                                              <p:charRg st="14" end="4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3413">
                                            <p:txEl>
                                              <p:charRg st="43" end="62"/>
                                            </p:txEl>
                                          </p:spTgt>
                                        </p:tgtEl>
                                        <p:attrNameLst>
                                          <p:attrName>style.visibility</p:attrName>
                                        </p:attrNameLst>
                                      </p:cBhvr>
                                      <p:to>
                                        <p:strVal val="visible"/>
                                      </p:to>
                                    </p:set>
                                    <p:animEffect transition="in" filter="wipe(left)">
                                      <p:cBhvr>
                                        <p:cTn id="42" dur="500"/>
                                        <p:tgtEl>
                                          <p:spTgt spid="273413">
                                            <p:txEl>
                                              <p:charRg st="43" end="6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3413">
                                            <p:txEl>
                                              <p:charRg st="62" end="92"/>
                                            </p:txEl>
                                          </p:spTgt>
                                        </p:tgtEl>
                                        <p:attrNameLst>
                                          <p:attrName>style.visibility</p:attrName>
                                        </p:attrNameLst>
                                      </p:cBhvr>
                                      <p:to>
                                        <p:strVal val="visible"/>
                                      </p:to>
                                    </p:set>
                                    <p:animEffect transition="in" filter="wipe(left)">
                                      <p:cBhvr>
                                        <p:cTn id="47" dur="500"/>
                                        <p:tgtEl>
                                          <p:spTgt spid="273413">
                                            <p:txEl>
                                              <p:charRg st="62" end="9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3414"/>
                                        </p:tgtEl>
                                        <p:attrNameLst>
                                          <p:attrName>style.visibility</p:attrName>
                                        </p:attrNameLst>
                                      </p:cBhvr>
                                      <p:to>
                                        <p:strVal val="visible"/>
                                      </p:to>
                                    </p:set>
                                    <p:animEffect transition="in" filter="wipe(left)">
                                      <p:cBhvr>
                                        <p:cTn id="52" dur="500"/>
                                        <p:tgtEl>
                                          <p:spTgt spid="273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ldLvl="0" animBg="1"/>
      <p:bldP spid="273412" grpId="0" uiExpand="1" build="p"/>
      <p:bldP spid="273413" grpId="0" uiExpand="1" build="p"/>
      <p:bldP spid="273414" grpId="0" bldLvl="0" animBg="1"/>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276485" name="Group 5"/>
          <p:cNvGrpSpPr/>
          <p:nvPr/>
        </p:nvGrpSpPr>
        <p:grpSpPr>
          <a:xfrm>
            <a:off x="1295400" y="2057400"/>
            <a:ext cx="6019800" cy="3886200"/>
            <a:chOff x="816" y="1296"/>
            <a:chExt cx="3792" cy="2448"/>
          </a:xfrm>
        </p:grpSpPr>
        <p:sp>
          <p:nvSpPr>
            <p:cNvPr id="276486" name="Line 6"/>
            <p:cNvSpPr>
              <a:spLocks noChangeShapeType="1"/>
            </p:cNvSpPr>
            <p:nvPr/>
          </p:nvSpPr>
          <p:spPr bwMode="auto">
            <a:xfrm>
              <a:off x="1795" y="2742"/>
              <a:ext cx="0" cy="32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87" name="Line 7"/>
            <p:cNvSpPr>
              <a:spLocks noChangeShapeType="1"/>
            </p:cNvSpPr>
            <p:nvPr/>
          </p:nvSpPr>
          <p:spPr bwMode="auto">
            <a:xfrm flipV="1">
              <a:off x="1795" y="2192"/>
              <a:ext cx="0" cy="61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88" name="Line 8"/>
            <p:cNvSpPr>
              <a:spLocks noChangeShapeType="1"/>
            </p:cNvSpPr>
            <p:nvPr/>
          </p:nvSpPr>
          <p:spPr bwMode="auto">
            <a:xfrm flipV="1">
              <a:off x="3360" y="2455"/>
              <a:ext cx="1" cy="29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89" name="Line 9"/>
            <p:cNvSpPr>
              <a:spLocks noChangeShapeType="1"/>
            </p:cNvSpPr>
            <p:nvPr/>
          </p:nvSpPr>
          <p:spPr bwMode="auto">
            <a:xfrm flipV="1">
              <a:off x="3360" y="1827"/>
              <a:ext cx="0" cy="266"/>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0" name="Line 10"/>
            <p:cNvSpPr>
              <a:spLocks noChangeShapeType="1"/>
            </p:cNvSpPr>
            <p:nvPr/>
          </p:nvSpPr>
          <p:spPr bwMode="auto">
            <a:xfrm rot="5400000">
              <a:off x="1791" y="2890"/>
              <a:ext cx="0" cy="474"/>
            </a:xfrm>
            <a:prstGeom prst="line">
              <a:avLst/>
            </a:prstGeom>
            <a:noFill/>
            <a:ln w="38100">
              <a:solidFill>
                <a:srgbClr val="FF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1" name="Line 11"/>
            <p:cNvSpPr>
              <a:spLocks noChangeShapeType="1"/>
            </p:cNvSpPr>
            <p:nvPr/>
          </p:nvSpPr>
          <p:spPr bwMode="auto">
            <a:xfrm rot="5400000">
              <a:off x="1794" y="3176"/>
              <a:ext cx="0" cy="252"/>
            </a:xfrm>
            <a:prstGeom prst="line">
              <a:avLst/>
            </a:prstGeom>
            <a:noFill/>
            <a:ln w="57150">
              <a:solidFill>
                <a:srgbClr val="FF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2" name="Line 12"/>
            <p:cNvSpPr>
              <a:spLocks noChangeShapeType="1"/>
            </p:cNvSpPr>
            <p:nvPr/>
          </p:nvSpPr>
          <p:spPr bwMode="auto">
            <a:xfrm rot="5400000">
              <a:off x="1701" y="3028"/>
              <a:ext cx="181" cy="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3" name="Line 13"/>
            <p:cNvSpPr>
              <a:spLocks noChangeShapeType="1"/>
            </p:cNvSpPr>
            <p:nvPr/>
          </p:nvSpPr>
          <p:spPr bwMode="auto">
            <a:xfrm rot="5400000">
              <a:off x="1695" y="3396"/>
              <a:ext cx="181" cy="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4" name="Line 14"/>
            <p:cNvSpPr>
              <a:spLocks noChangeShapeType="1"/>
            </p:cNvSpPr>
            <p:nvPr/>
          </p:nvSpPr>
          <p:spPr bwMode="auto">
            <a:xfrm>
              <a:off x="1536" y="2214"/>
              <a:ext cx="1093" cy="3"/>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5" name="Line 15"/>
            <p:cNvSpPr>
              <a:spLocks noChangeShapeType="1"/>
            </p:cNvSpPr>
            <p:nvPr/>
          </p:nvSpPr>
          <p:spPr bwMode="auto">
            <a:xfrm>
              <a:off x="2605" y="2018"/>
              <a:ext cx="0" cy="363"/>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6" name="Line 16"/>
            <p:cNvSpPr>
              <a:spLocks noChangeShapeType="1"/>
            </p:cNvSpPr>
            <p:nvPr/>
          </p:nvSpPr>
          <p:spPr bwMode="auto">
            <a:xfrm>
              <a:off x="2605" y="2200"/>
              <a:ext cx="198" cy="187"/>
            </a:xfrm>
            <a:prstGeom prst="line">
              <a:avLst/>
            </a:prstGeom>
            <a:noFill/>
            <a:ln w="38100">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7" name="Line 17"/>
            <p:cNvSpPr>
              <a:spLocks noChangeShapeType="1"/>
            </p:cNvSpPr>
            <p:nvPr/>
          </p:nvSpPr>
          <p:spPr bwMode="auto">
            <a:xfrm flipV="1">
              <a:off x="2605" y="2024"/>
              <a:ext cx="198" cy="163"/>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8" name="Line 18"/>
            <p:cNvSpPr>
              <a:spLocks noChangeShapeType="1"/>
            </p:cNvSpPr>
            <p:nvPr/>
          </p:nvSpPr>
          <p:spPr bwMode="auto">
            <a:xfrm>
              <a:off x="2790" y="1845"/>
              <a:ext cx="0" cy="194"/>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499" name="Line 19"/>
            <p:cNvSpPr>
              <a:spLocks noChangeShapeType="1"/>
            </p:cNvSpPr>
            <p:nvPr/>
          </p:nvSpPr>
          <p:spPr bwMode="auto">
            <a:xfrm>
              <a:off x="2791" y="2375"/>
              <a:ext cx="0" cy="664"/>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00" name="Line 20"/>
            <p:cNvSpPr>
              <a:spLocks noChangeShapeType="1"/>
            </p:cNvSpPr>
            <p:nvPr/>
          </p:nvSpPr>
          <p:spPr bwMode="auto">
            <a:xfrm>
              <a:off x="1116" y="3535"/>
              <a:ext cx="559" cy="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01" name="Line 21"/>
            <p:cNvSpPr>
              <a:spLocks noChangeShapeType="1"/>
            </p:cNvSpPr>
            <p:nvPr/>
          </p:nvSpPr>
          <p:spPr bwMode="auto">
            <a:xfrm>
              <a:off x="1663" y="3535"/>
              <a:ext cx="1831" cy="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02" name="Line 22"/>
            <p:cNvSpPr>
              <a:spLocks noChangeShapeType="1"/>
            </p:cNvSpPr>
            <p:nvPr/>
          </p:nvSpPr>
          <p:spPr bwMode="auto">
            <a:xfrm>
              <a:off x="2793" y="2903"/>
              <a:ext cx="0" cy="647"/>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03" name="Line 23"/>
            <p:cNvSpPr>
              <a:spLocks noChangeShapeType="1"/>
            </p:cNvSpPr>
            <p:nvPr/>
          </p:nvSpPr>
          <p:spPr bwMode="auto">
            <a:xfrm>
              <a:off x="2688" y="3535"/>
              <a:ext cx="1446" cy="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68" name="Text Box 24"/>
            <p:cNvSpPr txBox="1"/>
            <p:nvPr/>
          </p:nvSpPr>
          <p:spPr>
            <a:xfrm>
              <a:off x="1911" y="2471"/>
              <a:ext cx="411" cy="367"/>
            </a:xfrm>
            <a:prstGeom prst="rect">
              <a:avLst/>
            </a:prstGeom>
            <a:noFill/>
            <a:ln w="38100">
              <a:noFill/>
            </a:ln>
          </p:spPr>
          <p:txBody>
            <a:bodyPr wrap="none" lIns="90000" tIns="46800" rIns="90000" bIns="46800" anchor="ctr">
              <a:spAutoFit/>
            </a:bodyPr>
            <a:p>
              <a:pPr lvl="0" indent="0" algn="ctr">
                <a:spcBef>
                  <a:spcPct val="50000"/>
                </a:spcBef>
              </a:pPr>
              <a:r>
                <a:rPr lang="en-US" altLang="zh-CN" sz="3200" b="1" dirty="0">
                  <a:latin typeface="Times New Roman" panose="02020603050405020304" pitchFamily="18" charset="0"/>
                  <a:ea typeface="楷体_GB2312" pitchFamily="49" charset="-122"/>
                </a:rPr>
                <a:t>R</a:t>
              </a:r>
              <a:r>
                <a:rPr lang="en-US" altLang="zh-CN" sz="3200" b="1" baseline="-25000" dirty="0">
                  <a:latin typeface="Times New Roman" panose="02020603050405020304" pitchFamily="18" charset="0"/>
                  <a:ea typeface="楷体_GB2312" pitchFamily="49" charset="-122"/>
                </a:rPr>
                <a:t>B</a:t>
              </a:r>
              <a:endParaRPr lang="en-US" altLang="zh-CN" sz="3200" b="1" baseline="-25000" dirty="0">
                <a:latin typeface="Times New Roman" panose="02020603050405020304" pitchFamily="18" charset="0"/>
                <a:ea typeface="楷体_GB2312" pitchFamily="49" charset="-122"/>
              </a:endParaRPr>
            </a:p>
          </p:txBody>
        </p:sp>
        <p:sp>
          <p:nvSpPr>
            <p:cNvPr id="27669" name="Text Box 25"/>
            <p:cNvSpPr txBox="1"/>
            <p:nvPr/>
          </p:nvSpPr>
          <p:spPr>
            <a:xfrm>
              <a:off x="3504" y="2697"/>
              <a:ext cx="527" cy="367"/>
            </a:xfrm>
            <a:prstGeom prst="rect">
              <a:avLst/>
            </a:prstGeom>
            <a:noFill/>
            <a:ln w="38100">
              <a:noFill/>
            </a:ln>
          </p:spPr>
          <p:txBody>
            <a:bodyPr lIns="90000" tIns="46800" rIns="90000" bIns="46800" anchor="ctr">
              <a:spAutoFit/>
            </a:bodyPr>
            <a:p>
              <a:pPr lvl="0" indent="0">
                <a:spcBef>
                  <a:spcPct val="50000"/>
                </a:spcBef>
              </a:pPr>
              <a:r>
                <a:rPr lang="en-US" altLang="zh-CN" sz="3200" b="1" i="1" dirty="0">
                  <a:solidFill>
                    <a:srgbClr val="FF3300"/>
                  </a:solidFill>
                  <a:latin typeface="Times New Roman" panose="02020603050405020304" pitchFamily="18" charset="0"/>
                  <a:ea typeface="楷体_GB2312" pitchFamily="49" charset="-122"/>
                </a:rPr>
                <a:t>V</a:t>
              </a:r>
              <a:r>
                <a:rPr lang="en-US" altLang="zh-CN" sz="3200" b="1" baseline="-25000" dirty="0">
                  <a:solidFill>
                    <a:srgbClr val="FF3300"/>
                  </a:solidFill>
                  <a:latin typeface="Times New Roman" panose="02020603050405020304" pitchFamily="18" charset="0"/>
                  <a:ea typeface="楷体_GB2312" pitchFamily="49" charset="-122"/>
                </a:rPr>
                <a:t>CC</a:t>
              </a:r>
              <a:endParaRPr lang="en-US" altLang="zh-CN" sz="3200" b="1" baseline="-25000" dirty="0">
                <a:solidFill>
                  <a:srgbClr val="FF3300"/>
                </a:solidFill>
                <a:latin typeface="Times New Roman" panose="02020603050405020304" pitchFamily="18" charset="0"/>
                <a:ea typeface="楷体_GB2312" pitchFamily="49" charset="-122"/>
              </a:endParaRPr>
            </a:p>
          </p:txBody>
        </p:sp>
        <p:sp>
          <p:nvSpPr>
            <p:cNvPr id="276506" name="Rectangle 26"/>
            <p:cNvSpPr>
              <a:spLocks noChangeArrowheads="1"/>
            </p:cNvSpPr>
            <p:nvPr/>
          </p:nvSpPr>
          <p:spPr bwMode="auto">
            <a:xfrm>
              <a:off x="3312" y="2069"/>
              <a:ext cx="132" cy="386"/>
            </a:xfrm>
            <a:prstGeom prst="rect">
              <a:avLst/>
            </a:prstGeom>
            <a:solidFill>
              <a:schemeClr val="accent1"/>
            </a:solidFill>
            <a:ln w="381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07" name="Rectangle 27"/>
            <p:cNvSpPr>
              <a:spLocks noChangeArrowheads="1"/>
            </p:cNvSpPr>
            <p:nvPr/>
          </p:nvSpPr>
          <p:spPr bwMode="auto">
            <a:xfrm>
              <a:off x="1740" y="2488"/>
              <a:ext cx="132" cy="411"/>
            </a:xfrm>
            <a:prstGeom prst="rect">
              <a:avLst/>
            </a:prstGeom>
            <a:solidFill>
              <a:schemeClr val="accent1"/>
            </a:solidFill>
            <a:ln w="381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08" name="Line 28"/>
            <p:cNvSpPr>
              <a:spLocks noChangeShapeType="1"/>
            </p:cNvSpPr>
            <p:nvPr/>
          </p:nvSpPr>
          <p:spPr bwMode="auto">
            <a:xfrm>
              <a:off x="1789" y="3403"/>
              <a:ext cx="0" cy="13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09" name="Oval 29"/>
            <p:cNvSpPr>
              <a:spLocks noChangeArrowheads="1"/>
            </p:cNvSpPr>
            <p:nvPr/>
          </p:nvSpPr>
          <p:spPr bwMode="auto">
            <a:xfrm>
              <a:off x="1008" y="2144"/>
              <a:ext cx="96" cy="97"/>
            </a:xfrm>
            <a:prstGeom prst="ellipse">
              <a:avLst/>
            </a:pr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10" name="Oval 30"/>
            <p:cNvSpPr>
              <a:spLocks noChangeArrowheads="1"/>
            </p:cNvSpPr>
            <p:nvPr/>
          </p:nvSpPr>
          <p:spPr bwMode="auto">
            <a:xfrm>
              <a:off x="1014" y="3484"/>
              <a:ext cx="96" cy="97"/>
            </a:xfrm>
            <a:prstGeom prst="ellipse">
              <a:avLst/>
            </a:pr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75" name="Text Box 31"/>
            <p:cNvSpPr txBox="1"/>
            <p:nvPr/>
          </p:nvSpPr>
          <p:spPr>
            <a:xfrm>
              <a:off x="1968" y="3035"/>
              <a:ext cx="509" cy="367"/>
            </a:xfrm>
            <a:prstGeom prst="rect">
              <a:avLst/>
            </a:prstGeom>
            <a:noFill/>
            <a:ln w="38100">
              <a:noFill/>
            </a:ln>
          </p:spPr>
          <p:txBody>
            <a:bodyPr wrap="none" lIns="90000" tIns="46800" rIns="90000" bIns="46800" anchor="ctr">
              <a:spAutoFit/>
            </a:bodyPr>
            <a:p>
              <a:pPr lvl="0" indent="0">
                <a:spcBef>
                  <a:spcPct val="50000"/>
                </a:spcBef>
              </a:pPr>
              <a:r>
                <a:rPr lang="en-US" altLang="zh-CN" sz="3200" b="1" i="1" dirty="0">
                  <a:solidFill>
                    <a:srgbClr val="FF3300"/>
                  </a:solidFill>
                  <a:latin typeface="Times New Roman" panose="02020603050405020304" pitchFamily="18" charset="0"/>
                  <a:ea typeface="楷体_GB2312" pitchFamily="49" charset="-122"/>
                </a:rPr>
                <a:t>V</a:t>
              </a:r>
              <a:r>
                <a:rPr lang="en-US" altLang="zh-CN" sz="3200" b="1" baseline="-25000" dirty="0">
                  <a:solidFill>
                    <a:srgbClr val="FF3300"/>
                  </a:solidFill>
                  <a:latin typeface="Times New Roman" panose="02020603050405020304" pitchFamily="18" charset="0"/>
                  <a:ea typeface="楷体_GB2312" pitchFamily="49" charset="-122"/>
                </a:rPr>
                <a:t>BB</a:t>
              </a:r>
              <a:endParaRPr lang="en-US" altLang="zh-CN" sz="3200" b="1" baseline="-25000" dirty="0">
                <a:solidFill>
                  <a:srgbClr val="FF3300"/>
                </a:solidFill>
                <a:latin typeface="Times New Roman" panose="02020603050405020304" pitchFamily="18" charset="0"/>
                <a:ea typeface="楷体_GB2312" pitchFamily="49" charset="-122"/>
              </a:endParaRPr>
            </a:p>
          </p:txBody>
        </p:sp>
        <p:grpSp>
          <p:nvGrpSpPr>
            <p:cNvPr id="27676" name="Group 32"/>
            <p:cNvGrpSpPr/>
            <p:nvPr/>
          </p:nvGrpSpPr>
          <p:grpSpPr>
            <a:xfrm>
              <a:off x="1439" y="2032"/>
              <a:ext cx="96" cy="330"/>
              <a:chOff x="3454" y="2018"/>
              <a:chExt cx="96" cy="328"/>
            </a:xfrm>
          </p:grpSpPr>
          <p:sp>
            <p:nvSpPr>
              <p:cNvPr id="276513" name="Line 33"/>
              <p:cNvSpPr>
                <a:spLocks noChangeShapeType="1"/>
              </p:cNvSpPr>
              <p:nvPr/>
            </p:nvSpPr>
            <p:spPr bwMode="auto">
              <a:xfrm>
                <a:off x="3454" y="2018"/>
                <a:ext cx="0" cy="3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14" name="Line 34"/>
              <p:cNvSpPr>
                <a:spLocks noChangeShapeType="1"/>
              </p:cNvSpPr>
              <p:nvPr/>
            </p:nvSpPr>
            <p:spPr bwMode="auto">
              <a:xfrm>
                <a:off x="3550" y="2018"/>
                <a:ext cx="0" cy="3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76515" name="Line 35"/>
            <p:cNvSpPr>
              <a:spLocks noChangeShapeType="1"/>
            </p:cNvSpPr>
            <p:nvPr/>
          </p:nvSpPr>
          <p:spPr bwMode="auto">
            <a:xfrm>
              <a:off x="1113" y="2189"/>
              <a:ext cx="31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16" name="Oval 36"/>
            <p:cNvSpPr>
              <a:spLocks noChangeArrowheads="1"/>
            </p:cNvSpPr>
            <p:nvPr/>
          </p:nvSpPr>
          <p:spPr bwMode="auto">
            <a:xfrm flipH="1">
              <a:off x="4128" y="1779"/>
              <a:ext cx="96" cy="97"/>
            </a:xfrm>
            <a:prstGeom prst="ellipse">
              <a:avLst/>
            </a:pr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27681" name="Group 37"/>
            <p:cNvGrpSpPr/>
            <p:nvPr/>
          </p:nvGrpSpPr>
          <p:grpSpPr>
            <a:xfrm flipH="1">
              <a:off x="3648" y="1682"/>
              <a:ext cx="96" cy="330"/>
              <a:chOff x="3454" y="2018"/>
              <a:chExt cx="96" cy="328"/>
            </a:xfrm>
          </p:grpSpPr>
          <p:sp>
            <p:nvSpPr>
              <p:cNvPr id="276518" name="Line 38"/>
              <p:cNvSpPr>
                <a:spLocks noChangeShapeType="1"/>
              </p:cNvSpPr>
              <p:nvPr/>
            </p:nvSpPr>
            <p:spPr bwMode="auto">
              <a:xfrm>
                <a:off x="3454" y="2018"/>
                <a:ext cx="0" cy="3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19" name="Line 39"/>
              <p:cNvSpPr>
                <a:spLocks noChangeShapeType="1"/>
              </p:cNvSpPr>
              <p:nvPr/>
            </p:nvSpPr>
            <p:spPr bwMode="auto">
              <a:xfrm>
                <a:off x="3550" y="2018"/>
                <a:ext cx="0" cy="3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76520" name="Line 40"/>
            <p:cNvSpPr>
              <a:spLocks noChangeShapeType="1"/>
            </p:cNvSpPr>
            <p:nvPr/>
          </p:nvSpPr>
          <p:spPr bwMode="auto">
            <a:xfrm flipH="1" flipV="1">
              <a:off x="3744" y="1827"/>
              <a:ext cx="38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21" name="Line 41"/>
            <p:cNvSpPr>
              <a:spLocks noChangeShapeType="1"/>
            </p:cNvSpPr>
            <p:nvPr/>
          </p:nvSpPr>
          <p:spPr bwMode="auto">
            <a:xfrm>
              <a:off x="2784" y="1827"/>
              <a:ext cx="86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22" name="Oval 42"/>
            <p:cNvSpPr>
              <a:spLocks noChangeArrowheads="1"/>
            </p:cNvSpPr>
            <p:nvPr/>
          </p:nvSpPr>
          <p:spPr bwMode="auto">
            <a:xfrm flipH="1">
              <a:off x="4129" y="3484"/>
              <a:ext cx="96" cy="97"/>
            </a:xfrm>
            <a:prstGeom prst="ellipse">
              <a:avLst/>
            </a:pr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87" name="Text Box 43"/>
            <p:cNvSpPr txBox="1"/>
            <p:nvPr/>
          </p:nvSpPr>
          <p:spPr>
            <a:xfrm>
              <a:off x="3408" y="2160"/>
              <a:ext cx="420" cy="367"/>
            </a:xfrm>
            <a:prstGeom prst="rect">
              <a:avLst/>
            </a:prstGeom>
            <a:noFill/>
            <a:ln w="38100">
              <a:noFill/>
            </a:ln>
          </p:spPr>
          <p:txBody>
            <a:bodyPr wrap="none" lIns="90000" tIns="46800" rIns="90000" bIns="46800" anchor="ctr">
              <a:spAutoFit/>
            </a:bodyPr>
            <a:p>
              <a:pPr lvl="0" indent="0" algn="ctr">
                <a:spcBef>
                  <a:spcPct val="50000"/>
                </a:spcBef>
              </a:pPr>
              <a:r>
                <a:rPr lang="en-US" altLang="zh-CN" sz="3200" b="1" dirty="0">
                  <a:latin typeface="Times New Roman" panose="02020603050405020304" pitchFamily="18" charset="0"/>
                  <a:ea typeface="楷体_GB2312" pitchFamily="49" charset="-122"/>
                </a:rPr>
                <a:t>R</a:t>
              </a:r>
              <a:r>
                <a:rPr lang="en-US" altLang="zh-CN" sz="3200" b="1" baseline="-25000" dirty="0">
                  <a:latin typeface="Times New Roman" panose="02020603050405020304" pitchFamily="18" charset="0"/>
                  <a:ea typeface="楷体_GB2312" pitchFamily="49" charset="-122"/>
                </a:rPr>
                <a:t>C</a:t>
              </a:r>
              <a:endParaRPr lang="en-US" altLang="zh-CN" sz="3200" b="1" baseline="-25000" dirty="0">
                <a:latin typeface="Times New Roman" panose="02020603050405020304" pitchFamily="18" charset="0"/>
                <a:ea typeface="楷体_GB2312" pitchFamily="49" charset="-122"/>
              </a:endParaRPr>
            </a:p>
          </p:txBody>
        </p:sp>
        <p:sp>
          <p:nvSpPr>
            <p:cNvPr id="27688" name="Text Box 44"/>
            <p:cNvSpPr txBox="1"/>
            <p:nvPr/>
          </p:nvSpPr>
          <p:spPr>
            <a:xfrm>
              <a:off x="1248" y="1634"/>
              <a:ext cx="383" cy="367"/>
            </a:xfrm>
            <a:prstGeom prst="rect">
              <a:avLst/>
            </a:prstGeom>
            <a:noFill/>
            <a:ln w="38100">
              <a:noFill/>
            </a:ln>
          </p:spPr>
          <p:txBody>
            <a:bodyPr wrap="none" lIns="90000" tIns="46800" rIns="90000" bIns="46800" anchor="ctr">
              <a:spAutoFit/>
            </a:bodyPr>
            <a:p>
              <a:pPr lvl="0" indent="0" algn="ctr">
                <a:spcBef>
                  <a:spcPct val="50000"/>
                </a:spcBef>
              </a:pPr>
              <a:r>
                <a:rPr lang="en-US" altLang="zh-CN" sz="3200" b="1" dirty="0">
                  <a:solidFill>
                    <a:schemeClr val="accent2"/>
                  </a:solidFill>
                  <a:latin typeface="Times New Roman" panose="02020603050405020304" pitchFamily="18" charset="0"/>
                  <a:ea typeface="楷体_GB2312" pitchFamily="49" charset="-122"/>
                </a:rPr>
                <a:t>C</a:t>
              </a:r>
              <a:r>
                <a:rPr lang="en-US" altLang="zh-CN" sz="3200" b="1" baseline="-25000" dirty="0">
                  <a:solidFill>
                    <a:schemeClr val="accent2"/>
                  </a:solidFill>
                  <a:latin typeface="Times New Roman" panose="02020603050405020304" pitchFamily="18" charset="0"/>
                  <a:ea typeface="楷体_GB2312" pitchFamily="49" charset="-122"/>
                </a:rPr>
                <a:t>1</a:t>
              </a:r>
              <a:endParaRPr lang="en-US" altLang="zh-CN" sz="3200" b="1" baseline="-25000" dirty="0">
                <a:solidFill>
                  <a:schemeClr val="accent2"/>
                </a:solidFill>
                <a:latin typeface="Times New Roman" panose="02020603050405020304" pitchFamily="18" charset="0"/>
                <a:ea typeface="楷体_GB2312" pitchFamily="49" charset="-122"/>
              </a:endParaRPr>
            </a:p>
          </p:txBody>
        </p:sp>
        <p:sp>
          <p:nvSpPr>
            <p:cNvPr id="27689" name="Text Box 45"/>
            <p:cNvSpPr txBox="1"/>
            <p:nvPr/>
          </p:nvSpPr>
          <p:spPr>
            <a:xfrm>
              <a:off x="3552" y="1296"/>
              <a:ext cx="383" cy="367"/>
            </a:xfrm>
            <a:prstGeom prst="rect">
              <a:avLst/>
            </a:prstGeom>
            <a:noFill/>
            <a:ln w="38100">
              <a:noFill/>
            </a:ln>
          </p:spPr>
          <p:txBody>
            <a:bodyPr wrap="none" lIns="90000" tIns="46800" rIns="90000" bIns="46800" anchor="ctr">
              <a:spAutoFit/>
            </a:bodyPr>
            <a:p>
              <a:pPr lvl="0" indent="0" algn="ctr">
                <a:spcBef>
                  <a:spcPct val="50000"/>
                </a:spcBef>
              </a:pPr>
              <a:r>
                <a:rPr lang="en-US" altLang="zh-CN" sz="3200" b="1" dirty="0">
                  <a:solidFill>
                    <a:schemeClr val="accent2"/>
                  </a:solidFill>
                  <a:latin typeface="Times New Roman" panose="02020603050405020304" pitchFamily="18" charset="0"/>
                  <a:ea typeface="楷体_GB2312" pitchFamily="49" charset="-122"/>
                </a:rPr>
                <a:t>C</a:t>
              </a:r>
              <a:r>
                <a:rPr lang="en-US" altLang="zh-CN" sz="3200" b="1" baseline="-25000" dirty="0">
                  <a:solidFill>
                    <a:schemeClr val="accent2"/>
                  </a:solidFill>
                  <a:latin typeface="Times New Roman" panose="02020603050405020304" pitchFamily="18" charset="0"/>
                  <a:ea typeface="楷体_GB2312" pitchFamily="49" charset="-122"/>
                </a:rPr>
                <a:t>2</a:t>
              </a:r>
              <a:endParaRPr lang="en-US" altLang="zh-CN" sz="3200" b="1" baseline="-25000" dirty="0">
                <a:solidFill>
                  <a:schemeClr val="accent2"/>
                </a:solidFill>
                <a:latin typeface="Times New Roman" panose="02020603050405020304" pitchFamily="18" charset="0"/>
                <a:ea typeface="楷体_GB2312" pitchFamily="49" charset="-122"/>
              </a:endParaRPr>
            </a:p>
          </p:txBody>
        </p:sp>
        <p:sp>
          <p:nvSpPr>
            <p:cNvPr id="27690" name="Text Box 46"/>
            <p:cNvSpPr txBox="1"/>
            <p:nvPr/>
          </p:nvSpPr>
          <p:spPr>
            <a:xfrm>
              <a:off x="2736" y="2016"/>
              <a:ext cx="285" cy="365"/>
            </a:xfrm>
            <a:prstGeom prst="rect">
              <a:avLst/>
            </a:prstGeom>
            <a:noFill/>
            <a:ln w="38100">
              <a:noFill/>
            </a:ln>
          </p:spPr>
          <p:txBody>
            <a:bodyPr wrap="none" lIns="90000" tIns="46800" rIns="90000" bIns="46800" anchor="ctr">
              <a:spAutoFit/>
            </a:bodyPr>
            <a:p>
              <a:pPr lvl="0" indent="0" algn="ctr">
                <a:spcBef>
                  <a:spcPct val="50000"/>
                </a:spcBef>
              </a:pPr>
              <a:r>
                <a:rPr lang="en-US" altLang="zh-CN" sz="3200" b="1" dirty="0">
                  <a:solidFill>
                    <a:srgbClr val="A50021"/>
                  </a:solidFill>
                  <a:latin typeface="Times New Roman" panose="02020603050405020304" pitchFamily="18" charset="0"/>
                  <a:ea typeface="楷体_GB2312" pitchFamily="49" charset="-122"/>
                </a:rPr>
                <a:t>T</a:t>
              </a:r>
              <a:endParaRPr lang="en-US" altLang="zh-CN" sz="3200" b="1" dirty="0">
                <a:solidFill>
                  <a:srgbClr val="A50021"/>
                </a:solidFill>
                <a:latin typeface="Times New Roman" panose="02020603050405020304" pitchFamily="18" charset="0"/>
                <a:ea typeface="楷体_GB2312" pitchFamily="49" charset="-122"/>
              </a:endParaRPr>
            </a:p>
          </p:txBody>
        </p:sp>
        <p:grpSp>
          <p:nvGrpSpPr>
            <p:cNvPr id="27691" name="Group 47"/>
            <p:cNvGrpSpPr/>
            <p:nvPr/>
          </p:nvGrpSpPr>
          <p:grpSpPr>
            <a:xfrm>
              <a:off x="2689" y="3503"/>
              <a:ext cx="204" cy="241"/>
              <a:chOff x="2898" y="3648"/>
              <a:chExt cx="204" cy="240"/>
            </a:xfrm>
          </p:grpSpPr>
          <p:grpSp>
            <p:nvGrpSpPr>
              <p:cNvPr id="27692" name="Group 48"/>
              <p:cNvGrpSpPr/>
              <p:nvPr/>
            </p:nvGrpSpPr>
            <p:grpSpPr>
              <a:xfrm>
                <a:off x="2898" y="3684"/>
                <a:ext cx="204" cy="204"/>
                <a:chOff x="2898" y="3684"/>
                <a:chExt cx="204" cy="204"/>
              </a:xfrm>
            </p:grpSpPr>
            <p:sp>
              <p:nvSpPr>
                <p:cNvPr id="276529" name="Line 49"/>
                <p:cNvSpPr>
                  <a:spLocks noChangeShapeType="1"/>
                </p:cNvSpPr>
                <p:nvPr/>
              </p:nvSpPr>
              <p:spPr bwMode="auto">
                <a:xfrm>
                  <a:off x="3000" y="3684"/>
                  <a:ext cx="0" cy="20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0" name="Line 50"/>
                <p:cNvSpPr>
                  <a:spLocks noChangeShapeType="1"/>
                </p:cNvSpPr>
                <p:nvPr/>
              </p:nvSpPr>
              <p:spPr bwMode="auto">
                <a:xfrm>
                  <a:off x="2898" y="3876"/>
                  <a:ext cx="204" cy="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76531" name="Oval 51"/>
              <p:cNvSpPr>
                <a:spLocks noChangeArrowheads="1"/>
              </p:cNvSpPr>
              <p:nvPr/>
            </p:nvSpPr>
            <p:spPr bwMode="auto">
              <a:xfrm>
                <a:off x="2976" y="3648"/>
                <a:ext cx="47"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76532" name="Oval 52"/>
            <p:cNvSpPr>
              <a:spLocks noChangeArrowheads="1"/>
            </p:cNvSpPr>
            <p:nvPr/>
          </p:nvSpPr>
          <p:spPr bwMode="auto">
            <a:xfrm>
              <a:off x="1770" y="2183"/>
              <a:ext cx="48" cy="49"/>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3" name="Line 53"/>
            <p:cNvSpPr>
              <a:spLocks noChangeShapeType="1"/>
            </p:cNvSpPr>
            <p:nvPr/>
          </p:nvSpPr>
          <p:spPr bwMode="auto">
            <a:xfrm>
              <a:off x="3168" y="2745"/>
              <a:ext cx="384"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4" name="Line 54"/>
            <p:cNvSpPr>
              <a:spLocks noChangeShapeType="1"/>
            </p:cNvSpPr>
            <p:nvPr/>
          </p:nvSpPr>
          <p:spPr bwMode="auto">
            <a:xfrm>
              <a:off x="3168" y="2938"/>
              <a:ext cx="384"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5" name="Line 55"/>
            <p:cNvSpPr>
              <a:spLocks noChangeShapeType="1"/>
            </p:cNvSpPr>
            <p:nvPr/>
          </p:nvSpPr>
          <p:spPr bwMode="auto">
            <a:xfrm>
              <a:off x="3264" y="2841"/>
              <a:ext cx="192"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6" name="Line 56"/>
            <p:cNvSpPr>
              <a:spLocks noChangeShapeType="1"/>
            </p:cNvSpPr>
            <p:nvPr/>
          </p:nvSpPr>
          <p:spPr bwMode="auto">
            <a:xfrm>
              <a:off x="3264" y="3035"/>
              <a:ext cx="192"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7" name="Line 57"/>
            <p:cNvSpPr>
              <a:spLocks noChangeShapeType="1"/>
            </p:cNvSpPr>
            <p:nvPr/>
          </p:nvSpPr>
          <p:spPr bwMode="auto">
            <a:xfrm>
              <a:off x="3360" y="3035"/>
              <a:ext cx="0" cy="48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8" name="Oval 58"/>
            <p:cNvSpPr>
              <a:spLocks noChangeArrowheads="1"/>
            </p:cNvSpPr>
            <p:nvPr/>
          </p:nvSpPr>
          <p:spPr bwMode="auto">
            <a:xfrm>
              <a:off x="3330" y="3506"/>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39" name="Oval 59"/>
            <p:cNvSpPr>
              <a:spLocks noChangeArrowheads="1"/>
            </p:cNvSpPr>
            <p:nvPr/>
          </p:nvSpPr>
          <p:spPr bwMode="auto">
            <a:xfrm>
              <a:off x="3336" y="1803"/>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704" name="Text Box 60"/>
            <p:cNvSpPr txBox="1"/>
            <p:nvPr/>
          </p:nvSpPr>
          <p:spPr>
            <a:xfrm>
              <a:off x="1536" y="1876"/>
              <a:ext cx="240" cy="327"/>
            </a:xfrm>
            <a:prstGeom prst="rect">
              <a:avLst/>
            </a:prstGeom>
            <a:noFill/>
            <a:ln w="38100">
              <a:noFill/>
            </a:ln>
          </p:spPr>
          <p:txBody>
            <a:bodyPr anchor="t">
              <a:spAutoFit/>
            </a:bodyPr>
            <a:p>
              <a:pPr lvl="0" indent="0" algn="ctr" eaLnBrk="0" hangingPunct="0">
                <a:spcBef>
                  <a:spcPct val="50000"/>
                </a:spcBef>
              </a:pPr>
              <a:r>
                <a:rPr lang="en-US" altLang="zh-CN" sz="2800" b="1" dirty="0">
                  <a:solidFill>
                    <a:srgbClr val="FF3300"/>
                  </a:solidFill>
                  <a:latin typeface="Times New Roman" panose="02020603050405020304" pitchFamily="18" charset="0"/>
                  <a:ea typeface="宋体" panose="02010600030101010101" pitchFamily="2" charset="-122"/>
                </a:rPr>
                <a:t>+</a:t>
              </a:r>
              <a:endParaRPr lang="en-US" altLang="zh-CN" sz="2800" b="1" dirty="0">
                <a:solidFill>
                  <a:srgbClr val="FF3300"/>
                </a:solidFill>
                <a:latin typeface="Times New Roman" panose="02020603050405020304" pitchFamily="18" charset="0"/>
                <a:ea typeface="宋体" panose="02010600030101010101" pitchFamily="2" charset="-122"/>
              </a:endParaRPr>
            </a:p>
          </p:txBody>
        </p:sp>
        <p:sp>
          <p:nvSpPr>
            <p:cNvPr id="27705" name="Text Box 61"/>
            <p:cNvSpPr txBox="1"/>
            <p:nvPr/>
          </p:nvSpPr>
          <p:spPr>
            <a:xfrm>
              <a:off x="3456" y="1537"/>
              <a:ext cx="240" cy="327"/>
            </a:xfrm>
            <a:prstGeom prst="rect">
              <a:avLst/>
            </a:prstGeom>
            <a:noFill/>
            <a:ln w="38100">
              <a:noFill/>
            </a:ln>
          </p:spPr>
          <p:txBody>
            <a:bodyPr anchor="t">
              <a:spAutoFit/>
            </a:bodyPr>
            <a:p>
              <a:pPr lvl="0" indent="0" algn="ctr" eaLnBrk="0" hangingPunct="0">
                <a:spcBef>
                  <a:spcPct val="50000"/>
                </a:spcBef>
              </a:pPr>
              <a:r>
                <a:rPr lang="en-US" altLang="zh-CN" sz="2800" b="1" dirty="0">
                  <a:solidFill>
                    <a:srgbClr val="FF3300"/>
                  </a:solidFill>
                  <a:latin typeface="Times New Roman" panose="02020603050405020304" pitchFamily="18" charset="0"/>
                  <a:ea typeface="宋体" panose="02010600030101010101" pitchFamily="2" charset="-122"/>
                </a:rPr>
                <a:t>+</a:t>
              </a:r>
              <a:endParaRPr lang="en-US" altLang="zh-CN" sz="2800" b="1" dirty="0">
                <a:solidFill>
                  <a:srgbClr val="FF3300"/>
                </a:solidFill>
                <a:latin typeface="Times New Roman" panose="02020603050405020304" pitchFamily="18" charset="0"/>
                <a:ea typeface="宋体" panose="02010600030101010101" pitchFamily="2" charset="-122"/>
              </a:endParaRPr>
            </a:p>
          </p:txBody>
        </p:sp>
        <p:sp>
          <p:nvSpPr>
            <p:cNvPr id="276542" name="Line 62"/>
            <p:cNvSpPr>
              <a:spLocks noChangeShapeType="1"/>
            </p:cNvSpPr>
            <p:nvPr/>
          </p:nvSpPr>
          <p:spPr bwMode="auto">
            <a:xfrm>
              <a:off x="1151" y="2359"/>
              <a:ext cx="0" cy="917"/>
            </a:xfrm>
            <a:prstGeom prst="line">
              <a:avLst/>
            </a:prstGeom>
            <a:noFill/>
            <a:ln w="381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43" name="Line 63"/>
            <p:cNvSpPr>
              <a:spLocks noChangeShapeType="1"/>
            </p:cNvSpPr>
            <p:nvPr/>
          </p:nvSpPr>
          <p:spPr bwMode="auto">
            <a:xfrm>
              <a:off x="4224" y="2262"/>
              <a:ext cx="0" cy="918"/>
            </a:xfrm>
            <a:prstGeom prst="line">
              <a:avLst/>
            </a:prstGeom>
            <a:noFill/>
            <a:ln w="381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708" name="Text Box 64"/>
            <p:cNvSpPr txBox="1"/>
            <p:nvPr/>
          </p:nvSpPr>
          <p:spPr>
            <a:xfrm>
              <a:off x="816" y="2697"/>
              <a:ext cx="288" cy="327"/>
            </a:xfrm>
            <a:prstGeom prst="rect">
              <a:avLst/>
            </a:prstGeom>
            <a:noFill/>
            <a:ln w="38100">
              <a:noFill/>
            </a:ln>
          </p:spPr>
          <p:txBody>
            <a:bodyPr anchor="t">
              <a:spAutoFit/>
            </a:bodyPr>
            <a:p>
              <a:pPr lvl="0" indent="0" algn="ctr" eaLnBrk="0" hangingPunct="0">
                <a:spcBef>
                  <a:spcPct val="50000"/>
                </a:spcBef>
              </a:pPr>
              <a:r>
                <a:rPr lang="en-US" altLang="zh-CN" sz="2800" b="1" i="1" dirty="0">
                  <a:latin typeface="Times New Roman" panose="02020603050405020304" pitchFamily="18" charset="0"/>
                  <a:ea typeface="宋体" panose="02010600030101010101" pitchFamily="2" charset="-122"/>
                </a:rPr>
                <a:t>u</a:t>
              </a:r>
              <a:r>
                <a:rPr lang="en-US" altLang="zh-CN" sz="2800" b="1" baseline="-25000" dirty="0">
                  <a:latin typeface="Times New Roman" panose="02020603050405020304" pitchFamily="18" charset="0"/>
                  <a:ea typeface="宋体" panose="02010600030101010101" pitchFamily="2" charset="-122"/>
                </a:rPr>
                <a:t>i</a:t>
              </a:r>
              <a:endParaRPr lang="en-US" altLang="zh-CN" sz="2800" b="1" baseline="-25000" dirty="0">
                <a:latin typeface="Times New Roman" panose="02020603050405020304" pitchFamily="18" charset="0"/>
                <a:ea typeface="宋体" panose="02010600030101010101" pitchFamily="2" charset="-122"/>
              </a:endParaRPr>
            </a:p>
          </p:txBody>
        </p:sp>
        <p:sp>
          <p:nvSpPr>
            <p:cNvPr id="27709" name="Text Box 65"/>
            <p:cNvSpPr txBox="1"/>
            <p:nvPr/>
          </p:nvSpPr>
          <p:spPr>
            <a:xfrm>
              <a:off x="4224" y="2552"/>
              <a:ext cx="384" cy="327"/>
            </a:xfrm>
            <a:prstGeom prst="rect">
              <a:avLst/>
            </a:prstGeom>
            <a:noFill/>
            <a:ln w="38100">
              <a:noFill/>
            </a:ln>
          </p:spPr>
          <p:txBody>
            <a:bodyPr anchor="t">
              <a:spAutoFit/>
            </a:bodyPr>
            <a:p>
              <a:pPr lvl="0" indent="0" algn="ctr" eaLnBrk="0" hangingPunct="0">
                <a:spcBef>
                  <a:spcPct val="50000"/>
                </a:spcBef>
              </a:pPr>
              <a:r>
                <a:rPr lang="en-US" altLang="zh-CN" sz="2800" b="1" i="1" dirty="0">
                  <a:latin typeface="Times New Roman" panose="02020603050405020304" pitchFamily="18" charset="0"/>
                  <a:ea typeface="宋体" panose="02010600030101010101" pitchFamily="2" charset="-122"/>
                </a:rPr>
                <a:t>u</a:t>
              </a:r>
              <a:r>
                <a:rPr lang="en-US" altLang="zh-CN" sz="2800" b="1" baseline="-25000" dirty="0">
                  <a:latin typeface="Times New Roman" panose="02020603050405020304" pitchFamily="18" charset="0"/>
                  <a:ea typeface="宋体" panose="02010600030101010101" pitchFamily="2" charset="-122"/>
                </a:rPr>
                <a:t>o</a:t>
              </a:r>
              <a:endParaRPr lang="en-US" altLang="zh-CN" sz="2800" b="1" baseline="-25000" dirty="0">
                <a:latin typeface="Times New Roman" panose="02020603050405020304" pitchFamily="18" charset="0"/>
                <a:ea typeface="宋体" panose="02010600030101010101" pitchFamily="2" charset="-122"/>
              </a:endParaRPr>
            </a:p>
          </p:txBody>
        </p:sp>
      </p:grpSp>
      <p:sp>
        <p:nvSpPr>
          <p:cNvPr id="276546" name="Text Box 66"/>
          <p:cNvSpPr txBox="1"/>
          <p:nvPr/>
        </p:nvSpPr>
        <p:spPr>
          <a:xfrm>
            <a:off x="-3175" y="3581400"/>
            <a:ext cx="1619250" cy="531813"/>
          </a:xfrm>
          <a:prstGeom prst="rect">
            <a:avLst/>
          </a:prstGeom>
          <a:solidFill>
            <a:schemeClr val="bg1"/>
          </a:solidFill>
          <a:ln w="12700" cap="flat" cmpd="sng">
            <a:solidFill>
              <a:schemeClr val="accent1"/>
            </a:solidFill>
            <a:prstDash val="solid"/>
            <a:miter/>
            <a:headEnd type="none" w="med" len="med"/>
            <a:tailEnd type="none" w="sm" len="lg"/>
          </a:ln>
        </p:spPr>
        <p:txBody>
          <a:bodyPr wrap="none" anchor="ctr">
            <a:spAutoFit/>
          </a:bodyPr>
          <a:p>
            <a:pPr lvl="0" indent="0" algn="ctr"/>
            <a:r>
              <a:rPr lang="zh-CN" altLang="en-US" sz="2800" b="1" dirty="0">
                <a:solidFill>
                  <a:srgbClr val="FF00FF"/>
                </a:solidFill>
                <a:latin typeface="Times New Roman" panose="02020603050405020304" pitchFamily="18" charset="0"/>
                <a:ea typeface="方正琥珀繁体" pitchFamily="2" charset="-122"/>
              </a:rPr>
              <a:t>偏置电阻</a:t>
            </a:r>
            <a:endParaRPr lang="zh-CN" altLang="en-US" sz="2800" b="1" dirty="0">
              <a:solidFill>
                <a:srgbClr val="FF00FF"/>
              </a:solidFill>
              <a:latin typeface="Times New Roman" panose="02020603050405020304" pitchFamily="18" charset="0"/>
              <a:ea typeface="方正琥珀繁体" pitchFamily="2" charset="-122"/>
            </a:endParaRPr>
          </a:p>
        </p:txBody>
      </p:sp>
      <p:sp>
        <p:nvSpPr>
          <p:cNvPr id="276547" name="Line 67"/>
          <p:cNvSpPr>
            <a:spLocks noChangeShapeType="1"/>
          </p:cNvSpPr>
          <p:nvPr/>
        </p:nvSpPr>
        <p:spPr bwMode="auto">
          <a:xfrm>
            <a:off x="1600200" y="3886200"/>
            <a:ext cx="1143000" cy="381000"/>
          </a:xfrm>
          <a:prstGeom prst="line">
            <a:avLst/>
          </a:prstGeom>
          <a:noFill/>
          <a:ln w="12700">
            <a:solidFill>
              <a:schemeClr val="accent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48" name="Text Box 68"/>
          <p:cNvSpPr txBox="1"/>
          <p:nvPr/>
        </p:nvSpPr>
        <p:spPr>
          <a:xfrm>
            <a:off x="6318250" y="3048000"/>
            <a:ext cx="2686050" cy="531813"/>
          </a:xfrm>
          <a:prstGeom prst="rect">
            <a:avLst/>
          </a:prstGeom>
          <a:solidFill>
            <a:schemeClr val="bg1"/>
          </a:solidFill>
          <a:ln w="12700" cap="flat" cmpd="sng">
            <a:solidFill>
              <a:schemeClr val="accent1"/>
            </a:solidFill>
            <a:prstDash val="solid"/>
            <a:miter/>
            <a:headEnd type="none" w="med" len="med"/>
            <a:tailEnd type="none" w="sm" len="lg"/>
          </a:ln>
        </p:spPr>
        <p:txBody>
          <a:bodyPr wrap="none" anchor="ctr">
            <a:spAutoFit/>
          </a:bodyPr>
          <a:p>
            <a:pPr lvl="0" indent="0" algn="ctr"/>
            <a:r>
              <a:rPr lang="zh-CN" altLang="en-US" sz="2800" b="1" dirty="0">
                <a:solidFill>
                  <a:srgbClr val="FF00FF"/>
                </a:solidFill>
                <a:latin typeface="Times New Roman" panose="02020603050405020304" pitchFamily="18" charset="0"/>
                <a:ea typeface="方正琥珀繁体" pitchFamily="2" charset="-122"/>
              </a:rPr>
              <a:t>集电极负载电阻</a:t>
            </a:r>
            <a:endParaRPr lang="zh-CN" altLang="en-US" sz="2800" b="1" dirty="0">
              <a:solidFill>
                <a:srgbClr val="FF00FF"/>
              </a:solidFill>
              <a:latin typeface="Times New Roman" panose="02020603050405020304" pitchFamily="18" charset="0"/>
              <a:ea typeface="方正琥珀繁体" pitchFamily="2" charset="-122"/>
            </a:endParaRPr>
          </a:p>
        </p:txBody>
      </p:sp>
      <p:sp>
        <p:nvSpPr>
          <p:cNvPr id="276549" name="Line 69"/>
          <p:cNvSpPr>
            <a:spLocks noChangeShapeType="1"/>
          </p:cNvSpPr>
          <p:nvPr/>
        </p:nvSpPr>
        <p:spPr bwMode="auto">
          <a:xfrm flipV="1">
            <a:off x="5486400" y="3276600"/>
            <a:ext cx="838200" cy="228600"/>
          </a:xfrm>
          <a:prstGeom prst="line">
            <a:avLst/>
          </a:prstGeom>
          <a:noFill/>
          <a:ln w="12700">
            <a:solidFill>
              <a:schemeClr val="accent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50" name="Text Box 70"/>
          <p:cNvSpPr txBox="1"/>
          <p:nvPr/>
        </p:nvSpPr>
        <p:spPr>
          <a:xfrm>
            <a:off x="3048000" y="1981200"/>
            <a:ext cx="1593850" cy="531813"/>
          </a:xfrm>
          <a:prstGeom prst="rect">
            <a:avLst/>
          </a:prstGeom>
          <a:solidFill>
            <a:schemeClr val="bg1"/>
          </a:solidFill>
          <a:ln w="12700" cap="flat" cmpd="sng">
            <a:solidFill>
              <a:schemeClr val="accent2"/>
            </a:solidFill>
            <a:prstDash val="solid"/>
            <a:miter/>
            <a:headEnd type="none" w="med" len="med"/>
            <a:tailEnd type="none" w="sm" len="lg"/>
          </a:ln>
        </p:spPr>
        <p:txBody>
          <a:bodyPr wrap="none" anchor="ctr">
            <a:spAutoFit/>
          </a:bodyPr>
          <a:p>
            <a:pPr lvl="0" indent="0" algn="ctr"/>
            <a:r>
              <a:rPr lang="zh-CN" altLang="en-US" sz="2800" b="1" dirty="0">
                <a:solidFill>
                  <a:schemeClr val="accent2"/>
                </a:solidFill>
                <a:latin typeface="Times New Roman" panose="02020603050405020304" pitchFamily="18" charset="0"/>
                <a:ea typeface="方正琥珀繁体" pitchFamily="2" charset="-122"/>
              </a:rPr>
              <a:t>耦合电容</a:t>
            </a:r>
            <a:endParaRPr lang="zh-CN" altLang="en-US" sz="2800" b="1" dirty="0">
              <a:solidFill>
                <a:schemeClr val="accent2"/>
              </a:solidFill>
              <a:latin typeface="Times New Roman" panose="02020603050405020304" pitchFamily="18" charset="0"/>
              <a:ea typeface="方正琥珀繁体" pitchFamily="2" charset="-122"/>
            </a:endParaRPr>
          </a:p>
        </p:txBody>
      </p:sp>
      <p:sp>
        <p:nvSpPr>
          <p:cNvPr id="276551" name="Line 71"/>
          <p:cNvSpPr>
            <a:spLocks noChangeShapeType="1"/>
          </p:cNvSpPr>
          <p:nvPr/>
        </p:nvSpPr>
        <p:spPr bwMode="auto">
          <a:xfrm flipH="1">
            <a:off x="2514600" y="2362200"/>
            <a:ext cx="533400" cy="533400"/>
          </a:xfrm>
          <a:prstGeom prst="line">
            <a:avLst/>
          </a:prstGeom>
          <a:noFill/>
          <a:ln w="12700">
            <a:solidFill>
              <a:schemeClr val="accent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52" name="Line 72"/>
          <p:cNvSpPr>
            <a:spLocks noChangeShapeType="1"/>
          </p:cNvSpPr>
          <p:nvPr/>
        </p:nvSpPr>
        <p:spPr bwMode="auto">
          <a:xfrm>
            <a:off x="4648200" y="2286000"/>
            <a:ext cx="1066800" cy="228600"/>
          </a:xfrm>
          <a:prstGeom prst="line">
            <a:avLst/>
          </a:prstGeom>
          <a:noFill/>
          <a:ln w="12700">
            <a:solidFill>
              <a:schemeClr val="accent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53" name="Text Box 73"/>
          <p:cNvSpPr txBox="1"/>
          <p:nvPr/>
        </p:nvSpPr>
        <p:spPr>
          <a:xfrm>
            <a:off x="2133600" y="6019800"/>
            <a:ext cx="1612900" cy="531813"/>
          </a:xfrm>
          <a:prstGeom prst="rect">
            <a:avLst/>
          </a:prstGeom>
          <a:solidFill>
            <a:schemeClr val="bg1"/>
          </a:solidFill>
          <a:ln w="12700" cap="flat" cmpd="sng">
            <a:solidFill>
              <a:srgbClr val="FF0000"/>
            </a:solidFill>
            <a:prstDash val="solid"/>
            <a:miter/>
            <a:headEnd type="none" w="med" len="med"/>
            <a:tailEnd type="none" w="sm" len="lg"/>
          </a:ln>
        </p:spPr>
        <p:txBody>
          <a:bodyPr wrap="none" anchor="ctr">
            <a:spAutoFit/>
          </a:bodyPr>
          <a:p>
            <a:pPr lvl="0" indent="0" algn="ctr"/>
            <a:r>
              <a:rPr lang="zh-CN" altLang="en-US" sz="2800" b="1" dirty="0">
                <a:solidFill>
                  <a:srgbClr val="FF3300"/>
                </a:solidFill>
                <a:latin typeface="Times New Roman" panose="02020603050405020304" pitchFamily="18" charset="0"/>
                <a:ea typeface="方正琥珀繁体" pitchFamily="2" charset="-122"/>
              </a:rPr>
              <a:t>直流电源</a:t>
            </a:r>
            <a:endParaRPr lang="zh-CN" altLang="en-US" sz="2800" b="1" dirty="0">
              <a:solidFill>
                <a:srgbClr val="FF3300"/>
              </a:solidFill>
              <a:latin typeface="Times New Roman" panose="02020603050405020304" pitchFamily="18" charset="0"/>
              <a:ea typeface="方正琥珀繁体" pitchFamily="2" charset="-122"/>
            </a:endParaRPr>
          </a:p>
        </p:txBody>
      </p:sp>
      <p:sp>
        <p:nvSpPr>
          <p:cNvPr id="276554" name="Line 74"/>
          <p:cNvSpPr>
            <a:spLocks noChangeShapeType="1"/>
          </p:cNvSpPr>
          <p:nvPr/>
        </p:nvSpPr>
        <p:spPr bwMode="auto">
          <a:xfrm flipH="1" flipV="1">
            <a:off x="2895600" y="5257800"/>
            <a:ext cx="304800" cy="762000"/>
          </a:xfrm>
          <a:prstGeom prst="line">
            <a:avLst/>
          </a:prstGeom>
          <a:noFill/>
          <a:ln w="127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55" name="Line 75"/>
          <p:cNvSpPr>
            <a:spLocks noChangeShapeType="1"/>
          </p:cNvSpPr>
          <p:nvPr/>
        </p:nvSpPr>
        <p:spPr bwMode="auto">
          <a:xfrm flipV="1">
            <a:off x="3200400" y="4800600"/>
            <a:ext cx="1905000" cy="1219200"/>
          </a:xfrm>
          <a:prstGeom prst="line">
            <a:avLst/>
          </a:prstGeom>
          <a:noFill/>
          <a:ln w="127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56" name="Line 76"/>
          <p:cNvSpPr>
            <a:spLocks noChangeShapeType="1"/>
          </p:cNvSpPr>
          <p:nvPr/>
        </p:nvSpPr>
        <p:spPr bwMode="auto">
          <a:xfrm>
            <a:off x="4495800" y="5715000"/>
            <a:ext cx="1143000" cy="457200"/>
          </a:xfrm>
          <a:prstGeom prst="line">
            <a:avLst/>
          </a:prstGeom>
          <a:noFill/>
          <a:ln w="12700">
            <a:solidFill>
              <a:schemeClr val="tx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57" name="Text Box 77"/>
          <p:cNvSpPr txBox="1"/>
          <p:nvPr/>
        </p:nvSpPr>
        <p:spPr>
          <a:xfrm>
            <a:off x="5638800" y="5943600"/>
            <a:ext cx="1295400" cy="531813"/>
          </a:xfrm>
          <a:prstGeom prst="rect">
            <a:avLst/>
          </a:prstGeom>
          <a:noFill/>
          <a:ln w="12700" cap="flat" cmpd="sng">
            <a:solidFill>
              <a:schemeClr val="tx1"/>
            </a:solidFill>
            <a:prstDash val="solid"/>
            <a:miter/>
            <a:headEnd type="none" w="med" len="med"/>
            <a:tailEnd type="none" w="sm" len="lg"/>
          </a:ln>
        </p:spPr>
        <p:txBody>
          <a:bodyPr anchor="t">
            <a:spAutoFit/>
          </a:bodyPr>
          <a:p>
            <a:pPr lvl="0" indent="0" algn="ctr" eaLnBrk="0" hangingPunct="0">
              <a:spcBef>
                <a:spcPct val="50000"/>
              </a:spcBef>
            </a:pPr>
            <a:r>
              <a:rPr lang="zh-CN" altLang="en-US" sz="2800" b="1" dirty="0">
                <a:latin typeface="Times New Roman" panose="02020603050405020304" pitchFamily="18" charset="0"/>
                <a:ea typeface="宋体" panose="02010600030101010101" pitchFamily="2" charset="-122"/>
              </a:rPr>
              <a:t>公共端</a:t>
            </a:r>
            <a:endParaRPr lang="zh-CN" altLang="en-US" sz="2800" b="1" dirty="0">
              <a:latin typeface="Times New Roman" panose="02020603050405020304" pitchFamily="18" charset="0"/>
              <a:ea typeface="宋体" panose="02010600030101010101" pitchFamily="2" charset="-122"/>
            </a:endParaRPr>
          </a:p>
        </p:txBody>
      </p:sp>
      <p:sp>
        <p:nvSpPr>
          <p:cNvPr id="276558" name="Line 78"/>
          <p:cNvSpPr>
            <a:spLocks noChangeShapeType="1"/>
          </p:cNvSpPr>
          <p:nvPr/>
        </p:nvSpPr>
        <p:spPr bwMode="auto">
          <a:xfrm flipH="1">
            <a:off x="4495800" y="1752600"/>
            <a:ext cx="914400" cy="1524000"/>
          </a:xfrm>
          <a:prstGeom prst="line">
            <a:avLst/>
          </a:prstGeom>
          <a:noFill/>
          <a:ln w="12700">
            <a:solidFill>
              <a:srgbClr val="A5002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6559" name="Text Box 79"/>
          <p:cNvSpPr txBox="1"/>
          <p:nvPr/>
        </p:nvSpPr>
        <p:spPr>
          <a:xfrm>
            <a:off x="5334000" y="1219200"/>
            <a:ext cx="1828800" cy="531813"/>
          </a:xfrm>
          <a:prstGeom prst="rect">
            <a:avLst/>
          </a:prstGeom>
          <a:noFill/>
          <a:ln w="12700" cap="flat" cmpd="sng">
            <a:solidFill>
              <a:srgbClr val="A50021"/>
            </a:solidFill>
            <a:prstDash val="solid"/>
            <a:miter/>
            <a:headEnd type="none" w="med" len="med"/>
            <a:tailEnd type="none" w="sm" len="lg"/>
          </a:ln>
        </p:spPr>
        <p:txBody>
          <a:bodyPr anchor="t">
            <a:spAutoFit/>
          </a:bodyPr>
          <a:p>
            <a:pPr lvl="0" indent="0" algn="ctr" eaLnBrk="0" hangingPunct="0">
              <a:spcBef>
                <a:spcPct val="50000"/>
              </a:spcBef>
            </a:pPr>
            <a:r>
              <a:rPr lang="zh-CN" altLang="en-US" sz="2800" b="1" dirty="0">
                <a:solidFill>
                  <a:srgbClr val="A50021"/>
                </a:solidFill>
                <a:latin typeface="Times New Roman" panose="02020603050405020304" pitchFamily="18" charset="0"/>
                <a:ea typeface="宋体" panose="02010600030101010101" pitchFamily="2" charset="-122"/>
              </a:rPr>
              <a:t>放大元件</a:t>
            </a:r>
            <a:endParaRPr lang="zh-CN" altLang="en-US" sz="2800" b="1" dirty="0">
              <a:solidFill>
                <a:srgbClr val="A50021"/>
              </a:solidFill>
              <a:latin typeface="Times New Roman" panose="02020603050405020304" pitchFamily="18" charset="0"/>
              <a:ea typeface="宋体" panose="02010600030101010101" pitchFamily="2" charset="-122"/>
            </a:endParaRPr>
          </a:p>
        </p:txBody>
      </p:sp>
      <p:sp>
        <p:nvSpPr>
          <p:cNvPr id="276561" name="Rectangle 81"/>
          <p:cNvSpPr>
            <a:spLocks noChangeArrowheads="1"/>
          </p:cNvSpPr>
          <p:nvPr/>
        </p:nvSpPr>
        <p:spPr bwMode="auto">
          <a:xfrm>
            <a:off x="395605" y="44450"/>
            <a:ext cx="645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
            <a:pPr lvl="0" eaLnBrk="1" fontAlgn="base" hangingPunct="1"/>
            <a:r>
              <a:rPr lang="zh-CN" altLang="en-US" sz="3200" b="1" strike="noStrike" noProof="1" dirty="0">
                <a:solidFill>
                  <a:srgbClr val="CC0000"/>
                </a:solidFill>
                <a:effectLst>
                  <a:outerShdw blurRad="38100" dist="38100" dir="2700000">
                    <a:srgbClr val="000000"/>
                  </a:outerShdw>
                </a:effectLst>
                <a:latin typeface="黑体" panose="02010609060101010101" charset="-122"/>
                <a:ea typeface="黑体" panose="02010609060101010101" charset="-122"/>
                <a:cs typeface="+mn-ea"/>
              </a:rPr>
              <a:t>二、共发射极基本放大电路的组成</a:t>
            </a:r>
            <a:endParaRPr lang="zh-CN" altLang="en-US" sz="3200" b="1" strike="noStrike" noProof="1" dirty="0">
              <a:solidFill>
                <a:srgbClr val="CC0000"/>
              </a:solidFill>
              <a:effectLst>
                <a:outerShdw blurRad="38100" dist="38100" dir="2700000">
                  <a:srgbClr val="000000"/>
                </a:outerShdw>
              </a:effectLst>
              <a:latin typeface="黑体" panose="02010609060101010101" charset="-122"/>
              <a:ea typeface="黑体" panose="02010609060101010101" charset="-122"/>
            </a:endParaRPr>
          </a:p>
        </p:txBody>
      </p:sp>
      <p:sp>
        <p:nvSpPr>
          <p:cNvPr id="276562" name="Rectangle 82"/>
          <p:cNvSpPr>
            <a:spLocks noChangeArrowheads="1"/>
          </p:cNvSpPr>
          <p:nvPr/>
        </p:nvSpPr>
        <p:spPr bwMode="auto">
          <a:xfrm>
            <a:off x="450850" y="847725"/>
            <a:ext cx="2768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 </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放大电路组成 </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76563" name="Rectangle 83"/>
          <p:cNvSpPr>
            <a:spLocks noChangeArrowheads="1"/>
          </p:cNvSpPr>
          <p:nvPr/>
        </p:nvSpPr>
        <p:spPr bwMode="auto">
          <a:xfrm>
            <a:off x="171450" y="1538288"/>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）组成原则 </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62"/>
                                        </p:tgtEl>
                                        <p:attrNameLst>
                                          <p:attrName>style.visibility</p:attrName>
                                        </p:attrNameLst>
                                      </p:cBhvr>
                                      <p:to>
                                        <p:strVal val="visible"/>
                                      </p:to>
                                    </p:set>
                                    <p:animEffect transition="in" filter="wipe(left)">
                                      <p:cBhvr>
                                        <p:cTn id="7" dur="500"/>
                                        <p:tgtEl>
                                          <p:spTgt spid="2765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63"/>
                                        </p:tgtEl>
                                        <p:attrNameLst>
                                          <p:attrName>style.visibility</p:attrName>
                                        </p:attrNameLst>
                                      </p:cBhvr>
                                      <p:to>
                                        <p:strVal val="visible"/>
                                      </p:to>
                                    </p:set>
                                    <p:animEffect transition="in" filter="wipe(left)">
                                      <p:cBhvr>
                                        <p:cTn id="12" dur="500"/>
                                        <p:tgtEl>
                                          <p:spTgt spid="276563"/>
                                        </p:tgtEl>
                                      </p:cBhvr>
                                    </p:animEffect>
                                  </p:childTnLst>
                                </p:cTn>
                              </p:par>
                            </p:childTnLst>
                          </p:cTn>
                        </p:par>
                        <p:par>
                          <p:cTn id="13" fill="hold">
                            <p:stCondLst>
                              <p:cond delay="500"/>
                            </p:stCondLst>
                            <p:childTnLst>
                              <p:par>
                                <p:cTn id="14" presetID="9" presetClass="entr" presetSubtype="0" fill="hold" nodeType="afterEffect">
                                  <p:stCondLst>
                                    <p:cond delay="2000"/>
                                  </p:stCondLst>
                                  <p:childTnLst>
                                    <p:set>
                                      <p:cBhvr>
                                        <p:cTn id="15" dur="1" fill="hold">
                                          <p:stCondLst>
                                            <p:cond delay="0"/>
                                          </p:stCondLst>
                                        </p:cTn>
                                        <p:tgtEl>
                                          <p:spTgt spid="276485"/>
                                        </p:tgtEl>
                                        <p:attrNameLst>
                                          <p:attrName>style.visibility</p:attrName>
                                        </p:attrNameLst>
                                      </p:cBhvr>
                                      <p:to>
                                        <p:strVal val="visible"/>
                                      </p:to>
                                    </p:set>
                                    <p:animEffect transition="in" filter="dissolve">
                                      <p:cBhvr>
                                        <p:cTn id="16" dur="500"/>
                                        <p:tgtEl>
                                          <p:spTgt spid="27648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76558"/>
                                        </p:tgtEl>
                                        <p:attrNameLst>
                                          <p:attrName>style.visibility</p:attrName>
                                        </p:attrNameLst>
                                      </p:cBhvr>
                                      <p:to>
                                        <p:strVal val="visible"/>
                                      </p:to>
                                    </p:set>
                                    <p:animEffect transition="in" filter="wipe(down)">
                                      <p:cBhvr>
                                        <p:cTn id="21" dur="500"/>
                                        <p:tgtEl>
                                          <p:spTgt spid="276558"/>
                                        </p:tgtEl>
                                      </p:cBhvr>
                                    </p:animEffect>
                                  </p:childTnLst>
                                </p:cTn>
                              </p:par>
                            </p:childTnLst>
                          </p:cTn>
                        </p:par>
                        <p:par>
                          <p:cTn id="22" fill="hold">
                            <p:stCondLst>
                              <p:cond delay="500"/>
                            </p:stCondLst>
                            <p:childTnLst>
                              <p:par>
                                <p:cTn id="23" presetID="4" presetClass="entr" presetSubtype="32" fill="hold" grpId="0" nodeType="afterEffect">
                                  <p:stCondLst>
                                    <p:cond delay="0"/>
                                  </p:stCondLst>
                                  <p:childTnLst>
                                    <p:set>
                                      <p:cBhvr>
                                        <p:cTn id="24" dur="1" fill="hold">
                                          <p:stCondLst>
                                            <p:cond delay="0"/>
                                          </p:stCondLst>
                                        </p:cTn>
                                        <p:tgtEl>
                                          <p:spTgt spid="276559"/>
                                        </p:tgtEl>
                                        <p:attrNameLst>
                                          <p:attrName>style.visibility</p:attrName>
                                        </p:attrNameLst>
                                      </p:cBhvr>
                                      <p:to>
                                        <p:strVal val="visible"/>
                                      </p:to>
                                    </p:set>
                                    <p:animEffect transition="in" filter="box(out)">
                                      <p:cBhvr>
                                        <p:cTn id="25" dur="500"/>
                                        <p:tgtEl>
                                          <p:spTgt spid="27655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76555"/>
                                        </p:tgtEl>
                                        <p:attrNameLst>
                                          <p:attrName>style.visibility</p:attrName>
                                        </p:attrNameLst>
                                      </p:cBhvr>
                                      <p:to>
                                        <p:strVal val="visible"/>
                                      </p:to>
                                    </p:set>
                                    <p:animEffect transition="in" filter="wipe(up)">
                                      <p:cBhvr>
                                        <p:cTn id="30" dur="500"/>
                                        <p:tgtEl>
                                          <p:spTgt spid="276555"/>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276554"/>
                                        </p:tgtEl>
                                        <p:attrNameLst>
                                          <p:attrName>style.visibility</p:attrName>
                                        </p:attrNameLst>
                                      </p:cBhvr>
                                      <p:to>
                                        <p:strVal val="visible"/>
                                      </p:to>
                                    </p:set>
                                    <p:animEffect transition="in" filter="wipe(up)">
                                      <p:cBhvr>
                                        <p:cTn id="34" dur="500"/>
                                        <p:tgtEl>
                                          <p:spTgt spid="276554"/>
                                        </p:tgtEl>
                                      </p:cBhvr>
                                    </p:animEffect>
                                  </p:childTnLst>
                                </p:cTn>
                              </p:par>
                            </p:childTnLst>
                          </p:cTn>
                        </p:par>
                        <p:par>
                          <p:cTn id="35" fill="hold">
                            <p:stCondLst>
                              <p:cond delay="1000"/>
                            </p:stCondLst>
                            <p:childTnLst>
                              <p:par>
                                <p:cTn id="36" presetID="4" presetClass="entr" presetSubtype="32" fill="hold" grpId="0" nodeType="afterEffect">
                                  <p:stCondLst>
                                    <p:cond delay="0"/>
                                  </p:stCondLst>
                                  <p:childTnLst>
                                    <p:set>
                                      <p:cBhvr>
                                        <p:cTn id="37" dur="1" fill="hold">
                                          <p:stCondLst>
                                            <p:cond delay="0"/>
                                          </p:stCondLst>
                                        </p:cTn>
                                        <p:tgtEl>
                                          <p:spTgt spid="276553"/>
                                        </p:tgtEl>
                                        <p:attrNameLst>
                                          <p:attrName>style.visibility</p:attrName>
                                        </p:attrNameLst>
                                      </p:cBhvr>
                                      <p:to>
                                        <p:strVal val="visible"/>
                                      </p:to>
                                    </p:set>
                                    <p:animEffect transition="in" filter="box(out)">
                                      <p:cBhvr>
                                        <p:cTn id="38" dur="500"/>
                                        <p:tgtEl>
                                          <p:spTgt spid="27655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276547"/>
                                        </p:tgtEl>
                                        <p:attrNameLst>
                                          <p:attrName>style.visibility</p:attrName>
                                        </p:attrNameLst>
                                      </p:cBhvr>
                                      <p:to>
                                        <p:strVal val="visible"/>
                                      </p:to>
                                    </p:set>
                                    <p:animEffect transition="in" filter="wipe(right)">
                                      <p:cBhvr>
                                        <p:cTn id="43" dur="500"/>
                                        <p:tgtEl>
                                          <p:spTgt spid="276547"/>
                                        </p:tgtEl>
                                      </p:cBhvr>
                                    </p:animEffect>
                                  </p:childTnLst>
                                </p:cTn>
                              </p:par>
                            </p:childTnLst>
                          </p:cTn>
                        </p:par>
                        <p:par>
                          <p:cTn id="44" fill="hold">
                            <p:stCondLst>
                              <p:cond delay="500"/>
                            </p:stCondLst>
                            <p:childTnLst>
                              <p:par>
                                <p:cTn id="45" presetID="4" presetClass="entr" presetSubtype="32" fill="hold" grpId="0" nodeType="afterEffect">
                                  <p:stCondLst>
                                    <p:cond delay="0"/>
                                  </p:stCondLst>
                                  <p:childTnLst>
                                    <p:set>
                                      <p:cBhvr>
                                        <p:cTn id="46" dur="1" fill="hold">
                                          <p:stCondLst>
                                            <p:cond delay="0"/>
                                          </p:stCondLst>
                                        </p:cTn>
                                        <p:tgtEl>
                                          <p:spTgt spid="276546"/>
                                        </p:tgtEl>
                                        <p:attrNameLst>
                                          <p:attrName>style.visibility</p:attrName>
                                        </p:attrNameLst>
                                      </p:cBhvr>
                                      <p:to>
                                        <p:strVal val="visible"/>
                                      </p:to>
                                    </p:set>
                                    <p:animEffect transition="in" filter="box(out)">
                                      <p:cBhvr>
                                        <p:cTn id="47" dur="500"/>
                                        <p:tgtEl>
                                          <p:spTgt spid="2765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76549"/>
                                        </p:tgtEl>
                                        <p:attrNameLst>
                                          <p:attrName>style.visibility</p:attrName>
                                        </p:attrNameLst>
                                      </p:cBhvr>
                                      <p:to>
                                        <p:strVal val="visible"/>
                                      </p:to>
                                    </p:set>
                                    <p:animEffect transition="in" filter="wipe(left)">
                                      <p:cBhvr>
                                        <p:cTn id="52" dur="500"/>
                                        <p:tgtEl>
                                          <p:spTgt spid="276549"/>
                                        </p:tgtEl>
                                      </p:cBhvr>
                                    </p:animEffect>
                                  </p:childTnLst>
                                </p:cTn>
                              </p:par>
                            </p:childTnLst>
                          </p:cTn>
                        </p:par>
                        <p:par>
                          <p:cTn id="53" fill="hold">
                            <p:stCondLst>
                              <p:cond delay="500"/>
                            </p:stCondLst>
                            <p:childTnLst>
                              <p:par>
                                <p:cTn id="54" presetID="4" presetClass="entr" presetSubtype="32" fill="hold" grpId="0" nodeType="afterEffect">
                                  <p:stCondLst>
                                    <p:cond delay="0"/>
                                  </p:stCondLst>
                                  <p:childTnLst>
                                    <p:set>
                                      <p:cBhvr>
                                        <p:cTn id="55" dur="1" fill="hold">
                                          <p:stCondLst>
                                            <p:cond delay="0"/>
                                          </p:stCondLst>
                                        </p:cTn>
                                        <p:tgtEl>
                                          <p:spTgt spid="276548"/>
                                        </p:tgtEl>
                                        <p:attrNameLst>
                                          <p:attrName>style.visibility</p:attrName>
                                        </p:attrNameLst>
                                      </p:cBhvr>
                                      <p:to>
                                        <p:strVal val="visible"/>
                                      </p:to>
                                    </p:set>
                                    <p:animEffect transition="in" filter="box(out)">
                                      <p:cBhvr>
                                        <p:cTn id="56" dur="500"/>
                                        <p:tgtEl>
                                          <p:spTgt spid="276548"/>
                                        </p:tgtEl>
                                      </p:cBhvr>
                                    </p:animEffect>
                                  </p:childTnLst>
                                </p:cTn>
                              </p:par>
                            </p:childTnLst>
                          </p:cTn>
                        </p:par>
                      </p:childTnLst>
                    </p:cTn>
                  </p:par>
                  <p:par>
                    <p:cTn id="57" fill="hold">
                      <p:stCondLst>
                        <p:cond delay="indefinite"/>
                      </p:stCondLst>
                      <p:childTnLst>
                        <p:par>
                          <p:cTn id="58" fill="hold">
                            <p:stCondLst>
                              <p:cond delay="0"/>
                            </p:stCondLst>
                            <p:childTnLst>
                              <p:par>
                                <p:cTn id="59" presetID="17" presetClass="entr" presetSubtype="8" fill="hold" nodeType="clickEffect">
                                  <p:stCondLst>
                                    <p:cond delay="0"/>
                                  </p:stCondLst>
                                  <p:childTnLst>
                                    <p:set>
                                      <p:cBhvr>
                                        <p:cTn id="60" dur="1" fill="hold">
                                          <p:stCondLst>
                                            <p:cond delay="0"/>
                                          </p:stCondLst>
                                        </p:cTn>
                                        <p:tgtEl>
                                          <p:spTgt spid="276551"/>
                                        </p:tgtEl>
                                        <p:attrNameLst>
                                          <p:attrName>style.visibility</p:attrName>
                                        </p:attrNameLst>
                                      </p:cBhvr>
                                      <p:to>
                                        <p:strVal val="visible"/>
                                      </p:to>
                                    </p:set>
                                    <p:anim calcmode="lin" valueType="num">
                                      <p:cBhvr>
                                        <p:cTn id="61" dur="500" fill="hold"/>
                                        <p:tgtEl>
                                          <p:spTgt spid="276551"/>
                                        </p:tgtEl>
                                        <p:attrNameLst>
                                          <p:attrName>ppt_x</p:attrName>
                                        </p:attrNameLst>
                                      </p:cBhvr>
                                      <p:tavLst>
                                        <p:tav tm="0">
                                          <p:val>
                                            <p:strVal val="#ppt_x-#ppt_w/2"/>
                                          </p:val>
                                        </p:tav>
                                        <p:tav tm="100000">
                                          <p:val>
                                            <p:strVal val="#ppt_x"/>
                                          </p:val>
                                        </p:tav>
                                      </p:tavLst>
                                    </p:anim>
                                    <p:anim calcmode="lin" valueType="num">
                                      <p:cBhvr>
                                        <p:cTn id="62" dur="500" fill="hold"/>
                                        <p:tgtEl>
                                          <p:spTgt spid="276551"/>
                                        </p:tgtEl>
                                        <p:attrNameLst>
                                          <p:attrName>ppt_y</p:attrName>
                                        </p:attrNameLst>
                                      </p:cBhvr>
                                      <p:tavLst>
                                        <p:tav tm="0">
                                          <p:val>
                                            <p:strVal val="#ppt_y"/>
                                          </p:val>
                                        </p:tav>
                                        <p:tav tm="100000">
                                          <p:val>
                                            <p:strVal val="#ppt_y"/>
                                          </p:val>
                                        </p:tav>
                                      </p:tavLst>
                                    </p:anim>
                                    <p:anim calcmode="lin" valueType="num">
                                      <p:cBhvr>
                                        <p:cTn id="63" dur="500" fill="hold"/>
                                        <p:tgtEl>
                                          <p:spTgt spid="276551"/>
                                        </p:tgtEl>
                                        <p:attrNameLst>
                                          <p:attrName>ppt_w</p:attrName>
                                        </p:attrNameLst>
                                      </p:cBhvr>
                                      <p:tavLst>
                                        <p:tav tm="0">
                                          <p:val>
                                            <p:fltVal val="0.000000"/>
                                          </p:val>
                                        </p:tav>
                                        <p:tav tm="100000">
                                          <p:val>
                                            <p:strVal val="#ppt_w"/>
                                          </p:val>
                                        </p:tav>
                                      </p:tavLst>
                                    </p:anim>
                                    <p:anim calcmode="lin" valueType="num">
                                      <p:cBhvr>
                                        <p:cTn id="64" dur="500" fill="hold"/>
                                        <p:tgtEl>
                                          <p:spTgt spid="276551"/>
                                        </p:tgtEl>
                                        <p:attrNameLst>
                                          <p:attrName>ppt_h</p:attrName>
                                        </p:attrNameLst>
                                      </p:cBhvr>
                                      <p:tavLst>
                                        <p:tav tm="0">
                                          <p:val>
                                            <p:strVal val="#ppt_h"/>
                                          </p:val>
                                        </p:tav>
                                        <p:tav tm="100000">
                                          <p:val>
                                            <p:strVal val="#ppt_h"/>
                                          </p:val>
                                        </p:tav>
                                      </p:tavLst>
                                    </p:anim>
                                  </p:childTnLst>
                                </p:cTn>
                              </p:par>
                            </p:childTnLst>
                          </p:cTn>
                        </p:par>
                        <p:par>
                          <p:cTn id="65" fill="hold">
                            <p:stCondLst>
                              <p:cond delay="500"/>
                            </p:stCondLst>
                            <p:childTnLst>
                              <p:par>
                                <p:cTn id="66" presetID="17" presetClass="entr" presetSubtype="2" fill="hold" nodeType="afterEffect">
                                  <p:stCondLst>
                                    <p:cond delay="0"/>
                                  </p:stCondLst>
                                  <p:childTnLst>
                                    <p:set>
                                      <p:cBhvr>
                                        <p:cTn id="67" dur="1" fill="hold">
                                          <p:stCondLst>
                                            <p:cond delay="0"/>
                                          </p:stCondLst>
                                        </p:cTn>
                                        <p:tgtEl>
                                          <p:spTgt spid="276552"/>
                                        </p:tgtEl>
                                        <p:attrNameLst>
                                          <p:attrName>style.visibility</p:attrName>
                                        </p:attrNameLst>
                                      </p:cBhvr>
                                      <p:to>
                                        <p:strVal val="visible"/>
                                      </p:to>
                                    </p:set>
                                    <p:anim calcmode="lin" valueType="num">
                                      <p:cBhvr>
                                        <p:cTn id="68" dur="500" fill="hold"/>
                                        <p:tgtEl>
                                          <p:spTgt spid="276552"/>
                                        </p:tgtEl>
                                        <p:attrNameLst>
                                          <p:attrName>ppt_x</p:attrName>
                                        </p:attrNameLst>
                                      </p:cBhvr>
                                      <p:tavLst>
                                        <p:tav tm="0">
                                          <p:val>
                                            <p:strVal val="#ppt_x+#ppt_w/2"/>
                                          </p:val>
                                        </p:tav>
                                        <p:tav tm="100000">
                                          <p:val>
                                            <p:strVal val="#ppt_x"/>
                                          </p:val>
                                        </p:tav>
                                      </p:tavLst>
                                    </p:anim>
                                    <p:anim calcmode="lin" valueType="num">
                                      <p:cBhvr>
                                        <p:cTn id="69" dur="500" fill="hold"/>
                                        <p:tgtEl>
                                          <p:spTgt spid="276552"/>
                                        </p:tgtEl>
                                        <p:attrNameLst>
                                          <p:attrName>ppt_y</p:attrName>
                                        </p:attrNameLst>
                                      </p:cBhvr>
                                      <p:tavLst>
                                        <p:tav tm="0">
                                          <p:val>
                                            <p:strVal val="#ppt_y"/>
                                          </p:val>
                                        </p:tav>
                                        <p:tav tm="100000">
                                          <p:val>
                                            <p:strVal val="#ppt_y"/>
                                          </p:val>
                                        </p:tav>
                                      </p:tavLst>
                                    </p:anim>
                                    <p:anim calcmode="lin" valueType="num">
                                      <p:cBhvr>
                                        <p:cTn id="70" dur="500" fill="hold"/>
                                        <p:tgtEl>
                                          <p:spTgt spid="276552"/>
                                        </p:tgtEl>
                                        <p:attrNameLst>
                                          <p:attrName>ppt_w</p:attrName>
                                        </p:attrNameLst>
                                      </p:cBhvr>
                                      <p:tavLst>
                                        <p:tav tm="0">
                                          <p:val>
                                            <p:fltVal val="0.000000"/>
                                          </p:val>
                                        </p:tav>
                                        <p:tav tm="100000">
                                          <p:val>
                                            <p:strVal val="#ppt_w"/>
                                          </p:val>
                                        </p:tav>
                                      </p:tavLst>
                                    </p:anim>
                                    <p:anim calcmode="lin" valueType="num">
                                      <p:cBhvr>
                                        <p:cTn id="71" dur="500" fill="hold"/>
                                        <p:tgtEl>
                                          <p:spTgt spid="276552"/>
                                        </p:tgtEl>
                                        <p:attrNameLst>
                                          <p:attrName>ppt_h</p:attrName>
                                        </p:attrNameLst>
                                      </p:cBhvr>
                                      <p:tavLst>
                                        <p:tav tm="0">
                                          <p:val>
                                            <p:strVal val="#ppt_h"/>
                                          </p:val>
                                        </p:tav>
                                        <p:tav tm="100000">
                                          <p:val>
                                            <p:strVal val="#ppt_h"/>
                                          </p:val>
                                        </p:tav>
                                      </p:tavLst>
                                    </p:anim>
                                  </p:childTnLst>
                                </p:cTn>
                              </p:par>
                            </p:childTnLst>
                          </p:cTn>
                        </p:par>
                        <p:par>
                          <p:cTn id="72" fill="hold">
                            <p:stCondLst>
                              <p:cond delay="1000"/>
                            </p:stCondLst>
                            <p:childTnLst>
                              <p:par>
                                <p:cTn id="73" presetID="4" presetClass="entr" presetSubtype="32" fill="hold" grpId="0" nodeType="afterEffect">
                                  <p:stCondLst>
                                    <p:cond delay="0"/>
                                  </p:stCondLst>
                                  <p:childTnLst>
                                    <p:set>
                                      <p:cBhvr>
                                        <p:cTn id="74" dur="1" fill="hold">
                                          <p:stCondLst>
                                            <p:cond delay="0"/>
                                          </p:stCondLst>
                                        </p:cTn>
                                        <p:tgtEl>
                                          <p:spTgt spid="276550"/>
                                        </p:tgtEl>
                                        <p:attrNameLst>
                                          <p:attrName>style.visibility</p:attrName>
                                        </p:attrNameLst>
                                      </p:cBhvr>
                                      <p:to>
                                        <p:strVal val="visible"/>
                                      </p:to>
                                    </p:set>
                                    <p:animEffect transition="in" filter="box(out)">
                                      <p:cBhvr>
                                        <p:cTn id="75" dur="500"/>
                                        <p:tgtEl>
                                          <p:spTgt spid="27655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276556"/>
                                        </p:tgtEl>
                                        <p:attrNameLst>
                                          <p:attrName>style.visibility</p:attrName>
                                        </p:attrNameLst>
                                      </p:cBhvr>
                                      <p:to>
                                        <p:strVal val="visible"/>
                                      </p:to>
                                    </p:set>
                                    <p:animEffect transition="in" filter="wipe(up)">
                                      <p:cBhvr>
                                        <p:cTn id="80" dur="500"/>
                                        <p:tgtEl>
                                          <p:spTgt spid="276556"/>
                                        </p:tgtEl>
                                      </p:cBhvr>
                                    </p:animEffect>
                                  </p:childTnLst>
                                </p:cTn>
                              </p:par>
                            </p:childTnLst>
                          </p:cTn>
                        </p:par>
                        <p:par>
                          <p:cTn id="81" fill="hold">
                            <p:stCondLst>
                              <p:cond delay="500"/>
                            </p:stCondLst>
                            <p:childTnLst>
                              <p:par>
                                <p:cTn id="82" presetID="4" presetClass="entr" presetSubtype="32" fill="hold" grpId="0" nodeType="afterEffect">
                                  <p:stCondLst>
                                    <p:cond delay="0"/>
                                  </p:stCondLst>
                                  <p:childTnLst>
                                    <p:set>
                                      <p:cBhvr>
                                        <p:cTn id="83" dur="1" fill="hold">
                                          <p:stCondLst>
                                            <p:cond delay="0"/>
                                          </p:stCondLst>
                                        </p:cTn>
                                        <p:tgtEl>
                                          <p:spTgt spid="276557"/>
                                        </p:tgtEl>
                                        <p:attrNameLst>
                                          <p:attrName>style.visibility</p:attrName>
                                        </p:attrNameLst>
                                      </p:cBhvr>
                                      <p:to>
                                        <p:strVal val="visible"/>
                                      </p:to>
                                    </p:set>
                                    <p:animEffect transition="in" filter="box(out)">
                                      <p:cBhvr>
                                        <p:cTn id="84" dur="500"/>
                                        <p:tgtEl>
                                          <p:spTgt spid="276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6" grpId="0" bldLvl="0" animBg="1"/>
      <p:bldP spid="276548" grpId="0" bldLvl="0" animBg="1"/>
      <p:bldP spid="276550" grpId="0" bldLvl="0" animBg="1"/>
      <p:bldP spid="276553" grpId="0" bldLvl="0" animBg="1"/>
      <p:bldP spid="276557" grpId="0" bldLvl="0" animBg="1"/>
      <p:bldP spid="276559" grpId="0" bldLvl="0" animBg="1"/>
      <p:bldP spid="276562" grpId="0" bldLvl="0" animBg="1"/>
      <p:bldP spid="27656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57348" name="Text Box 4"/>
          <p:cNvSpPr txBox="1">
            <a:spLocks noChangeArrowheads="1"/>
          </p:cNvSpPr>
          <p:nvPr/>
        </p:nvSpPr>
        <p:spPr bwMode="auto">
          <a:xfrm>
            <a:off x="611188" y="549275"/>
            <a:ext cx="3217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共发射极基本电路</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nvGrpSpPr>
          <p:cNvPr id="57433" name="Group 89"/>
          <p:cNvGrpSpPr/>
          <p:nvPr/>
        </p:nvGrpSpPr>
        <p:grpSpPr>
          <a:xfrm>
            <a:off x="1676400" y="1911350"/>
            <a:ext cx="5407025" cy="3498850"/>
            <a:chOff x="1056" y="1204"/>
            <a:chExt cx="3406" cy="2204"/>
          </a:xfrm>
        </p:grpSpPr>
        <p:sp>
          <p:nvSpPr>
            <p:cNvPr id="57353" name="Line 9"/>
            <p:cNvSpPr>
              <a:spLocks noChangeShapeType="1"/>
            </p:cNvSpPr>
            <p:nvPr/>
          </p:nvSpPr>
          <p:spPr bwMode="auto">
            <a:xfrm flipH="1" flipV="1">
              <a:off x="2744" y="1205"/>
              <a:ext cx="0" cy="17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54" name="Line 10"/>
            <p:cNvSpPr>
              <a:spLocks noChangeShapeType="1"/>
            </p:cNvSpPr>
            <p:nvPr/>
          </p:nvSpPr>
          <p:spPr bwMode="auto">
            <a:xfrm flipV="1">
              <a:off x="2743" y="1214"/>
              <a:ext cx="1216"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01" name="Rectangle 11"/>
            <p:cNvSpPr/>
            <p:nvPr/>
          </p:nvSpPr>
          <p:spPr>
            <a:xfrm>
              <a:off x="4036" y="1968"/>
              <a:ext cx="42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V</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29702" name="Text Box 12"/>
            <p:cNvSpPr txBox="1"/>
            <p:nvPr/>
          </p:nvSpPr>
          <p:spPr>
            <a:xfrm>
              <a:off x="1056" y="2378"/>
              <a:ext cx="368"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29703" name="Text Box 13"/>
            <p:cNvSpPr txBox="1"/>
            <p:nvPr/>
          </p:nvSpPr>
          <p:spPr>
            <a:xfrm>
              <a:off x="1098" y="2858"/>
              <a:ext cx="259" cy="288"/>
            </a:xfrm>
            <a:prstGeom prst="rect">
              <a:avLst/>
            </a:prstGeom>
            <a:noFill/>
            <a:ln w="38100">
              <a:noFill/>
            </a:ln>
          </p:spPr>
          <p:txBody>
            <a:bodyPr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7358" name="Line 14"/>
            <p:cNvSpPr>
              <a:spLocks noChangeShapeType="1"/>
            </p:cNvSpPr>
            <p:nvPr/>
          </p:nvSpPr>
          <p:spPr bwMode="auto">
            <a:xfrm>
              <a:off x="3961" y="1204"/>
              <a:ext cx="0" cy="7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59" name="Line 15"/>
            <p:cNvSpPr>
              <a:spLocks noChangeShapeType="1"/>
            </p:cNvSpPr>
            <p:nvPr/>
          </p:nvSpPr>
          <p:spPr bwMode="auto">
            <a:xfrm flipV="1">
              <a:off x="2102" y="2274"/>
              <a:ext cx="0" cy="17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29706" name="Group 16"/>
            <p:cNvGrpSpPr/>
            <p:nvPr/>
          </p:nvGrpSpPr>
          <p:grpSpPr>
            <a:xfrm>
              <a:off x="1954" y="2934"/>
              <a:ext cx="280" cy="85"/>
              <a:chOff x="1854" y="3200"/>
              <a:chExt cx="474" cy="160"/>
            </a:xfrm>
          </p:grpSpPr>
          <p:sp>
            <p:nvSpPr>
              <p:cNvPr id="57361" name="Line 17"/>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62" name="Line 18"/>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7363" name="Line 19"/>
            <p:cNvSpPr>
              <a:spLocks noChangeShapeType="1"/>
            </p:cNvSpPr>
            <p:nvPr/>
          </p:nvSpPr>
          <p:spPr bwMode="auto">
            <a:xfrm rot="5400000">
              <a:off x="2014" y="2842"/>
              <a:ext cx="172"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64" name="Line 20"/>
            <p:cNvSpPr>
              <a:spLocks noChangeShapeType="1"/>
            </p:cNvSpPr>
            <p:nvPr/>
          </p:nvSpPr>
          <p:spPr bwMode="auto">
            <a:xfrm rot="5400000">
              <a:off x="1985" y="3136"/>
              <a:ext cx="21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65" name="Line 21"/>
            <p:cNvSpPr>
              <a:spLocks noChangeShapeType="1"/>
            </p:cNvSpPr>
            <p:nvPr/>
          </p:nvSpPr>
          <p:spPr bwMode="auto">
            <a:xfrm>
              <a:off x="2600" y="2144"/>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66" name="Line 22"/>
            <p:cNvSpPr>
              <a:spLocks noChangeShapeType="1"/>
            </p:cNvSpPr>
            <p:nvPr/>
          </p:nvSpPr>
          <p:spPr bwMode="auto">
            <a:xfrm rot="-266974">
              <a:off x="2602" y="2307"/>
              <a:ext cx="137" cy="139"/>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67" name="Line 23"/>
            <p:cNvSpPr>
              <a:spLocks noChangeShapeType="1"/>
            </p:cNvSpPr>
            <p:nvPr/>
          </p:nvSpPr>
          <p:spPr bwMode="auto">
            <a:xfrm flipV="1">
              <a:off x="2600" y="2112"/>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68" name="Line 24"/>
            <p:cNvSpPr>
              <a:spLocks noChangeShapeType="1"/>
            </p:cNvSpPr>
            <p:nvPr/>
          </p:nvSpPr>
          <p:spPr bwMode="auto">
            <a:xfrm flipV="1">
              <a:off x="1413" y="3246"/>
              <a:ext cx="253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15" name="Text Box 25"/>
            <p:cNvSpPr txBox="1"/>
            <p:nvPr/>
          </p:nvSpPr>
          <p:spPr>
            <a:xfrm>
              <a:off x="2126" y="2450"/>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57370" name="Rectangle 26"/>
            <p:cNvSpPr>
              <a:spLocks noChangeArrowheads="1"/>
            </p:cNvSpPr>
            <p:nvPr/>
          </p:nvSpPr>
          <p:spPr bwMode="auto">
            <a:xfrm>
              <a:off x="2693" y="1376"/>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71" name="Rectangle 27"/>
            <p:cNvSpPr>
              <a:spLocks noChangeArrowheads="1"/>
            </p:cNvSpPr>
            <p:nvPr/>
          </p:nvSpPr>
          <p:spPr bwMode="auto">
            <a:xfrm>
              <a:off x="2063" y="2457"/>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18" name="Text Box 28"/>
            <p:cNvSpPr txBox="1"/>
            <p:nvPr/>
          </p:nvSpPr>
          <p:spPr>
            <a:xfrm>
              <a:off x="2199" y="2830"/>
              <a:ext cx="412" cy="288"/>
            </a:xfrm>
            <a:prstGeom prst="rect">
              <a:avLst/>
            </a:prstGeom>
            <a:noFill/>
            <a:ln w="38100">
              <a:noFill/>
            </a:ln>
          </p:spPr>
          <p:txBody>
            <a:bodyPr wrap="none" lIns="90000" tIns="46800" rIns="90000" bIns="46800" anchor="ctr">
              <a:spAutoFit/>
            </a:bodyPr>
            <a:p>
              <a:pPr lvl="0" indent="0">
                <a:spcBef>
                  <a:spcPct val="50000"/>
                </a:spcBef>
              </a:pPr>
              <a:r>
                <a:rPr lang="en-US" altLang="zh-CN" b="1" i="1" dirty="0">
                  <a:solidFill>
                    <a:schemeClr val="tx2"/>
                  </a:solidFill>
                  <a:latin typeface="Times New Roman" panose="02020603050405020304" pitchFamily="18" charset="0"/>
                  <a:ea typeface="楷体_GB2312" pitchFamily="49" charset="-122"/>
                </a:rPr>
                <a:t>V</a:t>
              </a:r>
              <a:r>
                <a:rPr lang="en-US" altLang="zh-CN" b="1" baseline="-25000" dirty="0">
                  <a:solidFill>
                    <a:schemeClr val="tx2"/>
                  </a:solidFill>
                  <a:latin typeface="Times New Roman" panose="02020603050405020304" pitchFamily="18" charset="0"/>
                  <a:ea typeface="楷体_GB2312" pitchFamily="49" charset="-122"/>
                </a:rPr>
                <a:t>BB</a:t>
              </a:r>
              <a:endParaRPr lang="en-US" altLang="zh-CN" b="1" baseline="-25000" dirty="0">
                <a:solidFill>
                  <a:schemeClr val="tx2"/>
                </a:solidFill>
                <a:latin typeface="Times New Roman" panose="02020603050405020304" pitchFamily="18" charset="0"/>
                <a:ea typeface="楷体_GB2312" pitchFamily="49" charset="-122"/>
              </a:endParaRPr>
            </a:p>
          </p:txBody>
        </p:sp>
        <p:grpSp>
          <p:nvGrpSpPr>
            <p:cNvPr id="29719" name="Group 29"/>
            <p:cNvGrpSpPr/>
            <p:nvPr/>
          </p:nvGrpSpPr>
          <p:grpSpPr>
            <a:xfrm>
              <a:off x="1751" y="2154"/>
              <a:ext cx="67" cy="245"/>
              <a:chOff x="3454" y="2018"/>
              <a:chExt cx="96" cy="328"/>
            </a:xfrm>
          </p:grpSpPr>
          <p:sp>
            <p:nvSpPr>
              <p:cNvPr id="57374" name="Line 30"/>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75" name="Line 31"/>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7376" name="Line 32"/>
            <p:cNvSpPr>
              <a:spLocks noChangeShapeType="1"/>
            </p:cNvSpPr>
            <p:nvPr/>
          </p:nvSpPr>
          <p:spPr bwMode="auto">
            <a:xfrm flipV="1">
              <a:off x="1413" y="2278"/>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29723" name="Group 33"/>
            <p:cNvGrpSpPr/>
            <p:nvPr/>
          </p:nvGrpSpPr>
          <p:grpSpPr>
            <a:xfrm flipH="1">
              <a:off x="3047" y="1729"/>
              <a:ext cx="67" cy="245"/>
              <a:chOff x="3454" y="2018"/>
              <a:chExt cx="96" cy="328"/>
            </a:xfrm>
          </p:grpSpPr>
          <p:sp>
            <p:nvSpPr>
              <p:cNvPr id="57378" name="Line 34"/>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79" name="Line 35"/>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7380" name="Line 36"/>
            <p:cNvSpPr>
              <a:spLocks noChangeShapeType="1"/>
            </p:cNvSpPr>
            <p:nvPr/>
          </p:nvSpPr>
          <p:spPr bwMode="auto">
            <a:xfrm flipH="1">
              <a:off x="3114" y="1836"/>
              <a:ext cx="29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81" name="Line 37"/>
            <p:cNvSpPr>
              <a:spLocks noChangeShapeType="1"/>
            </p:cNvSpPr>
            <p:nvPr/>
          </p:nvSpPr>
          <p:spPr bwMode="auto">
            <a:xfrm flipV="1">
              <a:off x="2736" y="1837"/>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28" name="Text Box 38"/>
            <p:cNvSpPr txBox="1"/>
            <p:nvPr/>
          </p:nvSpPr>
          <p:spPr>
            <a:xfrm>
              <a:off x="2379" y="1354"/>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29729" name="Text Box 39"/>
            <p:cNvSpPr txBox="1"/>
            <p:nvPr/>
          </p:nvSpPr>
          <p:spPr>
            <a:xfrm>
              <a:off x="1655" y="1854"/>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29730" name="Text Box 40"/>
            <p:cNvSpPr txBox="1"/>
            <p:nvPr/>
          </p:nvSpPr>
          <p:spPr>
            <a:xfrm>
              <a:off x="2963" y="1471"/>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29731" name="Text Box 41"/>
            <p:cNvSpPr txBox="1"/>
            <p:nvPr/>
          </p:nvSpPr>
          <p:spPr>
            <a:xfrm>
              <a:off x="2640" y="2141"/>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29732" name="Text Box 42"/>
            <p:cNvSpPr txBox="1"/>
            <p:nvPr/>
          </p:nvSpPr>
          <p:spPr>
            <a:xfrm>
              <a:off x="1806" y="204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29733" name="Text Box 43"/>
            <p:cNvSpPr txBox="1"/>
            <p:nvPr/>
          </p:nvSpPr>
          <p:spPr>
            <a:xfrm>
              <a:off x="2862" y="1599"/>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57388" name="Line 44"/>
            <p:cNvSpPr>
              <a:spLocks noChangeShapeType="1"/>
            </p:cNvSpPr>
            <p:nvPr/>
          </p:nvSpPr>
          <p:spPr bwMode="auto">
            <a:xfrm>
              <a:off x="1413" y="2700"/>
              <a:ext cx="0" cy="5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89" name="Rectangle 45"/>
            <p:cNvSpPr>
              <a:spLocks noChangeArrowheads="1"/>
            </p:cNvSpPr>
            <p:nvPr/>
          </p:nvSpPr>
          <p:spPr bwMode="auto">
            <a:xfrm>
              <a:off x="1369" y="2403"/>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90" name="Oval 46"/>
            <p:cNvSpPr>
              <a:spLocks noChangeArrowheads="1"/>
            </p:cNvSpPr>
            <p:nvPr/>
          </p:nvSpPr>
          <p:spPr bwMode="auto">
            <a:xfrm>
              <a:off x="1296" y="2924"/>
              <a:ext cx="227" cy="227"/>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37" name="Text Box 47"/>
            <p:cNvSpPr txBox="1"/>
            <p:nvPr/>
          </p:nvSpPr>
          <p:spPr>
            <a:xfrm>
              <a:off x="1246" y="2692"/>
              <a:ext cx="222"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9738" name="Text Box 48"/>
            <p:cNvSpPr txBox="1"/>
            <p:nvPr/>
          </p:nvSpPr>
          <p:spPr>
            <a:xfrm>
              <a:off x="1246" y="3038"/>
              <a:ext cx="134"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7393" name="Line 49"/>
            <p:cNvSpPr>
              <a:spLocks noChangeShapeType="1"/>
            </p:cNvSpPr>
            <p:nvPr/>
          </p:nvSpPr>
          <p:spPr bwMode="auto">
            <a:xfrm>
              <a:off x="3401" y="2743"/>
              <a:ext cx="0" cy="5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394" name="Rectangle 50"/>
            <p:cNvSpPr>
              <a:spLocks noChangeArrowheads="1"/>
            </p:cNvSpPr>
            <p:nvPr/>
          </p:nvSpPr>
          <p:spPr bwMode="auto">
            <a:xfrm>
              <a:off x="3352" y="2439"/>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41" name="Text Box 51"/>
            <p:cNvSpPr txBox="1"/>
            <p:nvPr/>
          </p:nvSpPr>
          <p:spPr>
            <a:xfrm>
              <a:off x="3076" y="2392"/>
              <a:ext cx="32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29742" name="Rectangle 52"/>
            <p:cNvSpPr/>
            <p:nvPr/>
          </p:nvSpPr>
          <p:spPr>
            <a:xfrm>
              <a:off x="3952" y="1719"/>
              <a:ext cx="18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9743" name="Rectangle 53"/>
            <p:cNvSpPr/>
            <p:nvPr/>
          </p:nvSpPr>
          <p:spPr>
            <a:xfrm flipH="1">
              <a:off x="1836" y="2688"/>
              <a:ext cx="34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9744" name="Rectangle 54"/>
            <p:cNvSpPr/>
            <p:nvPr/>
          </p:nvSpPr>
          <p:spPr>
            <a:xfrm>
              <a:off x="1913" y="2933"/>
              <a:ext cx="171"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9745" name="Rectangle 55"/>
            <p:cNvSpPr/>
            <p:nvPr/>
          </p:nvSpPr>
          <p:spPr>
            <a:xfrm>
              <a:off x="3935" y="2174"/>
              <a:ext cx="238"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7400" name="Line 56"/>
            <p:cNvSpPr>
              <a:spLocks noChangeShapeType="1"/>
            </p:cNvSpPr>
            <p:nvPr/>
          </p:nvSpPr>
          <p:spPr bwMode="auto">
            <a:xfrm flipV="1">
              <a:off x="1811" y="2282"/>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47" name="Rectangle 57"/>
            <p:cNvSpPr/>
            <p:nvPr/>
          </p:nvSpPr>
          <p:spPr>
            <a:xfrm>
              <a:off x="1440" y="2586"/>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29748" name="Rectangle 58"/>
            <p:cNvSpPr/>
            <p:nvPr/>
          </p:nvSpPr>
          <p:spPr>
            <a:xfrm>
              <a:off x="1552" y="2264"/>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9749" name="Rectangle 59"/>
            <p:cNvSpPr/>
            <p:nvPr/>
          </p:nvSpPr>
          <p:spPr>
            <a:xfrm>
              <a:off x="1556" y="2973"/>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9750" name="Rectangle 60"/>
            <p:cNvSpPr/>
            <p:nvPr/>
          </p:nvSpPr>
          <p:spPr>
            <a:xfrm>
              <a:off x="3433" y="2435"/>
              <a:ext cx="28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29751" name="Rectangle 61"/>
            <p:cNvSpPr/>
            <p:nvPr/>
          </p:nvSpPr>
          <p:spPr>
            <a:xfrm>
              <a:off x="3448" y="2208"/>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7406" name="Rectangle 62"/>
            <p:cNvSpPr>
              <a:spLocks noChangeArrowheads="1"/>
            </p:cNvSpPr>
            <p:nvPr/>
          </p:nvSpPr>
          <p:spPr bwMode="auto">
            <a:xfrm>
              <a:off x="3458" y="2715"/>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57407" name="Line 63"/>
            <p:cNvSpPr>
              <a:spLocks noChangeShapeType="1"/>
            </p:cNvSpPr>
            <p:nvPr/>
          </p:nvSpPr>
          <p:spPr bwMode="auto">
            <a:xfrm flipH="1">
              <a:off x="3401" y="1844"/>
              <a:ext cx="1" cy="5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29754" name="Group 64"/>
            <p:cNvGrpSpPr/>
            <p:nvPr/>
          </p:nvGrpSpPr>
          <p:grpSpPr>
            <a:xfrm>
              <a:off x="3816" y="1986"/>
              <a:ext cx="280" cy="85"/>
              <a:chOff x="1854" y="3200"/>
              <a:chExt cx="474" cy="160"/>
            </a:xfrm>
          </p:grpSpPr>
          <p:sp>
            <p:nvSpPr>
              <p:cNvPr id="57409" name="Line 65"/>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10" name="Line 66"/>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29757" name="Group 67"/>
            <p:cNvGrpSpPr/>
            <p:nvPr/>
          </p:nvGrpSpPr>
          <p:grpSpPr>
            <a:xfrm>
              <a:off x="3807" y="2155"/>
              <a:ext cx="280" cy="85"/>
              <a:chOff x="1854" y="3200"/>
              <a:chExt cx="474" cy="160"/>
            </a:xfrm>
          </p:grpSpPr>
          <p:sp>
            <p:nvSpPr>
              <p:cNvPr id="57412" name="Line 68"/>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13" name="Line 69"/>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9760" name="Text Box 70"/>
            <p:cNvSpPr txBox="1"/>
            <p:nvPr/>
          </p:nvSpPr>
          <p:spPr>
            <a:xfrm>
              <a:off x="2377" y="2210"/>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29761" name="Text Box 71"/>
            <p:cNvSpPr txBox="1"/>
            <p:nvPr/>
          </p:nvSpPr>
          <p:spPr>
            <a:xfrm>
              <a:off x="2820" y="1861"/>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57416" name="Rectangle 72"/>
            <p:cNvSpPr>
              <a:spLocks noChangeArrowheads="1"/>
            </p:cNvSpPr>
            <p:nvPr/>
          </p:nvSpPr>
          <p:spPr bwMode="auto">
            <a:xfrm>
              <a:off x="2529" y="251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29763" name="Rectangle 73"/>
            <p:cNvSpPr/>
            <p:nvPr/>
          </p:nvSpPr>
          <p:spPr>
            <a:xfrm>
              <a:off x="2301" y="235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29764" name="Rectangle 74"/>
            <p:cNvSpPr/>
            <p:nvPr/>
          </p:nvSpPr>
          <p:spPr>
            <a:xfrm>
              <a:off x="2736" y="213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7419" name="Rectangle 75"/>
            <p:cNvSpPr>
              <a:spLocks noChangeArrowheads="1"/>
            </p:cNvSpPr>
            <p:nvPr/>
          </p:nvSpPr>
          <p:spPr bwMode="auto">
            <a:xfrm>
              <a:off x="2815" y="2422"/>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29766" name="Rectangle 76"/>
            <p:cNvSpPr/>
            <p:nvPr/>
          </p:nvSpPr>
          <p:spPr>
            <a:xfrm>
              <a:off x="2322" y="179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7421" name="Line 77"/>
            <p:cNvSpPr>
              <a:spLocks noChangeShapeType="1"/>
            </p:cNvSpPr>
            <p:nvPr/>
          </p:nvSpPr>
          <p:spPr bwMode="auto">
            <a:xfrm>
              <a:off x="2169" y="2223"/>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68" name="Rectangle 78"/>
            <p:cNvSpPr/>
            <p:nvPr/>
          </p:nvSpPr>
          <p:spPr>
            <a:xfrm>
              <a:off x="2063" y="192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7423" name="Line 79"/>
            <p:cNvSpPr>
              <a:spLocks noChangeShapeType="1"/>
            </p:cNvSpPr>
            <p:nvPr/>
          </p:nvSpPr>
          <p:spPr bwMode="auto">
            <a:xfrm>
              <a:off x="2799" y="2777"/>
              <a:ext cx="0"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770" name="Rectangle 80"/>
            <p:cNvSpPr/>
            <p:nvPr/>
          </p:nvSpPr>
          <p:spPr>
            <a:xfrm>
              <a:off x="2666" y="2731"/>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7425" name="Line 81"/>
            <p:cNvSpPr>
              <a:spLocks noChangeShapeType="1"/>
            </p:cNvSpPr>
            <p:nvPr/>
          </p:nvSpPr>
          <p:spPr bwMode="auto">
            <a:xfrm>
              <a:off x="2736" y="3216"/>
              <a:ext cx="0"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26" name="Line 82"/>
            <p:cNvSpPr>
              <a:spLocks noChangeShapeType="1"/>
            </p:cNvSpPr>
            <p:nvPr/>
          </p:nvSpPr>
          <p:spPr bwMode="auto">
            <a:xfrm>
              <a:off x="2640" y="3408"/>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27" name="Oval 83"/>
            <p:cNvSpPr>
              <a:spLocks noChangeArrowheads="1"/>
            </p:cNvSpPr>
            <p:nvPr/>
          </p:nvSpPr>
          <p:spPr bwMode="auto">
            <a:xfrm>
              <a:off x="2709" y="3216"/>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28" name="Line 84"/>
            <p:cNvSpPr>
              <a:spLocks noChangeShapeType="1"/>
            </p:cNvSpPr>
            <p:nvPr/>
          </p:nvSpPr>
          <p:spPr bwMode="auto">
            <a:xfrm>
              <a:off x="3957" y="2239"/>
              <a:ext cx="0" cy="102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29" name="Line 85"/>
            <p:cNvSpPr>
              <a:spLocks noChangeShapeType="1"/>
            </p:cNvSpPr>
            <p:nvPr/>
          </p:nvSpPr>
          <p:spPr bwMode="auto">
            <a:xfrm>
              <a:off x="1414" y="2273"/>
              <a:ext cx="0" cy="1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30" name="Line 86"/>
            <p:cNvSpPr>
              <a:spLocks noChangeShapeType="1"/>
            </p:cNvSpPr>
            <p:nvPr/>
          </p:nvSpPr>
          <p:spPr bwMode="auto">
            <a:xfrm>
              <a:off x="2736" y="1680"/>
              <a:ext cx="0" cy="4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31" name="Line 87"/>
            <p:cNvSpPr>
              <a:spLocks noChangeShapeType="1"/>
            </p:cNvSpPr>
            <p:nvPr/>
          </p:nvSpPr>
          <p:spPr bwMode="auto">
            <a:xfrm>
              <a:off x="2736" y="2425"/>
              <a:ext cx="0" cy="8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432" name="Line 88"/>
            <p:cNvSpPr>
              <a:spLocks noChangeShapeType="1"/>
            </p:cNvSpPr>
            <p:nvPr/>
          </p:nvSpPr>
          <p:spPr bwMode="auto">
            <a:xfrm>
              <a:off x="2688" y="1872"/>
              <a:ext cx="0" cy="24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wipe(left)">
                                      <p:cBhvr>
                                        <p:cTn id="7" dur="500"/>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7433"/>
                                        </p:tgtEl>
                                        <p:attrNameLst>
                                          <p:attrName>style.visibility</p:attrName>
                                        </p:attrNameLst>
                                      </p:cBhvr>
                                      <p:to>
                                        <p:strVal val="visible"/>
                                      </p:to>
                                    </p:set>
                                    <p:animEffect transition="in" filter="box(out)">
                                      <p:cBhvr>
                                        <p:cTn id="12" dur="500"/>
                                        <p:tgtEl>
                                          <p:spTgt spid="57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58371" name="Rectangle 3"/>
          <p:cNvSpPr>
            <a:spLocks noChangeArrowheads="1"/>
          </p:cNvSpPr>
          <p:nvPr/>
        </p:nvSpPr>
        <p:spPr bwMode="auto">
          <a:xfrm>
            <a:off x="360363" y="404813"/>
            <a:ext cx="5092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）基本放大电路各元件作用 </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58372" name="AutoShape 4"/>
          <p:cNvSpPr>
            <a:spLocks noChangeArrowheads="1"/>
          </p:cNvSpPr>
          <p:nvPr/>
        </p:nvSpPr>
        <p:spPr bwMode="auto">
          <a:xfrm>
            <a:off x="5562600" y="1481138"/>
            <a:ext cx="3352800" cy="2508250"/>
          </a:xfrm>
          <a:prstGeom prst="wedgeRoundRectCallout">
            <a:avLst>
              <a:gd name="adj1" fmla="val -49241"/>
              <a:gd name="adj2" fmla="val 55296"/>
              <a:gd name="adj3" fmla="val 16667"/>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5000"/>
              </a:lnSpc>
              <a:spcBef>
                <a:spcPct val="5000"/>
              </a:spcBef>
              <a:spcAft>
                <a:spcPct val="0"/>
              </a:spcAft>
              <a:buClrTx/>
              <a:buSzTx/>
              <a:buFontTx/>
              <a:buNone/>
              <a:defRPr/>
            </a:pPr>
            <a:r>
              <a:rPr kumimoji="0"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晶体管</a:t>
            </a:r>
            <a:r>
              <a:rPr kumimoji="0" lang="en-US" altLang="zh-CN"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T</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放大元件</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 </a:t>
            </a:r>
            <a:r>
              <a:rPr kumimoji="1" lang="en-US" altLang="zh-CN" sz="2800" b="1" i="1"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en-US" altLang="zh-CN" sz="2800" b="1" i="1"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i</a:t>
            </a:r>
            <a:r>
              <a:rPr kumimoji="1" lang="en-US" altLang="zh-CN" sz="28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B</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。要保证集电结反偏</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发射结正偏</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使晶体管工作在放大区 。</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endParaRPr>
          </a:p>
        </p:txBody>
      </p:sp>
      <p:sp>
        <p:nvSpPr>
          <p:cNvPr id="58373" name="AutoShape 5" descr="80%"/>
          <p:cNvSpPr>
            <a:spLocks noChangeArrowheads="1"/>
          </p:cNvSpPr>
          <p:nvPr/>
        </p:nvSpPr>
        <p:spPr bwMode="auto">
          <a:xfrm>
            <a:off x="5570538" y="3871913"/>
            <a:ext cx="3344863" cy="2508250"/>
          </a:xfrm>
          <a:prstGeom prst="wedgeRoundRectCallout">
            <a:avLst>
              <a:gd name="adj1" fmla="val -45019"/>
              <a:gd name="adj2" fmla="val -6051"/>
              <a:gd name="adj3" fmla="val 16667"/>
            </a:avLst>
          </a:prstGeom>
          <a:noFill/>
          <a:ln>
            <a:noFill/>
          </a:ln>
          <a:effectLst/>
          <a:extLst>
            <a:ext uri="{909E8E84-426E-40DD-AFC4-6F175D3DCCD1}">
              <a14:hiddenFill xmlns:a14="http://schemas.microsoft.com/office/drawing/2010/main">
                <a:pattFill prst="pct80">
                  <a:fgClr>
                    <a:srgbClr val="FFCCFF"/>
                  </a:fgClr>
                  <a:bgClr>
                    <a:srgbClr val="FFFFFF"/>
                  </a:bgClr>
                </a:patt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5000"/>
              </a:lnSpc>
              <a:spcBef>
                <a:spcPct val="5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基极电源</a:t>
            </a:r>
            <a:r>
              <a:rPr kumimoji="1" lang="en-US" altLang="zh-CN" sz="28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V</a:t>
            </a:r>
            <a:r>
              <a:rPr kumimoji="1" lang="en-US" altLang="zh-CN" sz="2800" b="1" i="0"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BB</a:t>
            </a: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与基极电阻</a:t>
            </a:r>
            <a:r>
              <a:rPr kumimoji="1" lang="en-US" altLang="zh-CN" sz="28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R</a:t>
            </a:r>
            <a:r>
              <a:rPr kumimoji="1" lang="en-US" altLang="zh-CN" sz="2800" b="1" i="0"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使发射结处于正偏，并提供大小适当的基极电流。</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58374" name="Text Box 6"/>
          <p:cNvSpPr txBox="1">
            <a:spLocks noChangeArrowheads="1"/>
          </p:cNvSpPr>
          <p:nvPr/>
        </p:nvSpPr>
        <p:spPr bwMode="auto">
          <a:xfrm>
            <a:off x="1430338" y="5424488"/>
            <a:ext cx="3217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共发射极基本电路</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nvGrpSpPr>
          <p:cNvPr id="30725" name="Group 254"/>
          <p:cNvGrpSpPr/>
          <p:nvPr/>
        </p:nvGrpSpPr>
        <p:grpSpPr>
          <a:xfrm>
            <a:off x="381000" y="1676400"/>
            <a:ext cx="5407025" cy="3498850"/>
            <a:chOff x="1056" y="1204"/>
            <a:chExt cx="3406" cy="2204"/>
          </a:xfrm>
        </p:grpSpPr>
        <p:sp>
          <p:nvSpPr>
            <p:cNvPr id="58623" name="Line 255"/>
            <p:cNvSpPr>
              <a:spLocks noChangeShapeType="1"/>
            </p:cNvSpPr>
            <p:nvPr/>
          </p:nvSpPr>
          <p:spPr bwMode="auto">
            <a:xfrm flipH="1" flipV="1">
              <a:off x="2744" y="1205"/>
              <a:ext cx="0" cy="17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24" name="Line 256"/>
            <p:cNvSpPr>
              <a:spLocks noChangeShapeType="1"/>
            </p:cNvSpPr>
            <p:nvPr/>
          </p:nvSpPr>
          <p:spPr bwMode="auto">
            <a:xfrm flipV="1">
              <a:off x="2743" y="1214"/>
              <a:ext cx="1216"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28" name="Rectangle 257"/>
            <p:cNvSpPr/>
            <p:nvPr/>
          </p:nvSpPr>
          <p:spPr>
            <a:xfrm>
              <a:off x="4036" y="1968"/>
              <a:ext cx="42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V</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30729" name="Text Box 258"/>
            <p:cNvSpPr txBox="1"/>
            <p:nvPr/>
          </p:nvSpPr>
          <p:spPr>
            <a:xfrm>
              <a:off x="1056" y="2378"/>
              <a:ext cx="368"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0730" name="Text Box 259"/>
            <p:cNvSpPr txBox="1"/>
            <p:nvPr/>
          </p:nvSpPr>
          <p:spPr>
            <a:xfrm>
              <a:off x="1098" y="2858"/>
              <a:ext cx="259" cy="288"/>
            </a:xfrm>
            <a:prstGeom prst="rect">
              <a:avLst/>
            </a:prstGeom>
            <a:noFill/>
            <a:ln w="38100">
              <a:noFill/>
            </a:ln>
          </p:spPr>
          <p:txBody>
            <a:bodyPr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8628" name="Line 260"/>
            <p:cNvSpPr>
              <a:spLocks noChangeShapeType="1"/>
            </p:cNvSpPr>
            <p:nvPr/>
          </p:nvSpPr>
          <p:spPr bwMode="auto">
            <a:xfrm>
              <a:off x="3961" y="1204"/>
              <a:ext cx="0" cy="7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29" name="Line 261"/>
            <p:cNvSpPr>
              <a:spLocks noChangeShapeType="1"/>
            </p:cNvSpPr>
            <p:nvPr/>
          </p:nvSpPr>
          <p:spPr bwMode="auto">
            <a:xfrm flipV="1">
              <a:off x="2102" y="2274"/>
              <a:ext cx="0" cy="17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0733" name="Group 262"/>
            <p:cNvGrpSpPr/>
            <p:nvPr/>
          </p:nvGrpSpPr>
          <p:grpSpPr>
            <a:xfrm>
              <a:off x="1954" y="2934"/>
              <a:ext cx="280" cy="85"/>
              <a:chOff x="1854" y="3200"/>
              <a:chExt cx="474" cy="160"/>
            </a:xfrm>
          </p:grpSpPr>
          <p:sp>
            <p:nvSpPr>
              <p:cNvPr id="58631" name="Line 263"/>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32" name="Line 264"/>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8633" name="Line 265"/>
            <p:cNvSpPr>
              <a:spLocks noChangeShapeType="1"/>
            </p:cNvSpPr>
            <p:nvPr/>
          </p:nvSpPr>
          <p:spPr bwMode="auto">
            <a:xfrm rot="5400000">
              <a:off x="2014" y="2842"/>
              <a:ext cx="172"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34" name="Line 266"/>
            <p:cNvSpPr>
              <a:spLocks noChangeShapeType="1"/>
            </p:cNvSpPr>
            <p:nvPr/>
          </p:nvSpPr>
          <p:spPr bwMode="auto">
            <a:xfrm rot="5400000">
              <a:off x="1985" y="3136"/>
              <a:ext cx="21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35" name="Line 267"/>
            <p:cNvSpPr>
              <a:spLocks noChangeShapeType="1"/>
            </p:cNvSpPr>
            <p:nvPr/>
          </p:nvSpPr>
          <p:spPr bwMode="auto">
            <a:xfrm>
              <a:off x="2600" y="2144"/>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36" name="Line 268"/>
            <p:cNvSpPr>
              <a:spLocks noChangeShapeType="1"/>
            </p:cNvSpPr>
            <p:nvPr/>
          </p:nvSpPr>
          <p:spPr bwMode="auto">
            <a:xfrm rot="-266974">
              <a:off x="2602" y="2307"/>
              <a:ext cx="137" cy="139"/>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37" name="Line 269"/>
            <p:cNvSpPr>
              <a:spLocks noChangeShapeType="1"/>
            </p:cNvSpPr>
            <p:nvPr/>
          </p:nvSpPr>
          <p:spPr bwMode="auto">
            <a:xfrm flipV="1">
              <a:off x="2600" y="2112"/>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38" name="Line 270"/>
            <p:cNvSpPr>
              <a:spLocks noChangeShapeType="1"/>
            </p:cNvSpPr>
            <p:nvPr/>
          </p:nvSpPr>
          <p:spPr bwMode="auto">
            <a:xfrm flipV="1">
              <a:off x="1413" y="3246"/>
              <a:ext cx="253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42" name="Text Box 271"/>
            <p:cNvSpPr txBox="1"/>
            <p:nvPr/>
          </p:nvSpPr>
          <p:spPr>
            <a:xfrm>
              <a:off x="2126" y="2450"/>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58640" name="Rectangle 272"/>
            <p:cNvSpPr>
              <a:spLocks noChangeArrowheads="1"/>
            </p:cNvSpPr>
            <p:nvPr/>
          </p:nvSpPr>
          <p:spPr bwMode="auto">
            <a:xfrm>
              <a:off x="2693" y="1376"/>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41" name="Rectangle 273"/>
            <p:cNvSpPr>
              <a:spLocks noChangeArrowheads="1"/>
            </p:cNvSpPr>
            <p:nvPr/>
          </p:nvSpPr>
          <p:spPr bwMode="auto">
            <a:xfrm>
              <a:off x="2063" y="2457"/>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45" name="Text Box 274"/>
            <p:cNvSpPr txBox="1"/>
            <p:nvPr/>
          </p:nvSpPr>
          <p:spPr>
            <a:xfrm>
              <a:off x="2199" y="2830"/>
              <a:ext cx="412" cy="288"/>
            </a:xfrm>
            <a:prstGeom prst="rect">
              <a:avLst/>
            </a:prstGeom>
            <a:noFill/>
            <a:ln w="38100">
              <a:noFill/>
            </a:ln>
          </p:spPr>
          <p:txBody>
            <a:bodyPr wrap="none" lIns="90000" tIns="46800" rIns="90000" bIns="46800" anchor="ctr">
              <a:spAutoFit/>
            </a:bodyPr>
            <a:p>
              <a:pPr lvl="0" indent="0">
                <a:spcBef>
                  <a:spcPct val="50000"/>
                </a:spcBef>
              </a:pPr>
              <a:r>
                <a:rPr lang="en-US" altLang="zh-CN" b="1" i="1" dirty="0">
                  <a:solidFill>
                    <a:schemeClr val="tx2"/>
                  </a:solidFill>
                  <a:latin typeface="Times New Roman" panose="02020603050405020304" pitchFamily="18" charset="0"/>
                  <a:ea typeface="楷体_GB2312" pitchFamily="49" charset="-122"/>
                </a:rPr>
                <a:t>V</a:t>
              </a:r>
              <a:r>
                <a:rPr lang="en-US" altLang="zh-CN" b="1" baseline="-25000" dirty="0">
                  <a:solidFill>
                    <a:schemeClr val="tx2"/>
                  </a:solidFill>
                  <a:latin typeface="Times New Roman" panose="02020603050405020304" pitchFamily="18" charset="0"/>
                  <a:ea typeface="楷体_GB2312" pitchFamily="49" charset="-122"/>
                </a:rPr>
                <a:t>BB</a:t>
              </a:r>
              <a:endParaRPr lang="en-US" altLang="zh-CN" b="1" baseline="-25000" dirty="0">
                <a:solidFill>
                  <a:schemeClr val="tx2"/>
                </a:solidFill>
                <a:latin typeface="Times New Roman" panose="02020603050405020304" pitchFamily="18" charset="0"/>
                <a:ea typeface="楷体_GB2312" pitchFamily="49" charset="-122"/>
              </a:endParaRPr>
            </a:p>
          </p:txBody>
        </p:sp>
        <p:grpSp>
          <p:nvGrpSpPr>
            <p:cNvPr id="30746" name="Group 275"/>
            <p:cNvGrpSpPr/>
            <p:nvPr/>
          </p:nvGrpSpPr>
          <p:grpSpPr>
            <a:xfrm>
              <a:off x="1751" y="2154"/>
              <a:ext cx="67" cy="245"/>
              <a:chOff x="3454" y="2018"/>
              <a:chExt cx="96" cy="328"/>
            </a:xfrm>
          </p:grpSpPr>
          <p:sp>
            <p:nvSpPr>
              <p:cNvPr id="58644" name="Line 276"/>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45" name="Line 277"/>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8646" name="Line 278"/>
            <p:cNvSpPr>
              <a:spLocks noChangeShapeType="1"/>
            </p:cNvSpPr>
            <p:nvPr/>
          </p:nvSpPr>
          <p:spPr bwMode="auto">
            <a:xfrm flipV="1">
              <a:off x="1413" y="2278"/>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0750" name="Group 279"/>
            <p:cNvGrpSpPr/>
            <p:nvPr/>
          </p:nvGrpSpPr>
          <p:grpSpPr>
            <a:xfrm flipH="1">
              <a:off x="3047" y="1729"/>
              <a:ext cx="67" cy="245"/>
              <a:chOff x="3454" y="2018"/>
              <a:chExt cx="96" cy="328"/>
            </a:xfrm>
          </p:grpSpPr>
          <p:sp>
            <p:nvSpPr>
              <p:cNvPr id="58648" name="Line 280"/>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49" name="Line 281"/>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8650" name="Line 282"/>
            <p:cNvSpPr>
              <a:spLocks noChangeShapeType="1"/>
            </p:cNvSpPr>
            <p:nvPr/>
          </p:nvSpPr>
          <p:spPr bwMode="auto">
            <a:xfrm flipH="1">
              <a:off x="3114" y="1836"/>
              <a:ext cx="29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51" name="Line 283"/>
            <p:cNvSpPr>
              <a:spLocks noChangeShapeType="1"/>
            </p:cNvSpPr>
            <p:nvPr/>
          </p:nvSpPr>
          <p:spPr bwMode="auto">
            <a:xfrm flipV="1">
              <a:off x="2736" y="1837"/>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55" name="Text Box 284"/>
            <p:cNvSpPr txBox="1"/>
            <p:nvPr/>
          </p:nvSpPr>
          <p:spPr>
            <a:xfrm>
              <a:off x="2379" y="1354"/>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0756" name="Text Box 285"/>
            <p:cNvSpPr txBox="1"/>
            <p:nvPr/>
          </p:nvSpPr>
          <p:spPr>
            <a:xfrm>
              <a:off x="1655" y="1854"/>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30757" name="Text Box 286"/>
            <p:cNvSpPr txBox="1"/>
            <p:nvPr/>
          </p:nvSpPr>
          <p:spPr>
            <a:xfrm>
              <a:off x="2963" y="1471"/>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30758" name="Text Box 287"/>
            <p:cNvSpPr txBox="1"/>
            <p:nvPr/>
          </p:nvSpPr>
          <p:spPr>
            <a:xfrm>
              <a:off x="2640" y="2141"/>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30759" name="Text Box 288"/>
            <p:cNvSpPr txBox="1"/>
            <p:nvPr/>
          </p:nvSpPr>
          <p:spPr>
            <a:xfrm>
              <a:off x="1806" y="204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0760" name="Text Box 289"/>
            <p:cNvSpPr txBox="1"/>
            <p:nvPr/>
          </p:nvSpPr>
          <p:spPr>
            <a:xfrm>
              <a:off x="2862" y="1599"/>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58658" name="Line 290"/>
            <p:cNvSpPr>
              <a:spLocks noChangeShapeType="1"/>
            </p:cNvSpPr>
            <p:nvPr/>
          </p:nvSpPr>
          <p:spPr bwMode="auto">
            <a:xfrm>
              <a:off x="1413" y="2700"/>
              <a:ext cx="0" cy="5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59" name="Rectangle 291"/>
            <p:cNvSpPr>
              <a:spLocks noChangeArrowheads="1"/>
            </p:cNvSpPr>
            <p:nvPr/>
          </p:nvSpPr>
          <p:spPr bwMode="auto">
            <a:xfrm>
              <a:off x="1369" y="2403"/>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60" name="Oval 292"/>
            <p:cNvSpPr>
              <a:spLocks noChangeArrowheads="1"/>
            </p:cNvSpPr>
            <p:nvPr/>
          </p:nvSpPr>
          <p:spPr bwMode="auto">
            <a:xfrm>
              <a:off x="1296" y="2924"/>
              <a:ext cx="227" cy="227"/>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64" name="Text Box 293"/>
            <p:cNvSpPr txBox="1"/>
            <p:nvPr/>
          </p:nvSpPr>
          <p:spPr>
            <a:xfrm>
              <a:off x="1246" y="2692"/>
              <a:ext cx="222"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0765" name="Text Box 294"/>
            <p:cNvSpPr txBox="1"/>
            <p:nvPr/>
          </p:nvSpPr>
          <p:spPr>
            <a:xfrm>
              <a:off x="1246" y="3038"/>
              <a:ext cx="134"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8663" name="Line 295"/>
            <p:cNvSpPr>
              <a:spLocks noChangeShapeType="1"/>
            </p:cNvSpPr>
            <p:nvPr/>
          </p:nvSpPr>
          <p:spPr bwMode="auto">
            <a:xfrm>
              <a:off x="3401" y="2743"/>
              <a:ext cx="0" cy="5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64" name="Rectangle 296"/>
            <p:cNvSpPr>
              <a:spLocks noChangeArrowheads="1"/>
            </p:cNvSpPr>
            <p:nvPr/>
          </p:nvSpPr>
          <p:spPr bwMode="auto">
            <a:xfrm>
              <a:off x="3352" y="2439"/>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68" name="Text Box 297"/>
            <p:cNvSpPr txBox="1"/>
            <p:nvPr/>
          </p:nvSpPr>
          <p:spPr>
            <a:xfrm>
              <a:off x="3076" y="2392"/>
              <a:ext cx="32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0769" name="Rectangle 298"/>
            <p:cNvSpPr/>
            <p:nvPr/>
          </p:nvSpPr>
          <p:spPr>
            <a:xfrm>
              <a:off x="3952" y="1719"/>
              <a:ext cx="18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0770" name="Rectangle 299"/>
            <p:cNvSpPr/>
            <p:nvPr/>
          </p:nvSpPr>
          <p:spPr>
            <a:xfrm flipH="1">
              <a:off x="1836" y="2688"/>
              <a:ext cx="34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0771" name="Rectangle 300"/>
            <p:cNvSpPr/>
            <p:nvPr/>
          </p:nvSpPr>
          <p:spPr>
            <a:xfrm>
              <a:off x="1913" y="2933"/>
              <a:ext cx="171"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0772" name="Rectangle 301"/>
            <p:cNvSpPr/>
            <p:nvPr/>
          </p:nvSpPr>
          <p:spPr>
            <a:xfrm>
              <a:off x="3935" y="2174"/>
              <a:ext cx="238"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8670" name="Line 302"/>
            <p:cNvSpPr>
              <a:spLocks noChangeShapeType="1"/>
            </p:cNvSpPr>
            <p:nvPr/>
          </p:nvSpPr>
          <p:spPr bwMode="auto">
            <a:xfrm flipV="1">
              <a:off x="1811" y="2282"/>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74" name="Rectangle 303"/>
            <p:cNvSpPr/>
            <p:nvPr/>
          </p:nvSpPr>
          <p:spPr>
            <a:xfrm>
              <a:off x="1440" y="2586"/>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0775" name="Rectangle 304"/>
            <p:cNvSpPr/>
            <p:nvPr/>
          </p:nvSpPr>
          <p:spPr>
            <a:xfrm>
              <a:off x="1552" y="2264"/>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0776" name="Rectangle 305"/>
            <p:cNvSpPr/>
            <p:nvPr/>
          </p:nvSpPr>
          <p:spPr>
            <a:xfrm>
              <a:off x="1556" y="2973"/>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0777" name="Rectangle 306"/>
            <p:cNvSpPr/>
            <p:nvPr/>
          </p:nvSpPr>
          <p:spPr>
            <a:xfrm>
              <a:off x="3433" y="2435"/>
              <a:ext cx="28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0778" name="Rectangle 307"/>
            <p:cNvSpPr/>
            <p:nvPr/>
          </p:nvSpPr>
          <p:spPr>
            <a:xfrm>
              <a:off x="3448" y="2208"/>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8676" name="Rectangle 308"/>
            <p:cNvSpPr>
              <a:spLocks noChangeArrowheads="1"/>
            </p:cNvSpPr>
            <p:nvPr/>
          </p:nvSpPr>
          <p:spPr bwMode="auto">
            <a:xfrm>
              <a:off x="3458" y="2715"/>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58677" name="Line 309"/>
            <p:cNvSpPr>
              <a:spLocks noChangeShapeType="1"/>
            </p:cNvSpPr>
            <p:nvPr/>
          </p:nvSpPr>
          <p:spPr bwMode="auto">
            <a:xfrm flipH="1">
              <a:off x="3401" y="1844"/>
              <a:ext cx="1" cy="5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0781" name="Group 310"/>
            <p:cNvGrpSpPr/>
            <p:nvPr/>
          </p:nvGrpSpPr>
          <p:grpSpPr>
            <a:xfrm>
              <a:off x="3816" y="1986"/>
              <a:ext cx="280" cy="85"/>
              <a:chOff x="1854" y="3200"/>
              <a:chExt cx="474" cy="160"/>
            </a:xfrm>
          </p:grpSpPr>
          <p:sp>
            <p:nvSpPr>
              <p:cNvPr id="58679" name="Line 311"/>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80" name="Line 312"/>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30784" name="Group 313"/>
            <p:cNvGrpSpPr/>
            <p:nvPr/>
          </p:nvGrpSpPr>
          <p:grpSpPr>
            <a:xfrm>
              <a:off x="3807" y="2155"/>
              <a:ext cx="280" cy="85"/>
              <a:chOff x="1854" y="3200"/>
              <a:chExt cx="474" cy="160"/>
            </a:xfrm>
          </p:grpSpPr>
          <p:sp>
            <p:nvSpPr>
              <p:cNvPr id="58682" name="Line 314"/>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83" name="Line 315"/>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30787" name="Text Box 316"/>
            <p:cNvSpPr txBox="1"/>
            <p:nvPr/>
          </p:nvSpPr>
          <p:spPr>
            <a:xfrm>
              <a:off x="2377" y="2210"/>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30788" name="Text Box 317"/>
            <p:cNvSpPr txBox="1"/>
            <p:nvPr/>
          </p:nvSpPr>
          <p:spPr>
            <a:xfrm>
              <a:off x="2820" y="1861"/>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58686" name="Rectangle 318"/>
            <p:cNvSpPr>
              <a:spLocks noChangeArrowheads="1"/>
            </p:cNvSpPr>
            <p:nvPr/>
          </p:nvSpPr>
          <p:spPr bwMode="auto">
            <a:xfrm>
              <a:off x="2529" y="251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0790" name="Rectangle 319"/>
            <p:cNvSpPr/>
            <p:nvPr/>
          </p:nvSpPr>
          <p:spPr>
            <a:xfrm>
              <a:off x="2301" y="235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0791" name="Rectangle 320"/>
            <p:cNvSpPr/>
            <p:nvPr/>
          </p:nvSpPr>
          <p:spPr>
            <a:xfrm>
              <a:off x="2736" y="213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8689" name="Rectangle 321"/>
            <p:cNvSpPr>
              <a:spLocks noChangeArrowheads="1"/>
            </p:cNvSpPr>
            <p:nvPr/>
          </p:nvSpPr>
          <p:spPr bwMode="auto">
            <a:xfrm>
              <a:off x="2815" y="2422"/>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0793" name="Rectangle 322"/>
            <p:cNvSpPr/>
            <p:nvPr/>
          </p:nvSpPr>
          <p:spPr>
            <a:xfrm>
              <a:off x="2322" y="179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8691" name="Line 323"/>
            <p:cNvSpPr>
              <a:spLocks noChangeShapeType="1"/>
            </p:cNvSpPr>
            <p:nvPr/>
          </p:nvSpPr>
          <p:spPr bwMode="auto">
            <a:xfrm>
              <a:off x="2169" y="2223"/>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95" name="Rectangle 324"/>
            <p:cNvSpPr/>
            <p:nvPr/>
          </p:nvSpPr>
          <p:spPr>
            <a:xfrm>
              <a:off x="2063" y="192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8693" name="Line 325"/>
            <p:cNvSpPr>
              <a:spLocks noChangeShapeType="1"/>
            </p:cNvSpPr>
            <p:nvPr/>
          </p:nvSpPr>
          <p:spPr bwMode="auto">
            <a:xfrm>
              <a:off x="2799" y="2777"/>
              <a:ext cx="0"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797" name="Rectangle 326"/>
            <p:cNvSpPr/>
            <p:nvPr/>
          </p:nvSpPr>
          <p:spPr>
            <a:xfrm>
              <a:off x="2666" y="2731"/>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8695" name="Line 327"/>
            <p:cNvSpPr>
              <a:spLocks noChangeShapeType="1"/>
            </p:cNvSpPr>
            <p:nvPr/>
          </p:nvSpPr>
          <p:spPr bwMode="auto">
            <a:xfrm>
              <a:off x="2736" y="3216"/>
              <a:ext cx="0"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96" name="Line 328"/>
            <p:cNvSpPr>
              <a:spLocks noChangeShapeType="1"/>
            </p:cNvSpPr>
            <p:nvPr/>
          </p:nvSpPr>
          <p:spPr bwMode="auto">
            <a:xfrm>
              <a:off x="2640" y="3408"/>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97" name="Oval 329"/>
            <p:cNvSpPr>
              <a:spLocks noChangeArrowheads="1"/>
            </p:cNvSpPr>
            <p:nvPr/>
          </p:nvSpPr>
          <p:spPr bwMode="auto">
            <a:xfrm>
              <a:off x="2709" y="3216"/>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98" name="Line 330"/>
            <p:cNvSpPr>
              <a:spLocks noChangeShapeType="1"/>
            </p:cNvSpPr>
            <p:nvPr/>
          </p:nvSpPr>
          <p:spPr bwMode="auto">
            <a:xfrm>
              <a:off x="3957" y="2239"/>
              <a:ext cx="0" cy="102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699" name="Line 331"/>
            <p:cNvSpPr>
              <a:spLocks noChangeShapeType="1"/>
            </p:cNvSpPr>
            <p:nvPr/>
          </p:nvSpPr>
          <p:spPr bwMode="auto">
            <a:xfrm>
              <a:off x="1414" y="2273"/>
              <a:ext cx="0" cy="1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700" name="Line 332"/>
            <p:cNvSpPr>
              <a:spLocks noChangeShapeType="1"/>
            </p:cNvSpPr>
            <p:nvPr/>
          </p:nvSpPr>
          <p:spPr bwMode="auto">
            <a:xfrm>
              <a:off x="2736" y="1680"/>
              <a:ext cx="0" cy="4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701" name="Line 333"/>
            <p:cNvSpPr>
              <a:spLocks noChangeShapeType="1"/>
            </p:cNvSpPr>
            <p:nvPr/>
          </p:nvSpPr>
          <p:spPr bwMode="auto">
            <a:xfrm>
              <a:off x="2736" y="2425"/>
              <a:ext cx="0" cy="8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702" name="Line 334"/>
            <p:cNvSpPr>
              <a:spLocks noChangeShapeType="1"/>
            </p:cNvSpPr>
            <p:nvPr/>
          </p:nvSpPr>
          <p:spPr bwMode="auto">
            <a:xfrm>
              <a:off x="2688" y="1872"/>
              <a:ext cx="0" cy="24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wipe(left)">
                                      <p:cBhvr>
                                        <p:cTn id="7" dur="500"/>
                                        <p:tgtEl>
                                          <p:spTgt spid="583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3"/>
                                        </p:tgtEl>
                                        <p:attrNameLst>
                                          <p:attrName>style.visibility</p:attrName>
                                        </p:attrNameLst>
                                      </p:cBhvr>
                                      <p:to>
                                        <p:strVal val="visible"/>
                                      </p:to>
                                    </p:set>
                                    <p:animEffect transition="in" filter="wipe(left)">
                                      <p:cBhvr>
                                        <p:cTn id="12" dur="500"/>
                                        <p:tgtEl>
                                          <p:spTgt spid="58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bldLvl="0" animBg="1"/>
      <p:bldP spid="5837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59477" name="AutoShape 85"/>
          <p:cNvSpPr>
            <a:spLocks noChangeArrowheads="1"/>
          </p:cNvSpPr>
          <p:nvPr/>
        </p:nvSpPr>
        <p:spPr bwMode="auto">
          <a:xfrm>
            <a:off x="5292725" y="314325"/>
            <a:ext cx="3352800" cy="2063750"/>
          </a:xfrm>
          <a:prstGeom prst="wedgeRoundRectCallout">
            <a:avLst>
              <a:gd name="adj1" fmla="val -49477"/>
              <a:gd name="adj2" fmla="val 69079"/>
              <a:gd name="adj3" fmla="val 16667"/>
            </a:avLst>
          </a:prstGeom>
          <a:noFill/>
          <a:ln w="38100">
            <a:solidFill>
              <a:schemeClr val="accent2"/>
            </a:solidFill>
            <a:miter lim="800000"/>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5000"/>
              </a:lnSpc>
              <a:spcBef>
                <a:spcPct val="5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集电极电源</a:t>
            </a:r>
            <a:r>
              <a:rPr kumimoji="1" lang="en-US" altLang="zh-CN" sz="28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V</a:t>
            </a:r>
            <a:r>
              <a:rPr kumimoji="1" lang="en-US" altLang="zh-CN" sz="2800" b="1" i="0"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CC </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为电路提供能量。并保证集电结反偏。</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59478" name="AutoShape 86" descr="80%"/>
          <p:cNvSpPr>
            <a:spLocks noChangeArrowheads="1"/>
          </p:cNvSpPr>
          <p:nvPr/>
        </p:nvSpPr>
        <p:spPr bwMode="auto">
          <a:xfrm>
            <a:off x="5799138" y="2492375"/>
            <a:ext cx="3344863" cy="1543050"/>
          </a:xfrm>
          <a:prstGeom prst="wedgeRoundRectCallout">
            <a:avLst>
              <a:gd name="adj1" fmla="val -47296"/>
              <a:gd name="adj2" fmla="val 44546"/>
              <a:gd name="adj3" fmla="val 16667"/>
            </a:avLst>
          </a:prstGeom>
          <a:noFill/>
          <a:ln>
            <a:noFill/>
          </a:ln>
          <a:effectLst/>
          <a:extLst>
            <a:ext uri="{909E8E84-426E-40DD-AFC4-6F175D3DCCD1}">
              <a14:hiddenFill xmlns:a14="http://schemas.microsoft.com/office/drawing/2010/main">
                <a:pattFill prst="pct80">
                  <a:fgClr>
                    <a:srgbClr val="FFCCFF"/>
                  </a:fgClr>
                  <a:bgClr>
                    <a:srgbClr val="FFFFFF"/>
                  </a:bgClr>
                </a:patt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5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集电极电阻</a:t>
            </a:r>
            <a:r>
              <a:rPr kumimoji="1" lang="en-US" altLang="zh-CN" sz="28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R</a:t>
            </a:r>
            <a:r>
              <a:rPr kumimoji="1" lang="en-US" altLang="zh-CN" sz="2800" b="1" i="0"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将变化的电流转变为变化的电压。</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59480" name="AutoShape 88" descr="80%"/>
          <p:cNvSpPr>
            <a:spLocks noChangeArrowheads="1"/>
          </p:cNvSpPr>
          <p:nvPr/>
        </p:nvSpPr>
        <p:spPr bwMode="auto">
          <a:xfrm>
            <a:off x="5740400" y="3992563"/>
            <a:ext cx="3344863" cy="2419350"/>
          </a:xfrm>
          <a:prstGeom prst="wedgeRoundRectCallout">
            <a:avLst>
              <a:gd name="adj1" fmla="val -45019"/>
              <a:gd name="adj2" fmla="val -70569"/>
              <a:gd name="adj3" fmla="val 16667"/>
            </a:avLst>
          </a:prstGeom>
          <a:noFill/>
          <a:ln>
            <a:noFill/>
          </a:ln>
          <a:effectLst/>
          <a:extLst>
            <a:ext uri="{909E8E84-426E-40DD-AFC4-6F175D3DCCD1}">
              <a14:hiddenFill xmlns:a14="http://schemas.microsoft.com/office/drawing/2010/main">
                <a:pattFill prst="pct80">
                  <a:fgClr>
                    <a:srgbClr val="FFCCFF"/>
                  </a:fgClr>
                  <a:bgClr>
                    <a:srgbClr val="FFFFFF"/>
                  </a:bgClr>
                </a:patt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5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耦合电容</a:t>
            </a:r>
            <a:r>
              <a:rPr kumimoji="1" lang="en-US" altLang="zh-CN" sz="28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en-US" altLang="zh-CN" sz="2800" b="1" i="0"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 </a:t>
            </a: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en-US" altLang="zh-CN" sz="28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en-US" altLang="zh-CN" sz="2800" b="1" i="0"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 </a:t>
            </a:r>
            <a:endParaRPr kumimoji="1" lang="en-US" altLang="zh-CN" sz="2800" b="1" i="0"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
              </a:spcBef>
              <a:spcAft>
                <a:spcPct val="0"/>
              </a:spcAft>
              <a:buClrTx/>
              <a:buSzTx/>
              <a:buFontTx/>
              <a:buNone/>
              <a:defRPr/>
            </a:pP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隔离输入、输出与放大电路直流的联系，同时使信号顺利输入、输出。</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59484" name="Line 92"/>
          <p:cNvSpPr>
            <a:spLocks noChangeShapeType="1"/>
          </p:cNvSpPr>
          <p:nvPr/>
        </p:nvSpPr>
        <p:spPr bwMode="auto">
          <a:xfrm>
            <a:off x="1219200" y="3141663"/>
            <a:ext cx="0" cy="2420938"/>
          </a:xfrm>
          <a:prstGeom prst="line">
            <a:avLst/>
          </a:prstGeom>
          <a:noFill/>
          <a:ln w="285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485" name="AutoShape 93" descr="80%"/>
          <p:cNvSpPr>
            <a:spLocks noChangeArrowheads="1"/>
          </p:cNvSpPr>
          <p:nvPr/>
        </p:nvSpPr>
        <p:spPr bwMode="auto">
          <a:xfrm>
            <a:off x="152400" y="5040313"/>
            <a:ext cx="606425" cy="1512888"/>
          </a:xfrm>
          <a:prstGeom prst="wedgeRoundRectCallout">
            <a:avLst>
              <a:gd name="adj1" fmla="val 69894"/>
              <a:gd name="adj2" fmla="val -70778"/>
              <a:gd name="adj3" fmla="val 16667"/>
            </a:avLst>
          </a:prstGeom>
          <a:noFill/>
          <a:ln w="38100">
            <a:solidFill>
              <a:srgbClr val="006600"/>
            </a:solidFill>
            <a:miter lim="800000"/>
          </a:ln>
          <a:effectLst/>
          <a:extLst>
            <a:ext uri="{909E8E84-426E-40DD-AFC4-6F175D3DCCD1}">
              <a14:hiddenFill xmlns:a14="http://schemas.microsoft.com/office/drawing/2010/main">
                <a:pattFill prst="pct80">
                  <a:fgClr>
                    <a:srgbClr val="00FF00"/>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p>
            <a:pPr lvl="0" eaLnBrk="1" fontAlgn="base" hangingPunct="1">
              <a:spcBef>
                <a:spcPct val="50000"/>
              </a:spcBef>
            </a:pPr>
            <a:r>
              <a:rPr lang="zh-CN" altLang="en-US" sz="2800" b="1" strike="noStrike" noProof="1" dirty="0">
                <a:solidFill>
                  <a:srgbClr val="000099"/>
                </a:solidFill>
                <a:effectLst>
                  <a:outerShdw blurRad="38100" dist="38100" dir="2700000">
                    <a:srgbClr val="000000"/>
                  </a:outerShdw>
                </a:effectLst>
                <a:latin typeface="Times New Roman" panose="02020603050405020304" pitchFamily="18" charset="0"/>
                <a:ea typeface="楷体_GB2312" pitchFamily="49" charset="-122"/>
                <a:cs typeface="+mn-ea"/>
              </a:rPr>
              <a:t>信号源</a:t>
            </a:r>
            <a:endParaRPr lang="zh-CN" altLang="en-US" sz="2800" b="1" strike="noStrike" noProof="1" dirty="0">
              <a:solidFill>
                <a:srgbClr val="000099"/>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59486" name="AutoShape 94" descr="30%"/>
          <p:cNvSpPr>
            <a:spLocks noChangeArrowheads="1"/>
          </p:cNvSpPr>
          <p:nvPr/>
        </p:nvSpPr>
        <p:spPr bwMode="auto">
          <a:xfrm>
            <a:off x="4572000" y="5105400"/>
            <a:ext cx="1066800" cy="592138"/>
          </a:xfrm>
          <a:prstGeom prst="wedgeRoundRectCallout">
            <a:avLst>
              <a:gd name="adj1" fmla="val -93898"/>
              <a:gd name="adj2" fmla="val -234181"/>
              <a:gd name="adj3" fmla="val 16667"/>
            </a:avLst>
          </a:prstGeom>
          <a:noFill/>
          <a:ln w="38100">
            <a:solidFill>
              <a:srgbClr val="006600"/>
            </a:solidFill>
            <a:miter lim="800000"/>
          </a:ln>
          <a:effectLst/>
          <a:extLst>
            <a:ext uri="{909E8E84-426E-40DD-AFC4-6F175D3DCCD1}">
              <a14:hiddenFill xmlns:a14="http://schemas.microsoft.com/office/drawing/2010/main">
                <a:pattFill prst="pct30">
                  <a:fgClr>
                    <a:schemeClr val="accent2"/>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p>
            <a:pPr lvl="0" eaLnBrk="1" fontAlgn="base" hangingPunct="1">
              <a:spcBef>
                <a:spcPct val="50000"/>
              </a:spcBef>
            </a:pPr>
            <a:r>
              <a:rPr lang="zh-CN" altLang="en-US" sz="2800" b="1" strike="noStrike" noProof="1" dirty="0">
                <a:solidFill>
                  <a:srgbClr val="000099"/>
                </a:solidFill>
                <a:effectLst>
                  <a:outerShdw blurRad="38100" dist="38100" dir="2700000">
                    <a:srgbClr val="000000"/>
                  </a:outerShdw>
                </a:effectLst>
                <a:latin typeface="Times New Roman" panose="02020603050405020304" pitchFamily="18" charset="0"/>
                <a:ea typeface="楷体_GB2312" pitchFamily="49" charset="-122"/>
                <a:cs typeface="+mn-ea"/>
              </a:rPr>
              <a:t>负载</a:t>
            </a:r>
            <a:endParaRPr lang="zh-CN" altLang="en-US" sz="2800" b="1" strike="noStrike" noProof="1" dirty="0">
              <a:solidFill>
                <a:srgbClr val="000099"/>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59568" name="Text Box 176"/>
          <p:cNvSpPr txBox="1">
            <a:spLocks noChangeArrowheads="1"/>
          </p:cNvSpPr>
          <p:nvPr/>
        </p:nvSpPr>
        <p:spPr bwMode="auto">
          <a:xfrm>
            <a:off x="1430338" y="5424488"/>
            <a:ext cx="3217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共发射极基本电路</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nvGrpSpPr>
          <p:cNvPr id="31752" name="Group 258"/>
          <p:cNvGrpSpPr/>
          <p:nvPr/>
        </p:nvGrpSpPr>
        <p:grpSpPr>
          <a:xfrm>
            <a:off x="381000" y="1676400"/>
            <a:ext cx="5407025" cy="3498850"/>
            <a:chOff x="1056" y="1204"/>
            <a:chExt cx="3406" cy="2204"/>
          </a:xfrm>
        </p:grpSpPr>
        <p:sp>
          <p:nvSpPr>
            <p:cNvPr id="59651" name="Line 259"/>
            <p:cNvSpPr>
              <a:spLocks noChangeShapeType="1"/>
            </p:cNvSpPr>
            <p:nvPr/>
          </p:nvSpPr>
          <p:spPr bwMode="auto">
            <a:xfrm flipH="1" flipV="1">
              <a:off x="2744" y="1205"/>
              <a:ext cx="0" cy="17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52" name="Line 260"/>
            <p:cNvSpPr>
              <a:spLocks noChangeShapeType="1"/>
            </p:cNvSpPr>
            <p:nvPr/>
          </p:nvSpPr>
          <p:spPr bwMode="auto">
            <a:xfrm flipV="1">
              <a:off x="2743" y="1214"/>
              <a:ext cx="1216"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755" name="Rectangle 261"/>
            <p:cNvSpPr/>
            <p:nvPr/>
          </p:nvSpPr>
          <p:spPr>
            <a:xfrm>
              <a:off x="4036" y="1968"/>
              <a:ext cx="42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V</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31756" name="Text Box 262"/>
            <p:cNvSpPr txBox="1"/>
            <p:nvPr/>
          </p:nvSpPr>
          <p:spPr>
            <a:xfrm>
              <a:off x="1056" y="2378"/>
              <a:ext cx="368"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1757" name="Text Box 263"/>
            <p:cNvSpPr txBox="1"/>
            <p:nvPr/>
          </p:nvSpPr>
          <p:spPr>
            <a:xfrm>
              <a:off x="1098" y="2858"/>
              <a:ext cx="259" cy="288"/>
            </a:xfrm>
            <a:prstGeom prst="rect">
              <a:avLst/>
            </a:prstGeom>
            <a:noFill/>
            <a:ln w="38100">
              <a:noFill/>
            </a:ln>
          </p:spPr>
          <p:txBody>
            <a:bodyPr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9656" name="Line 264"/>
            <p:cNvSpPr>
              <a:spLocks noChangeShapeType="1"/>
            </p:cNvSpPr>
            <p:nvPr/>
          </p:nvSpPr>
          <p:spPr bwMode="auto">
            <a:xfrm>
              <a:off x="3961" y="1204"/>
              <a:ext cx="0" cy="7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57" name="Line 265"/>
            <p:cNvSpPr>
              <a:spLocks noChangeShapeType="1"/>
            </p:cNvSpPr>
            <p:nvPr/>
          </p:nvSpPr>
          <p:spPr bwMode="auto">
            <a:xfrm flipV="1">
              <a:off x="2102" y="2274"/>
              <a:ext cx="0" cy="17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1760" name="Group 266"/>
            <p:cNvGrpSpPr/>
            <p:nvPr/>
          </p:nvGrpSpPr>
          <p:grpSpPr>
            <a:xfrm>
              <a:off x="1954" y="2934"/>
              <a:ext cx="280" cy="85"/>
              <a:chOff x="1854" y="3200"/>
              <a:chExt cx="474" cy="160"/>
            </a:xfrm>
          </p:grpSpPr>
          <p:sp>
            <p:nvSpPr>
              <p:cNvPr id="59659" name="Line 267"/>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60" name="Line 268"/>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9661" name="Line 269"/>
            <p:cNvSpPr>
              <a:spLocks noChangeShapeType="1"/>
            </p:cNvSpPr>
            <p:nvPr/>
          </p:nvSpPr>
          <p:spPr bwMode="auto">
            <a:xfrm rot="5400000">
              <a:off x="2014" y="2842"/>
              <a:ext cx="172"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62" name="Line 270"/>
            <p:cNvSpPr>
              <a:spLocks noChangeShapeType="1"/>
            </p:cNvSpPr>
            <p:nvPr/>
          </p:nvSpPr>
          <p:spPr bwMode="auto">
            <a:xfrm rot="5400000">
              <a:off x="1985" y="3136"/>
              <a:ext cx="21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63" name="Line 271"/>
            <p:cNvSpPr>
              <a:spLocks noChangeShapeType="1"/>
            </p:cNvSpPr>
            <p:nvPr/>
          </p:nvSpPr>
          <p:spPr bwMode="auto">
            <a:xfrm>
              <a:off x="2600" y="2144"/>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64" name="Line 272"/>
            <p:cNvSpPr>
              <a:spLocks noChangeShapeType="1"/>
            </p:cNvSpPr>
            <p:nvPr/>
          </p:nvSpPr>
          <p:spPr bwMode="auto">
            <a:xfrm rot="-266974">
              <a:off x="2602" y="2307"/>
              <a:ext cx="137" cy="139"/>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65" name="Line 273"/>
            <p:cNvSpPr>
              <a:spLocks noChangeShapeType="1"/>
            </p:cNvSpPr>
            <p:nvPr/>
          </p:nvSpPr>
          <p:spPr bwMode="auto">
            <a:xfrm flipV="1">
              <a:off x="2600" y="2112"/>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66" name="Line 274"/>
            <p:cNvSpPr>
              <a:spLocks noChangeShapeType="1"/>
            </p:cNvSpPr>
            <p:nvPr/>
          </p:nvSpPr>
          <p:spPr bwMode="auto">
            <a:xfrm flipV="1">
              <a:off x="1413" y="3246"/>
              <a:ext cx="253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769" name="Text Box 275"/>
            <p:cNvSpPr txBox="1"/>
            <p:nvPr/>
          </p:nvSpPr>
          <p:spPr>
            <a:xfrm>
              <a:off x="2126" y="2450"/>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59668" name="Rectangle 276"/>
            <p:cNvSpPr>
              <a:spLocks noChangeArrowheads="1"/>
            </p:cNvSpPr>
            <p:nvPr/>
          </p:nvSpPr>
          <p:spPr bwMode="auto">
            <a:xfrm>
              <a:off x="2693" y="1376"/>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69" name="Rectangle 277"/>
            <p:cNvSpPr>
              <a:spLocks noChangeArrowheads="1"/>
            </p:cNvSpPr>
            <p:nvPr/>
          </p:nvSpPr>
          <p:spPr bwMode="auto">
            <a:xfrm>
              <a:off x="2063" y="2457"/>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772" name="Text Box 278"/>
            <p:cNvSpPr txBox="1"/>
            <p:nvPr/>
          </p:nvSpPr>
          <p:spPr>
            <a:xfrm>
              <a:off x="2199" y="2830"/>
              <a:ext cx="412" cy="288"/>
            </a:xfrm>
            <a:prstGeom prst="rect">
              <a:avLst/>
            </a:prstGeom>
            <a:noFill/>
            <a:ln w="38100">
              <a:noFill/>
            </a:ln>
          </p:spPr>
          <p:txBody>
            <a:bodyPr wrap="none" lIns="90000" tIns="46800" rIns="90000" bIns="46800" anchor="ctr">
              <a:spAutoFit/>
            </a:bodyPr>
            <a:p>
              <a:pPr lvl="0" indent="0">
                <a:spcBef>
                  <a:spcPct val="50000"/>
                </a:spcBef>
              </a:pPr>
              <a:r>
                <a:rPr lang="en-US" altLang="zh-CN" b="1" i="1" dirty="0">
                  <a:solidFill>
                    <a:schemeClr val="tx2"/>
                  </a:solidFill>
                  <a:latin typeface="Times New Roman" panose="02020603050405020304" pitchFamily="18" charset="0"/>
                  <a:ea typeface="楷体_GB2312" pitchFamily="49" charset="-122"/>
                </a:rPr>
                <a:t>V</a:t>
              </a:r>
              <a:r>
                <a:rPr lang="en-US" altLang="zh-CN" b="1" baseline="-25000" dirty="0">
                  <a:solidFill>
                    <a:schemeClr val="tx2"/>
                  </a:solidFill>
                  <a:latin typeface="Times New Roman" panose="02020603050405020304" pitchFamily="18" charset="0"/>
                  <a:ea typeface="楷体_GB2312" pitchFamily="49" charset="-122"/>
                </a:rPr>
                <a:t>BB</a:t>
              </a:r>
              <a:endParaRPr lang="en-US" altLang="zh-CN" b="1" baseline="-25000" dirty="0">
                <a:solidFill>
                  <a:schemeClr val="tx2"/>
                </a:solidFill>
                <a:latin typeface="Times New Roman" panose="02020603050405020304" pitchFamily="18" charset="0"/>
                <a:ea typeface="楷体_GB2312" pitchFamily="49" charset="-122"/>
              </a:endParaRPr>
            </a:p>
          </p:txBody>
        </p:sp>
        <p:grpSp>
          <p:nvGrpSpPr>
            <p:cNvPr id="31773" name="Group 279"/>
            <p:cNvGrpSpPr/>
            <p:nvPr/>
          </p:nvGrpSpPr>
          <p:grpSpPr>
            <a:xfrm>
              <a:off x="1751" y="2154"/>
              <a:ext cx="67" cy="245"/>
              <a:chOff x="3454" y="2018"/>
              <a:chExt cx="96" cy="328"/>
            </a:xfrm>
          </p:grpSpPr>
          <p:sp>
            <p:nvSpPr>
              <p:cNvPr id="59672" name="Line 280"/>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73" name="Line 281"/>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9674" name="Line 282"/>
            <p:cNvSpPr>
              <a:spLocks noChangeShapeType="1"/>
            </p:cNvSpPr>
            <p:nvPr/>
          </p:nvSpPr>
          <p:spPr bwMode="auto">
            <a:xfrm flipV="1">
              <a:off x="1413" y="2278"/>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1777" name="Group 283"/>
            <p:cNvGrpSpPr/>
            <p:nvPr/>
          </p:nvGrpSpPr>
          <p:grpSpPr>
            <a:xfrm flipH="1">
              <a:off x="3047" y="1729"/>
              <a:ext cx="67" cy="245"/>
              <a:chOff x="3454" y="2018"/>
              <a:chExt cx="96" cy="328"/>
            </a:xfrm>
          </p:grpSpPr>
          <p:sp>
            <p:nvSpPr>
              <p:cNvPr id="59676" name="Line 284"/>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77" name="Line 285"/>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59678" name="Line 286"/>
            <p:cNvSpPr>
              <a:spLocks noChangeShapeType="1"/>
            </p:cNvSpPr>
            <p:nvPr/>
          </p:nvSpPr>
          <p:spPr bwMode="auto">
            <a:xfrm flipH="1">
              <a:off x="3114" y="1836"/>
              <a:ext cx="29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79" name="Line 287"/>
            <p:cNvSpPr>
              <a:spLocks noChangeShapeType="1"/>
            </p:cNvSpPr>
            <p:nvPr/>
          </p:nvSpPr>
          <p:spPr bwMode="auto">
            <a:xfrm flipV="1">
              <a:off x="2736" y="1837"/>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782" name="Text Box 288"/>
            <p:cNvSpPr txBox="1"/>
            <p:nvPr/>
          </p:nvSpPr>
          <p:spPr>
            <a:xfrm>
              <a:off x="2379" y="1354"/>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1783" name="Text Box 289"/>
            <p:cNvSpPr txBox="1"/>
            <p:nvPr/>
          </p:nvSpPr>
          <p:spPr>
            <a:xfrm>
              <a:off x="1655" y="1854"/>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31784" name="Text Box 290"/>
            <p:cNvSpPr txBox="1"/>
            <p:nvPr/>
          </p:nvSpPr>
          <p:spPr>
            <a:xfrm>
              <a:off x="2963" y="1471"/>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31785" name="Text Box 291"/>
            <p:cNvSpPr txBox="1"/>
            <p:nvPr/>
          </p:nvSpPr>
          <p:spPr>
            <a:xfrm>
              <a:off x="2640" y="2141"/>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31786" name="Text Box 292"/>
            <p:cNvSpPr txBox="1"/>
            <p:nvPr/>
          </p:nvSpPr>
          <p:spPr>
            <a:xfrm>
              <a:off x="1806" y="204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1787" name="Text Box 293"/>
            <p:cNvSpPr txBox="1"/>
            <p:nvPr/>
          </p:nvSpPr>
          <p:spPr>
            <a:xfrm>
              <a:off x="2862" y="1599"/>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59686" name="Line 294"/>
            <p:cNvSpPr>
              <a:spLocks noChangeShapeType="1"/>
            </p:cNvSpPr>
            <p:nvPr/>
          </p:nvSpPr>
          <p:spPr bwMode="auto">
            <a:xfrm>
              <a:off x="1413" y="2700"/>
              <a:ext cx="0" cy="5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87" name="Rectangle 295"/>
            <p:cNvSpPr>
              <a:spLocks noChangeArrowheads="1"/>
            </p:cNvSpPr>
            <p:nvPr/>
          </p:nvSpPr>
          <p:spPr bwMode="auto">
            <a:xfrm>
              <a:off x="1369" y="2403"/>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88" name="Oval 296"/>
            <p:cNvSpPr>
              <a:spLocks noChangeArrowheads="1"/>
            </p:cNvSpPr>
            <p:nvPr/>
          </p:nvSpPr>
          <p:spPr bwMode="auto">
            <a:xfrm>
              <a:off x="1296" y="2924"/>
              <a:ext cx="227" cy="227"/>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791" name="Text Box 297"/>
            <p:cNvSpPr txBox="1"/>
            <p:nvPr/>
          </p:nvSpPr>
          <p:spPr>
            <a:xfrm>
              <a:off x="1246" y="2692"/>
              <a:ext cx="222"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1792" name="Text Box 298"/>
            <p:cNvSpPr txBox="1"/>
            <p:nvPr/>
          </p:nvSpPr>
          <p:spPr>
            <a:xfrm>
              <a:off x="1246" y="3038"/>
              <a:ext cx="134"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9691" name="Line 299"/>
            <p:cNvSpPr>
              <a:spLocks noChangeShapeType="1"/>
            </p:cNvSpPr>
            <p:nvPr/>
          </p:nvSpPr>
          <p:spPr bwMode="auto">
            <a:xfrm>
              <a:off x="3401" y="2743"/>
              <a:ext cx="0" cy="5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692" name="Rectangle 300"/>
            <p:cNvSpPr>
              <a:spLocks noChangeArrowheads="1"/>
            </p:cNvSpPr>
            <p:nvPr/>
          </p:nvSpPr>
          <p:spPr bwMode="auto">
            <a:xfrm>
              <a:off x="3352" y="2439"/>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795" name="Text Box 301"/>
            <p:cNvSpPr txBox="1"/>
            <p:nvPr/>
          </p:nvSpPr>
          <p:spPr>
            <a:xfrm>
              <a:off x="3076" y="2392"/>
              <a:ext cx="32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1796" name="Rectangle 302"/>
            <p:cNvSpPr/>
            <p:nvPr/>
          </p:nvSpPr>
          <p:spPr>
            <a:xfrm>
              <a:off x="3952" y="1719"/>
              <a:ext cx="18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1797" name="Rectangle 303"/>
            <p:cNvSpPr/>
            <p:nvPr/>
          </p:nvSpPr>
          <p:spPr>
            <a:xfrm flipH="1">
              <a:off x="1836" y="2688"/>
              <a:ext cx="34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1798" name="Rectangle 304"/>
            <p:cNvSpPr/>
            <p:nvPr/>
          </p:nvSpPr>
          <p:spPr>
            <a:xfrm>
              <a:off x="1913" y="2933"/>
              <a:ext cx="171"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1799" name="Rectangle 305"/>
            <p:cNvSpPr/>
            <p:nvPr/>
          </p:nvSpPr>
          <p:spPr>
            <a:xfrm>
              <a:off x="3935" y="2174"/>
              <a:ext cx="238"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9698" name="Line 306"/>
            <p:cNvSpPr>
              <a:spLocks noChangeShapeType="1"/>
            </p:cNvSpPr>
            <p:nvPr/>
          </p:nvSpPr>
          <p:spPr bwMode="auto">
            <a:xfrm flipV="1">
              <a:off x="1811" y="2282"/>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801" name="Rectangle 307"/>
            <p:cNvSpPr/>
            <p:nvPr/>
          </p:nvSpPr>
          <p:spPr>
            <a:xfrm>
              <a:off x="1440" y="2586"/>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1802" name="Rectangle 308"/>
            <p:cNvSpPr/>
            <p:nvPr/>
          </p:nvSpPr>
          <p:spPr>
            <a:xfrm>
              <a:off x="1552" y="2264"/>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1803" name="Rectangle 309"/>
            <p:cNvSpPr/>
            <p:nvPr/>
          </p:nvSpPr>
          <p:spPr>
            <a:xfrm>
              <a:off x="1556" y="2973"/>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1804" name="Rectangle 310"/>
            <p:cNvSpPr/>
            <p:nvPr/>
          </p:nvSpPr>
          <p:spPr>
            <a:xfrm>
              <a:off x="3433" y="2435"/>
              <a:ext cx="28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1805" name="Rectangle 311"/>
            <p:cNvSpPr/>
            <p:nvPr/>
          </p:nvSpPr>
          <p:spPr>
            <a:xfrm>
              <a:off x="3448" y="2208"/>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59704" name="Rectangle 312"/>
            <p:cNvSpPr>
              <a:spLocks noChangeArrowheads="1"/>
            </p:cNvSpPr>
            <p:nvPr/>
          </p:nvSpPr>
          <p:spPr bwMode="auto">
            <a:xfrm>
              <a:off x="3458" y="2715"/>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59705" name="Line 313"/>
            <p:cNvSpPr>
              <a:spLocks noChangeShapeType="1"/>
            </p:cNvSpPr>
            <p:nvPr/>
          </p:nvSpPr>
          <p:spPr bwMode="auto">
            <a:xfrm flipH="1">
              <a:off x="3401" y="1844"/>
              <a:ext cx="1" cy="5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1808" name="Group 314"/>
            <p:cNvGrpSpPr/>
            <p:nvPr/>
          </p:nvGrpSpPr>
          <p:grpSpPr>
            <a:xfrm>
              <a:off x="3816" y="1986"/>
              <a:ext cx="280" cy="85"/>
              <a:chOff x="1854" y="3200"/>
              <a:chExt cx="474" cy="160"/>
            </a:xfrm>
          </p:grpSpPr>
          <p:sp>
            <p:nvSpPr>
              <p:cNvPr id="59707" name="Line 315"/>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08" name="Line 316"/>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31811" name="Group 317"/>
            <p:cNvGrpSpPr/>
            <p:nvPr/>
          </p:nvGrpSpPr>
          <p:grpSpPr>
            <a:xfrm>
              <a:off x="3807" y="2155"/>
              <a:ext cx="280" cy="85"/>
              <a:chOff x="1854" y="3200"/>
              <a:chExt cx="474" cy="160"/>
            </a:xfrm>
          </p:grpSpPr>
          <p:sp>
            <p:nvSpPr>
              <p:cNvPr id="59710" name="Line 318"/>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11" name="Line 319"/>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31814" name="Text Box 320"/>
            <p:cNvSpPr txBox="1"/>
            <p:nvPr/>
          </p:nvSpPr>
          <p:spPr>
            <a:xfrm>
              <a:off x="2377" y="2210"/>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31815" name="Text Box 321"/>
            <p:cNvSpPr txBox="1"/>
            <p:nvPr/>
          </p:nvSpPr>
          <p:spPr>
            <a:xfrm>
              <a:off x="2820" y="1861"/>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59714" name="Rectangle 322"/>
            <p:cNvSpPr>
              <a:spLocks noChangeArrowheads="1"/>
            </p:cNvSpPr>
            <p:nvPr/>
          </p:nvSpPr>
          <p:spPr bwMode="auto">
            <a:xfrm>
              <a:off x="2529" y="251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1817" name="Rectangle 323"/>
            <p:cNvSpPr/>
            <p:nvPr/>
          </p:nvSpPr>
          <p:spPr>
            <a:xfrm>
              <a:off x="2301" y="235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1818" name="Rectangle 324"/>
            <p:cNvSpPr/>
            <p:nvPr/>
          </p:nvSpPr>
          <p:spPr>
            <a:xfrm>
              <a:off x="2736" y="213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9717" name="Rectangle 325"/>
            <p:cNvSpPr>
              <a:spLocks noChangeArrowheads="1"/>
            </p:cNvSpPr>
            <p:nvPr/>
          </p:nvSpPr>
          <p:spPr bwMode="auto">
            <a:xfrm>
              <a:off x="2815" y="2422"/>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1820" name="Rectangle 326"/>
            <p:cNvSpPr/>
            <p:nvPr/>
          </p:nvSpPr>
          <p:spPr>
            <a:xfrm>
              <a:off x="2322" y="179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9719" name="Line 327"/>
            <p:cNvSpPr>
              <a:spLocks noChangeShapeType="1"/>
            </p:cNvSpPr>
            <p:nvPr/>
          </p:nvSpPr>
          <p:spPr bwMode="auto">
            <a:xfrm>
              <a:off x="2169" y="2223"/>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822" name="Rectangle 328"/>
            <p:cNvSpPr/>
            <p:nvPr/>
          </p:nvSpPr>
          <p:spPr>
            <a:xfrm>
              <a:off x="2063" y="192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9721" name="Line 329"/>
            <p:cNvSpPr>
              <a:spLocks noChangeShapeType="1"/>
            </p:cNvSpPr>
            <p:nvPr/>
          </p:nvSpPr>
          <p:spPr bwMode="auto">
            <a:xfrm>
              <a:off x="2799" y="2777"/>
              <a:ext cx="0"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824" name="Rectangle 330"/>
            <p:cNvSpPr/>
            <p:nvPr/>
          </p:nvSpPr>
          <p:spPr>
            <a:xfrm>
              <a:off x="2666" y="2731"/>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59723" name="Line 331"/>
            <p:cNvSpPr>
              <a:spLocks noChangeShapeType="1"/>
            </p:cNvSpPr>
            <p:nvPr/>
          </p:nvSpPr>
          <p:spPr bwMode="auto">
            <a:xfrm>
              <a:off x="2736" y="3216"/>
              <a:ext cx="0"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24" name="Line 332"/>
            <p:cNvSpPr>
              <a:spLocks noChangeShapeType="1"/>
            </p:cNvSpPr>
            <p:nvPr/>
          </p:nvSpPr>
          <p:spPr bwMode="auto">
            <a:xfrm>
              <a:off x="2640" y="3408"/>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25" name="Oval 333"/>
            <p:cNvSpPr>
              <a:spLocks noChangeArrowheads="1"/>
            </p:cNvSpPr>
            <p:nvPr/>
          </p:nvSpPr>
          <p:spPr bwMode="auto">
            <a:xfrm>
              <a:off x="2709" y="3216"/>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26" name="Line 334"/>
            <p:cNvSpPr>
              <a:spLocks noChangeShapeType="1"/>
            </p:cNvSpPr>
            <p:nvPr/>
          </p:nvSpPr>
          <p:spPr bwMode="auto">
            <a:xfrm>
              <a:off x="3957" y="2239"/>
              <a:ext cx="0" cy="102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27" name="Line 335"/>
            <p:cNvSpPr>
              <a:spLocks noChangeShapeType="1"/>
            </p:cNvSpPr>
            <p:nvPr/>
          </p:nvSpPr>
          <p:spPr bwMode="auto">
            <a:xfrm>
              <a:off x="1414" y="2273"/>
              <a:ext cx="0" cy="1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28" name="Line 336"/>
            <p:cNvSpPr>
              <a:spLocks noChangeShapeType="1"/>
            </p:cNvSpPr>
            <p:nvPr/>
          </p:nvSpPr>
          <p:spPr bwMode="auto">
            <a:xfrm>
              <a:off x="2736" y="1680"/>
              <a:ext cx="0" cy="4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29" name="Line 337"/>
            <p:cNvSpPr>
              <a:spLocks noChangeShapeType="1"/>
            </p:cNvSpPr>
            <p:nvPr/>
          </p:nvSpPr>
          <p:spPr bwMode="auto">
            <a:xfrm>
              <a:off x="2736" y="2425"/>
              <a:ext cx="0" cy="8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730" name="Line 338"/>
            <p:cNvSpPr>
              <a:spLocks noChangeShapeType="1"/>
            </p:cNvSpPr>
            <p:nvPr/>
          </p:nvSpPr>
          <p:spPr bwMode="auto">
            <a:xfrm>
              <a:off x="2688" y="1872"/>
              <a:ext cx="0" cy="24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477"/>
                                        </p:tgtEl>
                                        <p:attrNameLst>
                                          <p:attrName>style.visibility</p:attrName>
                                        </p:attrNameLst>
                                      </p:cBhvr>
                                      <p:to>
                                        <p:strVal val="visible"/>
                                      </p:to>
                                    </p:set>
                                    <p:animEffect transition="in" filter="wipe(left)">
                                      <p:cBhvr>
                                        <p:cTn id="7" dur="500"/>
                                        <p:tgtEl>
                                          <p:spTgt spid="594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478"/>
                                        </p:tgtEl>
                                        <p:attrNameLst>
                                          <p:attrName>style.visibility</p:attrName>
                                        </p:attrNameLst>
                                      </p:cBhvr>
                                      <p:to>
                                        <p:strVal val="visible"/>
                                      </p:to>
                                    </p:set>
                                    <p:animEffect transition="in" filter="wipe(left)">
                                      <p:cBhvr>
                                        <p:cTn id="12" dur="500"/>
                                        <p:tgtEl>
                                          <p:spTgt spid="594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480"/>
                                        </p:tgtEl>
                                        <p:attrNameLst>
                                          <p:attrName>style.visibility</p:attrName>
                                        </p:attrNameLst>
                                      </p:cBhvr>
                                      <p:to>
                                        <p:strVal val="visible"/>
                                      </p:to>
                                    </p:set>
                                    <p:animEffect transition="in" filter="wipe(left)">
                                      <p:cBhvr>
                                        <p:cTn id="17" dur="500"/>
                                        <p:tgtEl>
                                          <p:spTgt spid="594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9484"/>
                                        </p:tgtEl>
                                        <p:attrNameLst>
                                          <p:attrName>style.visibility</p:attrName>
                                        </p:attrNameLst>
                                      </p:cBhvr>
                                      <p:to>
                                        <p:strVal val="visible"/>
                                      </p:to>
                                    </p:set>
                                    <p:animEffect transition="in" filter="wipe(up)">
                                      <p:cBhvr>
                                        <p:cTn id="22" dur="500"/>
                                        <p:tgtEl>
                                          <p:spTgt spid="594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485"/>
                                        </p:tgtEl>
                                        <p:attrNameLst>
                                          <p:attrName>style.visibility</p:attrName>
                                        </p:attrNameLst>
                                      </p:cBhvr>
                                      <p:to>
                                        <p:strVal val="visible"/>
                                      </p:to>
                                    </p:set>
                                    <p:animEffect transition="in" filter="wipe(left)">
                                      <p:cBhvr>
                                        <p:cTn id="27" dur="500"/>
                                        <p:tgtEl>
                                          <p:spTgt spid="5948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59486"/>
                                        </p:tgtEl>
                                        <p:attrNameLst>
                                          <p:attrName>style.visibility</p:attrName>
                                        </p:attrNameLst>
                                      </p:cBhvr>
                                      <p:to>
                                        <p:strVal val="visible"/>
                                      </p:to>
                                    </p:set>
                                    <p:animEffect transition="in" filter="wipe(right)">
                                      <p:cBhvr>
                                        <p:cTn id="32" dur="500"/>
                                        <p:tgtEl>
                                          <p:spTgt spid="59486"/>
                                        </p:tgtEl>
                                      </p:cBhvr>
                                    </p:animEffect>
                                  </p:childTnLst>
                                  <p:subTnLst>
                                    <p:set>
                                      <p:cBhvr override="childStyle">
                                        <p:cTn dur="1" fill="hold" display="0" masterRel="nextClick" afterEffect="1"/>
                                        <p:tgtEl>
                                          <p:spTgt spid="5948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77" grpId="0" bldLvl="0" animBg="1"/>
      <p:bldP spid="59478" grpId="0" bldLvl="0" animBg="1"/>
      <p:bldP spid="59480" grpId="0" bldLvl="0" animBg="1"/>
      <p:bldP spid="59485" grpId="0" bldLvl="0" animBg="1"/>
      <p:bldP spid="59486"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60419" name="Text Box 3"/>
          <p:cNvSpPr txBox="1">
            <a:spLocks noChangeArrowheads="1"/>
          </p:cNvSpPr>
          <p:nvPr/>
        </p:nvSpPr>
        <p:spPr bwMode="auto">
          <a:xfrm>
            <a:off x="4724400" y="5653088"/>
            <a:ext cx="4495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单电源供电时常用的画法</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60423" name="Text Box 7"/>
          <p:cNvSpPr txBox="1">
            <a:spLocks noChangeArrowheads="1"/>
          </p:cNvSpPr>
          <p:nvPr/>
        </p:nvSpPr>
        <p:spPr bwMode="auto">
          <a:xfrm>
            <a:off x="990600" y="4770438"/>
            <a:ext cx="3217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共发射极基本电路</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nvGrpSpPr>
          <p:cNvPr id="60736" name="Group 320"/>
          <p:cNvGrpSpPr/>
          <p:nvPr/>
        </p:nvGrpSpPr>
        <p:grpSpPr>
          <a:xfrm>
            <a:off x="4724400" y="2057400"/>
            <a:ext cx="4267200" cy="3541713"/>
            <a:chOff x="2880" y="1369"/>
            <a:chExt cx="2688" cy="2231"/>
          </a:xfrm>
        </p:grpSpPr>
        <p:sp>
          <p:nvSpPr>
            <p:cNvPr id="60654" name="Line 238"/>
            <p:cNvSpPr>
              <a:spLocks noChangeShapeType="1"/>
            </p:cNvSpPr>
            <p:nvPr/>
          </p:nvSpPr>
          <p:spPr bwMode="auto">
            <a:xfrm flipH="1" flipV="1">
              <a:off x="4568" y="1397"/>
              <a:ext cx="0" cy="17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55" name="Line 239"/>
            <p:cNvSpPr>
              <a:spLocks noChangeShapeType="1"/>
            </p:cNvSpPr>
            <p:nvPr/>
          </p:nvSpPr>
          <p:spPr bwMode="auto">
            <a:xfrm flipV="1">
              <a:off x="3936" y="1392"/>
              <a:ext cx="123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774" name="Rectangle 240"/>
            <p:cNvSpPr/>
            <p:nvPr/>
          </p:nvSpPr>
          <p:spPr>
            <a:xfrm>
              <a:off x="4937" y="1392"/>
              <a:ext cx="631"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32775" name="Text Box 241"/>
            <p:cNvSpPr txBox="1"/>
            <p:nvPr/>
          </p:nvSpPr>
          <p:spPr>
            <a:xfrm>
              <a:off x="2880" y="2570"/>
              <a:ext cx="368"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2776" name="Text Box 242"/>
            <p:cNvSpPr txBox="1"/>
            <p:nvPr/>
          </p:nvSpPr>
          <p:spPr>
            <a:xfrm>
              <a:off x="2922" y="3050"/>
              <a:ext cx="259" cy="288"/>
            </a:xfrm>
            <a:prstGeom prst="rect">
              <a:avLst/>
            </a:prstGeom>
            <a:noFill/>
            <a:ln w="38100">
              <a:noFill/>
            </a:ln>
          </p:spPr>
          <p:txBody>
            <a:bodyPr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660" name="Line 244"/>
            <p:cNvSpPr>
              <a:spLocks noChangeShapeType="1"/>
            </p:cNvSpPr>
            <p:nvPr/>
          </p:nvSpPr>
          <p:spPr bwMode="auto">
            <a:xfrm flipV="1">
              <a:off x="3936" y="2125"/>
              <a:ext cx="0" cy="3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65" name="Line 249"/>
            <p:cNvSpPr>
              <a:spLocks noChangeShapeType="1"/>
            </p:cNvSpPr>
            <p:nvPr/>
          </p:nvSpPr>
          <p:spPr bwMode="auto">
            <a:xfrm rot="5400000">
              <a:off x="3720" y="1608"/>
              <a:ext cx="432"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66" name="Line 250"/>
            <p:cNvSpPr>
              <a:spLocks noChangeShapeType="1"/>
            </p:cNvSpPr>
            <p:nvPr/>
          </p:nvSpPr>
          <p:spPr bwMode="auto">
            <a:xfrm>
              <a:off x="4424" y="2336"/>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67" name="Line 251"/>
            <p:cNvSpPr>
              <a:spLocks noChangeShapeType="1"/>
            </p:cNvSpPr>
            <p:nvPr/>
          </p:nvSpPr>
          <p:spPr bwMode="auto">
            <a:xfrm rot="-266974">
              <a:off x="4426" y="2499"/>
              <a:ext cx="137" cy="139"/>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68" name="Line 252"/>
            <p:cNvSpPr>
              <a:spLocks noChangeShapeType="1"/>
            </p:cNvSpPr>
            <p:nvPr/>
          </p:nvSpPr>
          <p:spPr bwMode="auto">
            <a:xfrm flipV="1">
              <a:off x="4424" y="230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69" name="Line 253"/>
            <p:cNvSpPr>
              <a:spLocks noChangeShapeType="1"/>
            </p:cNvSpPr>
            <p:nvPr/>
          </p:nvSpPr>
          <p:spPr bwMode="auto">
            <a:xfrm flipV="1">
              <a:off x="3237" y="3438"/>
              <a:ext cx="199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783" name="Text Box 254"/>
            <p:cNvSpPr txBox="1"/>
            <p:nvPr/>
          </p:nvSpPr>
          <p:spPr>
            <a:xfrm>
              <a:off x="3600" y="1728"/>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60671" name="Rectangle 255"/>
            <p:cNvSpPr>
              <a:spLocks noChangeArrowheads="1"/>
            </p:cNvSpPr>
            <p:nvPr/>
          </p:nvSpPr>
          <p:spPr bwMode="auto">
            <a:xfrm>
              <a:off x="4517" y="1568"/>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72" name="Rectangle 256"/>
            <p:cNvSpPr>
              <a:spLocks noChangeArrowheads="1"/>
            </p:cNvSpPr>
            <p:nvPr/>
          </p:nvSpPr>
          <p:spPr bwMode="auto">
            <a:xfrm>
              <a:off x="3888" y="1824"/>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2786" name="Group 258"/>
            <p:cNvGrpSpPr/>
            <p:nvPr/>
          </p:nvGrpSpPr>
          <p:grpSpPr>
            <a:xfrm>
              <a:off x="3575" y="2346"/>
              <a:ext cx="67" cy="245"/>
              <a:chOff x="3454" y="2018"/>
              <a:chExt cx="96" cy="328"/>
            </a:xfrm>
          </p:grpSpPr>
          <p:sp>
            <p:nvSpPr>
              <p:cNvPr id="60675" name="Line 259"/>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76" name="Line 260"/>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0677" name="Line 261"/>
            <p:cNvSpPr>
              <a:spLocks noChangeShapeType="1"/>
            </p:cNvSpPr>
            <p:nvPr/>
          </p:nvSpPr>
          <p:spPr bwMode="auto">
            <a:xfrm flipV="1">
              <a:off x="3237" y="2470"/>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2790" name="Group 262"/>
            <p:cNvGrpSpPr/>
            <p:nvPr/>
          </p:nvGrpSpPr>
          <p:grpSpPr>
            <a:xfrm flipH="1">
              <a:off x="4871" y="1921"/>
              <a:ext cx="67" cy="245"/>
              <a:chOff x="3454" y="2018"/>
              <a:chExt cx="96" cy="328"/>
            </a:xfrm>
          </p:grpSpPr>
          <p:sp>
            <p:nvSpPr>
              <p:cNvPr id="60679" name="Line 263"/>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80" name="Line 264"/>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0681" name="Line 265"/>
            <p:cNvSpPr>
              <a:spLocks noChangeShapeType="1"/>
            </p:cNvSpPr>
            <p:nvPr/>
          </p:nvSpPr>
          <p:spPr bwMode="auto">
            <a:xfrm flipH="1">
              <a:off x="4938" y="2028"/>
              <a:ext cx="29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82" name="Line 266"/>
            <p:cNvSpPr>
              <a:spLocks noChangeShapeType="1"/>
            </p:cNvSpPr>
            <p:nvPr/>
          </p:nvSpPr>
          <p:spPr bwMode="auto">
            <a:xfrm flipV="1">
              <a:off x="4560" y="2029"/>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795" name="Text Box 267"/>
            <p:cNvSpPr txBox="1"/>
            <p:nvPr/>
          </p:nvSpPr>
          <p:spPr>
            <a:xfrm>
              <a:off x="4203" y="1546"/>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2796" name="Text Box 268"/>
            <p:cNvSpPr txBox="1"/>
            <p:nvPr/>
          </p:nvSpPr>
          <p:spPr>
            <a:xfrm>
              <a:off x="3479" y="2046"/>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32797" name="Text Box 269"/>
            <p:cNvSpPr txBox="1"/>
            <p:nvPr/>
          </p:nvSpPr>
          <p:spPr>
            <a:xfrm>
              <a:off x="4787" y="1663"/>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32798" name="Text Box 270"/>
            <p:cNvSpPr txBox="1"/>
            <p:nvPr/>
          </p:nvSpPr>
          <p:spPr>
            <a:xfrm>
              <a:off x="4464" y="2333"/>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32799" name="Text Box 271"/>
            <p:cNvSpPr txBox="1"/>
            <p:nvPr/>
          </p:nvSpPr>
          <p:spPr>
            <a:xfrm>
              <a:off x="3630" y="2233"/>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2800" name="Text Box 272"/>
            <p:cNvSpPr txBox="1"/>
            <p:nvPr/>
          </p:nvSpPr>
          <p:spPr>
            <a:xfrm>
              <a:off x="4686" y="179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60689" name="Line 273"/>
            <p:cNvSpPr>
              <a:spLocks noChangeShapeType="1"/>
            </p:cNvSpPr>
            <p:nvPr/>
          </p:nvSpPr>
          <p:spPr bwMode="auto">
            <a:xfrm>
              <a:off x="3237" y="2892"/>
              <a:ext cx="0" cy="5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90" name="Rectangle 274"/>
            <p:cNvSpPr>
              <a:spLocks noChangeArrowheads="1"/>
            </p:cNvSpPr>
            <p:nvPr/>
          </p:nvSpPr>
          <p:spPr bwMode="auto">
            <a:xfrm>
              <a:off x="3193" y="2595"/>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91" name="Oval 275"/>
            <p:cNvSpPr>
              <a:spLocks noChangeArrowheads="1"/>
            </p:cNvSpPr>
            <p:nvPr/>
          </p:nvSpPr>
          <p:spPr bwMode="auto">
            <a:xfrm>
              <a:off x="3120" y="3116"/>
              <a:ext cx="227" cy="227"/>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04" name="Text Box 276"/>
            <p:cNvSpPr txBox="1"/>
            <p:nvPr/>
          </p:nvSpPr>
          <p:spPr>
            <a:xfrm>
              <a:off x="3070" y="2884"/>
              <a:ext cx="222"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05" name="Text Box 277"/>
            <p:cNvSpPr txBox="1"/>
            <p:nvPr/>
          </p:nvSpPr>
          <p:spPr>
            <a:xfrm>
              <a:off x="3070" y="3230"/>
              <a:ext cx="134"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60694" name="Line 278"/>
            <p:cNvSpPr>
              <a:spLocks noChangeShapeType="1"/>
            </p:cNvSpPr>
            <p:nvPr/>
          </p:nvSpPr>
          <p:spPr bwMode="auto">
            <a:xfrm>
              <a:off x="5225" y="2935"/>
              <a:ext cx="0" cy="5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695" name="Rectangle 279"/>
            <p:cNvSpPr>
              <a:spLocks noChangeArrowheads="1"/>
            </p:cNvSpPr>
            <p:nvPr/>
          </p:nvSpPr>
          <p:spPr bwMode="auto">
            <a:xfrm>
              <a:off x="5176" y="2631"/>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08" name="Text Box 280"/>
            <p:cNvSpPr txBox="1"/>
            <p:nvPr/>
          </p:nvSpPr>
          <p:spPr>
            <a:xfrm>
              <a:off x="4900" y="2584"/>
              <a:ext cx="32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60701" name="Line 285"/>
            <p:cNvSpPr>
              <a:spLocks noChangeShapeType="1"/>
            </p:cNvSpPr>
            <p:nvPr/>
          </p:nvSpPr>
          <p:spPr bwMode="auto">
            <a:xfrm flipV="1">
              <a:off x="3635" y="2474"/>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10" name="Rectangle 286"/>
            <p:cNvSpPr/>
            <p:nvPr/>
          </p:nvSpPr>
          <p:spPr>
            <a:xfrm>
              <a:off x="3264" y="2778"/>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2811" name="Rectangle 287"/>
            <p:cNvSpPr/>
            <p:nvPr/>
          </p:nvSpPr>
          <p:spPr>
            <a:xfrm>
              <a:off x="3376" y="2456"/>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12" name="Rectangle 288"/>
            <p:cNvSpPr/>
            <p:nvPr/>
          </p:nvSpPr>
          <p:spPr>
            <a:xfrm>
              <a:off x="3380" y="3165"/>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13" name="Rectangle 289"/>
            <p:cNvSpPr/>
            <p:nvPr/>
          </p:nvSpPr>
          <p:spPr>
            <a:xfrm>
              <a:off x="5257" y="2627"/>
              <a:ext cx="28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2814" name="Rectangle 290"/>
            <p:cNvSpPr/>
            <p:nvPr/>
          </p:nvSpPr>
          <p:spPr>
            <a:xfrm>
              <a:off x="5272" y="2400"/>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60707" name="Rectangle 291"/>
            <p:cNvSpPr>
              <a:spLocks noChangeArrowheads="1"/>
            </p:cNvSpPr>
            <p:nvPr/>
          </p:nvSpPr>
          <p:spPr bwMode="auto">
            <a:xfrm>
              <a:off x="5282" y="2907"/>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60708" name="Line 292"/>
            <p:cNvSpPr>
              <a:spLocks noChangeShapeType="1"/>
            </p:cNvSpPr>
            <p:nvPr/>
          </p:nvSpPr>
          <p:spPr bwMode="auto">
            <a:xfrm flipH="1">
              <a:off x="5225" y="2036"/>
              <a:ext cx="1" cy="5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17" name="Text Box 299"/>
            <p:cNvSpPr txBox="1"/>
            <p:nvPr/>
          </p:nvSpPr>
          <p:spPr>
            <a:xfrm>
              <a:off x="4201" y="2402"/>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32818" name="Text Box 300"/>
            <p:cNvSpPr txBox="1"/>
            <p:nvPr/>
          </p:nvSpPr>
          <p:spPr>
            <a:xfrm>
              <a:off x="4644" y="2053"/>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60717" name="Rectangle 301"/>
            <p:cNvSpPr>
              <a:spLocks noChangeArrowheads="1"/>
            </p:cNvSpPr>
            <p:nvPr/>
          </p:nvSpPr>
          <p:spPr bwMode="auto">
            <a:xfrm>
              <a:off x="4353" y="270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2820" name="Rectangle 302"/>
            <p:cNvSpPr/>
            <p:nvPr/>
          </p:nvSpPr>
          <p:spPr>
            <a:xfrm>
              <a:off x="4125" y="2544"/>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2821" name="Rectangle 303"/>
            <p:cNvSpPr/>
            <p:nvPr/>
          </p:nvSpPr>
          <p:spPr>
            <a:xfrm>
              <a:off x="4560" y="233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720" name="Rectangle 304"/>
            <p:cNvSpPr>
              <a:spLocks noChangeArrowheads="1"/>
            </p:cNvSpPr>
            <p:nvPr/>
          </p:nvSpPr>
          <p:spPr bwMode="auto">
            <a:xfrm>
              <a:off x="4639" y="2614"/>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2823" name="Rectangle 305"/>
            <p:cNvSpPr/>
            <p:nvPr/>
          </p:nvSpPr>
          <p:spPr>
            <a:xfrm>
              <a:off x="4146" y="198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722" name="Line 306"/>
            <p:cNvSpPr>
              <a:spLocks noChangeShapeType="1"/>
            </p:cNvSpPr>
            <p:nvPr/>
          </p:nvSpPr>
          <p:spPr bwMode="auto">
            <a:xfrm>
              <a:off x="3993" y="2415"/>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25" name="Rectangle 307"/>
            <p:cNvSpPr/>
            <p:nvPr/>
          </p:nvSpPr>
          <p:spPr>
            <a:xfrm>
              <a:off x="3887" y="212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724" name="Line 308"/>
            <p:cNvSpPr>
              <a:spLocks noChangeShapeType="1"/>
            </p:cNvSpPr>
            <p:nvPr/>
          </p:nvSpPr>
          <p:spPr bwMode="auto">
            <a:xfrm>
              <a:off x="4623" y="2969"/>
              <a:ext cx="0"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27" name="Rectangle 309"/>
            <p:cNvSpPr/>
            <p:nvPr/>
          </p:nvSpPr>
          <p:spPr>
            <a:xfrm>
              <a:off x="4490" y="2923"/>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726" name="Line 310"/>
            <p:cNvSpPr>
              <a:spLocks noChangeShapeType="1"/>
            </p:cNvSpPr>
            <p:nvPr/>
          </p:nvSpPr>
          <p:spPr bwMode="auto">
            <a:xfrm>
              <a:off x="4560" y="3408"/>
              <a:ext cx="0"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727" name="Line 311"/>
            <p:cNvSpPr>
              <a:spLocks noChangeShapeType="1"/>
            </p:cNvSpPr>
            <p:nvPr/>
          </p:nvSpPr>
          <p:spPr bwMode="auto">
            <a:xfrm>
              <a:off x="4464" y="3600"/>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728" name="Oval 312"/>
            <p:cNvSpPr>
              <a:spLocks noChangeArrowheads="1"/>
            </p:cNvSpPr>
            <p:nvPr/>
          </p:nvSpPr>
          <p:spPr bwMode="auto">
            <a:xfrm>
              <a:off x="4533" y="3408"/>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730" name="Line 314"/>
            <p:cNvSpPr>
              <a:spLocks noChangeShapeType="1"/>
            </p:cNvSpPr>
            <p:nvPr/>
          </p:nvSpPr>
          <p:spPr bwMode="auto">
            <a:xfrm>
              <a:off x="3238" y="2465"/>
              <a:ext cx="0" cy="1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731" name="Line 315"/>
            <p:cNvSpPr>
              <a:spLocks noChangeShapeType="1"/>
            </p:cNvSpPr>
            <p:nvPr/>
          </p:nvSpPr>
          <p:spPr bwMode="auto">
            <a:xfrm>
              <a:off x="4560" y="1872"/>
              <a:ext cx="0" cy="4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732" name="Line 316"/>
            <p:cNvSpPr>
              <a:spLocks noChangeShapeType="1"/>
            </p:cNvSpPr>
            <p:nvPr/>
          </p:nvSpPr>
          <p:spPr bwMode="auto">
            <a:xfrm>
              <a:off x="4560" y="2617"/>
              <a:ext cx="0" cy="8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733" name="Line 317"/>
            <p:cNvSpPr>
              <a:spLocks noChangeShapeType="1"/>
            </p:cNvSpPr>
            <p:nvPr/>
          </p:nvSpPr>
          <p:spPr bwMode="auto">
            <a:xfrm>
              <a:off x="4512" y="2064"/>
              <a:ext cx="0" cy="24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734" name="Oval 318"/>
            <p:cNvSpPr>
              <a:spLocks noChangeArrowheads="1"/>
            </p:cNvSpPr>
            <p:nvPr/>
          </p:nvSpPr>
          <p:spPr bwMode="auto">
            <a:xfrm>
              <a:off x="5161" y="1369"/>
              <a:ext cx="48" cy="4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32836" name="Group 402"/>
          <p:cNvGrpSpPr/>
          <p:nvPr/>
        </p:nvGrpSpPr>
        <p:grpSpPr>
          <a:xfrm>
            <a:off x="76200" y="1225550"/>
            <a:ext cx="5407025" cy="3498850"/>
            <a:chOff x="1056" y="1204"/>
            <a:chExt cx="3406" cy="2204"/>
          </a:xfrm>
        </p:grpSpPr>
        <p:sp>
          <p:nvSpPr>
            <p:cNvPr id="60819" name="Line 403"/>
            <p:cNvSpPr>
              <a:spLocks noChangeShapeType="1"/>
            </p:cNvSpPr>
            <p:nvPr/>
          </p:nvSpPr>
          <p:spPr bwMode="auto">
            <a:xfrm flipH="1" flipV="1">
              <a:off x="2744" y="1205"/>
              <a:ext cx="0" cy="17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20" name="Line 404"/>
            <p:cNvSpPr>
              <a:spLocks noChangeShapeType="1"/>
            </p:cNvSpPr>
            <p:nvPr/>
          </p:nvSpPr>
          <p:spPr bwMode="auto">
            <a:xfrm flipV="1">
              <a:off x="2743" y="1214"/>
              <a:ext cx="1216"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39" name="Rectangle 405"/>
            <p:cNvSpPr/>
            <p:nvPr/>
          </p:nvSpPr>
          <p:spPr>
            <a:xfrm>
              <a:off x="4036" y="1968"/>
              <a:ext cx="42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V</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32840" name="Text Box 406"/>
            <p:cNvSpPr txBox="1"/>
            <p:nvPr/>
          </p:nvSpPr>
          <p:spPr>
            <a:xfrm>
              <a:off x="1056" y="2378"/>
              <a:ext cx="368"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2841" name="Text Box 407"/>
            <p:cNvSpPr txBox="1"/>
            <p:nvPr/>
          </p:nvSpPr>
          <p:spPr>
            <a:xfrm>
              <a:off x="1098" y="2858"/>
              <a:ext cx="259" cy="288"/>
            </a:xfrm>
            <a:prstGeom prst="rect">
              <a:avLst/>
            </a:prstGeom>
            <a:noFill/>
            <a:ln w="38100">
              <a:noFill/>
            </a:ln>
          </p:spPr>
          <p:txBody>
            <a:bodyPr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824" name="Line 408"/>
            <p:cNvSpPr>
              <a:spLocks noChangeShapeType="1"/>
            </p:cNvSpPr>
            <p:nvPr/>
          </p:nvSpPr>
          <p:spPr bwMode="auto">
            <a:xfrm>
              <a:off x="3961" y="1204"/>
              <a:ext cx="0" cy="7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25" name="Line 409"/>
            <p:cNvSpPr>
              <a:spLocks noChangeShapeType="1"/>
            </p:cNvSpPr>
            <p:nvPr/>
          </p:nvSpPr>
          <p:spPr bwMode="auto">
            <a:xfrm flipV="1">
              <a:off x="2102" y="2274"/>
              <a:ext cx="0" cy="17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2844" name="Group 410"/>
            <p:cNvGrpSpPr/>
            <p:nvPr/>
          </p:nvGrpSpPr>
          <p:grpSpPr>
            <a:xfrm>
              <a:off x="1954" y="2934"/>
              <a:ext cx="280" cy="85"/>
              <a:chOff x="1854" y="3200"/>
              <a:chExt cx="474" cy="160"/>
            </a:xfrm>
          </p:grpSpPr>
          <p:sp>
            <p:nvSpPr>
              <p:cNvPr id="60827" name="Line 411"/>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28" name="Line 412"/>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0829" name="Line 413"/>
            <p:cNvSpPr>
              <a:spLocks noChangeShapeType="1"/>
            </p:cNvSpPr>
            <p:nvPr/>
          </p:nvSpPr>
          <p:spPr bwMode="auto">
            <a:xfrm rot="5400000">
              <a:off x="2014" y="2842"/>
              <a:ext cx="172"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30" name="Line 414"/>
            <p:cNvSpPr>
              <a:spLocks noChangeShapeType="1"/>
            </p:cNvSpPr>
            <p:nvPr/>
          </p:nvSpPr>
          <p:spPr bwMode="auto">
            <a:xfrm rot="5400000">
              <a:off x="1985" y="3136"/>
              <a:ext cx="21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31" name="Line 415"/>
            <p:cNvSpPr>
              <a:spLocks noChangeShapeType="1"/>
            </p:cNvSpPr>
            <p:nvPr/>
          </p:nvSpPr>
          <p:spPr bwMode="auto">
            <a:xfrm>
              <a:off x="2600" y="2144"/>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32" name="Line 416"/>
            <p:cNvSpPr>
              <a:spLocks noChangeShapeType="1"/>
            </p:cNvSpPr>
            <p:nvPr/>
          </p:nvSpPr>
          <p:spPr bwMode="auto">
            <a:xfrm rot="-266974">
              <a:off x="2602" y="2307"/>
              <a:ext cx="137" cy="139"/>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33" name="Line 417"/>
            <p:cNvSpPr>
              <a:spLocks noChangeShapeType="1"/>
            </p:cNvSpPr>
            <p:nvPr/>
          </p:nvSpPr>
          <p:spPr bwMode="auto">
            <a:xfrm flipV="1">
              <a:off x="2600" y="2112"/>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34" name="Line 418"/>
            <p:cNvSpPr>
              <a:spLocks noChangeShapeType="1"/>
            </p:cNvSpPr>
            <p:nvPr/>
          </p:nvSpPr>
          <p:spPr bwMode="auto">
            <a:xfrm flipV="1">
              <a:off x="1413" y="3246"/>
              <a:ext cx="253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53" name="Text Box 419"/>
            <p:cNvSpPr txBox="1"/>
            <p:nvPr/>
          </p:nvSpPr>
          <p:spPr>
            <a:xfrm>
              <a:off x="2126" y="2450"/>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60836" name="Rectangle 420"/>
            <p:cNvSpPr>
              <a:spLocks noChangeArrowheads="1"/>
            </p:cNvSpPr>
            <p:nvPr/>
          </p:nvSpPr>
          <p:spPr bwMode="auto">
            <a:xfrm>
              <a:off x="2693" y="1376"/>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37" name="Rectangle 421"/>
            <p:cNvSpPr>
              <a:spLocks noChangeArrowheads="1"/>
            </p:cNvSpPr>
            <p:nvPr/>
          </p:nvSpPr>
          <p:spPr bwMode="auto">
            <a:xfrm>
              <a:off x="2063" y="2457"/>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56" name="Text Box 422"/>
            <p:cNvSpPr txBox="1"/>
            <p:nvPr/>
          </p:nvSpPr>
          <p:spPr>
            <a:xfrm>
              <a:off x="2199" y="2830"/>
              <a:ext cx="412" cy="288"/>
            </a:xfrm>
            <a:prstGeom prst="rect">
              <a:avLst/>
            </a:prstGeom>
            <a:noFill/>
            <a:ln w="38100">
              <a:noFill/>
            </a:ln>
          </p:spPr>
          <p:txBody>
            <a:bodyPr wrap="none" lIns="90000" tIns="46800" rIns="90000" bIns="46800" anchor="ctr">
              <a:spAutoFit/>
            </a:bodyPr>
            <a:p>
              <a:pPr lvl="0" indent="0">
                <a:spcBef>
                  <a:spcPct val="50000"/>
                </a:spcBef>
              </a:pPr>
              <a:r>
                <a:rPr lang="en-US" altLang="zh-CN" b="1" i="1" dirty="0">
                  <a:solidFill>
                    <a:schemeClr val="tx2"/>
                  </a:solidFill>
                  <a:latin typeface="Times New Roman" panose="02020603050405020304" pitchFamily="18" charset="0"/>
                  <a:ea typeface="楷体_GB2312" pitchFamily="49" charset="-122"/>
                </a:rPr>
                <a:t>V</a:t>
              </a:r>
              <a:r>
                <a:rPr lang="en-US" altLang="zh-CN" b="1" baseline="-25000" dirty="0">
                  <a:solidFill>
                    <a:schemeClr val="tx2"/>
                  </a:solidFill>
                  <a:latin typeface="Times New Roman" panose="02020603050405020304" pitchFamily="18" charset="0"/>
                  <a:ea typeface="楷体_GB2312" pitchFamily="49" charset="-122"/>
                </a:rPr>
                <a:t>BB</a:t>
              </a:r>
              <a:endParaRPr lang="en-US" altLang="zh-CN" b="1" baseline="-25000" dirty="0">
                <a:solidFill>
                  <a:schemeClr val="tx2"/>
                </a:solidFill>
                <a:latin typeface="Times New Roman" panose="02020603050405020304" pitchFamily="18" charset="0"/>
                <a:ea typeface="楷体_GB2312" pitchFamily="49" charset="-122"/>
              </a:endParaRPr>
            </a:p>
          </p:txBody>
        </p:sp>
        <p:grpSp>
          <p:nvGrpSpPr>
            <p:cNvPr id="32857" name="Group 423"/>
            <p:cNvGrpSpPr/>
            <p:nvPr/>
          </p:nvGrpSpPr>
          <p:grpSpPr>
            <a:xfrm>
              <a:off x="1751" y="2154"/>
              <a:ext cx="67" cy="245"/>
              <a:chOff x="3454" y="2018"/>
              <a:chExt cx="96" cy="328"/>
            </a:xfrm>
          </p:grpSpPr>
          <p:sp>
            <p:nvSpPr>
              <p:cNvPr id="60840" name="Line 424"/>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41" name="Line 425"/>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0842" name="Line 426"/>
            <p:cNvSpPr>
              <a:spLocks noChangeShapeType="1"/>
            </p:cNvSpPr>
            <p:nvPr/>
          </p:nvSpPr>
          <p:spPr bwMode="auto">
            <a:xfrm flipV="1">
              <a:off x="1413" y="2278"/>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2861" name="Group 427"/>
            <p:cNvGrpSpPr/>
            <p:nvPr/>
          </p:nvGrpSpPr>
          <p:grpSpPr>
            <a:xfrm flipH="1">
              <a:off x="3047" y="1729"/>
              <a:ext cx="67" cy="245"/>
              <a:chOff x="3454" y="2018"/>
              <a:chExt cx="96" cy="328"/>
            </a:xfrm>
          </p:grpSpPr>
          <p:sp>
            <p:nvSpPr>
              <p:cNvPr id="60844" name="Line 428"/>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45" name="Line 429"/>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0846" name="Line 430"/>
            <p:cNvSpPr>
              <a:spLocks noChangeShapeType="1"/>
            </p:cNvSpPr>
            <p:nvPr/>
          </p:nvSpPr>
          <p:spPr bwMode="auto">
            <a:xfrm flipH="1">
              <a:off x="3114" y="1836"/>
              <a:ext cx="29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47" name="Line 431"/>
            <p:cNvSpPr>
              <a:spLocks noChangeShapeType="1"/>
            </p:cNvSpPr>
            <p:nvPr/>
          </p:nvSpPr>
          <p:spPr bwMode="auto">
            <a:xfrm flipV="1">
              <a:off x="2736" y="1837"/>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66" name="Text Box 432"/>
            <p:cNvSpPr txBox="1"/>
            <p:nvPr/>
          </p:nvSpPr>
          <p:spPr>
            <a:xfrm>
              <a:off x="2379" y="1354"/>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2867" name="Text Box 433"/>
            <p:cNvSpPr txBox="1"/>
            <p:nvPr/>
          </p:nvSpPr>
          <p:spPr>
            <a:xfrm>
              <a:off x="1655" y="1854"/>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32868" name="Text Box 434"/>
            <p:cNvSpPr txBox="1"/>
            <p:nvPr/>
          </p:nvSpPr>
          <p:spPr>
            <a:xfrm>
              <a:off x="2963" y="1471"/>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32869" name="Text Box 435"/>
            <p:cNvSpPr txBox="1"/>
            <p:nvPr/>
          </p:nvSpPr>
          <p:spPr>
            <a:xfrm>
              <a:off x="2640" y="2141"/>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32870" name="Text Box 436"/>
            <p:cNvSpPr txBox="1"/>
            <p:nvPr/>
          </p:nvSpPr>
          <p:spPr>
            <a:xfrm>
              <a:off x="1806" y="204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2871" name="Text Box 437"/>
            <p:cNvSpPr txBox="1"/>
            <p:nvPr/>
          </p:nvSpPr>
          <p:spPr>
            <a:xfrm>
              <a:off x="2862" y="1599"/>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60854" name="Line 438"/>
            <p:cNvSpPr>
              <a:spLocks noChangeShapeType="1"/>
            </p:cNvSpPr>
            <p:nvPr/>
          </p:nvSpPr>
          <p:spPr bwMode="auto">
            <a:xfrm>
              <a:off x="1413" y="2700"/>
              <a:ext cx="0" cy="5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55" name="Rectangle 439"/>
            <p:cNvSpPr>
              <a:spLocks noChangeArrowheads="1"/>
            </p:cNvSpPr>
            <p:nvPr/>
          </p:nvSpPr>
          <p:spPr bwMode="auto">
            <a:xfrm>
              <a:off x="1369" y="2403"/>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56" name="Oval 440"/>
            <p:cNvSpPr>
              <a:spLocks noChangeArrowheads="1"/>
            </p:cNvSpPr>
            <p:nvPr/>
          </p:nvSpPr>
          <p:spPr bwMode="auto">
            <a:xfrm>
              <a:off x="1296" y="2924"/>
              <a:ext cx="227" cy="227"/>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75" name="Text Box 441"/>
            <p:cNvSpPr txBox="1"/>
            <p:nvPr/>
          </p:nvSpPr>
          <p:spPr>
            <a:xfrm>
              <a:off x="1246" y="2692"/>
              <a:ext cx="222"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76" name="Text Box 442"/>
            <p:cNvSpPr txBox="1"/>
            <p:nvPr/>
          </p:nvSpPr>
          <p:spPr>
            <a:xfrm>
              <a:off x="1246" y="3038"/>
              <a:ext cx="134"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60859" name="Line 443"/>
            <p:cNvSpPr>
              <a:spLocks noChangeShapeType="1"/>
            </p:cNvSpPr>
            <p:nvPr/>
          </p:nvSpPr>
          <p:spPr bwMode="auto">
            <a:xfrm>
              <a:off x="3401" y="2743"/>
              <a:ext cx="0" cy="5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60" name="Rectangle 444"/>
            <p:cNvSpPr>
              <a:spLocks noChangeArrowheads="1"/>
            </p:cNvSpPr>
            <p:nvPr/>
          </p:nvSpPr>
          <p:spPr bwMode="auto">
            <a:xfrm>
              <a:off x="3352" y="2439"/>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79" name="Text Box 445"/>
            <p:cNvSpPr txBox="1"/>
            <p:nvPr/>
          </p:nvSpPr>
          <p:spPr>
            <a:xfrm>
              <a:off x="3076" y="2392"/>
              <a:ext cx="32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2880" name="Rectangle 446"/>
            <p:cNvSpPr/>
            <p:nvPr/>
          </p:nvSpPr>
          <p:spPr>
            <a:xfrm>
              <a:off x="3952" y="1719"/>
              <a:ext cx="18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81" name="Rectangle 447"/>
            <p:cNvSpPr/>
            <p:nvPr/>
          </p:nvSpPr>
          <p:spPr>
            <a:xfrm flipH="1">
              <a:off x="1836" y="2688"/>
              <a:ext cx="344"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82" name="Rectangle 448"/>
            <p:cNvSpPr/>
            <p:nvPr/>
          </p:nvSpPr>
          <p:spPr>
            <a:xfrm>
              <a:off x="1913" y="2933"/>
              <a:ext cx="171"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83" name="Rectangle 449"/>
            <p:cNvSpPr/>
            <p:nvPr/>
          </p:nvSpPr>
          <p:spPr>
            <a:xfrm>
              <a:off x="3935" y="2174"/>
              <a:ext cx="238" cy="288"/>
            </a:xfrm>
            <a:prstGeom prst="rect">
              <a:avLst/>
            </a:prstGeom>
            <a:noFill/>
            <a:ln w="38100">
              <a:noFill/>
            </a:ln>
          </p:spPr>
          <p:txBody>
            <a:bodyPr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60866" name="Line 450"/>
            <p:cNvSpPr>
              <a:spLocks noChangeShapeType="1"/>
            </p:cNvSpPr>
            <p:nvPr/>
          </p:nvSpPr>
          <p:spPr bwMode="auto">
            <a:xfrm flipV="1">
              <a:off x="1811" y="2282"/>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885" name="Rectangle 451"/>
            <p:cNvSpPr/>
            <p:nvPr/>
          </p:nvSpPr>
          <p:spPr>
            <a:xfrm>
              <a:off x="1440" y="2586"/>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2886" name="Rectangle 452"/>
            <p:cNvSpPr/>
            <p:nvPr/>
          </p:nvSpPr>
          <p:spPr>
            <a:xfrm>
              <a:off x="1552" y="2264"/>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87" name="Rectangle 453"/>
            <p:cNvSpPr/>
            <p:nvPr/>
          </p:nvSpPr>
          <p:spPr>
            <a:xfrm>
              <a:off x="1556" y="2973"/>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2888" name="Rectangle 454"/>
            <p:cNvSpPr/>
            <p:nvPr/>
          </p:nvSpPr>
          <p:spPr>
            <a:xfrm>
              <a:off x="3433" y="2435"/>
              <a:ext cx="28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2889" name="Rectangle 455"/>
            <p:cNvSpPr/>
            <p:nvPr/>
          </p:nvSpPr>
          <p:spPr>
            <a:xfrm>
              <a:off x="3448" y="2208"/>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60872" name="Rectangle 456"/>
            <p:cNvSpPr>
              <a:spLocks noChangeArrowheads="1"/>
            </p:cNvSpPr>
            <p:nvPr/>
          </p:nvSpPr>
          <p:spPr bwMode="auto">
            <a:xfrm>
              <a:off x="3458" y="2715"/>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60873" name="Line 457"/>
            <p:cNvSpPr>
              <a:spLocks noChangeShapeType="1"/>
            </p:cNvSpPr>
            <p:nvPr/>
          </p:nvSpPr>
          <p:spPr bwMode="auto">
            <a:xfrm flipH="1">
              <a:off x="3401" y="1844"/>
              <a:ext cx="1" cy="5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2892" name="Group 458"/>
            <p:cNvGrpSpPr/>
            <p:nvPr/>
          </p:nvGrpSpPr>
          <p:grpSpPr>
            <a:xfrm>
              <a:off x="3816" y="1986"/>
              <a:ext cx="280" cy="85"/>
              <a:chOff x="1854" y="3200"/>
              <a:chExt cx="474" cy="160"/>
            </a:xfrm>
          </p:grpSpPr>
          <p:sp>
            <p:nvSpPr>
              <p:cNvPr id="60875" name="Line 459"/>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76" name="Line 460"/>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32895" name="Group 461"/>
            <p:cNvGrpSpPr/>
            <p:nvPr/>
          </p:nvGrpSpPr>
          <p:grpSpPr>
            <a:xfrm>
              <a:off x="3807" y="2155"/>
              <a:ext cx="280" cy="85"/>
              <a:chOff x="1854" y="3200"/>
              <a:chExt cx="474" cy="160"/>
            </a:xfrm>
          </p:grpSpPr>
          <p:sp>
            <p:nvSpPr>
              <p:cNvPr id="60878" name="Line 462"/>
              <p:cNvSpPr>
                <a:spLocks noChangeShapeType="1"/>
              </p:cNvSpPr>
              <p:nvPr/>
            </p:nvSpPr>
            <p:spPr bwMode="auto">
              <a:xfrm rot="5400000">
                <a:off x="2091" y="2963"/>
                <a:ext cx="0" cy="474"/>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79" name="Line 463"/>
              <p:cNvSpPr>
                <a:spLocks noChangeShapeType="1"/>
              </p:cNvSpPr>
              <p:nvPr/>
            </p:nvSpPr>
            <p:spPr bwMode="auto">
              <a:xfrm rot="5400000">
                <a:off x="2094" y="3234"/>
                <a:ext cx="0" cy="25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32898" name="Text Box 464"/>
            <p:cNvSpPr txBox="1"/>
            <p:nvPr/>
          </p:nvSpPr>
          <p:spPr>
            <a:xfrm>
              <a:off x="2377" y="2210"/>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32899" name="Text Box 465"/>
            <p:cNvSpPr txBox="1"/>
            <p:nvPr/>
          </p:nvSpPr>
          <p:spPr>
            <a:xfrm>
              <a:off x="2820" y="1861"/>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60882" name="Rectangle 466"/>
            <p:cNvSpPr>
              <a:spLocks noChangeArrowheads="1"/>
            </p:cNvSpPr>
            <p:nvPr/>
          </p:nvSpPr>
          <p:spPr bwMode="auto">
            <a:xfrm>
              <a:off x="2529" y="251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2901" name="Rectangle 467"/>
            <p:cNvSpPr/>
            <p:nvPr/>
          </p:nvSpPr>
          <p:spPr>
            <a:xfrm>
              <a:off x="2301" y="235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2902" name="Rectangle 468"/>
            <p:cNvSpPr/>
            <p:nvPr/>
          </p:nvSpPr>
          <p:spPr>
            <a:xfrm>
              <a:off x="2736" y="213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885" name="Rectangle 469"/>
            <p:cNvSpPr>
              <a:spLocks noChangeArrowheads="1"/>
            </p:cNvSpPr>
            <p:nvPr/>
          </p:nvSpPr>
          <p:spPr bwMode="auto">
            <a:xfrm>
              <a:off x="2815" y="2422"/>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2904" name="Rectangle 470"/>
            <p:cNvSpPr/>
            <p:nvPr/>
          </p:nvSpPr>
          <p:spPr>
            <a:xfrm>
              <a:off x="2322" y="179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887" name="Line 471"/>
            <p:cNvSpPr>
              <a:spLocks noChangeShapeType="1"/>
            </p:cNvSpPr>
            <p:nvPr/>
          </p:nvSpPr>
          <p:spPr bwMode="auto">
            <a:xfrm>
              <a:off x="2169" y="2223"/>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906" name="Rectangle 472"/>
            <p:cNvSpPr/>
            <p:nvPr/>
          </p:nvSpPr>
          <p:spPr>
            <a:xfrm>
              <a:off x="2063" y="192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889" name="Line 473"/>
            <p:cNvSpPr>
              <a:spLocks noChangeShapeType="1"/>
            </p:cNvSpPr>
            <p:nvPr/>
          </p:nvSpPr>
          <p:spPr bwMode="auto">
            <a:xfrm>
              <a:off x="2799" y="2777"/>
              <a:ext cx="0"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908" name="Rectangle 474"/>
            <p:cNvSpPr/>
            <p:nvPr/>
          </p:nvSpPr>
          <p:spPr>
            <a:xfrm>
              <a:off x="2666" y="2731"/>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0891" name="Line 475"/>
            <p:cNvSpPr>
              <a:spLocks noChangeShapeType="1"/>
            </p:cNvSpPr>
            <p:nvPr/>
          </p:nvSpPr>
          <p:spPr bwMode="auto">
            <a:xfrm>
              <a:off x="2736" y="3216"/>
              <a:ext cx="0"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92" name="Line 476"/>
            <p:cNvSpPr>
              <a:spLocks noChangeShapeType="1"/>
            </p:cNvSpPr>
            <p:nvPr/>
          </p:nvSpPr>
          <p:spPr bwMode="auto">
            <a:xfrm>
              <a:off x="2640" y="3408"/>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93" name="Oval 477"/>
            <p:cNvSpPr>
              <a:spLocks noChangeArrowheads="1"/>
            </p:cNvSpPr>
            <p:nvPr/>
          </p:nvSpPr>
          <p:spPr bwMode="auto">
            <a:xfrm>
              <a:off x="2709" y="3216"/>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94" name="Line 478"/>
            <p:cNvSpPr>
              <a:spLocks noChangeShapeType="1"/>
            </p:cNvSpPr>
            <p:nvPr/>
          </p:nvSpPr>
          <p:spPr bwMode="auto">
            <a:xfrm>
              <a:off x="3957" y="2239"/>
              <a:ext cx="0" cy="102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95" name="Line 479"/>
            <p:cNvSpPr>
              <a:spLocks noChangeShapeType="1"/>
            </p:cNvSpPr>
            <p:nvPr/>
          </p:nvSpPr>
          <p:spPr bwMode="auto">
            <a:xfrm>
              <a:off x="1414" y="2273"/>
              <a:ext cx="0" cy="1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96" name="Line 480"/>
            <p:cNvSpPr>
              <a:spLocks noChangeShapeType="1"/>
            </p:cNvSpPr>
            <p:nvPr/>
          </p:nvSpPr>
          <p:spPr bwMode="auto">
            <a:xfrm>
              <a:off x="2736" y="1680"/>
              <a:ext cx="0" cy="4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97" name="Line 481"/>
            <p:cNvSpPr>
              <a:spLocks noChangeShapeType="1"/>
            </p:cNvSpPr>
            <p:nvPr/>
          </p:nvSpPr>
          <p:spPr bwMode="auto">
            <a:xfrm>
              <a:off x="2736" y="2425"/>
              <a:ext cx="0" cy="8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898" name="Line 482"/>
            <p:cNvSpPr>
              <a:spLocks noChangeShapeType="1"/>
            </p:cNvSpPr>
            <p:nvPr/>
          </p:nvSpPr>
          <p:spPr bwMode="auto">
            <a:xfrm>
              <a:off x="2688" y="1872"/>
              <a:ext cx="0" cy="24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0736"/>
                                        </p:tgtEl>
                                        <p:attrNameLst>
                                          <p:attrName>style.visibility</p:attrName>
                                        </p:attrNameLst>
                                      </p:cBhvr>
                                      <p:to>
                                        <p:strVal val="visible"/>
                                      </p:to>
                                    </p:set>
                                    <p:animEffect transition="in" filter="box(out)">
                                      <p:cBhvr>
                                        <p:cTn id="7" dur="500"/>
                                        <p:tgtEl>
                                          <p:spTgt spid="607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19"/>
                                        </p:tgtEl>
                                        <p:attrNameLst>
                                          <p:attrName>style.visibility</p:attrName>
                                        </p:attrNameLst>
                                      </p:cBhvr>
                                      <p:to>
                                        <p:strVal val="visible"/>
                                      </p:to>
                                    </p:set>
                                    <p:animEffect transition="in" filter="wipe(left)">
                                      <p:cBhvr>
                                        <p:cTn id="12" dur="500"/>
                                        <p:tgtEl>
                                          <p:spTgt spid="6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61442" name="Rectangle 2"/>
          <p:cNvSpPr>
            <a:spLocks noGrp="1" noChangeArrowheads="1"/>
          </p:cNvSpPr>
          <p:nvPr>
            <p:ph type="title"/>
          </p:nvPr>
        </p:nvSpPr>
        <p:spPr bwMode="auto">
          <a:xfrm>
            <a:off x="158750" y="150813"/>
            <a:ext cx="6983413" cy="6318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mj-lt"/>
                <a:ea typeface="+mj-ea"/>
                <a:cs typeface="+mj-cs"/>
              </a:rPr>
              <a:t>（</a:t>
            </a:r>
            <a:r>
              <a:rPr kumimoji="1" lang="en-US" altLang="zh-CN"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mj-lt"/>
                <a:ea typeface="+mj-ea"/>
                <a:cs typeface="+mj-cs"/>
              </a:rPr>
              <a:t>3</a:t>
            </a:r>
            <a:r>
              <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mj-lt"/>
                <a:ea typeface="+mj-ea"/>
                <a:cs typeface="+mj-cs"/>
              </a:rPr>
              <a:t>）共射放大电路的电压放大作用</a:t>
            </a:r>
            <a:endPar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mj-lt"/>
              <a:ea typeface="+mj-ea"/>
              <a:cs typeface="+mj-cs"/>
            </a:endParaRPr>
          </a:p>
        </p:txBody>
      </p:sp>
      <p:grpSp>
        <p:nvGrpSpPr>
          <p:cNvPr id="61461" name="Group 21"/>
          <p:cNvGrpSpPr/>
          <p:nvPr/>
        </p:nvGrpSpPr>
        <p:grpSpPr>
          <a:xfrm>
            <a:off x="2514600" y="5418138"/>
            <a:ext cx="674688" cy="677862"/>
            <a:chOff x="1632" y="3456"/>
            <a:chExt cx="425" cy="427"/>
          </a:xfrm>
        </p:grpSpPr>
        <p:sp>
          <p:nvSpPr>
            <p:cNvPr id="61462" name="Line 22"/>
            <p:cNvSpPr>
              <a:spLocks noChangeShapeType="1"/>
            </p:cNvSpPr>
            <p:nvPr/>
          </p:nvSpPr>
          <p:spPr bwMode="auto">
            <a:xfrm>
              <a:off x="1680" y="3456"/>
              <a:ext cx="0" cy="427"/>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796" name="Rectangle 23"/>
            <p:cNvSpPr/>
            <p:nvPr/>
          </p:nvSpPr>
          <p:spPr>
            <a:xfrm>
              <a:off x="1632" y="3504"/>
              <a:ext cx="425" cy="288"/>
            </a:xfrm>
            <a:prstGeom prst="rect">
              <a:avLst/>
            </a:prstGeom>
            <a:noFill/>
            <a:ln w="9525">
              <a:noFill/>
            </a:ln>
          </p:spPr>
          <p:txBody>
            <a:bodyPr wrap="none" anchor="t">
              <a:spAutoFit/>
            </a:bodyPr>
            <a:p>
              <a:pPr lvl="0" indent="0"/>
              <a:r>
                <a:rPr lang="en-US" altLang="zh-CN" b="1" i="1" dirty="0">
                  <a:solidFill>
                    <a:srgbClr val="FF0000"/>
                  </a:solidFill>
                  <a:latin typeface="Times New Roman" panose="02020603050405020304" pitchFamily="18" charset="0"/>
                  <a:ea typeface="楷体_GB2312" pitchFamily="49" charset="-122"/>
                </a:rPr>
                <a:t>U</a:t>
              </a:r>
              <a:r>
                <a:rPr lang="en-US" altLang="zh-CN" b="1" baseline="-25000" dirty="0">
                  <a:solidFill>
                    <a:srgbClr val="FF0000"/>
                  </a:solidFill>
                  <a:latin typeface="Times New Roman" panose="02020603050405020304" pitchFamily="18" charset="0"/>
                  <a:ea typeface="楷体_GB2312" pitchFamily="49" charset="-122"/>
                </a:rPr>
                <a:t>BE</a:t>
              </a:r>
              <a:endParaRPr lang="en-US" altLang="zh-CN" b="1" baseline="-25000" dirty="0">
                <a:solidFill>
                  <a:srgbClr val="FF0000"/>
                </a:solidFill>
                <a:latin typeface="Times New Roman" panose="02020603050405020304" pitchFamily="18" charset="0"/>
                <a:ea typeface="楷体_GB2312" pitchFamily="49" charset="-122"/>
              </a:endParaRPr>
            </a:p>
          </p:txBody>
        </p:sp>
      </p:grpSp>
      <p:grpSp>
        <p:nvGrpSpPr>
          <p:cNvPr id="61464" name="Group 24"/>
          <p:cNvGrpSpPr/>
          <p:nvPr/>
        </p:nvGrpSpPr>
        <p:grpSpPr>
          <a:xfrm>
            <a:off x="4114800" y="5418138"/>
            <a:ext cx="438150" cy="685800"/>
            <a:chOff x="2624" y="3456"/>
            <a:chExt cx="276" cy="432"/>
          </a:xfrm>
        </p:grpSpPr>
        <p:sp>
          <p:nvSpPr>
            <p:cNvPr id="61465" name="Line 25"/>
            <p:cNvSpPr>
              <a:spLocks noChangeShapeType="1"/>
            </p:cNvSpPr>
            <p:nvPr/>
          </p:nvSpPr>
          <p:spPr bwMode="auto">
            <a:xfrm flipH="1">
              <a:off x="2640" y="3456"/>
              <a:ext cx="0" cy="432"/>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799" name="Rectangle 26"/>
            <p:cNvSpPr/>
            <p:nvPr/>
          </p:nvSpPr>
          <p:spPr>
            <a:xfrm>
              <a:off x="2624" y="3497"/>
              <a:ext cx="276" cy="288"/>
            </a:xfrm>
            <a:prstGeom prst="rect">
              <a:avLst/>
            </a:prstGeom>
            <a:noFill/>
            <a:ln w="9525">
              <a:noFill/>
            </a:ln>
          </p:spPr>
          <p:txBody>
            <a:bodyPr wrap="none" anchor="t">
              <a:spAutoFit/>
            </a:bodyPr>
            <a:p>
              <a:pPr lvl="0" indent="0"/>
              <a:r>
                <a:rPr lang="en-US" altLang="zh-CN" b="1" i="1" dirty="0">
                  <a:solidFill>
                    <a:srgbClr val="FF0000"/>
                  </a:solidFill>
                  <a:latin typeface="Times New Roman" panose="02020603050405020304" pitchFamily="18" charset="0"/>
                  <a:ea typeface="楷体_GB2312" pitchFamily="49" charset="-122"/>
                </a:rPr>
                <a:t>I</a:t>
              </a:r>
              <a:r>
                <a:rPr lang="en-US" altLang="zh-CN" b="1" baseline="-25000" dirty="0">
                  <a:solidFill>
                    <a:srgbClr val="FF0000"/>
                  </a:solidFill>
                  <a:latin typeface="Times New Roman" panose="02020603050405020304" pitchFamily="18" charset="0"/>
                  <a:ea typeface="楷体_GB2312" pitchFamily="49" charset="-122"/>
                </a:rPr>
                <a:t>B</a:t>
              </a:r>
              <a:endParaRPr lang="en-US" altLang="zh-CN" b="1" baseline="-25000" dirty="0">
                <a:solidFill>
                  <a:srgbClr val="FF0000"/>
                </a:solidFill>
                <a:latin typeface="Times New Roman" panose="02020603050405020304" pitchFamily="18" charset="0"/>
                <a:ea typeface="楷体_GB2312" pitchFamily="49" charset="-122"/>
              </a:endParaRPr>
            </a:p>
          </p:txBody>
        </p:sp>
      </p:grpSp>
      <p:grpSp>
        <p:nvGrpSpPr>
          <p:cNvPr id="61467" name="Group 27"/>
          <p:cNvGrpSpPr/>
          <p:nvPr/>
        </p:nvGrpSpPr>
        <p:grpSpPr>
          <a:xfrm>
            <a:off x="5638800" y="4953000"/>
            <a:ext cx="449263" cy="1219200"/>
            <a:chOff x="1680" y="3120"/>
            <a:chExt cx="283" cy="768"/>
          </a:xfrm>
        </p:grpSpPr>
        <p:sp>
          <p:nvSpPr>
            <p:cNvPr id="61468" name="Line 28"/>
            <p:cNvSpPr>
              <a:spLocks noChangeShapeType="1"/>
            </p:cNvSpPr>
            <p:nvPr/>
          </p:nvSpPr>
          <p:spPr bwMode="auto">
            <a:xfrm>
              <a:off x="1680" y="3120"/>
              <a:ext cx="0" cy="768"/>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02" name="Rectangle 29"/>
            <p:cNvSpPr/>
            <p:nvPr/>
          </p:nvSpPr>
          <p:spPr>
            <a:xfrm>
              <a:off x="1680" y="3392"/>
              <a:ext cx="283" cy="288"/>
            </a:xfrm>
            <a:prstGeom prst="rect">
              <a:avLst/>
            </a:prstGeom>
            <a:noFill/>
            <a:ln w="9525">
              <a:noFill/>
            </a:ln>
          </p:spPr>
          <p:txBody>
            <a:bodyPr wrap="none" anchor="t">
              <a:spAutoFit/>
            </a:bodyPr>
            <a:p>
              <a:pPr lvl="0" indent="0"/>
              <a:r>
                <a:rPr lang="en-US" altLang="zh-CN" b="1" i="1" dirty="0">
                  <a:solidFill>
                    <a:srgbClr val="FF0000"/>
                  </a:solidFill>
                  <a:latin typeface="Times New Roman" panose="02020603050405020304" pitchFamily="18" charset="0"/>
                  <a:ea typeface="楷体_GB2312" pitchFamily="49" charset="-122"/>
                </a:rPr>
                <a:t>I</a:t>
              </a:r>
              <a:r>
                <a:rPr lang="en-US" altLang="zh-CN" b="1" baseline="-25000" dirty="0">
                  <a:solidFill>
                    <a:srgbClr val="FF0000"/>
                  </a:solidFill>
                  <a:latin typeface="Times New Roman" panose="02020603050405020304" pitchFamily="18" charset="0"/>
                  <a:ea typeface="楷体_GB2312" pitchFamily="49" charset="-122"/>
                </a:rPr>
                <a:t>C</a:t>
              </a:r>
              <a:endParaRPr lang="en-US" altLang="zh-CN" b="1" baseline="-25000" dirty="0">
                <a:solidFill>
                  <a:srgbClr val="FF0000"/>
                </a:solidFill>
                <a:latin typeface="Times New Roman" panose="02020603050405020304" pitchFamily="18" charset="0"/>
                <a:ea typeface="楷体_GB2312" pitchFamily="49" charset="-122"/>
              </a:endParaRPr>
            </a:p>
          </p:txBody>
        </p:sp>
      </p:grpSp>
      <p:grpSp>
        <p:nvGrpSpPr>
          <p:cNvPr id="61470" name="Group 30"/>
          <p:cNvGrpSpPr/>
          <p:nvPr/>
        </p:nvGrpSpPr>
        <p:grpSpPr>
          <a:xfrm>
            <a:off x="7086600" y="4884738"/>
            <a:ext cx="685800" cy="1219200"/>
            <a:chOff x="1680" y="3120"/>
            <a:chExt cx="432" cy="768"/>
          </a:xfrm>
        </p:grpSpPr>
        <p:sp>
          <p:nvSpPr>
            <p:cNvPr id="61471" name="Line 31"/>
            <p:cNvSpPr>
              <a:spLocks noChangeShapeType="1"/>
            </p:cNvSpPr>
            <p:nvPr/>
          </p:nvSpPr>
          <p:spPr bwMode="auto">
            <a:xfrm>
              <a:off x="1680" y="3120"/>
              <a:ext cx="0" cy="768"/>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05" name="Rectangle 32"/>
            <p:cNvSpPr/>
            <p:nvPr/>
          </p:nvSpPr>
          <p:spPr>
            <a:xfrm>
              <a:off x="1680" y="3392"/>
              <a:ext cx="432" cy="288"/>
            </a:xfrm>
            <a:prstGeom prst="rect">
              <a:avLst/>
            </a:prstGeom>
            <a:noFill/>
            <a:ln w="9525">
              <a:noFill/>
            </a:ln>
          </p:spPr>
          <p:txBody>
            <a:bodyPr wrap="none" anchor="t">
              <a:spAutoFit/>
            </a:bodyPr>
            <a:p>
              <a:pPr lvl="0" indent="0"/>
              <a:r>
                <a:rPr lang="en-US" altLang="zh-CN" b="1" i="1" dirty="0">
                  <a:solidFill>
                    <a:srgbClr val="FF0000"/>
                  </a:solidFill>
                  <a:latin typeface="Times New Roman" panose="02020603050405020304" pitchFamily="18" charset="0"/>
                  <a:ea typeface="楷体_GB2312" pitchFamily="49" charset="-122"/>
                </a:rPr>
                <a:t>U</a:t>
              </a:r>
              <a:r>
                <a:rPr lang="en-US" altLang="zh-CN" b="1" baseline="-25000" dirty="0">
                  <a:solidFill>
                    <a:srgbClr val="FF0000"/>
                  </a:solidFill>
                  <a:latin typeface="Times New Roman" panose="02020603050405020304" pitchFamily="18" charset="0"/>
                  <a:ea typeface="楷体_GB2312" pitchFamily="49" charset="-122"/>
                </a:rPr>
                <a:t>CE</a:t>
              </a:r>
              <a:endParaRPr lang="en-US" altLang="zh-CN" b="1" baseline="-25000" dirty="0">
                <a:solidFill>
                  <a:srgbClr val="FF0000"/>
                </a:solidFill>
                <a:latin typeface="Times New Roman" panose="02020603050405020304" pitchFamily="18" charset="0"/>
                <a:ea typeface="楷体_GB2312" pitchFamily="49" charset="-122"/>
              </a:endParaRPr>
            </a:p>
          </p:txBody>
        </p:sp>
      </p:grpSp>
      <p:sp>
        <p:nvSpPr>
          <p:cNvPr id="61473" name="Text Box 33"/>
          <p:cNvSpPr txBox="1"/>
          <p:nvPr/>
        </p:nvSpPr>
        <p:spPr>
          <a:xfrm>
            <a:off x="304800" y="3810000"/>
            <a:ext cx="3962400" cy="519113"/>
          </a:xfrm>
          <a:prstGeom prst="rect">
            <a:avLst/>
          </a:prstGeom>
          <a:noFill/>
          <a:ln w="9525">
            <a:noFill/>
          </a:ln>
        </p:spPr>
        <p:txBody>
          <a:bodyPr anchor="t">
            <a:spAutoFit/>
          </a:bodyPr>
          <a:p>
            <a:pPr lvl="0" indent="0">
              <a:spcBef>
                <a:spcPct val="50000"/>
              </a:spcBef>
            </a:pPr>
            <a:r>
              <a:rPr lang="zh-CN" altLang="en-US" sz="2800" b="1" dirty="0">
                <a:solidFill>
                  <a:schemeClr val="tx2"/>
                </a:solidFill>
                <a:latin typeface="Times New Roman" panose="02020603050405020304" pitchFamily="18" charset="0"/>
                <a:ea typeface="宋体" panose="02010600030101010101" pitchFamily="2" charset="-122"/>
              </a:rPr>
              <a:t>无输入信号</a:t>
            </a:r>
            <a:r>
              <a:rPr lang="en-US" altLang="zh-CN" sz="2800" b="1" dirty="0">
                <a:solidFill>
                  <a:srgbClr val="FF0000"/>
                </a:solidFill>
                <a:latin typeface="Times New Roman" panose="02020603050405020304" pitchFamily="18" charset="0"/>
                <a:ea typeface="宋体" panose="02010600030101010101" pitchFamily="2" charset="-122"/>
              </a:rPr>
              <a:t>(</a:t>
            </a:r>
            <a:r>
              <a:rPr lang="en-US" altLang="zh-CN" sz="2800" b="1" i="1" dirty="0">
                <a:solidFill>
                  <a:srgbClr val="FF0000"/>
                </a:solidFill>
                <a:latin typeface="Times New Roman" panose="02020603050405020304" pitchFamily="18" charset="0"/>
                <a:ea typeface="楷体_GB2312" pitchFamily="49" charset="-122"/>
              </a:rPr>
              <a:t>u</a:t>
            </a:r>
            <a:r>
              <a:rPr lang="en-US" altLang="zh-CN" sz="2800" b="1" i="1" baseline="-25000" dirty="0">
                <a:solidFill>
                  <a:srgbClr val="FF0000"/>
                </a:solidFill>
                <a:latin typeface="Times New Roman" panose="02020603050405020304" pitchFamily="18" charset="0"/>
                <a:ea typeface="楷体_GB2312" pitchFamily="49" charset="-122"/>
              </a:rPr>
              <a:t>i</a:t>
            </a:r>
            <a:r>
              <a:rPr lang="en-US" altLang="zh-CN" sz="2800" b="1" i="1" dirty="0">
                <a:solidFill>
                  <a:srgbClr val="FF0000"/>
                </a:solidFill>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 0)</a:t>
            </a:r>
            <a:r>
              <a:rPr lang="zh-CN" altLang="en-US" sz="2800" b="1" dirty="0">
                <a:solidFill>
                  <a:schemeClr val="tx2"/>
                </a:solidFill>
                <a:latin typeface="Times New Roman" panose="02020603050405020304" pitchFamily="18" charset="0"/>
                <a:ea typeface="宋体" panose="02010600030101010101" pitchFamily="2" charset="-122"/>
              </a:rPr>
              <a:t>时</a:t>
            </a:r>
            <a:r>
              <a:rPr lang="en-US" altLang="zh-CN" sz="2800" b="1" dirty="0">
                <a:solidFill>
                  <a:schemeClr val="tx2"/>
                </a:solidFill>
                <a:latin typeface="Times New Roman" panose="02020603050405020304" pitchFamily="18" charset="0"/>
                <a:ea typeface="宋体" panose="02010600030101010101" pitchFamily="2" charset="-122"/>
              </a:rPr>
              <a:t>:</a:t>
            </a:r>
            <a:endParaRPr lang="en-US" altLang="zh-CN" sz="2800" b="1" dirty="0">
              <a:solidFill>
                <a:schemeClr val="tx2"/>
              </a:solidFill>
              <a:latin typeface="Times New Roman" panose="02020603050405020304" pitchFamily="18" charset="0"/>
              <a:ea typeface="宋体" panose="02010600030101010101" pitchFamily="2" charset="-122"/>
            </a:endParaRPr>
          </a:p>
        </p:txBody>
      </p:sp>
      <p:sp>
        <p:nvSpPr>
          <p:cNvPr id="61474" name="Rectangle 34" descr="新闻纸"/>
          <p:cNvSpPr/>
          <p:nvPr/>
        </p:nvSpPr>
        <p:spPr>
          <a:xfrm>
            <a:off x="5545138" y="1509713"/>
            <a:ext cx="1839912" cy="1652587"/>
          </a:xfrm>
          <a:prstGeom prst="rect">
            <a:avLst/>
          </a:prstGeom>
          <a:noFill/>
          <a:ln w="38100">
            <a:noFill/>
          </a:ln>
        </p:spPr>
        <p:txBody>
          <a:bodyPr wrap="none" lIns="90000" tIns="46800" rIns="90000" bIns="46800" anchor="ctr">
            <a:spAutoFit/>
          </a:bodyPr>
          <a:p>
            <a:pPr lvl="0" indent="0">
              <a:spcBef>
                <a:spcPct val="10000"/>
              </a:spcBef>
            </a:pPr>
            <a:r>
              <a:rPr lang="en-US" altLang="zh-CN" sz="3200" b="1" i="1" dirty="0">
                <a:solidFill>
                  <a:srgbClr val="000099"/>
                </a:solidFill>
                <a:latin typeface="Times New Roman" panose="02020603050405020304" pitchFamily="18" charset="0"/>
                <a:ea typeface="楷体_GB2312" pitchFamily="49" charset="-122"/>
              </a:rPr>
              <a:t>  u</a:t>
            </a:r>
            <a:r>
              <a:rPr lang="en-US" altLang="zh-CN" sz="3200" b="1" baseline="-25000" dirty="0">
                <a:solidFill>
                  <a:srgbClr val="000099"/>
                </a:solidFill>
                <a:latin typeface="Times New Roman" panose="02020603050405020304" pitchFamily="18" charset="0"/>
                <a:ea typeface="楷体_GB2312" pitchFamily="49" charset="-122"/>
              </a:rPr>
              <a:t>o </a:t>
            </a:r>
            <a:r>
              <a:rPr lang="en-US" altLang="zh-CN" sz="3200" b="1" dirty="0">
                <a:solidFill>
                  <a:srgbClr val="000099"/>
                </a:solidFill>
                <a:latin typeface="Times New Roman" panose="02020603050405020304" pitchFamily="18" charset="0"/>
                <a:ea typeface="楷体_GB2312" pitchFamily="49" charset="-122"/>
              </a:rPr>
              <a:t>= </a:t>
            </a:r>
            <a:r>
              <a:rPr lang="en-US" altLang="zh-CN" sz="2800" b="1" dirty="0">
                <a:solidFill>
                  <a:srgbClr val="000099"/>
                </a:solidFill>
                <a:latin typeface="Times New Roman" panose="02020603050405020304" pitchFamily="18" charset="0"/>
                <a:ea typeface="楷体_GB2312" pitchFamily="49" charset="-122"/>
              </a:rPr>
              <a:t>0</a:t>
            </a:r>
            <a:endParaRPr lang="en-US" altLang="zh-CN" sz="2800" b="1" dirty="0">
              <a:solidFill>
                <a:srgbClr val="000099"/>
              </a:solidFill>
              <a:latin typeface="Times New Roman" panose="02020603050405020304" pitchFamily="18" charset="0"/>
              <a:ea typeface="楷体_GB2312" pitchFamily="49" charset="-122"/>
            </a:endParaRPr>
          </a:p>
          <a:p>
            <a:pPr lvl="0" indent="0">
              <a:spcBef>
                <a:spcPct val="10000"/>
              </a:spcBef>
            </a:pPr>
            <a:r>
              <a:rPr lang="en-US" altLang="zh-CN" sz="3200" b="1" i="1" dirty="0">
                <a:solidFill>
                  <a:srgbClr val="000099"/>
                </a:solidFill>
                <a:latin typeface="Times New Roman" panose="02020603050405020304" pitchFamily="18" charset="0"/>
                <a:ea typeface="楷体_GB2312" pitchFamily="49" charset="-122"/>
              </a:rPr>
              <a:t>u</a:t>
            </a:r>
            <a:r>
              <a:rPr lang="en-US" altLang="zh-CN" sz="3200" b="1" baseline="-25000" dirty="0">
                <a:solidFill>
                  <a:srgbClr val="000099"/>
                </a:solidFill>
                <a:latin typeface="Times New Roman" panose="02020603050405020304" pitchFamily="18" charset="0"/>
                <a:ea typeface="楷体_GB2312" pitchFamily="49" charset="-122"/>
              </a:rPr>
              <a:t>BE </a:t>
            </a:r>
            <a:r>
              <a:rPr lang="en-US" altLang="zh-CN" sz="3200" b="1" dirty="0">
                <a:solidFill>
                  <a:srgbClr val="000099"/>
                </a:solidFill>
                <a:latin typeface="Times New Roman" panose="02020603050405020304" pitchFamily="18" charset="0"/>
                <a:ea typeface="楷体_GB2312" pitchFamily="49" charset="-122"/>
              </a:rPr>
              <a:t>= </a:t>
            </a:r>
            <a:r>
              <a:rPr lang="en-US" altLang="zh-CN" sz="3200" b="1" i="1" dirty="0">
                <a:solidFill>
                  <a:srgbClr val="000099"/>
                </a:solidFill>
                <a:latin typeface="Times New Roman" panose="02020603050405020304" pitchFamily="18" charset="0"/>
                <a:ea typeface="楷体_GB2312" pitchFamily="49" charset="-122"/>
              </a:rPr>
              <a:t>U</a:t>
            </a:r>
            <a:r>
              <a:rPr lang="en-US" altLang="zh-CN" sz="3200" b="1" baseline="-25000" dirty="0">
                <a:solidFill>
                  <a:srgbClr val="000099"/>
                </a:solidFill>
                <a:latin typeface="Times New Roman" panose="02020603050405020304" pitchFamily="18" charset="0"/>
                <a:ea typeface="楷体_GB2312" pitchFamily="49" charset="-122"/>
              </a:rPr>
              <a:t>BE</a:t>
            </a:r>
            <a:endParaRPr lang="en-US" altLang="zh-CN" sz="3200" b="1" baseline="-25000" dirty="0">
              <a:solidFill>
                <a:srgbClr val="000099"/>
              </a:solidFill>
              <a:latin typeface="Times New Roman" panose="02020603050405020304" pitchFamily="18" charset="0"/>
              <a:ea typeface="楷体_GB2312" pitchFamily="49" charset="-122"/>
            </a:endParaRPr>
          </a:p>
          <a:p>
            <a:pPr lvl="0" indent="0">
              <a:spcBef>
                <a:spcPct val="10000"/>
              </a:spcBef>
            </a:pPr>
            <a:r>
              <a:rPr lang="en-US" altLang="zh-CN" sz="3200" b="1" i="1" dirty="0">
                <a:solidFill>
                  <a:srgbClr val="000099"/>
                </a:solidFill>
                <a:latin typeface="Times New Roman" panose="02020603050405020304" pitchFamily="18" charset="0"/>
                <a:ea typeface="楷体_GB2312" pitchFamily="49" charset="-122"/>
              </a:rPr>
              <a:t>u</a:t>
            </a:r>
            <a:r>
              <a:rPr lang="en-US" altLang="zh-CN" sz="3200" b="1" baseline="-25000" dirty="0">
                <a:solidFill>
                  <a:srgbClr val="000099"/>
                </a:solidFill>
                <a:latin typeface="Times New Roman" panose="02020603050405020304" pitchFamily="18" charset="0"/>
                <a:ea typeface="楷体_GB2312" pitchFamily="49" charset="-122"/>
              </a:rPr>
              <a:t>CE </a:t>
            </a:r>
            <a:r>
              <a:rPr lang="en-US" altLang="zh-CN" sz="3200" b="1" dirty="0">
                <a:solidFill>
                  <a:srgbClr val="000099"/>
                </a:solidFill>
                <a:latin typeface="Times New Roman" panose="02020603050405020304" pitchFamily="18" charset="0"/>
                <a:ea typeface="楷体_GB2312" pitchFamily="49" charset="-122"/>
              </a:rPr>
              <a:t>= </a:t>
            </a:r>
            <a:r>
              <a:rPr lang="en-US" altLang="zh-CN" sz="3200" b="1" i="1" dirty="0">
                <a:solidFill>
                  <a:srgbClr val="000099"/>
                </a:solidFill>
                <a:latin typeface="Times New Roman" panose="02020603050405020304" pitchFamily="18" charset="0"/>
                <a:ea typeface="楷体_GB2312" pitchFamily="49" charset="-122"/>
              </a:rPr>
              <a:t>U</a:t>
            </a:r>
            <a:r>
              <a:rPr lang="en-US" altLang="zh-CN" sz="3200" b="1" baseline="-25000" dirty="0">
                <a:solidFill>
                  <a:srgbClr val="000099"/>
                </a:solidFill>
                <a:latin typeface="Times New Roman" panose="02020603050405020304" pitchFamily="18" charset="0"/>
                <a:ea typeface="楷体_GB2312" pitchFamily="49" charset="-122"/>
              </a:rPr>
              <a:t>CE</a:t>
            </a:r>
            <a:endParaRPr lang="en-US" altLang="zh-CN" sz="3200" b="1" baseline="-25000" dirty="0">
              <a:solidFill>
                <a:srgbClr val="000099"/>
              </a:solidFill>
              <a:latin typeface="Times New Roman" panose="02020603050405020304" pitchFamily="18" charset="0"/>
              <a:ea typeface="楷体_GB2312" pitchFamily="49" charset="-122"/>
            </a:endParaRPr>
          </a:p>
        </p:txBody>
      </p:sp>
      <p:sp>
        <p:nvSpPr>
          <p:cNvPr id="61484" name="Line 44"/>
          <p:cNvSpPr>
            <a:spLocks noChangeShapeType="1"/>
          </p:cNvSpPr>
          <p:nvPr/>
        </p:nvSpPr>
        <p:spPr bwMode="auto">
          <a:xfrm>
            <a:off x="1676400" y="2352675"/>
            <a:ext cx="0" cy="12128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3809" name="Group 118"/>
          <p:cNvGrpSpPr/>
          <p:nvPr/>
        </p:nvGrpSpPr>
        <p:grpSpPr>
          <a:xfrm>
            <a:off x="1471613" y="688975"/>
            <a:ext cx="4340225" cy="3082925"/>
            <a:chOff x="927" y="434"/>
            <a:chExt cx="2734" cy="1942"/>
          </a:xfrm>
        </p:grpSpPr>
        <p:sp>
          <p:nvSpPr>
            <p:cNvPr id="61485" name="Line 45"/>
            <p:cNvSpPr>
              <a:spLocks noChangeShapeType="1"/>
            </p:cNvSpPr>
            <p:nvPr/>
          </p:nvSpPr>
          <p:spPr bwMode="auto">
            <a:xfrm flipH="1" flipV="1">
              <a:off x="2408" y="587"/>
              <a:ext cx="0" cy="141"/>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86" name="Line 46"/>
            <p:cNvSpPr>
              <a:spLocks noChangeShapeType="1"/>
            </p:cNvSpPr>
            <p:nvPr/>
          </p:nvSpPr>
          <p:spPr bwMode="auto">
            <a:xfrm flipV="1">
              <a:off x="1751" y="578"/>
              <a:ext cx="135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12" name="Rectangle 47"/>
            <p:cNvSpPr/>
            <p:nvPr/>
          </p:nvSpPr>
          <p:spPr>
            <a:xfrm>
              <a:off x="3115" y="434"/>
              <a:ext cx="546" cy="287"/>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61488" name="Line 48"/>
            <p:cNvSpPr>
              <a:spLocks noChangeShapeType="1"/>
            </p:cNvSpPr>
            <p:nvPr/>
          </p:nvSpPr>
          <p:spPr bwMode="auto">
            <a:xfrm flipV="1">
              <a:off x="1751" y="1088"/>
              <a:ext cx="0" cy="3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89" name="Line 49"/>
            <p:cNvSpPr>
              <a:spLocks noChangeShapeType="1"/>
            </p:cNvSpPr>
            <p:nvPr/>
          </p:nvSpPr>
          <p:spPr bwMode="auto">
            <a:xfrm rot="16200000" flipH="1">
              <a:off x="1616" y="696"/>
              <a:ext cx="26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90" name="Line 50"/>
            <p:cNvSpPr>
              <a:spLocks noChangeShapeType="1"/>
            </p:cNvSpPr>
            <p:nvPr/>
          </p:nvSpPr>
          <p:spPr bwMode="auto">
            <a:xfrm>
              <a:off x="2264" y="1341"/>
              <a:ext cx="0" cy="2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91" name="Line 51"/>
            <p:cNvSpPr>
              <a:spLocks noChangeShapeType="1"/>
            </p:cNvSpPr>
            <p:nvPr/>
          </p:nvSpPr>
          <p:spPr bwMode="auto">
            <a:xfrm>
              <a:off x="2264" y="1488"/>
              <a:ext cx="137" cy="115"/>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92" name="Line 52"/>
            <p:cNvSpPr>
              <a:spLocks noChangeShapeType="1"/>
            </p:cNvSpPr>
            <p:nvPr/>
          </p:nvSpPr>
          <p:spPr bwMode="auto">
            <a:xfrm flipV="1">
              <a:off x="2264" y="1298"/>
              <a:ext cx="137" cy="101"/>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93" name="Line 53"/>
            <p:cNvSpPr>
              <a:spLocks noChangeShapeType="1"/>
            </p:cNvSpPr>
            <p:nvPr/>
          </p:nvSpPr>
          <p:spPr bwMode="auto">
            <a:xfrm>
              <a:off x="2393" y="1582"/>
              <a:ext cx="0" cy="698"/>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94" name="Line 54"/>
            <p:cNvSpPr>
              <a:spLocks noChangeShapeType="1"/>
            </p:cNvSpPr>
            <p:nvPr/>
          </p:nvSpPr>
          <p:spPr bwMode="auto">
            <a:xfrm flipV="1">
              <a:off x="1077" y="2251"/>
              <a:ext cx="1993"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20" name="Text Box 55"/>
            <p:cNvSpPr txBox="1"/>
            <p:nvPr/>
          </p:nvSpPr>
          <p:spPr>
            <a:xfrm>
              <a:off x="1412" y="805"/>
              <a:ext cx="327"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61496" name="Rectangle 56"/>
            <p:cNvSpPr>
              <a:spLocks noChangeArrowheads="1"/>
            </p:cNvSpPr>
            <p:nvPr/>
          </p:nvSpPr>
          <p:spPr bwMode="auto">
            <a:xfrm>
              <a:off x="2357" y="707"/>
              <a:ext cx="92" cy="251"/>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97" name="Rectangle 57"/>
            <p:cNvSpPr>
              <a:spLocks noChangeArrowheads="1"/>
            </p:cNvSpPr>
            <p:nvPr/>
          </p:nvSpPr>
          <p:spPr bwMode="auto">
            <a:xfrm>
              <a:off x="1704" y="845"/>
              <a:ext cx="92" cy="252"/>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3823" name="Group 58"/>
            <p:cNvGrpSpPr/>
            <p:nvPr/>
          </p:nvGrpSpPr>
          <p:grpSpPr>
            <a:xfrm>
              <a:off x="1415" y="1349"/>
              <a:ext cx="67" cy="202"/>
              <a:chOff x="3454" y="2018"/>
              <a:chExt cx="96" cy="328"/>
            </a:xfrm>
          </p:grpSpPr>
          <p:sp>
            <p:nvSpPr>
              <p:cNvPr id="61499" name="Line 59"/>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00" name="Line 60"/>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1501" name="Line 61"/>
            <p:cNvSpPr>
              <a:spLocks noChangeShapeType="1"/>
            </p:cNvSpPr>
            <p:nvPr/>
          </p:nvSpPr>
          <p:spPr bwMode="auto">
            <a:xfrm flipV="1">
              <a:off x="1099" y="1452"/>
              <a:ext cx="31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3827" name="Group 62"/>
            <p:cNvGrpSpPr/>
            <p:nvPr/>
          </p:nvGrpSpPr>
          <p:grpSpPr>
            <a:xfrm flipH="1">
              <a:off x="2711" y="998"/>
              <a:ext cx="67" cy="202"/>
              <a:chOff x="3454" y="2018"/>
              <a:chExt cx="96" cy="328"/>
            </a:xfrm>
          </p:grpSpPr>
          <p:sp>
            <p:nvSpPr>
              <p:cNvPr id="61503" name="Line 63"/>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04" name="Line 64"/>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1505" name="Line 65"/>
            <p:cNvSpPr>
              <a:spLocks noChangeShapeType="1"/>
            </p:cNvSpPr>
            <p:nvPr/>
          </p:nvSpPr>
          <p:spPr bwMode="auto">
            <a:xfrm flipV="1">
              <a:off x="2396" y="1097"/>
              <a:ext cx="33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31" name="Text Box 66"/>
            <p:cNvSpPr txBox="1"/>
            <p:nvPr/>
          </p:nvSpPr>
          <p:spPr>
            <a:xfrm>
              <a:off x="2043" y="664"/>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3832" name="Text Box 67"/>
            <p:cNvSpPr txBox="1"/>
            <p:nvPr/>
          </p:nvSpPr>
          <p:spPr>
            <a:xfrm>
              <a:off x="1319" y="1077"/>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33833" name="Text Box 68"/>
            <p:cNvSpPr txBox="1"/>
            <p:nvPr/>
          </p:nvSpPr>
          <p:spPr>
            <a:xfrm>
              <a:off x="2627" y="759"/>
              <a:ext cx="306" cy="289"/>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33834" name="Text Box 69"/>
            <p:cNvSpPr txBox="1"/>
            <p:nvPr/>
          </p:nvSpPr>
          <p:spPr>
            <a:xfrm>
              <a:off x="2299" y="1314"/>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33835" name="Text Box 70"/>
            <p:cNvSpPr txBox="1"/>
            <p:nvPr/>
          </p:nvSpPr>
          <p:spPr>
            <a:xfrm>
              <a:off x="1470" y="1256"/>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3836" name="Text Box 71"/>
            <p:cNvSpPr txBox="1"/>
            <p:nvPr/>
          </p:nvSpPr>
          <p:spPr>
            <a:xfrm>
              <a:off x="2526" y="89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61512" name="Line 72"/>
            <p:cNvSpPr>
              <a:spLocks noChangeShapeType="1"/>
            </p:cNvSpPr>
            <p:nvPr/>
          </p:nvSpPr>
          <p:spPr bwMode="auto">
            <a:xfrm flipV="1">
              <a:off x="1475" y="1455"/>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38" name="Rectangle 73"/>
            <p:cNvSpPr/>
            <p:nvPr/>
          </p:nvSpPr>
          <p:spPr>
            <a:xfrm>
              <a:off x="927" y="1689"/>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rgbClr val="000099"/>
                  </a:solidFill>
                  <a:latin typeface="Times New Roman" panose="02020603050405020304" pitchFamily="18" charset="0"/>
                  <a:ea typeface="楷体_GB2312" pitchFamily="49" charset="-122"/>
                </a:rPr>
                <a:t>u</a:t>
              </a:r>
              <a:r>
                <a:rPr lang="en-US" altLang="zh-CN" b="1" baseline="-25000" dirty="0">
                  <a:solidFill>
                    <a:srgbClr val="000099"/>
                  </a:solidFill>
                  <a:latin typeface="Times New Roman" panose="02020603050405020304" pitchFamily="18" charset="0"/>
                  <a:ea typeface="楷体_GB2312" pitchFamily="49" charset="-122"/>
                </a:rPr>
                <a:t>i</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33839" name="Rectangle 74"/>
            <p:cNvSpPr/>
            <p:nvPr/>
          </p:nvSpPr>
          <p:spPr>
            <a:xfrm>
              <a:off x="1029" y="1415"/>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3840" name="Rectangle 75"/>
            <p:cNvSpPr/>
            <p:nvPr/>
          </p:nvSpPr>
          <p:spPr>
            <a:xfrm>
              <a:off x="1022" y="2001"/>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3841" name="Rectangle 76"/>
            <p:cNvSpPr/>
            <p:nvPr/>
          </p:nvSpPr>
          <p:spPr>
            <a:xfrm>
              <a:off x="2962" y="1522"/>
              <a:ext cx="285"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rgbClr val="000099"/>
                  </a:solidFill>
                  <a:latin typeface="Times New Roman" panose="02020603050405020304" pitchFamily="18" charset="0"/>
                  <a:ea typeface="楷体_GB2312" pitchFamily="49" charset="-122"/>
                </a:rPr>
                <a:t>u</a:t>
              </a:r>
              <a:r>
                <a:rPr lang="en-US" altLang="zh-CN" b="1" baseline="-25000" dirty="0">
                  <a:solidFill>
                    <a:srgbClr val="000099"/>
                  </a:solidFill>
                  <a:latin typeface="Times New Roman" panose="02020603050405020304" pitchFamily="18" charset="0"/>
                  <a:ea typeface="楷体_GB2312" pitchFamily="49" charset="-122"/>
                </a:rPr>
                <a:t>o</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33842" name="Rectangle 77"/>
            <p:cNvSpPr/>
            <p:nvPr/>
          </p:nvSpPr>
          <p:spPr>
            <a:xfrm flipH="1">
              <a:off x="2544" y="1056"/>
              <a:ext cx="1056"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61518" name="Rectangle 78"/>
            <p:cNvSpPr>
              <a:spLocks noChangeArrowheads="1"/>
            </p:cNvSpPr>
            <p:nvPr/>
          </p:nvSpPr>
          <p:spPr bwMode="auto">
            <a:xfrm>
              <a:off x="2943" y="1980"/>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3844" name="Text Box 79"/>
            <p:cNvSpPr txBox="1"/>
            <p:nvPr/>
          </p:nvSpPr>
          <p:spPr>
            <a:xfrm>
              <a:off x="2041" y="1396"/>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33845" name="Text Box 80"/>
            <p:cNvSpPr txBox="1"/>
            <p:nvPr/>
          </p:nvSpPr>
          <p:spPr>
            <a:xfrm>
              <a:off x="2484" y="1107"/>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61521" name="Rectangle 81"/>
            <p:cNvSpPr>
              <a:spLocks noChangeArrowheads="1"/>
            </p:cNvSpPr>
            <p:nvPr/>
          </p:nvSpPr>
          <p:spPr bwMode="auto">
            <a:xfrm>
              <a:off x="2193" y="16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3847" name="Rectangle 82"/>
            <p:cNvSpPr/>
            <p:nvPr/>
          </p:nvSpPr>
          <p:spPr>
            <a:xfrm>
              <a:off x="1962" y="148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rgbClr val="000099"/>
                  </a:solidFill>
                  <a:latin typeface="Times New Roman" panose="02020603050405020304" pitchFamily="18" charset="0"/>
                  <a:ea typeface="楷体_GB2312" pitchFamily="49" charset="-122"/>
                </a:rPr>
                <a:t>u</a:t>
              </a:r>
              <a:r>
                <a:rPr lang="en-US" altLang="zh-CN" b="1" baseline="-25000" dirty="0">
                  <a:solidFill>
                    <a:srgbClr val="000099"/>
                  </a:solidFill>
                  <a:latin typeface="Times New Roman" panose="02020603050405020304" pitchFamily="18" charset="0"/>
                  <a:ea typeface="楷体_GB2312" pitchFamily="49" charset="-122"/>
                </a:rPr>
                <a:t>BE</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33848" name="Rectangle 83"/>
            <p:cNvSpPr/>
            <p:nvPr/>
          </p:nvSpPr>
          <p:spPr>
            <a:xfrm>
              <a:off x="2404" y="1311"/>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rgbClr val="000099"/>
                  </a:solidFill>
                  <a:latin typeface="Times New Roman" panose="02020603050405020304" pitchFamily="18" charset="0"/>
                  <a:ea typeface="楷体_GB2312" pitchFamily="49" charset="-122"/>
                </a:rPr>
                <a:t>u</a:t>
              </a:r>
              <a:r>
                <a:rPr lang="en-US" altLang="zh-CN" b="1" baseline="-25000" dirty="0">
                  <a:solidFill>
                    <a:srgbClr val="000099"/>
                  </a:solidFill>
                  <a:latin typeface="Times New Roman" panose="02020603050405020304" pitchFamily="18" charset="0"/>
                  <a:ea typeface="楷体_GB2312" pitchFamily="49" charset="-122"/>
                </a:rPr>
                <a:t>CE</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524" name="Rectangle 84"/>
            <p:cNvSpPr>
              <a:spLocks noChangeArrowheads="1"/>
            </p:cNvSpPr>
            <p:nvPr/>
          </p:nvSpPr>
          <p:spPr bwMode="auto">
            <a:xfrm>
              <a:off x="2479" y="1546"/>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61525" name="Line 85"/>
            <p:cNvSpPr>
              <a:spLocks noChangeShapeType="1"/>
            </p:cNvSpPr>
            <p:nvPr/>
          </p:nvSpPr>
          <p:spPr bwMode="auto">
            <a:xfrm>
              <a:off x="2338" y="1080"/>
              <a:ext cx="2" cy="261"/>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51" name="Rectangle 86"/>
            <p:cNvSpPr/>
            <p:nvPr/>
          </p:nvSpPr>
          <p:spPr>
            <a:xfrm>
              <a:off x="1986" y="102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rgbClr val="000099"/>
                  </a:solidFill>
                  <a:latin typeface="Times New Roman" panose="02020603050405020304" pitchFamily="18" charset="0"/>
                  <a:ea typeface="楷体_GB2312" pitchFamily="49" charset="-122"/>
                </a:rPr>
                <a:t>i</a:t>
              </a:r>
              <a:r>
                <a:rPr lang="en-US" altLang="zh-CN" b="1" baseline="-25000" dirty="0">
                  <a:solidFill>
                    <a:srgbClr val="000099"/>
                  </a:solidFill>
                  <a:latin typeface="Times New Roman" panose="02020603050405020304" pitchFamily="18" charset="0"/>
                  <a:ea typeface="楷体_GB2312" pitchFamily="49" charset="-122"/>
                </a:rPr>
                <a:t>C</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527" name="Line 87"/>
            <p:cNvSpPr>
              <a:spLocks noChangeShapeType="1"/>
            </p:cNvSpPr>
            <p:nvPr/>
          </p:nvSpPr>
          <p:spPr bwMode="auto">
            <a:xfrm>
              <a:off x="1833" y="1406"/>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53" name="Rectangle 88"/>
            <p:cNvSpPr/>
            <p:nvPr/>
          </p:nvSpPr>
          <p:spPr>
            <a:xfrm>
              <a:off x="1778" y="1094"/>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rgbClr val="000099"/>
                  </a:solidFill>
                  <a:latin typeface="Times New Roman" panose="02020603050405020304" pitchFamily="18" charset="0"/>
                  <a:ea typeface="楷体_GB2312" pitchFamily="49" charset="-122"/>
                </a:rPr>
                <a:t>i</a:t>
              </a:r>
              <a:r>
                <a:rPr lang="en-US" altLang="zh-CN" b="1" baseline="-25000" dirty="0">
                  <a:solidFill>
                    <a:srgbClr val="000099"/>
                  </a:solidFill>
                  <a:latin typeface="Times New Roman" panose="02020603050405020304" pitchFamily="18" charset="0"/>
                  <a:ea typeface="楷体_GB2312" pitchFamily="49" charset="-122"/>
                </a:rPr>
                <a:t>B</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529" name="Line 89"/>
            <p:cNvSpPr>
              <a:spLocks noChangeShapeType="1"/>
            </p:cNvSpPr>
            <p:nvPr/>
          </p:nvSpPr>
          <p:spPr bwMode="auto">
            <a:xfrm flipH="1">
              <a:off x="2440" y="1864"/>
              <a:ext cx="0" cy="261"/>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55" name="Rectangle 90"/>
            <p:cNvSpPr/>
            <p:nvPr/>
          </p:nvSpPr>
          <p:spPr>
            <a:xfrm>
              <a:off x="2327" y="182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rgbClr val="000099"/>
                  </a:solidFill>
                  <a:latin typeface="Times New Roman" panose="02020603050405020304" pitchFamily="18" charset="0"/>
                  <a:ea typeface="楷体_GB2312" pitchFamily="49" charset="-122"/>
                </a:rPr>
                <a:t>i</a:t>
              </a:r>
              <a:r>
                <a:rPr lang="en-US" altLang="zh-CN" b="1" baseline="-25000" dirty="0">
                  <a:solidFill>
                    <a:srgbClr val="000099"/>
                  </a:solidFill>
                  <a:latin typeface="Times New Roman" panose="02020603050405020304" pitchFamily="18" charset="0"/>
                  <a:ea typeface="楷体_GB2312" pitchFamily="49" charset="-122"/>
                </a:rPr>
                <a:t>E</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531" name="Oval 91"/>
            <p:cNvSpPr>
              <a:spLocks noChangeArrowheads="1"/>
            </p:cNvSpPr>
            <p:nvPr/>
          </p:nvSpPr>
          <p:spPr bwMode="auto">
            <a:xfrm>
              <a:off x="3085" y="560"/>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32" name="Oval 92"/>
            <p:cNvSpPr>
              <a:spLocks noChangeArrowheads="1"/>
            </p:cNvSpPr>
            <p:nvPr/>
          </p:nvSpPr>
          <p:spPr bwMode="auto">
            <a:xfrm>
              <a:off x="3056" y="1074"/>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33" name="Oval 93"/>
            <p:cNvSpPr>
              <a:spLocks noChangeArrowheads="1"/>
            </p:cNvSpPr>
            <p:nvPr/>
          </p:nvSpPr>
          <p:spPr bwMode="auto">
            <a:xfrm>
              <a:off x="3039" y="2220"/>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34" name="Oval 94"/>
            <p:cNvSpPr>
              <a:spLocks noChangeArrowheads="1"/>
            </p:cNvSpPr>
            <p:nvPr/>
          </p:nvSpPr>
          <p:spPr bwMode="auto">
            <a:xfrm>
              <a:off x="1040" y="1430"/>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35" name="Oval 95"/>
            <p:cNvSpPr>
              <a:spLocks noChangeArrowheads="1"/>
            </p:cNvSpPr>
            <p:nvPr/>
          </p:nvSpPr>
          <p:spPr bwMode="auto">
            <a:xfrm>
              <a:off x="1028" y="2221"/>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36" name="Line 96"/>
            <p:cNvSpPr>
              <a:spLocks noChangeShapeType="1"/>
            </p:cNvSpPr>
            <p:nvPr/>
          </p:nvSpPr>
          <p:spPr bwMode="auto">
            <a:xfrm>
              <a:off x="2784" y="110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37" name="Line 97"/>
            <p:cNvSpPr>
              <a:spLocks noChangeShapeType="1"/>
            </p:cNvSpPr>
            <p:nvPr/>
          </p:nvSpPr>
          <p:spPr bwMode="auto">
            <a:xfrm>
              <a:off x="2400" y="960"/>
              <a:ext cx="0" cy="38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3863" name="Group 98"/>
            <p:cNvGrpSpPr/>
            <p:nvPr/>
          </p:nvGrpSpPr>
          <p:grpSpPr>
            <a:xfrm>
              <a:off x="2285" y="2208"/>
              <a:ext cx="189" cy="168"/>
              <a:chOff x="2305" y="2232"/>
              <a:chExt cx="189" cy="168"/>
            </a:xfrm>
          </p:grpSpPr>
          <p:grpSp>
            <p:nvGrpSpPr>
              <p:cNvPr id="33864" name="Group 99"/>
              <p:cNvGrpSpPr/>
              <p:nvPr/>
            </p:nvGrpSpPr>
            <p:grpSpPr>
              <a:xfrm>
                <a:off x="2305" y="2292"/>
                <a:ext cx="189" cy="108"/>
                <a:chOff x="2898" y="3684"/>
                <a:chExt cx="204" cy="204"/>
              </a:xfrm>
            </p:grpSpPr>
            <p:sp>
              <p:nvSpPr>
                <p:cNvPr id="61540" name="Line 100"/>
                <p:cNvSpPr>
                  <a:spLocks noChangeShapeType="1"/>
                </p:cNvSpPr>
                <p:nvPr/>
              </p:nvSpPr>
              <p:spPr bwMode="auto">
                <a:xfrm>
                  <a:off x="3000" y="3684"/>
                  <a:ext cx="0" cy="20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541" name="Line 101"/>
                <p:cNvSpPr>
                  <a:spLocks noChangeShapeType="1"/>
                </p:cNvSpPr>
                <p:nvPr/>
              </p:nvSpPr>
              <p:spPr bwMode="auto">
                <a:xfrm>
                  <a:off x="2898" y="3876"/>
                  <a:ext cx="204" cy="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1542" name="Oval 102"/>
              <p:cNvSpPr>
                <a:spLocks noChangeArrowheads="1"/>
              </p:cNvSpPr>
              <p:nvPr/>
            </p:nvSpPr>
            <p:spPr bwMode="auto">
              <a:xfrm>
                <a:off x="2373" y="2232"/>
                <a:ext cx="56" cy="46"/>
              </a:xfrm>
              <a:prstGeom prst="ellipse">
                <a:avLst/>
              </a:prstGeom>
              <a:solidFill>
                <a:schemeClr val="tx1"/>
              </a:solidFill>
              <a:ln w="28575">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grpSp>
        <p:nvGrpSpPr>
          <p:cNvPr id="61557" name="Group 117"/>
          <p:cNvGrpSpPr/>
          <p:nvPr/>
        </p:nvGrpSpPr>
        <p:grpSpPr>
          <a:xfrm>
            <a:off x="1371600" y="4419600"/>
            <a:ext cx="1639888" cy="1912938"/>
            <a:chOff x="864" y="2784"/>
            <a:chExt cx="1033" cy="1205"/>
          </a:xfrm>
        </p:grpSpPr>
        <p:sp>
          <p:nvSpPr>
            <p:cNvPr id="33869" name="Text Box 4"/>
            <p:cNvSpPr txBox="1"/>
            <p:nvPr/>
          </p:nvSpPr>
          <p:spPr>
            <a:xfrm>
              <a:off x="960" y="2784"/>
              <a:ext cx="472" cy="288"/>
            </a:xfrm>
            <a:prstGeom prst="rect">
              <a:avLst/>
            </a:prstGeom>
            <a:noFill/>
            <a:ln w="28575">
              <a:noFill/>
            </a:ln>
          </p:spPr>
          <p:txBody>
            <a:bodyPr anchor="ctr">
              <a:spAutoFit/>
            </a:bodyPr>
            <a:p>
              <a:pPr lvl="0" indent="0" algn="ctr"/>
              <a:r>
                <a:rPr lang="en-US" altLang="zh-CN" b="1" i="1" dirty="0">
                  <a:solidFill>
                    <a:srgbClr val="000099"/>
                  </a:solidFill>
                  <a:latin typeface="Times New Roman" panose="02020603050405020304" pitchFamily="18" charset="0"/>
                  <a:ea typeface="楷体_GB2312" pitchFamily="49" charset="-122"/>
                </a:rPr>
                <a:t>u</a:t>
              </a:r>
              <a:r>
                <a:rPr lang="en-US" altLang="zh-CN" b="1" baseline="-25000" dirty="0">
                  <a:solidFill>
                    <a:srgbClr val="000099"/>
                  </a:solidFill>
                  <a:latin typeface="Times New Roman" panose="02020603050405020304" pitchFamily="18" charset="0"/>
                  <a:ea typeface="楷体_GB2312" pitchFamily="49" charset="-122"/>
                </a:rPr>
                <a:t>BE</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445" name="Line 5"/>
            <p:cNvSpPr>
              <a:spLocks noChangeShapeType="1"/>
            </p:cNvSpPr>
            <p:nvPr/>
          </p:nvSpPr>
          <p:spPr bwMode="auto">
            <a:xfrm flipV="1">
              <a:off x="1056" y="3413"/>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46" name="Line 6"/>
            <p:cNvSpPr>
              <a:spLocks noChangeShapeType="1"/>
            </p:cNvSpPr>
            <p:nvPr/>
          </p:nvSpPr>
          <p:spPr bwMode="auto">
            <a:xfrm flipH="1" flipV="1">
              <a:off x="1056" y="3029"/>
              <a:ext cx="0" cy="792"/>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47" name="Line 7"/>
            <p:cNvSpPr>
              <a:spLocks noChangeShapeType="1"/>
            </p:cNvSpPr>
            <p:nvPr/>
          </p:nvSpPr>
          <p:spPr bwMode="auto">
            <a:xfrm>
              <a:off x="1056" y="3821"/>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73" name="Rectangle 8"/>
            <p:cNvSpPr/>
            <p:nvPr/>
          </p:nvSpPr>
          <p:spPr>
            <a:xfrm>
              <a:off x="1728" y="3701"/>
              <a:ext cx="169" cy="288"/>
            </a:xfrm>
            <a:prstGeom prst="rect">
              <a:avLst/>
            </a:prstGeom>
            <a:noFill/>
            <a:ln w="9525">
              <a:noFill/>
            </a:ln>
          </p:spPr>
          <p:txBody>
            <a:bodyPr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3874" name="Text Box 104"/>
            <p:cNvSpPr txBox="1"/>
            <p:nvPr/>
          </p:nvSpPr>
          <p:spPr>
            <a:xfrm>
              <a:off x="864" y="3720"/>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61556" name="Group 116"/>
          <p:cNvGrpSpPr/>
          <p:nvPr/>
        </p:nvGrpSpPr>
        <p:grpSpPr>
          <a:xfrm>
            <a:off x="2895600" y="4471988"/>
            <a:ext cx="1639888" cy="1911350"/>
            <a:chOff x="1824" y="2817"/>
            <a:chExt cx="1033" cy="1204"/>
          </a:xfrm>
        </p:grpSpPr>
        <p:sp>
          <p:nvSpPr>
            <p:cNvPr id="33876" name="Text Box 10"/>
            <p:cNvSpPr txBox="1"/>
            <p:nvPr/>
          </p:nvSpPr>
          <p:spPr>
            <a:xfrm>
              <a:off x="1920" y="2817"/>
              <a:ext cx="472" cy="288"/>
            </a:xfrm>
            <a:prstGeom prst="rect">
              <a:avLst/>
            </a:prstGeom>
            <a:noFill/>
            <a:ln w="28575">
              <a:noFill/>
            </a:ln>
          </p:spPr>
          <p:txBody>
            <a:bodyPr anchor="ctr">
              <a:spAutoFit/>
            </a:bodyPr>
            <a:p>
              <a:pPr lvl="0" indent="0" algn="ctr"/>
              <a:r>
                <a:rPr lang="en-US" altLang="zh-CN" b="1" i="1" dirty="0">
                  <a:solidFill>
                    <a:srgbClr val="000099"/>
                  </a:solidFill>
                  <a:latin typeface="Times New Roman" panose="02020603050405020304" pitchFamily="18" charset="0"/>
                  <a:ea typeface="楷体_GB2312" pitchFamily="49" charset="-122"/>
                </a:rPr>
                <a:t>i</a:t>
              </a:r>
              <a:r>
                <a:rPr lang="en-US" altLang="zh-CN" b="1" baseline="-25000" dirty="0">
                  <a:solidFill>
                    <a:srgbClr val="000099"/>
                  </a:solidFill>
                  <a:latin typeface="Times New Roman" panose="02020603050405020304" pitchFamily="18" charset="0"/>
                  <a:ea typeface="楷体_GB2312" pitchFamily="49" charset="-122"/>
                </a:rPr>
                <a:t>B</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451" name="Line 11"/>
            <p:cNvSpPr>
              <a:spLocks noChangeShapeType="1"/>
            </p:cNvSpPr>
            <p:nvPr/>
          </p:nvSpPr>
          <p:spPr bwMode="auto">
            <a:xfrm flipV="1">
              <a:off x="2016" y="3413"/>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52" name="Line 12"/>
            <p:cNvSpPr>
              <a:spLocks noChangeShapeType="1"/>
            </p:cNvSpPr>
            <p:nvPr/>
          </p:nvSpPr>
          <p:spPr bwMode="auto">
            <a:xfrm flipH="1" flipV="1">
              <a:off x="2016" y="3029"/>
              <a:ext cx="0" cy="81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53" name="Line 13"/>
            <p:cNvSpPr>
              <a:spLocks noChangeShapeType="1"/>
            </p:cNvSpPr>
            <p:nvPr/>
          </p:nvSpPr>
          <p:spPr bwMode="auto">
            <a:xfrm>
              <a:off x="2016" y="3845"/>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80" name="Rectangle 14"/>
            <p:cNvSpPr/>
            <p:nvPr/>
          </p:nvSpPr>
          <p:spPr>
            <a:xfrm>
              <a:off x="2688" y="3733"/>
              <a:ext cx="169" cy="288"/>
            </a:xfrm>
            <a:prstGeom prst="rect">
              <a:avLst/>
            </a:prstGeom>
            <a:noFill/>
            <a:ln w="9525">
              <a:noFill/>
            </a:ln>
          </p:spPr>
          <p:txBody>
            <a:bodyPr wrap="none"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3881" name="Rectangle 106"/>
            <p:cNvSpPr/>
            <p:nvPr/>
          </p:nvSpPr>
          <p:spPr>
            <a:xfrm>
              <a:off x="1824" y="3744"/>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61555" name="Group 115"/>
          <p:cNvGrpSpPr/>
          <p:nvPr/>
        </p:nvGrpSpPr>
        <p:grpSpPr>
          <a:xfrm>
            <a:off x="4419600" y="3810000"/>
            <a:ext cx="1662113" cy="2579688"/>
            <a:chOff x="2784" y="2400"/>
            <a:chExt cx="1047" cy="1625"/>
          </a:xfrm>
        </p:grpSpPr>
        <p:sp>
          <p:nvSpPr>
            <p:cNvPr id="33883" name="Text Box 16"/>
            <p:cNvSpPr txBox="1"/>
            <p:nvPr/>
          </p:nvSpPr>
          <p:spPr>
            <a:xfrm>
              <a:off x="2880" y="2400"/>
              <a:ext cx="472" cy="288"/>
            </a:xfrm>
            <a:prstGeom prst="rect">
              <a:avLst/>
            </a:prstGeom>
            <a:noFill/>
            <a:ln w="28575">
              <a:noFill/>
            </a:ln>
          </p:spPr>
          <p:txBody>
            <a:bodyPr anchor="ctr">
              <a:spAutoFit/>
            </a:bodyPr>
            <a:p>
              <a:pPr lvl="0" indent="0" algn="ctr"/>
              <a:r>
                <a:rPr lang="en-US" altLang="zh-CN" b="1" i="1" dirty="0">
                  <a:solidFill>
                    <a:srgbClr val="000099"/>
                  </a:solidFill>
                  <a:latin typeface="Times New Roman" panose="02020603050405020304" pitchFamily="18" charset="0"/>
                  <a:ea typeface="楷体_GB2312" pitchFamily="49" charset="-122"/>
                </a:rPr>
                <a:t>i</a:t>
              </a:r>
              <a:r>
                <a:rPr lang="en-US" altLang="zh-CN" b="1" baseline="-25000" dirty="0">
                  <a:solidFill>
                    <a:srgbClr val="000099"/>
                  </a:solidFill>
                  <a:latin typeface="Times New Roman" panose="02020603050405020304" pitchFamily="18" charset="0"/>
                  <a:ea typeface="楷体_GB2312" pitchFamily="49" charset="-122"/>
                </a:rPr>
                <a:t>C</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457" name="Line 17"/>
            <p:cNvSpPr>
              <a:spLocks noChangeShapeType="1"/>
            </p:cNvSpPr>
            <p:nvPr/>
          </p:nvSpPr>
          <p:spPr bwMode="auto">
            <a:xfrm flipV="1">
              <a:off x="2976" y="3120"/>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58" name="Line 18"/>
            <p:cNvSpPr>
              <a:spLocks noChangeShapeType="1"/>
            </p:cNvSpPr>
            <p:nvPr/>
          </p:nvSpPr>
          <p:spPr bwMode="auto">
            <a:xfrm flipH="1" flipV="1">
              <a:off x="2976" y="2592"/>
              <a:ext cx="0" cy="1272"/>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59" name="Line 19"/>
            <p:cNvSpPr>
              <a:spLocks noChangeShapeType="1"/>
            </p:cNvSpPr>
            <p:nvPr/>
          </p:nvSpPr>
          <p:spPr bwMode="auto">
            <a:xfrm>
              <a:off x="2976" y="3864"/>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87" name="Rectangle 20"/>
            <p:cNvSpPr/>
            <p:nvPr/>
          </p:nvSpPr>
          <p:spPr>
            <a:xfrm>
              <a:off x="3662" y="3737"/>
              <a:ext cx="169" cy="288"/>
            </a:xfrm>
            <a:prstGeom prst="rect">
              <a:avLst/>
            </a:prstGeom>
            <a:noFill/>
            <a:ln w="9525">
              <a:noFill/>
            </a:ln>
          </p:spPr>
          <p:txBody>
            <a:bodyPr wrap="none"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3888" name="Rectangle 108"/>
            <p:cNvSpPr/>
            <p:nvPr/>
          </p:nvSpPr>
          <p:spPr>
            <a:xfrm>
              <a:off x="2784" y="3753"/>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61554" name="Group 114"/>
          <p:cNvGrpSpPr/>
          <p:nvPr/>
        </p:nvGrpSpPr>
        <p:grpSpPr>
          <a:xfrm>
            <a:off x="5980113" y="3665538"/>
            <a:ext cx="1639887" cy="2732087"/>
            <a:chOff x="3767" y="2309"/>
            <a:chExt cx="1033" cy="1721"/>
          </a:xfrm>
        </p:grpSpPr>
        <p:sp>
          <p:nvSpPr>
            <p:cNvPr id="33890" name="Text Box 36"/>
            <p:cNvSpPr txBox="1"/>
            <p:nvPr/>
          </p:nvSpPr>
          <p:spPr>
            <a:xfrm>
              <a:off x="3863" y="2309"/>
              <a:ext cx="472" cy="288"/>
            </a:xfrm>
            <a:prstGeom prst="rect">
              <a:avLst/>
            </a:prstGeom>
            <a:noFill/>
            <a:ln w="28575">
              <a:noFill/>
            </a:ln>
          </p:spPr>
          <p:txBody>
            <a:bodyPr anchor="ctr">
              <a:spAutoFit/>
            </a:bodyPr>
            <a:p>
              <a:pPr lvl="0" indent="0" algn="ctr"/>
              <a:r>
                <a:rPr lang="en-US" altLang="zh-CN" b="1" i="1" dirty="0">
                  <a:solidFill>
                    <a:srgbClr val="000099"/>
                  </a:solidFill>
                  <a:latin typeface="Times New Roman" panose="02020603050405020304" pitchFamily="18" charset="0"/>
                  <a:ea typeface="楷体_GB2312" pitchFamily="49" charset="-122"/>
                </a:rPr>
                <a:t>u</a:t>
              </a:r>
              <a:r>
                <a:rPr lang="en-US" altLang="zh-CN" b="1" baseline="-25000" dirty="0">
                  <a:solidFill>
                    <a:srgbClr val="000099"/>
                  </a:solidFill>
                  <a:latin typeface="Times New Roman" panose="02020603050405020304" pitchFamily="18" charset="0"/>
                  <a:ea typeface="楷体_GB2312" pitchFamily="49" charset="-122"/>
                </a:rPr>
                <a:t>CE</a:t>
              </a:r>
              <a:endParaRPr lang="en-US" altLang="zh-CN" b="1" baseline="-25000" dirty="0">
                <a:solidFill>
                  <a:srgbClr val="000099"/>
                </a:solidFill>
                <a:latin typeface="Times New Roman" panose="02020603050405020304" pitchFamily="18" charset="0"/>
                <a:ea typeface="楷体_GB2312" pitchFamily="49" charset="-122"/>
              </a:endParaRPr>
            </a:p>
          </p:txBody>
        </p:sp>
        <p:sp>
          <p:nvSpPr>
            <p:cNvPr id="61477" name="Line 37"/>
            <p:cNvSpPr>
              <a:spLocks noChangeShapeType="1"/>
            </p:cNvSpPr>
            <p:nvPr/>
          </p:nvSpPr>
          <p:spPr bwMode="auto">
            <a:xfrm flipV="1">
              <a:off x="3959" y="3077"/>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78" name="Line 38"/>
            <p:cNvSpPr>
              <a:spLocks noChangeShapeType="1"/>
            </p:cNvSpPr>
            <p:nvPr/>
          </p:nvSpPr>
          <p:spPr bwMode="auto">
            <a:xfrm flipH="1" flipV="1">
              <a:off x="3959" y="2549"/>
              <a:ext cx="0" cy="129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479" name="Line 39"/>
            <p:cNvSpPr>
              <a:spLocks noChangeShapeType="1"/>
            </p:cNvSpPr>
            <p:nvPr/>
          </p:nvSpPr>
          <p:spPr bwMode="auto">
            <a:xfrm>
              <a:off x="3959" y="3845"/>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894" name="Rectangle 40"/>
            <p:cNvSpPr/>
            <p:nvPr/>
          </p:nvSpPr>
          <p:spPr>
            <a:xfrm>
              <a:off x="4631" y="3742"/>
              <a:ext cx="169" cy="288"/>
            </a:xfrm>
            <a:prstGeom prst="rect">
              <a:avLst/>
            </a:prstGeom>
            <a:noFill/>
            <a:ln w="9525">
              <a:noFill/>
            </a:ln>
          </p:spPr>
          <p:txBody>
            <a:bodyPr wrap="none"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3895" name="Rectangle 112"/>
            <p:cNvSpPr/>
            <p:nvPr/>
          </p:nvSpPr>
          <p:spPr>
            <a:xfrm>
              <a:off x="3767" y="3753"/>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3"/>
                                        </p:tgtEl>
                                        <p:attrNameLst>
                                          <p:attrName>style.visibility</p:attrName>
                                        </p:attrNameLst>
                                      </p:cBhvr>
                                      <p:to>
                                        <p:strVal val="visible"/>
                                      </p:to>
                                    </p:set>
                                    <p:animEffect transition="in" filter="blinds(horizontal)">
                                      <p:cBhvr>
                                        <p:cTn id="7" dur="500"/>
                                        <p:tgtEl>
                                          <p:spTgt spid="614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84"/>
                                        </p:tgtEl>
                                        <p:attrNameLst>
                                          <p:attrName>style.visibility</p:attrName>
                                        </p:attrNameLst>
                                      </p:cBhvr>
                                      <p:to>
                                        <p:strVal val="visible"/>
                                      </p:to>
                                    </p:set>
                                    <p:animEffect transition="in" filter="blinds(horizontal)">
                                      <p:cBhvr>
                                        <p:cTn id="12" dur="500"/>
                                        <p:tgtEl>
                                          <p:spTgt spid="614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557"/>
                                        </p:tgtEl>
                                        <p:attrNameLst>
                                          <p:attrName>style.visibility</p:attrName>
                                        </p:attrNameLst>
                                      </p:cBhvr>
                                      <p:to>
                                        <p:strVal val="visible"/>
                                      </p:to>
                                    </p:set>
                                    <p:animEffect transition="in" filter="wipe(left)">
                                      <p:cBhvr>
                                        <p:cTn id="17" dur="500"/>
                                        <p:tgtEl>
                                          <p:spTgt spid="61557"/>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61461"/>
                                        </p:tgtEl>
                                        <p:attrNameLst>
                                          <p:attrName>style.visibility</p:attrName>
                                        </p:attrNameLst>
                                      </p:cBhvr>
                                      <p:to>
                                        <p:strVal val="visible"/>
                                      </p:to>
                                    </p:set>
                                    <p:animEffect transition="in" filter="wipe(up)">
                                      <p:cBhvr>
                                        <p:cTn id="21" dur="500"/>
                                        <p:tgtEl>
                                          <p:spTgt spid="6146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1556"/>
                                        </p:tgtEl>
                                        <p:attrNameLst>
                                          <p:attrName>style.visibility</p:attrName>
                                        </p:attrNameLst>
                                      </p:cBhvr>
                                      <p:to>
                                        <p:strVal val="visible"/>
                                      </p:to>
                                    </p:set>
                                    <p:animEffect transition="in" filter="wipe(left)">
                                      <p:cBhvr>
                                        <p:cTn id="26" dur="500"/>
                                        <p:tgtEl>
                                          <p:spTgt spid="61556"/>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61464"/>
                                        </p:tgtEl>
                                        <p:attrNameLst>
                                          <p:attrName>style.visibility</p:attrName>
                                        </p:attrNameLst>
                                      </p:cBhvr>
                                      <p:to>
                                        <p:strVal val="visible"/>
                                      </p:to>
                                    </p:set>
                                    <p:animEffect transition="in" filter="wipe(up)">
                                      <p:cBhvr>
                                        <p:cTn id="30" dur="500"/>
                                        <p:tgtEl>
                                          <p:spTgt spid="6146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1555"/>
                                        </p:tgtEl>
                                        <p:attrNameLst>
                                          <p:attrName>style.visibility</p:attrName>
                                        </p:attrNameLst>
                                      </p:cBhvr>
                                      <p:to>
                                        <p:strVal val="visible"/>
                                      </p:to>
                                    </p:set>
                                    <p:animEffect transition="in" filter="wipe(left)">
                                      <p:cBhvr>
                                        <p:cTn id="35" dur="500"/>
                                        <p:tgtEl>
                                          <p:spTgt spid="61555"/>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61467"/>
                                        </p:tgtEl>
                                        <p:attrNameLst>
                                          <p:attrName>style.visibility</p:attrName>
                                        </p:attrNameLst>
                                      </p:cBhvr>
                                      <p:to>
                                        <p:strVal val="visible"/>
                                      </p:to>
                                    </p:set>
                                    <p:animEffect transition="in" filter="wipe(up)">
                                      <p:cBhvr>
                                        <p:cTn id="39" dur="500"/>
                                        <p:tgtEl>
                                          <p:spTgt spid="6146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1554"/>
                                        </p:tgtEl>
                                        <p:attrNameLst>
                                          <p:attrName>style.visibility</p:attrName>
                                        </p:attrNameLst>
                                      </p:cBhvr>
                                      <p:to>
                                        <p:strVal val="visible"/>
                                      </p:to>
                                    </p:set>
                                    <p:animEffect transition="in" filter="wipe(left)">
                                      <p:cBhvr>
                                        <p:cTn id="44" dur="500"/>
                                        <p:tgtEl>
                                          <p:spTgt spid="61554"/>
                                        </p:tgtEl>
                                      </p:cBhvr>
                                    </p:animEffect>
                                  </p:childTnLst>
                                </p:cTn>
                              </p:par>
                            </p:childTnLst>
                          </p:cTn>
                        </p:par>
                        <p:par>
                          <p:cTn id="45" fill="hold">
                            <p:stCondLst>
                              <p:cond delay="500"/>
                            </p:stCondLst>
                            <p:childTnLst>
                              <p:par>
                                <p:cTn id="46" presetID="22" presetClass="entr" presetSubtype="1" fill="hold" nodeType="afterEffect">
                                  <p:stCondLst>
                                    <p:cond delay="0"/>
                                  </p:stCondLst>
                                  <p:childTnLst>
                                    <p:set>
                                      <p:cBhvr>
                                        <p:cTn id="47" dur="1" fill="hold">
                                          <p:stCondLst>
                                            <p:cond delay="0"/>
                                          </p:stCondLst>
                                        </p:cTn>
                                        <p:tgtEl>
                                          <p:spTgt spid="61470"/>
                                        </p:tgtEl>
                                        <p:attrNameLst>
                                          <p:attrName>style.visibility</p:attrName>
                                        </p:attrNameLst>
                                      </p:cBhvr>
                                      <p:to>
                                        <p:strVal val="visible"/>
                                      </p:to>
                                    </p:set>
                                    <p:animEffect transition="in" filter="wipe(up)">
                                      <p:cBhvr>
                                        <p:cTn id="48" dur="500"/>
                                        <p:tgtEl>
                                          <p:spTgt spid="6147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61474">
                                            <p:txEl>
                                              <p:charRg st="0" end="9"/>
                                            </p:txEl>
                                          </p:spTgt>
                                        </p:tgtEl>
                                        <p:attrNameLst>
                                          <p:attrName>style.visibility</p:attrName>
                                        </p:attrNameLst>
                                      </p:cBhvr>
                                      <p:to>
                                        <p:strVal val="visible"/>
                                      </p:to>
                                    </p:set>
                                    <p:animEffect transition="in" filter="blinds(horizontal)">
                                      <p:cBhvr>
                                        <p:cTn id="53" dur="500"/>
                                        <p:tgtEl>
                                          <p:spTgt spid="61474">
                                            <p:txEl>
                                              <p:charRg st="0" end="9"/>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61474">
                                            <p:txEl>
                                              <p:charRg st="9" end="19"/>
                                            </p:txEl>
                                          </p:spTgt>
                                        </p:tgtEl>
                                        <p:attrNameLst>
                                          <p:attrName>style.visibility</p:attrName>
                                        </p:attrNameLst>
                                      </p:cBhvr>
                                      <p:to>
                                        <p:strVal val="visible"/>
                                      </p:to>
                                    </p:set>
                                    <p:animEffect transition="in" filter="blinds(horizontal)">
                                      <p:cBhvr>
                                        <p:cTn id="58" dur="500"/>
                                        <p:tgtEl>
                                          <p:spTgt spid="61474">
                                            <p:txEl>
                                              <p:charRg st="9" end="1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61474">
                                            <p:txEl>
                                              <p:charRg st="19" end="29"/>
                                            </p:txEl>
                                          </p:spTgt>
                                        </p:tgtEl>
                                        <p:attrNameLst>
                                          <p:attrName>style.visibility</p:attrName>
                                        </p:attrNameLst>
                                      </p:cBhvr>
                                      <p:to>
                                        <p:strVal val="visible"/>
                                      </p:to>
                                    </p:set>
                                    <p:animEffect transition="in" filter="blinds(horizontal)">
                                      <p:cBhvr>
                                        <p:cTn id="63" dur="500"/>
                                        <p:tgtEl>
                                          <p:spTgt spid="61474">
                                            <p:txEl>
                                              <p:charRg st="19" end="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3" grpId="0"/>
      <p:bldP spid="6147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63541" name="Group 53"/>
          <p:cNvGrpSpPr/>
          <p:nvPr/>
        </p:nvGrpSpPr>
        <p:grpSpPr>
          <a:xfrm>
            <a:off x="5105400" y="1766888"/>
            <a:ext cx="3744913" cy="2973387"/>
            <a:chOff x="3216" y="1113"/>
            <a:chExt cx="2359" cy="1873"/>
          </a:xfrm>
        </p:grpSpPr>
        <p:sp>
          <p:nvSpPr>
            <p:cNvPr id="35842" name="Text Box 21"/>
            <p:cNvSpPr txBox="1"/>
            <p:nvPr/>
          </p:nvSpPr>
          <p:spPr>
            <a:xfrm>
              <a:off x="3456" y="1113"/>
              <a:ext cx="512" cy="327"/>
            </a:xfrm>
            <a:prstGeom prst="rect">
              <a:avLst/>
            </a:prstGeom>
            <a:noFill/>
            <a:ln w="38100">
              <a:noFill/>
            </a:ln>
          </p:spPr>
          <p:txBody>
            <a:bodyPr lIns="90000" tIns="46800" rIns="90000" bIns="46800" anchor="ctr">
              <a:spAutoFit/>
            </a:bodyPr>
            <a:p>
              <a:pPr lvl="0" indent="0">
                <a:spcBef>
                  <a:spcPct val="50000"/>
                </a:spcBef>
              </a:pPr>
              <a:r>
                <a:rPr lang="en-US" altLang="zh-CN" sz="2800" b="1" i="1" dirty="0">
                  <a:latin typeface="Times New Roman" panose="02020603050405020304" pitchFamily="18" charset="0"/>
                  <a:ea typeface="楷体_GB2312" pitchFamily="49" charset="-122"/>
                </a:rPr>
                <a:t>I</a:t>
              </a:r>
              <a:r>
                <a:rPr lang="en-US" altLang="zh-CN" sz="2800" b="1" baseline="-25000" dirty="0">
                  <a:latin typeface="Times New Roman" panose="02020603050405020304" pitchFamily="18" charset="0"/>
                  <a:ea typeface="楷体_GB2312" pitchFamily="49" charset="-122"/>
                </a:rPr>
                <a:t>C</a:t>
              </a:r>
              <a:endParaRPr lang="en-US" altLang="zh-CN" sz="2800" b="1" baseline="-25000" dirty="0">
                <a:latin typeface="Times New Roman" panose="02020603050405020304" pitchFamily="18" charset="0"/>
                <a:ea typeface="楷体_GB2312" pitchFamily="49" charset="-122"/>
              </a:endParaRPr>
            </a:p>
          </p:txBody>
        </p:sp>
        <p:sp>
          <p:nvSpPr>
            <p:cNvPr id="35843" name="Text Box 22"/>
            <p:cNvSpPr txBox="1"/>
            <p:nvPr/>
          </p:nvSpPr>
          <p:spPr>
            <a:xfrm>
              <a:off x="5088" y="2592"/>
              <a:ext cx="487" cy="327"/>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latin typeface="Times New Roman" panose="02020603050405020304" pitchFamily="18" charset="0"/>
                  <a:ea typeface="楷体_GB2312" pitchFamily="49" charset="-122"/>
                </a:rPr>
                <a:t>U</a:t>
              </a:r>
              <a:r>
                <a:rPr lang="en-US" altLang="zh-CN" sz="2800" b="1" baseline="-25000" dirty="0">
                  <a:latin typeface="Times New Roman" panose="02020603050405020304" pitchFamily="18" charset="0"/>
                  <a:ea typeface="楷体_GB2312" pitchFamily="49" charset="-122"/>
                </a:rPr>
                <a:t>CE</a:t>
              </a:r>
              <a:endParaRPr lang="en-US" altLang="zh-CN" sz="2800" b="1" baseline="-25000" dirty="0">
                <a:latin typeface="Times New Roman" panose="02020603050405020304" pitchFamily="18" charset="0"/>
                <a:ea typeface="楷体_GB2312" pitchFamily="49" charset="-122"/>
              </a:endParaRPr>
            </a:p>
          </p:txBody>
        </p:sp>
        <p:grpSp>
          <p:nvGrpSpPr>
            <p:cNvPr id="35844" name="Group 23"/>
            <p:cNvGrpSpPr/>
            <p:nvPr/>
          </p:nvGrpSpPr>
          <p:grpSpPr>
            <a:xfrm>
              <a:off x="3414" y="1263"/>
              <a:ext cx="1801" cy="1597"/>
              <a:chOff x="3180" y="1585"/>
              <a:chExt cx="1584" cy="1896"/>
            </a:xfrm>
          </p:grpSpPr>
          <p:sp>
            <p:nvSpPr>
              <p:cNvPr id="63512" name="Line 24"/>
              <p:cNvSpPr>
                <a:spLocks noChangeShapeType="1"/>
              </p:cNvSpPr>
              <p:nvPr/>
            </p:nvSpPr>
            <p:spPr bwMode="auto">
              <a:xfrm flipV="1">
                <a:off x="3180" y="3481"/>
                <a:ext cx="1584" cy="0"/>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5846" name="Group 25"/>
              <p:cNvGrpSpPr/>
              <p:nvPr/>
            </p:nvGrpSpPr>
            <p:grpSpPr>
              <a:xfrm>
                <a:off x="3181" y="1585"/>
                <a:ext cx="1288" cy="1896"/>
                <a:chOff x="3181" y="1753"/>
                <a:chExt cx="1288" cy="1896"/>
              </a:xfrm>
            </p:grpSpPr>
            <p:sp>
              <p:nvSpPr>
                <p:cNvPr id="63514" name="Line 26"/>
                <p:cNvSpPr>
                  <a:spLocks noChangeShapeType="1"/>
                </p:cNvSpPr>
                <p:nvPr/>
              </p:nvSpPr>
              <p:spPr bwMode="auto">
                <a:xfrm flipH="1" flipV="1">
                  <a:off x="3192" y="1753"/>
                  <a:ext cx="0" cy="1896"/>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5848" name="Group 27"/>
                <p:cNvGrpSpPr/>
                <p:nvPr/>
              </p:nvGrpSpPr>
              <p:grpSpPr>
                <a:xfrm>
                  <a:off x="3181" y="2028"/>
                  <a:ext cx="1288" cy="1609"/>
                  <a:chOff x="3181" y="1260"/>
                  <a:chExt cx="2387" cy="2377"/>
                </a:xfrm>
              </p:grpSpPr>
              <p:sp>
                <p:nvSpPr>
                  <p:cNvPr id="63516" name="Freeform 28"/>
                  <p:cNvSpPr/>
                  <p:nvPr/>
                </p:nvSpPr>
                <p:spPr bwMode="auto">
                  <a:xfrm>
                    <a:off x="3181" y="3505"/>
                    <a:ext cx="2387" cy="131"/>
                  </a:xfrm>
                  <a:custGeom>
                    <a:avLst/>
                    <a:gdLst>
                      <a:gd name="T0" fmla="*/ 19 w 2387"/>
                      <a:gd name="T1" fmla="*/ 131 h 131"/>
                      <a:gd name="T2" fmla="*/ 69 w 2387"/>
                      <a:gd name="T3" fmla="*/ 95 h 131"/>
                      <a:gd name="T4" fmla="*/ 431 w 2387"/>
                      <a:gd name="T5" fmla="*/ 24 h 131"/>
                      <a:gd name="T6" fmla="*/ 2387 w 2387"/>
                      <a:gd name="T7" fmla="*/ 0 h 131"/>
                    </a:gdLst>
                    <a:ahLst/>
                    <a:cxnLst>
                      <a:cxn ang="0">
                        <a:pos x="T0" y="T1"/>
                      </a:cxn>
                      <a:cxn ang="0">
                        <a:pos x="T2" y="T3"/>
                      </a:cxn>
                      <a:cxn ang="0">
                        <a:pos x="T4" y="T5"/>
                      </a:cxn>
                      <a:cxn ang="0">
                        <a:pos x="T6" y="T7"/>
                      </a:cxn>
                    </a:cxnLst>
                    <a:rect l="0" t="0" r="r" b="b"/>
                    <a:pathLst>
                      <a:path w="2387" h="131">
                        <a:moveTo>
                          <a:pt x="19" y="131"/>
                        </a:moveTo>
                        <a:cubicBezTo>
                          <a:pt x="27" y="125"/>
                          <a:pt x="0" y="113"/>
                          <a:pt x="69" y="95"/>
                        </a:cubicBezTo>
                        <a:cubicBezTo>
                          <a:pt x="138" y="77"/>
                          <a:pt x="45" y="40"/>
                          <a:pt x="431" y="24"/>
                        </a:cubicBezTo>
                        <a:cubicBezTo>
                          <a:pt x="817" y="8"/>
                          <a:pt x="1980" y="5"/>
                          <a:pt x="2387"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3517" name="Freeform 29"/>
                  <p:cNvSpPr/>
                  <p:nvPr/>
                </p:nvSpPr>
                <p:spPr bwMode="auto">
                  <a:xfrm>
                    <a:off x="3200" y="3133"/>
                    <a:ext cx="2308" cy="504"/>
                  </a:xfrm>
                  <a:custGeom>
                    <a:avLst/>
                    <a:gdLst>
                      <a:gd name="T0" fmla="*/ 0 w 2308"/>
                      <a:gd name="T1" fmla="*/ 504 h 504"/>
                      <a:gd name="T2" fmla="*/ 15 w 2308"/>
                      <a:gd name="T3" fmla="*/ 314 h 504"/>
                      <a:gd name="T4" fmla="*/ 52 w 2308"/>
                      <a:gd name="T5" fmla="*/ 276 h 504"/>
                      <a:gd name="T6" fmla="*/ 172 w 2308"/>
                      <a:gd name="T7" fmla="*/ 156 h 504"/>
                      <a:gd name="T8" fmla="*/ 340 w 2308"/>
                      <a:gd name="T9" fmla="*/ 72 h 504"/>
                      <a:gd name="T10" fmla="*/ 748 w 2308"/>
                      <a:gd name="T11" fmla="*/ 48 h 504"/>
                      <a:gd name="T12" fmla="*/ 2308 w 2308"/>
                      <a:gd name="T13" fmla="*/ 0 h 504"/>
                    </a:gdLst>
                    <a:ahLst/>
                    <a:cxnLst>
                      <a:cxn ang="0">
                        <a:pos x="T0" y="T1"/>
                      </a:cxn>
                      <a:cxn ang="0">
                        <a:pos x="T2" y="T3"/>
                      </a:cxn>
                      <a:cxn ang="0">
                        <a:pos x="T4" y="T5"/>
                      </a:cxn>
                      <a:cxn ang="0">
                        <a:pos x="T6" y="T7"/>
                      </a:cxn>
                      <a:cxn ang="0">
                        <a:pos x="T8" y="T9"/>
                      </a:cxn>
                      <a:cxn ang="0">
                        <a:pos x="T10" y="T11"/>
                      </a:cxn>
                      <a:cxn ang="0">
                        <a:pos x="T12" y="T13"/>
                      </a:cxn>
                    </a:cxnLst>
                    <a:rect l="0" t="0" r="r" b="b"/>
                    <a:pathLst>
                      <a:path w="2308" h="504">
                        <a:moveTo>
                          <a:pt x="0" y="504"/>
                        </a:moveTo>
                        <a:cubicBezTo>
                          <a:pt x="3" y="472"/>
                          <a:pt x="6" y="352"/>
                          <a:pt x="15" y="314"/>
                        </a:cubicBezTo>
                        <a:cubicBezTo>
                          <a:pt x="24" y="276"/>
                          <a:pt x="26" y="302"/>
                          <a:pt x="52" y="276"/>
                        </a:cubicBezTo>
                        <a:cubicBezTo>
                          <a:pt x="78" y="250"/>
                          <a:pt x="124" y="190"/>
                          <a:pt x="172" y="156"/>
                        </a:cubicBezTo>
                        <a:cubicBezTo>
                          <a:pt x="220" y="122"/>
                          <a:pt x="244" y="90"/>
                          <a:pt x="340" y="72"/>
                        </a:cubicBezTo>
                        <a:cubicBezTo>
                          <a:pt x="436" y="54"/>
                          <a:pt x="420" y="60"/>
                          <a:pt x="748" y="48"/>
                        </a:cubicBezTo>
                        <a:cubicBezTo>
                          <a:pt x="1076" y="36"/>
                          <a:pt x="1983" y="10"/>
                          <a:pt x="2308"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3518" name="Freeform 30"/>
                  <p:cNvSpPr/>
                  <p:nvPr/>
                </p:nvSpPr>
                <p:spPr bwMode="auto">
                  <a:xfrm>
                    <a:off x="3197" y="2689"/>
                    <a:ext cx="2299" cy="948"/>
                  </a:xfrm>
                  <a:custGeom>
                    <a:avLst/>
                    <a:gdLst>
                      <a:gd name="T0" fmla="*/ 0 w 2299"/>
                      <a:gd name="T1" fmla="*/ 948 h 948"/>
                      <a:gd name="T2" fmla="*/ 55 w 2299"/>
                      <a:gd name="T3" fmla="*/ 408 h 948"/>
                      <a:gd name="T4" fmla="*/ 211 w 2299"/>
                      <a:gd name="T5" fmla="*/ 156 h 948"/>
                      <a:gd name="T6" fmla="*/ 413 w 2299"/>
                      <a:gd name="T7" fmla="*/ 69 h 948"/>
                      <a:gd name="T8" fmla="*/ 1207 w 2299"/>
                      <a:gd name="T9" fmla="*/ 12 h 948"/>
                      <a:gd name="T10" fmla="*/ 2299 w 2299"/>
                      <a:gd name="T11" fmla="*/ 0 h 948"/>
                    </a:gdLst>
                    <a:ahLst/>
                    <a:cxnLst>
                      <a:cxn ang="0">
                        <a:pos x="T0" y="T1"/>
                      </a:cxn>
                      <a:cxn ang="0">
                        <a:pos x="T2" y="T3"/>
                      </a:cxn>
                      <a:cxn ang="0">
                        <a:pos x="T4" y="T5"/>
                      </a:cxn>
                      <a:cxn ang="0">
                        <a:pos x="T6" y="T7"/>
                      </a:cxn>
                      <a:cxn ang="0">
                        <a:pos x="T8" y="T9"/>
                      </a:cxn>
                      <a:cxn ang="0">
                        <a:pos x="T10" y="T11"/>
                      </a:cxn>
                    </a:cxnLst>
                    <a:rect l="0" t="0" r="r" b="b"/>
                    <a:pathLst>
                      <a:path w="2299" h="948">
                        <a:moveTo>
                          <a:pt x="0" y="948"/>
                        </a:moveTo>
                        <a:cubicBezTo>
                          <a:pt x="9" y="858"/>
                          <a:pt x="20" y="540"/>
                          <a:pt x="55" y="408"/>
                        </a:cubicBezTo>
                        <a:cubicBezTo>
                          <a:pt x="90" y="276"/>
                          <a:pt x="151" y="212"/>
                          <a:pt x="211" y="156"/>
                        </a:cubicBezTo>
                        <a:cubicBezTo>
                          <a:pt x="271" y="100"/>
                          <a:pt x="247" y="93"/>
                          <a:pt x="413" y="69"/>
                        </a:cubicBezTo>
                        <a:cubicBezTo>
                          <a:pt x="579" y="45"/>
                          <a:pt x="893" y="23"/>
                          <a:pt x="1207" y="12"/>
                        </a:cubicBezTo>
                        <a:cubicBezTo>
                          <a:pt x="1521" y="1"/>
                          <a:pt x="2072" y="2"/>
                          <a:pt x="2299"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3519" name="Freeform 31"/>
                  <p:cNvSpPr/>
                  <p:nvPr/>
                </p:nvSpPr>
                <p:spPr bwMode="auto">
                  <a:xfrm>
                    <a:off x="3200" y="2221"/>
                    <a:ext cx="2260" cy="1380"/>
                  </a:xfrm>
                  <a:custGeom>
                    <a:avLst/>
                    <a:gdLst>
                      <a:gd name="T0" fmla="*/ 0 w 2260"/>
                      <a:gd name="T1" fmla="*/ 1380 h 1380"/>
                      <a:gd name="T2" fmla="*/ 73 w 2260"/>
                      <a:gd name="T3" fmla="*/ 525 h 1380"/>
                      <a:gd name="T4" fmla="*/ 155 w 2260"/>
                      <a:gd name="T5" fmla="*/ 157 h 1380"/>
                      <a:gd name="T6" fmla="*/ 483 w 2260"/>
                      <a:gd name="T7" fmla="*/ 50 h 1380"/>
                      <a:gd name="T8" fmla="*/ 2260 w 2260"/>
                      <a:gd name="T9" fmla="*/ 0 h 1380"/>
                    </a:gdLst>
                    <a:ahLst/>
                    <a:cxnLst>
                      <a:cxn ang="0">
                        <a:pos x="T0" y="T1"/>
                      </a:cxn>
                      <a:cxn ang="0">
                        <a:pos x="T2" y="T3"/>
                      </a:cxn>
                      <a:cxn ang="0">
                        <a:pos x="T4" y="T5"/>
                      </a:cxn>
                      <a:cxn ang="0">
                        <a:pos x="T6" y="T7"/>
                      </a:cxn>
                      <a:cxn ang="0">
                        <a:pos x="T8" y="T9"/>
                      </a:cxn>
                    </a:cxnLst>
                    <a:rect l="0" t="0" r="r" b="b"/>
                    <a:pathLst>
                      <a:path w="2260" h="1380">
                        <a:moveTo>
                          <a:pt x="0" y="1380"/>
                        </a:moveTo>
                        <a:cubicBezTo>
                          <a:pt x="12" y="1237"/>
                          <a:pt x="48" y="729"/>
                          <a:pt x="73" y="525"/>
                        </a:cubicBezTo>
                        <a:cubicBezTo>
                          <a:pt x="99" y="321"/>
                          <a:pt x="86" y="236"/>
                          <a:pt x="155" y="157"/>
                        </a:cubicBezTo>
                        <a:cubicBezTo>
                          <a:pt x="223" y="77"/>
                          <a:pt x="132" y="76"/>
                          <a:pt x="483" y="50"/>
                        </a:cubicBezTo>
                        <a:cubicBezTo>
                          <a:pt x="834" y="24"/>
                          <a:pt x="1890" y="10"/>
                          <a:pt x="2260"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3520" name="Freeform 32"/>
                  <p:cNvSpPr/>
                  <p:nvPr/>
                </p:nvSpPr>
                <p:spPr bwMode="auto">
                  <a:xfrm>
                    <a:off x="3200" y="1813"/>
                    <a:ext cx="2224" cy="1788"/>
                  </a:xfrm>
                  <a:custGeom>
                    <a:avLst/>
                    <a:gdLst>
                      <a:gd name="T0" fmla="*/ 0 w 2224"/>
                      <a:gd name="T1" fmla="*/ 1788 h 1788"/>
                      <a:gd name="T2" fmla="*/ 89 w 2224"/>
                      <a:gd name="T3" fmla="*/ 754 h 1788"/>
                      <a:gd name="T4" fmla="*/ 112 w 2224"/>
                      <a:gd name="T5" fmla="*/ 312 h 1788"/>
                      <a:gd name="T6" fmla="*/ 209 w 2224"/>
                      <a:gd name="T7" fmla="*/ 125 h 1788"/>
                      <a:gd name="T8" fmla="*/ 640 w 2224"/>
                      <a:gd name="T9" fmla="*/ 36 h 1788"/>
                      <a:gd name="T10" fmla="*/ 2224 w 2224"/>
                      <a:gd name="T11" fmla="*/ 0 h 1788"/>
                    </a:gdLst>
                    <a:ahLst/>
                    <a:cxnLst>
                      <a:cxn ang="0">
                        <a:pos x="T0" y="T1"/>
                      </a:cxn>
                      <a:cxn ang="0">
                        <a:pos x="T2" y="T3"/>
                      </a:cxn>
                      <a:cxn ang="0">
                        <a:pos x="T4" y="T5"/>
                      </a:cxn>
                      <a:cxn ang="0">
                        <a:pos x="T6" y="T7"/>
                      </a:cxn>
                      <a:cxn ang="0">
                        <a:pos x="T8" y="T9"/>
                      </a:cxn>
                      <a:cxn ang="0">
                        <a:pos x="T10" y="T11"/>
                      </a:cxn>
                    </a:cxnLst>
                    <a:rect l="0" t="0" r="r" b="b"/>
                    <a:pathLst>
                      <a:path w="2224" h="1788">
                        <a:moveTo>
                          <a:pt x="0" y="1788"/>
                        </a:moveTo>
                        <a:cubicBezTo>
                          <a:pt x="15" y="1616"/>
                          <a:pt x="70" y="1000"/>
                          <a:pt x="89" y="754"/>
                        </a:cubicBezTo>
                        <a:cubicBezTo>
                          <a:pt x="108" y="508"/>
                          <a:pt x="92" y="417"/>
                          <a:pt x="112" y="312"/>
                        </a:cubicBezTo>
                        <a:cubicBezTo>
                          <a:pt x="132" y="207"/>
                          <a:pt x="121" y="171"/>
                          <a:pt x="209" y="125"/>
                        </a:cubicBezTo>
                        <a:cubicBezTo>
                          <a:pt x="297" y="79"/>
                          <a:pt x="304" y="57"/>
                          <a:pt x="640" y="36"/>
                        </a:cubicBezTo>
                        <a:cubicBezTo>
                          <a:pt x="976" y="15"/>
                          <a:pt x="1894" y="8"/>
                          <a:pt x="2224"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3521" name="Freeform 33"/>
                  <p:cNvSpPr/>
                  <p:nvPr/>
                </p:nvSpPr>
                <p:spPr bwMode="auto">
                  <a:xfrm>
                    <a:off x="3200" y="1260"/>
                    <a:ext cx="2212" cy="2377"/>
                  </a:xfrm>
                  <a:custGeom>
                    <a:avLst/>
                    <a:gdLst>
                      <a:gd name="T0" fmla="*/ 0 w 2212"/>
                      <a:gd name="T1" fmla="*/ 2377 h 2377"/>
                      <a:gd name="T2" fmla="*/ 93 w 2212"/>
                      <a:gd name="T3" fmla="*/ 1248 h 2377"/>
                      <a:gd name="T4" fmla="*/ 186 w 2212"/>
                      <a:gd name="T5" fmla="*/ 369 h 2377"/>
                      <a:gd name="T6" fmla="*/ 532 w 2212"/>
                      <a:gd name="T7" fmla="*/ 61 h 2377"/>
                      <a:gd name="T8" fmla="*/ 2212 w 2212"/>
                      <a:gd name="T9" fmla="*/ 1 h 2377"/>
                    </a:gdLst>
                    <a:ahLst/>
                    <a:cxnLst>
                      <a:cxn ang="0">
                        <a:pos x="T0" y="T1"/>
                      </a:cxn>
                      <a:cxn ang="0">
                        <a:pos x="T2" y="T3"/>
                      </a:cxn>
                      <a:cxn ang="0">
                        <a:pos x="T4" y="T5"/>
                      </a:cxn>
                      <a:cxn ang="0">
                        <a:pos x="T6" y="T7"/>
                      </a:cxn>
                      <a:cxn ang="0">
                        <a:pos x="T8" y="T9"/>
                      </a:cxn>
                    </a:cxnLst>
                    <a:rect l="0" t="0" r="r" b="b"/>
                    <a:pathLst>
                      <a:path w="2212" h="2377">
                        <a:moveTo>
                          <a:pt x="0" y="2377"/>
                        </a:moveTo>
                        <a:cubicBezTo>
                          <a:pt x="15" y="2189"/>
                          <a:pt x="62" y="1583"/>
                          <a:pt x="93" y="1248"/>
                        </a:cubicBezTo>
                        <a:cubicBezTo>
                          <a:pt x="124" y="914"/>
                          <a:pt x="113" y="567"/>
                          <a:pt x="186" y="369"/>
                        </a:cubicBezTo>
                        <a:cubicBezTo>
                          <a:pt x="259" y="171"/>
                          <a:pt x="194" y="122"/>
                          <a:pt x="532" y="61"/>
                        </a:cubicBezTo>
                        <a:cubicBezTo>
                          <a:pt x="870" y="0"/>
                          <a:pt x="1862" y="13"/>
                          <a:pt x="2212" y="1"/>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grpSp>
        <p:sp>
          <p:nvSpPr>
            <p:cNvPr id="35855" name="Rectangle 50"/>
            <p:cNvSpPr/>
            <p:nvPr/>
          </p:nvSpPr>
          <p:spPr>
            <a:xfrm>
              <a:off x="3216" y="2736"/>
              <a:ext cx="232" cy="250"/>
            </a:xfrm>
            <a:prstGeom prst="rect">
              <a:avLst/>
            </a:prstGeom>
            <a:noFill/>
            <a:ln w="9525">
              <a:noFill/>
            </a:ln>
          </p:spPr>
          <p:txBody>
            <a:bodyPr wrap="none" anchor="t">
              <a:spAutoFit/>
            </a:bodyPr>
            <a:p>
              <a:pPr lvl="0" indent="0"/>
              <a:r>
                <a:rPr lang="en-US" altLang="zh-CN" sz="2000" b="1" i="1" dirty="0">
                  <a:latin typeface="Times New Roman" panose="02020603050405020304" pitchFamily="18" charset="0"/>
                  <a:ea typeface="宋体" panose="02010600030101010101" pitchFamily="2" charset="-122"/>
                </a:rPr>
                <a:t>O</a:t>
              </a:r>
              <a:endParaRPr lang="en-US" altLang="zh-CN" sz="2000" b="1" i="1" dirty="0">
                <a:latin typeface="Times New Roman" panose="02020603050405020304" pitchFamily="18" charset="0"/>
                <a:ea typeface="宋体" panose="02010600030101010101" pitchFamily="2" charset="-122"/>
              </a:endParaRPr>
            </a:p>
          </p:txBody>
        </p:sp>
      </p:grpSp>
      <p:grpSp>
        <p:nvGrpSpPr>
          <p:cNvPr id="63539" name="Group 51"/>
          <p:cNvGrpSpPr/>
          <p:nvPr/>
        </p:nvGrpSpPr>
        <p:grpSpPr>
          <a:xfrm>
            <a:off x="1139825" y="1995488"/>
            <a:ext cx="2743200" cy="2744787"/>
            <a:chOff x="718" y="1257"/>
            <a:chExt cx="1728" cy="1729"/>
          </a:xfrm>
        </p:grpSpPr>
        <p:sp>
          <p:nvSpPr>
            <p:cNvPr id="63494" name="Line 6"/>
            <p:cNvSpPr>
              <a:spLocks noChangeShapeType="1"/>
            </p:cNvSpPr>
            <p:nvPr/>
          </p:nvSpPr>
          <p:spPr bwMode="auto">
            <a:xfrm flipV="1">
              <a:off x="991" y="1444"/>
              <a:ext cx="0" cy="1427"/>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3495" name="Line 7"/>
            <p:cNvSpPr>
              <a:spLocks noChangeShapeType="1"/>
            </p:cNvSpPr>
            <p:nvPr/>
          </p:nvSpPr>
          <p:spPr bwMode="auto">
            <a:xfrm flipV="1">
              <a:off x="991" y="2851"/>
              <a:ext cx="1031" cy="10"/>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59" name="Text Box 8"/>
            <p:cNvSpPr txBox="1"/>
            <p:nvPr/>
          </p:nvSpPr>
          <p:spPr>
            <a:xfrm>
              <a:off x="718" y="1257"/>
              <a:ext cx="866"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latin typeface="Times New Roman" panose="02020603050405020304" pitchFamily="18" charset="0"/>
                  <a:ea typeface="楷体_GB2312" pitchFamily="49" charset="-122"/>
                </a:rPr>
                <a:t>I</a:t>
              </a:r>
              <a:r>
                <a:rPr lang="en-US" altLang="zh-CN" sz="2800" b="1" baseline="-25000" dirty="0">
                  <a:latin typeface="Times New Roman" panose="02020603050405020304" pitchFamily="18" charset="0"/>
                  <a:ea typeface="楷体_GB2312" pitchFamily="49" charset="-122"/>
                </a:rPr>
                <a:t>B</a:t>
              </a:r>
              <a:endParaRPr lang="en-US" altLang="zh-CN" sz="2800" b="1" baseline="-25000" dirty="0">
                <a:latin typeface="Times New Roman" panose="02020603050405020304" pitchFamily="18" charset="0"/>
                <a:ea typeface="楷体_GB2312" pitchFamily="49" charset="-122"/>
              </a:endParaRPr>
            </a:p>
          </p:txBody>
        </p:sp>
        <p:sp>
          <p:nvSpPr>
            <p:cNvPr id="35860" name="Text Box 9"/>
            <p:cNvSpPr txBox="1"/>
            <p:nvPr/>
          </p:nvSpPr>
          <p:spPr>
            <a:xfrm>
              <a:off x="1968" y="2601"/>
              <a:ext cx="478" cy="327"/>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latin typeface="Times New Roman" panose="02020603050405020304" pitchFamily="18" charset="0"/>
                  <a:ea typeface="楷体_GB2312" pitchFamily="49" charset="-122"/>
                </a:rPr>
                <a:t>U</a:t>
              </a:r>
              <a:r>
                <a:rPr lang="en-US" altLang="zh-CN" sz="2800" b="1" baseline="-25000" dirty="0">
                  <a:latin typeface="Times New Roman" panose="02020603050405020304" pitchFamily="18" charset="0"/>
                  <a:ea typeface="楷体_GB2312" pitchFamily="49" charset="-122"/>
                </a:rPr>
                <a:t>BE</a:t>
              </a:r>
              <a:endParaRPr lang="en-US" altLang="zh-CN" sz="2800" b="1" baseline="-25000" dirty="0">
                <a:latin typeface="Times New Roman" panose="02020603050405020304" pitchFamily="18" charset="0"/>
                <a:ea typeface="楷体_GB2312" pitchFamily="49" charset="-122"/>
              </a:endParaRPr>
            </a:p>
          </p:txBody>
        </p:sp>
        <p:sp>
          <p:nvSpPr>
            <p:cNvPr id="63498" name="Freeform 10"/>
            <p:cNvSpPr/>
            <p:nvPr/>
          </p:nvSpPr>
          <p:spPr bwMode="auto">
            <a:xfrm>
              <a:off x="991" y="1620"/>
              <a:ext cx="671" cy="1230"/>
            </a:xfrm>
            <a:custGeom>
              <a:avLst/>
              <a:gdLst>
                <a:gd name="T0" fmla="*/ 0 w 1344"/>
                <a:gd name="T1" fmla="*/ 2280 h 2280"/>
                <a:gd name="T2" fmla="*/ 456 w 1344"/>
                <a:gd name="T3" fmla="*/ 2256 h 2280"/>
                <a:gd name="T4" fmla="*/ 648 w 1344"/>
                <a:gd name="T5" fmla="*/ 2220 h 2280"/>
                <a:gd name="T6" fmla="*/ 900 w 1344"/>
                <a:gd name="T7" fmla="*/ 1968 h 2280"/>
                <a:gd name="T8" fmla="*/ 1080 w 1344"/>
                <a:gd name="T9" fmla="*/ 1308 h 2280"/>
                <a:gd name="T10" fmla="*/ 1344 w 1344"/>
                <a:gd name="T11" fmla="*/ 0 h 2280"/>
              </a:gdLst>
              <a:ahLst/>
              <a:cxnLst>
                <a:cxn ang="0">
                  <a:pos x="T0" y="T1"/>
                </a:cxn>
                <a:cxn ang="0">
                  <a:pos x="T2" y="T3"/>
                </a:cxn>
                <a:cxn ang="0">
                  <a:pos x="T4" y="T5"/>
                </a:cxn>
                <a:cxn ang="0">
                  <a:pos x="T6" y="T7"/>
                </a:cxn>
                <a:cxn ang="0">
                  <a:pos x="T8" y="T9"/>
                </a:cxn>
                <a:cxn ang="0">
                  <a:pos x="T10" y="T11"/>
                </a:cxn>
              </a:cxnLst>
              <a:rect l="0" t="0" r="r" b="b"/>
              <a:pathLst>
                <a:path w="1344" h="2280">
                  <a:moveTo>
                    <a:pt x="0" y="2280"/>
                  </a:moveTo>
                  <a:cubicBezTo>
                    <a:pt x="174" y="2273"/>
                    <a:pt x="348" y="2266"/>
                    <a:pt x="456" y="2256"/>
                  </a:cubicBezTo>
                  <a:cubicBezTo>
                    <a:pt x="564" y="2246"/>
                    <a:pt x="574" y="2268"/>
                    <a:pt x="648" y="2220"/>
                  </a:cubicBezTo>
                  <a:cubicBezTo>
                    <a:pt x="722" y="2172"/>
                    <a:pt x="828" y="2120"/>
                    <a:pt x="900" y="1968"/>
                  </a:cubicBezTo>
                  <a:cubicBezTo>
                    <a:pt x="972" y="1816"/>
                    <a:pt x="1006" y="1636"/>
                    <a:pt x="1080" y="1308"/>
                  </a:cubicBezTo>
                  <a:cubicBezTo>
                    <a:pt x="1154" y="980"/>
                    <a:pt x="1289" y="272"/>
                    <a:pt x="1344"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62" name="Rectangle 46"/>
            <p:cNvSpPr/>
            <p:nvPr/>
          </p:nvSpPr>
          <p:spPr>
            <a:xfrm>
              <a:off x="776" y="2736"/>
              <a:ext cx="232" cy="250"/>
            </a:xfrm>
            <a:prstGeom prst="rect">
              <a:avLst/>
            </a:prstGeom>
            <a:noFill/>
            <a:ln w="9525">
              <a:noFill/>
            </a:ln>
          </p:spPr>
          <p:txBody>
            <a:bodyPr wrap="none" anchor="t">
              <a:spAutoFit/>
            </a:bodyPr>
            <a:p>
              <a:pPr lvl="0" indent="0"/>
              <a:r>
                <a:rPr lang="en-US" altLang="zh-CN" sz="2000" b="1" i="1" dirty="0">
                  <a:latin typeface="Times New Roman" panose="02020603050405020304" pitchFamily="18" charset="0"/>
                  <a:ea typeface="宋体" panose="02010600030101010101" pitchFamily="2" charset="-122"/>
                </a:rPr>
                <a:t>O</a:t>
              </a:r>
              <a:endParaRPr lang="en-US" altLang="zh-CN" sz="2000" b="1" i="1" dirty="0">
                <a:latin typeface="Times New Roman" panose="02020603050405020304" pitchFamily="18" charset="0"/>
                <a:ea typeface="宋体" panose="02010600030101010101" pitchFamily="2" charset="-122"/>
              </a:endParaRPr>
            </a:p>
          </p:txBody>
        </p:sp>
      </p:grpSp>
      <p:sp>
        <p:nvSpPr>
          <p:cNvPr id="35863" name="Rectangle 2"/>
          <p:cNvSpPr>
            <a:spLocks noGrp="1"/>
          </p:cNvSpPr>
          <p:nvPr>
            <p:ph type="title"/>
          </p:nvPr>
        </p:nvSpPr>
        <p:spPr>
          <a:xfrm>
            <a:off x="409575" y="292100"/>
            <a:ext cx="1600200" cy="609600"/>
          </a:xfrm>
          <a:noFill/>
          <a:ln>
            <a:noFill/>
          </a:ln>
        </p:spPr>
        <p:txBody>
          <a:bodyPr anchor="ctr"/>
          <a:p>
            <a:pPr algn="l" eaLnBrk="1" hangingPunct="1"/>
            <a:r>
              <a:rPr lang="zh-CN" altLang="en-US" sz="3200" b="1" dirty="0">
                <a:solidFill>
                  <a:srgbClr val="CC0000"/>
                </a:solidFill>
                <a:ea typeface="楷体_GB2312" pitchFamily="49" charset="-122"/>
              </a:rPr>
              <a:t>结论：</a:t>
            </a:r>
            <a:endParaRPr lang="zh-CN" altLang="en-US" sz="3200" b="1" dirty="0">
              <a:solidFill>
                <a:srgbClr val="CC0000"/>
              </a:solidFill>
              <a:ea typeface="楷体_GB2312" pitchFamily="49" charset="-122"/>
            </a:endParaRPr>
          </a:p>
        </p:txBody>
      </p:sp>
      <p:sp>
        <p:nvSpPr>
          <p:cNvPr id="63491" name="Text Box 3" descr="40%"/>
          <p:cNvSpPr txBox="1">
            <a:spLocks noChangeArrowheads="1"/>
          </p:cNvSpPr>
          <p:nvPr/>
        </p:nvSpPr>
        <p:spPr bwMode="auto">
          <a:xfrm>
            <a:off x="509588" y="901700"/>
            <a:ext cx="8253413" cy="95250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
              </a:spcBef>
              <a:spcAft>
                <a:spcPct val="0"/>
              </a:spcAft>
              <a:buClrTx/>
              <a:buSzTx/>
              <a:buFontTx/>
              <a:buNone/>
              <a:defRPr/>
            </a:pP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无输入信号电压时，三极管各电极都是恒定的</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200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电压和电流</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BE</a:t>
            </a:r>
            <a:r>
              <a:rPr kumimoji="1" lang="zh-CN"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和</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CE</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63492" name="Text Box 4"/>
          <p:cNvSpPr txBox="1">
            <a:spLocks noChangeArrowheads="1"/>
          </p:cNvSpPr>
          <p:nvPr/>
        </p:nvSpPr>
        <p:spPr bwMode="auto">
          <a:xfrm>
            <a:off x="409575" y="5140325"/>
            <a:ext cx="8305800"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1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chemeClr val="accent2"/>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BE</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r>
              <a:rPr kumimoji="1" lang="zh-CN"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和</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CE</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分别对应于输入、输出特性曲线上的一个点，称为</a:t>
            </a:r>
            <a:r>
              <a:rPr kumimoji="1" lang="zh-CN" altLang="en-US" sz="2800" b="1"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静态工作点</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grpSp>
        <p:nvGrpSpPr>
          <p:cNvPr id="63499" name="Group 11"/>
          <p:cNvGrpSpPr/>
          <p:nvPr/>
        </p:nvGrpSpPr>
        <p:grpSpPr>
          <a:xfrm>
            <a:off x="2438400" y="2908300"/>
            <a:ext cx="646113" cy="534988"/>
            <a:chOff x="1512" y="2258"/>
            <a:chExt cx="407" cy="382"/>
          </a:xfrm>
        </p:grpSpPr>
        <p:sp>
          <p:nvSpPr>
            <p:cNvPr id="63500" name="Oval 12"/>
            <p:cNvSpPr>
              <a:spLocks noChangeArrowheads="1"/>
            </p:cNvSpPr>
            <p:nvPr/>
          </p:nvSpPr>
          <p:spPr bwMode="auto">
            <a:xfrm>
              <a:off x="1512" y="2556"/>
              <a:ext cx="72" cy="84"/>
            </a:xfrm>
            <a:prstGeom prst="ellipse">
              <a:avLst/>
            </a:prstGeom>
            <a:solidFill>
              <a:srgbClr val="FF3300"/>
            </a:solidFill>
            <a:ln w="38100">
              <a:solidFill>
                <a:srgbClr val="FF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68" name="Text Box 13"/>
            <p:cNvSpPr txBox="1"/>
            <p:nvPr/>
          </p:nvSpPr>
          <p:spPr>
            <a:xfrm>
              <a:off x="1643" y="2258"/>
              <a:ext cx="276" cy="371"/>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solidFill>
                    <a:srgbClr val="CC0000"/>
                  </a:solidFill>
                  <a:latin typeface="Times New Roman" panose="02020603050405020304" pitchFamily="18" charset="0"/>
                  <a:ea typeface="楷体_GB2312" pitchFamily="49" charset="-122"/>
                </a:rPr>
                <a:t>Q</a:t>
              </a:r>
              <a:endParaRPr lang="en-US" altLang="zh-CN" sz="2800" b="1" i="1" dirty="0">
                <a:solidFill>
                  <a:srgbClr val="CC0000"/>
                </a:solidFill>
                <a:latin typeface="Times New Roman" panose="02020603050405020304" pitchFamily="18" charset="0"/>
                <a:ea typeface="楷体_GB2312" pitchFamily="49" charset="-122"/>
              </a:endParaRPr>
            </a:p>
          </p:txBody>
        </p:sp>
      </p:grpSp>
      <p:grpSp>
        <p:nvGrpSpPr>
          <p:cNvPr id="63502" name="Group 14"/>
          <p:cNvGrpSpPr/>
          <p:nvPr/>
        </p:nvGrpSpPr>
        <p:grpSpPr>
          <a:xfrm>
            <a:off x="1038225" y="3022600"/>
            <a:ext cx="1581150" cy="519113"/>
            <a:chOff x="483" y="2263"/>
            <a:chExt cx="1173" cy="370"/>
          </a:xfrm>
        </p:grpSpPr>
        <p:sp>
          <p:nvSpPr>
            <p:cNvPr id="63503" name="Line 15"/>
            <p:cNvSpPr>
              <a:spLocks noChangeShapeType="1"/>
            </p:cNvSpPr>
            <p:nvPr/>
          </p:nvSpPr>
          <p:spPr bwMode="auto">
            <a:xfrm>
              <a:off x="900" y="2520"/>
              <a:ext cx="756" cy="0"/>
            </a:xfrm>
            <a:prstGeom prst="line">
              <a:avLst/>
            </a:prstGeom>
            <a:noFill/>
            <a:ln w="38100">
              <a:solidFill>
                <a:srgbClr val="FF33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71" name="Rectangle 16"/>
            <p:cNvSpPr/>
            <p:nvPr/>
          </p:nvSpPr>
          <p:spPr>
            <a:xfrm>
              <a:off x="483" y="2263"/>
              <a:ext cx="356" cy="370"/>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solidFill>
                    <a:srgbClr val="CC0000"/>
                  </a:solidFill>
                  <a:latin typeface="Times New Roman" panose="02020603050405020304" pitchFamily="18" charset="0"/>
                  <a:ea typeface="楷体_GB2312" pitchFamily="49" charset="-122"/>
                </a:rPr>
                <a:t>I</a:t>
              </a:r>
              <a:r>
                <a:rPr lang="en-US" altLang="zh-CN" sz="2800" b="1" baseline="-25000" dirty="0">
                  <a:solidFill>
                    <a:srgbClr val="CC0000"/>
                  </a:solidFill>
                  <a:latin typeface="Times New Roman" panose="02020603050405020304" pitchFamily="18" charset="0"/>
                  <a:ea typeface="楷体_GB2312" pitchFamily="49" charset="-122"/>
                </a:rPr>
                <a:t>B</a:t>
              </a:r>
              <a:endParaRPr lang="en-US" altLang="zh-CN" sz="2800" b="1" baseline="-25000" dirty="0">
                <a:solidFill>
                  <a:srgbClr val="CC0000"/>
                </a:solidFill>
                <a:latin typeface="Times New Roman" panose="02020603050405020304" pitchFamily="18" charset="0"/>
                <a:ea typeface="楷体_GB2312" pitchFamily="49" charset="-122"/>
              </a:endParaRPr>
            </a:p>
          </p:txBody>
        </p:sp>
      </p:grpSp>
      <p:grpSp>
        <p:nvGrpSpPr>
          <p:cNvPr id="63505" name="Group 17"/>
          <p:cNvGrpSpPr/>
          <p:nvPr/>
        </p:nvGrpSpPr>
        <p:grpSpPr>
          <a:xfrm>
            <a:off x="2197100" y="3381375"/>
            <a:ext cx="758825" cy="1674813"/>
            <a:chOff x="1368" y="2484"/>
            <a:chExt cx="478" cy="1574"/>
          </a:xfrm>
        </p:grpSpPr>
        <p:sp>
          <p:nvSpPr>
            <p:cNvPr id="63506" name="Line 18"/>
            <p:cNvSpPr>
              <a:spLocks noChangeShapeType="1"/>
            </p:cNvSpPr>
            <p:nvPr/>
          </p:nvSpPr>
          <p:spPr bwMode="auto">
            <a:xfrm>
              <a:off x="1572" y="2484"/>
              <a:ext cx="0" cy="1080"/>
            </a:xfrm>
            <a:prstGeom prst="line">
              <a:avLst/>
            </a:prstGeom>
            <a:noFill/>
            <a:ln w="38100">
              <a:solidFill>
                <a:srgbClr val="FF33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74" name="Rectangle 19"/>
            <p:cNvSpPr/>
            <p:nvPr/>
          </p:nvSpPr>
          <p:spPr>
            <a:xfrm>
              <a:off x="1368" y="3570"/>
              <a:ext cx="478" cy="488"/>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solidFill>
                    <a:srgbClr val="CC0000"/>
                  </a:solidFill>
                  <a:latin typeface="Times New Roman" panose="02020603050405020304" pitchFamily="18" charset="0"/>
                  <a:ea typeface="楷体_GB2312" pitchFamily="49" charset="-122"/>
                </a:rPr>
                <a:t>U</a:t>
              </a:r>
              <a:r>
                <a:rPr lang="en-US" altLang="zh-CN" sz="2800" b="1" baseline="-25000" dirty="0">
                  <a:solidFill>
                    <a:srgbClr val="CC0000"/>
                  </a:solidFill>
                  <a:latin typeface="Times New Roman" panose="02020603050405020304" pitchFamily="18" charset="0"/>
                  <a:ea typeface="楷体_GB2312" pitchFamily="49" charset="-122"/>
                </a:rPr>
                <a:t>BE</a:t>
              </a:r>
              <a:endParaRPr lang="en-US" altLang="zh-CN" sz="2800" b="1" baseline="-25000" dirty="0">
                <a:solidFill>
                  <a:srgbClr val="CC0000"/>
                </a:solidFill>
                <a:latin typeface="Times New Roman" panose="02020603050405020304" pitchFamily="18" charset="0"/>
                <a:ea typeface="楷体_GB2312" pitchFamily="49" charset="-122"/>
              </a:endParaRPr>
            </a:p>
          </p:txBody>
        </p:sp>
      </p:grpSp>
      <p:grpSp>
        <p:nvGrpSpPr>
          <p:cNvPr id="63522" name="Group 34"/>
          <p:cNvGrpSpPr/>
          <p:nvPr/>
        </p:nvGrpSpPr>
        <p:grpSpPr>
          <a:xfrm>
            <a:off x="6408738" y="2801938"/>
            <a:ext cx="647700" cy="534987"/>
            <a:chOff x="1512" y="2258"/>
            <a:chExt cx="407" cy="382"/>
          </a:xfrm>
        </p:grpSpPr>
        <p:sp>
          <p:nvSpPr>
            <p:cNvPr id="63523" name="Oval 35"/>
            <p:cNvSpPr>
              <a:spLocks noChangeArrowheads="1"/>
            </p:cNvSpPr>
            <p:nvPr/>
          </p:nvSpPr>
          <p:spPr bwMode="auto">
            <a:xfrm>
              <a:off x="1512" y="2556"/>
              <a:ext cx="72" cy="84"/>
            </a:xfrm>
            <a:prstGeom prst="ellipse">
              <a:avLst/>
            </a:prstGeom>
            <a:solidFill>
              <a:srgbClr val="FF3300"/>
            </a:solidFill>
            <a:ln w="38100">
              <a:solidFill>
                <a:srgbClr val="FF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77" name="Text Box 36"/>
            <p:cNvSpPr txBox="1"/>
            <p:nvPr/>
          </p:nvSpPr>
          <p:spPr>
            <a:xfrm>
              <a:off x="1644" y="2258"/>
              <a:ext cx="275" cy="371"/>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solidFill>
                    <a:srgbClr val="CC0000"/>
                  </a:solidFill>
                  <a:latin typeface="Times New Roman" panose="02020603050405020304" pitchFamily="18" charset="0"/>
                  <a:ea typeface="楷体_GB2312" pitchFamily="49" charset="-122"/>
                </a:rPr>
                <a:t>Q</a:t>
              </a:r>
              <a:endParaRPr lang="en-US" altLang="zh-CN" sz="2800" b="1" i="1" dirty="0">
                <a:solidFill>
                  <a:srgbClr val="CC0000"/>
                </a:solidFill>
                <a:latin typeface="Times New Roman" panose="02020603050405020304" pitchFamily="18" charset="0"/>
                <a:ea typeface="楷体_GB2312" pitchFamily="49" charset="-122"/>
              </a:endParaRPr>
            </a:p>
          </p:txBody>
        </p:sp>
      </p:grpSp>
      <p:grpSp>
        <p:nvGrpSpPr>
          <p:cNvPr id="63525" name="Group 37"/>
          <p:cNvGrpSpPr/>
          <p:nvPr/>
        </p:nvGrpSpPr>
        <p:grpSpPr>
          <a:xfrm>
            <a:off x="6248400" y="3276600"/>
            <a:ext cx="773113" cy="1781175"/>
            <a:chOff x="3920" y="2448"/>
            <a:chExt cx="487" cy="1571"/>
          </a:xfrm>
        </p:grpSpPr>
        <p:sp>
          <p:nvSpPr>
            <p:cNvPr id="63526" name="Line 38"/>
            <p:cNvSpPr>
              <a:spLocks noChangeShapeType="1"/>
            </p:cNvSpPr>
            <p:nvPr/>
          </p:nvSpPr>
          <p:spPr bwMode="auto">
            <a:xfrm>
              <a:off x="4056" y="2448"/>
              <a:ext cx="0" cy="1164"/>
            </a:xfrm>
            <a:prstGeom prst="line">
              <a:avLst/>
            </a:prstGeom>
            <a:noFill/>
            <a:ln w="38100">
              <a:solidFill>
                <a:srgbClr val="FF33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80" name="Rectangle 39"/>
            <p:cNvSpPr/>
            <p:nvPr/>
          </p:nvSpPr>
          <p:spPr>
            <a:xfrm>
              <a:off x="3920" y="3561"/>
              <a:ext cx="487" cy="458"/>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solidFill>
                    <a:srgbClr val="CC0000"/>
                  </a:solidFill>
                  <a:latin typeface="Times New Roman" panose="02020603050405020304" pitchFamily="18" charset="0"/>
                  <a:ea typeface="楷体_GB2312" pitchFamily="49" charset="-122"/>
                </a:rPr>
                <a:t>U</a:t>
              </a:r>
              <a:r>
                <a:rPr lang="en-US" altLang="zh-CN" sz="2800" b="1" baseline="-25000" dirty="0">
                  <a:solidFill>
                    <a:srgbClr val="CC0000"/>
                  </a:solidFill>
                  <a:latin typeface="Times New Roman" panose="02020603050405020304" pitchFamily="18" charset="0"/>
                  <a:ea typeface="楷体_GB2312" pitchFamily="49" charset="-122"/>
                </a:rPr>
                <a:t>CE</a:t>
              </a:r>
              <a:endParaRPr lang="en-US" altLang="zh-CN" sz="2800" b="1" baseline="-25000" dirty="0">
                <a:solidFill>
                  <a:srgbClr val="CC0000"/>
                </a:solidFill>
                <a:latin typeface="Times New Roman" panose="02020603050405020304" pitchFamily="18" charset="0"/>
                <a:ea typeface="楷体_GB2312" pitchFamily="49" charset="-122"/>
              </a:endParaRPr>
            </a:p>
          </p:txBody>
        </p:sp>
      </p:grpSp>
      <p:grpSp>
        <p:nvGrpSpPr>
          <p:cNvPr id="63528" name="Group 40"/>
          <p:cNvGrpSpPr/>
          <p:nvPr/>
        </p:nvGrpSpPr>
        <p:grpSpPr>
          <a:xfrm>
            <a:off x="4876800" y="3060700"/>
            <a:ext cx="1682750" cy="519113"/>
            <a:chOff x="2833" y="2372"/>
            <a:chExt cx="1295" cy="370"/>
          </a:xfrm>
        </p:grpSpPr>
        <p:sp>
          <p:nvSpPr>
            <p:cNvPr id="63529" name="Line 41"/>
            <p:cNvSpPr>
              <a:spLocks noChangeShapeType="1"/>
            </p:cNvSpPr>
            <p:nvPr/>
          </p:nvSpPr>
          <p:spPr bwMode="auto">
            <a:xfrm>
              <a:off x="3288" y="2532"/>
              <a:ext cx="840" cy="0"/>
            </a:xfrm>
            <a:prstGeom prst="line">
              <a:avLst/>
            </a:prstGeom>
            <a:noFill/>
            <a:ln w="38100">
              <a:solidFill>
                <a:srgbClr val="FF33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883" name="Rectangle 42"/>
            <p:cNvSpPr/>
            <p:nvPr/>
          </p:nvSpPr>
          <p:spPr>
            <a:xfrm>
              <a:off x="2833" y="2372"/>
              <a:ext cx="380" cy="370"/>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i="1" dirty="0">
                  <a:solidFill>
                    <a:srgbClr val="CC0000"/>
                  </a:solidFill>
                  <a:latin typeface="Times New Roman" panose="02020603050405020304" pitchFamily="18" charset="0"/>
                  <a:ea typeface="楷体_GB2312" pitchFamily="49" charset="-122"/>
                </a:rPr>
                <a:t>I</a:t>
              </a:r>
              <a:r>
                <a:rPr lang="en-US" altLang="zh-CN" sz="2800" b="1" baseline="-25000" dirty="0">
                  <a:solidFill>
                    <a:srgbClr val="CC0000"/>
                  </a:solidFill>
                  <a:latin typeface="Times New Roman" panose="02020603050405020304" pitchFamily="18" charset="0"/>
                  <a:ea typeface="楷体_GB2312" pitchFamily="49" charset="-122"/>
                </a:rPr>
                <a:t>C</a:t>
              </a:r>
              <a:endParaRPr lang="en-US" altLang="zh-CN" sz="2800" b="1" baseline="-25000" dirty="0">
                <a:solidFill>
                  <a:srgbClr val="CC0000"/>
                </a:solidFill>
                <a:latin typeface="Times New Roman" panose="02020603050405020304" pitchFamily="18"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blinds(vertical)">
                                      <p:cBhvr>
                                        <p:cTn id="7" dur="500"/>
                                        <p:tgtEl>
                                          <p:spTgt spid="634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3539"/>
                                        </p:tgtEl>
                                        <p:attrNameLst>
                                          <p:attrName>style.visibility</p:attrName>
                                        </p:attrNameLst>
                                      </p:cBhvr>
                                      <p:to>
                                        <p:strVal val="visible"/>
                                      </p:to>
                                    </p:set>
                                    <p:animEffect transition="in" filter="dissolve">
                                      <p:cBhvr>
                                        <p:cTn id="12" dur="500"/>
                                        <p:tgtEl>
                                          <p:spTgt spid="6353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63499"/>
                                        </p:tgtEl>
                                        <p:attrNameLst>
                                          <p:attrName>style.visibility</p:attrName>
                                        </p:attrNameLst>
                                      </p:cBhvr>
                                      <p:to>
                                        <p:strVal val="visible"/>
                                      </p:to>
                                    </p:se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63502"/>
                                        </p:tgtEl>
                                        <p:attrNameLst>
                                          <p:attrName>style.visibility</p:attrName>
                                        </p:attrNameLst>
                                      </p:cBhvr>
                                      <p:to>
                                        <p:strVal val="visible"/>
                                      </p:to>
                                    </p:set>
                                    <p:animEffect transition="in" filter="wipe(right)">
                                      <p:cBhvr>
                                        <p:cTn id="20" dur="500"/>
                                        <p:tgtEl>
                                          <p:spTgt spid="63502"/>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63505"/>
                                        </p:tgtEl>
                                        <p:attrNameLst>
                                          <p:attrName>style.visibility</p:attrName>
                                        </p:attrNameLst>
                                      </p:cBhvr>
                                      <p:to>
                                        <p:strVal val="visible"/>
                                      </p:to>
                                    </p:set>
                                    <p:animEffect transition="in" filter="wipe(up)">
                                      <p:cBhvr>
                                        <p:cTn id="24" dur="500"/>
                                        <p:tgtEl>
                                          <p:spTgt spid="6350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63541"/>
                                        </p:tgtEl>
                                        <p:attrNameLst>
                                          <p:attrName>style.visibility</p:attrName>
                                        </p:attrNameLst>
                                      </p:cBhvr>
                                      <p:to>
                                        <p:strVal val="visible"/>
                                      </p:to>
                                    </p:set>
                                    <p:animEffect transition="in" filter="dissolve">
                                      <p:cBhvr>
                                        <p:cTn id="29" dur="500"/>
                                        <p:tgtEl>
                                          <p:spTgt spid="6354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63522"/>
                                        </p:tgtEl>
                                        <p:attrNameLst>
                                          <p:attrName>style.visibility</p:attrName>
                                        </p:attrNameLst>
                                      </p:cBhvr>
                                      <p:to>
                                        <p:strVal val="visible"/>
                                      </p:to>
                                    </p:set>
                                  </p:childTnLst>
                                </p:cTn>
                              </p:par>
                            </p:childTnLst>
                          </p:cTn>
                        </p:par>
                        <p:par>
                          <p:cTn id="34" fill="hold">
                            <p:stCondLst>
                              <p:cond delay="500"/>
                            </p:stCondLst>
                            <p:childTnLst>
                              <p:par>
                                <p:cTn id="35" presetID="22" presetClass="entr" presetSubtype="2" fill="hold" nodeType="afterEffect">
                                  <p:stCondLst>
                                    <p:cond delay="0"/>
                                  </p:stCondLst>
                                  <p:childTnLst>
                                    <p:set>
                                      <p:cBhvr>
                                        <p:cTn id="36" dur="1" fill="hold">
                                          <p:stCondLst>
                                            <p:cond delay="0"/>
                                          </p:stCondLst>
                                        </p:cTn>
                                        <p:tgtEl>
                                          <p:spTgt spid="63528"/>
                                        </p:tgtEl>
                                        <p:attrNameLst>
                                          <p:attrName>style.visibility</p:attrName>
                                        </p:attrNameLst>
                                      </p:cBhvr>
                                      <p:to>
                                        <p:strVal val="visible"/>
                                      </p:to>
                                    </p:set>
                                    <p:animEffect transition="in" filter="wipe(right)">
                                      <p:cBhvr>
                                        <p:cTn id="37" dur="500"/>
                                        <p:tgtEl>
                                          <p:spTgt spid="63528"/>
                                        </p:tgtEl>
                                      </p:cBhvr>
                                    </p:animEffect>
                                  </p:childTnLst>
                                </p:cTn>
                              </p:par>
                            </p:childTnLst>
                          </p:cTn>
                        </p:par>
                        <p:par>
                          <p:cTn id="38" fill="hold">
                            <p:stCondLst>
                              <p:cond delay="1000"/>
                            </p:stCondLst>
                            <p:childTnLst>
                              <p:par>
                                <p:cTn id="39" presetID="22" presetClass="entr" presetSubtype="1" fill="hold" nodeType="afterEffect">
                                  <p:stCondLst>
                                    <p:cond delay="0"/>
                                  </p:stCondLst>
                                  <p:childTnLst>
                                    <p:set>
                                      <p:cBhvr>
                                        <p:cTn id="40" dur="1" fill="hold">
                                          <p:stCondLst>
                                            <p:cond delay="0"/>
                                          </p:stCondLst>
                                        </p:cTn>
                                        <p:tgtEl>
                                          <p:spTgt spid="63525"/>
                                        </p:tgtEl>
                                        <p:attrNameLst>
                                          <p:attrName>style.visibility</p:attrName>
                                        </p:attrNameLst>
                                      </p:cBhvr>
                                      <p:to>
                                        <p:strVal val="visible"/>
                                      </p:to>
                                    </p:set>
                                    <p:animEffect transition="in" filter="wipe(up)">
                                      <p:cBhvr>
                                        <p:cTn id="41" dur="500"/>
                                        <p:tgtEl>
                                          <p:spTgt spid="6352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3492"/>
                                        </p:tgtEl>
                                        <p:attrNameLst>
                                          <p:attrName>style.visibility</p:attrName>
                                        </p:attrNameLst>
                                      </p:cBhvr>
                                      <p:to>
                                        <p:strVal val="visible"/>
                                      </p:to>
                                    </p:set>
                                    <p:animEffect transition="in" filter="wipe(left)">
                                      <p:cBhvr>
                                        <p:cTn id="46" dur="500"/>
                                        <p:tgtEl>
                                          <p:spTgt spid="63492"/>
                                        </p:tgtEl>
                                      </p:cBhvr>
                                    </p:animEffect>
                                  </p:childTnLst>
                                  <p:subTnLst>
                                    <p:audio>
                                      <p:cMediaNode>
                                        <p:cTn display="0" masterRel="sameClick">
                                          <p:stCondLst>
                                            <p:cond evt="begin" delay="0">
                                              <p:tn val="44"/>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ldLvl="0" animBg="1"/>
      <p:bldP spid="63492"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64528" name="Group 16"/>
          <p:cNvGrpSpPr/>
          <p:nvPr/>
        </p:nvGrpSpPr>
        <p:grpSpPr>
          <a:xfrm>
            <a:off x="1676400" y="5199063"/>
            <a:ext cx="914400" cy="876300"/>
            <a:chOff x="1056" y="3552"/>
            <a:chExt cx="576" cy="552"/>
          </a:xfrm>
        </p:grpSpPr>
        <p:sp>
          <p:nvSpPr>
            <p:cNvPr id="64529" name="AutoShape 17" descr="宽上对角线"/>
            <p:cNvSpPr>
              <a:spLocks noChangeArrowheads="1"/>
            </p:cNvSpPr>
            <p:nvPr/>
          </p:nvSpPr>
          <p:spPr bwMode="auto">
            <a:xfrm>
              <a:off x="1056" y="3682"/>
              <a:ext cx="576" cy="422"/>
            </a:xfrm>
            <a:prstGeom prst="flowChartProcess">
              <a:avLst/>
            </a:prstGeom>
            <a:pattFill prst="wdUpDiag">
              <a:fgClr>
                <a:srgbClr val="99FF99"/>
              </a:fgClr>
              <a:bgClr>
                <a:srgbClr val="FFFFFF"/>
              </a:bgClr>
            </a:patt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30" name="Freeform 18" descr="宽上对角线"/>
            <p:cNvSpPr/>
            <p:nvPr/>
          </p:nvSpPr>
          <p:spPr bwMode="auto">
            <a:xfrm>
              <a:off x="1056" y="3552"/>
              <a:ext cx="288" cy="130"/>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pattFill prst="wdUpDiag">
              <a:fgClr>
                <a:srgbClr val="99FF99"/>
              </a:fgClr>
              <a:bgClr>
                <a:srgbClr val="FFFFFF"/>
              </a:bgClr>
            </a:patt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31" name="Freeform 19"/>
            <p:cNvSpPr/>
            <p:nvPr/>
          </p:nvSpPr>
          <p:spPr bwMode="auto">
            <a:xfrm flipV="1">
              <a:off x="1344" y="3682"/>
              <a:ext cx="288" cy="13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solidFill>
              <a:srgbClr val="FFFFF3"/>
            </a:solid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4536" name="Line 24"/>
          <p:cNvSpPr>
            <a:spLocks noChangeShapeType="1"/>
          </p:cNvSpPr>
          <p:nvPr/>
        </p:nvSpPr>
        <p:spPr bwMode="auto">
          <a:xfrm>
            <a:off x="2667000" y="5402263"/>
            <a:ext cx="0" cy="677863"/>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870" name="Rectangle 25"/>
          <p:cNvSpPr/>
          <p:nvPr/>
        </p:nvSpPr>
        <p:spPr>
          <a:xfrm>
            <a:off x="2590800" y="5478463"/>
            <a:ext cx="674688" cy="457200"/>
          </a:xfrm>
          <a:prstGeom prst="rect">
            <a:avLst/>
          </a:prstGeom>
          <a:noFill/>
          <a:ln w="9525">
            <a:noFill/>
          </a:ln>
        </p:spPr>
        <p:txBody>
          <a:bodyPr wrap="none" anchor="t">
            <a:spAutoFit/>
          </a:bodyPr>
          <a:p>
            <a:pPr lvl="0" indent="0"/>
            <a:r>
              <a:rPr lang="en-US" altLang="zh-CN" b="1" i="1" dirty="0">
                <a:solidFill>
                  <a:srgbClr val="FF0000"/>
                </a:solidFill>
                <a:latin typeface="Times New Roman" panose="02020603050405020304" pitchFamily="18" charset="0"/>
                <a:ea typeface="楷体_GB2312" pitchFamily="49" charset="-122"/>
              </a:rPr>
              <a:t>U</a:t>
            </a:r>
            <a:r>
              <a:rPr lang="en-US" altLang="zh-CN" b="1" baseline="-25000" dirty="0">
                <a:solidFill>
                  <a:srgbClr val="FF0000"/>
                </a:solidFill>
                <a:latin typeface="Times New Roman" panose="02020603050405020304" pitchFamily="18" charset="0"/>
                <a:ea typeface="楷体_GB2312" pitchFamily="49" charset="-122"/>
              </a:rPr>
              <a:t>BE</a:t>
            </a:r>
            <a:endParaRPr lang="en-US" altLang="zh-CN" b="1" baseline="-25000" dirty="0">
              <a:solidFill>
                <a:srgbClr val="FF0000"/>
              </a:solidFill>
              <a:latin typeface="Times New Roman" panose="02020603050405020304" pitchFamily="18" charset="0"/>
              <a:ea typeface="楷体_GB2312" pitchFamily="49" charset="-122"/>
            </a:endParaRPr>
          </a:p>
        </p:txBody>
      </p:sp>
      <p:grpSp>
        <p:nvGrpSpPr>
          <p:cNvPr id="64539" name="Group 27"/>
          <p:cNvGrpSpPr/>
          <p:nvPr/>
        </p:nvGrpSpPr>
        <p:grpSpPr>
          <a:xfrm>
            <a:off x="3200400" y="5181600"/>
            <a:ext cx="914400" cy="914400"/>
            <a:chOff x="2016" y="3552"/>
            <a:chExt cx="576" cy="576"/>
          </a:xfrm>
        </p:grpSpPr>
        <p:sp>
          <p:nvSpPr>
            <p:cNvPr id="64540" name="AutoShape 28" descr="宽上对角线"/>
            <p:cNvSpPr>
              <a:spLocks noChangeArrowheads="1"/>
            </p:cNvSpPr>
            <p:nvPr/>
          </p:nvSpPr>
          <p:spPr bwMode="auto">
            <a:xfrm>
              <a:off x="2016" y="3698"/>
              <a:ext cx="576" cy="430"/>
            </a:xfrm>
            <a:prstGeom prst="flowChartProcess">
              <a:avLst/>
            </a:prstGeom>
            <a:pattFill prst="wdUpDiag">
              <a:fgClr>
                <a:srgbClr val="99FF99"/>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41" name="Freeform 29" descr="宽上对角线"/>
            <p:cNvSpPr/>
            <p:nvPr/>
          </p:nvSpPr>
          <p:spPr bwMode="auto">
            <a:xfrm>
              <a:off x="2016" y="3552"/>
              <a:ext cx="288" cy="146"/>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pattFill prst="wdUpDiag">
              <a:fgClr>
                <a:srgbClr val="99FF99"/>
              </a:fgClr>
              <a:bgClr>
                <a:srgbClr val="FFFFFF"/>
              </a:bgClr>
            </a:patt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42" name="Freeform 30"/>
            <p:cNvSpPr/>
            <p:nvPr/>
          </p:nvSpPr>
          <p:spPr bwMode="auto">
            <a:xfrm flipV="1">
              <a:off x="2304" y="3689"/>
              <a:ext cx="288" cy="137"/>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solidFill>
              <a:srgbClr val="FFFFF3"/>
            </a:solid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36875" name="Group 35"/>
          <p:cNvGrpSpPr/>
          <p:nvPr/>
        </p:nvGrpSpPr>
        <p:grpSpPr>
          <a:xfrm>
            <a:off x="4165600" y="5402263"/>
            <a:ext cx="482600" cy="685800"/>
            <a:chOff x="2624" y="3456"/>
            <a:chExt cx="304" cy="432"/>
          </a:xfrm>
        </p:grpSpPr>
        <p:sp>
          <p:nvSpPr>
            <p:cNvPr id="64548" name="Line 36"/>
            <p:cNvSpPr>
              <a:spLocks noChangeShapeType="1"/>
            </p:cNvSpPr>
            <p:nvPr/>
          </p:nvSpPr>
          <p:spPr bwMode="auto">
            <a:xfrm flipH="1">
              <a:off x="2640" y="3456"/>
              <a:ext cx="0" cy="432"/>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877" name="Rectangle 37"/>
            <p:cNvSpPr/>
            <p:nvPr/>
          </p:nvSpPr>
          <p:spPr>
            <a:xfrm>
              <a:off x="2624" y="3465"/>
              <a:ext cx="304" cy="327"/>
            </a:xfrm>
            <a:prstGeom prst="rect">
              <a:avLst/>
            </a:prstGeom>
            <a:noFill/>
            <a:ln w="9525">
              <a:noFill/>
            </a:ln>
          </p:spPr>
          <p:txBody>
            <a:bodyPr wrap="none" anchor="t">
              <a:spAutoFit/>
            </a:bodyPr>
            <a:p>
              <a:pPr lvl="0" indent="0"/>
              <a:r>
                <a:rPr lang="en-US" altLang="zh-CN" sz="2800" b="1" i="1" dirty="0">
                  <a:solidFill>
                    <a:srgbClr val="FF0000"/>
                  </a:solidFill>
                  <a:latin typeface="Times New Roman" panose="02020603050405020304" pitchFamily="18" charset="0"/>
                  <a:ea typeface="楷体_GB2312" pitchFamily="49" charset="-122"/>
                </a:rPr>
                <a:t>I</a:t>
              </a:r>
              <a:r>
                <a:rPr lang="en-US" altLang="zh-CN" sz="2800" b="1" baseline="-25000" dirty="0">
                  <a:solidFill>
                    <a:srgbClr val="FF0000"/>
                  </a:solidFill>
                  <a:latin typeface="Times New Roman" panose="02020603050405020304" pitchFamily="18" charset="0"/>
                  <a:ea typeface="楷体_GB2312" pitchFamily="49" charset="-122"/>
                </a:rPr>
                <a:t>B</a:t>
              </a:r>
              <a:endParaRPr lang="en-US" altLang="zh-CN" sz="2800" b="1" baseline="-25000" dirty="0">
                <a:solidFill>
                  <a:srgbClr val="FF0000"/>
                </a:solidFill>
                <a:latin typeface="Times New Roman" panose="02020603050405020304" pitchFamily="18" charset="0"/>
                <a:ea typeface="楷体_GB2312" pitchFamily="49" charset="-122"/>
              </a:endParaRPr>
            </a:p>
          </p:txBody>
        </p:sp>
      </p:grpSp>
      <p:sp>
        <p:nvSpPr>
          <p:cNvPr id="36878" name="Text Box 43"/>
          <p:cNvSpPr txBox="1"/>
          <p:nvPr/>
        </p:nvSpPr>
        <p:spPr>
          <a:xfrm>
            <a:off x="563563" y="3900488"/>
            <a:ext cx="4084637" cy="519112"/>
          </a:xfrm>
          <a:prstGeom prst="rect">
            <a:avLst/>
          </a:prstGeom>
          <a:noFill/>
          <a:ln w="9525">
            <a:noFill/>
          </a:ln>
        </p:spPr>
        <p:txBody>
          <a:bodyPr anchor="t">
            <a:spAutoFit/>
          </a:bodyPr>
          <a:p>
            <a:pPr lvl="0" indent="0">
              <a:spcBef>
                <a:spcPct val="50000"/>
              </a:spcBef>
            </a:pPr>
            <a:r>
              <a:rPr lang="zh-CN" altLang="en-US" sz="2800" b="1" dirty="0">
                <a:solidFill>
                  <a:schemeClr val="tx2"/>
                </a:solidFill>
                <a:latin typeface="Times New Roman" panose="02020603050405020304" pitchFamily="18" charset="0"/>
                <a:ea typeface="宋体" panose="02010600030101010101" pitchFamily="2" charset="-122"/>
              </a:rPr>
              <a:t>无输入信号</a:t>
            </a:r>
            <a:r>
              <a:rPr lang="en-US" altLang="zh-CN" sz="2800" b="1" dirty="0">
                <a:solidFill>
                  <a:srgbClr val="FF0000"/>
                </a:solidFill>
                <a:latin typeface="Times New Roman" panose="02020603050405020304" pitchFamily="18" charset="0"/>
                <a:ea typeface="宋体" panose="02010600030101010101" pitchFamily="2" charset="-122"/>
              </a:rPr>
              <a:t>(</a:t>
            </a:r>
            <a:r>
              <a:rPr lang="en-US" altLang="zh-CN" sz="2800" b="1" i="1" dirty="0">
                <a:solidFill>
                  <a:srgbClr val="FF0000"/>
                </a:solidFill>
                <a:latin typeface="Times New Roman" panose="02020603050405020304" pitchFamily="18" charset="0"/>
                <a:ea typeface="楷体_GB2312" pitchFamily="49" charset="-122"/>
              </a:rPr>
              <a:t>u</a:t>
            </a:r>
            <a:r>
              <a:rPr lang="en-US" altLang="zh-CN" sz="2800" b="1" i="1" baseline="-25000" dirty="0">
                <a:solidFill>
                  <a:srgbClr val="FF0000"/>
                </a:solidFill>
                <a:latin typeface="Times New Roman" panose="02020603050405020304" pitchFamily="18" charset="0"/>
                <a:ea typeface="楷体_GB2312" pitchFamily="49" charset="-122"/>
              </a:rPr>
              <a:t>i</a:t>
            </a:r>
            <a:r>
              <a:rPr lang="en-US" altLang="zh-CN" sz="2800" b="1" i="1" dirty="0">
                <a:solidFill>
                  <a:srgbClr val="FF0000"/>
                </a:solidFill>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 0)</a:t>
            </a:r>
            <a:r>
              <a:rPr lang="zh-CN" altLang="en-US" sz="2800" b="1" dirty="0">
                <a:solidFill>
                  <a:schemeClr val="tx2"/>
                </a:solidFill>
                <a:latin typeface="Times New Roman" panose="02020603050405020304" pitchFamily="18" charset="0"/>
                <a:ea typeface="宋体" panose="02010600030101010101" pitchFamily="2" charset="-122"/>
              </a:rPr>
              <a:t>时</a:t>
            </a:r>
            <a:r>
              <a:rPr lang="en-US" altLang="zh-CN" sz="2800" b="1" dirty="0">
                <a:solidFill>
                  <a:schemeClr val="tx2"/>
                </a:solidFill>
                <a:latin typeface="Times New Roman" panose="02020603050405020304" pitchFamily="18" charset="0"/>
                <a:ea typeface="宋体" panose="02010600030101010101" pitchFamily="2" charset="-122"/>
              </a:rPr>
              <a:t>:</a:t>
            </a:r>
            <a:endParaRPr lang="en-US" altLang="zh-CN" sz="2800" b="1" dirty="0">
              <a:solidFill>
                <a:schemeClr val="tx2"/>
              </a:solidFill>
              <a:latin typeface="Times New Roman" panose="02020603050405020304" pitchFamily="18" charset="0"/>
              <a:ea typeface="宋体" panose="02010600030101010101" pitchFamily="2" charset="-122"/>
            </a:endParaRPr>
          </a:p>
        </p:txBody>
      </p:sp>
      <p:sp>
        <p:nvSpPr>
          <p:cNvPr id="36879" name="Rectangle 44" descr="新闻纸"/>
          <p:cNvSpPr/>
          <p:nvPr/>
        </p:nvSpPr>
        <p:spPr>
          <a:xfrm>
            <a:off x="6324600" y="1873250"/>
            <a:ext cx="1658938" cy="1458913"/>
          </a:xfrm>
          <a:prstGeom prst="rect">
            <a:avLst/>
          </a:prstGeom>
          <a:noFill/>
          <a:ln w="38100">
            <a:noFill/>
          </a:ln>
        </p:spPr>
        <p:txBody>
          <a:bodyPr wrap="none" lIns="90000" tIns="46800" rIns="90000" bIns="46800" anchor="ctr">
            <a:spAutoFit/>
          </a:bodyPr>
          <a:p>
            <a:pPr lvl="0" indent="0">
              <a:spcBef>
                <a:spcPct val="10000"/>
              </a:spcBef>
            </a:pPr>
            <a:r>
              <a:rPr lang="en-US" altLang="zh-CN" sz="2800" b="1" i="1" dirty="0">
                <a:solidFill>
                  <a:schemeClr val="tx2"/>
                </a:solidFill>
                <a:latin typeface="Times New Roman" panose="02020603050405020304" pitchFamily="18" charset="0"/>
                <a:ea typeface="楷体_GB2312" pitchFamily="49" charset="-122"/>
              </a:rPr>
              <a:t>  u</a:t>
            </a:r>
            <a:r>
              <a:rPr lang="en-US" altLang="zh-CN" sz="2800" b="1" baseline="-25000" dirty="0">
                <a:solidFill>
                  <a:schemeClr val="tx2"/>
                </a:solidFill>
                <a:latin typeface="Times New Roman" panose="02020603050405020304" pitchFamily="18" charset="0"/>
                <a:ea typeface="楷体_GB2312" pitchFamily="49" charset="-122"/>
              </a:rPr>
              <a:t>o </a:t>
            </a:r>
            <a:r>
              <a:rPr lang="en-US" altLang="zh-CN" sz="2800" b="1" dirty="0">
                <a:solidFill>
                  <a:schemeClr val="tx2"/>
                </a:solidFill>
                <a:latin typeface="Times New Roman" panose="02020603050405020304" pitchFamily="18" charset="0"/>
                <a:ea typeface="楷体_GB2312" pitchFamily="49" charset="-122"/>
              </a:rPr>
              <a:t>= 0</a:t>
            </a:r>
            <a:endParaRPr lang="en-US" altLang="zh-CN" sz="2800" b="1" dirty="0">
              <a:solidFill>
                <a:schemeClr val="tx2"/>
              </a:solidFill>
              <a:latin typeface="Times New Roman" panose="02020603050405020304" pitchFamily="18" charset="0"/>
              <a:ea typeface="楷体_GB2312" pitchFamily="49" charset="-122"/>
            </a:endParaRPr>
          </a:p>
          <a:p>
            <a:pPr lvl="0" indent="0">
              <a:spcBef>
                <a:spcPct val="10000"/>
              </a:spcBef>
            </a:pPr>
            <a:r>
              <a:rPr lang="en-US" altLang="zh-CN" sz="2800" b="1" i="1" dirty="0">
                <a:solidFill>
                  <a:schemeClr val="tx2"/>
                </a:solidFill>
                <a:latin typeface="Times New Roman" panose="02020603050405020304" pitchFamily="18" charset="0"/>
                <a:ea typeface="楷体_GB2312" pitchFamily="49" charset="-122"/>
              </a:rPr>
              <a:t>u</a:t>
            </a:r>
            <a:r>
              <a:rPr lang="en-US" altLang="zh-CN" sz="2800" b="1" baseline="-25000" dirty="0">
                <a:solidFill>
                  <a:schemeClr val="tx2"/>
                </a:solidFill>
                <a:latin typeface="Times New Roman" panose="02020603050405020304" pitchFamily="18" charset="0"/>
                <a:ea typeface="楷体_GB2312" pitchFamily="49" charset="-122"/>
              </a:rPr>
              <a:t>BE </a:t>
            </a:r>
            <a:r>
              <a:rPr lang="en-US" altLang="zh-CN" sz="2800" b="1" dirty="0">
                <a:solidFill>
                  <a:schemeClr val="tx2"/>
                </a:solidFill>
                <a:latin typeface="Times New Roman" panose="02020603050405020304" pitchFamily="18" charset="0"/>
                <a:ea typeface="楷体_GB2312" pitchFamily="49" charset="-122"/>
              </a:rPr>
              <a:t>= </a:t>
            </a:r>
            <a:r>
              <a:rPr lang="en-US" altLang="zh-CN" sz="2800" b="1" i="1" dirty="0">
                <a:solidFill>
                  <a:schemeClr val="tx2"/>
                </a:solidFill>
                <a:latin typeface="Times New Roman" panose="02020603050405020304" pitchFamily="18" charset="0"/>
                <a:ea typeface="楷体_GB2312" pitchFamily="49" charset="-122"/>
              </a:rPr>
              <a:t>U</a:t>
            </a:r>
            <a:r>
              <a:rPr lang="en-US" altLang="zh-CN" sz="2800" b="1" baseline="-25000" dirty="0">
                <a:solidFill>
                  <a:schemeClr val="tx2"/>
                </a:solidFill>
                <a:latin typeface="Times New Roman" panose="02020603050405020304" pitchFamily="18" charset="0"/>
                <a:ea typeface="楷体_GB2312" pitchFamily="49" charset="-122"/>
              </a:rPr>
              <a:t>BE</a:t>
            </a:r>
            <a:endParaRPr lang="en-US" altLang="zh-CN" sz="2800" b="1" baseline="-25000" dirty="0">
              <a:solidFill>
                <a:schemeClr val="tx2"/>
              </a:solidFill>
              <a:latin typeface="Times New Roman" panose="02020603050405020304" pitchFamily="18" charset="0"/>
              <a:ea typeface="楷体_GB2312" pitchFamily="49" charset="-122"/>
            </a:endParaRPr>
          </a:p>
          <a:p>
            <a:pPr lvl="0" indent="0">
              <a:spcBef>
                <a:spcPct val="10000"/>
              </a:spcBef>
            </a:pPr>
            <a:r>
              <a:rPr lang="en-US" altLang="zh-CN" sz="2800" b="1" i="1" dirty="0">
                <a:solidFill>
                  <a:schemeClr val="tx2"/>
                </a:solidFill>
                <a:latin typeface="Times New Roman" panose="02020603050405020304" pitchFamily="18" charset="0"/>
                <a:ea typeface="楷体_GB2312" pitchFamily="49" charset="-122"/>
              </a:rPr>
              <a:t>u</a:t>
            </a:r>
            <a:r>
              <a:rPr lang="en-US" altLang="zh-CN" sz="2800" b="1" baseline="-25000" dirty="0">
                <a:solidFill>
                  <a:schemeClr val="tx2"/>
                </a:solidFill>
                <a:latin typeface="Times New Roman" panose="02020603050405020304" pitchFamily="18" charset="0"/>
                <a:ea typeface="楷体_GB2312" pitchFamily="49" charset="-122"/>
              </a:rPr>
              <a:t>CE </a:t>
            </a:r>
            <a:r>
              <a:rPr lang="en-US" altLang="zh-CN" sz="2800" b="1" dirty="0">
                <a:solidFill>
                  <a:schemeClr val="tx2"/>
                </a:solidFill>
                <a:latin typeface="Times New Roman" panose="02020603050405020304" pitchFamily="18" charset="0"/>
                <a:ea typeface="楷体_GB2312" pitchFamily="49" charset="-122"/>
              </a:rPr>
              <a:t>= </a:t>
            </a:r>
            <a:r>
              <a:rPr lang="en-US" altLang="zh-CN" sz="2800" b="1" i="1" dirty="0">
                <a:solidFill>
                  <a:schemeClr val="tx2"/>
                </a:solidFill>
                <a:latin typeface="Times New Roman" panose="02020603050405020304" pitchFamily="18" charset="0"/>
                <a:ea typeface="楷体_GB2312" pitchFamily="49" charset="-122"/>
              </a:rPr>
              <a:t>U</a:t>
            </a:r>
            <a:r>
              <a:rPr lang="en-US" altLang="zh-CN" sz="2800" b="1" baseline="-25000" dirty="0">
                <a:solidFill>
                  <a:schemeClr val="tx2"/>
                </a:solidFill>
                <a:latin typeface="Times New Roman" panose="02020603050405020304" pitchFamily="18" charset="0"/>
                <a:ea typeface="楷体_GB2312" pitchFamily="49" charset="-122"/>
              </a:rPr>
              <a:t>CE</a:t>
            </a:r>
            <a:endParaRPr lang="en-US" altLang="zh-CN" sz="2800" b="1" baseline="-25000" dirty="0">
              <a:solidFill>
                <a:schemeClr val="tx2"/>
              </a:solidFill>
              <a:latin typeface="Times New Roman" panose="02020603050405020304" pitchFamily="18" charset="0"/>
              <a:ea typeface="楷体_GB2312" pitchFamily="49" charset="-122"/>
            </a:endParaRPr>
          </a:p>
        </p:txBody>
      </p:sp>
      <p:grpSp>
        <p:nvGrpSpPr>
          <p:cNvPr id="64557" name="Group 45"/>
          <p:cNvGrpSpPr/>
          <p:nvPr/>
        </p:nvGrpSpPr>
        <p:grpSpPr>
          <a:xfrm>
            <a:off x="6248400" y="4329113"/>
            <a:ext cx="914400" cy="1812925"/>
            <a:chOff x="2976" y="2962"/>
            <a:chExt cx="576" cy="1142"/>
          </a:xfrm>
        </p:grpSpPr>
        <p:sp>
          <p:nvSpPr>
            <p:cNvPr id="64558" name="AutoShape 46" descr="宽上对角线"/>
            <p:cNvSpPr>
              <a:spLocks noChangeArrowheads="1"/>
            </p:cNvSpPr>
            <p:nvPr/>
          </p:nvSpPr>
          <p:spPr bwMode="auto">
            <a:xfrm>
              <a:off x="2976" y="3351"/>
              <a:ext cx="576" cy="753"/>
            </a:xfrm>
            <a:prstGeom prst="flowChartProcess">
              <a:avLst/>
            </a:prstGeom>
            <a:pattFill prst="wdUpDiag">
              <a:fgClr>
                <a:srgbClr val="99FF99"/>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59" name="Freeform 47" descr="宽上对角线"/>
            <p:cNvSpPr/>
            <p:nvPr/>
          </p:nvSpPr>
          <p:spPr bwMode="auto">
            <a:xfrm>
              <a:off x="2976" y="2962"/>
              <a:ext cx="288"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pattFill prst="wdUpDiag">
              <a:fgClr>
                <a:srgbClr val="99FF99"/>
              </a:fgClr>
              <a:bgClr>
                <a:srgbClr val="FFFFFF"/>
              </a:bgClr>
            </a:patt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60" name="Freeform 48"/>
            <p:cNvSpPr/>
            <p:nvPr/>
          </p:nvSpPr>
          <p:spPr bwMode="auto">
            <a:xfrm flipV="1">
              <a:off x="3264" y="3351"/>
              <a:ext cx="288"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solidFill>
              <a:srgbClr val="D8E3F0"/>
            </a:solid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4561" name="Text Box 49"/>
          <p:cNvSpPr txBox="1"/>
          <p:nvPr/>
        </p:nvSpPr>
        <p:spPr>
          <a:xfrm>
            <a:off x="6248400" y="5189538"/>
            <a:ext cx="1143000" cy="1098550"/>
          </a:xfrm>
          <a:prstGeom prst="rect">
            <a:avLst/>
          </a:prstGeom>
          <a:noFill/>
          <a:ln w="9525">
            <a:noFill/>
          </a:ln>
        </p:spPr>
        <p:txBody>
          <a:bodyPr anchor="t">
            <a:spAutoFit/>
          </a:bodyPr>
          <a:p>
            <a:pPr lvl="0" indent="0">
              <a:spcBef>
                <a:spcPct val="50000"/>
              </a:spcBef>
            </a:pPr>
            <a:r>
              <a:rPr lang="zh-CN" altLang="en-US" sz="6600" b="1" dirty="0">
                <a:solidFill>
                  <a:srgbClr val="FF3300"/>
                </a:solidFill>
                <a:latin typeface="Times New Roman" panose="02020603050405020304" pitchFamily="18" charset="0"/>
                <a:ea typeface="宋体" panose="02010600030101010101" pitchFamily="2" charset="-122"/>
              </a:rPr>
              <a:t>？</a:t>
            </a:r>
            <a:endParaRPr lang="zh-CN" altLang="en-US" sz="6600" b="1" dirty="0">
              <a:solidFill>
                <a:srgbClr val="FF3300"/>
              </a:solidFill>
              <a:latin typeface="Times New Roman" panose="02020603050405020304" pitchFamily="18" charset="0"/>
              <a:ea typeface="宋体" panose="02010600030101010101" pitchFamily="2" charset="-122"/>
            </a:endParaRPr>
          </a:p>
        </p:txBody>
      </p:sp>
      <p:sp>
        <p:nvSpPr>
          <p:cNvPr id="64562" name="Text Box 50"/>
          <p:cNvSpPr txBox="1">
            <a:spLocks noChangeArrowheads="1"/>
          </p:cNvSpPr>
          <p:nvPr/>
        </p:nvSpPr>
        <p:spPr bwMode="auto">
          <a:xfrm>
            <a:off x="563563" y="3879850"/>
            <a:ext cx="3733800" cy="519113"/>
          </a:xfrm>
          <a:prstGeom prst="rect">
            <a:avLst/>
          </a:prstGeom>
          <a:solidFill>
            <a:srgbClr val="F6FAE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有输入信号</a:t>
            </a:r>
            <a:r>
              <a:rPr kumimoji="1" lang="en-US" altLang="zh-CN" sz="2800" b="1" i="0" u="none" strike="noStrike" kern="120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u</a:t>
            </a:r>
            <a:r>
              <a:rPr kumimoji="1" lang="en-US" altLang="zh-CN" sz="2800" b="1" i="1" u="none" strike="noStrike" kern="1200" cap="none" spc="0" normalizeH="0" baseline="-2500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i</a:t>
            </a:r>
            <a:r>
              <a:rPr kumimoji="1" lang="en-US" altLang="zh-CN" sz="2800" b="1" i="1" u="none" strike="noStrike" kern="120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0)</a:t>
            </a:r>
            <a:r>
              <a:rPr kumimoji="1"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时</a:t>
            </a:r>
            <a:endParaRPr kumimoji="1"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64563" name="Rectangle 51" descr="40%"/>
          <p:cNvSpPr/>
          <p:nvPr/>
        </p:nvSpPr>
        <p:spPr>
          <a:xfrm>
            <a:off x="563563" y="3865563"/>
            <a:ext cx="3733800" cy="538162"/>
          </a:xfrm>
          <a:prstGeom prst="rect">
            <a:avLst/>
          </a:prstGeom>
          <a:pattFill prst="pct40">
            <a:fgClr>
              <a:srgbClr val="FFCCCC"/>
            </a:fgClr>
            <a:bgClr>
              <a:srgbClr val="FFFFFF"/>
            </a:bgClr>
          </a:pattFill>
          <a:ln w="19050" cap="flat" cmpd="sng">
            <a:solidFill>
              <a:srgbClr val="FF0000"/>
            </a:solidFill>
            <a:prstDash val="solid"/>
            <a:miter/>
            <a:headEnd type="none" w="med" len="med"/>
            <a:tailEnd type="none" w="med" len="med"/>
          </a:ln>
        </p:spPr>
        <p:txBody>
          <a:bodyPr anchor="t">
            <a:spAutoFit/>
          </a:bodyPr>
          <a:p>
            <a:pPr lvl="0" indent="0"/>
            <a:r>
              <a:rPr lang="en-US" altLang="zh-CN" sz="2800" b="1" i="1" dirty="0">
                <a:solidFill>
                  <a:schemeClr val="accent2"/>
                </a:solidFill>
                <a:latin typeface="Times New Roman" panose="02020603050405020304" pitchFamily="18" charset="0"/>
                <a:ea typeface="楷体_GB2312" pitchFamily="49" charset="-122"/>
              </a:rPr>
              <a:t> u</a:t>
            </a:r>
            <a:r>
              <a:rPr lang="en-US" altLang="zh-CN" sz="2800" b="1" baseline="-25000" dirty="0">
                <a:solidFill>
                  <a:schemeClr val="accent2"/>
                </a:solidFill>
                <a:latin typeface="Times New Roman" panose="02020603050405020304" pitchFamily="18" charset="0"/>
                <a:ea typeface="楷体_GB2312" pitchFamily="49" charset="-122"/>
              </a:rPr>
              <a:t>CE </a:t>
            </a:r>
            <a:r>
              <a:rPr lang="en-US" altLang="zh-CN" sz="2800" b="1" i="1" dirty="0">
                <a:solidFill>
                  <a:schemeClr val="accent2"/>
                </a:solidFill>
                <a:latin typeface="Times New Roman" panose="02020603050405020304" pitchFamily="18" charset="0"/>
                <a:ea typeface="楷体_GB2312" pitchFamily="49" charset="-122"/>
              </a:rPr>
              <a:t>= U</a:t>
            </a:r>
            <a:r>
              <a:rPr lang="en-US" altLang="zh-CN" sz="2800" b="1" baseline="-25000" dirty="0">
                <a:solidFill>
                  <a:schemeClr val="accent2"/>
                </a:solidFill>
                <a:latin typeface="Times New Roman" panose="02020603050405020304" pitchFamily="18" charset="0"/>
                <a:ea typeface="楷体_GB2312" pitchFamily="49" charset="-122"/>
              </a:rPr>
              <a:t>CC</a:t>
            </a:r>
            <a:r>
              <a:rPr lang="zh-CN" altLang="en-US" sz="2800" b="1" i="1" dirty="0">
                <a:solidFill>
                  <a:schemeClr val="accent2"/>
                </a:solidFill>
                <a:latin typeface="Times New Roman" panose="02020603050405020304" pitchFamily="18" charset="0"/>
                <a:ea typeface="楷体_GB2312" pitchFamily="49" charset="-122"/>
              </a:rPr>
              <a:t>－ </a:t>
            </a:r>
            <a:r>
              <a:rPr lang="en-US" altLang="zh-CN" sz="2800" b="1" i="1" dirty="0">
                <a:solidFill>
                  <a:schemeClr val="accent2"/>
                </a:solidFill>
                <a:latin typeface="Times New Roman" panose="02020603050405020304" pitchFamily="18" charset="0"/>
                <a:ea typeface="楷体_GB2312" pitchFamily="49" charset="-122"/>
              </a:rPr>
              <a:t>i</a:t>
            </a:r>
            <a:r>
              <a:rPr lang="en-US" altLang="zh-CN" sz="2800" b="1" baseline="-25000" dirty="0">
                <a:solidFill>
                  <a:schemeClr val="accent2"/>
                </a:solidFill>
                <a:latin typeface="Times New Roman" panose="02020603050405020304" pitchFamily="18" charset="0"/>
                <a:ea typeface="楷体_GB2312" pitchFamily="49" charset="-122"/>
              </a:rPr>
              <a:t>C</a:t>
            </a:r>
            <a:r>
              <a:rPr lang="en-US" altLang="zh-CN" sz="2800" b="1" i="1" baseline="-25000" dirty="0">
                <a:solidFill>
                  <a:schemeClr val="accent2"/>
                </a:solidFill>
                <a:latin typeface="Times New Roman" panose="02020603050405020304" pitchFamily="18" charset="0"/>
                <a:ea typeface="楷体_GB2312" pitchFamily="49" charset="-122"/>
              </a:rPr>
              <a:t> </a:t>
            </a:r>
            <a:r>
              <a:rPr lang="en-US" altLang="zh-CN" sz="2800" b="1" i="1" dirty="0">
                <a:solidFill>
                  <a:schemeClr val="accent2"/>
                </a:solidFill>
                <a:latin typeface="Times New Roman" panose="02020603050405020304" pitchFamily="18" charset="0"/>
                <a:ea typeface="楷体_GB2312" pitchFamily="49" charset="-122"/>
              </a:rPr>
              <a:t>R</a:t>
            </a:r>
            <a:r>
              <a:rPr lang="en-US" altLang="zh-CN" sz="2800" b="1" baseline="-25000" dirty="0">
                <a:solidFill>
                  <a:schemeClr val="accent2"/>
                </a:solidFill>
                <a:latin typeface="Times New Roman" panose="02020603050405020304" pitchFamily="18" charset="0"/>
                <a:ea typeface="楷体_GB2312" pitchFamily="49" charset="-122"/>
              </a:rPr>
              <a:t>C</a:t>
            </a:r>
            <a:r>
              <a:rPr lang="en-US" altLang="zh-CN" sz="2800" b="1" baseline="-25000" dirty="0">
                <a:solidFill>
                  <a:srgbClr val="FF0000"/>
                </a:solidFill>
                <a:latin typeface="Times New Roman" panose="02020603050405020304" pitchFamily="18" charset="0"/>
                <a:ea typeface="楷体_GB2312" pitchFamily="49" charset="-122"/>
              </a:rPr>
              <a:t> </a:t>
            </a:r>
            <a:endParaRPr lang="en-US" altLang="zh-CN" sz="2800" b="1" baseline="-25000" dirty="0">
              <a:solidFill>
                <a:srgbClr val="FF0000"/>
              </a:solidFill>
              <a:latin typeface="Times New Roman" panose="02020603050405020304" pitchFamily="18" charset="0"/>
              <a:ea typeface="楷体_GB2312" pitchFamily="49" charset="-122"/>
            </a:endParaRPr>
          </a:p>
        </p:txBody>
      </p:sp>
      <p:grpSp>
        <p:nvGrpSpPr>
          <p:cNvPr id="64564" name="Group 52"/>
          <p:cNvGrpSpPr/>
          <p:nvPr/>
        </p:nvGrpSpPr>
        <p:grpSpPr>
          <a:xfrm>
            <a:off x="6286500" y="4303713"/>
            <a:ext cx="914400" cy="1862137"/>
            <a:chOff x="6144" y="2544"/>
            <a:chExt cx="576" cy="1173"/>
          </a:xfrm>
        </p:grpSpPr>
        <p:sp>
          <p:nvSpPr>
            <p:cNvPr id="64565" name="AutoShape 53" descr="宽上对角线"/>
            <p:cNvSpPr>
              <a:spLocks noChangeArrowheads="1"/>
            </p:cNvSpPr>
            <p:nvPr/>
          </p:nvSpPr>
          <p:spPr bwMode="auto">
            <a:xfrm>
              <a:off x="6144" y="2978"/>
              <a:ext cx="576" cy="739"/>
            </a:xfrm>
            <a:prstGeom prst="flowChartProcess">
              <a:avLst/>
            </a:prstGeom>
            <a:pattFill prst="wdUpDiag">
              <a:fgClr>
                <a:srgbClr val="99FF99"/>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66" name="Freeform 54" descr="宽上对角线"/>
            <p:cNvSpPr/>
            <p:nvPr/>
          </p:nvSpPr>
          <p:spPr bwMode="auto">
            <a:xfrm>
              <a:off x="6432" y="2609"/>
              <a:ext cx="288" cy="375"/>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pattFill prst="wdUpDiag">
              <a:fgClr>
                <a:srgbClr val="99FF99"/>
              </a:fgClr>
              <a:bgClr>
                <a:srgbClr val="FFFFFF"/>
              </a:bgClr>
            </a:patt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67" name="Freeform 55"/>
            <p:cNvSpPr/>
            <p:nvPr/>
          </p:nvSpPr>
          <p:spPr bwMode="auto">
            <a:xfrm flipV="1">
              <a:off x="6144" y="2970"/>
              <a:ext cx="288" cy="374"/>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solidFill>
              <a:schemeClr val="bg1"/>
            </a:solid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68" name="Rectangle 56"/>
            <p:cNvSpPr>
              <a:spLocks noChangeArrowheads="1"/>
            </p:cNvSpPr>
            <p:nvPr/>
          </p:nvSpPr>
          <p:spPr bwMode="auto">
            <a:xfrm>
              <a:off x="6144" y="2544"/>
              <a:ext cx="288" cy="415"/>
            </a:xfrm>
            <a:prstGeom prst="rect">
              <a:avLst/>
            </a:prstGeom>
            <a:solidFill>
              <a:schemeClr val="bg1"/>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4572" name="Rectangle 60"/>
          <p:cNvSpPr>
            <a:spLocks noChangeArrowheads="1"/>
          </p:cNvSpPr>
          <p:nvPr/>
        </p:nvSpPr>
        <p:spPr bwMode="auto">
          <a:xfrm>
            <a:off x="7848600" y="2057400"/>
            <a:ext cx="1752600" cy="1828800"/>
          </a:xfrm>
          <a:prstGeom prst="rect">
            <a:avLst/>
          </a:prstGeom>
          <a:noFill/>
          <a:ln>
            <a:noFill/>
          </a:ln>
          <a:effectLst/>
          <a:extLst>
            <a:ext uri="{909E8E84-426E-40DD-AFC4-6F175D3DCCD1}">
              <a14:hiddenFill xmlns:a14="http://schemas.microsoft.com/office/drawing/2010/main">
                <a:solidFill>
                  <a:srgbClr val="E4EBF4"/>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73" name="Rectangle 61"/>
          <p:cNvSpPr/>
          <p:nvPr/>
        </p:nvSpPr>
        <p:spPr>
          <a:xfrm>
            <a:off x="5795963" y="1916113"/>
            <a:ext cx="2286000" cy="1458912"/>
          </a:xfrm>
          <a:prstGeom prst="rect">
            <a:avLst/>
          </a:prstGeom>
          <a:solidFill>
            <a:srgbClr val="F6FAE6"/>
          </a:solidFill>
          <a:ln w="38100">
            <a:noFill/>
          </a:ln>
        </p:spPr>
        <p:txBody>
          <a:bodyPr lIns="90000" tIns="46800" rIns="90000" bIns="46800" anchor="ctr">
            <a:spAutoFit/>
          </a:bodyPr>
          <a:p>
            <a:pPr lvl="0" indent="0">
              <a:spcBef>
                <a:spcPct val="10000"/>
              </a:spcBef>
            </a:pPr>
            <a:r>
              <a:rPr lang="en-US" altLang="zh-CN" sz="2800" b="1" i="1" dirty="0">
                <a:solidFill>
                  <a:srgbClr val="000099"/>
                </a:solidFill>
                <a:latin typeface="Times New Roman" panose="02020603050405020304" pitchFamily="18" charset="0"/>
                <a:ea typeface="楷体_GB2312" pitchFamily="49" charset="-122"/>
              </a:rPr>
              <a:t>  u</a:t>
            </a:r>
            <a:r>
              <a:rPr lang="en-US" altLang="zh-CN" sz="2800" b="1" baseline="-25000" dirty="0">
                <a:solidFill>
                  <a:srgbClr val="000099"/>
                </a:solidFill>
                <a:latin typeface="Times New Roman" panose="02020603050405020304" pitchFamily="18" charset="0"/>
                <a:ea typeface="楷体_GB2312" pitchFamily="49" charset="-122"/>
              </a:rPr>
              <a:t>o </a:t>
            </a:r>
            <a:r>
              <a:rPr lang="en-US" altLang="zh-CN" sz="2800" b="1" dirty="0">
                <a:solidFill>
                  <a:srgbClr val="000099"/>
                </a:solidFill>
                <a:latin typeface="Times New Roman" panose="02020603050405020304" pitchFamily="18" charset="0"/>
                <a:ea typeface="楷体_GB2312" pitchFamily="49" charset="-122"/>
                <a:sym typeface="Symbol" panose="05050102010706020507" pitchFamily="18" charset="2"/>
              </a:rPr>
              <a:t></a:t>
            </a:r>
            <a:r>
              <a:rPr lang="en-US" altLang="zh-CN" sz="2800" b="1" dirty="0">
                <a:solidFill>
                  <a:srgbClr val="000099"/>
                </a:solidFill>
                <a:latin typeface="Times New Roman" panose="02020603050405020304" pitchFamily="18" charset="0"/>
                <a:ea typeface="楷体_GB2312" pitchFamily="49" charset="-122"/>
              </a:rPr>
              <a:t> 0</a:t>
            </a:r>
            <a:endParaRPr lang="en-US" altLang="zh-CN" sz="2800" b="1" dirty="0">
              <a:solidFill>
                <a:srgbClr val="000099"/>
              </a:solidFill>
              <a:latin typeface="Times New Roman" panose="02020603050405020304" pitchFamily="18" charset="0"/>
              <a:ea typeface="楷体_GB2312" pitchFamily="49" charset="-122"/>
            </a:endParaRPr>
          </a:p>
          <a:p>
            <a:pPr lvl="0" indent="0">
              <a:spcBef>
                <a:spcPct val="10000"/>
              </a:spcBef>
            </a:pP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BE </a:t>
            </a:r>
            <a:r>
              <a:rPr lang="en-US" altLang="zh-CN" sz="2800" b="1" dirty="0">
                <a:solidFill>
                  <a:srgbClr val="000099"/>
                </a:solidFill>
                <a:latin typeface="Times New Roman" panose="02020603050405020304" pitchFamily="18" charset="0"/>
                <a:ea typeface="楷体_GB2312" pitchFamily="49" charset="-122"/>
                <a:sym typeface="Symbol" panose="05050102010706020507" pitchFamily="18" charset="2"/>
              </a:rPr>
              <a:t>= </a:t>
            </a: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BE</a:t>
            </a:r>
            <a:r>
              <a:rPr lang="en-US" altLang="zh-CN" sz="2800" b="1" dirty="0">
                <a:solidFill>
                  <a:srgbClr val="000099"/>
                </a:solidFill>
                <a:latin typeface="Times New Roman" panose="02020603050405020304" pitchFamily="18" charset="0"/>
                <a:ea typeface="楷体_GB2312" pitchFamily="49" charset="-122"/>
              </a:rPr>
              <a:t>+ </a:t>
            </a: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i</a:t>
            </a:r>
            <a:endParaRPr lang="en-US" altLang="zh-CN" sz="2800" b="1" baseline="-25000" dirty="0">
              <a:solidFill>
                <a:srgbClr val="000099"/>
              </a:solidFill>
              <a:latin typeface="Times New Roman" panose="02020603050405020304" pitchFamily="18" charset="0"/>
              <a:ea typeface="楷体_GB2312" pitchFamily="49" charset="-122"/>
            </a:endParaRPr>
          </a:p>
          <a:p>
            <a:pPr lvl="0" indent="0">
              <a:spcBef>
                <a:spcPct val="10000"/>
              </a:spcBef>
            </a:pP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CE </a:t>
            </a:r>
            <a:r>
              <a:rPr lang="en-US" altLang="zh-CN" sz="2800" b="1" dirty="0">
                <a:solidFill>
                  <a:srgbClr val="000099"/>
                </a:solidFill>
                <a:latin typeface="Times New Roman" panose="02020603050405020304" pitchFamily="18" charset="0"/>
                <a:ea typeface="楷体_GB2312" pitchFamily="49" charset="-122"/>
                <a:sym typeface="Symbol" panose="05050102010706020507" pitchFamily="18" charset="2"/>
              </a:rPr>
              <a:t>= </a:t>
            </a: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CE</a:t>
            </a:r>
            <a:r>
              <a:rPr lang="en-US" altLang="zh-CN" sz="2800" b="1" dirty="0">
                <a:solidFill>
                  <a:srgbClr val="000099"/>
                </a:solidFill>
                <a:latin typeface="Times New Roman" panose="02020603050405020304" pitchFamily="18" charset="0"/>
                <a:ea typeface="楷体_GB2312" pitchFamily="49" charset="-122"/>
              </a:rPr>
              <a:t>+ </a:t>
            </a: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o</a:t>
            </a:r>
            <a:endParaRPr lang="en-US" altLang="zh-CN" sz="2800" b="1" baseline="-25000" dirty="0">
              <a:solidFill>
                <a:srgbClr val="000099"/>
              </a:solidFill>
              <a:latin typeface="Times New Roman" panose="02020603050405020304" pitchFamily="18" charset="0"/>
              <a:ea typeface="楷体_GB2312" pitchFamily="49" charset="-122"/>
            </a:endParaRPr>
          </a:p>
        </p:txBody>
      </p:sp>
      <p:grpSp>
        <p:nvGrpSpPr>
          <p:cNvPr id="64574" name="Group 62"/>
          <p:cNvGrpSpPr/>
          <p:nvPr/>
        </p:nvGrpSpPr>
        <p:grpSpPr>
          <a:xfrm>
            <a:off x="4724400" y="4343400"/>
            <a:ext cx="914400" cy="1812925"/>
            <a:chOff x="3888" y="2967"/>
            <a:chExt cx="576" cy="1142"/>
          </a:xfrm>
        </p:grpSpPr>
        <p:sp>
          <p:nvSpPr>
            <p:cNvPr id="64575" name="AutoShape 63" descr="宽上对角线"/>
            <p:cNvSpPr>
              <a:spLocks noChangeArrowheads="1"/>
            </p:cNvSpPr>
            <p:nvPr/>
          </p:nvSpPr>
          <p:spPr bwMode="auto">
            <a:xfrm>
              <a:off x="3888" y="3356"/>
              <a:ext cx="576" cy="753"/>
            </a:xfrm>
            <a:prstGeom prst="flowChartProcess">
              <a:avLst/>
            </a:prstGeom>
            <a:pattFill prst="wdUpDiag">
              <a:fgClr>
                <a:srgbClr val="99FF99"/>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6896" name="Group 64"/>
            <p:cNvGrpSpPr/>
            <p:nvPr/>
          </p:nvGrpSpPr>
          <p:grpSpPr>
            <a:xfrm>
              <a:off x="3888" y="2967"/>
              <a:ext cx="576" cy="778"/>
              <a:chOff x="3888" y="2967"/>
              <a:chExt cx="576" cy="778"/>
            </a:xfrm>
          </p:grpSpPr>
          <p:sp>
            <p:nvSpPr>
              <p:cNvPr id="64577" name="Freeform 65" descr="宽上对角线"/>
              <p:cNvSpPr/>
              <p:nvPr/>
            </p:nvSpPr>
            <p:spPr bwMode="auto">
              <a:xfrm>
                <a:off x="3888" y="2967"/>
                <a:ext cx="288"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pattFill prst="wdUpDiag">
                <a:fgClr>
                  <a:srgbClr val="99FF99"/>
                </a:fgClr>
                <a:bgClr>
                  <a:srgbClr val="FFFFFF"/>
                </a:bgClr>
              </a:patt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78" name="Freeform 66"/>
              <p:cNvSpPr/>
              <p:nvPr/>
            </p:nvSpPr>
            <p:spPr bwMode="auto">
              <a:xfrm flipV="1">
                <a:off x="4176" y="3356"/>
                <a:ext cx="288"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solidFill>
                <a:srgbClr val="D4E7F8"/>
              </a:solid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grpSp>
        <p:nvGrpSpPr>
          <p:cNvPr id="36899" name="Group 241"/>
          <p:cNvGrpSpPr/>
          <p:nvPr/>
        </p:nvGrpSpPr>
        <p:grpSpPr>
          <a:xfrm>
            <a:off x="5638800" y="4953000"/>
            <a:ext cx="496888" cy="1219200"/>
            <a:chOff x="3552" y="3120"/>
            <a:chExt cx="313" cy="768"/>
          </a:xfrm>
        </p:grpSpPr>
        <p:sp>
          <p:nvSpPr>
            <p:cNvPr id="64586" name="Line 74"/>
            <p:cNvSpPr>
              <a:spLocks noChangeShapeType="1"/>
            </p:cNvSpPr>
            <p:nvPr/>
          </p:nvSpPr>
          <p:spPr bwMode="auto">
            <a:xfrm>
              <a:off x="3575" y="3120"/>
              <a:ext cx="0" cy="768"/>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01" name="Rectangle 75"/>
            <p:cNvSpPr/>
            <p:nvPr/>
          </p:nvSpPr>
          <p:spPr>
            <a:xfrm>
              <a:off x="3552" y="3417"/>
              <a:ext cx="313" cy="327"/>
            </a:xfrm>
            <a:prstGeom prst="rect">
              <a:avLst/>
            </a:prstGeom>
            <a:noFill/>
            <a:ln w="9525">
              <a:noFill/>
            </a:ln>
          </p:spPr>
          <p:txBody>
            <a:bodyPr wrap="none" anchor="t">
              <a:spAutoFit/>
            </a:bodyPr>
            <a:p>
              <a:pPr lvl="0" indent="0"/>
              <a:r>
                <a:rPr lang="en-US" altLang="zh-CN" sz="2800" b="1" i="1" dirty="0">
                  <a:solidFill>
                    <a:srgbClr val="FF0000"/>
                  </a:solidFill>
                  <a:latin typeface="Times New Roman" panose="02020603050405020304" pitchFamily="18" charset="0"/>
                  <a:ea typeface="楷体_GB2312" pitchFamily="49" charset="-122"/>
                </a:rPr>
                <a:t>I</a:t>
              </a:r>
              <a:r>
                <a:rPr lang="en-US" altLang="zh-CN" sz="2800" b="1" baseline="-25000" dirty="0">
                  <a:solidFill>
                    <a:srgbClr val="FF0000"/>
                  </a:solidFill>
                  <a:latin typeface="Times New Roman" panose="02020603050405020304" pitchFamily="18" charset="0"/>
                  <a:ea typeface="楷体_GB2312" pitchFamily="49" charset="-122"/>
                </a:rPr>
                <a:t>C</a:t>
              </a:r>
              <a:endParaRPr lang="en-US" altLang="zh-CN" sz="2800" b="1" baseline="-25000" dirty="0">
                <a:solidFill>
                  <a:srgbClr val="FF0000"/>
                </a:solidFill>
                <a:latin typeface="Times New Roman" panose="02020603050405020304" pitchFamily="18" charset="0"/>
                <a:ea typeface="楷体_GB2312" pitchFamily="49" charset="-122"/>
              </a:endParaRPr>
            </a:p>
          </p:txBody>
        </p:sp>
      </p:grpSp>
      <p:grpSp>
        <p:nvGrpSpPr>
          <p:cNvPr id="36902" name="Group 137"/>
          <p:cNvGrpSpPr/>
          <p:nvPr/>
        </p:nvGrpSpPr>
        <p:grpSpPr>
          <a:xfrm>
            <a:off x="1187450" y="476250"/>
            <a:ext cx="4340225" cy="3082925"/>
            <a:chOff x="927" y="434"/>
            <a:chExt cx="2734" cy="1942"/>
          </a:xfrm>
        </p:grpSpPr>
        <p:sp>
          <p:nvSpPr>
            <p:cNvPr id="64650" name="Line 138"/>
            <p:cNvSpPr>
              <a:spLocks noChangeShapeType="1"/>
            </p:cNvSpPr>
            <p:nvPr/>
          </p:nvSpPr>
          <p:spPr bwMode="auto">
            <a:xfrm flipH="1" flipV="1">
              <a:off x="2408" y="587"/>
              <a:ext cx="0" cy="141"/>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51" name="Line 139"/>
            <p:cNvSpPr>
              <a:spLocks noChangeShapeType="1"/>
            </p:cNvSpPr>
            <p:nvPr/>
          </p:nvSpPr>
          <p:spPr bwMode="auto">
            <a:xfrm flipV="1">
              <a:off x="1751" y="578"/>
              <a:ext cx="135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05" name="Rectangle 140"/>
            <p:cNvSpPr/>
            <p:nvPr/>
          </p:nvSpPr>
          <p:spPr>
            <a:xfrm>
              <a:off x="3115" y="434"/>
              <a:ext cx="546" cy="287"/>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64653" name="Line 141"/>
            <p:cNvSpPr>
              <a:spLocks noChangeShapeType="1"/>
            </p:cNvSpPr>
            <p:nvPr/>
          </p:nvSpPr>
          <p:spPr bwMode="auto">
            <a:xfrm flipV="1">
              <a:off x="1751" y="1088"/>
              <a:ext cx="0" cy="3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54" name="Line 142"/>
            <p:cNvSpPr>
              <a:spLocks noChangeShapeType="1"/>
            </p:cNvSpPr>
            <p:nvPr/>
          </p:nvSpPr>
          <p:spPr bwMode="auto">
            <a:xfrm rot="16200000" flipH="1">
              <a:off x="1616" y="696"/>
              <a:ext cx="26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55" name="Line 143"/>
            <p:cNvSpPr>
              <a:spLocks noChangeShapeType="1"/>
            </p:cNvSpPr>
            <p:nvPr/>
          </p:nvSpPr>
          <p:spPr bwMode="auto">
            <a:xfrm>
              <a:off x="2264" y="1341"/>
              <a:ext cx="0" cy="2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56" name="Line 144"/>
            <p:cNvSpPr>
              <a:spLocks noChangeShapeType="1"/>
            </p:cNvSpPr>
            <p:nvPr/>
          </p:nvSpPr>
          <p:spPr bwMode="auto">
            <a:xfrm>
              <a:off x="2264" y="1488"/>
              <a:ext cx="137" cy="115"/>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57" name="Line 145"/>
            <p:cNvSpPr>
              <a:spLocks noChangeShapeType="1"/>
            </p:cNvSpPr>
            <p:nvPr/>
          </p:nvSpPr>
          <p:spPr bwMode="auto">
            <a:xfrm flipV="1">
              <a:off x="2264" y="1298"/>
              <a:ext cx="137" cy="101"/>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58" name="Line 146"/>
            <p:cNvSpPr>
              <a:spLocks noChangeShapeType="1"/>
            </p:cNvSpPr>
            <p:nvPr/>
          </p:nvSpPr>
          <p:spPr bwMode="auto">
            <a:xfrm>
              <a:off x="2393" y="1582"/>
              <a:ext cx="0" cy="698"/>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59" name="Line 147"/>
            <p:cNvSpPr>
              <a:spLocks noChangeShapeType="1"/>
            </p:cNvSpPr>
            <p:nvPr/>
          </p:nvSpPr>
          <p:spPr bwMode="auto">
            <a:xfrm flipV="1">
              <a:off x="1077" y="2251"/>
              <a:ext cx="1993"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13" name="Text Box 148"/>
            <p:cNvSpPr txBox="1"/>
            <p:nvPr/>
          </p:nvSpPr>
          <p:spPr>
            <a:xfrm>
              <a:off x="1412" y="805"/>
              <a:ext cx="327"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64661" name="Rectangle 149"/>
            <p:cNvSpPr>
              <a:spLocks noChangeArrowheads="1"/>
            </p:cNvSpPr>
            <p:nvPr/>
          </p:nvSpPr>
          <p:spPr bwMode="auto">
            <a:xfrm>
              <a:off x="2357" y="707"/>
              <a:ext cx="92" cy="251"/>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62" name="Rectangle 150"/>
            <p:cNvSpPr>
              <a:spLocks noChangeArrowheads="1"/>
            </p:cNvSpPr>
            <p:nvPr/>
          </p:nvSpPr>
          <p:spPr bwMode="auto">
            <a:xfrm>
              <a:off x="1704" y="845"/>
              <a:ext cx="92" cy="252"/>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6916" name="Group 151"/>
            <p:cNvGrpSpPr/>
            <p:nvPr/>
          </p:nvGrpSpPr>
          <p:grpSpPr>
            <a:xfrm>
              <a:off x="1415" y="1349"/>
              <a:ext cx="67" cy="202"/>
              <a:chOff x="3454" y="2018"/>
              <a:chExt cx="96" cy="328"/>
            </a:xfrm>
          </p:grpSpPr>
          <p:sp>
            <p:nvSpPr>
              <p:cNvPr id="64664" name="Line 152"/>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65" name="Line 153"/>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4666" name="Line 154"/>
            <p:cNvSpPr>
              <a:spLocks noChangeShapeType="1"/>
            </p:cNvSpPr>
            <p:nvPr/>
          </p:nvSpPr>
          <p:spPr bwMode="auto">
            <a:xfrm flipV="1">
              <a:off x="1099" y="1452"/>
              <a:ext cx="31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6920" name="Group 155"/>
            <p:cNvGrpSpPr/>
            <p:nvPr/>
          </p:nvGrpSpPr>
          <p:grpSpPr>
            <a:xfrm flipH="1">
              <a:off x="2711" y="998"/>
              <a:ext cx="67" cy="202"/>
              <a:chOff x="3454" y="2018"/>
              <a:chExt cx="96" cy="328"/>
            </a:xfrm>
          </p:grpSpPr>
          <p:sp>
            <p:nvSpPr>
              <p:cNvPr id="64668" name="Line 156"/>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69" name="Line 157"/>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4670" name="Line 158"/>
            <p:cNvSpPr>
              <a:spLocks noChangeShapeType="1"/>
            </p:cNvSpPr>
            <p:nvPr/>
          </p:nvSpPr>
          <p:spPr bwMode="auto">
            <a:xfrm flipV="1">
              <a:off x="2396" y="1097"/>
              <a:ext cx="33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24" name="Text Box 159"/>
            <p:cNvSpPr txBox="1"/>
            <p:nvPr/>
          </p:nvSpPr>
          <p:spPr>
            <a:xfrm>
              <a:off x="2043" y="664"/>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36925" name="Text Box 160"/>
            <p:cNvSpPr txBox="1"/>
            <p:nvPr/>
          </p:nvSpPr>
          <p:spPr>
            <a:xfrm>
              <a:off x="1319" y="1077"/>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36926" name="Text Box 161"/>
            <p:cNvSpPr txBox="1"/>
            <p:nvPr/>
          </p:nvSpPr>
          <p:spPr>
            <a:xfrm>
              <a:off x="2627" y="759"/>
              <a:ext cx="306" cy="289"/>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36927" name="Text Box 162"/>
            <p:cNvSpPr txBox="1"/>
            <p:nvPr/>
          </p:nvSpPr>
          <p:spPr>
            <a:xfrm>
              <a:off x="2299" y="1314"/>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36928" name="Text Box 163"/>
            <p:cNvSpPr txBox="1"/>
            <p:nvPr/>
          </p:nvSpPr>
          <p:spPr>
            <a:xfrm>
              <a:off x="1470" y="1256"/>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6929" name="Text Box 164"/>
            <p:cNvSpPr txBox="1"/>
            <p:nvPr/>
          </p:nvSpPr>
          <p:spPr>
            <a:xfrm>
              <a:off x="2526" y="89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64677" name="Line 165"/>
            <p:cNvSpPr>
              <a:spLocks noChangeShapeType="1"/>
            </p:cNvSpPr>
            <p:nvPr/>
          </p:nvSpPr>
          <p:spPr bwMode="auto">
            <a:xfrm flipV="1">
              <a:off x="1475" y="1455"/>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31" name="Rectangle 166"/>
            <p:cNvSpPr/>
            <p:nvPr/>
          </p:nvSpPr>
          <p:spPr>
            <a:xfrm>
              <a:off x="927" y="1689"/>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6932" name="Rectangle 167"/>
            <p:cNvSpPr/>
            <p:nvPr/>
          </p:nvSpPr>
          <p:spPr>
            <a:xfrm>
              <a:off x="1029" y="1415"/>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6933" name="Rectangle 168"/>
            <p:cNvSpPr/>
            <p:nvPr/>
          </p:nvSpPr>
          <p:spPr>
            <a:xfrm>
              <a:off x="1022" y="2001"/>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36934" name="Rectangle 169"/>
            <p:cNvSpPr/>
            <p:nvPr/>
          </p:nvSpPr>
          <p:spPr>
            <a:xfrm>
              <a:off x="2962" y="1522"/>
              <a:ext cx="285"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6935" name="Rectangle 170"/>
            <p:cNvSpPr/>
            <p:nvPr/>
          </p:nvSpPr>
          <p:spPr>
            <a:xfrm flipH="1">
              <a:off x="2544" y="1056"/>
              <a:ext cx="1056"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64683" name="Rectangle 171"/>
            <p:cNvSpPr>
              <a:spLocks noChangeArrowheads="1"/>
            </p:cNvSpPr>
            <p:nvPr/>
          </p:nvSpPr>
          <p:spPr bwMode="auto">
            <a:xfrm>
              <a:off x="2943" y="1980"/>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6937" name="Text Box 172"/>
            <p:cNvSpPr txBox="1"/>
            <p:nvPr/>
          </p:nvSpPr>
          <p:spPr>
            <a:xfrm>
              <a:off x="2041" y="1396"/>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36938" name="Text Box 173"/>
            <p:cNvSpPr txBox="1"/>
            <p:nvPr/>
          </p:nvSpPr>
          <p:spPr>
            <a:xfrm>
              <a:off x="2484" y="1107"/>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64686" name="Rectangle 174"/>
            <p:cNvSpPr>
              <a:spLocks noChangeArrowheads="1"/>
            </p:cNvSpPr>
            <p:nvPr/>
          </p:nvSpPr>
          <p:spPr bwMode="auto">
            <a:xfrm>
              <a:off x="2193" y="16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6940" name="Rectangle 175"/>
            <p:cNvSpPr/>
            <p:nvPr/>
          </p:nvSpPr>
          <p:spPr>
            <a:xfrm>
              <a:off x="1962" y="1488"/>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36941" name="Rectangle 176"/>
            <p:cNvSpPr/>
            <p:nvPr/>
          </p:nvSpPr>
          <p:spPr>
            <a:xfrm>
              <a:off x="2404" y="1311"/>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689" name="Rectangle 177"/>
            <p:cNvSpPr>
              <a:spLocks noChangeArrowheads="1"/>
            </p:cNvSpPr>
            <p:nvPr/>
          </p:nvSpPr>
          <p:spPr bwMode="auto">
            <a:xfrm>
              <a:off x="2479" y="1546"/>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64690" name="Line 178"/>
            <p:cNvSpPr>
              <a:spLocks noChangeShapeType="1"/>
            </p:cNvSpPr>
            <p:nvPr/>
          </p:nvSpPr>
          <p:spPr bwMode="auto">
            <a:xfrm>
              <a:off x="2338" y="1080"/>
              <a:ext cx="2" cy="261"/>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44" name="Rectangle 179"/>
            <p:cNvSpPr/>
            <p:nvPr/>
          </p:nvSpPr>
          <p:spPr>
            <a:xfrm>
              <a:off x="1986" y="102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692" name="Line 180"/>
            <p:cNvSpPr>
              <a:spLocks noChangeShapeType="1"/>
            </p:cNvSpPr>
            <p:nvPr/>
          </p:nvSpPr>
          <p:spPr bwMode="auto">
            <a:xfrm>
              <a:off x="1833" y="1406"/>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46" name="Rectangle 181"/>
            <p:cNvSpPr/>
            <p:nvPr/>
          </p:nvSpPr>
          <p:spPr>
            <a:xfrm>
              <a:off x="1778" y="1094"/>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694" name="Line 182"/>
            <p:cNvSpPr>
              <a:spLocks noChangeShapeType="1"/>
            </p:cNvSpPr>
            <p:nvPr/>
          </p:nvSpPr>
          <p:spPr bwMode="auto">
            <a:xfrm flipH="1">
              <a:off x="2440" y="1864"/>
              <a:ext cx="0" cy="261"/>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48" name="Rectangle 183"/>
            <p:cNvSpPr/>
            <p:nvPr/>
          </p:nvSpPr>
          <p:spPr>
            <a:xfrm>
              <a:off x="2327" y="182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696" name="Oval 184"/>
            <p:cNvSpPr>
              <a:spLocks noChangeArrowheads="1"/>
            </p:cNvSpPr>
            <p:nvPr/>
          </p:nvSpPr>
          <p:spPr bwMode="auto">
            <a:xfrm>
              <a:off x="3085" y="560"/>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97" name="Oval 185"/>
            <p:cNvSpPr>
              <a:spLocks noChangeArrowheads="1"/>
            </p:cNvSpPr>
            <p:nvPr/>
          </p:nvSpPr>
          <p:spPr bwMode="auto">
            <a:xfrm>
              <a:off x="3056" y="1074"/>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98" name="Oval 186"/>
            <p:cNvSpPr>
              <a:spLocks noChangeArrowheads="1"/>
            </p:cNvSpPr>
            <p:nvPr/>
          </p:nvSpPr>
          <p:spPr bwMode="auto">
            <a:xfrm>
              <a:off x="3039" y="2220"/>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699" name="Oval 187"/>
            <p:cNvSpPr>
              <a:spLocks noChangeArrowheads="1"/>
            </p:cNvSpPr>
            <p:nvPr/>
          </p:nvSpPr>
          <p:spPr bwMode="auto">
            <a:xfrm>
              <a:off x="1040" y="1430"/>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00" name="Oval 188"/>
            <p:cNvSpPr>
              <a:spLocks noChangeArrowheads="1"/>
            </p:cNvSpPr>
            <p:nvPr/>
          </p:nvSpPr>
          <p:spPr bwMode="auto">
            <a:xfrm>
              <a:off x="1028" y="2221"/>
              <a:ext cx="56" cy="4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01" name="Line 189"/>
            <p:cNvSpPr>
              <a:spLocks noChangeShapeType="1"/>
            </p:cNvSpPr>
            <p:nvPr/>
          </p:nvSpPr>
          <p:spPr bwMode="auto">
            <a:xfrm>
              <a:off x="2784" y="110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02" name="Line 190"/>
            <p:cNvSpPr>
              <a:spLocks noChangeShapeType="1"/>
            </p:cNvSpPr>
            <p:nvPr/>
          </p:nvSpPr>
          <p:spPr bwMode="auto">
            <a:xfrm>
              <a:off x="2400" y="960"/>
              <a:ext cx="0" cy="38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6956" name="Group 191"/>
            <p:cNvGrpSpPr/>
            <p:nvPr/>
          </p:nvGrpSpPr>
          <p:grpSpPr>
            <a:xfrm>
              <a:off x="2285" y="2208"/>
              <a:ext cx="189" cy="168"/>
              <a:chOff x="2305" y="2232"/>
              <a:chExt cx="189" cy="168"/>
            </a:xfrm>
          </p:grpSpPr>
          <p:grpSp>
            <p:nvGrpSpPr>
              <p:cNvPr id="36957" name="Group 192"/>
              <p:cNvGrpSpPr/>
              <p:nvPr/>
            </p:nvGrpSpPr>
            <p:grpSpPr>
              <a:xfrm>
                <a:off x="2305" y="2292"/>
                <a:ext cx="189" cy="108"/>
                <a:chOff x="2898" y="3684"/>
                <a:chExt cx="204" cy="204"/>
              </a:xfrm>
            </p:grpSpPr>
            <p:sp>
              <p:nvSpPr>
                <p:cNvPr id="64705" name="Line 193"/>
                <p:cNvSpPr>
                  <a:spLocks noChangeShapeType="1"/>
                </p:cNvSpPr>
                <p:nvPr/>
              </p:nvSpPr>
              <p:spPr bwMode="auto">
                <a:xfrm>
                  <a:off x="3000" y="3684"/>
                  <a:ext cx="0" cy="20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06" name="Line 194"/>
                <p:cNvSpPr>
                  <a:spLocks noChangeShapeType="1"/>
                </p:cNvSpPr>
                <p:nvPr/>
              </p:nvSpPr>
              <p:spPr bwMode="auto">
                <a:xfrm>
                  <a:off x="2898" y="3876"/>
                  <a:ext cx="204" cy="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4707" name="Oval 195"/>
              <p:cNvSpPr>
                <a:spLocks noChangeArrowheads="1"/>
              </p:cNvSpPr>
              <p:nvPr/>
            </p:nvSpPr>
            <p:spPr bwMode="auto">
              <a:xfrm>
                <a:off x="2373" y="2232"/>
                <a:ext cx="56" cy="46"/>
              </a:xfrm>
              <a:prstGeom prst="ellipse">
                <a:avLst/>
              </a:prstGeom>
              <a:solidFill>
                <a:schemeClr val="tx1"/>
              </a:solidFill>
              <a:ln w="28575">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grpSp>
        <p:nvGrpSpPr>
          <p:cNvPr id="36961" name="Group 209"/>
          <p:cNvGrpSpPr/>
          <p:nvPr/>
        </p:nvGrpSpPr>
        <p:grpSpPr>
          <a:xfrm>
            <a:off x="1371600" y="4419600"/>
            <a:ext cx="1639888" cy="1912938"/>
            <a:chOff x="864" y="2784"/>
            <a:chExt cx="1033" cy="1205"/>
          </a:xfrm>
        </p:grpSpPr>
        <p:sp>
          <p:nvSpPr>
            <p:cNvPr id="36962" name="Text Box 210"/>
            <p:cNvSpPr txBox="1"/>
            <p:nvPr/>
          </p:nvSpPr>
          <p:spPr>
            <a:xfrm>
              <a:off x="960" y="2784"/>
              <a:ext cx="472" cy="288"/>
            </a:xfrm>
            <a:prstGeom prst="rect">
              <a:avLst/>
            </a:prstGeom>
            <a:noFill/>
            <a:ln w="28575">
              <a:noFill/>
            </a:ln>
          </p:spPr>
          <p:txBody>
            <a:bodyPr anchor="ctr">
              <a:spAutoFit/>
            </a:bodyPr>
            <a:p>
              <a:pPr lvl="0" indent="0" algn="ct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723" name="Line 211"/>
            <p:cNvSpPr>
              <a:spLocks noChangeShapeType="1"/>
            </p:cNvSpPr>
            <p:nvPr/>
          </p:nvSpPr>
          <p:spPr bwMode="auto">
            <a:xfrm flipV="1">
              <a:off x="1056" y="3413"/>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24" name="Line 212"/>
            <p:cNvSpPr>
              <a:spLocks noChangeShapeType="1"/>
            </p:cNvSpPr>
            <p:nvPr/>
          </p:nvSpPr>
          <p:spPr bwMode="auto">
            <a:xfrm flipH="1" flipV="1">
              <a:off x="1056" y="3029"/>
              <a:ext cx="0" cy="792"/>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25" name="Line 213"/>
            <p:cNvSpPr>
              <a:spLocks noChangeShapeType="1"/>
            </p:cNvSpPr>
            <p:nvPr/>
          </p:nvSpPr>
          <p:spPr bwMode="auto">
            <a:xfrm>
              <a:off x="1056" y="3821"/>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66" name="Rectangle 214"/>
            <p:cNvSpPr/>
            <p:nvPr/>
          </p:nvSpPr>
          <p:spPr>
            <a:xfrm>
              <a:off x="1728" y="3701"/>
              <a:ext cx="169" cy="288"/>
            </a:xfrm>
            <a:prstGeom prst="rect">
              <a:avLst/>
            </a:prstGeom>
            <a:noFill/>
            <a:ln w="9525">
              <a:noFill/>
            </a:ln>
          </p:spPr>
          <p:txBody>
            <a:bodyPr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6967" name="Text Box 215"/>
            <p:cNvSpPr txBox="1"/>
            <p:nvPr/>
          </p:nvSpPr>
          <p:spPr>
            <a:xfrm>
              <a:off x="864" y="3720"/>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36968" name="Group 216"/>
          <p:cNvGrpSpPr/>
          <p:nvPr/>
        </p:nvGrpSpPr>
        <p:grpSpPr>
          <a:xfrm>
            <a:off x="2895600" y="4471988"/>
            <a:ext cx="1639888" cy="1911350"/>
            <a:chOff x="1824" y="2817"/>
            <a:chExt cx="1033" cy="1204"/>
          </a:xfrm>
        </p:grpSpPr>
        <p:sp>
          <p:nvSpPr>
            <p:cNvPr id="36969" name="Text Box 217"/>
            <p:cNvSpPr txBox="1"/>
            <p:nvPr/>
          </p:nvSpPr>
          <p:spPr>
            <a:xfrm>
              <a:off x="1920" y="2817"/>
              <a:ext cx="472" cy="288"/>
            </a:xfrm>
            <a:prstGeom prst="rect">
              <a:avLst/>
            </a:prstGeom>
            <a:noFill/>
            <a:ln w="28575">
              <a:noFill/>
            </a:ln>
          </p:spPr>
          <p:txBody>
            <a:bodyPr anchor="ctr">
              <a:spAutoFit/>
            </a:bodyPr>
            <a:p>
              <a:pPr lvl="0" indent="0" algn="ct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730" name="Line 218"/>
            <p:cNvSpPr>
              <a:spLocks noChangeShapeType="1"/>
            </p:cNvSpPr>
            <p:nvPr/>
          </p:nvSpPr>
          <p:spPr bwMode="auto">
            <a:xfrm flipV="1">
              <a:off x="2016" y="3413"/>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31" name="Line 219"/>
            <p:cNvSpPr>
              <a:spLocks noChangeShapeType="1"/>
            </p:cNvSpPr>
            <p:nvPr/>
          </p:nvSpPr>
          <p:spPr bwMode="auto">
            <a:xfrm flipH="1" flipV="1">
              <a:off x="2016" y="3029"/>
              <a:ext cx="0" cy="81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32" name="Line 220"/>
            <p:cNvSpPr>
              <a:spLocks noChangeShapeType="1"/>
            </p:cNvSpPr>
            <p:nvPr/>
          </p:nvSpPr>
          <p:spPr bwMode="auto">
            <a:xfrm>
              <a:off x="2016" y="3845"/>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73" name="Rectangle 221"/>
            <p:cNvSpPr/>
            <p:nvPr/>
          </p:nvSpPr>
          <p:spPr>
            <a:xfrm>
              <a:off x="2688" y="3733"/>
              <a:ext cx="169" cy="288"/>
            </a:xfrm>
            <a:prstGeom prst="rect">
              <a:avLst/>
            </a:prstGeom>
            <a:noFill/>
            <a:ln w="9525">
              <a:noFill/>
            </a:ln>
          </p:spPr>
          <p:txBody>
            <a:bodyPr wrap="none"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6974" name="Rectangle 222"/>
            <p:cNvSpPr/>
            <p:nvPr/>
          </p:nvSpPr>
          <p:spPr>
            <a:xfrm>
              <a:off x="1824" y="3744"/>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36975" name="Group 223"/>
          <p:cNvGrpSpPr/>
          <p:nvPr/>
        </p:nvGrpSpPr>
        <p:grpSpPr>
          <a:xfrm>
            <a:off x="4419600" y="3810000"/>
            <a:ext cx="1662113" cy="2579688"/>
            <a:chOff x="2784" y="2400"/>
            <a:chExt cx="1047" cy="1625"/>
          </a:xfrm>
        </p:grpSpPr>
        <p:sp>
          <p:nvSpPr>
            <p:cNvPr id="36976" name="Text Box 224"/>
            <p:cNvSpPr txBox="1"/>
            <p:nvPr/>
          </p:nvSpPr>
          <p:spPr>
            <a:xfrm>
              <a:off x="2880" y="2400"/>
              <a:ext cx="472" cy="288"/>
            </a:xfrm>
            <a:prstGeom prst="rect">
              <a:avLst/>
            </a:prstGeom>
            <a:noFill/>
            <a:ln w="28575">
              <a:noFill/>
            </a:ln>
          </p:spPr>
          <p:txBody>
            <a:bodyPr anchor="ctr">
              <a:spAutoFit/>
            </a:bodyPr>
            <a:p>
              <a:pPr lvl="0" indent="0" algn="ct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737" name="Line 225"/>
            <p:cNvSpPr>
              <a:spLocks noChangeShapeType="1"/>
            </p:cNvSpPr>
            <p:nvPr/>
          </p:nvSpPr>
          <p:spPr bwMode="auto">
            <a:xfrm flipV="1">
              <a:off x="2976" y="3120"/>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38" name="Line 226"/>
            <p:cNvSpPr>
              <a:spLocks noChangeShapeType="1"/>
            </p:cNvSpPr>
            <p:nvPr/>
          </p:nvSpPr>
          <p:spPr bwMode="auto">
            <a:xfrm flipH="1" flipV="1">
              <a:off x="2976" y="2592"/>
              <a:ext cx="0" cy="1272"/>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39" name="Line 227"/>
            <p:cNvSpPr>
              <a:spLocks noChangeShapeType="1"/>
            </p:cNvSpPr>
            <p:nvPr/>
          </p:nvSpPr>
          <p:spPr bwMode="auto">
            <a:xfrm>
              <a:off x="2976" y="3864"/>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80" name="Rectangle 228"/>
            <p:cNvSpPr/>
            <p:nvPr/>
          </p:nvSpPr>
          <p:spPr>
            <a:xfrm>
              <a:off x="3662" y="3737"/>
              <a:ext cx="169" cy="288"/>
            </a:xfrm>
            <a:prstGeom prst="rect">
              <a:avLst/>
            </a:prstGeom>
            <a:noFill/>
            <a:ln w="9525">
              <a:noFill/>
            </a:ln>
          </p:spPr>
          <p:txBody>
            <a:bodyPr wrap="none"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6981" name="Rectangle 229"/>
            <p:cNvSpPr/>
            <p:nvPr/>
          </p:nvSpPr>
          <p:spPr>
            <a:xfrm>
              <a:off x="2784" y="3753"/>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36982" name="Group 230"/>
          <p:cNvGrpSpPr/>
          <p:nvPr/>
        </p:nvGrpSpPr>
        <p:grpSpPr>
          <a:xfrm>
            <a:off x="5943600" y="3744913"/>
            <a:ext cx="1639888" cy="2732087"/>
            <a:chOff x="3767" y="2309"/>
            <a:chExt cx="1033" cy="1721"/>
          </a:xfrm>
        </p:grpSpPr>
        <p:sp>
          <p:nvSpPr>
            <p:cNvPr id="36983" name="Text Box 231"/>
            <p:cNvSpPr txBox="1"/>
            <p:nvPr/>
          </p:nvSpPr>
          <p:spPr>
            <a:xfrm>
              <a:off x="3863" y="2309"/>
              <a:ext cx="472" cy="288"/>
            </a:xfrm>
            <a:prstGeom prst="rect">
              <a:avLst/>
            </a:prstGeom>
            <a:noFill/>
            <a:ln w="28575">
              <a:noFill/>
            </a:ln>
          </p:spPr>
          <p:txBody>
            <a:bodyPr anchor="ctr">
              <a:spAutoFit/>
            </a:bodyPr>
            <a:p>
              <a:pPr lvl="0" indent="0" algn="ct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744" name="Line 232"/>
            <p:cNvSpPr>
              <a:spLocks noChangeShapeType="1"/>
            </p:cNvSpPr>
            <p:nvPr/>
          </p:nvSpPr>
          <p:spPr bwMode="auto">
            <a:xfrm flipV="1">
              <a:off x="3959" y="3077"/>
              <a:ext cx="67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45" name="Line 233"/>
            <p:cNvSpPr>
              <a:spLocks noChangeShapeType="1"/>
            </p:cNvSpPr>
            <p:nvPr/>
          </p:nvSpPr>
          <p:spPr bwMode="auto">
            <a:xfrm flipH="1" flipV="1">
              <a:off x="3959" y="2549"/>
              <a:ext cx="0" cy="129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746" name="Line 234"/>
            <p:cNvSpPr>
              <a:spLocks noChangeShapeType="1"/>
            </p:cNvSpPr>
            <p:nvPr/>
          </p:nvSpPr>
          <p:spPr bwMode="auto">
            <a:xfrm>
              <a:off x="3959" y="3845"/>
              <a:ext cx="7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87" name="Rectangle 235"/>
            <p:cNvSpPr/>
            <p:nvPr/>
          </p:nvSpPr>
          <p:spPr>
            <a:xfrm>
              <a:off x="4631" y="3742"/>
              <a:ext cx="169" cy="288"/>
            </a:xfrm>
            <a:prstGeom prst="rect">
              <a:avLst/>
            </a:prstGeom>
            <a:noFill/>
            <a:ln w="9525">
              <a:noFill/>
            </a:ln>
          </p:spPr>
          <p:txBody>
            <a:bodyPr wrap="none"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6988" name="Rectangle 236"/>
            <p:cNvSpPr/>
            <p:nvPr/>
          </p:nvSpPr>
          <p:spPr>
            <a:xfrm>
              <a:off x="3767" y="3753"/>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64750" name="Group 238"/>
          <p:cNvGrpSpPr/>
          <p:nvPr/>
        </p:nvGrpSpPr>
        <p:grpSpPr>
          <a:xfrm>
            <a:off x="14288" y="4670425"/>
            <a:ext cx="1662112" cy="1120775"/>
            <a:chOff x="-48" y="2928"/>
            <a:chExt cx="1047" cy="706"/>
          </a:xfrm>
        </p:grpSpPr>
        <p:sp>
          <p:nvSpPr>
            <p:cNvPr id="36990" name="Text Box 3"/>
            <p:cNvSpPr txBox="1"/>
            <p:nvPr/>
          </p:nvSpPr>
          <p:spPr>
            <a:xfrm>
              <a:off x="100" y="2928"/>
              <a:ext cx="376" cy="288"/>
            </a:xfrm>
            <a:prstGeom prst="rect">
              <a:avLst/>
            </a:prstGeom>
            <a:noFill/>
            <a:ln w="28575">
              <a:noFill/>
            </a:ln>
          </p:spPr>
          <p:txBody>
            <a:bodyPr anchor="ctr">
              <a:spAutoFit/>
            </a:bodyPr>
            <a:p>
              <a:pPr lvl="0" indent="0" algn="ct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64517" name="Line 5"/>
            <p:cNvSpPr>
              <a:spLocks noChangeShapeType="1"/>
            </p:cNvSpPr>
            <p:nvPr/>
          </p:nvSpPr>
          <p:spPr bwMode="auto">
            <a:xfrm flipV="1">
              <a:off x="158" y="3106"/>
              <a:ext cx="0" cy="52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18" name="Line 6"/>
            <p:cNvSpPr>
              <a:spLocks noChangeShapeType="1"/>
            </p:cNvSpPr>
            <p:nvPr/>
          </p:nvSpPr>
          <p:spPr bwMode="auto">
            <a:xfrm>
              <a:off x="158" y="3394"/>
              <a:ext cx="72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19" name="Freeform 7"/>
            <p:cNvSpPr/>
            <p:nvPr/>
          </p:nvSpPr>
          <p:spPr bwMode="auto">
            <a:xfrm>
              <a:off x="158" y="3250"/>
              <a:ext cx="576" cy="288"/>
            </a:xfrm>
            <a:custGeom>
              <a:avLst/>
              <a:gdLst>
                <a:gd name="T0" fmla="*/ 0 w 576"/>
                <a:gd name="T1" fmla="*/ 240 h 480"/>
                <a:gd name="T2" fmla="*/ 144 w 576"/>
                <a:gd name="T3" fmla="*/ 0 h 480"/>
                <a:gd name="T4" fmla="*/ 288 w 576"/>
                <a:gd name="T5" fmla="*/ 240 h 480"/>
                <a:gd name="T6" fmla="*/ 440 w 576"/>
                <a:gd name="T7" fmla="*/ 480 h 480"/>
                <a:gd name="T8" fmla="*/ 576 w 576"/>
                <a:gd name="T9" fmla="*/ 240 h 480"/>
              </a:gdLst>
              <a:ahLst/>
              <a:cxnLst>
                <a:cxn ang="0">
                  <a:pos x="T0" y="T1"/>
                </a:cxn>
                <a:cxn ang="0">
                  <a:pos x="T2" y="T3"/>
                </a:cxn>
                <a:cxn ang="0">
                  <a:pos x="T4" y="T5"/>
                </a:cxn>
                <a:cxn ang="0">
                  <a:pos x="T6" y="T7"/>
                </a:cxn>
                <a:cxn ang="0">
                  <a:pos x="T8" y="T9"/>
                </a:cxn>
              </a:cxnLst>
              <a:rect l="0" t="0" r="r" b="b"/>
              <a:pathLst>
                <a:path w="576" h="480">
                  <a:moveTo>
                    <a:pt x="0" y="240"/>
                  </a:moveTo>
                  <a:cubicBezTo>
                    <a:pt x="48" y="120"/>
                    <a:pt x="96" y="0"/>
                    <a:pt x="144" y="0"/>
                  </a:cubicBezTo>
                  <a:cubicBezTo>
                    <a:pt x="192" y="0"/>
                    <a:pt x="239" y="160"/>
                    <a:pt x="288" y="240"/>
                  </a:cubicBezTo>
                  <a:cubicBezTo>
                    <a:pt x="337" y="320"/>
                    <a:pt x="392" y="480"/>
                    <a:pt x="440" y="480"/>
                  </a:cubicBezTo>
                  <a:cubicBezTo>
                    <a:pt x="488" y="480"/>
                    <a:pt x="548" y="290"/>
                    <a:pt x="576" y="240"/>
                  </a:cubicBezTo>
                </a:path>
              </a:pathLst>
            </a:custGeom>
            <a:noFill/>
            <a:ln w="28575"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94" name="Rectangle 8"/>
            <p:cNvSpPr/>
            <p:nvPr/>
          </p:nvSpPr>
          <p:spPr>
            <a:xfrm>
              <a:off x="830" y="3282"/>
              <a:ext cx="169" cy="288"/>
            </a:xfrm>
            <a:prstGeom prst="rect">
              <a:avLst/>
            </a:prstGeom>
            <a:noFill/>
            <a:ln w="9525">
              <a:noFill/>
            </a:ln>
          </p:spPr>
          <p:txBody>
            <a:bodyPr wrap="none" anchor="t">
              <a:spAutoFit/>
            </a:bodyPr>
            <a:p>
              <a:pPr lvl="0" indent="0"/>
              <a:r>
                <a:rPr lang="en-US" altLang="zh-CN" b="1" i="1" dirty="0">
                  <a:latin typeface="Times New Roman" panose="02020603050405020304" pitchFamily="18" charset="0"/>
                  <a:ea typeface="楷体_GB2312" pitchFamily="49" charset="-122"/>
                </a:rPr>
                <a:t>t</a:t>
              </a:r>
              <a:endParaRPr lang="en-US" altLang="zh-CN" b="1" i="1" dirty="0">
                <a:latin typeface="Times New Roman" panose="02020603050405020304" pitchFamily="18" charset="0"/>
                <a:ea typeface="楷体_GB2312" pitchFamily="49" charset="-122"/>
              </a:endParaRPr>
            </a:p>
          </p:txBody>
        </p:sp>
        <p:sp>
          <p:nvSpPr>
            <p:cNvPr id="36995" name="Rectangle 237"/>
            <p:cNvSpPr/>
            <p:nvPr/>
          </p:nvSpPr>
          <p:spPr>
            <a:xfrm>
              <a:off x="-48" y="3264"/>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36996" name="Group 242"/>
          <p:cNvGrpSpPr/>
          <p:nvPr/>
        </p:nvGrpSpPr>
        <p:grpSpPr>
          <a:xfrm>
            <a:off x="7086600" y="4953000"/>
            <a:ext cx="776288" cy="1219200"/>
            <a:chOff x="4464" y="3120"/>
            <a:chExt cx="489" cy="768"/>
          </a:xfrm>
        </p:grpSpPr>
        <p:sp>
          <p:nvSpPr>
            <p:cNvPr id="64553" name="Line 41"/>
            <p:cNvSpPr>
              <a:spLocks noChangeShapeType="1"/>
            </p:cNvSpPr>
            <p:nvPr/>
          </p:nvSpPr>
          <p:spPr bwMode="auto">
            <a:xfrm>
              <a:off x="4512" y="3120"/>
              <a:ext cx="0" cy="768"/>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998" name="Rectangle 42"/>
            <p:cNvSpPr/>
            <p:nvPr/>
          </p:nvSpPr>
          <p:spPr>
            <a:xfrm>
              <a:off x="4464" y="3417"/>
              <a:ext cx="489" cy="327"/>
            </a:xfrm>
            <a:prstGeom prst="rect">
              <a:avLst/>
            </a:prstGeom>
            <a:noFill/>
            <a:ln w="9525">
              <a:noFill/>
            </a:ln>
          </p:spPr>
          <p:txBody>
            <a:bodyPr wrap="none" anchor="t">
              <a:spAutoFit/>
            </a:bodyPr>
            <a:p>
              <a:pPr lvl="0" indent="0"/>
              <a:r>
                <a:rPr lang="en-US" altLang="zh-CN" sz="2800" b="1" i="1" dirty="0">
                  <a:solidFill>
                    <a:srgbClr val="FF0000"/>
                  </a:solidFill>
                  <a:latin typeface="Times New Roman" panose="02020603050405020304" pitchFamily="18" charset="0"/>
                  <a:ea typeface="楷体_GB2312" pitchFamily="49" charset="-122"/>
                </a:rPr>
                <a:t>U</a:t>
              </a:r>
              <a:r>
                <a:rPr lang="en-US" altLang="zh-CN" sz="2800" b="1" baseline="-25000" dirty="0">
                  <a:solidFill>
                    <a:srgbClr val="FF0000"/>
                  </a:solidFill>
                  <a:latin typeface="Times New Roman" panose="02020603050405020304" pitchFamily="18" charset="0"/>
                  <a:ea typeface="楷体_GB2312" pitchFamily="49" charset="-122"/>
                </a:rPr>
                <a:t>CE</a:t>
              </a:r>
              <a:endParaRPr lang="en-US" altLang="zh-CN" sz="2800" b="1" baseline="-25000" dirty="0">
                <a:solidFill>
                  <a:srgbClr val="FF0000"/>
                </a:solidFill>
                <a:latin typeface="Times New Roman" panose="02020603050405020304" pitchFamily="18" charset="0"/>
                <a:ea typeface="楷体_GB2312" pitchFamily="49" charset="-122"/>
              </a:endParaRPr>
            </a:p>
          </p:txBody>
        </p:sp>
      </p:grpSp>
      <p:grpSp>
        <p:nvGrpSpPr>
          <p:cNvPr id="64752" name="Group 240"/>
          <p:cNvGrpSpPr/>
          <p:nvPr/>
        </p:nvGrpSpPr>
        <p:grpSpPr>
          <a:xfrm>
            <a:off x="7391400" y="3748088"/>
            <a:ext cx="1676400" cy="1890712"/>
            <a:chOff x="4656" y="2361"/>
            <a:chExt cx="1056" cy="1191"/>
          </a:xfrm>
        </p:grpSpPr>
        <p:sp>
          <p:nvSpPr>
            <p:cNvPr id="64522" name="Line 10"/>
            <p:cNvSpPr>
              <a:spLocks noChangeShapeType="1"/>
            </p:cNvSpPr>
            <p:nvPr/>
          </p:nvSpPr>
          <p:spPr bwMode="auto">
            <a:xfrm flipV="1">
              <a:off x="4840" y="2544"/>
              <a:ext cx="0" cy="100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523" name="Line 11"/>
            <p:cNvSpPr>
              <a:spLocks noChangeShapeType="1"/>
            </p:cNvSpPr>
            <p:nvPr/>
          </p:nvSpPr>
          <p:spPr bwMode="auto">
            <a:xfrm>
              <a:off x="4832" y="3120"/>
              <a:ext cx="72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7002" name="Text Box 12"/>
            <p:cNvSpPr txBox="1"/>
            <p:nvPr/>
          </p:nvSpPr>
          <p:spPr>
            <a:xfrm>
              <a:off x="4808" y="2361"/>
              <a:ext cx="376" cy="327"/>
            </a:xfrm>
            <a:prstGeom prst="rect">
              <a:avLst/>
            </a:prstGeom>
            <a:noFill/>
            <a:ln w="28575">
              <a:noFill/>
            </a:ln>
          </p:spPr>
          <p:txBody>
            <a:bodyPr anchor="ctr">
              <a:spAutoFit/>
            </a:bodyPr>
            <a:p>
              <a:pPr lvl="0" indent="0" algn="ctr"/>
              <a:r>
                <a:rPr lang="en-US" altLang="zh-CN" sz="2800" b="1" i="1" dirty="0">
                  <a:solidFill>
                    <a:schemeClr val="accent2"/>
                  </a:solidFill>
                  <a:latin typeface="Times New Roman" panose="02020603050405020304" pitchFamily="18" charset="0"/>
                  <a:ea typeface="楷体_GB2312" pitchFamily="49" charset="-122"/>
                </a:rPr>
                <a:t>u</a:t>
              </a:r>
              <a:r>
                <a:rPr lang="en-US" altLang="zh-CN" sz="2800" b="1" i="1" baseline="-25000" dirty="0">
                  <a:solidFill>
                    <a:schemeClr val="accent2"/>
                  </a:solidFill>
                  <a:latin typeface="Times New Roman" panose="02020603050405020304" pitchFamily="18" charset="0"/>
                  <a:ea typeface="楷体_GB2312" pitchFamily="49" charset="-122"/>
                </a:rPr>
                <a:t>o</a:t>
              </a:r>
              <a:endParaRPr lang="en-US" altLang="zh-CN" sz="2800" b="1" i="1" baseline="-25000" dirty="0">
                <a:solidFill>
                  <a:schemeClr val="accent2"/>
                </a:solidFill>
                <a:latin typeface="Times New Roman" panose="02020603050405020304" pitchFamily="18" charset="0"/>
                <a:ea typeface="楷体_GB2312" pitchFamily="49" charset="-122"/>
              </a:endParaRPr>
            </a:p>
          </p:txBody>
        </p:sp>
        <p:sp>
          <p:nvSpPr>
            <p:cNvPr id="64525" name="Freeform 13"/>
            <p:cNvSpPr/>
            <p:nvPr/>
          </p:nvSpPr>
          <p:spPr bwMode="auto">
            <a:xfrm flipV="1">
              <a:off x="4848" y="2734"/>
              <a:ext cx="576" cy="754"/>
            </a:xfrm>
            <a:custGeom>
              <a:avLst/>
              <a:gdLst>
                <a:gd name="T0" fmla="*/ 0 w 576"/>
                <a:gd name="T1" fmla="*/ 240 h 480"/>
                <a:gd name="T2" fmla="*/ 144 w 576"/>
                <a:gd name="T3" fmla="*/ 0 h 480"/>
                <a:gd name="T4" fmla="*/ 288 w 576"/>
                <a:gd name="T5" fmla="*/ 240 h 480"/>
                <a:gd name="T6" fmla="*/ 440 w 576"/>
                <a:gd name="T7" fmla="*/ 480 h 480"/>
                <a:gd name="T8" fmla="*/ 576 w 576"/>
                <a:gd name="T9" fmla="*/ 240 h 480"/>
              </a:gdLst>
              <a:ahLst/>
              <a:cxnLst>
                <a:cxn ang="0">
                  <a:pos x="T0" y="T1"/>
                </a:cxn>
                <a:cxn ang="0">
                  <a:pos x="T2" y="T3"/>
                </a:cxn>
                <a:cxn ang="0">
                  <a:pos x="T4" y="T5"/>
                </a:cxn>
                <a:cxn ang="0">
                  <a:pos x="T6" y="T7"/>
                </a:cxn>
                <a:cxn ang="0">
                  <a:pos x="T8" y="T9"/>
                </a:cxn>
              </a:cxnLst>
              <a:rect l="0" t="0" r="r" b="b"/>
              <a:pathLst>
                <a:path w="576" h="480">
                  <a:moveTo>
                    <a:pt x="0" y="240"/>
                  </a:moveTo>
                  <a:cubicBezTo>
                    <a:pt x="48" y="120"/>
                    <a:pt x="96" y="0"/>
                    <a:pt x="144" y="0"/>
                  </a:cubicBezTo>
                  <a:cubicBezTo>
                    <a:pt x="192" y="0"/>
                    <a:pt x="239" y="160"/>
                    <a:pt x="288" y="240"/>
                  </a:cubicBezTo>
                  <a:cubicBezTo>
                    <a:pt x="337" y="320"/>
                    <a:pt x="392" y="480"/>
                    <a:pt x="440" y="480"/>
                  </a:cubicBezTo>
                  <a:cubicBezTo>
                    <a:pt x="488" y="480"/>
                    <a:pt x="548" y="290"/>
                    <a:pt x="576" y="240"/>
                  </a:cubicBez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7004" name="Rectangle 14"/>
            <p:cNvSpPr/>
            <p:nvPr/>
          </p:nvSpPr>
          <p:spPr>
            <a:xfrm>
              <a:off x="5534" y="2985"/>
              <a:ext cx="178" cy="327"/>
            </a:xfrm>
            <a:prstGeom prst="rect">
              <a:avLst/>
            </a:prstGeom>
            <a:noFill/>
            <a:ln w="9525">
              <a:noFill/>
            </a:ln>
          </p:spPr>
          <p:txBody>
            <a:bodyPr wrap="none" anchor="t">
              <a:spAutoFit/>
            </a:bodyPr>
            <a:p>
              <a:pPr lvl="0" indent="0"/>
              <a:r>
                <a:rPr lang="en-US" altLang="zh-CN" sz="2800" b="1" i="1" dirty="0">
                  <a:latin typeface="Times New Roman" panose="02020603050405020304" pitchFamily="18" charset="0"/>
                  <a:ea typeface="楷体_GB2312" pitchFamily="49" charset="-122"/>
                </a:rPr>
                <a:t>t</a:t>
              </a:r>
              <a:endParaRPr lang="en-US" altLang="zh-CN" sz="2800" b="1" i="1" dirty="0">
                <a:latin typeface="Times New Roman" panose="02020603050405020304" pitchFamily="18" charset="0"/>
                <a:ea typeface="楷体_GB2312" pitchFamily="49" charset="-122"/>
              </a:endParaRPr>
            </a:p>
          </p:txBody>
        </p:sp>
        <p:sp>
          <p:nvSpPr>
            <p:cNvPr id="37005" name="Rectangle 239"/>
            <p:cNvSpPr/>
            <p:nvPr/>
          </p:nvSpPr>
          <p:spPr>
            <a:xfrm>
              <a:off x="4656" y="3024"/>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750"/>
                                        </p:tgtEl>
                                        <p:attrNameLst>
                                          <p:attrName>style.visibility</p:attrName>
                                        </p:attrNameLst>
                                      </p:cBhvr>
                                      <p:to>
                                        <p:strVal val="visible"/>
                                      </p:to>
                                    </p:set>
                                    <p:animEffect transition="in" filter="wipe(left)">
                                      <p:cBhvr>
                                        <p:cTn id="7" dur="500"/>
                                        <p:tgtEl>
                                          <p:spTgt spid="6475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4562"/>
                                        </p:tgtEl>
                                        <p:attrNameLst>
                                          <p:attrName>style.visibility</p:attrName>
                                        </p:attrNameLst>
                                      </p:cBhvr>
                                      <p:to>
                                        <p:strVal val="visible"/>
                                      </p:to>
                                    </p:set>
                                    <p:animEffect transition="in" filter="blinds(horizontal)">
                                      <p:cBhvr>
                                        <p:cTn id="11" dur="500"/>
                                        <p:tgtEl>
                                          <p:spTgt spid="6456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4528"/>
                                        </p:tgtEl>
                                        <p:attrNameLst>
                                          <p:attrName>style.visibility</p:attrName>
                                        </p:attrNameLst>
                                      </p:cBhvr>
                                      <p:to>
                                        <p:strVal val="visible"/>
                                      </p:to>
                                    </p:set>
                                    <p:animEffect transition="in" filter="wipe(left)">
                                      <p:cBhvr>
                                        <p:cTn id="16" dur="500"/>
                                        <p:tgtEl>
                                          <p:spTgt spid="6452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4539"/>
                                        </p:tgtEl>
                                        <p:attrNameLst>
                                          <p:attrName>style.visibility</p:attrName>
                                        </p:attrNameLst>
                                      </p:cBhvr>
                                      <p:to>
                                        <p:strVal val="visible"/>
                                      </p:to>
                                    </p:set>
                                    <p:animEffect transition="in" filter="wipe(left)">
                                      <p:cBhvr>
                                        <p:cTn id="21" dur="500"/>
                                        <p:tgtEl>
                                          <p:spTgt spid="6453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4574"/>
                                        </p:tgtEl>
                                        <p:attrNameLst>
                                          <p:attrName>style.visibility</p:attrName>
                                        </p:attrNameLst>
                                      </p:cBhvr>
                                      <p:to>
                                        <p:strVal val="visible"/>
                                      </p:to>
                                    </p:set>
                                    <p:animEffect transition="in" filter="wipe(left)">
                                      <p:cBhvr>
                                        <p:cTn id="26" dur="500"/>
                                        <p:tgtEl>
                                          <p:spTgt spid="6457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4557"/>
                                        </p:tgtEl>
                                        <p:attrNameLst>
                                          <p:attrName>style.visibility</p:attrName>
                                        </p:attrNameLst>
                                      </p:cBhvr>
                                      <p:to>
                                        <p:strVal val="visible"/>
                                      </p:to>
                                    </p:set>
                                    <p:animEffect transition="in" filter="wipe(left)">
                                      <p:cBhvr>
                                        <p:cTn id="31" dur="500"/>
                                        <p:tgtEl>
                                          <p:spTgt spid="64557"/>
                                        </p:tgtEl>
                                      </p:cBhvr>
                                    </p:animEffect>
                                  </p:childTnLst>
                                </p:cTn>
                              </p:par>
                            </p:childTnLst>
                          </p:cTn>
                        </p:par>
                        <p:par>
                          <p:cTn id="32" fill="hold">
                            <p:stCondLst>
                              <p:cond delay="500"/>
                            </p:stCondLst>
                            <p:childTnLst>
                              <p:par>
                                <p:cTn id="33" presetID="4" presetClass="entr" presetSubtype="16" fill="hold" grpId="0" nodeType="afterEffect">
                                  <p:stCondLst>
                                    <p:cond delay="0"/>
                                  </p:stCondLst>
                                  <p:childTnLst>
                                    <p:set>
                                      <p:cBhvr>
                                        <p:cTn id="34" dur="1" fill="hold">
                                          <p:stCondLst>
                                            <p:cond delay="0"/>
                                          </p:stCondLst>
                                        </p:cTn>
                                        <p:tgtEl>
                                          <p:spTgt spid="64561"/>
                                        </p:tgtEl>
                                        <p:attrNameLst>
                                          <p:attrName>style.visibility</p:attrName>
                                        </p:attrNameLst>
                                      </p:cBhvr>
                                      <p:to>
                                        <p:strVal val="visible"/>
                                      </p:to>
                                    </p:set>
                                    <p:animEffect transition="in" filter="box(in)">
                                      <p:cBhvr>
                                        <p:cTn id="35" dur="500"/>
                                        <p:tgtEl>
                                          <p:spTgt spid="64561"/>
                                        </p:tgtEl>
                                      </p:cBhvr>
                                    </p:animEffect>
                                  </p:childTnLst>
                                  <p:subTnLst>
                                    <p:set>
                                      <p:cBhvr override="childStyle">
                                        <p:cTn dur="1" fill="hold" display="0" masterRel="nextClick" afterEffect="1"/>
                                        <p:tgtEl>
                                          <p:spTgt spid="64561"/>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3" presetClass="entr" presetSubtype="5" fill="hold" grpId="0" nodeType="clickEffect">
                                  <p:stCondLst>
                                    <p:cond delay="0"/>
                                  </p:stCondLst>
                                  <p:childTnLst>
                                    <p:set>
                                      <p:cBhvr>
                                        <p:cTn id="39" dur="1" fill="hold">
                                          <p:stCondLst>
                                            <p:cond delay="0"/>
                                          </p:stCondLst>
                                        </p:cTn>
                                        <p:tgtEl>
                                          <p:spTgt spid="64563"/>
                                        </p:tgtEl>
                                        <p:attrNameLst>
                                          <p:attrName>style.visibility</p:attrName>
                                        </p:attrNameLst>
                                      </p:cBhvr>
                                      <p:to>
                                        <p:strVal val="visible"/>
                                      </p:to>
                                    </p:set>
                                    <p:animEffect transition="in" filter="blinds(vertical)">
                                      <p:cBhvr>
                                        <p:cTn id="40" dur="500"/>
                                        <p:tgtEl>
                                          <p:spTgt spid="6456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64564"/>
                                        </p:tgtEl>
                                        <p:attrNameLst>
                                          <p:attrName>style.visibility</p:attrName>
                                        </p:attrNameLst>
                                      </p:cBhvr>
                                      <p:to>
                                        <p:strVal val="visible"/>
                                      </p:to>
                                    </p:set>
                                    <p:animEffect transition="in" filter="wipe(left)">
                                      <p:cBhvr>
                                        <p:cTn id="45" dur="500"/>
                                        <p:tgtEl>
                                          <p:spTgt spid="6456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64752"/>
                                        </p:tgtEl>
                                        <p:attrNameLst>
                                          <p:attrName>style.visibility</p:attrName>
                                        </p:attrNameLst>
                                      </p:cBhvr>
                                      <p:to>
                                        <p:strVal val="visible"/>
                                      </p:to>
                                    </p:set>
                                    <p:animEffect transition="in" filter="wipe(left)">
                                      <p:cBhvr>
                                        <p:cTn id="50" dur="500"/>
                                        <p:tgtEl>
                                          <p:spTgt spid="6475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4573"/>
                                        </p:tgtEl>
                                        <p:attrNameLst>
                                          <p:attrName>style.visibility</p:attrName>
                                        </p:attrNameLst>
                                      </p:cBhvr>
                                      <p:to>
                                        <p:strVal val="visible"/>
                                      </p:to>
                                    </p:set>
                                    <p:animEffect transition="in" filter="wipe(left)">
                                      <p:cBhvr>
                                        <p:cTn id="55" dur="500"/>
                                        <p:tgtEl>
                                          <p:spTgt spid="6457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4573">
                                            <p:txEl>
                                              <p:charRg st="0" end="9"/>
                                            </p:txEl>
                                          </p:spTgt>
                                        </p:tgtEl>
                                        <p:attrNameLst>
                                          <p:attrName>style.visibility</p:attrName>
                                        </p:attrNameLst>
                                      </p:cBhvr>
                                      <p:to>
                                        <p:strVal val="visible"/>
                                      </p:to>
                                    </p:set>
                                    <p:animEffect transition="in" filter="wipe(left)">
                                      <p:cBhvr>
                                        <p:cTn id="60" dur="500"/>
                                        <p:tgtEl>
                                          <p:spTgt spid="64573">
                                            <p:txEl>
                                              <p:charRg st="0" end="9"/>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4573">
                                            <p:txEl>
                                              <p:charRg st="9" end="23"/>
                                            </p:txEl>
                                          </p:spTgt>
                                        </p:tgtEl>
                                        <p:attrNameLst>
                                          <p:attrName>style.visibility</p:attrName>
                                        </p:attrNameLst>
                                      </p:cBhvr>
                                      <p:to>
                                        <p:strVal val="visible"/>
                                      </p:to>
                                    </p:set>
                                    <p:animEffect transition="in" filter="wipe(left)">
                                      <p:cBhvr>
                                        <p:cTn id="65" dur="500"/>
                                        <p:tgtEl>
                                          <p:spTgt spid="64573">
                                            <p:txEl>
                                              <p:charRg st="9" end="2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64573">
                                            <p:txEl>
                                              <p:charRg st="23" end="37"/>
                                            </p:txEl>
                                          </p:spTgt>
                                        </p:tgtEl>
                                        <p:attrNameLst>
                                          <p:attrName>style.visibility</p:attrName>
                                        </p:attrNameLst>
                                      </p:cBhvr>
                                      <p:to>
                                        <p:strVal val="visible"/>
                                      </p:to>
                                    </p:set>
                                    <p:animEffect transition="in" filter="wipe(left)">
                                      <p:cBhvr>
                                        <p:cTn id="70" dur="500"/>
                                        <p:tgtEl>
                                          <p:spTgt spid="64573">
                                            <p:txEl>
                                              <p:charRg st="23" end="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61" grpId="0"/>
      <p:bldP spid="64562" grpId="0" bldLvl="0" animBg="1"/>
      <p:bldP spid="64563" grpId="0" bldLvl="0" animBg="1"/>
      <p:bldP spid="64573" grpId="0" animBg="1"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66562" name="Rectangle 2"/>
          <p:cNvSpPr>
            <a:spLocks noChangeArrowheads="1"/>
          </p:cNvSpPr>
          <p:nvPr>
            <p:ph type="title"/>
          </p:nvPr>
        </p:nvSpPr>
        <p:spPr bwMode="auto">
          <a:xfrm>
            <a:off x="512763" y="152400"/>
            <a:ext cx="1336675"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rPr>
              <a:t>结论：</a:t>
            </a:r>
            <a:endParaRPr kumimoji="1" lang="zh-CN" altLang="en-US" sz="32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endParaRPr>
          </a:p>
        </p:txBody>
      </p:sp>
      <p:sp>
        <p:nvSpPr>
          <p:cNvPr id="66563" name="Rectangle 3"/>
          <p:cNvSpPr>
            <a:spLocks noChangeArrowheads="1"/>
          </p:cNvSpPr>
          <p:nvPr/>
        </p:nvSpPr>
        <p:spPr bwMode="auto">
          <a:xfrm>
            <a:off x="381000" y="152400"/>
            <a:ext cx="1600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p>
            <a:pPr lvl="0" eaLnBrk="1" fontAlgn="base" hangingPunct="1"/>
            <a:endParaRPr lang="zh-CN" altLang="zh-CN" sz="4400"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66608" name="Rectangle 48"/>
          <p:cNvSpPr>
            <a:spLocks noChangeArrowheads="1"/>
          </p:cNvSpPr>
          <p:nvPr/>
        </p:nvSpPr>
        <p:spPr bwMode="auto">
          <a:xfrm>
            <a:off x="609600" y="817563"/>
            <a:ext cx="8405813"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加上输入信号电压后，各电极电流和电压的大小均发生了变化，都在直流量的基础上叠加了一个交流量，但方向始终不变。</a:t>
            </a:r>
            <a:endPar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66619" name="AutoShape 59"/>
          <p:cNvSpPr>
            <a:spLocks noChangeArrowheads="1"/>
          </p:cNvSpPr>
          <p:nvPr/>
        </p:nvSpPr>
        <p:spPr bwMode="auto">
          <a:xfrm>
            <a:off x="2667000" y="4016375"/>
            <a:ext cx="838200" cy="457200"/>
          </a:xfrm>
          <a:prstGeom prst="notchedRightArrow">
            <a:avLst>
              <a:gd name="adj1" fmla="val 50000"/>
              <a:gd name="adj2" fmla="val 45833"/>
            </a:avLst>
          </a:prstGeom>
          <a:gradFill rotWithShape="0">
            <a:gsLst>
              <a:gs pos="0">
                <a:srgbClr val="FFFFCC"/>
              </a:gs>
              <a:gs pos="100000">
                <a:srgbClr val="FF3300"/>
              </a:gs>
            </a:gsLst>
            <a:lin ang="0" scaled="1"/>
          </a:gra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630" name="Text Box 70"/>
          <p:cNvSpPr txBox="1"/>
          <p:nvPr/>
        </p:nvSpPr>
        <p:spPr>
          <a:xfrm>
            <a:off x="5638800" y="3787775"/>
            <a:ext cx="838200" cy="519113"/>
          </a:xfrm>
          <a:prstGeom prst="rect">
            <a:avLst/>
          </a:prstGeom>
          <a:noFill/>
          <a:ln w="9525">
            <a:noFill/>
          </a:ln>
        </p:spPr>
        <p:txBody>
          <a:bodyPr anchor="t">
            <a:spAutoFit/>
          </a:bodyPr>
          <a:p>
            <a:pPr lvl="0" indent="0">
              <a:spcBef>
                <a:spcPct val="5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
        <p:nvSpPr>
          <p:cNvPr id="66631" name="AutoShape 71" descr="80%"/>
          <p:cNvSpPr/>
          <p:nvPr/>
        </p:nvSpPr>
        <p:spPr>
          <a:xfrm>
            <a:off x="1447800" y="3025775"/>
            <a:ext cx="2133600" cy="609600"/>
          </a:xfrm>
          <a:prstGeom prst="wedgeRoundRectCallout">
            <a:avLst>
              <a:gd name="adj1" fmla="val -54764"/>
              <a:gd name="adj2" fmla="val 110940"/>
              <a:gd name="adj3" fmla="val 16667"/>
            </a:avLst>
          </a:prstGeom>
          <a:pattFill prst="pct80">
            <a:fgClr>
              <a:srgbClr val="FFCC99"/>
            </a:fgClr>
            <a:bgClr>
              <a:schemeClr val="bg1"/>
            </a:bgClr>
          </a:pattFill>
          <a:ln w="28575" cap="flat" cmpd="sng">
            <a:solidFill>
              <a:schemeClr val="accent2"/>
            </a:solidFill>
            <a:prstDash val="solid"/>
            <a:miter/>
            <a:headEnd type="none" w="med" len="med"/>
            <a:tailEnd type="none" w="med" len="med"/>
          </a:ln>
        </p:spPr>
        <p:txBody>
          <a:bodyPr wrap="none" anchor="ctr"/>
          <a:p>
            <a:pPr lvl="0" indent="0" algn="ctr"/>
            <a:r>
              <a:rPr lang="zh-CN" altLang="en-US" sz="2800" b="1" dirty="0">
                <a:latin typeface="Times New Roman" panose="02020603050405020304" pitchFamily="18" charset="0"/>
                <a:ea typeface="宋体" panose="02010600030101010101" pitchFamily="2" charset="-122"/>
              </a:rPr>
              <a:t>集电极电流</a:t>
            </a:r>
            <a:endParaRPr lang="zh-CN" altLang="en-US" sz="2800" b="1" dirty="0">
              <a:latin typeface="Times New Roman" panose="02020603050405020304" pitchFamily="18" charset="0"/>
              <a:ea typeface="宋体" panose="02010600030101010101" pitchFamily="2" charset="-122"/>
            </a:endParaRPr>
          </a:p>
        </p:txBody>
      </p:sp>
      <p:sp>
        <p:nvSpPr>
          <p:cNvPr id="66632" name="AutoShape 72" descr="75%"/>
          <p:cNvSpPr/>
          <p:nvPr/>
        </p:nvSpPr>
        <p:spPr>
          <a:xfrm>
            <a:off x="4648200" y="2492375"/>
            <a:ext cx="1828800" cy="609600"/>
          </a:xfrm>
          <a:prstGeom prst="wedgeRoundRectCallout">
            <a:avLst>
              <a:gd name="adj1" fmla="val -45310"/>
              <a:gd name="adj2" fmla="val 230991"/>
              <a:gd name="adj3" fmla="val 16667"/>
            </a:avLst>
          </a:prstGeom>
          <a:pattFill prst="pct75">
            <a:fgClr>
              <a:srgbClr val="FFFF00"/>
            </a:fgClr>
            <a:bgClr>
              <a:schemeClr val="bg1"/>
            </a:bgClr>
          </a:pattFill>
          <a:ln w="28575" cap="flat" cmpd="sng">
            <a:solidFill>
              <a:srgbClr val="FF3300"/>
            </a:solidFill>
            <a:prstDash val="solid"/>
            <a:miter/>
            <a:headEnd type="none" w="med" len="med"/>
            <a:tailEnd type="none" w="med" len="med"/>
          </a:ln>
        </p:spPr>
        <p:txBody>
          <a:bodyPr wrap="none" anchor="ctr"/>
          <a:p>
            <a:pPr lvl="0" indent="0" algn="ctr"/>
            <a:r>
              <a:rPr lang="zh-CN" altLang="en-US" sz="2800" b="1" dirty="0">
                <a:latin typeface="Times New Roman" panose="02020603050405020304" pitchFamily="18" charset="0"/>
                <a:ea typeface="宋体" panose="02010600030101010101" pitchFamily="2" charset="-122"/>
              </a:rPr>
              <a:t>直流分量</a:t>
            </a:r>
            <a:endParaRPr lang="zh-CN" altLang="en-US" sz="2800" b="1" dirty="0">
              <a:latin typeface="Times New Roman" panose="02020603050405020304" pitchFamily="18" charset="0"/>
              <a:ea typeface="宋体" panose="02010600030101010101" pitchFamily="2" charset="-122"/>
            </a:endParaRPr>
          </a:p>
        </p:txBody>
      </p:sp>
      <p:sp>
        <p:nvSpPr>
          <p:cNvPr id="66633" name="AutoShape 73" descr="75%"/>
          <p:cNvSpPr/>
          <p:nvPr/>
        </p:nvSpPr>
        <p:spPr>
          <a:xfrm>
            <a:off x="6858000" y="2339975"/>
            <a:ext cx="1828800" cy="609600"/>
          </a:xfrm>
          <a:prstGeom prst="wedgeRoundRectCallout">
            <a:avLst>
              <a:gd name="adj1" fmla="val -44356"/>
              <a:gd name="adj2" fmla="val 169532"/>
              <a:gd name="adj3" fmla="val 16667"/>
            </a:avLst>
          </a:prstGeom>
          <a:pattFill prst="pct75">
            <a:fgClr>
              <a:srgbClr val="FFFF99"/>
            </a:fgClr>
            <a:bgClr>
              <a:schemeClr val="bg1"/>
            </a:bgClr>
          </a:pattFill>
          <a:ln w="28575" cap="flat" cmpd="sng">
            <a:solidFill>
              <a:srgbClr val="FF0000"/>
            </a:solidFill>
            <a:prstDash val="solid"/>
            <a:miter/>
            <a:headEnd type="none" w="med" len="med"/>
            <a:tailEnd type="none" w="med" len="med"/>
          </a:ln>
        </p:spPr>
        <p:txBody>
          <a:bodyPr wrap="none" anchor="ctr"/>
          <a:p>
            <a:pPr lvl="0" indent="0" algn="ctr"/>
            <a:r>
              <a:rPr lang="zh-CN" altLang="en-US" sz="2800" b="1" dirty="0">
                <a:latin typeface="Times New Roman" panose="02020603050405020304" pitchFamily="18" charset="0"/>
                <a:ea typeface="宋体" panose="02010600030101010101" pitchFamily="2" charset="-122"/>
              </a:rPr>
              <a:t>交流分量</a:t>
            </a:r>
            <a:endParaRPr lang="zh-CN" altLang="en-US" sz="2800" b="1" dirty="0">
              <a:latin typeface="Times New Roman" panose="02020603050405020304" pitchFamily="18" charset="0"/>
              <a:ea typeface="宋体" panose="02010600030101010101" pitchFamily="2" charset="-122"/>
            </a:endParaRPr>
          </a:p>
        </p:txBody>
      </p:sp>
      <p:sp>
        <p:nvSpPr>
          <p:cNvPr id="66635" name="AutoShape 75" descr="75%"/>
          <p:cNvSpPr/>
          <p:nvPr/>
        </p:nvSpPr>
        <p:spPr>
          <a:xfrm>
            <a:off x="6172200" y="5540375"/>
            <a:ext cx="1828800" cy="609600"/>
          </a:xfrm>
          <a:prstGeom prst="wedgeRoundRectCallout">
            <a:avLst>
              <a:gd name="adj1" fmla="val 18056"/>
              <a:gd name="adj2" fmla="val -168491"/>
              <a:gd name="adj3" fmla="val 16667"/>
            </a:avLst>
          </a:prstGeom>
          <a:pattFill prst="pct75">
            <a:fgClr>
              <a:srgbClr val="00FF00"/>
            </a:fgClr>
            <a:bgClr>
              <a:srgbClr val="FFFFFF"/>
            </a:bgClr>
          </a:pattFill>
          <a:ln w="28575" cap="flat" cmpd="sng">
            <a:solidFill>
              <a:srgbClr val="FF0000"/>
            </a:solidFill>
            <a:prstDash val="solid"/>
            <a:miter/>
            <a:headEnd type="none" w="med" len="med"/>
            <a:tailEnd type="none" w="med" len="med"/>
          </a:ln>
        </p:spPr>
        <p:txBody>
          <a:bodyPr wrap="none" anchor="ctr"/>
          <a:p>
            <a:pPr lvl="0" indent="0" algn="ctr"/>
            <a:r>
              <a:rPr lang="zh-CN" altLang="en-US" sz="2800" b="1" dirty="0">
                <a:solidFill>
                  <a:srgbClr val="FF0000"/>
                </a:solidFill>
                <a:latin typeface="Times New Roman" panose="02020603050405020304" pitchFamily="18" charset="0"/>
                <a:ea typeface="宋体" panose="02010600030101010101" pitchFamily="2" charset="-122"/>
              </a:rPr>
              <a:t>动态分析</a:t>
            </a:r>
            <a:endParaRPr lang="zh-CN" altLang="en-US" sz="2800" b="1" dirty="0">
              <a:solidFill>
                <a:srgbClr val="FF0000"/>
              </a:solidFill>
              <a:latin typeface="Times New Roman" panose="02020603050405020304" pitchFamily="18" charset="0"/>
              <a:ea typeface="宋体" panose="02010600030101010101" pitchFamily="2" charset="-122"/>
            </a:endParaRPr>
          </a:p>
        </p:txBody>
      </p:sp>
      <p:grpSp>
        <p:nvGrpSpPr>
          <p:cNvPr id="66681" name="Group 121"/>
          <p:cNvGrpSpPr/>
          <p:nvPr/>
        </p:nvGrpSpPr>
        <p:grpSpPr>
          <a:xfrm>
            <a:off x="457200" y="3048000"/>
            <a:ext cx="2141538" cy="2620963"/>
            <a:chOff x="260" y="1906"/>
            <a:chExt cx="1349" cy="1651"/>
          </a:xfrm>
        </p:grpSpPr>
        <p:grpSp>
          <p:nvGrpSpPr>
            <p:cNvPr id="38923" name="Group 49"/>
            <p:cNvGrpSpPr/>
            <p:nvPr/>
          </p:nvGrpSpPr>
          <p:grpSpPr>
            <a:xfrm>
              <a:off x="480" y="2252"/>
              <a:ext cx="806" cy="1142"/>
              <a:chOff x="538" y="2314"/>
              <a:chExt cx="806" cy="1142"/>
            </a:xfrm>
          </p:grpSpPr>
          <p:grpSp>
            <p:nvGrpSpPr>
              <p:cNvPr id="38924" name="Group 50"/>
              <p:cNvGrpSpPr/>
              <p:nvPr/>
            </p:nvGrpSpPr>
            <p:grpSpPr>
              <a:xfrm>
                <a:off x="538" y="2314"/>
                <a:ext cx="806" cy="1142"/>
                <a:chOff x="538" y="2314"/>
                <a:chExt cx="806" cy="1142"/>
              </a:xfrm>
            </p:grpSpPr>
            <p:sp>
              <p:nvSpPr>
                <p:cNvPr id="66611" name="AutoShape 51" descr="宽上对角线"/>
                <p:cNvSpPr>
                  <a:spLocks noChangeArrowheads="1"/>
                </p:cNvSpPr>
                <p:nvPr/>
              </p:nvSpPr>
              <p:spPr bwMode="auto">
                <a:xfrm>
                  <a:off x="538" y="2703"/>
                  <a:ext cx="806" cy="753"/>
                </a:xfrm>
                <a:prstGeom prst="flowChartProcess">
                  <a:avLst/>
                </a:prstGeom>
                <a:pattFill prst="wdUpDiag">
                  <a:fgClr>
                    <a:srgbClr val="99FF99"/>
                  </a:fgClr>
                  <a:bgClr>
                    <a:srgbClr val="FFFFFF"/>
                  </a:bgClr>
                </a:patt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612" name="Freeform 52" descr="宽上对角线"/>
                <p:cNvSpPr/>
                <p:nvPr/>
              </p:nvSpPr>
              <p:spPr bwMode="auto">
                <a:xfrm>
                  <a:off x="538" y="2314"/>
                  <a:ext cx="403"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pattFill prst="wdUpDiag">
                  <a:fgClr>
                    <a:srgbClr val="99FF99"/>
                  </a:fgClr>
                  <a:bgClr>
                    <a:srgbClr val="FFFFFF"/>
                  </a:bgClr>
                </a:patt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6613" name="Freeform 53"/>
              <p:cNvSpPr/>
              <p:nvPr/>
            </p:nvSpPr>
            <p:spPr bwMode="auto">
              <a:xfrm flipV="1">
                <a:off x="941" y="2688"/>
                <a:ext cx="403"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solidFill>
                <a:srgbClr val="D8E3F0"/>
              </a:solidFill>
              <a:ln w="38100"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38928" name="Text Box 55"/>
            <p:cNvSpPr txBox="1"/>
            <p:nvPr/>
          </p:nvSpPr>
          <p:spPr>
            <a:xfrm>
              <a:off x="288" y="1906"/>
              <a:ext cx="661" cy="327"/>
            </a:xfrm>
            <a:prstGeom prst="rect">
              <a:avLst/>
            </a:prstGeom>
            <a:noFill/>
            <a:ln w="28575">
              <a:noFill/>
            </a:ln>
          </p:spPr>
          <p:txBody>
            <a:bodyPr anchor="ctr">
              <a:spAutoFit/>
            </a:bodyPr>
            <a:p>
              <a:pPr lvl="0" indent="0" algn="ctr"/>
              <a:r>
                <a:rPr lang="en-US" altLang="zh-CN" sz="2800" b="1" i="1" dirty="0">
                  <a:solidFill>
                    <a:schemeClr val="accent2"/>
                  </a:solidFill>
                  <a:latin typeface="Times New Roman" panose="02020603050405020304" pitchFamily="18" charset="0"/>
                  <a:ea typeface="楷体_GB2312" pitchFamily="49" charset="-122"/>
                </a:rPr>
                <a:t>i</a:t>
              </a:r>
              <a:r>
                <a:rPr lang="en-US" altLang="zh-CN" sz="2800" b="1" baseline="-25000" dirty="0">
                  <a:solidFill>
                    <a:schemeClr val="accent2"/>
                  </a:solidFill>
                  <a:latin typeface="Times New Roman" panose="02020603050405020304" pitchFamily="18" charset="0"/>
                  <a:ea typeface="楷体_GB2312" pitchFamily="49" charset="-122"/>
                </a:rPr>
                <a:t>C</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66616" name="Line 56"/>
            <p:cNvSpPr>
              <a:spLocks noChangeShapeType="1"/>
            </p:cNvSpPr>
            <p:nvPr/>
          </p:nvSpPr>
          <p:spPr bwMode="auto">
            <a:xfrm flipH="1" flipV="1">
              <a:off x="470" y="2117"/>
              <a:ext cx="0" cy="1272"/>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617" name="Line 57"/>
            <p:cNvSpPr>
              <a:spLocks noChangeShapeType="1"/>
            </p:cNvSpPr>
            <p:nvPr/>
          </p:nvSpPr>
          <p:spPr bwMode="auto">
            <a:xfrm>
              <a:off x="470" y="3389"/>
              <a:ext cx="1009"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8931" name="Rectangle 58"/>
            <p:cNvSpPr/>
            <p:nvPr/>
          </p:nvSpPr>
          <p:spPr>
            <a:xfrm>
              <a:off x="1431" y="3230"/>
              <a:ext cx="178" cy="327"/>
            </a:xfrm>
            <a:prstGeom prst="rect">
              <a:avLst/>
            </a:prstGeom>
            <a:noFill/>
            <a:ln w="9525">
              <a:noFill/>
            </a:ln>
          </p:spPr>
          <p:txBody>
            <a:bodyPr wrap="none" anchor="t">
              <a:spAutoFit/>
            </a:bodyPr>
            <a:p>
              <a:pPr lvl="0" indent="0"/>
              <a:r>
                <a:rPr lang="en-US" altLang="zh-CN" sz="2800" b="1" i="1" dirty="0">
                  <a:latin typeface="Times New Roman" panose="02020603050405020304" pitchFamily="18" charset="0"/>
                  <a:ea typeface="楷体_GB2312" pitchFamily="49" charset="-122"/>
                </a:rPr>
                <a:t>t</a:t>
              </a:r>
              <a:endParaRPr lang="en-US" altLang="zh-CN" sz="2800" b="1" i="1" dirty="0">
                <a:latin typeface="Times New Roman" panose="02020603050405020304" pitchFamily="18" charset="0"/>
                <a:ea typeface="楷体_GB2312" pitchFamily="49" charset="-122"/>
              </a:endParaRPr>
            </a:p>
          </p:txBody>
        </p:sp>
        <p:sp>
          <p:nvSpPr>
            <p:cNvPr id="38932" name="Rectangle 120"/>
            <p:cNvSpPr/>
            <p:nvPr/>
          </p:nvSpPr>
          <p:spPr>
            <a:xfrm>
              <a:off x="260" y="3264"/>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66684" name="Group 124"/>
          <p:cNvGrpSpPr/>
          <p:nvPr/>
        </p:nvGrpSpPr>
        <p:grpSpPr>
          <a:xfrm>
            <a:off x="3536950" y="3025775"/>
            <a:ext cx="2178050" cy="2613025"/>
            <a:chOff x="2228" y="1906"/>
            <a:chExt cx="1372" cy="1646"/>
          </a:xfrm>
        </p:grpSpPr>
        <p:sp>
          <p:nvSpPr>
            <p:cNvPr id="38934" name="Text Box 62"/>
            <p:cNvSpPr txBox="1"/>
            <p:nvPr/>
          </p:nvSpPr>
          <p:spPr>
            <a:xfrm>
              <a:off x="2256" y="1906"/>
              <a:ext cx="661" cy="327"/>
            </a:xfrm>
            <a:prstGeom prst="rect">
              <a:avLst/>
            </a:prstGeom>
            <a:noFill/>
            <a:ln w="28575">
              <a:noFill/>
            </a:ln>
          </p:spPr>
          <p:txBody>
            <a:bodyPr anchor="ctr">
              <a:spAutoFit/>
            </a:bodyPr>
            <a:p>
              <a:pPr lvl="0" indent="0" algn="ctr"/>
              <a:r>
                <a:rPr lang="en-US" altLang="zh-CN" sz="2800" b="1" i="1" dirty="0">
                  <a:solidFill>
                    <a:schemeClr val="accent2"/>
                  </a:solidFill>
                  <a:latin typeface="Times New Roman" panose="02020603050405020304" pitchFamily="18" charset="0"/>
                  <a:ea typeface="楷体_GB2312" pitchFamily="49" charset="-122"/>
                </a:rPr>
                <a:t>i</a:t>
              </a:r>
              <a:r>
                <a:rPr lang="en-US" altLang="zh-CN" sz="2800" b="1" baseline="-25000" dirty="0">
                  <a:solidFill>
                    <a:schemeClr val="accent2"/>
                  </a:solidFill>
                  <a:latin typeface="Times New Roman" panose="02020603050405020304" pitchFamily="18" charset="0"/>
                  <a:ea typeface="楷体_GB2312" pitchFamily="49" charset="-122"/>
                </a:rPr>
                <a:t>C</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66623" name="Line 63"/>
            <p:cNvSpPr>
              <a:spLocks noChangeShapeType="1"/>
            </p:cNvSpPr>
            <p:nvPr/>
          </p:nvSpPr>
          <p:spPr bwMode="auto">
            <a:xfrm flipV="1">
              <a:off x="2438" y="2645"/>
              <a:ext cx="94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624" name="Line 64"/>
            <p:cNvSpPr>
              <a:spLocks noChangeShapeType="1"/>
            </p:cNvSpPr>
            <p:nvPr/>
          </p:nvSpPr>
          <p:spPr bwMode="auto">
            <a:xfrm flipH="1" flipV="1">
              <a:off x="2438" y="2117"/>
              <a:ext cx="0" cy="1272"/>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625" name="Line 65"/>
            <p:cNvSpPr>
              <a:spLocks noChangeShapeType="1"/>
            </p:cNvSpPr>
            <p:nvPr/>
          </p:nvSpPr>
          <p:spPr bwMode="auto">
            <a:xfrm>
              <a:off x="2438" y="3389"/>
              <a:ext cx="1009"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8938" name="Rectangle 66"/>
            <p:cNvSpPr/>
            <p:nvPr/>
          </p:nvSpPr>
          <p:spPr>
            <a:xfrm>
              <a:off x="3422" y="3225"/>
              <a:ext cx="178" cy="327"/>
            </a:xfrm>
            <a:prstGeom prst="rect">
              <a:avLst/>
            </a:prstGeom>
            <a:noFill/>
            <a:ln w="9525">
              <a:noFill/>
            </a:ln>
          </p:spPr>
          <p:txBody>
            <a:bodyPr wrap="none" anchor="t">
              <a:spAutoFit/>
            </a:bodyPr>
            <a:p>
              <a:pPr lvl="0" indent="0"/>
              <a:r>
                <a:rPr lang="en-US" altLang="zh-CN" sz="2800" b="1" i="1" dirty="0">
                  <a:latin typeface="Times New Roman" panose="02020603050405020304" pitchFamily="18" charset="0"/>
                  <a:ea typeface="楷体_GB2312" pitchFamily="49" charset="-122"/>
                </a:rPr>
                <a:t>t</a:t>
              </a:r>
              <a:endParaRPr lang="en-US" altLang="zh-CN" sz="2800" b="1" i="1" dirty="0">
                <a:latin typeface="Times New Roman" panose="02020603050405020304" pitchFamily="18" charset="0"/>
                <a:ea typeface="楷体_GB2312" pitchFamily="49" charset="-122"/>
              </a:endParaRPr>
            </a:p>
          </p:txBody>
        </p:sp>
        <p:grpSp>
          <p:nvGrpSpPr>
            <p:cNvPr id="38939" name="Group 67"/>
            <p:cNvGrpSpPr/>
            <p:nvPr/>
          </p:nvGrpSpPr>
          <p:grpSpPr>
            <a:xfrm>
              <a:off x="3216" y="2626"/>
              <a:ext cx="313" cy="768"/>
              <a:chOff x="1680" y="3120"/>
              <a:chExt cx="313" cy="768"/>
            </a:xfrm>
          </p:grpSpPr>
          <p:sp>
            <p:nvSpPr>
              <p:cNvPr id="66628" name="Line 68"/>
              <p:cNvSpPr>
                <a:spLocks noChangeShapeType="1"/>
              </p:cNvSpPr>
              <p:nvPr/>
            </p:nvSpPr>
            <p:spPr bwMode="auto">
              <a:xfrm>
                <a:off x="1680" y="3120"/>
                <a:ext cx="0" cy="768"/>
              </a:xfrm>
              <a:prstGeom prst="line">
                <a:avLst/>
              </a:prstGeom>
              <a:noFill/>
              <a:ln w="28575">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8941" name="Rectangle 69"/>
              <p:cNvSpPr/>
              <p:nvPr/>
            </p:nvSpPr>
            <p:spPr>
              <a:xfrm>
                <a:off x="1680" y="3360"/>
                <a:ext cx="313" cy="327"/>
              </a:xfrm>
              <a:prstGeom prst="rect">
                <a:avLst/>
              </a:prstGeom>
              <a:noFill/>
              <a:ln w="9525">
                <a:noFill/>
              </a:ln>
            </p:spPr>
            <p:txBody>
              <a:bodyPr wrap="none" anchor="t">
                <a:spAutoFit/>
              </a:bodyPr>
              <a:p>
                <a:pPr lvl="0" indent="0"/>
                <a:r>
                  <a:rPr lang="en-US" altLang="zh-CN" sz="2800" b="1" i="1" dirty="0">
                    <a:solidFill>
                      <a:srgbClr val="FF0000"/>
                    </a:solidFill>
                    <a:latin typeface="Times New Roman" panose="02020603050405020304" pitchFamily="18" charset="0"/>
                    <a:ea typeface="楷体_GB2312" pitchFamily="49" charset="-122"/>
                  </a:rPr>
                  <a:t>I</a:t>
                </a:r>
                <a:r>
                  <a:rPr lang="en-US" altLang="zh-CN" sz="2800" b="1" baseline="-25000" dirty="0">
                    <a:solidFill>
                      <a:srgbClr val="FF0000"/>
                    </a:solidFill>
                    <a:latin typeface="Times New Roman" panose="02020603050405020304" pitchFamily="18" charset="0"/>
                    <a:ea typeface="楷体_GB2312" pitchFamily="49" charset="-122"/>
                  </a:rPr>
                  <a:t>C</a:t>
                </a:r>
                <a:endParaRPr lang="en-US" altLang="zh-CN" sz="2800" b="1" baseline="-25000" dirty="0">
                  <a:solidFill>
                    <a:srgbClr val="FF0000"/>
                  </a:solidFill>
                  <a:latin typeface="Times New Roman" panose="02020603050405020304" pitchFamily="18" charset="0"/>
                  <a:ea typeface="楷体_GB2312" pitchFamily="49" charset="-122"/>
                </a:endParaRPr>
              </a:p>
            </p:txBody>
          </p:sp>
        </p:grpSp>
        <p:sp>
          <p:nvSpPr>
            <p:cNvPr id="38942" name="Rectangle 122"/>
            <p:cNvSpPr/>
            <p:nvPr/>
          </p:nvSpPr>
          <p:spPr>
            <a:xfrm>
              <a:off x="2228" y="3264"/>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66685" name="Group 125"/>
          <p:cNvGrpSpPr/>
          <p:nvPr/>
        </p:nvGrpSpPr>
        <p:grpSpPr>
          <a:xfrm>
            <a:off x="6172200" y="3025775"/>
            <a:ext cx="2133600" cy="1784350"/>
            <a:chOff x="3888" y="1906"/>
            <a:chExt cx="1344" cy="1124"/>
          </a:xfrm>
        </p:grpSpPr>
        <p:sp>
          <p:nvSpPr>
            <p:cNvPr id="66637" name="Freeform 77" descr="宽上对角线"/>
            <p:cNvSpPr/>
            <p:nvPr/>
          </p:nvSpPr>
          <p:spPr bwMode="auto">
            <a:xfrm>
              <a:off x="4080" y="2252"/>
              <a:ext cx="403"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noFill/>
            <a:ln w="38100" cmpd="sng">
              <a:solidFill>
                <a:srgbClr val="FF0000"/>
              </a:solidFill>
              <a:round/>
            </a:ln>
            <a:effectLst/>
            <a:extLst>
              <a:ext uri="{909E8E84-426E-40DD-AFC4-6F175D3DCCD1}">
                <a14:hiddenFill xmlns:a14="http://schemas.microsoft.com/office/drawing/2010/main">
                  <a:pattFill prst="wdUpDiag">
                    <a:fgClr>
                      <a:srgbClr val="99FF99"/>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638" name="Freeform 78"/>
            <p:cNvSpPr/>
            <p:nvPr/>
          </p:nvSpPr>
          <p:spPr bwMode="auto">
            <a:xfrm flipV="1">
              <a:off x="4483" y="2641"/>
              <a:ext cx="403" cy="389"/>
            </a:xfrm>
            <a:custGeom>
              <a:avLst/>
              <a:gdLst>
                <a:gd name="T0" fmla="*/ 0 w 288"/>
                <a:gd name="T1" fmla="*/ 248 h 248"/>
                <a:gd name="T2" fmla="*/ 152 w 288"/>
                <a:gd name="T3" fmla="*/ 0 h 248"/>
                <a:gd name="T4" fmla="*/ 288 w 288"/>
                <a:gd name="T5" fmla="*/ 248 h 248"/>
              </a:gdLst>
              <a:ahLst/>
              <a:cxnLst>
                <a:cxn ang="0">
                  <a:pos x="T0" y="T1"/>
                </a:cxn>
                <a:cxn ang="0">
                  <a:pos x="T2" y="T3"/>
                </a:cxn>
                <a:cxn ang="0">
                  <a:pos x="T4" y="T5"/>
                </a:cxn>
              </a:cxnLst>
              <a:rect l="0" t="0" r="r" b="b"/>
              <a:pathLst>
                <a:path w="288" h="248">
                  <a:moveTo>
                    <a:pt x="0" y="248"/>
                  </a:moveTo>
                  <a:cubicBezTo>
                    <a:pt x="25" y="207"/>
                    <a:pt x="104" y="0"/>
                    <a:pt x="152" y="0"/>
                  </a:cubicBezTo>
                  <a:cubicBezTo>
                    <a:pt x="200" y="0"/>
                    <a:pt x="260" y="196"/>
                    <a:pt x="288" y="248"/>
                  </a:cubicBezTo>
                </a:path>
              </a:pathLst>
            </a:custGeom>
            <a:noFill/>
            <a:ln w="38100" cmpd="sng">
              <a:solidFill>
                <a:srgbClr val="FF0000"/>
              </a:solidFill>
              <a:round/>
            </a:ln>
            <a:effectLst/>
            <a:extLst>
              <a:ext uri="{909E8E84-426E-40DD-AFC4-6F175D3DCCD1}">
                <a14:hiddenFill xmlns:a14="http://schemas.microsoft.com/office/drawing/2010/main">
                  <a:solidFill>
                    <a:srgbClr val="0066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8946" name="Text Box 79"/>
            <p:cNvSpPr txBox="1"/>
            <p:nvPr/>
          </p:nvSpPr>
          <p:spPr>
            <a:xfrm>
              <a:off x="3888" y="1906"/>
              <a:ext cx="661" cy="327"/>
            </a:xfrm>
            <a:prstGeom prst="rect">
              <a:avLst/>
            </a:prstGeom>
            <a:noFill/>
            <a:ln w="28575">
              <a:noFill/>
            </a:ln>
          </p:spPr>
          <p:txBody>
            <a:bodyPr anchor="ctr">
              <a:spAutoFit/>
            </a:bodyPr>
            <a:p>
              <a:pPr lvl="0" indent="0" algn="ctr"/>
              <a:r>
                <a:rPr lang="en-US" altLang="zh-CN" sz="2800" b="1" i="1" dirty="0">
                  <a:solidFill>
                    <a:schemeClr val="accent2"/>
                  </a:solidFill>
                  <a:latin typeface="Times New Roman" panose="02020603050405020304" pitchFamily="18" charset="0"/>
                  <a:ea typeface="楷体_GB2312" pitchFamily="49" charset="-122"/>
                </a:rPr>
                <a:t>i</a:t>
              </a:r>
              <a:r>
                <a:rPr lang="en-US" altLang="zh-CN" sz="2800" b="1" baseline="-25000" dirty="0">
                  <a:solidFill>
                    <a:schemeClr val="accent2"/>
                  </a:solidFill>
                  <a:latin typeface="Times New Roman" panose="02020603050405020304" pitchFamily="18" charset="0"/>
                  <a:ea typeface="楷体_GB2312" pitchFamily="49" charset="-122"/>
                </a:rPr>
                <a:t>C</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66640" name="Line 80"/>
            <p:cNvSpPr>
              <a:spLocks noChangeShapeType="1"/>
            </p:cNvSpPr>
            <p:nvPr/>
          </p:nvSpPr>
          <p:spPr bwMode="auto">
            <a:xfrm flipH="1" flipV="1">
              <a:off x="4080" y="2098"/>
              <a:ext cx="0" cy="864"/>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641" name="Line 81"/>
            <p:cNvSpPr>
              <a:spLocks noChangeShapeType="1"/>
            </p:cNvSpPr>
            <p:nvPr/>
          </p:nvSpPr>
          <p:spPr bwMode="auto">
            <a:xfrm>
              <a:off x="4079" y="2626"/>
              <a:ext cx="1009"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8949" name="Rectangle 82"/>
            <p:cNvSpPr/>
            <p:nvPr/>
          </p:nvSpPr>
          <p:spPr>
            <a:xfrm>
              <a:off x="5054" y="2482"/>
              <a:ext cx="178" cy="327"/>
            </a:xfrm>
            <a:prstGeom prst="rect">
              <a:avLst/>
            </a:prstGeom>
            <a:noFill/>
            <a:ln w="9525">
              <a:noFill/>
            </a:ln>
          </p:spPr>
          <p:txBody>
            <a:bodyPr wrap="none" anchor="t">
              <a:spAutoFit/>
            </a:bodyPr>
            <a:p>
              <a:pPr lvl="0" indent="0"/>
              <a:r>
                <a:rPr lang="en-US" altLang="zh-CN" sz="2800" b="1" i="1" dirty="0">
                  <a:latin typeface="Times New Roman" panose="02020603050405020304" pitchFamily="18" charset="0"/>
                  <a:ea typeface="楷体_GB2312" pitchFamily="49" charset="-122"/>
                </a:rPr>
                <a:t>t</a:t>
              </a:r>
              <a:endParaRPr lang="en-US" altLang="zh-CN" sz="2800" b="1" i="1" dirty="0">
                <a:latin typeface="Times New Roman" panose="02020603050405020304" pitchFamily="18" charset="0"/>
                <a:ea typeface="楷体_GB2312" pitchFamily="49" charset="-122"/>
              </a:endParaRPr>
            </a:p>
          </p:txBody>
        </p:sp>
        <p:sp>
          <p:nvSpPr>
            <p:cNvPr id="38950" name="Rectangle 83"/>
            <p:cNvSpPr/>
            <p:nvPr/>
          </p:nvSpPr>
          <p:spPr>
            <a:xfrm>
              <a:off x="4416" y="2194"/>
              <a:ext cx="245" cy="327"/>
            </a:xfrm>
            <a:prstGeom prst="rect">
              <a:avLst/>
            </a:prstGeom>
            <a:noFill/>
            <a:ln w="9525">
              <a:noFill/>
            </a:ln>
          </p:spPr>
          <p:txBody>
            <a:bodyPr wrap="none" anchor="t">
              <a:spAutoFit/>
            </a:bodyPr>
            <a:p>
              <a:pPr lvl="0" indent="0"/>
              <a:r>
                <a:rPr lang="en-US" altLang="zh-CN" sz="2800" b="1" i="1" dirty="0">
                  <a:solidFill>
                    <a:srgbClr val="FF0000"/>
                  </a:solidFill>
                  <a:latin typeface="Times New Roman" panose="02020603050405020304" pitchFamily="18" charset="0"/>
                  <a:ea typeface="楷体_GB2312" pitchFamily="49" charset="-122"/>
                </a:rPr>
                <a:t>i</a:t>
              </a:r>
              <a:r>
                <a:rPr lang="en-US" altLang="zh-CN" sz="2800" b="1" baseline="-25000" dirty="0">
                  <a:solidFill>
                    <a:srgbClr val="FF0000"/>
                  </a:solidFill>
                  <a:latin typeface="Times New Roman" panose="02020603050405020304" pitchFamily="18" charset="0"/>
                  <a:ea typeface="楷体_GB2312" pitchFamily="49" charset="-122"/>
                </a:rPr>
                <a:t>c</a:t>
              </a:r>
              <a:endParaRPr lang="en-US" altLang="zh-CN" sz="2800" b="1" baseline="-25000" dirty="0">
                <a:solidFill>
                  <a:srgbClr val="FF0000"/>
                </a:solidFill>
                <a:latin typeface="Times New Roman" panose="02020603050405020304" pitchFamily="18" charset="0"/>
                <a:ea typeface="楷体_GB2312" pitchFamily="49" charset="-122"/>
              </a:endParaRPr>
            </a:p>
          </p:txBody>
        </p:sp>
        <p:sp>
          <p:nvSpPr>
            <p:cNvPr id="38951" name="Rectangle 123"/>
            <p:cNvSpPr/>
            <p:nvPr/>
          </p:nvSpPr>
          <p:spPr>
            <a:xfrm>
              <a:off x="3888" y="2496"/>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sp>
        <p:nvSpPr>
          <p:cNvPr id="66634" name="AutoShape 74" descr="75%"/>
          <p:cNvSpPr/>
          <p:nvPr/>
        </p:nvSpPr>
        <p:spPr>
          <a:xfrm>
            <a:off x="3352800" y="5616575"/>
            <a:ext cx="1828800" cy="609600"/>
          </a:xfrm>
          <a:prstGeom prst="wedgeRoundRectCallout">
            <a:avLst>
              <a:gd name="adj1" fmla="val 17361"/>
              <a:gd name="adj2" fmla="val -207292"/>
              <a:gd name="adj3" fmla="val 16667"/>
            </a:avLst>
          </a:prstGeom>
          <a:pattFill prst="pct75">
            <a:fgClr>
              <a:srgbClr val="00FF00"/>
            </a:fgClr>
            <a:bgClr>
              <a:srgbClr val="FFFFFF"/>
            </a:bgClr>
          </a:pattFill>
          <a:ln w="28575" cap="flat" cmpd="sng">
            <a:solidFill>
              <a:srgbClr val="006600"/>
            </a:solidFill>
            <a:prstDash val="solid"/>
            <a:miter/>
            <a:headEnd type="none" w="med" len="med"/>
            <a:tailEnd type="none" w="med" len="med"/>
          </a:ln>
        </p:spPr>
        <p:txBody>
          <a:bodyPr wrap="none" anchor="ctr"/>
          <a:p>
            <a:pPr lvl="0" indent="0" algn="ctr"/>
            <a:r>
              <a:rPr lang="zh-CN" altLang="en-US" sz="2800" b="1" dirty="0">
                <a:solidFill>
                  <a:schemeClr val="accent2"/>
                </a:solidFill>
                <a:latin typeface="Times New Roman" panose="02020603050405020304" pitchFamily="18" charset="0"/>
                <a:ea typeface="宋体" panose="02010600030101010101" pitchFamily="2" charset="-122"/>
              </a:rPr>
              <a:t>静态分析</a:t>
            </a:r>
            <a:endParaRPr lang="zh-CN" altLang="en-US" sz="2800" b="1" dirty="0">
              <a:solidFill>
                <a:schemeClr val="accent2"/>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608"/>
                                        </p:tgtEl>
                                        <p:attrNameLst>
                                          <p:attrName>style.visibility</p:attrName>
                                        </p:attrNameLst>
                                      </p:cBhvr>
                                      <p:to>
                                        <p:strVal val="visible"/>
                                      </p:to>
                                    </p:set>
                                    <p:animEffect transition="in" filter="wipe(left)">
                                      <p:cBhvr>
                                        <p:cTn id="7" dur="500"/>
                                        <p:tgtEl>
                                          <p:spTgt spid="6660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6681"/>
                                        </p:tgtEl>
                                        <p:attrNameLst>
                                          <p:attrName>style.visibility</p:attrName>
                                        </p:attrNameLst>
                                      </p:cBhvr>
                                      <p:to>
                                        <p:strVal val="visible"/>
                                      </p:to>
                                    </p:set>
                                    <p:animEffect transition="in" filter="box(in)">
                                      <p:cBhvr>
                                        <p:cTn id="12" dur="500"/>
                                        <p:tgtEl>
                                          <p:spTgt spid="666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6631"/>
                                        </p:tgtEl>
                                        <p:attrNameLst>
                                          <p:attrName>style.visibility</p:attrName>
                                        </p:attrNameLst>
                                      </p:cBhvr>
                                      <p:to>
                                        <p:strVal val="visible"/>
                                      </p:to>
                                    </p:set>
                                    <p:animEffect transition="in" filter="wipe(up)">
                                      <p:cBhvr>
                                        <p:cTn id="17" dur="500"/>
                                        <p:tgtEl>
                                          <p:spTgt spid="666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6619"/>
                                        </p:tgtEl>
                                        <p:attrNameLst>
                                          <p:attrName>style.visibility</p:attrName>
                                        </p:attrNameLst>
                                      </p:cBhvr>
                                      <p:to>
                                        <p:strVal val="visible"/>
                                      </p:to>
                                    </p:set>
                                    <p:animEffect transition="in" filter="wipe(left)">
                                      <p:cBhvr>
                                        <p:cTn id="22" dur="500"/>
                                        <p:tgtEl>
                                          <p:spTgt spid="666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6684"/>
                                        </p:tgtEl>
                                        <p:attrNameLst>
                                          <p:attrName>style.visibility</p:attrName>
                                        </p:attrNameLst>
                                      </p:cBhvr>
                                      <p:to>
                                        <p:strVal val="visible"/>
                                      </p:to>
                                    </p:set>
                                    <p:animEffect transition="in" filter="wipe(left)">
                                      <p:cBhvr>
                                        <p:cTn id="27" dur="500"/>
                                        <p:tgtEl>
                                          <p:spTgt spid="66684"/>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6630"/>
                                        </p:tgtEl>
                                        <p:attrNameLst>
                                          <p:attrName>style.visibility</p:attrName>
                                        </p:attrNameLst>
                                      </p:cBhvr>
                                      <p:to>
                                        <p:strVal val="visible"/>
                                      </p:to>
                                    </p:set>
                                    <p:animEffect transition="in" filter="wipe(left)">
                                      <p:cBhvr>
                                        <p:cTn id="31" dur="500"/>
                                        <p:tgtEl>
                                          <p:spTgt spid="6663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6685"/>
                                        </p:tgtEl>
                                        <p:attrNameLst>
                                          <p:attrName>style.visibility</p:attrName>
                                        </p:attrNameLst>
                                      </p:cBhvr>
                                      <p:to>
                                        <p:strVal val="visible"/>
                                      </p:to>
                                    </p:set>
                                    <p:animEffect transition="in" filter="wipe(left)">
                                      <p:cBhvr>
                                        <p:cTn id="36" dur="500"/>
                                        <p:tgtEl>
                                          <p:spTgt spid="6668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66632"/>
                                        </p:tgtEl>
                                        <p:attrNameLst>
                                          <p:attrName>style.visibility</p:attrName>
                                        </p:attrNameLst>
                                      </p:cBhvr>
                                      <p:to>
                                        <p:strVal val="visible"/>
                                      </p:to>
                                    </p:set>
                                    <p:animEffect transition="in" filter="wipe(up)">
                                      <p:cBhvr>
                                        <p:cTn id="41" dur="500"/>
                                        <p:tgtEl>
                                          <p:spTgt spid="6663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66633"/>
                                        </p:tgtEl>
                                        <p:attrNameLst>
                                          <p:attrName>style.visibility</p:attrName>
                                        </p:attrNameLst>
                                      </p:cBhvr>
                                      <p:to>
                                        <p:strVal val="visible"/>
                                      </p:to>
                                    </p:set>
                                    <p:animEffect transition="in" filter="wipe(up)">
                                      <p:cBhvr>
                                        <p:cTn id="46" dur="500"/>
                                        <p:tgtEl>
                                          <p:spTgt spid="6663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66634"/>
                                        </p:tgtEl>
                                        <p:attrNameLst>
                                          <p:attrName>style.visibility</p:attrName>
                                        </p:attrNameLst>
                                      </p:cBhvr>
                                      <p:to>
                                        <p:strVal val="visible"/>
                                      </p:to>
                                    </p:set>
                                    <p:animEffect transition="in" filter="wipe(down)">
                                      <p:cBhvr>
                                        <p:cTn id="51" dur="500"/>
                                        <p:tgtEl>
                                          <p:spTgt spid="6663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66635"/>
                                        </p:tgtEl>
                                        <p:attrNameLst>
                                          <p:attrName>style.visibility</p:attrName>
                                        </p:attrNameLst>
                                      </p:cBhvr>
                                      <p:to>
                                        <p:strVal val="visible"/>
                                      </p:to>
                                    </p:set>
                                    <p:animEffect transition="in" filter="wipe(down)">
                                      <p:cBhvr>
                                        <p:cTn id="56" dur="500"/>
                                        <p:tgtEl>
                                          <p:spTgt spid="66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08" grpId="0" bldLvl="0" animBg="1"/>
      <p:bldP spid="66619" grpId="0" bldLvl="0" animBg="1"/>
      <p:bldP spid="66630" grpId="0"/>
      <p:bldP spid="66631" grpId="0" bldLvl="0" animBg="1"/>
      <p:bldP spid="66632" grpId="0" bldLvl="0" animBg="1"/>
      <p:bldP spid="66633" grpId="0" bldLvl="0" animBg="1"/>
      <p:bldP spid="66635" grpId="0" bldLvl="0" animBg="1"/>
      <p:bldP spid="6663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44738" name="Rectangle 2"/>
          <p:cNvSpPr>
            <a:spLocks noChangeArrowheads="1"/>
          </p:cNvSpPr>
          <p:nvPr>
            <p:ph type="title"/>
          </p:nvPr>
        </p:nvSpPr>
        <p:spPr bwMode="auto">
          <a:xfrm>
            <a:off x="533400" y="228600"/>
            <a:ext cx="26670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rPr>
              <a:t>结论：</a:t>
            </a:r>
            <a:endParaRPr kumimoji="1" lang="zh-CN" altLang="en-US" sz="32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endParaRPr>
          </a:p>
        </p:txBody>
      </p:sp>
      <p:sp>
        <p:nvSpPr>
          <p:cNvPr id="244739" name="Rectangle 3"/>
          <p:cNvSpPr>
            <a:spLocks noChangeArrowheads="1"/>
          </p:cNvSpPr>
          <p:nvPr/>
        </p:nvSpPr>
        <p:spPr bwMode="auto">
          <a:xfrm>
            <a:off x="381000" y="152400"/>
            <a:ext cx="1600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p>
            <a:pPr lvl="0" eaLnBrk="1" fontAlgn="base" hangingPunct="1"/>
            <a:endParaRPr lang="zh-CN" altLang="zh-CN" sz="4400"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244778" name="Rectangle 42"/>
          <p:cNvSpPr>
            <a:spLocks noChangeArrowheads="1"/>
          </p:cNvSpPr>
          <p:nvPr/>
        </p:nvSpPr>
        <p:spPr bwMode="auto">
          <a:xfrm>
            <a:off x="595313" y="838200"/>
            <a:ext cx="84201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3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若参数选取得当，输出电压可比输入电压大，即电路具有电压放大作用。</a:t>
            </a:r>
            <a:endPar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44779" name="Rectangle 43"/>
          <p:cNvSpPr>
            <a:spLocks noChangeArrowheads="1"/>
          </p:cNvSpPr>
          <p:nvPr/>
        </p:nvSpPr>
        <p:spPr bwMode="auto">
          <a:xfrm>
            <a:off x="735013" y="4527550"/>
            <a:ext cx="82804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3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输出电压与输入电压在相位上相差</a:t>
            </a:r>
            <a:r>
              <a:rPr kumimoji="1" lang="en-US" altLang="zh-CN" sz="2800" b="1"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180°</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，即共发射极电路具有反相作用。</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nvGrpSpPr>
          <p:cNvPr id="244794" name="Group 58"/>
          <p:cNvGrpSpPr/>
          <p:nvPr/>
        </p:nvGrpSpPr>
        <p:grpSpPr>
          <a:xfrm>
            <a:off x="1663700" y="2605088"/>
            <a:ext cx="2427288" cy="1190625"/>
            <a:chOff x="1048" y="1641"/>
            <a:chExt cx="1529" cy="750"/>
          </a:xfrm>
        </p:grpSpPr>
        <p:sp>
          <p:nvSpPr>
            <p:cNvPr id="39942" name="Text Box 45"/>
            <p:cNvSpPr txBox="1"/>
            <p:nvPr/>
          </p:nvSpPr>
          <p:spPr>
            <a:xfrm>
              <a:off x="1048" y="1641"/>
              <a:ext cx="680" cy="327"/>
            </a:xfrm>
            <a:prstGeom prst="rect">
              <a:avLst/>
            </a:prstGeom>
            <a:noFill/>
            <a:ln w="28575">
              <a:noFill/>
            </a:ln>
          </p:spPr>
          <p:txBody>
            <a:bodyPr anchor="ctr">
              <a:spAutoFit/>
            </a:bodyPr>
            <a:p>
              <a:pPr lvl="0" indent="0" algn="ctr"/>
              <a:r>
                <a:rPr lang="en-US" altLang="zh-CN" sz="2800" b="1" i="1" dirty="0">
                  <a:solidFill>
                    <a:schemeClr val="accent2"/>
                  </a:solidFill>
                  <a:latin typeface="Times New Roman" panose="02020603050405020304" pitchFamily="18" charset="0"/>
                  <a:ea typeface="楷体_GB2312" pitchFamily="49" charset="-122"/>
                </a:rPr>
                <a:t>u</a:t>
              </a:r>
              <a:r>
                <a:rPr lang="en-US" altLang="zh-CN" sz="2800" b="1" baseline="-25000" dirty="0">
                  <a:solidFill>
                    <a:schemeClr val="accent2"/>
                  </a:solidFill>
                  <a:latin typeface="Times New Roman" panose="02020603050405020304" pitchFamily="18" charset="0"/>
                  <a:ea typeface="楷体_GB2312" pitchFamily="49" charset="-122"/>
                </a:rPr>
                <a:t>i</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244783" name="Line 47"/>
            <p:cNvSpPr>
              <a:spLocks noChangeShapeType="1"/>
            </p:cNvSpPr>
            <p:nvPr/>
          </p:nvSpPr>
          <p:spPr bwMode="auto">
            <a:xfrm flipV="1">
              <a:off x="1263" y="1863"/>
              <a:ext cx="0" cy="528"/>
            </a:xfrm>
            <a:prstGeom prst="line">
              <a:avLst/>
            </a:prstGeom>
            <a:noFill/>
            <a:ln w="28575">
              <a:solidFill>
                <a:schemeClr val="tx1"/>
              </a:solidFill>
              <a:rou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4784" name="Line 48"/>
            <p:cNvSpPr>
              <a:spLocks noChangeShapeType="1"/>
            </p:cNvSpPr>
            <p:nvPr/>
          </p:nvSpPr>
          <p:spPr bwMode="auto">
            <a:xfrm>
              <a:off x="1263" y="2151"/>
              <a:ext cx="1185" cy="9"/>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4785" name="Freeform 49"/>
            <p:cNvSpPr/>
            <p:nvPr/>
          </p:nvSpPr>
          <p:spPr bwMode="auto">
            <a:xfrm>
              <a:off x="1263" y="2007"/>
              <a:ext cx="1029" cy="288"/>
            </a:xfrm>
            <a:custGeom>
              <a:avLst/>
              <a:gdLst>
                <a:gd name="T0" fmla="*/ 0 w 576"/>
                <a:gd name="T1" fmla="*/ 240 h 480"/>
                <a:gd name="T2" fmla="*/ 144 w 576"/>
                <a:gd name="T3" fmla="*/ 0 h 480"/>
                <a:gd name="T4" fmla="*/ 288 w 576"/>
                <a:gd name="T5" fmla="*/ 240 h 480"/>
                <a:gd name="T6" fmla="*/ 440 w 576"/>
                <a:gd name="T7" fmla="*/ 480 h 480"/>
                <a:gd name="T8" fmla="*/ 576 w 576"/>
                <a:gd name="T9" fmla="*/ 240 h 480"/>
              </a:gdLst>
              <a:ahLst/>
              <a:cxnLst>
                <a:cxn ang="0">
                  <a:pos x="T0" y="T1"/>
                </a:cxn>
                <a:cxn ang="0">
                  <a:pos x="T2" y="T3"/>
                </a:cxn>
                <a:cxn ang="0">
                  <a:pos x="T4" y="T5"/>
                </a:cxn>
                <a:cxn ang="0">
                  <a:pos x="T6" y="T7"/>
                </a:cxn>
                <a:cxn ang="0">
                  <a:pos x="T8" y="T9"/>
                </a:cxn>
              </a:cxnLst>
              <a:rect l="0" t="0" r="r" b="b"/>
              <a:pathLst>
                <a:path w="576" h="480">
                  <a:moveTo>
                    <a:pt x="0" y="240"/>
                  </a:moveTo>
                  <a:cubicBezTo>
                    <a:pt x="48" y="120"/>
                    <a:pt x="96" y="0"/>
                    <a:pt x="144" y="0"/>
                  </a:cubicBezTo>
                  <a:cubicBezTo>
                    <a:pt x="192" y="0"/>
                    <a:pt x="239" y="160"/>
                    <a:pt x="288" y="240"/>
                  </a:cubicBezTo>
                  <a:cubicBezTo>
                    <a:pt x="337" y="320"/>
                    <a:pt x="392" y="480"/>
                    <a:pt x="440" y="480"/>
                  </a:cubicBezTo>
                  <a:cubicBezTo>
                    <a:pt x="488" y="480"/>
                    <a:pt x="548" y="290"/>
                    <a:pt x="576" y="240"/>
                  </a:cubicBezTo>
                </a:path>
              </a:pathLst>
            </a:custGeom>
            <a:noFill/>
            <a:ln w="28575"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9946" name="Rectangle 50"/>
            <p:cNvSpPr/>
            <p:nvPr/>
          </p:nvSpPr>
          <p:spPr>
            <a:xfrm>
              <a:off x="2400" y="2007"/>
              <a:ext cx="177" cy="327"/>
            </a:xfrm>
            <a:prstGeom prst="rect">
              <a:avLst/>
            </a:prstGeom>
            <a:noFill/>
            <a:ln w="9525">
              <a:noFill/>
            </a:ln>
          </p:spPr>
          <p:txBody>
            <a:bodyPr wrap="none" anchor="t">
              <a:spAutoFit/>
            </a:bodyPr>
            <a:p>
              <a:pPr lvl="0" indent="0"/>
              <a:r>
                <a:rPr lang="en-US" altLang="zh-CN" sz="2800" b="1" i="1" dirty="0">
                  <a:latin typeface="Times New Roman" panose="02020603050405020304" pitchFamily="18" charset="0"/>
                  <a:ea typeface="楷体_GB2312" pitchFamily="49" charset="-122"/>
                </a:rPr>
                <a:t>t</a:t>
              </a:r>
              <a:endParaRPr lang="en-US" altLang="zh-CN" sz="2800" b="1" i="1" dirty="0">
                <a:latin typeface="Times New Roman" panose="02020603050405020304" pitchFamily="18" charset="0"/>
                <a:ea typeface="楷体_GB2312" pitchFamily="49" charset="-122"/>
              </a:endParaRPr>
            </a:p>
          </p:txBody>
        </p:sp>
        <p:sp>
          <p:nvSpPr>
            <p:cNvPr id="39947" name="Rectangle 57"/>
            <p:cNvSpPr/>
            <p:nvPr/>
          </p:nvSpPr>
          <p:spPr>
            <a:xfrm>
              <a:off x="1056" y="2016"/>
              <a:ext cx="220" cy="231"/>
            </a:xfrm>
            <a:prstGeom prst="rect">
              <a:avLst/>
            </a:prstGeom>
            <a:noFill/>
            <a:ln w="9525">
              <a:noFill/>
            </a:ln>
          </p:spPr>
          <p:txBody>
            <a:bodyPr wrap="none"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grpSp>
        <p:nvGrpSpPr>
          <p:cNvPr id="244796" name="Group 60"/>
          <p:cNvGrpSpPr/>
          <p:nvPr/>
        </p:nvGrpSpPr>
        <p:grpSpPr>
          <a:xfrm>
            <a:off x="4953000" y="2286000"/>
            <a:ext cx="2624138" cy="1863725"/>
            <a:chOff x="3408" y="1440"/>
            <a:chExt cx="1653" cy="1174"/>
          </a:xfrm>
        </p:grpSpPr>
        <p:sp>
          <p:nvSpPr>
            <p:cNvPr id="244788" name="Line 52"/>
            <p:cNvSpPr>
              <a:spLocks noChangeShapeType="1"/>
            </p:cNvSpPr>
            <p:nvPr/>
          </p:nvSpPr>
          <p:spPr bwMode="auto">
            <a:xfrm flipV="1">
              <a:off x="3617" y="1606"/>
              <a:ext cx="0" cy="1008"/>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4789" name="Line 53"/>
            <p:cNvSpPr>
              <a:spLocks noChangeShapeType="1"/>
            </p:cNvSpPr>
            <p:nvPr/>
          </p:nvSpPr>
          <p:spPr bwMode="auto">
            <a:xfrm>
              <a:off x="3603" y="2182"/>
              <a:ext cx="1328"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9951" name="Text Box 54"/>
            <p:cNvSpPr txBox="1"/>
            <p:nvPr/>
          </p:nvSpPr>
          <p:spPr>
            <a:xfrm>
              <a:off x="3455" y="1440"/>
              <a:ext cx="693" cy="327"/>
            </a:xfrm>
            <a:prstGeom prst="rect">
              <a:avLst/>
            </a:prstGeom>
            <a:noFill/>
            <a:ln w="28575">
              <a:noFill/>
            </a:ln>
          </p:spPr>
          <p:txBody>
            <a:bodyPr anchor="ctr">
              <a:spAutoFit/>
            </a:bodyPr>
            <a:p>
              <a:pPr lvl="0" indent="0" algn="ctr"/>
              <a:r>
                <a:rPr lang="en-US" altLang="zh-CN" sz="2800" b="1" i="1" dirty="0">
                  <a:solidFill>
                    <a:schemeClr val="accent2"/>
                  </a:solidFill>
                  <a:latin typeface="Times New Roman" panose="02020603050405020304" pitchFamily="18" charset="0"/>
                  <a:ea typeface="楷体_GB2312" pitchFamily="49" charset="-122"/>
                </a:rPr>
                <a:t>u</a:t>
              </a:r>
              <a:r>
                <a:rPr lang="en-US" altLang="zh-CN" sz="2800" b="1" baseline="-25000" dirty="0">
                  <a:solidFill>
                    <a:schemeClr val="accent2"/>
                  </a:solidFill>
                  <a:latin typeface="Times New Roman" panose="02020603050405020304" pitchFamily="18" charset="0"/>
                  <a:ea typeface="楷体_GB2312" pitchFamily="49" charset="-122"/>
                </a:rPr>
                <a:t>o</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244791" name="Freeform 55"/>
            <p:cNvSpPr/>
            <p:nvPr/>
          </p:nvSpPr>
          <p:spPr bwMode="auto">
            <a:xfrm flipV="1">
              <a:off x="3622" y="1796"/>
              <a:ext cx="1062" cy="754"/>
            </a:xfrm>
            <a:custGeom>
              <a:avLst/>
              <a:gdLst>
                <a:gd name="T0" fmla="*/ 0 w 576"/>
                <a:gd name="T1" fmla="*/ 240 h 480"/>
                <a:gd name="T2" fmla="*/ 144 w 576"/>
                <a:gd name="T3" fmla="*/ 0 h 480"/>
                <a:gd name="T4" fmla="*/ 288 w 576"/>
                <a:gd name="T5" fmla="*/ 240 h 480"/>
                <a:gd name="T6" fmla="*/ 440 w 576"/>
                <a:gd name="T7" fmla="*/ 480 h 480"/>
                <a:gd name="T8" fmla="*/ 576 w 576"/>
                <a:gd name="T9" fmla="*/ 240 h 480"/>
              </a:gdLst>
              <a:ahLst/>
              <a:cxnLst>
                <a:cxn ang="0">
                  <a:pos x="T0" y="T1"/>
                </a:cxn>
                <a:cxn ang="0">
                  <a:pos x="T2" y="T3"/>
                </a:cxn>
                <a:cxn ang="0">
                  <a:pos x="T4" y="T5"/>
                </a:cxn>
                <a:cxn ang="0">
                  <a:pos x="T6" y="T7"/>
                </a:cxn>
                <a:cxn ang="0">
                  <a:pos x="T8" y="T9"/>
                </a:cxn>
              </a:cxnLst>
              <a:rect l="0" t="0" r="r" b="b"/>
              <a:pathLst>
                <a:path w="576" h="480">
                  <a:moveTo>
                    <a:pt x="0" y="240"/>
                  </a:moveTo>
                  <a:cubicBezTo>
                    <a:pt x="48" y="120"/>
                    <a:pt x="96" y="0"/>
                    <a:pt x="144" y="0"/>
                  </a:cubicBezTo>
                  <a:cubicBezTo>
                    <a:pt x="192" y="0"/>
                    <a:pt x="239" y="160"/>
                    <a:pt x="288" y="240"/>
                  </a:cubicBezTo>
                  <a:cubicBezTo>
                    <a:pt x="337" y="320"/>
                    <a:pt x="392" y="480"/>
                    <a:pt x="440" y="480"/>
                  </a:cubicBezTo>
                  <a:cubicBezTo>
                    <a:pt x="488" y="480"/>
                    <a:pt x="548" y="290"/>
                    <a:pt x="576" y="240"/>
                  </a:cubicBezTo>
                </a:path>
              </a:pathLst>
            </a:custGeom>
            <a:noFill/>
            <a:ln w="28575"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9953" name="Rectangle 56"/>
            <p:cNvSpPr/>
            <p:nvPr/>
          </p:nvSpPr>
          <p:spPr>
            <a:xfrm>
              <a:off x="4883" y="2038"/>
              <a:ext cx="178" cy="327"/>
            </a:xfrm>
            <a:prstGeom prst="rect">
              <a:avLst/>
            </a:prstGeom>
            <a:noFill/>
            <a:ln w="9525">
              <a:noFill/>
            </a:ln>
          </p:spPr>
          <p:txBody>
            <a:bodyPr wrap="none" anchor="t">
              <a:spAutoFit/>
            </a:bodyPr>
            <a:p>
              <a:pPr lvl="0" indent="0"/>
              <a:r>
                <a:rPr lang="en-US" altLang="zh-CN" sz="2800" b="1" i="1" dirty="0">
                  <a:latin typeface="Times New Roman" panose="02020603050405020304" pitchFamily="18" charset="0"/>
                  <a:ea typeface="楷体_GB2312" pitchFamily="49" charset="-122"/>
                </a:rPr>
                <a:t>t</a:t>
              </a:r>
              <a:endParaRPr lang="en-US" altLang="zh-CN" sz="2800" b="1" i="1" dirty="0">
                <a:latin typeface="Times New Roman" panose="02020603050405020304" pitchFamily="18" charset="0"/>
                <a:ea typeface="楷体_GB2312" pitchFamily="49" charset="-122"/>
              </a:endParaRPr>
            </a:p>
          </p:txBody>
        </p:sp>
        <p:sp>
          <p:nvSpPr>
            <p:cNvPr id="39954" name="Rectangle 59"/>
            <p:cNvSpPr/>
            <p:nvPr/>
          </p:nvSpPr>
          <p:spPr>
            <a:xfrm>
              <a:off x="3408" y="2064"/>
              <a:ext cx="398" cy="231"/>
            </a:xfrm>
            <a:prstGeom prst="rect">
              <a:avLst/>
            </a:prstGeom>
            <a:noFill/>
            <a:ln w="9525">
              <a:noFill/>
            </a:ln>
          </p:spPr>
          <p:txBody>
            <a:bodyPr anchor="t">
              <a:spAutoFit/>
            </a:bodyPr>
            <a:p>
              <a:pPr lvl="0" indent="0"/>
              <a:r>
                <a:rPr lang="en-US" altLang="zh-CN" sz="1800" b="1" i="1" dirty="0">
                  <a:latin typeface="Times New Roman" panose="02020603050405020304" pitchFamily="18" charset="0"/>
                  <a:ea typeface="宋体" panose="02010600030101010101" pitchFamily="2" charset="-122"/>
                </a:rPr>
                <a:t>O</a:t>
              </a:r>
              <a:endParaRPr lang="en-US" altLang="zh-CN" sz="1800" b="1" i="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4794"/>
                                        </p:tgtEl>
                                        <p:attrNameLst>
                                          <p:attrName>style.visibility</p:attrName>
                                        </p:attrNameLst>
                                      </p:cBhvr>
                                      <p:to>
                                        <p:strVal val="visible"/>
                                      </p:to>
                                    </p:set>
                                    <p:animEffect transition="in" filter="wipe(left)">
                                      <p:cBhvr>
                                        <p:cTn id="7" dur="500"/>
                                        <p:tgtEl>
                                          <p:spTgt spid="2447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4796"/>
                                        </p:tgtEl>
                                        <p:attrNameLst>
                                          <p:attrName>style.visibility</p:attrName>
                                        </p:attrNameLst>
                                      </p:cBhvr>
                                      <p:to>
                                        <p:strVal val="visible"/>
                                      </p:to>
                                    </p:set>
                                    <p:animEffect transition="in" filter="wipe(left)">
                                      <p:cBhvr>
                                        <p:cTn id="12" dur="500"/>
                                        <p:tgtEl>
                                          <p:spTgt spid="2447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4779"/>
                                        </p:tgtEl>
                                        <p:attrNameLst>
                                          <p:attrName>style.visibility</p:attrName>
                                        </p:attrNameLst>
                                      </p:cBhvr>
                                      <p:to>
                                        <p:strVal val="visible"/>
                                      </p:to>
                                    </p:set>
                                    <p:animEffect transition="in" filter="wipe(left)">
                                      <p:cBhvr>
                                        <p:cTn id="17" dur="500"/>
                                        <p:tgtEl>
                                          <p:spTgt spid="244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79"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334850" name="Rectangle 2"/>
          <p:cNvSpPr>
            <a:spLocks noChangeArrowheads="1"/>
          </p:cNvSpPr>
          <p:nvPr>
            <p:ph type="title"/>
          </p:nvPr>
        </p:nvSpPr>
        <p:spPr bwMode="auto">
          <a:xfrm>
            <a:off x="581025" y="2133283"/>
            <a:ext cx="3760788"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rPr>
              <a:t>1.  </a:t>
            </a:r>
            <a:r>
              <a:rPr kumimoji="1" lang="zh-CN" altLang="en-US"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rPr>
              <a:t>实现放大的条件 </a:t>
            </a:r>
            <a:endParaRPr kumimoji="1" lang="zh-CN" altLang="en-US"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endParaRPr>
          </a:p>
        </p:txBody>
      </p:sp>
      <p:sp>
        <p:nvSpPr>
          <p:cNvPr id="334851" name="Text Box 3"/>
          <p:cNvSpPr txBox="1">
            <a:spLocks noChangeArrowheads="1"/>
          </p:cNvSpPr>
          <p:nvPr/>
        </p:nvSpPr>
        <p:spPr bwMode="auto">
          <a:xfrm>
            <a:off x="581025" y="2832576"/>
            <a:ext cx="7981950" cy="33299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marL="571500" indent="-571500">
              <a:defRPr kumimoji="1" sz="2400">
                <a:solidFill>
                  <a:schemeClr val="tx1"/>
                </a:solidFill>
                <a:latin typeface="Times New Roman" panose="02020603050405020304" pitchFamily="18" charset="0"/>
                <a:ea typeface="宋体" panose="02010600030101010101" pitchFamily="2" charset="-122"/>
              </a:defRPr>
            </a:lvl1pPr>
            <a:lvl2pPr marL="1047750">
              <a:defRPr kumimoji="1" sz="2400">
                <a:solidFill>
                  <a:schemeClr val="tx1"/>
                </a:solidFill>
                <a:latin typeface="Times New Roman" panose="02020603050405020304" pitchFamily="18" charset="0"/>
                <a:ea typeface="宋体" panose="02010600030101010101" pitchFamily="2" charset="-122"/>
              </a:defRPr>
            </a:lvl2pPr>
            <a:lvl3pPr marL="1238250">
              <a:defRPr kumimoji="1" sz="2400">
                <a:solidFill>
                  <a:schemeClr val="tx1"/>
                </a:solidFill>
                <a:latin typeface="Times New Roman" panose="02020603050405020304" pitchFamily="18" charset="0"/>
                <a:ea typeface="宋体" panose="02010600030101010101" pitchFamily="2" charset="-122"/>
              </a:defRPr>
            </a:lvl3pPr>
            <a:lvl4pPr marL="1428750">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571500" marR="0" lvl="0" indent="-571500" algn="l" defTabSz="914400" rtl="0" eaLnBrk="1" fontAlgn="base" latinLnBrk="0" hangingPunct="1">
              <a:lnSpc>
                <a:spcPct val="100000"/>
              </a:lnSpc>
              <a:spcBef>
                <a:spcPct val="20000"/>
              </a:spcBef>
              <a:spcAft>
                <a:spcPct val="0"/>
              </a:spcAft>
              <a:buClrTx/>
              <a:buSzTx/>
              <a:buFontTx/>
              <a:buNone/>
              <a:defRPr/>
            </a:pP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 </a:t>
            </a:r>
            <a:r>
              <a:rPr kumimoji="1" lang="zh-CN" altLang="en-US"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晶体管必须要有合适的静态偏置，</a:t>
            </a:r>
            <a:r>
              <a:rPr lang="zh-CN" altLang="en-US" b="1" strike="noStrike" noProof="0" smtClean="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mn-ea"/>
              </a:rPr>
              <a:t>发射结正偏、集电结反偏，并且把静态工作点设置在</a:t>
            </a:r>
            <a:r>
              <a:rPr kumimoji="1" lang="zh-CN" altLang="en-US"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放大区的中心区域。</a:t>
            </a:r>
            <a:endParaRPr kumimoji="1" lang="zh-CN" altLang="en-US"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571500" marR="0" lvl="0" indent="-571500" algn="l" defTabSz="914400" rtl="0" eaLnBrk="1" fontAlgn="base" latinLnBrk="0" hangingPunct="1">
              <a:lnSpc>
                <a:spcPct val="100000"/>
              </a:lnSpc>
              <a:spcBef>
                <a:spcPct val="20000"/>
              </a:spcBef>
              <a:spcAft>
                <a:spcPct val="0"/>
              </a:spcAft>
              <a:buClrTx/>
              <a:buSzTx/>
              <a:buFontTx/>
              <a:buNone/>
              <a:defRPr/>
            </a:pPr>
            <a:r>
              <a:rPr kumimoji="1" lang="en-US" altLang="zh-CN"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 </a:t>
            </a:r>
            <a:r>
              <a:rPr lang="zh-CN" altLang="en-US" b="1" strike="noStrike" noProof="0" smtClean="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mn-ea"/>
              </a:rPr>
              <a:t>输入回路</a:t>
            </a:r>
            <a:r>
              <a:rPr kumimoji="1" lang="zh-CN" altLang="en-US"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采用阻容耦合，选取适当大小的电容，</a:t>
            </a:r>
            <a:r>
              <a:rPr lang="zh-CN" altLang="en-US" b="1" strike="noStrike" noProof="0" smtClean="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mn-ea"/>
              </a:rPr>
              <a:t>将交流输入电压转化成相应变化的基极电流。</a:t>
            </a:r>
            <a:endParaRPr lang="zh-CN" altLang="en-US" b="1" strike="noStrike" noProof="0" smtClean="0">
              <a:ln>
                <a:noFill/>
              </a:ln>
              <a:effectLst>
                <a:outerShdw blurRad="38100" dist="38100" dir="2700000" algn="tl">
                  <a:srgbClr val="C0C0C0"/>
                </a:outerShdw>
              </a:effectLst>
              <a:uLnTx/>
              <a:uFillTx/>
              <a:latin typeface="宋体" panose="02010600030101010101" pitchFamily="2" charset="-122"/>
              <a:cs typeface="+mn-cs"/>
              <a:sym typeface="+mn-ea"/>
            </a:endParaRPr>
          </a:p>
          <a:p>
            <a:pPr marL="571500" marR="0" lvl="0" indent="-571500" algn="l" defTabSz="914400" rtl="0" eaLnBrk="1" fontAlgn="base" latinLnBrk="0" hangingPunct="1">
              <a:lnSpc>
                <a:spcPct val="100000"/>
              </a:lnSpc>
              <a:spcBef>
                <a:spcPct val="20000"/>
              </a:spcBef>
              <a:spcAft>
                <a:spcPct val="0"/>
              </a:spcAft>
              <a:buClrTx/>
              <a:buSzTx/>
              <a:buFontTx/>
              <a:buNone/>
              <a:defRPr/>
            </a:pPr>
            <a:r>
              <a:rPr kumimoji="1" lang="en-US" altLang="zh-CN"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(3) </a:t>
            </a:r>
            <a:r>
              <a:rPr lang="zh-CN" altLang="en-US" b="1" strike="noStrike" noProof="0" smtClean="0">
                <a:ln>
                  <a:noFill/>
                </a:ln>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mn-ea"/>
              </a:rPr>
              <a:t>输出回路将变化的集电极电流转化成变化的集电极电压，</a:t>
            </a:r>
            <a:r>
              <a:rPr lang="zh-CN" altLang="en-US" b="1" strike="noStrike" noProof="0" smtClean="0">
                <a:ln>
                  <a:noFill/>
                </a:ln>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采用适当的阻容耦合，</a:t>
            </a:r>
            <a:r>
              <a:rPr kumimoji="1" lang="zh-CN" altLang="en-US"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只输出交流信号。</a:t>
            </a:r>
            <a:endParaRPr kumimoji="1" lang="zh-CN" altLang="en-US"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571500" marR="0" lvl="0" indent="-571500" algn="l" defTabSz="914400" rtl="0" eaLnBrk="1" fontAlgn="base" latinLnBrk="0" hangingPunct="1">
              <a:lnSpc>
                <a:spcPct val="100000"/>
              </a:lnSpc>
              <a:spcBef>
                <a:spcPct val="20000"/>
              </a:spcBef>
              <a:spcAft>
                <a:spcPct val="0"/>
              </a:spcAft>
              <a:buClrTx/>
              <a:buSzTx/>
              <a:buFontTx/>
              <a:buNone/>
              <a:defRPr/>
            </a:pPr>
            <a:r>
              <a:rPr lang="en-US" altLang="zh-CN" b="1" strike="noStrike" noProof="0" smtClean="0">
                <a:ln>
                  <a:noFill/>
                </a:ln>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(4) </a:t>
            </a:r>
            <a:r>
              <a:rPr lang="zh-CN" altLang="en-US" b="1" strike="noStrike" noProof="0" smtClean="0">
                <a:ln>
                  <a:noFill/>
                </a:ln>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选取合适大小的集电极电阻，可以实现电压放大作用，输入、输出信号反相。</a:t>
            </a:r>
            <a:endParaRPr kumimoji="1" lang="zh-CN" altLang="en-US" b="1" i="0" u="none" strike="noStrike" kern="1200" cap="none" spc="0" normalizeH="0" baseline="0" noProof="0" smtClean="0">
              <a:ln>
                <a:noFill/>
              </a:ln>
              <a:solidFill>
                <a:schemeClr val="tx1"/>
              </a:solidFill>
              <a:effectLst>
                <a:outerShdw blurRad="38100" dist="38100" dir="2700000" algn="tl">
                  <a:srgbClr val="C0C0C0"/>
                </a:outerShdw>
              </a:effectLst>
              <a:uLnTx/>
              <a:uFillTx/>
              <a:ea typeface="宋体" panose="02010600030101010101" pitchFamily="2" charset="-122"/>
              <a:cs typeface="+mn-cs"/>
              <a:sym typeface="+mn-ea"/>
            </a:endParaRPr>
          </a:p>
        </p:txBody>
      </p:sp>
      <p:sp>
        <p:nvSpPr>
          <p:cNvPr id="334852" name="Text Box 4"/>
          <p:cNvSpPr txBox="1">
            <a:spLocks noChangeArrowheads="1"/>
          </p:cNvSpPr>
          <p:nvPr/>
        </p:nvSpPr>
        <p:spPr bwMode="auto">
          <a:xfrm>
            <a:off x="236538" y="1537970"/>
            <a:ext cx="6324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rtl="0">
              <a:spcBef>
                <a:spcPct val="50000"/>
              </a:spcBef>
              <a:buClrTx/>
              <a:buSzTx/>
              <a:buFontTx/>
              <a:buNone/>
              <a:defRPr/>
            </a:pPr>
            <a:r>
              <a:rPr kumimoji="1" lang="zh-CN" altLang="en-US"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（一）共发射极放大电路的</a:t>
            </a:r>
            <a:r>
              <a:rPr kumimoji="1" lang="zh-CN" altLang="en-US" sz="2800" b="1" kern="1200" cap="none" spc="0" normalizeH="0" baseline="0" noProof="0" smtClean="0">
                <a:effectLst>
                  <a:outerShdw blurRad="38100" dist="38100" dir="2700000" algn="tl">
                    <a:srgbClr val="C0C0C0"/>
                  </a:outerShdw>
                </a:effectLst>
                <a:latin typeface="黑体" panose="02010609060101010101" charset="-122"/>
                <a:ea typeface="黑体" panose="02010609060101010101" charset="-122"/>
                <a:cs typeface="+mn-cs"/>
              </a:rPr>
              <a:t>定性分析</a:t>
            </a:r>
            <a:endParaRPr kumimoji="1" lang="zh-CN" altLang="en-US" sz="2800" b="1" kern="1200" cap="none" spc="0" normalizeH="0" baseline="0" noProof="0" smtClean="0">
              <a:effectLst>
                <a:outerShdw blurRad="38100" dist="38100" dir="2700000" algn="tl">
                  <a:srgbClr val="C0C0C0"/>
                </a:outerShdw>
              </a:effectLst>
              <a:latin typeface="黑体" panose="02010609060101010101" charset="-122"/>
              <a:ea typeface="黑体" panose="02010609060101010101" charset="-122"/>
              <a:cs typeface="+mn-cs"/>
            </a:endParaRPr>
          </a:p>
        </p:txBody>
      </p:sp>
      <p:sp>
        <p:nvSpPr>
          <p:cNvPr id="2" name="文本框 1"/>
          <p:cNvSpPr txBox="1"/>
          <p:nvPr/>
        </p:nvSpPr>
        <p:spPr>
          <a:xfrm>
            <a:off x="587375" y="549910"/>
            <a:ext cx="5817235" cy="583565"/>
          </a:xfrm>
          <a:prstGeom prst="rect">
            <a:avLst/>
          </a:prstGeom>
          <a:noFill/>
        </p:spPr>
        <p:txBody>
          <a:bodyPr wrap="square" rtlCol="0">
            <a:spAutoFit/>
          </a:bodyPr>
          <a:p>
            <a:r>
              <a:rPr lang="zh-CN" altLang="en-US" sz="3200">
                <a:latin typeface="黑体" panose="02010609060101010101" charset="-122"/>
                <a:ea typeface="黑体" panose="02010609060101010101" charset="-122"/>
              </a:rPr>
              <a:t>三、共发射极放大电路的分析</a:t>
            </a:r>
            <a:endParaRPr lang="zh-CN" altLang="en-US" sz="3200">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4851">
                                            <p:txEl>
                                              <p:charRg st="4294967295" end="4294967295"/>
                                            </p:txEl>
                                          </p:spTgt>
                                        </p:tgtEl>
                                        <p:attrNameLst>
                                          <p:attrName>style.visibility</p:attrName>
                                        </p:attrNameLst>
                                      </p:cBhvr>
                                      <p:to>
                                        <p:strVal val="visible"/>
                                      </p:to>
                                    </p:set>
                                    <p:animEffect transition="in" filter="wipe(left)">
                                      <p:cBhvr>
                                        <p:cTn id="7" dur="500"/>
                                        <p:tgtEl>
                                          <p:spTgt spid="334851">
                                            <p:txEl>
                                              <p:char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4851">
                                            <p:txEl>
                                              <p:charRg st="146" end="185"/>
                                            </p:txEl>
                                          </p:spTgt>
                                        </p:tgtEl>
                                        <p:attrNameLst>
                                          <p:attrName>style.visibility</p:attrName>
                                        </p:attrNameLst>
                                      </p:cBhvr>
                                      <p:to>
                                        <p:strVal val="visible"/>
                                      </p:to>
                                    </p:set>
                                    <p:animEffect transition="in" filter="wipe(left)">
                                      <p:cBhvr>
                                        <p:cTn id="12" dur="500"/>
                                        <p:tgtEl>
                                          <p:spTgt spid="334851">
                                            <p:txEl>
                                              <p:charRg st="146" end="1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0658" name="Rectangle 2"/>
          <p:cNvSpPr>
            <a:spLocks noChangeArrowheads="1"/>
          </p:cNvSpPr>
          <p:nvPr>
            <p:ph type="title"/>
          </p:nvPr>
        </p:nvSpPr>
        <p:spPr bwMode="auto">
          <a:xfrm>
            <a:off x="609600" y="333375"/>
            <a:ext cx="49530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mj-lt"/>
                <a:ea typeface="+mj-ea"/>
                <a:cs typeface="+mj-cs"/>
              </a:rPr>
              <a:t>2. </a:t>
            </a:r>
            <a:r>
              <a:rPr kumimoji="1" lang="zh-CN" altLang="en-US"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mj-ea"/>
                <a:cs typeface="+mj-cs"/>
              </a:rPr>
              <a:t>直流通路和交流通路 </a:t>
            </a:r>
            <a:endParaRPr kumimoji="1" lang="zh-CN" altLang="en-US" sz="2800" b="1" i="0" u="none" strike="noStrike" kern="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70659" name="Rectangle 3"/>
          <p:cNvSpPr>
            <a:spLocks noChangeArrowheads="1"/>
          </p:cNvSpPr>
          <p:nvPr/>
        </p:nvSpPr>
        <p:spPr bwMode="auto">
          <a:xfrm>
            <a:off x="468313" y="925513"/>
            <a:ext cx="8153400" cy="2138363"/>
          </a:xfrm>
          <a:prstGeom prst="rect">
            <a:avLst/>
          </a:prstGeom>
          <a:noFill/>
          <a:ln>
            <a:noFill/>
          </a:ln>
          <a:effectLst/>
          <a:extLst>
            <a:ext uri="{909E8E84-426E-40DD-AFC4-6F175D3DCCD1}">
              <a14:hiddenFill xmlns:a14="http://schemas.microsoft.com/office/drawing/2010/main">
                <a:solidFill>
                  <a:srgbClr val="E4EBF4"/>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20000"/>
              </a:spcBef>
              <a:spcAft>
                <a:spcPct val="0"/>
              </a:spcAft>
              <a:buClrTx/>
              <a:buSzTx/>
              <a:buFontTx/>
              <a:buNone/>
              <a:defRPr/>
            </a:pP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楷体" panose="02010609060101010101" charset="-122"/>
                <a:ea typeface="楷体" panose="02010609060101010101" charset="-122"/>
                <a:cs typeface="+mn-cs"/>
              </a:rPr>
              <a:t>因电容对交、直流的作用不同。在放大电路中如果电容的容量足够大，可以认为它对交流分量不起作用，即对交流短路。而对直流可以看成开路。这样，交直流所走的通路是不同的。</a:t>
            </a:r>
            <a:endPar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p:txBody>
      </p:sp>
      <p:sp>
        <p:nvSpPr>
          <p:cNvPr id="70660" name="Rectangle 4"/>
          <p:cNvSpPr>
            <a:spLocks noChangeArrowheads="1"/>
          </p:cNvSpPr>
          <p:nvPr/>
        </p:nvSpPr>
        <p:spPr bwMode="auto">
          <a:xfrm>
            <a:off x="469900" y="3267075"/>
            <a:ext cx="8445500" cy="1030288"/>
          </a:xfrm>
          <a:prstGeom prst="rect">
            <a:avLst/>
          </a:prstGeom>
          <a:noFill/>
          <a:ln>
            <a:noFill/>
          </a:ln>
          <a:effectLst/>
          <a:extLst>
            <a:ext uri="{909E8E84-426E-40DD-AFC4-6F175D3DCCD1}">
              <a14:hiddenFill xmlns:a14="http://schemas.microsoft.com/office/drawing/2010/main">
                <a:solidFill>
                  <a:srgbClr val="E4EBF4"/>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直流通路：</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无输入信号时电流（直流电流）的通路，          </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          用来计算静态工作点</a:t>
            </a:r>
            <a:r>
              <a:rPr kumimoji="1" lang="en-US" altLang="zh-CN" sz="2800" b="1" i="1" strike="noStrike"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Q </a:t>
            </a:r>
            <a:r>
              <a:rPr kumimoji="1" lang="en-US" altLang="zh-CN" sz="2800" b="1" strike="noStrike" noProof="0" smtClean="0">
                <a:ln>
                  <a:noFill/>
                </a:ln>
                <a:solidFill>
                  <a:srgbClr val="000099"/>
                </a:solidFill>
                <a:effectLst/>
                <a:uLnTx/>
                <a:uFillTx/>
                <a:latin typeface="Times New Roman" panose="02020603050405020304" pitchFamily="18" charset="0"/>
                <a:ea typeface="宋体" panose="02010600030101010101" pitchFamily="2" charset="-122"/>
                <a:cs typeface="+mn-cs"/>
                <a:sym typeface="+mn-ea"/>
              </a:rPr>
              <a:t>( </a:t>
            </a:r>
            <a:r>
              <a:rPr kumimoji="1" lang="en-US" altLang="zh-CN" sz="2800" b="1" i="1" strike="noStrike" noProof="0" smtClean="0">
                <a:ln>
                  <a:noFill/>
                </a:ln>
                <a:solidFill>
                  <a:srgbClr val="CC0000"/>
                </a:solidFill>
                <a:effectLst/>
                <a:uLnTx/>
                <a:uFillTx/>
                <a:latin typeface="Times New Roman" panose="02020603050405020304" pitchFamily="18" charset="0"/>
                <a:ea typeface="楷体_GB2312" pitchFamily="49" charset="-122"/>
                <a:cs typeface="+mn-cs"/>
                <a:sym typeface="+mn-ea"/>
              </a:rPr>
              <a:t>I</a:t>
            </a:r>
            <a:r>
              <a:rPr kumimoji="1" lang="en-US" altLang="zh-CN" sz="2800" b="1" strike="noStrike" baseline="-25000" noProof="0" smtClean="0">
                <a:ln>
                  <a:noFill/>
                </a:ln>
                <a:solidFill>
                  <a:srgbClr val="CC0000"/>
                </a:solidFill>
                <a:effectLst/>
                <a:uLnTx/>
                <a:uFillTx/>
                <a:latin typeface="Times New Roman" panose="02020603050405020304" pitchFamily="18" charset="0"/>
                <a:ea typeface="楷体_GB2312" pitchFamily="49" charset="-122"/>
                <a:cs typeface="+mn-cs"/>
                <a:sym typeface="+mn-ea"/>
              </a:rPr>
              <a:t>B</a:t>
            </a:r>
            <a:r>
              <a:rPr kumimoji="1" lang="en-US" altLang="zh-CN" sz="2800" b="1" strike="noStrike" noProof="0" smtClean="0">
                <a:ln>
                  <a:noFill/>
                </a:ln>
                <a:solidFill>
                  <a:srgbClr val="CC0000"/>
                </a:solidFill>
                <a:effectLst/>
                <a:uLnTx/>
                <a:uFillTx/>
                <a:latin typeface="Times New Roman" panose="02020603050405020304" pitchFamily="18" charset="0"/>
                <a:ea typeface="宋体" panose="02010600030101010101" pitchFamily="2" charset="-122"/>
                <a:cs typeface="+mn-cs"/>
                <a:sym typeface="+mn-ea"/>
              </a:rPr>
              <a:t> </a:t>
            </a:r>
            <a:r>
              <a:rPr kumimoji="1" lang="zh-CN" altLang="en-US" sz="2800" b="1" strike="noStrike" noProof="0" smtClean="0">
                <a:ln>
                  <a:noFill/>
                </a:ln>
                <a:solidFill>
                  <a:srgbClr val="CC0000"/>
                </a:solidFill>
                <a:effectLst/>
                <a:uLnTx/>
                <a:uFillTx/>
                <a:latin typeface="Times New Roman" panose="02020603050405020304" pitchFamily="18" charset="0"/>
                <a:ea typeface="宋体" panose="02010600030101010101" pitchFamily="2" charset="-122"/>
                <a:cs typeface="+mn-cs"/>
                <a:sym typeface="+mn-ea"/>
              </a:rPr>
              <a:t>、 </a:t>
            </a:r>
            <a:r>
              <a:rPr kumimoji="1" lang="en-US" altLang="zh-CN" sz="2800" b="1" i="1" strike="noStrike" noProof="0" smtClean="0">
                <a:ln>
                  <a:noFill/>
                </a:ln>
                <a:solidFill>
                  <a:srgbClr val="CC0000"/>
                </a:solidFill>
                <a:effectLst/>
                <a:uLnTx/>
                <a:uFillTx/>
                <a:latin typeface="Times New Roman" panose="02020603050405020304" pitchFamily="18" charset="0"/>
                <a:ea typeface="楷体_GB2312" pitchFamily="49" charset="-122"/>
                <a:cs typeface="+mn-cs"/>
                <a:sym typeface="+mn-ea"/>
              </a:rPr>
              <a:t>I</a:t>
            </a:r>
            <a:r>
              <a:rPr kumimoji="1" lang="en-US" altLang="zh-CN" sz="2800" b="1" strike="noStrike" baseline="-25000" noProof="0" smtClean="0">
                <a:ln>
                  <a:noFill/>
                </a:ln>
                <a:solidFill>
                  <a:srgbClr val="CC0000"/>
                </a:solidFill>
                <a:effectLst/>
                <a:uLnTx/>
                <a:uFillTx/>
                <a:latin typeface="Times New Roman" panose="02020603050405020304" pitchFamily="18" charset="0"/>
                <a:ea typeface="楷体_GB2312" pitchFamily="49" charset="-122"/>
                <a:cs typeface="+mn-cs"/>
                <a:sym typeface="+mn-ea"/>
              </a:rPr>
              <a:t>C</a:t>
            </a:r>
            <a:r>
              <a:rPr kumimoji="1" lang="en-US" altLang="zh-CN" sz="2800" b="1" strike="noStrike" noProof="0" smtClean="0">
                <a:ln>
                  <a:noFill/>
                </a:ln>
                <a:solidFill>
                  <a:srgbClr val="CC0000"/>
                </a:solidFill>
                <a:effectLst/>
                <a:uLnTx/>
                <a:uFillTx/>
                <a:latin typeface="Times New Roman" panose="02020603050405020304" pitchFamily="18" charset="0"/>
                <a:ea typeface="宋体" panose="02010600030101010101" pitchFamily="2" charset="-122"/>
                <a:cs typeface="+mn-cs"/>
                <a:sym typeface="+mn-ea"/>
              </a:rPr>
              <a:t> </a:t>
            </a:r>
            <a:r>
              <a:rPr kumimoji="1" lang="zh-CN" altLang="en-US" sz="2800" b="1" strike="noStrike" noProof="0" smtClean="0">
                <a:ln>
                  <a:noFill/>
                </a:ln>
                <a:solidFill>
                  <a:srgbClr val="CC0000"/>
                </a:solidFill>
                <a:effectLst/>
                <a:uLnTx/>
                <a:uFillTx/>
                <a:latin typeface="Times New Roman" panose="02020603050405020304" pitchFamily="18" charset="0"/>
                <a:ea typeface="宋体" panose="02010600030101010101" pitchFamily="2" charset="-122"/>
                <a:cs typeface="+mn-cs"/>
                <a:sym typeface="+mn-ea"/>
              </a:rPr>
              <a:t>、 </a:t>
            </a:r>
            <a:r>
              <a:rPr kumimoji="1" lang="en-US" altLang="zh-CN" sz="2800" b="1" i="1" strike="noStrike" noProof="0" smtClean="0">
                <a:ln>
                  <a:noFill/>
                </a:ln>
                <a:solidFill>
                  <a:srgbClr val="CC0000"/>
                </a:solidFill>
                <a:effectLst/>
                <a:uLnTx/>
                <a:uFillTx/>
                <a:latin typeface="Times New Roman" panose="02020603050405020304" pitchFamily="18" charset="0"/>
                <a:ea typeface="楷体_GB2312" pitchFamily="49" charset="-122"/>
                <a:cs typeface="+mn-cs"/>
                <a:sym typeface="+mn-ea"/>
              </a:rPr>
              <a:t>U</a:t>
            </a:r>
            <a:r>
              <a:rPr kumimoji="1" lang="en-US" altLang="zh-CN" sz="2800" b="1" strike="noStrike" baseline="-25000" noProof="0" smtClean="0">
                <a:ln>
                  <a:noFill/>
                </a:ln>
                <a:solidFill>
                  <a:srgbClr val="CC0000"/>
                </a:solidFill>
                <a:effectLst/>
                <a:uLnTx/>
                <a:uFillTx/>
                <a:latin typeface="Times New Roman" panose="02020603050405020304" pitchFamily="18" charset="0"/>
                <a:ea typeface="楷体_GB2312" pitchFamily="49" charset="-122"/>
                <a:cs typeface="+mn-cs"/>
                <a:sym typeface="+mn-ea"/>
              </a:rPr>
              <a:t>CE</a:t>
            </a:r>
            <a:r>
              <a:rPr kumimoji="1" lang="en-US" altLang="zh-CN" sz="2800" b="1" strike="noStrike" noProof="0" smtClean="0">
                <a:ln>
                  <a:noFill/>
                </a:ln>
                <a:solidFill>
                  <a:srgbClr val="000099"/>
                </a:solidFill>
                <a:effectLst/>
                <a:uLnTx/>
                <a:uFillTx/>
                <a:latin typeface="Times New Roman" panose="02020603050405020304" pitchFamily="18" charset="0"/>
                <a:ea typeface="宋体" panose="02010600030101010101" pitchFamily="2" charset="-122"/>
                <a:cs typeface="+mn-cs"/>
                <a:sym typeface="+mn-ea"/>
              </a:rPr>
              <a:t> )</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p:txBody>
      </p:sp>
      <p:sp>
        <p:nvSpPr>
          <p:cNvPr id="70661" name="Rectangle 5"/>
          <p:cNvSpPr>
            <a:spLocks noChangeArrowheads="1"/>
          </p:cNvSpPr>
          <p:nvPr/>
        </p:nvSpPr>
        <p:spPr bwMode="auto">
          <a:xfrm>
            <a:off x="468313" y="4402138"/>
            <a:ext cx="8599488" cy="1541463"/>
          </a:xfrm>
          <a:prstGeom prst="rect">
            <a:avLst/>
          </a:prstGeom>
          <a:noFill/>
          <a:ln>
            <a:noFill/>
          </a:ln>
          <a:effectLst/>
          <a:extLst>
            <a:ext uri="{909E8E84-426E-40DD-AFC4-6F175D3DCCD1}">
              <a14:hiddenFill xmlns:a14="http://schemas.microsoft.com/office/drawing/2010/main">
                <a:solidFill>
                  <a:srgbClr val="E4EBF4"/>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交流通路：</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有输入信号时交流分量（变化量）的通路，</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          用来计算电压放大倍数</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 panose="02010609060101010101" charset="-122"/>
                <a:cs typeface="+mn-cs"/>
              </a:rPr>
              <a:t>A</a:t>
            </a:r>
            <a:r>
              <a:rPr kumimoji="1" lang="en-US" altLang="zh-CN" sz="2800" b="1" i="1"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 panose="02010609060101010101" charset="-122"/>
                <a:cs typeface="+mn-cs"/>
              </a:rPr>
              <a:t>V</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、输入电阻</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 panose="02010609060101010101" charset="-122"/>
                <a:cs typeface="+mn-cs"/>
              </a:rPr>
              <a:t>r</a:t>
            </a:r>
            <a:r>
              <a:rPr kumimoji="1" lang="en-US" altLang="zh-CN" sz="2800" b="1" i="1"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 panose="02010609060101010101" charset="-122"/>
                <a:cs typeface="+mn-cs"/>
              </a:rPr>
              <a:t>i</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          输出电阻</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r</a:t>
            </a:r>
            <a:r>
              <a:rPr kumimoji="1" lang="en-US" altLang="zh-CN" sz="2800" b="1" i="1"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o</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rPr>
              <a:t>等动态参数。</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楷体" panose="02010609060101010101" charset="-122"/>
              <a:ea typeface="楷体" panose="0201060906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59"/>
                                        </p:tgtEl>
                                        <p:attrNameLst>
                                          <p:attrName>style.visibility</p:attrName>
                                        </p:attrNameLst>
                                      </p:cBhvr>
                                      <p:to>
                                        <p:strVal val="visible"/>
                                      </p:to>
                                    </p:set>
                                    <p:animEffect transition="in" filter="blinds(horizontal)">
                                      <p:cBhvr>
                                        <p:cTn id="7" dur="500"/>
                                        <p:tgtEl>
                                          <p:spTgt spid="706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60"/>
                                        </p:tgtEl>
                                        <p:attrNameLst>
                                          <p:attrName>style.visibility</p:attrName>
                                        </p:attrNameLst>
                                      </p:cBhvr>
                                      <p:to>
                                        <p:strVal val="visible"/>
                                      </p:to>
                                    </p:set>
                                    <p:animEffect transition="in" filter="wipe(left)">
                                      <p:cBhvr>
                                        <p:cTn id="12" dur="500"/>
                                        <p:tgtEl>
                                          <p:spTgt spid="706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70661"/>
                                        </p:tgtEl>
                                        <p:attrNameLst>
                                          <p:attrName>style.visibility</p:attrName>
                                        </p:attrNameLst>
                                      </p:cBhvr>
                                      <p:to>
                                        <p:strVal val="visible"/>
                                      </p:to>
                                    </p:set>
                                    <p:animEffect transition="in" filter="blinds(vertical)">
                                      <p:cBhvr>
                                        <p:cTn id="17" dur="500"/>
                                        <p:tgtEl>
                                          <p:spTgt spid="70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ldLvl="0" animBg="1"/>
      <p:bldP spid="70660" grpId="0" bldLvl="0" animBg="1"/>
      <p:bldP spid="70661"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1682" name="Text Box 2"/>
          <p:cNvSpPr txBox="1">
            <a:spLocks noChangeArrowheads="1"/>
          </p:cNvSpPr>
          <p:nvPr/>
        </p:nvSpPr>
        <p:spPr bwMode="auto">
          <a:xfrm>
            <a:off x="174625" y="323850"/>
            <a:ext cx="74914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例：</a:t>
            </a:r>
            <a:r>
              <a:rPr kumimoji="1" lang="zh-CN" altLang="en-US"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画出下图放大电路的直流通路和交流通路</a:t>
            </a:r>
            <a:endPar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71683" name="Text Box 3" descr="80%"/>
          <p:cNvSpPr txBox="1"/>
          <p:nvPr/>
        </p:nvSpPr>
        <p:spPr>
          <a:xfrm>
            <a:off x="5145088" y="4362450"/>
            <a:ext cx="1885950" cy="519113"/>
          </a:xfrm>
          <a:prstGeom prst="rect">
            <a:avLst/>
          </a:prstGeom>
          <a:pattFill prst="pct80">
            <a:fgClr>
              <a:srgbClr val="FFCC99"/>
            </a:fgClr>
            <a:bgClr>
              <a:srgbClr val="FFFFFF"/>
            </a:bgClr>
          </a:pattFill>
          <a:ln w="38100">
            <a:noFill/>
          </a:ln>
        </p:spPr>
        <p:txBody>
          <a:bodyPr lIns="90000" tIns="46800" rIns="90000" bIns="46800" anchor="ctr">
            <a:spAutoFit/>
          </a:bodyPr>
          <a:p>
            <a:pPr lvl="0" indent="0">
              <a:spcBef>
                <a:spcPct val="50000"/>
              </a:spcBef>
            </a:pPr>
            <a:r>
              <a:rPr lang="zh-CN" altLang="en-US" sz="2800" b="1" dirty="0">
                <a:solidFill>
                  <a:schemeClr val="accent2"/>
                </a:solidFill>
                <a:latin typeface="Times New Roman" panose="02020603050405020304" pitchFamily="18" charset="0"/>
                <a:ea typeface="宋体" panose="02010600030101010101" pitchFamily="2" charset="-122"/>
              </a:rPr>
              <a:t>直流通路</a:t>
            </a:r>
            <a:endParaRPr lang="zh-CN" altLang="en-US" sz="2800" b="1" dirty="0">
              <a:solidFill>
                <a:schemeClr val="accent2"/>
              </a:solidFill>
              <a:latin typeface="Times New Roman" panose="02020603050405020304" pitchFamily="18" charset="0"/>
              <a:ea typeface="宋体" panose="02010600030101010101" pitchFamily="2" charset="-122"/>
            </a:endParaRPr>
          </a:p>
        </p:txBody>
      </p:sp>
      <p:sp>
        <p:nvSpPr>
          <p:cNvPr id="71684" name="Rectangle 4" descr="80%"/>
          <p:cNvSpPr>
            <a:spLocks noChangeArrowheads="1"/>
          </p:cNvSpPr>
          <p:nvPr/>
        </p:nvSpPr>
        <p:spPr bwMode="auto">
          <a:xfrm>
            <a:off x="685800" y="5472113"/>
            <a:ext cx="8686800" cy="519113"/>
          </a:xfrm>
          <a:prstGeom prst="rect">
            <a:avLst/>
          </a:prstGeom>
          <a:noFill/>
          <a:ln>
            <a:noFill/>
          </a:ln>
          <a:effectLst/>
          <a:extLst>
            <a:ext uri="{909E8E84-426E-40DD-AFC4-6F175D3DCCD1}">
              <a14:hiddenFill xmlns:a14="http://schemas.microsoft.com/office/drawing/2010/main">
                <a:pattFill prst="pct80">
                  <a:fgClr>
                    <a:srgbClr val="00FF00"/>
                  </a:fgClr>
                  <a:bgClr>
                    <a:srgbClr val="FFFFFF"/>
                  </a:bgClr>
                </a:pattFill>
              </a14:hiddenFill>
            </a:ext>
            <a:ext uri="{91240B29-F687-4F45-9708-019B960494DF}">
              <a14:hiddenLine xmlns:a14="http://schemas.microsoft.com/office/drawing/2010/main" w="9525">
                <a:solidFill>
                  <a:srgbClr val="66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直流通路用来计算静态工作点</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Q </a:t>
            </a:r>
            <a:r>
              <a:rPr kumimoji="1" lang="en-US" altLang="zh-CN" sz="28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smtClean="0">
                <a:ln>
                  <a:noFill/>
                </a:ln>
                <a:solidFill>
                  <a:srgbClr val="CC0000"/>
                </a:solidFill>
                <a:effectLst/>
                <a:uLnTx/>
                <a:uFillTx/>
                <a:latin typeface="Times New Roman" panose="02020603050405020304" pitchFamily="18" charset="0"/>
                <a:ea typeface="楷体_GB2312" pitchFamily="49" charset="-122"/>
                <a:cs typeface="+mn-cs"/>
              </a:rPr>
              <a:t>I</a:t>
            </a:r>
            <a:r>
              <a:rPr kumimoji="1" lang="en-US" altLang="zh-CN" sz="2800" b="1" i="0" u="none" strike="noStrike" kern="1200" cap="none" spc="0" normalizeH="0" baseline="-25000" noProof="0" smtClean="0">
                <a:ln>
                  <a:noFill/>
                </a:ln>
                <a:solidFill>
                  <a:srgbClr val="CC0000"/>
                </a:solidFill>
                <a:effectLst/>
                <a:uLnTx/>
                <a:uFillTx/>
                <a:latin typeface="Times New Roman" panose="02020603050405020304" pitchFamily="18" charset="0"/>
                <a:ea typeface="楷体_GB2312" pitchFamily="49" charset="-122"/>
                <a:cs typeface="+mn-cs"/>
              </a:rPr>
              <a:t>B</a:t>
            </a:r>
            <a:r>
              <a:rPr kumimoji="1" lang="en-US" altLang="zh-CN" sz="2800" b="1" i="0" u="none" strike="noStrike" kern="120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smtClean="0">
                <a:ln>
                  <a:noFill/>
                </a:ln>
                <a:solidFill>
                  <a:srgbClr val="CC0000"/>
                </a:solidFill>
                <a:effectLst/>
                <a:uLnTx/>
                <a:uFillTx/>
                <a:latin typeface="Times New Roman" panose="02020603050405020304" pitchFamily="18" charset="0"/>
                <a:ea typeface="楷体_GB2312" pitchFamily="49" charset="-122"/>
                <a:cs typeface="+mn-cs"/>
              </a:rPr>
              <a:t>I</a:t>
            </a:r>
            <a:r>
              <a:rPr kumimoji="1" lang="en-US" altLang="zh-CN" sz="2800" b="1" i="0" u="none" strike="noStrike" kern="1200" cap="none" spc="0" normalizeH="0" baseline="-25000" noProof="0" smtClean="0">
                <a:ln>
                  <a:noFill/>
                </a:ln>
                <a:solidFill>
                  <a:srgbClr val="CC0000"/>
                </a:solidFill>
                <a:effectLst/>
                <a:uLnTx/>
                <a:uFillTx/>
                <a:latin typeface="Times New Roman" panose="02020603050405020304" pitchFamily="18" charset="0"/>
                <a:ea typeface="楷体_GB2312" pitchFamily="49" charset="-122"/>
                <a:cs typeface="+mn-cs"/>
              </a:rPr>
              <a:t>C</a:t>
            </a:r>
            <a:r>
              <a:rPr kumimoji="1" lang="en-US" altLang="zh-CN" sz="2800" b="1" i="0" u="none" strike="noStrike" kern="120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smtClean="0">
                <a:ln>
                  <a:noFill/>
                </a:ln>
                <a:solidFill>
                  <a:srgbClr val="CC0000"/>
                </a:solidFill>
                <a:effectLst/>
                <a:uLnTx/>
                <a:uFillTx/>
                <a:latin typeface="Times New Roman" panose="02020603050405020304" pitchFamily="18" charset="0"/>
                <a:ea typeface="楷体_GB2312" pitchFamily="49" charset="-122"/>
                <a:cs typeface="+mn-cs"/>
              </a:rPr>
              <a:t>U</a:t>
            </a:r>
            <a:r>
              <a:rPr kumimoji="1" lang="en-US" altLang="zh-CN" sz="2800" b="1" i="0" u="none" strike="noStrike" kern="1200" cap="none" spc="0" normalizeH="0" baseline="-25000" noProof="0" smtClean="0">
                <a:ln>
                  <a:noFill/>
                </a:ln>
                <a:solidFill>
                  <a:srgbClr val="CC0000"/>
                </a:solidFill>
                <a:effectLst/>
                <a:uLnTx/>
                <a:uFillTx/>
                <a:latin typeface="Times New Roman" panose="02020603050405020304" pitchFamily="18" charset="0"/>
                <a:ea typeface="楷体_GB2312" pitchFamily="49" charset="-122"/>
                <a:cs typeface="+mn-cs"/>
              </a:rPr>
              <a:t>CE</a:t>
            </a:r>
            <a:r>
              <a:rPr kumimoji="1" lang="en-US" altLang="zh-CN" sz="28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mn-cs"/>
              </a:rPr>
              <a:t> )</a:t>
            </a:r>
            <a:endParaRPr kumimoji="1" lang="en-US" altLang="zh-CN" sz="28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71685" name="Rectangle 5" descr="40%"/>
          <p:cNvSpPr/>
          <p:nvPr/>
        </p:nvSpPr>
        <p:spPr>
          <a:xfrm>
            <a:off x="787400" y="1057275"/>
            <a:ext cx="7770813" cy="547688"/>
          </a:xfrm>
          <a:prstGeom prst="rect">
            <a:avLst/>
          </a:prstGeom>
          <a:pattFill prst="pct40">
            <a:fgClr>
              <a:srgbClr val="FFCCCC"/>
            </a:fgClr>
            <a:bgClr>
              <a:srgbClr val="FFFFFF"/>
            </a:bgClr>
          </a:pattFill>
          <a:ln w="28575" cap="flat" cmpd="sng">
            <a:solidFill>
              <a:schemeClr val="accent2"/>
            </a:solidFill>
            <a:prstDash val="solid"/>
            <a:miter/>
            <a:headEnd type="none" w="med" len="med"/>
            <a:tailEnd type="none" w="med" len="med"/>
          </a:ln>
        </p:spPr>
        <p:txBody>
          <a:bodyPr wrap="none" anchor="t">
            <a:spAutoFit/>
          </a:bodyPr>
          <a:p>
            <a:pPr lvl="0" indent="0"/>
            <a:r>
              <a:rPr lang="zh-CN" altLang="en-US" sz="2800" b="1"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对直流信号电容 </a:t>
            </a:r>
            <a:r>
              <a:rPr lang="en-US" altLang="zh-CN" sz="2800" b="1" i="1"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C </a:t>
            </a:r>
            <a:r>
              <a:rPr lang="zh-CN" altLang="en-US" sz="2800" b="1"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可看作开路（即将电容断开）</a:t>
            </a:r>
            <a:endParaRPr lang="zh-CN" altLang="en-US" sz="2800" b="1" dirty="0">
              <a:solidFill>
                <a:schemeClr val="accent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1686" name="AutoShape 6"/>
          <p:cNvSpPr/>
          <p:nvPr/>
        </p:nvSpPr>
        <p:spPr>
          <a:xfrm>
            <a:off x="579438" y="2552700"/>
            <a:ext cx="1020762" cy="520700"/>
          </a:xfrm>
          <a:prstGeom prst="wedgeRoundRectCallout">
            <a:avLst>
              <a:gd name="adj1" fmla="val 57620"/>
              <a:gd name="adj2" fmla="val 129880"/>
              <a:gd name="adj3" fmla="val 16667"/>
            </a:avLst>
          </a:prstGeom>
          <a:noFill/>
          <a:ln w="28575" cap="flat" cmpd="sng">
            <a:solidFill>
              <a:srgbClr val="339933"/>
            </a:solidFill>
            <a:prstDash val="solid"/>
            <a:miter/>
            <a:headEnd type="none" w="med" len="med"/>
            <a:tailEnd type="none" w="med" len="med"/>
          </a:ln>
        </p:spPr>
        <p:txBody>
          <a:bodyPr anchor="ctr"/>
          <a:p>
            <a:pPr lvl="0" indent="0" algn="ctr"/>
            <a:r>
              <a:rPr lang="zh-CN" altLang="en-US" sz="2800" b="1" dirty="0">
                <a:solidFill>
                  <a:srgbClr val="006600"/>
                </a:solidFill>
                <a:latin typeface="Times New Roman" panose="02020603050405020304" pitchFamily="18" charset="0"/>
                <a:ea typeface="楷体_GB2312" pitchFamily="49" charset="-122"/>
              </a:rPr>
              <a:t>断开</a:t>
            </a:r>
            <a:endParaRPr lang="zh-CN" altLang="en-US" sz="2800" b="1" dirty="0">
              <a:solidFill>
                <a:srgbClr val="006600"/>
              </a:solidFill>
              <a:latin typeface="Times New Roman" panose="02020603050405020304" pitchFamily="18" charset="0"/>
              <a:ea typeface="楷体_GB2312" pitchFamily="49" charset="-122"/>
            </a:endParaRPr>
          </a:p>
        </p:txBody>
      </p:sp>
      <p:sp>
        <p:nvSpPr>
          <p:cNvPr id="71687" name="AutoShape 7"/>
          <p:cNvSpPr/>
          <p:nvPr/>
        </p:nvSpPr>
        <p:spPr>
          <a:xfrm>
            <a:off x="4005263" y="2022475"/>
            <a:ext cx="1023937" cy="557213"/>
          </a:xfrm>
          <a:prstGeom prst="wedgeRoundRectCallout">
            <a:avLst>
              <a:gd name="adj1" fmla="val -74495"/>
              <a:gd name="adj2" fmla="val 87037"/>
              <a:gd name="adj3" fmla="val 16667"/>
            </a:avLst>
          </a:prstGeom>
          <a:noFill/>
          <a:ln w="28575" cap="flat" cmpd="sng">
            <a:solidFill>
              <a:srgbClr val="339933"/>
            </a:solidFill>
            <a:prstDash val="solid"/>
            <a:miter/>
            <a:headEnd type="none" w="med" len="med"/>
            <a:tailEnd type="none" w="med" len="med"/>
          </a:ln>
        </p:spPr>
        <p:txBody>
          <a:bodyPr anchor="ctr"/>
          <a:p>
            <a:pPr lvl="0" indent="0" algn="ctr"/>
            <a:r>
              <a:rPr lang="zh-CN" altLang="en-US" sz="2800" b="1" dirty="0">
                <a:solidFill>
                  <a:srgbClr val="006600"/>
                </a:solidFill>
                <a:latin typeface="Times New Roman" panose="02020603050405020304" pitchFamily="18" charset="0"/>
                <a:ea typeface="楷体_GB2312" pitchFamily="49" charset="-122"/>
              </a:rPr>
              <a:t>断开</a:t>
            </a:r>
            <a:endParaRPr lang="zh-CN" altLang="en-US" sz="2800" b="1" dirty="0">
              <a:solidFill>
                <a:srgbClr val="006600"/>
              </a:solidFill>
              <a:latin typeface="Times New Roman" panose="02020603050405020304" pitchFamily="18" charset="0"/>
              <a:ea typeface="楷体_GB2312" pitchFamily="49" charset="-122"/>
            </a:endParaRPr>
          </a:p>
        </p:txBody>
      </p:sp>
      <p:sp>
        <p:nvSpPr>
          <p:cNvPr id="71691" name="AutoShape 11"/>
          <p:cNvSpPr>
            <a:spLocks noChangeArrowheads="1"/>
          </p:cNvSpPr>
          <p:nvPr/>
        </p:nvSpPr>
        <p:spPr bwMode="auto">
          <a:xfrm>
            <a:off x="5029200" y="3186113"/>
            <a:ext cx="838200" cy="457200"/>
          </a:xfrm>
          <a:prstGeom prst="notchedRightArrow">
            <a:avLst>
              <a:gd name="adj1" fmla="val 50000"/>
              <a:gd name="adj2" fmla="val 45833"/>
            </a:avLst>
          </a:prstGeom>
          <a:gradFill rotWithShape="0">
            <a:gsLst>
              <a:gs pos="0">
                <a:srgbClr val="FFFFCC"/>
              </a:gs>
              <a:gs pos="100000">
                <a:srgbClr val="FF3300"/>
              </a:gs>
            </a:gsLst>
            <a:lin ang="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71759" name="Group 79"/>
          <p:cNvGrpSpPr/>
          <p:nvPr/>
        </p:nvGrpSpPr>
        <p:grpSpPr>
          <a:xfrm>
            <a:off x="5638800" y="1789113"/>
            <a:ext cx="2976563" cy="3087687"/>
            <a:chOff x="3648" y="1031"/>
            <a:chExt cx="1875" cy="1945"/>
          </a:xfrm>
        </p:grpSpPr>
        <p:sp>
          <p:nvSpPr>
            <p:cNvPr id="43017" name="Rectangle 80"/>
            <p:cNvSpPr/>
            <p:nvPr/>
          </p:nvSpPr>
          <p:spPr>
            <a:xfrm>
              <a:off x="4977" y="1031"/>
              <a:ext cx="54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71761" name="Line 81"/>
            <p:cNvSpPr>
              <a:spLocks noChangeShapeType="1"/>
            </p:cNvSpPr>
            <p:nvPr/>
          </p:nvSpPr>
          <p:spPr bwMode="auto">
            <a:xfrm flipV="1">
              <a:off x="3987" y="1750"/>
              <a:ext cx="0" cy="4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62" name="Line 82"/>
            <p:cNvSpPr>
              <a:spLocks noChangeShapeType="1"/>
            </p:cNvSpPr>
            <p:nvPr/>
          </p:nvSpPr>
          <p:spPr bwMode="auto">
            <a:xfrm rot="16200000" flipH="1">
              <a:off x="3842" y="1295"/>
              <a:ext cx="290"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43020" name="Group 83"/>
            <p:cNvGrpSpPr/>
            <p:nvPr/>
          </p:nvGrpSpPr>
          <p:grpSpPr>
            <a:xfrm>
              <a:off x="4500" y="1966"/>
              <a:ext cx="156" cy="384"/>
              <a:chOff x="4500" y="2064"/>
              <a:chExt cx="156" cy="384"/>
            </a:xfrm>
          </p:grpSpPr>
          <p:sp>
            <p:nvSpPr>
              <p:cNvPr id="71764" name="Line 84"/>
              <p:cNvSpPr>
                <a:spLocks noChangeShapeType="1"/>
              </p:cNvSpPr>
              <p:nvPr/>
            </p:nvSpPr>
            <p:spPr bwMode="auto">
              <a:xfrm>
                <a:off x="4500" y="2088"/>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65" name="Line 85"/>
              <p:cNvSpPr>
                <a:spLocks noChangeShapeType="1"/>
              </p:cNvSpPr>
              <p:nvPr/>
            </p:nvSpPr>
            <p:spPr bwMode="auto">
              <a:xfrm>
                <a:off x="4500" y="2264"/>
                <a:ext cx="156" cy="184"/>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66" name="Line 86"/>
              <p:cNvSpPr>
                <a:spLocks noChangeShapeType="1"/>
              </p:cNvSpPr>
              <p:nvPr/>
            </p:nvSpPr>
            <p:spPr bwMode="auto">
              <a:xfrm flipV="1">
                <a:off x="450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1767" name="Line 87"/>
            <p:cNvSpPr>
              <a:spLocks noChangeShapeType="1"/>
            </p:cNvSpPr>
            <p:nvPr/>
          </p:nvSpPr>
          <p:spPr bwMode="auto">
            <a:xfrm>
              <a:off x="4642" y="2304"/>
              <a:ext cx="0" cy="67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25" name="Text Box 88"/>
            <p:cNvSpPr txBox="1"/>
            <p:nvPr/>
          </p:nvSpPr>
          <p:spPr>
            <a:xfrm>
              <a:off x="3648" y="1469"/>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1769" name="Rectangle 89"/>
            <p:cNvSpPr>
              <a:spLocks noChangeArrowheads="1"/>
            </p:cNvSpPr>
            <p:nvPr/>
          </p:nvSpPr>
          <p:spPr bwMode="auto">
            <a:xfrm>
              <a:off x="4593" y="1392"/>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70" name="Rectangle 90"/>
            <p:cNvSpPr>
              <a:spLocks noChangeArrowheads="1"/>
            </p:cNvSpPr>
            <p:nvPr/>
          </p:nvSpPr>
          <p:spPr bwMode="auto">
            <a:xfrm>
              <a:off x="3940" y="1440"/>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28" name="Text Box 91"/>
            <p:cNvSpPr txBox="1"/>
            <p:nvPr/>
          </p:nvSpPr>
          <p:spPr>
            <a:xfrm>
              <a:off x="4279" y="1298"/>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43029" name="Text Box 92"/>
            <p:cNvSpPr txBox="1"/>
            <p:nvPr/>
          </p:nvSpPr>
          <p:spPr>
            <a:xfrm>
              <a:off x="4535" y="1987"/>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71773" name="Line 93"/>
            <p:cNvSpPr>
              <a:spLocks noChangeShapeType="1"/>
            </p:cNvSpPr>
            <p:nvPr/>
          </p:nvSpPr>
          <p:spPr bwMode="auto">
            <a:xfrm flipV="1">
              <a:off x="3993" y="2137"/>
              <a:ext cx="50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31" name="Text Box 94"/>
            <p:cNvSpPr txBox="1"/>
            <p:nvPr/>
          </p:nvSpPr>
          <p:spPr>
            <a:xfrm>
              <a:off x="4277" y="2056"/>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43032" name="Text Box 95"/>
            <p:cNvSpPr txBox="1"/>
            <p:nvPr/>
          </p:nvSpPr>
          <p:spPr>
            <a:xfrm>
              <a:off x="4720" y="1805"/>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71776" name="Rectangle 96"/>
            <p:cNvSpPr>
              <a:spLocks noChangeArrowheads="1"/>
            </p:cNvSpPr>
            <p:nvPr/>
          </p:nvSpPr>
          <p:spPr bwMode="auto">
            <a:xfrm>
              <a:off x="4429" y="236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43034" name="Rectangle 97"/>
            <p:cNvSpPr/>
            <p:nvPr/>
          </p:nvSpPr>
          <p:spPr>
            <a:xfrm>
              <a:off x="4192" y="2211"/>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3035" name="Rectangle 98"/>
            <p:cNvSpPr/>
            <p:nvPr/>
          </p:nvSpPr>
          <p:spPr>
            <a:xfrm>
              <a:off x="4640" y="208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3036" name="Rectangle 99"/>
            <p:cNvSpPr/>
            <p:nvPr/>
          </p:nvSpPr>
          <p:spPr>
            <a:xfrm>
              <a:off x="4715" y="2268"/>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1780" name="Line 100"/>
            <p:cNvSpPr>
              <a:spLocks noChangeShapeType="1"/>
            </p:cNvSpPr>
            <p:nvPr/>
          </p:nvSpPr>
          <p:spPr bwMode="auto">
            <a:xfrm>
              <a:off x="4574" y="1674"/>
              <a:ext cx="2"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38" name="Rectangle 101"/>
            <p:cNvSpPr/>
            <p:nvPr/>
          </p:nvSpPr>
          <p:spPr>
            <a:xfrm>
              <a:off x="4222" y="163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1782" name="Line 102"/>
            <p:cNvSpPr>
              <a:spLocks noChangeShapeType="1"/>
            </p:cNvSpPr>
            <p:nvPr/>
          </p:nvSpPr>
          <p:spPr bwMode="auto">
            <a:xfrm>
              <a:off x="4100" y="2064"/>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40" name="Rectangle 103"/>
            <p:cNvSpPr/>
            <p:nvPr/>
          </p:nvSpPr>
          <p:spPr>
            <a:xfrm>
              <a:off x="3987" y="1776"/>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1784" name="Oval 104"/>
            <p:cNvSpPr>
              <a:spLocks noChangeArrowheads="1"/>
            </p:cNvSpPr>
            <p:nvPr/>
          </p:nvSpPr>
          <p:spPr bwMode="auto">
            <a:xfrm>
              <a:off x="4937" y="1142"/>
              <a:ext cx="56" cy="5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85" name="Line 105"/>
            <p:cNvSpPr>
              <a:spLocks noChangeShapeType="1"/>
            </p:cNvSpPr>
            <p:nvPr/>
          </p:nvSpPr>
          <p:spPr bwMode="auto">
            <a:xfrm>
              <a:off x="4552" y="2968"/>
              <a:ext cx="189" cy="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86" name="Line 106"/>
            <p:cNvSpPr>
              <a:spLocks noChangeShapeType="1"/>
            </p:cNvSpPr>
            <p:nvPr/>
          </p:nvSpPr>
          <p:spPr bwMode="auto">
            <a:xfrm>
              <a:off x="3984" y="1152"/>
              <a:ext cx="96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87" name="Line 107"/>
            <p:cNvSpPr>
              <a:spLocks noChangeShapeType="1"/>
            </p:cNvSpPr>
            <p:nvPr/>
          </p:nvSpPr>
          <p:spPr bwMode="auto">
            <a:xfrm>
              <a:off x="4633" y="1152"/>
              <a:ext cx="0"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88" name="Line 108"/>
            <p:cNvSpPr>
              <a:spLocks noChangeShapeType="1"/>
            </p:cNvSpPr>
            <p:nvPr/>
          </p:nvSpPr>
          <p:spPr bwMode="auto">
            <a:xfrm>
              <a:off x="4645" y="1693"/>
              <a:ext cx="0"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89" name="Line 109"/>
            <p:cNvSpPr>
              <a:spLocks noChangeShapeType="1"/>
            </p:cNvSpPr>
            <p:nvPr/>
          </p:nvSpPr>
          <p:spPr bwMode="auto">
            <a:xfrm>
              <a:off x="4720" y="2490"/>
              <a:ext cx="2"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47" name="Rectangle 110"/>
            <p:cNvSpPr/>
            <p:nvPr/>
          </p:nvSpPr>
          <p:spPr>
            <a:xfrm>
              <a:off x="4608" y="2496"/>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grpSp>
      <p:grpSp>
        <p:nvGrpSpPr>
          <p:cNvPr id="43048" name="Group 176"/>
          <p:cNvGrpSpPr/>
          <p:nvPr/>
        </p:nvGrpSpPr>
        <p:grpSpPr>
          <a:xfrm>
            <a:off x="533400" y="1600200"/>
            <a:ext cx="4583113" cy="3733800"/>
            <a:chOff x="336" y="1008"/>
            <a:chExt cx="2887" cy="2352"/>
          </a:xfrm>
        </p:grpSpPr>
        <p:sp>
          <p:nvSpPr>
            <p:cNvPr id="71792" name="Line 112"/>
            <p:cNvSpPr>
              <a:spLocks noChangeShapeType="1"/>
            </p:cNvSpPr>
            <p:nvPr/>
          </p:nvSpPr>
          <p:spPr bwMode="auto">
            <a:xfrm flipH="1" flipV="1">
              <a:off x="2024" y="1157"/>
              <a:ext cx="0" cy="17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93" name="Line 113"/>
            <p:cNvSpPr>
              <a:spLocks noChangeShapeType="1"/>
            </p:cNvSpPr>
            <p:nvPr/>
          </p:nvSpPr>
          <p:spPr bwMode="auto">
            <a:xfrm flipV="1">
              <a:off x="1392" y="1152"/>
              <a:ext cx="123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51" name="Rectangle 114"/>
            <p:cNvSpPr/>
            <p:nvPr/>
          </p:nvSpPr>
          <p:spPr>
            <a:xfrm>
              <a:off x="2592" y="1008"/>
              <a:ext cx="631"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43052" name="Text Box 115"/>
            <p:cNvSpPr txBox="1"/>
            <p:nvPr/>
          </p:nvSpPr>
          <p:spPr>
            <a:xfrm>
              <a:off x="336" y="2330"/>
              <a:ext cx="368"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43053" name="Text Box 116"/>
            <p:cNvSpPr txBox="1"/>
            <p:nvPr/>
          </p:nvSpPr>
          <p:spPr>
            <a:xfrm>
              <a:off x="378" y="2810"/>
              <a:ext cx="259" cy="288"/>
            </a:xfrm>
            <a:prstGeom prst="rect">
              <a:avLst/>
            </a:prstGeom>
            <a:noFill/>
            <a:ln w="38100">
              <a:noFill/>
            </a:ln>
          </p:spPr>
          <p:txBody>
            <a:bodyPr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1797" name="Line 117"/>
            <p:cNvSpPr>
              <a:spLocks noChangeShapeType="1"/>
            </p:cNvSpPr>
            <p:nvPr/>
          </p:nvSpPr>
          <p:spPr bwMode="auto">
            <a:xfrm flipV="1">
              <a:off x="1392" y="1885"/>
              <a:ext cx="0" cy="3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98" name="Line 118"/>
            <p:cNvSpPr>
              <a:spLocks noChangeShapeType="1"/>
            </p:cNvSpPr>
            <p:nvPr/>
          </p:nvSpPr>
          <p:spPr bwMode="auto">
            <a:xfrm rot="5400000">
              <a:off x="1176" y="1368"/>
              <a:ext cx="432"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799" name="Line 119"/>
            <p:cNvSpPr>
              <a:spLocks noChangeShapeType="1"/>
            </p:cNvSpPr>
            <p:nvPr/>
          </p:nvSpPr>
          <p:spPr bwMode="auto">
            <a:xfrm>
              <a:off x="1880" y="2096"/>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00" name="Line 120"/>
            <p:cNvSpPr>
              <a:spLocks noChangeShapeType="1"/>
            </p:cNvSpPr>
            <p:nvPr/>
          </p:nvSpPr>
          <p:spPr bwMode="auto">
            <a:xfrm rot="-266974">
              <a:off x="1882" y="2259"/>
              <a:ext cx="137" cy="139"/>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01" name="Line 121"/>
            <p:cNvSpPr>
              <a:spLocks noChangeShapeType="1"/>
            </p:cNvSpPr>
            <p:nvPr/>
          </p:nvSpPr>
          <p:spPr bwMode="auto">
            <a:xfrm flipV="1">
              <a:off x="188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02" name="Line 122"/>
            <p:cNvSpPr>
              <a:spLocks noChangeShapeType="1"/>
            </p:cNvSpPr>
            <p:nvPr/>
          </p:nvSpPr>
          <p:spPr bwMode="auto">
            <a:xfrm flipV="1">
              <a:off x="693" y="3198"/>
              <a:ext cx="199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60" name="Text Box 123"/>
            <p:cNvSpPr txBox="1"/>
            <p:nvPr/>
          </p:nvSpPr>
          <p:spPr>
            <a:xfrm>
              <a:off x="1056" y="1488"/>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1804" name="Rectangle 124"/>
            <p:cNvSpPr>
              <a:spLocks noChangeArrowheads="1"/>
            </p:cNvSpPr>
            <p:nvPr/>
          </p:nvSpPr>
          <p:spPr bwMode="auto">
            <a:xfrm>
              <a:off x="1973" y="1328"/>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05" name="Rectangle 125"/>
            <p:cNvSpPr>
              <a:spLocks noChangeArrowheads="1"/>
            </p:cNvSpPr>
            <p:nvPr/>
          </p:nvSpPr>
          <p:spPr bwMode="auto">
            <a:xfrm>
              <a:off x="1344" y="1584"/>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43063" name="Group 126"/>
            <p:cNvGrpSpPr/>
            <p:nvPr/>
          </p:nvGrpSpPr>
          <p:grpSpPr>
            <a:xfrm>
              <a:off x="1031" y="2106"/>
              <a:ext cx="67" cy="245"/>
              <a:chOff x="3454" y="2018"/>
              <a:chExt cx="96" cy="328"/>
            </a:xfrm>
          </p:grpSpPr>
          <p:sp>
            <p:nvSpPr>
              <p:cNvPr id="71807" name="Line 127"/>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08" name="Line 128"/>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1809" name="Line 129"/>
            <p:cNvSpPr>
              <a:spLocks noChangeShapeType="1"/>
            </p:cNvSpPr>
            <p:nvPr/>
          </p:nvSpPr>
          <p:spPr bwMode="auto">
            <a:xfrm flipV="1">
              <a:off x="693" y="2230"/>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43067" name="Group 130"/>
            <p:cNvGrpSpPr/>
            <p:nvPr/>
          </p:nvGrpSpPr>
          <p:grpSpPr>
            <a:xfrm flipH="1">
              <a:off x="2327" y="1681"/>
              <a:ext cx="67" cy="245"/>
              <a:chOff x="3454" y="2018"/>
              <a:chExt cx="96" cy="328"/>
            </a:xfrm>
          </p:grpSpPr>
          <p:sp>
            <p:nvSpPr>
              <p:cNvPr id="71811" name="Line 131"/>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12" name="Line 132"/>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1813" name="Line 133"/>
            <p:cNvSpPr>
              <a:spLocks noChangeShapeType="1"/>
            </p:cNvSpPr>
            <p:nvPr/>
          </p:nvSpPr>
          <p:spPr bwMode="auto">
            <a:xfrm flipH="1">
              <a:off x="2394" y="1788"/>
              <a:ext cx="29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14" name="Line 134"/>
            <p:cNvSpPr>
              <a:spLocks noChangeShapeType="1"/>
            </p:cNvSpPr>
            <p:nvPr/>
          </p:nvSpPr>
          <p:spPr bwMode="auto">
            <a:xfrm flipV="1">
              <a:off x="2016" y="1789"/>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72" name="Text Box 135"/>
            <p:cNvSpPr txBox="1"/>
            <p:nvPr/>
          </p:nvSpPr>
          <p:spPr>
            <a:xfrm>
              <a:off x="1659" y="1306"/>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43073" name="Text Box 136"/>
            <p:cNvSpPr txBox="1"/>
            <p:nvPr/>
          </p:nvSpPr>
          <p:spPr>
            <a:xfrm>
              <a:off x="935" y="1806"/>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43074" name="Text Box 137"/>
            <p:cNvSpPr txBox="1"/>
            <p:nvPr/>
          </p:nvSpPr>
          <p:spPr>
            <a:xfrm>
              <a:off x="2243" y="1423"/>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43075" name="Text Box 138"/>
            <p:cNvSpPr txBox="1"/>
            <p:nvPr/>
          </p:nvSpPr>
          <p:spPr>
            <a:xfrm>
              <a:off x="1920" y="2093"/>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43076" name="Text Box 139"/>
            <p:cNvSpPr txBox="1"/>
            <p:nvPr/>
          </p:nvSpPr>
          <p:spPr>
            <a:xfrm>
              <a:off x="1086" y="1993"/>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43077" name="Text Box 140"/>
            <p:cNvSpPr txBox="1"/>
            <p:nvPr/>
          </p:nvSpPr>
          <p:spPr>
            <a:xfrm>
              <a:off x="2142" y="155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71821" name="Line 141"/>
            <p:cNvSpPr>
              <a:spLocks noChangeShapeType="1"/>
            </p:cNvSpPr>
            <p:nvPr/>
          </p:nvSpPr>
          <p:spPr bwMode="auto">
            <a:xfrm>
              <a:off x="693" y="2652"/>
              <a:ext cx="0" cy="5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22" name="Rectangle 142"/>
            <p:cNvSpPr>
              <a:spLocks noChangeArrowheads="1"/>
            </p:cNvSpPr>
            <p:nvPr/>
          </p:nvSpPr>
          <p:spPr bwMode="auto">
            <a:xfrm>
              <a:off x="649" y="2355"/>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23" name="Oval 143"/>
            <p:cNvSpPr>
              <a:spLocks noChangeArrowheads="1"/>
            </p:cNvSpPr>
            <p:nvPr/>
          </p:nvSpPr>
          <p:spPr bwMode="auto">
            <a:xfrm>
              <a:off x="576" y="2876"/>
              <a:ext cx="227" cy="227"/>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81" name="Text Box 144"/>
            <p:cNvSpPr txBox="1"/>
            <p:nvPr/>
          </p:nvSpPr>
          <p:spPr>
            <a:xfrm>
              <a:off x="526" y="2644"/>
              <a:ext cx="222"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43082" name="Text Box 145"/>
            <p:cNvSpPr txBox="1"/>
            <p:nvPr/>
          </p:nvSpPr>
          <p:spPr>
            <a:xfrm>
              <a:off x="526" y="2990"/>
              <a:ext cx="134"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1826" name="Line 146"/>
            <p:cNvSpPr>
              <a:spLocks noChangeShapeType="1"/>
            </p:cNvSpPr>
            <p:nvPr/>
          </p:nvSpPr>
          <p:spPr bwMode="auto">
            <a:xfrm>
              <a:off x="2681" y="2695"/>
              <a:ext cx="0" cy="5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27" name="Rectangle 147"/>
            <p:cNvSpPr>
              <a:spLocks noChangeArrowheads="1"/>
            </p:cNvSpPr>
            <p:nvPr/>
          </p:nvSpPr>
          <p:spPr bwMode="auto">
            <a:xfrm>
              <a:off x="2632" y="2391"/>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85" name="Text Box 148"/>
            <p:cNvSpPr txBox="1"/>
            <p:nvPr/>
          </p:nvSpPr>
          <p:spPr>
            <a:xfrm>
              <a:off x="2356" y="2344"/>
              <a:ext cx="32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1829" name="Line 149"/>
            <p:cNvSpPr>
              <a:spLocks noChangeShapeType="1"/>
            </p:cNvSpPr>
            <p:nvPr/>
          </p:nvSpPr>
          <p:spPr bwMode="auto">
            <a:xfrm flipV="1">
              <a:off x="1091" y="2234"/>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87" name="Rectangle 150"/>
            <p:cNvSpPr/>
            <p:nvPr/>
          </p:nvSpPr>
          <p:spPr>
            <a:xfrm>
              <a:off x="720" y="2538"/>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3088" name="Rectangle 151"/>
            <p:cNvSpPr/>
            <p:nvPr/>
          </p:nvSpPr>
          <p:spPr>
            <a:xfrm>
              <a:off x="832" y="2216"/>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43089" name="Rectangle 152"/>
            <p:cNvSpPr/>
            <p:nvPr/>
          </p:nvSpPr>
          <p:spPr>
            <a:xfrm>
              <a:off x="836" y="2925"/>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43090" name="Rectangle 153"/>
            <p:cNvSpPr/>
            <p:nvPr/>
          </p:nvSpPr>
          <p:spPr>
            <a:xfrm>
              <a:off x="2713" y="2387"/>
              <a:ext cx="28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3091" name="Rectangle 154"/>
            <p:cNvSpPr/>
            <p:nvPr/>
          </p:nvSpPr>
          <p:spPr>
            <a:xfrm>
              <a:off x="2728" y="2160"/>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1835" name="Rectangle 155"/>
            <p:cNvSpPr>
              <a:spLocks noChangeArrowheads="1"/>
            </p:cNvSpPr>
            <p:nvPr/>
          </p:nvSpPr>
          <p:spPr bwMode="auto">
            <a:xfrm>
              <a:off x="2738" y="2667"/>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71836" name="Line 156"/>
            <p:cNvSpPr>
              <a:spLocks noChangeShapeType="1"/>
            </p:cNvSpPr>
            <p:nvPr/>
          </p:nvSpPr>
          <p:spPr bwMode="auto">
            <a:xfrm flipH="1">
              <a:off x="2681" y="1796"/>
              <a:ext cx="1" cy="5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094" name="Text Box 157"/>
            <p:cNvSpPr txBox="1"/>
            <p:nvPr/>
          </p:nvSpPr>
          <p:spPr>
            <a:xfrm>
              <a:off x="1657" y="2162"/>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43095" name="Text Box 158"/>
            <p:cNvSpPr txBox="1"/>
            <p:nvPr/>
          </p:nvSpPr>
          <p:spPr>
            <a:xfrm>
              <a:off x="2100" y="1813"/>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71839" name="Rectangle 159"/>
            <p:cNvSpPr>
              <a:spLocks noChangeArrowheads="1"/>
            </p:cNvSpPr>
            <p:nvPr/>
          </p:nvSpPr>
          <p:spPr bwMode="auto">
            <a:xfrm>
              <a:off x="1809" y="246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43097" name="Rectangle 160"/>
            <p:cNvSpPr/>
            <p:nvPr/>
          </p:nvSpPr>
          <p:spPr>
            <a:xfrm>
              <a:off x="1581" y="2304"/>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3098" name="Rectangle 161"/>
            <p:cNvSpPr/>
            <p:nvPr/>
          </p:nvSpPr>
          <p:spPr>
            <a:xfrm>
              <a:off x="2016" y="209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1842" name="Rectangle 162"/>
            <p:cNvSpPr>
              <a:spLocks noChangeArrowheads="1"/>
            </p:cNvSpPr>
            <p:nvPr/>
          </p:nvSpPr>
          <p:spPr bwMode="auto">
            <a:xfrm>
              <a:off x="2095" y="2374"/>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43100" name="Rectangle 163"/>
            <p:cNvSpPr/>
            <p:nvPr/>
          </p:nvSpPr>
          <p:spPr>
            <a:xfrm>
              <a:off x="1602" y="174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1844" name="Line 164"/>
            <p:cNvSpPr>
              <a:spLocks noChangeShapeType="1"/>
            </p:cNvSpPr>
            <p:nvPr/>
          </p:nvSpPr>
          <p:spPr bwMode="auto">
            <a:xfrm>
              <a:off x="1449" y="2175"/>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102" name="Rectangle 165"/>
            <p:cNvSpPr/>
            <p:nvPr/>
          </p:nvSpPr>
          <p:spPr>
            <a:xfrm>
              <a:off x="1343" y="188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1846" name="Line 166"/>
            <p:cNvSpPr>
              <a:spLocks noChangeShapeType="1"/>
            </p:cNvSpPr>
            <p:nvPr/>
          </p:nvSpPr>
          <p:spPr bwMode="auto">
            <a:xfrm>
              <a:off x="2079" y="2729"/>
              <a:ext cx="0"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104" name="Rectangle 167"/>
            <p:cNvSpPr/>
            <p:nvPr/>
          </p:nvSpPr>
          <p:spPr>
            <a:xfrm>
              <a:off x="1946" y="2683"/>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1848" name="Line 168"/>
            <p:cNvSpPr>
              <a:spLocks noChangeShapeType="1"/>
            </p:cNvSpPr>
            <p:nvPr/>
          </p:nvSpPr>
          <p:spPr bwMode="auto">
            <a:xfrm>
              <a:off x="2016" y="3168"/>
              <a:ext cx="0"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49" name="Line 169"/>
            <p:cNvSpPr>
              <a:spLocks noChangeShapeType="1"/>
            </p:cNvSpPr>
            <p:nvPr/>
          </p:nvSpPr>
          <p:spPr bwMode="auto">
            <a:xfrm>
              <a:off x="1920" y="3360"/>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50" name="Oval 170"/>
            <p:cNvSpPr>
              <a:spLocks noChangeArrowheads="1"/>
            </p:cNvSpPr>
            <p:nvPr/>
          </p:nvSpPr>
          <p:spPr bwMode="auto">
            <a:xfrm>
              <a:off x="1989" y="3168"/>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51" name="Line 171"/>
            <p:cNvSpPr>
              <a:spLocks noChangeShapeType="1"/>
            </p:cNvSpPr>
            <p:nvPr/>
          </p:nvSpPr>
          <p:spPr bwMode="auto">
            <a:xfrm>
              <a:off x="694" y="2225"/>
              <a:ext cx="0" cy="1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52" name="Line 172"/>
            <p:cNvSpPr>
              <a:spLocks noChangeShapeType="1"/>
            </p:cNvSpPr>
            <p:nvPr/>
          </p:nvSpPr>
          <p:spPr bwMode="auto">
            <a:xfrm>
              <a:off x="2016" y="1632"/>
              <a:ext cx="0" cy="4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53" name="Line 173"/>
            <p:cNvSpPr>
              <a:spLocks noChangeShapeType="1"/>
            </p:cNvSpPr>
            <p:nvPr/>
          </p:nvSpPr>
          <p:spPr bwMode="auto">
            <a:xfrm>
              <a:off x="2016" y="2377"/>
              <a:ext cx="0" cy="8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54" name="Line 174"/>
            <p:cNvSpPr>
              <a:spLocks noChangeShapeType="1"/>
            </p:cNvSpPr>
            <p:nvPr/>
          </p:nvSpPr>
          <p:spPr bwMode="auto">
            <a:xfrm>
              <a:off x="1968" y="1824"/>
              <a:ext cx="0" cy="24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855" name="Oval 175"/>
            <p:cNvSpPr>
              <a:spLocks noChangeArrowheads="1"/>
            </p:cNvSpPr>
            <p:nvPr/>
          </p:nvSpPr>
          <p:spPr bwMode="auto">
            <a:xfrm>
              <a:off x="2617" y="1129"/>
              <a:ext cx="48" cy="4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1685"/>
                                        </p:tgtEl>
                                        <p:attrNameLst>
                                          <p:attrName>style.visibility</p:attrName>
                                        </p:attrNameLst>
                                      </p:cBhvr>
                                      <p:to>
                                        <p:strVal val="visible"/>
                                      </p:to>
                                    </p:set>
                                    <p:animEffect transition="in" filter="box(out)">
                                      <p:cBhvr>
                                        <p:cTn id="7" dur="500"/>
                                        <p:tgtEl>
                                          <p:spTgt spid="71685"/>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1686"/>
                                        </p:tgtEl>
                                        <p:attrNameLst>
                                          <p:attrName>style.visibility</p:attrName>
                                        </p:attrNameLst>
                                      </p:cBhvr>
                                      <p:to>
                                        <p:strVal val="visible"/>
                                      </p:to>
                                    </p:set>
                                    <p:animEffect transition="in" filter="wipe(up)">
                                      <p:cBhvr>
                                        <p:cTn id="12" dur="500"/>
                                        <p:tgtEl>
                                          <p:spTgt spid="716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1687"/>
                                        </p:tgtEl>
                                        <p:attrNameLst>
                                          <p:attrName>style.visibility</p:attrName>
                                        </p:attrNameLst>
                                      </p:cBhvr>
                                      <p:to>
                                        <p:strVal val="visible"/>
                                      </p:to>
                                    </p:set>
                                    <p:animEffect transition="in" filter="wipe(up)">
                                      <p:cBhvr>
                                        <p:cTn id="17" dur="500"/>
                                        <p:tgtEl>
                                          <p:spTgt spid="7168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683"/>
                                        </p:tgtEl>
                                        <p:attrNameLst>
                                          <p:attrName>style.visibility</p:attrName>
                                        </p:attrNameLst>
                                      </p:cBhvr>
                                      <p:to>
                                        <p:strVal val="visible"/>
                                      </p:to>
                                    </p:set>
                                    <p:animEffect transition="in" filter="blinds(horizontal)">
                                      <p:cBhvr>
                                        <p:cTn id="22" dur="500"/>
                                        <p:tgtEl>
                                          <p:spTgt spid="716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691"/>
                                        </p:tgtEl>
                                        <p:attrNameLst>
                                          <p:attrName>style.visibility</p:attrName>
                                        </p:attrNameLst>
                                      </p:cBhvr>
                                      <p:to>
                                        <p:strVal val="visible"/>
                                      </p:to>
                                    </p:set>
                                    <p:animEffect transition="in" filter="wipe(left)">
                                      <p:cBhvr>
                                        <p:cTn id="27" dur="500"/>
                                        <p:tgtEl>
                                          <p:spTgt spid="71691"/>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71759"/>
                                        </p:tgtEl>
                                        <p:attrNameLst>
                                          <p:attrName>style.visibility</p:attrName>
                                        </p:attrNameLst>
                                      </p:cBhvr>
                                      <p:to>
                                        <p:strVal val="visible"/>
                                      </p:to>
                                    </p:set>
                                    <p:animEffect transition="in" filter="wipe(left)">
                                      <p:cBhvr>
                                        <p:cTn id="31" dur="500"/>
                                        <p:tgtEl>
                                          <p:spTgt spid="7175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5" fill="hold" grpId="0" nodeType="clickEffect">
                                  <p:stCondLst>
                                    <p:cond delay="0"/>
                                  </p:stCondLst>
                                  <p:childTnLst>
                                    <p:set>
                                      <p:cBhvr>
                                        <p:cTn id="35" dur="1" fill="hold">
                                          <p:stCondLst>
                                            <p:cond delay="0"/>
                                          </p:stCondLst>
                                        </p:cTn>
                                        <p:tgtEl>
                                          <p:spTgt spid="71684"/>
                                        </p:tgtEl>
                                        <p:attrNameLst>
                                          <p:attrName>style.visibility</p:attrName>
                                        </p:attrNameLst>
                                      </p:cBhvr>
                                      <p:to>
                                        <p:strVal val="visible"/>
                                      </p:to>
                                    </p:set>
                                    <p:animEffect transition="in" filter="blinds(vertical)">
                                      <p:cBhvr>
                                        <p:cTn id="36" dur="500"/>
                                        <p:tgtEl>
                                          <p:spTgt spid="7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ldLvl="0" animBg="1"/>
      <p:bldP spid="71684" grpId="0" bldLvl="0" animBg="1"/>
      <p:bldP spid="71685" grpId="0" bldLvl="0" animBg="1"/>
      <p:bldP spid="71686" grpId="0" bldLvl="0" animBg="1"/>
      <p:bldP spid="71687" grpId="0" bldLvl="0" animBg="1"/>
      <p:bldP spid="71691"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72757" name="Group 53"/>
          <p:cNvGrpSpPr/>
          <p:nvPr/>
        </p:nvGrpSpPr>
        <p:grpSpPr>
          <a:xfrm>
            <a:off x="3581400" y="4038600"/>
            <a:ext cx="5305425" cy="2362200"/>
            <a:chOff x="2256" y="2544"/>
            <a:chExt cx="3342" cy="1488"/>
          </a:xfrm>
        </p:grpSpPr>
        <p:grpSp>
          <p:nvGrpSpPr>
            <p:cNvPr id="44034" name="Group 54"/>
            <p:cNvGrpSpPr/>
            <p:nvPr/>
          </p:nvGrpSpPr>
          <p:grpSpPr>
            <a:xfrm>
              <a:off x="3985" y="3876"/>
              <a:ext cx="163" cy="156"/>
              <a:chOff x="2898" y="3648"/>
              <a:chExt cx="204" cy="240"/>
            </a:xfrm>
          </p:grpSpPr>
          <p:grpSp>
            <p:nvGrpSpPr>
              <p:cNvPr id="44035" name="Group 55"/>
              <p:cNvGrpSpPr/>
              <p:nvPr/>
            </p:nvGrpSpPr>
            <p:grpSpPr>
              <a:xfrm>
                <a:off x="2898" y="3684"/>
                <a:ext cx="204" cy="204"/>
                <a:chOff x="2898" y="3684"/>
                <a:chExt cx="204" cy="204"/>
              </a:xfrm>
            </p:grpSpPr>
            <p:sp>
              <p:nvSpPr>
                <p:cNvPr id="72760" name="Line 56"/>
                <p:cNvSpPr>
                  <a:spLocks noChangeShapeType="1"/>
                </p:cNvSpPr>
                <p:nvPr/>
              </p:nvSpPr>
              <p:spPr bwMode="auto">
                <a:xfrm>
                  <a:off x="3000" y="3684"/>
                  <a:ext cx="0" cy="20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61" name="Line 57"/>
                <p:cNvSpPr>
                  <a:spLocks noChangeShapeType="1"/>
                </p:cNvSpPr>
                <p:nvPr/>
              </p:nvSpPr>
              <p:spPr bwMode="auto">
                <a:xfrm>
                  <a:off x="2898" y="3876"/>
                  <a:ext cx="204" cy="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2762" name="Oval 58"/>
              <p:cNvSpPr>
                <a:spLocks noChangeArrowheads="1"/>
              </p:cNvSpPr>
              <p:nvPr/>
            </p:nvSpPr>
            <p:spPr bwMode="auto">
              <a:xfrm>
                <a:off x="2976" y="3648"/>
                <a:ext cx="47" cy="48"/>
              </a:xfrm>
              <a:prstGeom prst="ellipse">
                <a:avLst/>
              </a:prstGeom>
              <a:solidFill>
                <a:srgbClr val="006666"/>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2763" name="Line 59"/>
            <p:cNvSpPr>
              <a:spLocks noChangeShapeType="1"/>
            </p:cNvSpPr>
            <p:nvPr/>
          </p:nvSpPr>
          <p:spPr bwMode="auto">
            <a:xfrm flipV="1">
              <a:off x="4561" y="3397"/>
              <a:ext cx="0" cy="49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040" name="Text Box 60"/>
            <p:cNvSpPr txBox="1"/>
            <p:nvPr/>
          </p:nvSpPr>
          <p:spPr>
            <a:xfrm>
              <a:off x="3255" y="3176"/>
              <a:ext cx="653"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B</a:t>
              </a:r>
              <a:endParaRPr lang="en-US" altLang="zh-CN" sz="2800" b="1" baseline="-25000" dirty="0">
                <a:latin typeface="Times New Roman" panose="02020603050405020304" pitchFamily="18" charset="0"/>
                <a:ea typeface="楷体_GB2312" pitchFamily="49" charset="-122"/>
              </a:endParaRPr>
            </a:p>
          </p:txBody>
        </p:sp>
        <p:sp>
          <p:nvSpPr>
            <p:cNvPr id="72765" name="Line 61"/>
            <p:cNvSpPr>
              <a:spLocks noChangeShapeType="1"/>
            </p:cNvSpPr>
            <p:nvPr/>
          </p:nvSpPr>
          <p:spPr bwMode="auto">
            <a:xfrm>
              <a:off x="3370" y="2828"/>
              <a:ext cx="0" cy="33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66" name="Line 62"/>
            <p:cNvSpPr>
              <a:spLocks noChangeShapeType="1"/>
            </p:cNvSpPr>
            <p:nvPr/>
          </p:nvSpPr>
          <p:spPr bwMode="auto">
            <a:xfrm flipV="1">
              <a:off x="3370" y="3512"/>
              <a:ext cx="0" cy="38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67" name="Rectangle 63"/>
            <p:cNvSpPr>
              <a:spLocks noChangeArrowheads="1"/>
            </p:cNvSpPr>
            <p:nvPr/>
          </p:nvSpPr>
          <p:spPr bwMode="auto">
            <a:xfrm>
              <a:off x="3308" y="3166"/>
              <a:ext cx="105" cy="327"/>
            </a:xfrm>
            <a:prstGeom prst="rect">
              <a:avLst/>
            </a:prstGeom>
            <a:noFill/>
            <a:ln w="38100">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68" name="Line 64"/>
            <p:cNvSpPr>
              <a:spLocks noChangeShapeType="1"/>
            </p:cNvSpPr>
            <p:nvPr/>
          </p:nvSpPr>
          <p:spPr bwMode="auto">
            <a:xfrm flipV="1">
              <a:off x="2679" y="2821"/>
              <a:ext cx="1229" cy="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69" name="Line 65"/>
            <p:cNvSpPr>
              <a:spLocks noChangeShapeType="1"/>
            </p:cNvSpPr>
            <p:nvPr/>
          </p:nvSpPr>
          <p:spPr bwMode="auto">
            <a:xfrm>
              <a:off x="3903" y="2682"/>
              <a:ext cx="0" cy="288"/>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70" name="Line 66"/>
            <p:cNvSpPr>
              <a:spLocks noChangeShapeType="1"/>
            </p:cNvSpPr>
            <p:nvPr/>
          </p:nvSpPr>
          <p:spPr bwMode="auto">
            <a:xfrm>
              <a:off x="3903" y="2876"/>
              <a:ext cx="158" cy="148"/>
            </a:xfrm>
            <a:prstGeom prst="line">
              <a:avLst/>
            </a:prstGeom>
            <a:noFill/>
            <a:ln w="38100">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71" name="Line 67"/>
            <p:cNvSpPr>
              <a:spLocks noChangeShapeType="1"/>
            </p:cNvSpPr>
            <p:nvPr/>
          </p:nvSpPr>
          <p:spPr bwMode="auto">
            <a:xfrm flipV="1">
              <a:off x="3903" y="2640"/>
              <a:ext cx="158" cy="13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72" name="Line 68"/>
            <p:cNvSpPr>
              <a:spLocks noChangeShapeType="1"/>
            </p:cNvSpPr>
            <p:nvPr/>
          </p:nvSpPr>
          <p:spPr bwMode="auto">
            <a:xfrm>
              <a:off x="2679" y="3896"/>
              <a:ext cx="2458" cy="0"/>
            </a:xfrm>
            <a:prstGeom prst="line">
              <a:avLst/>
            </a:prstGeom>
            <a:noFill/>
            <a:ln w="381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73" name="Line 69"/>
            <p:cNvSpPr>
              <a:spLocks noChangeShapeType="1"/>
            </p:cNvSpPr>
            <p:nvPr/>
          </p:nvSpPr>
          <p:spPr bwMode="auto">
            <a:xfrm flipH="1" flipV="1">
              <a:off x="4061" y="2552"/>
              <a:ext cx="107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050" name="Text Box 70"/>
            <p:cNvSpPr txBox="1"/>
            <p:nvPr/>
          </p:nvSpPr>
          <p:spPr>
            <a:xfrm>
              <a:off x="4080" y="3080"/>
              <a:ext cx="484"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C</a:t>
              </a:r>
              <a:endParaRPr lang="en-US" altLang="zh-CN" sz="2800" b="1" baseline="-25000" dirty="0">
                <a:latin typeface="Times New Roman" panose="02020603050405020304" pitchFamily="18" charset="0"/>
                <a:ea typeface="楷体_GB2312" pitchFamily="49" charset="-122"/>
              </a:endParaRPr>
            </a:p>
          </p:txBody>
        </p:sp>
        <p:sp>
          <p:nvSpPr>
            <p:cNvPr id="72775" name="Line 71"/>
            <p:cNvSpPr>
              <a:spLocks noChangeShapeType="1"/>
            </p:cNvSpPr>
            <p:nvPr/>
          </p:nvSpPr>
          <p:spPr bwMode="auto">
            <a:xfrm>
              <a:off x="4561" y="2552"/>
              <a:ext cx="0" cy="53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76" name="Rectangle 72"/>
            <p:cNvSpPr>
              <a:spLocks noChangeArrowheads="1"/>
            </p:cNvSpPr>
            <p:nvPr/>
          </p:nvSpPr>
          <p:spPr bwMode="auto">
            <a:xfrm>
              <a:off x="4508" y="3085"/>
              <a:ext cx="106" cy="326"/>
            </a:xfrm>
            <a:prstGeom prst="rect">
              <a:avLst/>
            </a:prstGeom>
            <a:noFill/>
            <a:ln w="38100">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053" name="Text Box 73"/>
            <p:cNvSpPr txBox="1"/>
            <p:nvPr/>
          </p:nvSpPr>
          <p:spPr>
            <a:xfrm>
              <a:off x="2679" y="3172"/>
              <a:ext cx="461"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solidFill>
                    <a:schemeClr val="accent2"/>
                  </a:solidFill>
                  <a:latin typeface="Times New Roman" panose="02020603050405020304" pitchFamily="18" charset="0"/>
                  <a:ea typeface="楷体_GB2312" pitchFamily="49" charset="-122"/>
                </a:rPr>
                <a:t>u</a:t>
              </a:r>
              <a:r>
                <a:rPr lang="en-US" altLang="zh-CN" sz="2800" b="1" baseline="-25000" dirty="0">
                  <a:solidFill>
                    <a:schemeClr val="accent2"/>
                  </a:solidFill>
                  <a:latin typeface="Times New Roman" panose="02020603050405020304" pitchFamily="18" charset="0"/>
                  <a:ea typeface="楷体_GB2312" pitchFamily="49" charset="-122"/>
                </a:rPr>
                <a:t>i</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44054" name="Text Box 74"/>
            <p:cNvSpPr txBox="1"/>
            <p:nvPr/>
          </p:nvSpPr>
          <p:spPr>
            <a:xfrm>
              <a:off x="5060" y="3088"/>
              <a:ext cx="538"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2779" name="Line 75"/>
            <p:cNvSpPr>
              <a:spLocks noChangeShapeType="1"/>
            </p:cNvSpPr>
            <p:nvPr/>
          </p:nvSpPr>
          <p:spPr bwMode="auto">
            <a:xfrm flipH="1">
              <a:off x="5137" y="3435"/>
              <a:ext cx="0" cy="46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80" name="Line 76"/>
            <p:cNvSpPr>
              <a:spLocks noChangeShapeType="1"/>
            </p:cNvSpPr>
            <p:nvPr/>
          </p:nvSpPr>
          <p:spPr bwMode="auto">
            <a:xfrm flipH="1" flipV="1">
              <a:off x="5137" y="2552"/>
              <a:ext cx="0" cy="53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81" name="Rectangle 77"/>
            <p:cNvSpPr>
              <a:spLocks noChangeArrowheads="1"/>
            </p:cNvSpPr>
            <p:nvPr/>
          </p:nvSpPr>
          <p:spPr bwMode="auto">
            <a:xfrm>
              <a:off x="5079" y="3097"/>
              <a:ext cx="106" cy="314"/>
            </a:xfrm>
            <a:prstGeom prst="rect">
              <a:avLst/>
            </a:prstGeom>
            <a:noFill/>
            <a:ln w="38100">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058" name="Text Box 78"/>
            <p:cNvSpPr txBox="1"/>
            <p:nvPr/>
          </p:nvSpPr>
          <p:spPr>
            <a:xfrm>
              <a:off x="4656" y="3080"/>
              <a:ext cx="516"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L</a:t>
              </a:r>
              <a:endParaRPr lang="en-US" altLang="zh-CN" sz="2800" b="1" baseline="-25000" dirty="0">
                <a:latin typeface="Times New Roman" panose="02020603050405020304" pitchFamily="18" charset="0"/>
                <a:ea typeface="楷体_GB2312" pitchFamily="49" charset="-122"/>
              </a:endParaRPr>
            </a:p>
          </p:txBody>
        </p:sp>
        <p:sp>
          <p:nvSpPr>
            <p:cNvPr id="72783" name="Line 79"/>
            <p:cNvSpPr>
              <a:spLocks noChangeShapeType="1"/>
            </p:cNvSpPr>
            <p:nvPr/>
          </p:nvSpPr>
          <p:spPr bwMode="auto">
            <a:xfrm flipH="1">
              <a:off x="4061" y="3014"/>
              <a:ext cx="0" cy="92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84" name="Line 80"/>
            <p:cNvSpPr>
              <a:spLocks noChangeShapeType="1"/>
            </p:cNvSpPr>
            <p:nvPr/>
          </p:nvSpPr>
          <p:spPr bwMode="auto">
            <a:xfrm>
              <a:off x="2679" y="3282"/>
              <a:ext cx="0" cy="61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85" name="Oval 81" descr="新闻纸"/>
            <p:cNvSpPr>
              <a:spLocks noChangeArrowheads="1"/>
            </p:cNvSpPr>
            <p:nvPr/>
          </p:nvSpPr>
          <p:spPr bwMode="auto">
            <a:xfrm>
              <a:off x="2563" y="3525"/>
              <a:ext cx="218" cy="217"/>
            </a:xfrm>
            <a:prstGeom prst="ellipse">
              <a:avLst/>
            </a:prstGeom>
            <a:noFill/>
            <a:ln w="38100">
              <a:solidFill>
                <a:schemeClr val="tx1"/>
              </a:solidFill>
              <a:round/>
            </a:ln>
            <a:effectLst/>
            <a:extLst>
              <a:ext uri="{909E8E84-426E-40DD-AFC4-6F175D3DCCD1}">
                <a14:hiddenFill xmlns:a14="http://schemas.microsoft.com/office/drawing/2010/main">
                  <a:blipFill dpi="0" rotWithShape="0">
                    <a:blip r:embed="rId1"/>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86" name="Rectangle 82"/>
            <p:cNvSpPr>
              <a:spLocks noChangeArrowheads="1"/>
            </p:cNvSpPr>
            <p:nvPr/>
          </p:nvSpPr>
          <p:spPr bwMode="auto">
            <a:xfrm>
              <a:off x="2621" y="2974"/>
              <a:ext cx="106" cy="327"/>
            </a:xfrm>
            <a:prstGeom prst="rect">
              <a:avLst/>
            </a:prstGeom>
            <a:noFill/>
            <a:ln w="38100">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063" name="Text Box 83"/>
            <p:cNvSpPr txBox="1"/>
            <p:nvPr/>
          </p:nvSpPr>
          <p:spPr>
            <a:xfrm>
              <a:off x="2256" y="2957"/>
              <a:ext cx="444"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S</a:t>
              </a:r>
              <a:endParaRPr lang="en-US" altLang="zh-CN" sz="2800" b="1" baseline="-25000" dirty="0">
                <a:latin typeface="Times New Roman" panose="02020603050405020304" pitchFamily="18" charset="0"/>
                <a:ea typeface="楷体_GB2312" pitchFamily="49" charset="-122"/>
              </a:endParaRPr>
            </a:p>
          </p:txBody>
        </p:sp>
        <p:sp>
          <p:nvSpPr>
            <p:cNvPr id="44064" name="Rectangle 84" descr="新闻纸"/>
            <p:cNvSpPr/>
            <p:nvPr/>
          </p:nvSpPr>
          <p:spPr>
            <a:xfrm>
              <a:off x="2256" y="3417"/>
              <a:ext cx="423" cy="327"/>
            </a:xfrm>
            <a:prstGeom prst="rect">
              <a:avLst/>
            </a:prstGeom>
            <a:noFill/>
            <a:ln w="38100">
              <a:noFill/>
            </a:ln>
          </p:spPr>
          <p:txBody>
            <a:bodyPr lIns="90000" tIns="46800" rIns="90000" bIns="46800" anchor="ctr">
              <a:spAutoFit/>
            </a:bodyPr>
            <a:p>
              <a:pPr lvl="0" indent="0" algn="ctr">
                <a:spcBef>
                  <a:spcPct val="50000"/>
                </a:spcBef>
              </a:pPr>
              <a:r>
                <a:rPr lang="en-US" altLang="zh-CN" sz="2800" b="1" i="1" dirty="0">
                  <a:solidFill>
                    <a:schemeClr val="accent2"/>
                  </a:solidFill>
                  <a:latin typeface="Times New Roman" panose="02020603050405020304" pitchFamily="18" charset="0"/>
                  <a:ea typeface="楷体_GB2312" pitchFamily="49" charset="-122"/>
                </a:rPr>
                <a:t>e</a:t>
              </a:r>
              <a:r>
                <a:rPr lang="en-US" altLang="zh-CN" sz="2800" b="1" baseline="-25000" dirty="0">
                  <a:solidFill>
                    <a:schemeClr val="accent2"/>
                  </a:solidFill>
                  <a:latin typeface="Times New Roman" panose="02020603050405020304" pitchFamily="18" charset="0"/>
                  <a:ea typeface="楷体_GB2312" pitchFamily="49" charset="-122"/>
                </a:rPr>
                <a:t>s</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44065" name="Text Box 85"/>
            <p:cNvSpPr txBox="1"/>
            <p:nvPr/>
          </p:nvSpPr>
          <p:spPr>
            <a:xfrm>
              <a:off x="2815" y="2765"/>
              <a:ext cx="242" cy="327"/>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dirty="0">
                  <a:solidFill>
                    <a:srgbClr val="FF0000"/>
                  </a:solidFill>
                  <a:latin typeface="Times New Roman" panose="02020603050405020304" pitchFamily="18" charset="0"/>
                  <a:ea typeface="楷体_GB2312" pitchFamily="49" charset="-122"/>
                </a:rPr>
                <a:t>+</a:t>
              </a:r>
              <a:endParaRPr lang="en-US" altLang="zh-CN" sz="2800" b="1" dirty="0">
                <a:solidFill>
                  <a:srgbClr val="FF0000"/>
                </a:solidFill>
                <a:latin typeface="Times New Roman" panose="02020603050405020304" pitchFamily="18" charset="0"/>
                <a:ea typeface="楷体_GB2312" pitchFamily="49" charset="-122"/>
              </a:endParaRPr>
            </a:p>
          </p:txBody>
        </p:sp>
        <p:sp>
          <p:nvSpPr>
            <p:cNvPr id="44066" name="Text Box 86"/>
            <p:cNvSpPr txBox="1"/>
            <p:nvPr/>
          </p:nvSpPr>
          <p:spPr>
            <a:xfrm>
              <a:off x="2499" y="3295"/>
              <a:ext cx="242" cy="327"/>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dirty="0">
                  <a:solidFill>
                    <a:srgbClr val="FF0000"/>
                  </a:solidFill>
                  <a:latin typeface="Times New Roman" panose="02020603050405020304" pitchFamily="18" charset="0"/>
                  <a:ea typeface="楷体_GB2312" pitchFamily="49" charset="-122"/>
                </a:rPr>
                <a:t>+</a:t>
              </a:r>
              <a:endParaRPr lang="en-US" altLang="zh-CN" sz="2800" b="1" dirty="0">
                <a:solidFill>
                  <a:srgbClr val="FF0000"/>
                </a:solidFill>
                <a:latin typeface="Times New Roman" panose="02020603050405020304" pitchFamily="18" charset="0"/>
                <a:ea typeface="楷体_GB2312" pitchFamily="49" charset="-122"/>
              </a:endParaRPr>
            </a:p>
          </p:txBody>
        </p:sp>
        <p:sp>
          <p:nvSpPr>
            <p:cNvPr id="44067" name="Text Box 87"/>
            <p:cNvSpPr txBox="1"/>
            <p:nvPr/>
          </p:nvSpPr>
          <p:spPr>
            <a:xfrm>
              <a:off x="2794" y="3602"/>
              <a:ext cx="217" cy="327"/>
            </a:xfrm>
            <a:prstGeom prst="rect">
              <a:avLst/>
            </a:prstGeom>
            <a:noFill/>
            <a:ln w="38100">
              <a:noFill/>
            </a:ln>
          </p:spPr>
          <p:txBody>
            <a:bodyPr lIns="90000" tIns="46800" rIns="90000" bIns="46800" anchor="ctr">
              <a:spAutoFit/>
            </a:bodyPr>
            <a:p>
              <a:pPr lvl="0" indent="0" algn="ctr">
                <a:spcBef>
                  <a:spcPct val="50000"/>
                </a:spcBef>
              </a:pPr>
              <a:r>
                <a:rPr lang="en-US" altLang="zh-CN" sz="2800" b="1" dirty="0">
                  <a:solidFill>
                    <a:srgbClr val="FF0000"/>
                  </a:solidFill>
                  <a:latin typeface="Times New Roman" panose="02020603050405020304" pitchFamily="18" charset="0"/>
                  <a:ea typeface="楷体_GB2312" pitchFamily="49" charset="-122"/>
                </a:rPr>
                <a:t>–</a:t>
              </a:r>
              <a:endParaRPr lang="en-US" altLang="zh-CN" sz="2800" b="1" dirty="0">
                <a:solidFill>
                  <a:srgbClr val="FF0000"/>
                </a:solidFill>
                <a:latin typeface="Times New Roman" panose="02020603050405020304" pitchFamily="18" charset="0"/>
                <a:ea typeface="楷体_GB2312" pitchFamily="49" charset="-122"/>
              </a:endParaRPr>
            </a:p>
          </p:txBody>
        </p:sp>
        <p:sp>
          <p:nvSpPr>
            <p:cNvPr id="44068" name="Text Box 88"/>
            <p:cNvSpPr txBox="1"/>
            <p:nvPr/>
          </p:nvSpPr>
          <p:spPr>
            <a:xfrm>
              <a:off x="5214" y="2834"/>
              <a:ext cx="223" cy="327"/>
            </a:xfrm>
            <a:prstGeom prst="rect">
              <a:avLst/>
            </a:prstGeom>
            <a:noFill/>
            <a:ln w="38100">
              <a:noFill/>
            </a:ln>
          </p:spPr>
          <p:txBody>
            <a:bodyPr lIns="90000" tIns="46800" rIns="90000" bIns="46800" anchor="ctr">
              <a:spAutoFit/>
            </a:bodyPr>
            <a:p>
              <a:pPr lvl="0" indent="0" algn="ctr">
                <a:spcBef>
                  <a:spcPct val="50000"/>
                </a:spcBef>
              </a:pPr>
              <a:r>
                <a:rPr lang="en-US" altLang="zh-CN" sz="2800" b="1" dirty="0">
                  <a:solidFill>
                    <a:srgbClr val="FF0000"/>
                  </a:solidFill>
                  <a:latin typeface="Times New Roman" panose="02020603050405020304" pitchFamily="18" charset="0"/>
                  <a:ea typeface="楷体_GB2312" pitchFamily="49" charset="-122"/>
                </a:rPr>
                <a:t>+</a:t>
              </a:r>
              <a:endParaRPr lang="en-US" altLang="zh-CN" sz="2800" b="1" dirty="0">
                <a:solidFill>
                  <a:srgbClr val="FF0000"/>
                </a:solidFill>
                <a:latin typeface="Times New Roman" panose="02020603050405020304" pitchFamily="18" charset="0"/>
                <a:ea typeface="楷体_GB2312" pitchFamily="49" charset="-122"/>
              </a:endParaRPr>
            </a:p>
          </p:txBody>
        </p:sp>
        <p:sp>
          <p:nvSpPr>
            <p:cNvPr id="44069" name="Text Box 89"/>
            <p:cNvSpPr txBox="1"/>
            <p:nvPr/>
          </p:nvSpPr>
          <p:spPr>
            <a:xfrm>
              <a:off x="5192" y="3372"/>
              <a:ext cx="226" cy="327"/>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dirty="0">
                  <a:solidFill>
                    <a:srgbClr val="FF0000"/>
                  </a:solidFill>
                  <a:latin typeface="Times New Roman" panose="02020603050405020304" pitchFamily="18" charset="0"/>
                  <a:ea typeface="楷体_GB2312" pitchFamily="49" charset="-122"/>
                </a:rPr>
                <a:t>–</a:t>
              </a:r>
              <a:endParaRPr lang="en-US" altLang="zh-CN" sz="2800" b="1" dirty="0">
                <a:solidFill>
                  <a:srgbClr val="FF0000"/>
                </a:solidFill>
                <a:latin typeface="Times New Roman" panose="02020603050405020304" pitchFamily="18" charset="0"/>
                <a:ea typeface="楷体_GB2312" pitchFamily="49" charset="-122"/>
              </a:endParaRPr>
            </a:p>
          </p:txBody>
        </p:sp>
        <p:sp>
          <p:nvSpPr>
            <p:cNvPr id="44070" name="Text Box 90"/>
            <p:cNvSpPr txBox="1"/>
            <p:nvPr/>
          </p:nvSpPr>
          <p:spPr>
            <a:xfrm>
              <a:off x="2491" y="3640"/>
              <a:ext cx="226" cy="327"/>
            </a:xfrm>
            <a:prstGeom prst="rect">
              <a:avLst/>
            </a:prstGeom>
            <a:noFill/>
            <a:ln w="38100">
              <a:noFill/>
            </a:ln>
          </p:spPr>
          <p:txBody>
            <a:bodyPr wrap="none" lIns="90000" tIns="46800" rIns="90000" bIns="46800" anchor="ctr">
              <a:spAutoFit/>
            </a:bodyPr>
            <a:p>
              <a:pPr lvl="0" indent="0" algn="ctr">
                <a:spcBef>
                  <a:spcPct val="50000"/>
                </a:spcBef>
              </a:pPr>
              <a:r>
                <a:rPr lang="en-US" altLang="zh-CN" sz="2800" b="1" dirty="0">
                  <a:solidFill>
                    <a:srgbClr val="FF0000"/>
                  </a:solidFill>
                  <a:latin typeface="Times New Roman" panose="02020603050405020304" pitchFamily="18" charset="0"/>
                  <a:ea typeface="楷体_GB2312" pitchFamily="49" charset="-122"/>
                </a:rPr>
                <a:t>–</a:t>
              </a:r>
              <a:endParaRPr lang="en-US" altLang="zh-CN" sz="2800" b="1" dirty="0">
                <a:solidFill>
                  <a:srgbClr val="FF0000"/>
                </a:solidFill>
                <a:latin typeface="Times New Roman" panose="02020603050405020304" pitchFamily="18" charset="0"/>
                <a:ea typeface="楷体_GB2312" pitchFamily="49" charset="-122"/>
              </a:endParaRPr>
            </a:p>
          </p:txBody>
        </p:sp>
        <p:sp>
          <p:nvSpPr>
            <p:cNvPr id="72795" name="Line 91"/>
            <p:cNvSpPr>
              <a:spLocks noChangeShapeType="1"/>
            </p:cNvSpPr>
            <p:nvPr/>
          </p:nvSpPr>
          <p:spPr bwMode="auto">
            <a:xfrm>
              <a:off x="2679" y="2821"/>
              <a:ext cx="0" cy="153"/>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796" name="Line 92"/>
            <p:cNvSpPr>
              <a:spLocks noChangeShapeType="1"/>
            </p:cNvSpPr>
            <p:nvPr/>
          </p:nvSpPr>
          <p:spPr bwMode="auto">
            <a:xfrm>
              <a:off x="4069" y="2544"/>
              <a:ext cx="0" cy="10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2797" name="Text Box 93"/>
          <p:cNvSpPr txBox="1">
            <a:spLocks noChangeArrowheads="1"/>
          </p:cNvSpPr>
          <p:nvPr/>
        </p:nvSpPr>
        <p:spPr bwMode="auto">
          <a:xfrm>
            <a:off x="457200" y="242888"/>
            <a:ext cx="7848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对交流信号</a:t>
            </a:r>
            <a:r>
              <a:rPr kumimoji="1" lang="en-US" altLang="zh-CN"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有输入信号</a:t>
            </a:r>
            <a:r>
              <a:rPr kumimoji="1" lang="en-US" altLang="zh-CN" sz="28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u</a:t>
            </a:r>
            <a:r>
              <a:rPr kumimoji="1" lang="en-US" altLang="zh-CN" sz="2800" b="1" i="1" u="none" strike="noStrike" kern="1200" cap="none" spc="0" normalizeH="0" baseline="-2500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时的交流分量</a:t>
            </a:r>
            <a:r>
              <a:rPr kumimoji="1" lang="en-US" altLang="zh-CN"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a:t>
            </a:r>
            <a:endParaRPr kumimoji="1" lang="en-US" altLang="zh-CN"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72798" name="Text Box 94" descr="40%"/>
          <p:cNvSpPr txBox="1"/>
          <p:nvPr/>
        </p:nvSpPr>
        <p:spPr>
          <a:xfrm>
            <a:off x="5553075" y="877888"/>
            <a:ext cx="3482975" cy="2255837"/>
          </a:xfrm>
          <a:prstGeom prst="rect">
            <a:avLst/>
          </a:prstGeom>
          <a:pattFill prst="pct40">
            <a:fgClr>
              <a:srgbClr val="FFCC99"/>
            </a:fgClr>
            <a:bgClr>
              <a:srgbClr val="FFFFFF"/>
            </a:bgClr>
          </a:pattFill>
          <a:ln w="28575" cap="flat" cmpd="sng">
            <a:solidFill>
              <a:srgbClr val="006600"/>
            </a:solidFill>
            <a:prstDash val="solid"/>
            <a:miter/>
            <a:headEnd type="none" w="med" len="med"/>
            <a:tailEnd type="none" w="med" len="med"/>
          </a:ln>
        </p:spPr>
        <p:txBody>
          <a:bodyPr anchor="t">
            <a:spAutoFit/>
          </a:bodyPr>
          <a:p>
            <a:pPr lvl="0" indent="0">
              <a:spcBef>
                <a:spcPct val="20000"/>
              </a:spcBef>
            </a:pPr>
            <a:r>
              <a:rPr lang="en-US" altLang="zh-CN" sz="2800" b="1" i="1" dirty="0">
                <a:solidFill>
                  <a:srgbClr val="FF0000"/>
                </a:solidFill>
                <a:latin typeface="Times New Roman" panose="02020603050405020304" pitchFamily="18" charset="0"/>
                <a:ea typeface="宋体" panose="02010600030101010101" pitchFamily="2" charset="-122"/>
              </a:rPr>
              <a:t>    X</a:t>
            </a:r>
            <a:r>
              <a:rPr lang="en-US" altLang="zh-CN" sz="2800" b="1" i="1" baseline="-25000" dirty="0">
                <a:solidFill>
                  <a:srgbClr val="FF0000"/>
                </a:solidFill>
                <a:latin typeface="Times New Roman" panose="02020603050405020304" pitchFamily="18" charset="0"/>
                <a:ea typeface="宋体" panose="02010600030101010101" pitchFamily="2" charset="-122"/>
              </a:rPr>
              <a:t>C </a:t>
            </a:r>
            <a:r>
              <a:rPr lang="en-US" altLang="zh-CN" sz="28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 0</a:t>
            </a:r>
            <a:r>
              <a:rPr lang="zh-CN" altLang="en-US" sz="28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C </a:t>
            </a:r>
            <a:r>
              <a:rPr lang="zh-CN" altLang="en-US" sz="28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可看作短路。忽略电源的内阻，电源的端电压恒定，直流电源对交流可看作短路。</a:t>
            </a:r>
            <a:endParaRPr lang="zh-CN" altLang="en-US" sz="2800" b="1" dirty="0">
              <a:solidFill>
                <a:srgbClr val="FF0000"/>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72802" name="Group 98"/>
          <p:cNvGrpSpPr/>
          <p:nvPr/>
        </p:nvGrpSpPr>
        <p:grpSpPr>
          <a:xfrm>
            <a:off x="3429000" y="914400"/>
            <a:ext cx="1216025" cy="3238500"/>
            <a:chOff x="4116" y="912"/>
            <a:chExt cx="972" cy="2580"/>
          </a:xfrm>
        </p:grpSpPr>
        <p:sp>
          <p:nvSpPr>
            <p:cNvPr id="72803" name="Line 99"/>
            <p:cNvSpPr>
              <a:spLocks noChangeShapeType="1"/>
            </p:cNvSpPr>
            <p:nvPr/>
          </p:nvSpPr>
          <p:spPr bwMode="auto">
            <a:xfrm>
              <a:off x="4116" y="912"/>
              <a:ext cx="972"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04" name="Line 100"/>
            <p:cNvSpPr>
              <a:spLocks noChangeShapeType="1"/>
            </p:cNvSpPr>
            <p:nvPr/>
          </p:nvSpPr>
          <p:spPr bwMode="auto">
            <a:xfrm>
              <a:off x="5076" y="924"/>
              <a:ext cx="0" cy="2568"/>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05" name="Line 101"/>
            <p:cNvSpPr>
              <a:spLocks noChangeShapeType="1"/>
            </p:cNvSpPr>
            <p:nvPr/>
          </p:nvSpPr>
          <p:spPr bwMode="auto">
            <a:xfrm>
              <a:off x="4320" y="3492"/>
              <a:ext cx="768"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2806" name="AutoShape 102"/>
          <p:cNvSpPr/>
          <p:nvPr/>
        </p:nvSpPr>
        <p:spPr>
          <a:xfrm>
            <a:off x="1066800" y="2820988"/>
            <a:ext cx="1066800" cy="520700"/>
          </a:xfrm>
          <a:prstGeom prst="wedgeRoundRectCallout">
            <a:avLst>
              <a:gd name="adj1" fmla="val -43602"/>
              <a:gd name="adj2" fmla="val -87806"/>
              <a:gd name="adj3" fmla="val 16667"/>
            </a:avLst>
          </a:prstGeom>
          <a:noFill/>
          <a:ln w="28575" cap="flat" cmpd="sng">
            <a:solidFill>
              <a:schemeClr val="accent2"/>
            </a:solidFill>
            <a:prstDash val="solid"/>
            <a:miter/>
            <a:headEnd type="none" w="med" len="med"/>
            <a:tailEnd type="none" w="med" len="med"/>
          </a:ln>
        </p:spPr>
        <p:txBody>
          <a:bodyPr anchor="ctr"/>
          <a:p>
            <a:pPr lvl="0" indent="0" algn="ctr"/>
            <a:r>
              <a:rPr lang="zh-CN" altLang="en-US" sz="2800" b="1" dirty="0">
                <a:solidFill>
                  <a:srgbClr val="006600"/>
                </a:solidFill>
                <a:latin typeface="Times New Roman" panose="02020603050405020304" pitchFamily="18" charset="0"/>
                <a:ea typeface="楷体_GB2312" pitchFamily="49" charset="-122"/>
              </a:rPr>
              <a:t>短路</a:t>
            </a:r>
            <a:endParaRPr lang="zh-CN" altLang="en-US" sz="2800" b="1" dirty="0">
              <a:solidFill>
                <a:srgbClr val="006600"/>
              </a:solidFill>
              <a:latin typeface="Times New Roman" panose="02020603050405020304" pitchFamily="18" charset="0"/>
              <a:ea typeface="楷体_GB2312" pitchFamily="49" charset="-122"/>
            </a:endParaRPr>
          </a:p>
        </p:txBody>
      </p:sp>
      <p:sp>
        <p:nvSpPr>
          <p:cNvPr id="72807" name="AutoShape 103"/>
          <p:cNvSpPr/>
          <p:nvPr/>
        </p:nvSpPr>
        <p:spPr>
          <a:xfrm>
            <a:off x="3505200" y="2209800"/>
            <a:ext cx="1020763" cy="520700"/>
          </a:xfrm>
          <a:prstGeom prst="wedgeRoundRectCallout">
            <a:avLst>
              <a:gd name="adj1" fmla="val -79394"/>
              <a:gd name="adj2" fmla="val -98782"/>
              <a:gd name="adj3" fmla="val 16667"/>
            </a:avLst>
          </a:prstGeom>
          <a:noFill/>
          <a:ln w="28575" cap="flat" cmpd="sng">
            <a:solidFill>
              <a:schemeClr val="accent2"/>
            </a:solidFill>
            <a:prstDash val="solid"/>
            <a:miter/>
            <a:headEnd type="none" w="med" len="med"/>
            <a:tailEnd type="none" w="med" len="med"/>
          </a:ln>
        </p:spPr>
        <p:txBody>
          <a:bodyPr anchor="ctr"/>
          <a:p>
            <a:pPr lvl="0" indent="0" algn="ctr"/>
            <a:r>
              <a:rPr lang="zh-CN" altLang="en-US" sz="2800" b="1" dirty="0">
                <a:solidFill>
                  <a:srgbClr val="006600"/>
                </a:solidFill>
                <a:latin typeface="Times New Roman" panose="02020603050405020304" pitchFamily="18" charset="0"/>
                <a:ea typeface="楷体_GB2312" pitchFamily="49" charset="-122"/>
              </a:rPr>
              <a:t>短路</a:t>
            </a:r>
            <a:endParaRPr lang="zh-CN" altLang="en-US" sz="2800" b="1" dirty="0">
              <a:solidFill>
                <a:srgbClr val="006600"/>
              </a:solidFill>
              <a:latin typeface="Times New Roman" panose="02020603050405020304" pitchFamily="18" charset="0"/>
              <a:ea typeface="楷体_GB2312" pitchFamily="49" charset="-122"/>
            </a:endParaRPr>
          </a:p>
        </p:txBody>
      </p:sp>
      <p:sp>
        <p:nvSpPr>
          <p:cNvPr id="72808" name="AutoShape 104"/>
          <p:cNvSpPr/>
          <p:nvPr/>
        </p:nvSpPr>
        <p:spPr>
          <a:xfrm>
            <a:off x="3581400" y="1447800"/>
            <a:ext cx="1828800" cy="457200"/>
          </a:xfrm>
          <a:prstGeom prst="wedgeRoundRectCallout">
            <a:avLst>
              <a:gd name="adj1" fmla="val -32898"/>
              <a:gd name="adj2" fmla="val -153125"/>
              <a:gd name="adj3" fmla="val 16667"/>
            </a:avLst>
          </a:prstGeom>
          <a:noFill/>
          <a:ln w="28575" cap="flat" cmpd="sng">
            <a:solidFill>
              <a:schemeClr val="accent2"/>
            </a:solidFill>
            <a:prstDash val="solid"/>
            <a:miter/>
            <a:headEnd type="none" w="med" len="med"/>
            <a:tailEnd type="none" w="med" len="med"/>
          </a:ln>
        </p:spPr>
        <p:txBody>
          <a:bodyPr anchor="ctr"/>
          <a:p>
            <a:pPr lvl="0" indent="0" algn="ctr"/>
            <a:r>
              <a:rPr lang="zh-CN" altLang="en-US" sz="2800" b="1" dirty="0">
                <a:solidFill>
                  <a:srgbClr val="006600"/>
                </a:solidFill>
                <a:latin typeface="Times New Roman" panose="02020603050405020304" pitchFamily="18" charset="0"/>
                <a:ea typeface="楷体_GB2312" pitchFamily="49" charset="-122"/>
              </a:rPr>
              <a:t>对地短路</a:t>
            </a:r>
            <a:endParaRPr lang="zh-CN" altLang="en-US" sz="2800" b="1" dirty="0">
              <a:solidFill>
                <a:srgbClr val="006600"/>
              </a:solidFill>
              <a:latin typeface="Times New Roman" panose="02020603050405020304" pitchFamily="18" charset="0"/>
              <a:ea typeface="楷体_GB2312" pitchFamily="49" charset="-122"/>
            </a:endParaRPr>
          </a:p>
        </p:txBody>
      </p:sp>
      <p:sp>
        <p:nvSpPr>
          <p:cNvPr id="72809" name="Text Box 105" descr="40%"/>
          <p:cNvSpPr txBox="1">
            <a:spLocks noChangeArrowheads="1"/>
          </p:cNvSpPr>
          <p:nvPr/>
        </p:nvSpPr>
        <p:spPr bwMode="auto">
          <a:xfrm>
            <a:off x="5943600" y="3354388"/>
            <a:ext cx="2514600" cy="519113"/>
          </a:xfrm>
          <a:prstGeom prst="rect">
            <a:avLst/>
          </a:prstGeom>
          <a:noFill/>
          <a:ln>
            <a:noFill/>
          </a:ln>
          <a:effectLst/>
          <a:extLst>
            <a:ext uri="{909E8E84-426E-40DD-AFC4-6F175D3DCCD1}">
              <a14:hiddenFill xmlns:a14="http://schemas.microsoft.com/office/drawing/2010/main">
                <a:pattFill prst="pct40">
                  <a:fgClr>
                    <a:srgbClr val="FFCCCC"/>
                  </a:fgClr>
                  <a:bgClr>
                    <a:srgbClr val="FFFFFF"/>
                  </a:bgClr>
                </a:patt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交流通路</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72810" name="Rectangle 106" descr="40%"/>
          <p:cNvSpPr>
            <a:spLocks noChangeArrowheads="1"/>
          </p:cNvSpPr>
          <p:nvPr/>
        </p:nvSpPr>
        <p:spPr bwMode="auto">
          <a:xfrm>
            <a:off x="584200" y="4721225"/>
            <a:ext cx="2971800" cy="1798638"/>
          </a:xfrm>
          <a:prstGeom prst="rect">
            <a:avLst/>
          </a:prstGeom>
          <a:noFill/>
          <a:ln>
            <a:noFill/>
          </a:ln>
          <a:effectLst/>
          <a:extLst>
            <a:ext uri="{909E8E84-426E-40DD-AFC4-6F175D3DCCD1}">
              <a14:hiddenFill xmlns:a14="http://schemas.microsoft.com/office/drawing/2010/main">
                <a:pattFill prst="pct40">
                  <a:fgClr>
                    <a:srgbClr val="66FF66"/>
                  </a:fgClr>
                  <a:bgClr>
                    <a:srgbClr val="FFFFFF"/>
                  </a:bgClr>
                </a:pattFill>
              </a14:hiddenFill>
            </a:ext>
            <a:ext uri="{91240B29-F687-4F45-9708-019B960494DF}">
              <a14:hiddenLine xmlns:a14="http://schemas.microsoft.com/office/drawing/2010/main" w="9525">
                <a:solidFill>
                  <a:srgbClr val="66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用来计算电压放大倍数、输入电阻、输出电阻等动态参数。</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72811" name="AutoShape 107"/>
          <p:cNvSpPr>
            <a:spLocks noChangeArrowheads="1"/>
          </p:cNvSpPr>
          <p:nvPr/>
        </p:nvSpPr>
        <p:spPr bwMode="auto">
          <a:xfrm rot="2027997">
            <a:off x="5105400" y="3733800"/>
            <a:ext cx="838200" cy="457200"/>
          </a:xfrm>
          <a:prstGeom prst="notchedRightArrow">
            <a:avLst>
              <a:gd name="adj1" fmla="val 50000"/>
              <a:gd name="adj2" fmla="val 45833"/>
            </a:avLst>
          </a:prstGeom>
          <a:gradFill rotWithShape="0">
            <a:gsLst>
              <a:gs pos="0">
                <a:srgbClr val="FFFFCC"/>
              </a:gs>
              <a:gs pos="100000">
                <a:srgbClr val="FF3300"/>
              </a:gs>
            </a:gsLst>
            <a:lin ang="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44085" name="Group 108"/>
          <p:cNvGrpSpPr/>
          <p:nvPr/>
        </p:nvGrpSpPr>
        <p:grpSpPr>
          <a:xfrm>
            <a:off x="0" y="685800"/>
            <a:ext cx="4583113" cy="3733800"/>
            <a:chOff x="336" y="1008"/>
            <a:chExt cx="2887" cy="2352"/>
          </a:xfrm>
        </p:grpSpPr>
        <p:sp>
          <p:nvSpPr>
            <p:cNvPr id="72813" name="Line 109"/>
            <p:cNvSpPr>
              <a:spLocks noChangeShapeType="1"/>
            </p:cNvSpPr>
            <p:nvPr/>
          </p:nvSpPr>
          <p:spPr bwMode="auto">
            <a:xfrm flipH="1" flipV="1">
              <a:off x="2024" y="1157"/>
              <a:ext cx="0" cy="17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14" name="Line 110"/>
            <p:cNvSpPr>
              <a:spLocks noChangeShapeType="1"/>
            </p:cNvSpPr>
            <p:nvPr/>
          </p:nvSpPr>
          <p:spPr bwMode="auto">
            <a:xfrm flipV="1">
              <a:off x="1392" y="1152"/>
              <a:ext cx="123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088" name="Rectangle 111"/>
            <p:cNvSpPr/>
            <p:nvPr/>
          </p:nvSpPr>
          <p:spPr>
            <a:xfrm>
              <a:off x="2592" y="1008"/>
              <a:ext cx="631"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44089" name="Text Box 112"/>
            <p:cNvSpPr txBox="1"/>
            <p:nvPr/>
          </p:nvSpPr>
          <p:spPr>
            <a:xfrm>
              <a:off x="336" y="2330"/>
              <a:ext cx="368"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44090" name="Text Box 113"/>
            <p:cNvSpPr txBox="1"/>
            <p:nvPr/>
          </p:nvSpPr>
          <p:spPr>
            <a:xfrm>
              <a:off x="378" y="2810"/>
              <a:ext cx="259" cy="288"/>
            </a:xfrm>
            <a:prstGeom prst="rect">
              <a:avLst/>
            </a:prstGeom>
            <a:noFill/>
            <a:ln w="38100">
              <a:noFill/>
            </a:ln>
          </p:spPr>
          <p:txBody>
            <a:bodyPr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2818" name="Line 114"/>
            <p:cNvSpPr>
              <a:spLocks noChangeShapeType="1"/>
            </p:cNvSpPr>
            <p:nvPr/>
          </p:nvSpPr>
          <p:spPr bwMode="auto">
            <a:xfrm flipV="1">
              <a:off x="1392" y="1885"/>
              <a:ext cx="0" cy="3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19" name="Line 115"/>
            <p:cNvSpPr>
              <a:spLocks noChangeShapeType="1"/>
            </p:cNvSpPr>
            <p:nvPr/>
          </p:nvSpPr>
          <p:spPr bwMode="auto">
            <a:xfrm rot="5400000">
              <a:off x="1176" y="1368"/>
              <a:ext cx="432"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20" name="Line 116"/>
            <p:cNvSpPr>
              <a:spLocks noChangeShapeType="1"/>
            </p:cNvSpPr>
            <p:nvPr/>
          </p:nvSpPr>
          <p:spPr bwMode="auto">
            <a:xfrm>
              <a:off x="1880" y="2096"/>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21" name="Line 117"/>
            <p:cNvSpPr>
              <a:spLocks noChangeShapeType="1"/>
            </p:cNvSpPr>
            <p:nvPr/>
          </p:nvSpPr>
          <p:spPr bwMode="auto">
            <a:xfrm rot="-266974">
              <a:off x="1882" y="2259"/>
              <a:ext cx="137" cy="139"/>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22" name="Line 118"/>
            <p:cNvSpPr>
              <a:spLocks noChangeShapeType="1"/>
            </p:cNvSpPr>
            <p:nvPr/>
          </p:nvSpPr>
          <p:spPr bwMode="auto">
            <a:xfrm flipV="1">
              <a:off x="188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23" name="Line 119"/>
            <p:cNvSpPr>
              <a:spLocks noChangeShapeType="1"/>
            </p:cNvSpPr>
            <p:nvPr/>
          </p:nvSpPr>
          <p:spPr bwMode="auto">
            <a:xfrm flipV="1">
              <a:off x="693" y="3198"/>
              <a:ext cx="199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097" name="Text Box 120"/>
            <p:cNvSpPr txBox="1"/>
            <p:nvPr/>
          </p:nvSpPr>
          <p:spPr>
            <a:xfrm>
              <a:off x="1056" y="1488"/>
              <a:ext cx="328"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2825" name="Rectangle 121"/>
            <p:cNvSpPr>
              <a:spLocks noChangeArrowheads="1"/>
            </p:cNvSpPr>
            <p:nvPr/>
          </p:nvSpPr>
          <p:spPr bwMode="auto">
            <a:xfrm>
              <a:off x="1973" y="1328"/>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26" name="Rectangle 122"/>
            <p:cNvSpPr>
              <a:spLocks noChangeArrowheads="1"/>
            </p:cNvSpPr>
            <p:nvPr/>
          </p:nvSpPr>
          <p:spPr bwMode="auto">
            <a:xfrm>
              <a:off x="1344" y="1584"/>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44100" name="Group 123"/>
            <p:cNvGrpSpPr/>
            <p:nvPr/>
          </p:nvGrpSpPr>
          <p:grpSpPr>
            <a:xfrm>
              <a:off x="1031" y="2106"/>
              <a:ext cx="67" cy="245"/>
              <a:chOff x="3454" y="2018"/>
              <a:chExt cx="96" cy="328"/>
            </a:xfrm>
          </p:grpSpPr>
          <p:sp>
            <p:nvSpPr>
              <p:cNvPr id="72828" name="Line 124"/>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29" name="Line 125"/>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2830" name="Line 126"/>
            <p:cNvSpPr>
              <a:spLocks noChangeShapeType="1"/>
            </p:cNvSpPr>
            <p:nvPr/>
          </p:nvSpPr>
          <p:spPr bwMode="auto">
            <a:xfrm flipV="1">
              <a:off x="693" y="2230"/>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44104" name="Group 127"/>
            <p:cNvGrpSpPr/>
            <p:nvPr/>
          </p:nvGrpSpPr>
          <p:grpSpPr>
            <a:xfrm flipH="1">
              <a:off x="2327" y="1681"/>
              <a:ext cx="67" cy="245"/>
              <a:chOff x="3454" y="2018"/>
              <a:chExt cx="96" cy="328"/>
            </a:xfrm>
          </p:grpSpPr>
          <p:sp>
            <p:nvSpPr>
              <p:cNvPr id="72832" name="Line 128"/>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33" name="Line 129"/>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2834" name="Line 130"/>
            <p:cNvSpPr>
              <a:spLocks noChangeShapeType="1"/>
            </p:cNvSpPr>
            <p:nvPr/>
          </p:nvSpPr>
          <p:spPr bwMode="auto">
            <a:xfrm flipH="1">
              <a:off x="2394" y="1788"/>
              <a:ext cx="29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35" name="Line 131"/>
            <p:cNvSpPr>
              <a:spLocks noChangeShapeType="1"/>
            </p:cNvSpPr>
            <p:nvPr/>
          </p:nvSpPr>
          <p:spPr bwMode="auto">
            <a:xfrm flipV="1">
              <a:off x="2016" y="1789"/>
              <a:ext cx="31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109" name="Text Box 132"/>
            <p:cNvSpPr txBox="1"/>
            <p:nvPr/>
          </p:nvSpPr>
          <p:spPr>
            <a:xfrm>
              <a:off x="1659" y="1306"/>
              <a:ext cx="33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44110" name="Text Box 133"/>
            <p:cNvSpPr txBox="1"/>
            <p:nvPr/>
          </p:nvSpPr>
          <p:spPr>
            <a:xfrm>
              <a:off x="935" y="1806"/>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44111" name="Text Box 134"/>
            <p:cNvSpPr txBox="1"/>
            <p:nvPr/>
          </p:nvSpPr>
          <p:spPr>
            <a:xfrm>
              <a:off x="2243" y="1423"/>
              <a:ext cx="306"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44112" name="Text Box 135"/>
            <p:cNvSpPr txBox="1"/>
            <p:nvPr/>
          </p:nvSpPr>
          <p:spPr>
            <a:xfrm>
              <a:off x="1920" y="2093"/>
              <a:ext cx="242"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44113" name="Text Box 136"/>
            <p:cNvSpPr txBox="1"/>
            <p:nvPr/>
          </p:nvSpPr>
          <p:spPr>
            <a:xfrm>
              <a:off x="1086" y="1993"/>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44114" name="Text Box 137"/>
            <p:cNvSpPr txBox="1"/>
            <p:nvPr/>
          </p:nvSpPr>
          <p:spPr>
            <a:xfrm>
              <a:off x="2142" y="1551"/>
              <a:ext cx="367" cy="288"/>
            </a:xfrm>
            <a:prstGeom prst="rect">
              <a:avLst/>
            </a:prstGeom>
            <a:noFill/>
            <a:ln w="9525">
              <a:noFill/>
            </a:ln>
          </p:spPr>
          <p:txBody>
            <a:bodyPr anchor="t">
              <a:spAutoFit/>
            </a:bodyPr>
            <a:p>
              <a:pPr lvl="0" indent="0">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72842" name="Line 138"/>
            <p:cNvSpPr>
              <a:spLocks noChangeShapeType="1"/>
            </p:cNvSpPr>
            <p:nvPr/>
          </p:nvSpPr>
          <p:spPr bwMode="auto">
            <a:xfrm>
              <a:off x="693" y="2652"/>
              <a:ext cx="0" cy="5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43" name="Rectangle 139"/>
            <p:cNvSpPr>
              <a:spLocks noChangeArrowheads="1"/>
            </p:cNvSpPr>
            <p:nvPr/>
          </p:nvSpPr>
          <p:spPr bwMode="auto">
            <a:xfrm>
              <a:off x="649" y="2355"/>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44" name="Oval 140"/>
            <p:cNvSpPr>
              <a:spLocks noChangeArrowheads="1"/>
            </p:cNvSpPr>
            <p:nvPr/>
          </p:nvSpPr>
          <p:spPr bwMode="auto">
            <a:xfrm>
              <a:off x="576" y="2876"/>
              <a:ext cx="227" cy="227"/>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118" name="Text Box 141"/>
            <p:cNvSpPr txBox="1"/>
            <p:nvPr/>
          </p:nvSpPr>
          <p:spPr>
            <a:xfrm>
              <a:off x="526" y="2644"/>
              <a:ext cx="222"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44119" name="Text Box 142"/>
            <p:cNvSpPr txBox="1"/>
            <p:nvPr/>
          </p:nvSpPr>
          <p:spPr>
            <a:xfrm>
              <a:off x="526" y="2990"/>
              <a:ext cx="134" cy="288"/>
            </a:xfrm>
            <a:prstGeom prst="rect">
              <a:avLst/>
            </a:prstGeom>
            <a:noFill/>
            <a:ln w="38100">
              <a:noFill/>
            </a:ln>
          </p:spPr>
          <p:txBody>
            <a:bodyPr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2847" name="Line 143"/>
            <p:cNvSpPr>
              <a:spLocks noChangeShapeType="1"/>
            </p:cNvSpPr>
            <p:nvPr/>
          </p:nvSpPr>
          <p:spPr bwMode="auto">
            <a:xfrm>
              <a:off x="2681" y="2695"/>
              <a:ext cx="0" cy="5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48" name="Rectangle 144"/>
            <p:cNvSpPr>
              <a:spLocks noChangeArrowheads="1"/>
            </p:cNvSpPr>
            <p:nvPr/>
          </p:nvSpPr>
          <p:spPr bwMode="auto">
            <a:xfrm>
              <a:off x="2632" y="2391"/>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122" name="Text Box 145"/>
            <p:cNvSpPr txBox="1"/>
            <p:nvPr/>
          </p:nvSpPr>
          <p:spPr>
            <a:xfrm>
              <a:off x="2356" y="2344"/>
              <a:ext cx="32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2850" name="Line 146"/>
            <p:cNvSpPr>
              <a:spLocks noChangeShapeType="1"/>
            </p:cNvSpPr>
            <p:nvPr/>
          </p:nvSpPr>
          <p:spPr bwMode="auto">
            <a:xfrm flipV="1">
              <a:off x="1091" y="2234"/>
              <a:ext cx="7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124" name="Rectangle 147"/>
            <p:cNvSpPr/>
            <p:nvPr/>
          </p:nvSpPr>
          <p:spPr>
            <a:xfrm>
              <a:off x="720" y="2538"/>
              <a:ext cx="439"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4125" name="Rectangle 148"/>
            <p:cNvSpPr/>
            <p:nvPr/>
          </p:nvSpPr>
          <p:spPr>
            <a:xfrm>
              <a:off x="832" y="2216"/>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44126" name="Rectangle 149"/>
            <p:cNvSpPr/>
            <p:nvPr/>
          </p:nvSpPr>
          <p:spPr>
            <a:xfrm>
              <a:off x="836" y="2925"/>
              <a:ext cx="210"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44127" name="Rectangle 150"/>
            <p:cNvSpPr/>
            <p:nvPr/>
          </p:nvSpPr>
          <p:spPr>
            <a:xfrm>
              <a:off x="2713" y="2387"/>
              <a:ext cx="284" cy="288"/>
            </a:xfrm>
            <a:prstGeom prst="rect">
              <a:avLst/>
            </a:prstGeom>
            <a:noFill/>
            <a:ln w="38100">
              <a:noFill/>
            </a:ln>
          </p:spPr>
          <p:txBody>
            <a:bodyPr wrap="none"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4128" name="Rectangle 151"/>
            <p:cNvSpPr/>
            <p:nvPr/>
          </p:nvSpPr>
          <p:spPr>
            <a:xfrm>
              <a:off x="2728" y="2160"/>
              <a:ext cx="223" cy="288"/>
            </a:xfrm>
            <a:prstGeom prst="rect">
              <a:avLst/>
            </a:prstGeom>
            <a:noFill/>
            <a:ln w="38100">
              <a:noFill/>
            </a:ln>
          </p:spPr>
          <p:txBody>
            <a:bodyPr wrap="none" lIns="90000" tIns="46800" rIns="90000" bIns="46800" anchor="ctr">
              <a:spAutoFit/>
            </a:bodyPr>
            <a:p>
              <a:pPr lvl="0" indent="0"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2856" name="Rectangle 152"/>
            <p:cNvSpPr>
              <a:spLocks noChangeArrowheads="1"/>
            </p:cNvSpPr>
            <p:nvPr/>
          </p:nvSpPr>
          <p:spPr bwMode="auto">
            <a:xfrm>
              <a:off x="2738" y="2667"/>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72857" name="Line 153"/>
            <p:cNvSpPr>
              <a:spLocks noChangeShapeType="1"/>
            </p:cNvSpPr>
            <p:nvPr/>
          </p:nvSpPr>
          <p:spPr bwMode="auto">
            <a:xfrm flipH="1">
              <a:off x="2681" y="1796"/>
              <a:ext cx="1" cy="58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131" name="Text Box 154"/>
            <p:cNvSpPr txBox="1"/>
            <p:nvPr/>
          </p:nvSpPr>
          <p:spPr>
            <a:xfrm>
              <a:off x="1657" y="2162"/>
              <a:ext cx="367"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44132" name="Text Box 155"/>
            <p:cNvSpPr txBox="1"/>
            <p:nvPr/>
          </p:nvSpPr>
          <p:spPr>
            <a:xfrm>
              <a:off x="2100" y="1813"/>
              <a:ext cx="366" cy="288"/>
            </a:xfrm>
            <a:prstGeom prst="rect">
              <a:avLst/>
            </a:prstGeom>
            <a:noFill/>
            <a:ln w="9525">
              <a:noFill/>
            </a:ln>
          </p:spPr>
          <p:txBody>
            <a:bodyPr anchor="t">
              <a:spAutoFit/>
            </a:bodyPr>
            <a:p>
              <a:pPr lvl="0" indent="0">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72860" name="Rectangle 156"/>
            <p:cNvSpPr>
              <a:spLocks noChangeArrowheads="1"/>
            </p:cNvSpPr>
            <p:nvPr/>
          </p:nvSpPr>
          <p:spPr bwMode="auto">
            <a:xfrm>
              <a:off x="1809" y="246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lvl="0" algn="ctr" eaLnBrk="1" fontAlgn="base" hangingPunct="1"/>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44134" name="Rectangle 157"/>
            <p:cNvSpPr/>
            <p:nvPr/>
          </p:nvSpPr>
          <p:spPr>
            <a:xfrm>
              <a:off x="1581" y="2304"/>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44135" name="Rectangle 158"/>
            <p:cNvSpPr/>
            <p:nvPr/>
          </p:nvSpPr>
          <p:spPr>
            <a:xfrm>
              <a:off x="2016" y="209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2863" name="Rectangle 159"/>
            <p:cNvSpPr>
              <a:spLocks noChangeArrowheads="1"/>
            </p:cNvSpPr>
            <p:nvPr/>
          </p:nvSpPr>
          <p:spPr bwMode="auto">
            <a:xfrm>
              <a:off x="2095" y="2374"/>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lvl="0" algn="ctr" eaLnBrk="1" fontAlgn="base" hangingPunct="1">
                <a:spcBef>
                  <a:spcPct val="50000"/>
                </a:spcBef>
              </a:pPr>
              <a:r>
                <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ea"/>
                </a:rPr>
                <a:t>–</a:t>
              </a:r>
              <a:endParaRPr lang="en-US" altLang="zh-CN" b="1" strike="noStrike" noProof="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44137" name="Rectangle 160"/>
            <p:cNvSpPr/>
            <p:nvPr/>
          </p:nvSpPr>
          <p:spPr>
            <a:xfrm>
              <a:off x="1602" y="1742"/>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2865" name="Line 161"/>
            <p:cNvSpPr>
              <a:spLocks noChangeShapeType="1"/>
            </p:cNvSpPr>
            <p:nvPr/>
          </p:nvSpPr>
          <p:spPr bwMode="auto">
            <a:xfrm>
              <a:off x="1449" y="2175"/>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139" name="Rectangle 162"/>
            <p:cNvSpPr/>
            <p:nvPr/>
          </p:nvSpPr>
          <p:spPr>
            <a:xfrm>
              <a:off x="1343" y="1880"/>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2867" name="Line 163"/>
            <p:cNvSpPr>
              <a:spLocks noChangeShapeType="1"/>
            </p:cNvSpPr>
            <p:nvPr/>
          </p:nvSpPr>
          <p:spPr bwMode="auto">
            <a:xfrm>
              <a:off x="2079" y="2729"/>
              <a:ext cx="0"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141" name="Rectangle 164"/>
            <p:cNvSpPr/>
            <p:nvPr/>
          </p:nvSpPr>
          <p:spPr>
            <a:xfrm>
              <a:off x="1946" y="2683"/>
              <a:ext cx="483" cy="288"/>
            </a:xfrm>
            <a:prstGeom prst="rect">
              <a:avLst/>
            </a:prstGeom>
            <a:noFill/>
            <a:ln w="38100">
              <a:noFill/>
            </a:ln>
          </p:spPr>
          <p:txBody>
            <a:bodyPr lIns="90000" tIns="46800" rIns="90000" bIns="46800" anchor="ctr">
              <a:spAutoFit/>
            </a:bodyPr>
            <a:p>
              <a:pPr lvl="0" indent="0"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2869" name="Line 165"/>
            <p:cNvSpPr>
              <a:spLocks noChangeShapeType="1"/>
            </p:cNvSpPr>
            <p:nvPr/>
          </p:nvSpPr>
          <p:spPr bwMode="auto">
            <a:xfrm>
              <a:off x="2016" y="3168"/>
              <a:ext cx="0"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70" name="Line 166"/>
            <p:cNvSpPr>
              <a:spLocks noChangeShapeType="1"/>
            </p:cNvSpPr>
            <p:nvPr/>
          </p:nvSpPr>
          <p:spPr bwMode="auto">
            <a:xfrm>
              <a:off x="1920" y="3360"/>
              <a:ext cx="19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71" name="Oval 167"/>
            <p:cNvSpPr>
              <a:spLocks noChangeArrowheads="1"/>
            </p:cNvSpPr>
            <p:nvPr/>
          </p:nvSpPr>
          <p:spPr bwMode="auto">
            <a:xfrm>
              <a:off x="1989" y="3168"/>
              <a:ext cx="48" cy="48"/>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72" name="Line 168"/>
            <p:cNvSpPr>
              <a:spLocks noChangeShapeType="1"/>
            </p:cNvSpPr>
            <p:nvPr/>
          </p:nvSpPr>
          <p:spPr bwMode="auto">
            <a:xfrm>
              <a:off x="694" y="2225"/>
              <a:ext cx="0" cy="1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73" name="Line 169"/>
            <p:cNvSpPr>
              <a:spLocks noChangeShapeType="1"/>
            </p:cNvSpPr>
            <p:nvPr/>
          </p:nvSpPr>
          <p:spPr bwMode="auto">
            <a:xfrm>
              <a:off x="2016" y="1632"/>
              <a:ext cx="0" cy="4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74" name="Line 170"/>
            <p:cNvSpPr>
              <a:spLocks noChangeShapeType="1"/>
            </p:cNvSpPr>
            <p:nvPr/>
          </p:nvSpPr>
          <p:spPr bwMode="auto">
            <a:xfrm>
              <a:off x="2016" y="2377"/>
              <a:ext cx="0" cy="8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75" name="Line 171"/>
            <p:cNvSpPr>
              <a:spLocks noChangeShapeType="1"/>
            </p:cNvSpPr>
            <p:nvPr/>
          </p:nvSpPr>
          <p:spPr bwMode="auto">
            <a:xfrm>
              <a:off x="1968" y="1824"/>
              <a:ext cx="0" cy="24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876" name="Oval 172"/>
            <p:cNvSpPr>
              <a:spLocks noChangeArrowheads="1"/>
            </p:cNvSpPr>
            <p:nvPr/>
          </p:nvSpPr>
          <p:spPr bwMode="auto">
            <a:xfrm>
              <a:off x="2617" y="1129"/>
              <a:ext cx="48" cy="4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798"/>
                                        </p:tgtEl>
                                        <p:attrNameLst>
                                          <p:attrName>style.visibility</p:attrName>
                                        </p:attrNameLst>
                                      </p:cBhvr>
                                      <p:to>
                                        <p:strVal val="visible"/>
                                      </p:to>
                                    </p:set>
                                    <p:animEffect transition="in" filter="box(out)">
                                      <p:cBhvr>
                                        <p:cTn id="7" dur="500"/>
                                        <p:tgtEl>
                                          <p:spTgt spid="7279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2806"/>
                                        </p:tgtEl>
                                        <p:attrNameLst>
                                          <p:attrName>style.visibility</p:attrName>
                                        </p:attrNameLst>
                                      </p:cBhvr>
                                      <p:to>
                                        <p:strVal val="visible"/>
                                      </p:to>
                                    </p:set>
                                    <p:animEffect transition="in" filter="wipe(down)">
                                      <p:cBhvr>
                                        <p:cTn id="12" dur="500"/>
                                        <p:tgtEl>
                                          <p:spTgt spid="728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2807"/>
                                        </p:tgtEl>
                                        <p:attrNameLst>
                                          <p:attrName>style.visibility</p:attrName>
                                        </p:attrNameLst>
                                      </p:cBhvr>
                                      <p:to>
                                        <p:strVal val="visible"/>
                                      </p:to>
                                    </p:set>
                                    <p:animEffect transition="in" filter="wipe(down)">
                                      <p:cBhvr>
                                        <p:cTn id="17" dur="500"/>
                                        <p:tgtEl>
                                          <p:spTgt spid="728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2808"/>
                                        </p:tgtEl>
                                        <p:attrNameLst>
                                          <p:attrName>style.visibility</p:attrName>
                                        </p:attrNameLst>
                                      </p:cBhvr>
                                      <p:to>
                                        <p:strVal val="visible"/>
                                      </p:to>
                                    </p:set>
                                    <p:animEffect transition="in" filter="wipe(down)">
                                      <p:cBhvr>
                                        <p:cTn id="22" dur="500"/>
                                        <p:tgtEl>
                                          <p:spTgt spid="7280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72802"/>
                                        </p:tgtEl>
                                        <p:attrNameLst>
                                          <p:attrName>style.visibility</p:attrName>
                                        </p:attrNameLst>
                                      </p:cBhvr>
                                      <p:to>
                                        <p:strVal val="visible"/>
                                      </p:to>
                                    </p:set>
                                    <p:animEffect transition="in" filter="wipe(left)">
                                      <p:cBhvr>
                                        <p:cTn id="26" dur="500"/>
                                        <p:tgtEl>
                                          <p:spTgt spid="72802"/>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72811"/>
                                        </p:tgtEl>
                                        <p:attrNameLst>
                                          <p:attrName>style.visibility</p:attrName>
                                        </p:attrNameLst>
                                      </p:cBhvr>
                                      <p:to>
                                        <p:strVal val="visible"/>
                                      </p:to>
                                    </p:set>
                                    <p:animEffect transition="in" filter="strips(downRight)">
                                      <p:cBhvr>
                                        <p:cTn id="31" dur="500"/>
                                        <p:tgtEl>
                                          <p:spTgt spid="72811"/>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72809"/>
                                        </p:tgtEl>
                                        <p:attrNameLst>
                                          <p:attrName>style.visibility</p:attrName>
                                        </p:attrNameLst>
                                      </p:cBhvr>
                                      <p:to>
                                        <p:strVal val="visible"/>
                                      </p:to>
                                    </p:set>
                                    <p:animEffect transition="in" filter="wipe(left)">
                                      <p:cBhvr>
                                        <p:cTn id="35" dur="500"/>
                                        <p:tgtEl>
                                          <p:spTgt spid="7280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2757"/>
                                        </p:tgtEl>
                                        <p:attrNameLst>
                                          <p:attrName>style.visibility</p:attrName>
                                        </p:attrNameLst>
                                      </p:cBhvr>
                                      <p:to>
                                        <p:strVal val="visible"/>
                                      </p:to>
                                    </p:set>
                                    <p:animEffect transition="in" filter="wipe(left)">
                                      <p:cBhvr>
                                        <p:cTn id="40" dur="500"/>
                                        <p:tgtEl>
                                          <p:spTgt spid="7275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2810"/>
                                        </p:tgtEl>
                                        <p:attrNameLst>
                                          <p:attrName>style.visibility</p:attrName>
                                        </p:attrNameLst>
                                      </p:cBhvr>
                                      <p:to>
                                        <p:strVal val="visible"/>
                                      </p:to>
                                    </p:set>
                                    <p:animEffect transition="in" filter="wipe(left)">
                                      <p:cBhvr>
                                        <p:cTn id="45" dur="500"/>
                                        <p:tgtEl>
                                          <p:spTgt spid="72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98" grpId="0" bldLvl="0" animBg="1"/>
      <p:bldP spid="72806" grpId="0" bldLvl="0" animBg="1"/>
      <p:bldP spid="72807" grpId="0" bldLvl="0" animBg="1"/>
      <p:bldP spid="72808" grpId="0" bldLvl="0" animBg="1"/>
      <p:bldP spid="72809" grpId="0" bldLvl="0" animBg="1"/>
      <p:bldP spid="72810" grpId="0" bldLvl="0" animBg="1"/>
      <p:bldP spid="72811"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193" name="Rectangle 2"/>
          <p:cNvSpPr/>
          <p:nvPr>
            <p:ph type="ctrTitle"/>
          </p:nvPr>
        </p:nvSpPr>
        <p:spPr>
          <a:xfrm>
            <a:off x="363538" y="908050"/>
            <a:ext cx="4414837" cy="600075"/>
          </a:xfrm>
          <a:noFill/>
          <a:ln>
            <a:noFill/>
          </a:ln>
        </p:spPr>
        <p:txBody>
          <a:bodyPr wrap="square" lIns="91440" tIns="45720" rIns="91440" bIns="45720" anchor="t"/>
          <a:p>
            <a:pPr algn="l" eaLnBrk="1" hangingPunct="1"/>
            <a:r>
              <a:rPr lang="en-US" altLang="zh-CN" sz="2400" b="1" dirty="0">
                <a:solidFill>
                  <a:schemeClr val="accent2"/>
                </a:solidFill>
                <a:latin typeface="宋体" panose="02010600030101010101" pitchFamily="2" charset="-122"/>
              </a:rPr>
              <a:t>1.</a:t>
            </a:r>
            <a:r>
              <a:rPr lang="zh-CN" altLang="en-US" sz="2400" b="1" dirty="0">
                <a:solidFill>
                  <a:schemeClr val="accent2"/>
                </a:solidFill>
                <a:latin typeface="宋体" panose="02010600030101010101" pitchFamily="2" charset="-122"/>
              </a:rPr>
              <a:t>放大电路的</a:t>
            </a:r>
            <a:r>
              <a:rPr lang="zh-CN" altLang="en-US" sz="2400" b="1" dirty="0">
                <a:solidFill>
                  <a:schemeClr val="accent2"/>
                </a:solidFill>
                <a:latin typeface="黑体" panose="02010609060101010101" charset="-122"/>
                <a:ea typeface="黑体" panose="02010609060101010101" charset="-122"/>
              </a:rPr>
              <a:t>静态分析</a:t>
            </a:r>
            <a:endParaRPr lang="zh-CN" altLang="en-US" sz="2400" b="1" dirty="0">
              <a:solidFill>
                <a:schemeClr val="accent2"/>
              </a:solidFill>
              <a:latin typeface="黑体" panose="02010609060101010101" charset="-122"/>
              <a:ea typeface="黑体" panose="02010609060101010101" charset="-122"/>
            </a:endParaRPr>
          </a:p>
        </p:txBody>
      </p:sp>
      <p:sp>
        <p:nvSpPr>
          <p:cNvPr id="73731" name="Rectangle 3"/>
          <p:cNvSpPr>
            <a:spLocks noChangeArrowheads="1"/>
          </p:cNvSpPr>
          <p:nvPr/>
        </p:nvSpPr>
        <p:spPr bwMode="auto">
          <a:xfrm>
            <a:off x="552450" y="1365250"/>
            <a:ext cx="7346315" cy="4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10000"/>
              </a:lnSpc>
              <a:spcBef>
                <a:spcPct val="5000"/>
              </a:spcBef>
              <a:spcAft>
                <a:spcPct val="0"/>
              </a:spcAft>
              <a:buClrTx/>
              <a:buSzTx/>
              <a:buFontTx/>
              <a:buNone/>
              <a:defRPr/>
            </a:pPr>
            <a:r>
              <a:rPr kumimoji="1" lang="zh-CN" altLang="en-US" sz="24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静态：</a:t>
            </a:r>
            <a:r>
              <a:rPr kumimoji="1" lang="zh-CN" altLang="en-US" sz="24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放大电路无信号输入（</a:t>
            </a:r>
            <a:r>
              <a:rPr kumimoji="1" lang="en-US" altLang="zh-CN" sz="2400" b="1"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u</a:t>
            </a:r>
            <a:r>
              <a:rPr kumimoji="1" lang="en-US" altLang="zh-CN" sz="2400" b="1" i="0"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i</a:t>
            </a:r>
            <a:r>
              <a:rPr kumimoji="1" lang="en-US" altLang="zh-CN" sz="2400" b="1" i="1" u="none" strike="noStrike" kern="1200" cap="none" spc="0" normalizeH="0" baseline="-2500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1" lang="zh-CN" altLang="en-US" sz="24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）时的工作状态。</a:t>
            </a:r>
            <a:endParaRPr kumimoji="1" lang="zh-CN" altLang="en-US" sz="24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73732" name="Rectangle 4"/>
          <p:cNvSpPr>
            <a:spLocks noChangeArrowheads="1"/>
          </p:cNvSpPr>
          <p:nvPr/>
        </p:nvSpPr>
        <p:spPr bwMode="auto">
          <a:xfrm>
            <a:off x="533400" y="2894013"/>
            <a:ext cx="6584950" cy="1456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10000"/>
              </a:lnSpc>
              <a:spcBef>
                <a:spcPct val="20000"/>
              </a:spcBef>
              <a:spcAft>
                <a:spcPct val="0"/>
              </a:spcAft>
              <a:buClrTx/>
              <a:buSzTx/>
              <a:buFontTx/>
              <a:buNone/>
              <a:defRPr/>
            </a:pPr>
            <a:r>
              <a:rPr kumimoji="1" lang="zh-CN" altLang="en-US" sz="24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分析方法：</a:t>
            </a:r>
            <a:r>
              <a:rPr kumimoji="1" lang="zh-CN" altLang="en-US" sz="2400" b="1" i="0" u="none" strike="noStrike" kern="1200" cap="none" spc="0" normalizeH="0" baseline="0" noProof="0" smtClean="0">
                <a:ln>
                  <a:noFill/>
                </a:ln>
                <a:solidFill>
                  <a:schemeClr val="tx2"/>
                </a:solidFill>
                <a:effectLst/>
                <a:uLnTx/>
                <a:uFillTx/>
                <a:latin typeface="宋体" panose="02010600030101010101" pitchFamily="2" charset="-122"/>
                <a:ea typeface="宋体" panose="02010600030101010101" pitchFamily="2" charset="-122"/>
                <a:cs typeface="+mn-cs"/>
              </a:rPr>
              <a:t>估算法、图解法。</a:t>
            </a:r>
            <a:endParaRPr kumimoji="1" lang="zh-CN" altLang="en-US" sz="2400" b="1" i="0" u="none" strike="noStrike" kern="1200" cap="none" spc="0" normalizeH="0" baseline="0" noProof="0" smtClean="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10000"/>
              </a:lnSpc>
              <a:spcBef>
                <a:spcPct val="20000"/>
              </a:spcBef>
              <a:spcAft>
                <a:spcPct val="0"/>
              </a:spcAft>
              <a:buClrTx/>
              <a:buSzTx/>
              <a:buFontTx/>
              <a:buNone/>
              <a:defRPr/>
            </a:pPr>
            <a:r>
              <a:rPr kumimoji="1" lang="zh-CN" altLang="en-US" sz="24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分析对象：</a:t>
            </a:r>
            <a:r>
              <a:rPr kumimoji="1" lang="zh-CN" altLang="en-US" sz="24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各极电压电流的直流分量。</a:t>
            </a:r>
            <a:endParaRPr kumimoji="1" lang="zh-CN" altLang="en-US" sz="24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10000"/>
              </a:lnSpc>
              <a:spcBef>
                <a:spcPct val="20000"/>
              </a:spcBef>
              <a:spcAft>
                <a:spcPct val="0"/>
              </a:spcAft>
              <a:buClrTx/>
              <a:buSzTx/>
              <a:buFontTx/>
              <a:buNone/>
              <a:defRPr/>
            </a:pPr>
            <a:r>
              <a:rPr kumimoji="1" lang="zh-CN" altLang="en-US" sz="24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所用电路：</a:t>
            </a:r>
            <a:r>
              <a:rPr kumimoji="1" lang="zh-CN" altLang="en-US" sz="2400" b="1" i="0" u="none" strike="noStrike" kern="1200" cap="none" spc="0" normalizeH="0" baseline="0" noProof="0" smtClean="0">
                <a:ln>
                  <a:noFill/>
                </a:ln>
                <a:solidFill>
                  <a:schemeClr val="tx2"/>
                </a:solidFill>
                <a:effectLst/>
                <a:uLnTx/>
                <a:uFillTx/>
                <a:latin typeface="宋体" panose="02010600030101010101" pitchFamily="2" charset="-122"/>
                <a:ea typeface="宋体" panose="02010600030101010101" pitchFamily="2" charset="-122"/>
                <a:cs typeface="+mn-cs"/>
              </a:rPr>
              <a:t>放大电路的直流通路。</a:t>
            </a:r>
            <a:endParaRPr kumimoji="1" lang="zh-CN" altLang="en-US" sz="2400" b="1" i="0" u="none" strike="noStrike" kern="1200" cap="none" spc="0" normalizeH="0" baseline="0" noProof="0" smtClean="0">
              <a:ln>
                <a:noFill/>
              </a:ln>
              <a:solidFill>
                <a:schemeClr val="tx2"/>
              </a:solidFill>
              <a:effectLst/>
              <a:uLnTx/>
              <a:uFillTx/>
              <a:latin typeface="宋体" panose="02010600030101010101" pitchFamily="2" charset="-122"/>
              <a:ea typeface="宋体" panose="02010600030101010101" pitchFamily="2" charset="-122"/>
              <a:cs typeface="+mn-cs"/>
            </a:endParaRPr>
          </a:p>
        </p:txBody>
      </p:sp>
      <p:sp>
        <p:nvSpPr>
          <p:cNvPr id="73733" name="Rectangle 5"/>
          <p:cNvSpPr>
            <a:spLocks noChangeArrowheads="1"/>
          </p:cNvSpPr>
          <p:nvPr/>
        </p:nvSpPr>
        <p:spPr bwMode="auto">
          <a:xfrm>
            <a:off x="533400" y="4592638"/>
            <a:ext cx="8305800" cy="1344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10000"/>
              </a:lnSpc>
              <a:spcBef>
                <a:spcPct val="5000"/>
              </a:spcBef>
              <a:spcAft>
                <a:spcPct val="0"/>
              </a:spcAft>
              <a:buClrTx/>
              <a:buSzTx/>
              <a:buFontTx/>
              <a:buNone/>
              <a:defRPr/>
            </a:pPr>
            <a:r>
              <a:rPr kumimoji="1" lang="zh-CN" altLang="en-US" sz="24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设置</a:t>
            </a:r>
            <a:r>
              <a:rPr kumimoji="1" lang="en-US" altLang="zh-CN" sz="2400" b="1" i="1"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Q</a:t>
            </a:r>
            <a:r>
              <a:rPr kumimoji="1" lang="zh-CN" altLang="en-US" sz="24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点的目的：</a:t>
            </a:r>
            <a:endParaRPr kumimoji="1" lang="zh-CN" altLang="en-US" sz="24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10000"/>
              </a:lnSpc>
              <a:spcBef>
                <a:spcPct val="5000"/>
              </a:spcBef>
              <a:spcAft>
                <a:spcPct val="0"/>
              </a:spcAft>
              <a:buClrTx/>
              <a:buSzTx/>
              <a:buFontTx/>
              <a:buNone/>
              <a:defRPr/>
            </a:pPr>
            <a:r>
              <a:rPr kumimoji="1"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宋体" panose="02010600030101010101" pitchFamily="2" charset="-122"/>
              </a:rPr>
              <a:t>●</a:t>
            </a:r>
            <a:r>
              <a:rPr kumimoji="1" lang="en-US" altLang="zh-CN"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使放大电路的放大信号不失真；</a:t>
            </a:r>
            <a:endParaRPr kumimoji="1" lang="zh-CN" altLang="en-US"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10000"/>
              </a:lnSpc>
              <a:spcBef>
                <a:spcPct val="5000"/>
              </a:spcBef>
              <a:spcAft>
                <a:spcPct val="0"/>
              </a:spcAft>
              <a:buClrTx/>
              <a:buSzTx/>
              <a:buFontTx/>
              <a:buNone/>
              <a:defRPr/>
            </a:pPr>
            <a:r>
              <a:rPr kumimoji="1" lang="zh-CN" altLang="en-US"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r>
              <a:rPr kumimoji="1" lang="en-US" altLang="zh-CN"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宋体" panose="02010600030101010101" pitchFamily="2" charset="-122"/>
              </a:rPr>
              <a:t>●</a:t>
            </a:r>
            <a:r>
              <a:rPr kumimoji="1" lang="en-US" altLang="zh-CN"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r>
              <a:rPr kumimoji="1" lang="zh-CN" altLang="en-US"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使放大电路工作在较佳的工作状态，静态是动态的基础。</a:t>
            </a:r>
            <a:endParaRPr kumimoji="1" lang="zh-CN" altLang="en-US" sz="2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73734" name="Rectangle 6"/>
          <p:cNvSpPr/>
          <p:nvPr/>
        </p:nvSpPr>
        <p:spPr>
          <a:xfrm>
            <a:off x="2222500" y="2400300"/>
            <a:ext cx="5224780" cy="497205"/>
          </a:xfrm>
          <a:prstGeom prst="rect">
            <a:avLst/>
          </a:prstGeom>
          <a:noFill/>
          <a:ln w="9525">
            <a:noFill/>
          </a:ln>
        </p:spPr>
        <p:txBody>
          <a:bodyPr wrap="square" anchor="t">
            <a:spAutoFit/>
          </a:bodyPr>
          <a:p>
            <a:pPr>
              <a:lnSpc>
                <a:spcPct val="110000"/>
              </a:lnSpc>
              <a:spcBef>
                <a:spcPct val="20000"/>
              </a:spcBef>
            </a:pPr>
            <a:r>
              <a:rPr lang="en-US" altLang="zh-CN" sz="2400" b="1" dirty="0">
                <a:solidFill>
                  <a:schemeClr val="tx2"/>
                </a:solidFill>
                <a:latin typeface="Times New Roman" panose="02020603050405020304" pitchFamily="18" charset="0"/>
                <a:ea typeface="宋体" panose="02010600030101010101" pitchFamily="2" charset="-122"/>
              </a:rPr>
              <a:t>——</a:t>
            </a:r>
            <a:r>
              <a:rPr lang="zh-CN" altLang="en-US" sz="2400" b="1" dirty="0">
                <a:solidFill>
                  <a:schemeClr val="tx2"/>
                </a:solidFill>
                <a:latin typeface="宋体" panose="02010600030101010101" pitchFamily="2" charset="-122"/>
                <a:ea typeface="宋体" panose="02010600030101010101" pitchFamily="2" charset="-122"/>
              </a:rPr>
              <a:t>静态工作点</a:t>
            </a:r>
            <a:r>
              <a:rPr lang="en-US" altLang="zh-CN" sz="2400" b="1" i="1" dirty="0">
                <a:solidFill>
                  <a:schemeClr val="tx2"/>
                </a:solidFill>
                <a:latin typeface="Times New Roman" panose="02020603050405020304" pitchFamily="18" charset="0"/>
                <a:ea typeface="宋体" panose="02010600030101010101" pitchFamily="2" charset="-122"/>
              </a:rPr>
              <a:t>Q</a:t>
            </a:r>
            <a:r>
              <a:rPr lang="zh-CN" altLang="en-US" sz="2400" b="1" dirty="0">
                <a:solidFill>
                  <a:schemeClr val="tx2"/>
                </a:solidFill>
                <a:latin typeface="宋体" panose="02010600030101010101" pitchFamily="2" charset="-122"/>
                <a:ea typeface="宋体" panose="02010600030101010101" pitchFamily="2" charset="-122"/>
              </a:rPr>
              <a:t>：</a:t>
            </a:r>
            <a:r>
              <a:rPr lang="en-US" altLang="zh-CN" sz="2400" b="1" i="1" dirty="0">
                <a:solidFill>
                  <a:schemeClr val="tx2"/>
                </a:solidFill>
                <a:latin typeface="Times New Roman" panose="02020603050405020304" pitchFamily="18" charset="0"/>
                <a:ea typeface="宋体" panose="02010600030101010101" pitchFamily="2" charset="-122"/>
              </a:rPr>
              <a:t>I</a:t>
            </a:r>
            <a:r>
              <a:rPr lang="en-US" altLang="zh-CN" sz="2400" b="1" baseline="-25000" dirty="0">
                <a:solidFill>
                  <a:schemeClr val="tx2"/>
                </a:solidFill>
                <a:latin typeface="Times New Roman" panose="02020603050405020304" pitchFamily="18" charset="0"/>
                <a:ea typeface="宋体" panose="02010600030101010101" pitchFamily="2" charset="-122"/>
              </a:rPr>
              <a:t>B</a:t>
            </a:r>
            <a:r>
              <a:rPr lang="zh-CN" altLang="en-US" sz="2400" b="1" dirty="0">
                <a:solidFill>
                  <a:schemeClr val="tx2"/>
                </a:solidFill>
                <a:latin typeface="宋体" panose="02010600030101010101" pitchFamily="2" charset="-122"/>
                <a:ea typeface="宋体" panose="02010600030101010101" pitchFamily="2" charset="-122"/>
              </a:rPr>
              <a:t>、</a:t>
            </a:r>
            <a:r>
              <a:rPr lang="en-US" altLang="zh-CN" sz="2400" b="1" i="1" dirty="0">
                <a:solidFill>
                  <a:schemeClr val="tx2"/>
                </a:solidFill>
                <a:latin typeface="Times New Roman" panose="02020603050405020304" pitchFamily="18" charset="0"/>
                <a:ea typeface="宋体" panose="02010600030101010101" pitchFamily="2" charset="-122"/>
              </a:rPr>
              <a:t>I</a:t>
            </a:r>
            <a:r>
              <a:rPr lang="en-US" altLang="zh-CN" sz="2400" b="1" baseline="-25000" dirty="0">
                <a:solidFill>
                  <a:schemeClr val="tx2"/>
                </a:solidFill>
                <a:latin typeface="Times New Roman" panose="02020603050405020304" pitchFamily="18" charset="0"/>
                <a:ea typeface="宋体" panose="02010600030101010101" pitchFamily="2" charset="-122"/>
              </a:rPr>
              <a:t>C</a:t>
            </a:r>
            <a:r>
              <a:rPr lang="zh-CN" altLang="en-US" sz="2400" b="1" dirty="0">
                <a:solidFill>
                  <a:schemeClr val="tx2"/>
                </a:solidFill>
                <a:latin typeface="Times New Roman" panose="02020603050405020304" pitchFamily="18" charset="0"/>
                <a:ea typeface="宋体" panose="02010600030101010101" pitchFamily="2" charset="-122"/>
              </a:rPr>
              <a:t>、</a:t>
            </a:r>
            <a:r>
              <a:rPr lang="en-US" altLang="zh-CN" sz="2400" b="1" i="1" dirty="0">
                <a:solidFill>
                  <a:schemeClr val="tx2"/>
                </a:solidFill>
                <a:latin typeface="Times New Roman" panose="02020603050405020304" pitchFamily="18" charset="0"/>
                <a:ea typeface="宋体" panose="02010600030101010101" pitchFamily="2" charset="-122"/>
              </a:rPr>
              <a:t>U</a:t>
            </a:r>
            <a:r>
              <a:rPr lang="en-US" altLang="zh-CN" sz="2400" b="1" baseline="-25000" dirty="0">
                <a:solidFill>
                  <a:schemeClr val="tx2"/>
                </a:solidFill>
                <a:latin typeface="Times New Roman" panose="02020603050405020304" pitchFamily="18" charset="0"/>
                <a:ea typeface="宋体" panose="02010600030101010101" pitchFamily="2" charset="-122"/>
              </a:rPr>
              <a:t>CE</a:t>
            </a:r>
            <a:r>
              <a:rPr lang="en-US" altLang="zh-CN" sz="2400" b="1" baseline="-25000" dirty="0">
                <a:solidFill>
                  <a:schemeClr val="tx2"/>
                </a:solidFill>
                <a:latin typeface="宋体" panose="02010600030101010101" pitchFamily="2" charset="-122"/>
                <a:ea typeface="宋体" panose="02010600030101010101" pitchFamily="2" charset="-122"/>
              </a:rPr>
              <a:t> </a:t>
            </a:r>
            <a:r>
              <a:rPr lang="zh-CN" altLang="en-US" sz="2400" b="1" dirty="0">
                <a:solidFill>
                  <a:schemeClr val="tx2"/>
                </a:solidFill>
                <a:latin typeface="宋体" panose="02010600030101010101" pitchFamily="2" charset="-122"/>
                <a:ea typeface="宋体" panose="02010600030101010101" pitchFamily="2" charset="-122"/>
              </a:rPr>
              <a:t>。</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73735" name="Rectangle 7"/>
          <p:cNvSpPr/>
          <p:nvPr/>
        </p:nvSpPr>
        <p:spPr>
          <a:xfrm>
            <a:off x="594043" y="1880394"/>
            <a:ext cx="5076190" cy="498475"/>
          </a:xfrm>
          <a:prstGeom prst="rect">
            <a:avLst/>
          </a:prstGeom>
          <a:noFill/>
          <a:ln w="38100">
            <a:noFill/>
          </a:ln>
        </p:spPr>
        <p:txBody>
          <a:bodyPr wrap="none" lIns="90000" tIns="46800" rIns="90000" bIns="46800" anchor="ctr">
            <a:spAutoFit/>
          </a:bodyPr>
          <a:p>
            <a:pPr algn="ctr">
              <a:lnSpc>
                <a:spcPct val="110000"/>
              </a:lnSpc>
              <a:spcBef>
                <a:spcPct val="50000"/>
              </a:spcBef>
            </a:pPr>
            <a:r>
              <a:rPr lang="zh-CN" altLang="en-US" sz="2400" b="1" dirty="0">
                <a:solidFill>
                  <a:srgbClr val="CC0000"/>
                </a:solidFill>
                <a:latin typeface="宋体" panose="02010600030101010101" pitchFamily="2" charset="-122"/>
                <a:ea typeface="宋体" panose="02010600030101010101" pitchFamily="2" charset="-122"/>
              </a:rPr>
              <a:t>静态分析：</a:t>
            </a:r>
            <a:r>
              <a:rPr lang="zh-CN" altLang="en-US" sz="2400" b="1" dirty="0">
                <a:latin typeface="宋体" panose="02010600030101010101" pitchFamily="2" charset="-122"/>
                <a:ea typeface="宋体" panose="02010600030101010101" pitchFamily="2" charset="-122"/>
              </a:rPr>
              <a:t>确定放大电路的静态值。</a:t>
            </a:r>
            <a:endParaRPr lang="zh-CN" altLang="en-US" sz="2400" b="1" dirty="0">
              <a:latin typeface="宋体" panose="02010600030101010101" pitchFamily="2" charset="-122"/>
              <a:ea typeface="宋体" panose="02010600030101010101" pitchFamily="2" charset="-122"/>
            </a:endParaRPr>
          </a:p>
        </p:txBody>
      </p:sp>
      <p:sp>
        <p:nvSpPr>
          <p:cNvPr id="2" name="文本框 1"/>
          <p:cNvSpPr txBox="1"/>
          <p:nvPr/>
        </p:nvSpPr>
        <p:spPr>
          <a:xfrm>
            <a:off x="95250" y="366713"/>
            <a:ext cx="6510338" cy="521970"/>
          </a:xfrm>
          <a:prstGeom prst="rect">
            <a:avLst/>
          </a:prstGeom>
          <a:noFill/>
        </p:spPr>
        <p:txBody>
          <a:bodyPr wrap="square" rtlCol="0">
            <a:spAutoFit/>
          </a:bodyPr>
          <a:p>
            <a:r>
              <a:rPr lang="zh-CN" altLang="en-US" sz="2800" b="1" noProof="1">
                <a:latin typeface="Times New Roman" panose="02020603050405020304" pitchFamily="18" charset="0"/>
                <a:ea typeface="宋体" panose="02010600030101010101" pitchFamily="2" charset="-122"/>
                <a:cs typeface="+mn-ea"/>
              </a:rPr>
              <a:t>（二）</a:t>
            </a:r>
            <a:r>
              <a:rPr kumimoji="1" lang="zh-CN" altLang="en-US" sz="2800" b="1"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mn-ea"/>
              </a:rPr>
              <a:t>共发射极放大电路的</a:t>
            </a:r>
            <a:r>
              <a:rPr kumimoji="1" lang="zh-CN" altLang="en-US" sz="2800" b="1" noProof="0" smtClean="0">
                <a:effectLst>
                  <a:outerShdw blurRad="38100" dist="38100" dir="2700000" algn="tl">
                    <a:srgbClr val="C0C0C0"/>
                  </a:outerShdw>
                </a:effectLst>
                <a:latin typeface="黑体" panose="02010609060101010101" charset="-122"/>
                <a:ea typeface="黑体" panose="02010609060101010101" charset="-122"/>
                <a:cs typeface="+mn-cs"/>
                <a:sym typeface="+mn-ea"/>
              </a:rPr>
              <a:t>定量分析</a:t>
            </a:r>
            <a:endParaRPr lang="zh-CN" altLang="en-US" sz="2800"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blinds(vertical)">
                                      <p:cBhvr>
                                        <p:cTn id="7" dur="500"/>
                                        <p:tgtEl>
                                          <p:spTgt spid="737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35"/>
                                        </p:tgtEl>
                                        <p:attrNameLst>
                                          <p:attrName>style.visibility</p:attrName>
                                        </p:attrNameLst>
                                      </p:cBhvr>
                                      <p:to>
                                        <p:strVal val="visible"/>
                                      </p:to>
                                    </p:set>
                                    <p:animEffect transition="in" filter="wipe(left)">
                                      <p:cBhvr>
                                        <p:cTn id="12" dur="500"/>
                                        <p:tgtEl>
                                          <p:spTgt spid="737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73734">
                                            <p:txEl>
                                              <p:charRg st="0" end="21"/>
                                            </p:txEl>
                                          </p:spTgt>
                                        </p:tgtEl>
                                        <p:attrNameLst>
                                          <p:attrName>style.visibility</p:attrName>
                                        </p:attrNameLst>
                                      </p:cBhvr>
                                      <p:to>
                                        <p:strVal val="visible"/>
                                      </p:to>
                                    </p:set>
                                    <p:animEffect transition="in" filter="blinds(vertical)">
                                      <p:cBhvr>
                                        <p:cTn id="17" dur="500"/>
                                        <p:tgtEl>
                                          <p:spTgt spid="73734">
                                            <p:txEl>
                                              <p:charRg st="0" end="2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73732"/>
                                        </p:tgtEl>
                                        <p:attrNameLst>
                                          <p:attrName>style.visibility</p:attrName>
                                        </p:attrNameLst>
                                      </p:cBhvr>
                                      <p:to>
                                        <p:strVal val="visible"/>
                                      </p:to>
                                    </p:set>
                                    <p:animEffect transition="in" filter="blinds(vertical)">
                                      <p:cBhvr>
                                        <p:cTn id="22" dur="500"/>
                                        <p:tgtEl>
                                          <p:spTgt spid="7373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73732">
                                            <p:txEl>
                                              <p:charRg st="0" end="14"/>
                                            </p:txEl>
                                          </p:spTgt>
                                        </p:tgtEl>
                                        <p:attrNameLst>
                                          <p:attrName>style.visibility</p:attrName>
                                        </p:attrNameLst>
                                      </p:cBhvr>
                                      <p:to>
                                        <p:strVal val="visible"/>
                                      </p:to>
                                    </p:set>
                                    <p:animEffect transition="in" filter="blinds(vertical)">
                                      <p:cBhvr>
                                        <p:cTn id="27" dur="500"/>
                                        <p:tgtEl>
                                          <p:spTgt spid="73732">
                                            <p:txEl>
                                              <p:charRg st="0" end="1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73732">
                                            <p:txEl>
                                              <p:charRg st="14" end="32"/>
                                            </p:txEl>
                                          </p:spTgt>
                                        </p:tgtEl>
                                        <p:attrNameLst>
                                          <p:attrName>style.visibility</p:attrName>
                                        </p:attrNameLst>
                                      </p:cBhvr>
                                      <p:to>
                                        <p:strVal val="visible"/>
                                      </p:to>
                                    </p:set>
                                    <p:animEffect transition="in" filter="blinds(vertical)">
                                      <p:cBhvr>
                                        <p:cTn id="32" dur="500"/>
                                        <p:tgtEl>
                                          <p:spTgt spid="73732">
                                            <p:txEl>
                                              <p:charRg st="14" end="3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73732">
                                            <p:txEl>
                                              <p:charRg st="32" end="48"/>
                                            </p:txEl>
                                          </p:spTgt>
                                        </p:tgtEl>
                                        <p:attrNameLst>
                                          <p:attrName>style.visibility</p:attrName>
                                        </p:attrNameLst>
                                      </p:cBhvr>
                                      <p:to>
                                        <p:strVal val="visible"/>
                                      </p:to>
                                    </p:set>
                                    <p:animEffect transition="in" filter="blinds(vertical)">
                                      <p:cBhvr>
                                        <p:cTn id="37" dur="500"/>
                                        <p:tgtEl>
                                          <p:spTgt spid="73732">
                                            <p:txEl>
                                              <p:charRg st="32" end="4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73733"/>
                                        </p:tgtEl>
                                        <p:attrNameLst>
                                          <p:attrName>style.visibility</p:attrName>
                                        </p:attrNameLst>
                                      </p:cBhvr>
                                      <p:to>
                                        <p:strVal val="visible"/>
                                      </p:to>
                                    </p:set>
                                    <p:animEffect transition="in" filter="blinds(vertical)">
                                      <p:cBhvr>
                                        <p:cTn id="42" dur="500"/>
                                        <p:tgtEl>
                                          <p:spTgt spid="7373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73733">
                                            <p:txEl>
                                              <p:charRg st="0" end="9"/>
                                            </p:txEl>
                                          </p:spTgt>
                                        </p:tgtEl>
                                        <p:attrNameLst>
                                          <p:attrName>style.visibility</p:attrName>
                                        </p:attrNameLst>
                                      </p:cBhvr>
                                      <p:to>
                                        <p:strVal val="visible"/>
                                      </p:to>
                                    </p:set>
                                    <p:animEffect transition="in" filter="blinds(vertical)">
                                      <p:cBhvr>
                                        <p:cTn id="47" dur="500"/>
                                        <p:tgtEl>
                                          <p:spTgt spid="73733">
                                            <p:txEl>
                                              <p:charRg st="0"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73733">
                                            <p:txEl>
                                              <p:charRg st="9" end="34"/>
                                            </p:txEl>
                                          </p:spTgt>
                                        </p:tgtEl>
                                        <p:attrNameLst>
                                          <p:attrName>style.visibility</p:attrName>
                                        </p:attrNameLst>
                                      </p:cBhvr>
                                      <p:to>
                                        <p:strVal val="visible"/>
                                      </p:to>
                                    </p:set>
                                    <p:animEffect transition="in" filter="blinds(vertical)">
                                      <p:cBhvr>
                                        <p:cTn id="52" dur="500"/>
                                        <p:tgtEl>
                                          <p:spTgt spid="73733">
                                            <p:txEl>
                                              <p:charRg st="9" end="3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73733">
                                            <p:txEl>
                                              <p:charRg st="34" end="66"/>
                                            </p:txEl>
                                          </p:spTgt>
                                        </p:tgtEl>
                                        <p:attrNameLst>
                                          <p:attrName>style.visibility</p:attrName>
                                        </p:attrNameLst>
                                      </p:cBhvr>
                                      <p:to>
                                        <p:strVal val="visible"/>
                                      </p:to>
                                    </p:set>
                                    <p:animEffect transition="in" filter="blinds(vertical)">
                                      <p:cBhvr>
                                        <p:cTn id="57" dur="500"/>
                                        <p:tgtEl>
                                          <p:spTgt spid="73733">
                                            <p:txEl>
                                              <p:charRg st="34" end="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ldLvl="0" animBg="1"/>
      <p:bldP spid="73732" grpId="0" build="p"/>
      <p:bldP spid="73733" grpId="0" build="p"/>
      <p:bldP spid="73734" grpId="0" build="p"/>
      <p:bldP spid="73735"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4754" name="Rectangle 2"/>
          <p:cNvSpPr>
            <a:spLocks noChangeArrowheads="1"/>
          </p:cNvSpPr>
          <p:nvPr>
            <p:ph type="title"/>
          </p:nvPr>
        </p:nvSpPr>
        <p:spPr bwMode="auto">
          <a:xfrm>
            <a:off x="98425" y="219075"/>
            <a:ext cx="4648200" cy="542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rPr>
              <a:t>（</a:t>
            </a:r>
            <a:r>
              <a:rPr kumimoji="1" lang="en-US" altLang="zh-CN"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rPr>
              <a:t>1</a:t>
            </a:r>
            <a:r>
              <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rPr>
              <a:t>）用估算法确定静态值</a:t>
            </a:r>
            <a:endPar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74755" name="Text Box 3"/>
          <p:cNvSpPr txBox="1">
            <a:spLocks noChangeArrowheads="1"/>
          </p:cNvSpPr>
          <p:nvPr/>
        </p:nvSpPr>
        <p:spPr bwMode="auto">
          <a:xfrm>
            <a:off x="533400" y="936625"/>
            <a:ext cx="32766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marR="0" defTabSz="914400" rtl="0">
              <a:spcBef>
                <a:spcPct val="50000"/>
              </a:spcBef>
              <a:buClrTx/>
              <a:buSzTx/>
              <a:buFontTx/>
              <a:buNone/>
              <a:defRPr/>
            </a:pPr>
            <a:r>
              <a:rPr kumimoji="1" lang="en-US" altLang="zh-CN"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a:t>
            </a:r>
            <a:r>
              <a:rPr kumimoji="1" lang="en-US" altLang="zh-CN" sz="2800" b="1" kern="1200" cap="none" spc="0" normalizeH="0" baseline="0" noProof="0" smtClean="0">
                <a:solidFill>
                  <a:srgbClr val="CC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 </a:t>
            </a:r>
            <a:r>
              <a:rPr kumimoji="1" lang="zh-CN" altLang="en-US" sz="2800" b="1" kern="1200" cap="none" spc="0" normalizeH="0" baseline="0" noProof="0" smtClean="0">
                <a:solidFill>
                  <a:srgbClr val="CC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直流通路估算</a:t>
            </a:r>
            <a:r>
              <a:rPr kumimoji="1" lang="en-US" altLang="zh-CN"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I</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B</a:t>
            </a:r>
            <a:endParaRPr kumimoji="1" lang="en-US" altLang="zh-CN"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graphicFrame>
        <p:nvGraphicFramePr>
          <p:cNvPr id="74757" name="Object 5"/>
          <p:cNvGraphicFramePr>
            <a:graphicFrameLocks noChangeAspect="1"/>
          </p:cNvGraphicFramePr>
          <p:nvPr/>
        </p:nvGraphicFramePr>
        <p:xfrm>
          <a:off x="4478338" y="1719263"/>
          <a:ext cx="3294062" cy="1023937"/>
        </p:xfrm>
        <a:graphic>
          <a:graphicData uri="http://schemas.openxmlformats.org/presentationml/2006/ole">
            <mc:AlternateContent xmlns:mc="http://schemas.openxmlformats.org/markup-compatibility/2006">
              <mc:Choice xmlns:v="urn:schemas-microsoft-com:vml" Requires="v">
                <p:oleObj spid="_x0000_s3082" name="" r:id="rId1" imgW="1841500" imgH="571500" progId="Equation.3">
                  <p:embed/>
                </p:oleObj>
              </mc:Choice>
              <mc:Fallback>
                <p:oleObj name="" r:id="rId1" imgW="1841500" imgH="571500" progId="Equation.3">
                  <p:embed/>
                  <p:pic>
                    <p:nvPicPr>
                      <p:cNvPr id="0" name="图片 3081"/>
                      <p:cNvPicPr/>
                      <p:nvPr/>
                    </p:nvPicPr>
                    <p:blipFill>
                      <a:blip r:embed="rId2">
                        <a:clrChange>
                          <a:clrFrom>
                            <a:srgbClr val="000000"/>
                          </a:clrFrom>
                          <a:clrTo>
                            <a:srgbClr val="CC0000"/>
                          </a:clrTo>
                        </a:clrChange>
                      </a:blip>
                      <a:stretch>
                        <a:fillRect/>
                      </a:stretch>
                    </p:blipFill>
                    <p:spPr>
                      <a:xfrm>
                        <a:off x="4478338" y="1719263"/>
                        <a:ext cx="3294062" cy="1023937"/>
                      </a:xfrm>
                      <a:prstGeom prst="rect">
                        <a:avLst/>
                      </a:prstGeom>
                      <a:noFill/>
                      <a:ln w="38100">
                        <a:noFill/>
                        <a:miter/>
                      </a:ln>
                    </p:spPr>
                  </p:pic>
                </p:oleObj>
              </mc:Fallback>
            </mc:AlternateContent>
          </a:graphicData>
        </a:graphic>
      </p:graphicFrame>
      <p:sp>
        <p:nvSpPr>
          <p:cNvPr id="74759" name="Text Box 7"/>
          <p:cNvSpPr txBox="1"/>
          <p:nvPr/>
        </p:nvSpPr>
        <p:spPr>
          <a:xfrm>
            <a:off x="708025" y="5207000"/>
            <a:ext cx="3182938" cy="519113"/>
          </a:xfrm>
          <a:prstGeom prst="rect">
            <a:avLst/>
          </a:prstGeom>
          <a:noFill/>
          <a:ln w="9525">
            <a:noFill/>
          </a:ln>
        </p:spPr>
        <p:txBody>
          <a:bodyPr wrap="square" anchor="t">
            <a:spAutoFit/>
          </a:bodyPr>
          <a:p>
            <a:pPr>
              <a:spcBef>
                <a:spcPct val="50000"/>
              </a:spcBef>
            </a:pPr>
            <a:r>
              <a:rPr lang="zh-CN" altLang="en-US" sz="2800" b="1" dirty="0">
                <a:solidFill>
                  <a:schemeClr val="tx2"/>
                </a:solidFill>
                <a:latin typeface="Times New Roman" panose="02020603050405020304" pitchFamily="18" charset="0"/>
                <a:ea typeface="宋体" panose="02010600030101010101" pitchFamily="2" charset="-122"/>
              </a:rPr>
              <a:t>根据电流放大作用</a:t>
            </a:r>
            <a:endParaRPr lang="zh-CN" altLang="en-US" sz="2800" b="1" dirty="0">
              <a:solidFill>
                <a:schemeClr val="tx2"/>
              </a:solidFill>
              <a:latin typeface="Times New Roman" panose="02020603050405020304" pitchFamily="18" charset="0"/>
              <a:ea typeface="宋体" panose="02010600030101010101" pitchFamily="2" charset="-122"/>
            </a:endParaRPr>
          </a:p>
        </p:txBody>
      </p:sp>
      <p:graphicFrame>
        <p:nvGraphicFramePr>
          <p:cNvPr id="74760" name="Object 8"/>
          <p:cNvGraphicFramePr>
            <a:graphicFrameLocks noChangeAspect="1"/>
          </p:cNvGraphicFramePr>
          <p:nvPr/>
        </p:nvGraphicFramePr>
        <p:xfrm>
          <a:off x="3922713" y="5186363"/>
          <a:ext cx="2478087" cy="595312"/>
        </p:xfrm>
        <a:graphic>
          <a:graphicData uri="http://schemas.openxmlformats.org/presentationml/2006/ole">
            <mc:AlternateContent xmlns:mc="http://schemas.openxmlformats.org/markup-compatibility/2006">
              <mc:Choice xmlns:v="urn:schemas-microsoft-com:vml" Requires="v">
                <p:oleObj spid="_x0000_s3084" name="" r:id="rId3" imgW="1371600" imgH="292100" progId="Equation.3">
                  <p:embed/>
                </p:oleObj>
              </mc:Choice>
              <mc:Fallback>
                <p:oleObj name="" r:id="rId3" imgW="1371600" imgH="292100" progId="Equation.3">
                  <p:embed/>
                  <p:pic>
                    <p:nvPicPr>
                      <p:cNvPr id="0" name="图片 3083"/>
                      <p:cNvPicPr/>
                      <p:nvPr/>
                    </p:nvPicPr>
                    <p:blipFill>
                      <a:blip r:embed="rId4">
                        <a:clrChange>
                          <a:clrFrom>
                            <a:srgbClr val="000000"/>
                          </a:clrFrom>
                          <a:clrTo>
                            <a:srgbClr val="000099"/>
                          </a:clrTo>
                        </a:clrChange>
                      </a:blip>
                      <a:stretch>
                        <a:fillRect/>
                      </a:stretch>
                    </p:blipFill>
                    <p:spPr>
                      <a:xfrm>
                        <a:off x="3922713" y="5186363"/>
                        <a:ext cx="2478087" cy="595312"/>
                      </a:xfrm>
                      <a:prstGeom prst="rect">
                        <a:avLst/>
                      </a:prstGeom>
                      <a:noFill/>
                      <a:ln w="38100">
                        <a:noFill/>
                        <a:miter/>
                      </a:ln>
                    </p:spPr>
                  </p:pic>
                </p:oleObj>
              </mc:Fallback>
            </mc:AlternateContent>
          </a:graphicData>
        </a:graphic>
      </p:graphicFrame>
      <p:graphicFrame>
        <p:nvGraphicFramePr>
          <p:cNvPr id="74761" name="Object 9"/>
          <p:cNvGraphicFramePr>
            <a:graphicFrameLocks noChangeAspect="1"/>
          </p:cNvGraphicFramePr>
          <p:nvPr/>
        </p:nvGraphicFramePr>
        <p:xfrm>
          <a:off x="6430963" y="5176838"/>
          <a:ext cx="1905000" cy="595312"/>
        </p:xfrm>
        <a:graphic>
          <a:graphicData uri="http://schemas.openxmlformats.org/presentationml/2006/ole">
            <mc:AlternateContent xmlns:mc="http://schemas.openxmlformats.org/markup-compatibility/2006">
              <mc:Choice xmlns:v="urn:schemas-microsoft-com:vml" Requires="v">
                <p:oleObj spid="_x0000_s3085" name="" r:id="rId5" imgW="1079500" imgH="292100" progId="Equation.3">
                  <p:embed/>
                </p:oleObj>
              </mc:Choice>
              <mc:Fallback>
                <p:oleObj name="" r:id="rId5" imgW="1079500" imgH="292100" progId="Equation.3">
                  <p:embed/>
                  <p:pic>
                    <p:nvPicPr>
                      <p:cNvPr id="0" name="图片 3084"/>
                      <p:cNvPicPr/>
                      <p:nvPr/>
                    </p:nvPicPr>
                    <p:blipFill>
                      <a:blip r:embed="rId6">
                        <a:clrChange>
                          <a:clrFrom>
                            <a:srgbClr val="000000"/>
                          </a:clrFrom>
                          <a:clrTo>
                            <a:srgbClr val="000099"/>
                          </a:clrTo>
                        </a:clrChange>
                      </a:blip>
                      <a:stretch>
                        <a:fillRect/>
                      </a:stretch>
                    </p:blipFill>
                    <p:spPr>
                      <a:xfrm>
                        <a:off x="6430963" y="5176838"/>
                        <a:ext cx="1905000" cy="595312"/>
                      </a:xfrm>
                      <a:prstGeom prst="rect">
                        <a:avLst/>
                      </a:prstGeom>
                      <a:noFill/>
                      <a:ln w="38100">
                        <a:noFill/>
                        <a:miter/>
                      </a:ln>
                    </p:spPr>
                  </p:pic>
                </p:oleObj>
              </mc:Fallback>
            </mc:AlternateContent>
          </a:graphicData>
        </a:graphic>
      </p:graphicFrame>
      <p:sp>
        <p:nvSpPr>
          <p:cNvPr id="74762" name="Text Box 10"/>
          <p:cNvSpPr txBox="1">
            <a:spLocks noChangeArrowheads="1"/>
          </p:cNvSpPr>
          <p:nvPr/>
        </p:nvSpPr>
        <p:spPr bwMode="auto">
          <a:xfrm>
            <a:off x="609600" y="4667250"/>
            <a:ext cx="4329113"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R="0" defTabSz="914400" rtl="0">
              <a:spcBef>
                <a:spcPct val="50000"/>
              </a:spcBef>
              <a:buClrTx/>
              <a:buSzTx/>
              <a:buFontTx/>
              <a:buNone/>
              <a:defRPr/>
            </a:pPr>
            <a:r>
              <a:rPr kumimoji="1" lang="en-US" altLang="zh-CN"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b. </a:t>
            </a:r>
            <a:r>
              <a:rPr kumimoji="1" lang="zh-CN" altLang="en-US" sz="2800" b="1" kern="1200" cap="none" spc="0" normalizeH="0" baseline="0" noProof="0" smtClean="0">
                <a:solidFill>
                  <a:srgbClr val="CC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由直流通路估算</a:t>
            </a:r>
            <a:r>
              <a:rPr kumimoji="1" lang="en-US" altLang="zh-CN"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U</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CE</a:t>
            </a:r>
            <a:r>
              <a:rPr kumimoji="1" lang="zh-CN" altLang="en-US"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en-US" altLang="zh-CN"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I</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a:t>
            </a:r>
            <a:endPar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74763" name="Rectangle 11"/>
          <p:cNvSpPr/>
          <p:nvPr/>
        </p:nvSpPr>
        <p:spPr>
          <a:xfrm>
            <a:off x="4356100" y="2628900"/>
            <a:ext cx="2935288" cy="519113"/>
          </a:xfrm>
          <a:prstGeom prst="rect">
            <a:avLst/>
          </a:prstGeom>
          <a:noFill/>
          <a:ln w="9525">
            <a:noFill/>
          </a:ln>
        </p:spPr>
        <p:txBody>
          <a:bodyPr wrap="none" anchor="t">
            <a:spAutoFit/>
          </a:bodyPr>
          <a:p>
            <a:pPr algn="ctr"/>
            <a:r>
              <a:rPr lang="zh-CN" altLang="en-US" sz="2800" b="1" dirty="0">
                <a:solidFill>
                  <a:srgbClr val="000099"/>
                </a:solidFill>
                <a:latin typeface="Times New Roman" panose="02020603050405020304" pitchFamily="18" charset="0"/>
                <a:ea typeface="楷体_GB2312" pitchFamily="49" charset="-122"/>
              </a:rPr>
              <a:t>当</a:t>
            </a: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BE</a:t>
            </a:r>
            <a:r>
              <a:rPr lang="en-US" altLang="zh-CN" sz="2800" b="1" dirty="0">
                <a:solidFill>
                  <a:srgbClr val="000099"/>
                </a:solidFill>
                <a:latin typeface="Times New Roman" panose="02020603050405020304" pitchFamily="18" charset="0"/>
                <a:ea typeface="楷体_GB2312" pitchFamily="49" charset="-122"/>
              </a:rPr>
              <a:t>&lt;&lt; </a:t>
            </a:r>
            <a:r>
              <a:rPr lang="en-US" altLang="zh-CN" sz="2800" b="1" i="1" dirty="0">
                <a:solidFill>
                  <a:srgbClr val="000099"/>
                </a:solidFill>
                <a:latin typeface="Times New Roman" panose="02020603050405020304" pitchFamily="18" charset="0"/>
                <a:ea typeface="楷体_GB2312" pitchFamily="49" charset="-122"/>
              </a:rPr>
              <a:t>U</a:t>
            </a:r>
            <a:r>
              <a:rPr lang="en-US" altLang="zh-CN" sz="2800" b="1" baseline="-25000" dirty="0">
                <a:solidFill>
                  <a:srgbClr val="000099"/>
                </a:solidFill>
                <a:latin typeface="Times New Roman" panose="02020603050405020304" pitchFamily="18" charset="0"/>
                <a:ea typeface="楷体_GB2312" pitchFamily="49" charset="-122"/>
              </a:rPr>
              <a:t>CC</a:t>
            </a:r>
            <a:r>
              <a:rPr lang="zh-CN" altLang="en-US" sz="2800" b="1" dirty="0">
                <a:solidFill>
                  <a:srgbClr val="000099"/>
                </a:solidFill>
                <a:latin typeface="Times New Roman" panose="02020603050405020304" pitchFamily="18" charset="0"/>
                <a:ea typeface="楷体_GB2312" pitchFamily="49" charset="-122"/>
              </a:rPr>
              <a:t>时，</a:t>
            </a:r>
            <a:endParaRPr lang="zh-CN" altLang="en-US" sz="2800" b="1" dirty="0">
              <a:solidFill>
                <a:srgbClr val="000099"/>
              </a:solidFill>
              <a:latin typeface="Times New Roman" panose="02020603050405020304" pitchFamily="18" charset="0"/>
              <a:ea typeface="楷体_GB2312" pitchFamily="49" charset="-122"/>
            </a:endParaRPr>
          </a:p>
        </p:txBody>
      </p:sp>
      <p:grpSp>
        <p:nvGrpSpPr>
          <p:cNvPr id="74766" name="Group 14"/>
          <p:cNvGrpSpPr/>
          <p:nvPr/>
        </p:nvGrpSpPr>
        <p:grpSpPr>
          <a:xfrm>
            <a:off x="1322388" y="3413125"/>
            <a:ext cx="1076325" cy="1074738"/>
            <a:chOff x="816" y="2025"/>
            <a:chExt cx="678" cy="677"/>
          </a:xfrm>
        </p:grpSpPr>
        <p:sp>
          <p:nvSpPr>
            <p:cNvPr id="74767" name="Line 15"/>
            <p:cNvSpPr>
              <a:spLocks noChangeShapeType="1"/>
            </p:cNvSpPr>
            <p:nvPr/>
          </p:nvSpPr>
          <p:spPr bwMode="auto">
            <a:xfrm>
              <a:off x="816" y="2025"/>
              <a:ext cx="549" cy="0"/>
            </a:xfrm>
            <a:prstGeom prst="line">
              <a:avLst/>
            </a:prstGeom>
            <a:noFill/>
            <a:ln w="28575">
              <a:solidFill>
                <a:srgbClr val="005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68" name="Line 16"/>
            <p:cNvSpPr>
              <a:spLocks noChangeShapeType="1"/>
            </p:cNvSpPr>
            <p:nvPr/>
          </p:nvSpPr>
          <p:spPr bwMode="auto">
            <a:xfrm>
              <a:off x="1354" y="2036"/>
              <a:ext cx="140" cy="169"/>
            </a:xfrm>
            <a:prstGeom prst="line">
              <a:avLst/>
            </a:prstGeom>
            <a:noFill/>
            <a:ln w="28575">
              <a:solidFill>
                <a:srgbClr val="005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69" name="Line 17"/>
            <p:cNvSpPr>
              <a:spLocks noChangeShapeType="1"/>
            </p:cNvSpPr>
            <p:nvPr/>
          </p:nvSpPr>
          <p:spPr bwMode="auto">
            <a:xfrm>
              <a:off x="1494" y="2217"/>
              <a:ext cx="0" cy="485"/>
            </a:xfrm>
            <a:prstGeom prst="line">
              <a:avLst/>
            </a:prstGeom>
            <a:noFill/>
            <a:ln w="28575">
              <a:solidFill>
                <a:srgbClr val="005C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74770" name="Group 18"/>
          <p:cNvGrpSpPr/>
          <p:nvPr/>
        </p:nvGrpSpPr>
        <p:grpSpPr>
          <a:xfrm>
            <a:off x="2617788" y="1816100"/>
            <a:ext cx="430212" cy="2595563"/>
            <a:chOff x="1705" y="971"/>
            <a:chExt cx="271" cy="1694"/>
          </a:xfrm>
        </p:grpSpPr>
        <p:sp>
          <p:nvSpPr>
            <p:cNvPr id="74771" name="Line 19"/>
            <p:cNvSpPr>
              <a:spLocks noChangeShapeType="1"/>
            </p:cNvSpPr>
            <p:nvPr/>
          </p:nvSpPr>
          <p:spPr bwMode="auto">
            <a:xfrm flipH="1" flipV="1">
              <a:off x="1705" y="971"/>
              <a:ext cx="271" cy="1"/>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72" name="Line 20"/>
            <p:cNvSpPr>
              <a:spLocks noChangeShapeType="1"/>
            </p:cNvSpPr>
            <p:nvPr/>
          </p:nvSpPr>
          <p:spPr bwMode="auto">
            <a:xfrm>
              <a:off x="1717" y="983"/>
              <a:ext cx="0" cy="1682"/>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74776" name="Group 24"/>
          <p:cNvGrpSpPr/>
          <p:nvPr/>
        </p:nvGrpSpPr>
        <p:grpSpPr>
          <a:xfrm>
            <a:off x="1295400" y="1587500"/>
            <a:ext cx="1565275" cy="1846263"/>
            <a:chOff x="816" y="827"/>
            <a:chExt cx="969" cy="1211"/>
          </a:xfrm>
        </p:grpSpPr>
        <p:sp>
          <p:nvSpPr>
            <p:cNvPr id="74777" name="Line 25"/>
            <p:cNvSpPr>
              <a:spLocks noChangeShapeType="1"/>
            </p:cNvSpPr>
            <p:nvPr/>
          </p:nvSpPr>
          <p:spPr bwMode="auto">
            <a:xfrm flipH="1">
              <a:off x="827" y="827"/>
              <a:ext cx="958"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78" name="Line 26"/>
            <p:cNvSpPr>
              <a:spLocks noChangeShapeType="1"/>
            </p:cNvSpPr>
            <p:nvPr/>
          </p:nvSpPr>
          <p:spPr bwMode="auto">
            <a:xfrm>
              <a:off x="816" y="838"/>
              <a:ext cx="0" cy="12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9236" name="Group 27"/>
          <p:cNvGrpSpPr/>
          <p:nvPr/>
        </p:nvGrpSpPr>
        <p:grpSpPr>
          <a:xfrm>
            <a:off x="914400" y="1511300"/>
            <a:ext cx="2976563" cy="3087688"/>
            <a:chOff x="576" y="816"/>
            <a:chExt cx="1875" cy="1945"/>
          </a:xfrm>
        </p:grpSpPr>
        <p:sp>
          <p:nvSpPr>
            <p:cNvPr id="9237" name="Rectangle 28"/>
            <p:cNvSpPr/>
            <p:nvPr/>
          </p:nvSpPr>
          <p:spPr>
            <a:xfrm>
              <a:off x="1905" y="816"/>
              <a:ext cx="546" cy="288"/>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74781" name="Line 29"/>
            <p:cNvSpPr>
              <a:spLocks noChangeShapeType="1"/>
            </p:cNvSpPr>
            <p:nvPr/>
          </p:nvSpPr>
          <p:spPr bwMode="auto">
            <a:xfrm flipV="1">
              <a:off x="915" y="1535"/>
              <a:ext cx="0" cy="4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82" name="Line 30"/>
            <p:cNvSpPr>
              <a:spLocks noChangeShapeType="1"/>
            </p:cNvSpPr>
            <p:nvPr/>
          </p:nvSpPr>
          <p:spPr bwMode="auto">
            <a:xfrm rot="16200000" flipH="1">
              <a:off x="770" y="1080"/>
              <a:ext cx="290"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9240" name="Group 31"/>
            <p:cNvGrpSpPr/>
            <p:nvPr/>
          </p:nvGrpSpPr>
          <p:grpSpPr>
            <a:xfrm>
              <a:off x="1428" y="1751"/>
              <a:ext cx="156" cy="384"/>
              <a:chOff x="4500" y="2064"/>
              <a:chExt cx="156" cy="384"/>
            </a:xfrm>
          </p:grpSpPr>
          <p:sp>
            <p:nvSpPr>
              <p:cNvPr id="74784" name="Line 32"/>
              <p:cNvSpPr>
                <a:spLocks noChangeShapeType="1"/>
              </p:cNvSpPr>
              <p:nvPr/>
            </p:nvSpPr>
            <p:spPr bwMode="auto">
              <a:xfrm>
                <a:off x="4500" y="2088"/>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85" name="Line 33"/>
              <p:cNvSpPr>
                <a:spLocks noChangeShapeType="1"/>
              </p:cNvSpPr>
              <p:nvPr/>
            </p:nvSpPr>
            <p:spPr bwMode="auto">
              <a:xfrm>
                <a:off x="4500" y="2264"/>
                <a:ext cx="156" cy="184"/>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86" name="Line 34"/>
              <p:cNvSpPr>
                <a:spLocks noChangeShapeType="1"/>
              </p:cNvSpPr>
              <p:nvPr/>
            </p:nvSpPr>
            <p:spPr bwMode="auto">
              <a:xfrm flipV="1">
                <a:off x="450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4787" name="Line 35"/>
            <p:cNvSpPr>
              <a:spLocks noChangeShapeType="1"/>
            </p:cNvSpPr>
            <p:nvPr/>
          </p:nvSpPr>
          <p:spPr bwMode="auto">
            <a:xfrm>
              <a:off x="1570" y="2089"/>
              <a:ext cx="0" cy="67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245" name="Text Box 36"/>
            <p:cNvSpPr txBox="1"/>
            <p:nvPr/>
          </p:nvSpPr>
          <p:spPr>
            <a:xfrm>
              <a:off x="576" y="1254"/>
              <a:ext cx="328" cy="288"/>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4789" name="Rectangle 37"/>
            <p:cNvSpPr>
              <a:spLocks noChangeArrowheads="1"/>
            </p:cNvSpPr>
            <p:nvPr/>
          </p:nvSpPr>
          <p:spPr bwMode="auto">
            <a:xfrm>
              <a:off x="1521" y="1177"/>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790" name="Rectangle 38"/>
            <p:cNvSpPr>
              <a:spLocks noChangeArrowheads="1"/>
            </p:cNvSpPr>
            <p:nvPr/>
          </p:nvSpPr>
          <p:spPr bwMode="auto">
            <a:xfrm>
              <a:off x="868" y="1225"/>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248" name="Text Box 39"/>
            <p:cNvSpPr txBox="1"/>
            <p:nvPr/>
          </p:nvSpPr>
          <p:spPr>
            <a:xfrm>
              <a:off x="1207" y="1083"/>
              <a:ext cx="334" cy="288"/>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9249" name="Text Box 40"/>
            <p:cNvSpPr txBox="1"/>
            <p:nvPr/>
          </p:nvSpPr>
          <p:spPr>
            <a:xfrm>
              <a:off x="1463" y="1772"/>
              <a:ext cx="242" cy="288"/>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74793" name="Line 41"/>
            <p:cNvSpPr>
              <a:spLocks noChangeShapeType="1"/>
            </p:cNvSpPr>
            <p:nvPr/>
          </p:nvSpPr>
          <p:spPr bwMode="auto">
            <a:xfrm flipV="1">
              <a:off x="921" y="1922"/>
              <a:ext cx="50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251" name="Text Box 42"/>
            <p:cNvSpPr txBox="1"/>
            <p:nvPr/>
          </p:nvSpPr>
          <p:spPr>
            <a:xfrm>
              <a:off x="1205" y="1841"/>
              <a:ext cx="367" cy="288"/>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9252" name="Text Box 43"/>
            <p:cNvSpPr txBox="1"/>
            <p:nvPr/>
          </p:nvSpPr>
          <p:spPr>
            <a:xfrm>
              <a:off x="1648" y="1590"/>
              <a:ext cx="366" cy="288"/>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74796" name="Rectangle 44"/>
            <p:cNvSpPr>
              <a:spLocks noChangeArrowheads="1"/>
            </p:cNvSpPr>
            <p:nvPr/>
          </p:nvSpPr>
          <p:spPr bwMode="auto">
            <a:xfrm>
              <a:off x="1357" y="214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rPr>
                <a:t>–</a:t>
              </a:r>
              <a:endPar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9254" name="Rectangle 45"/>
            <p:cNvSpPr/>
            <p:nvPr/>
          </p:nvSpPr>
          <p:spPr>
            <a:xfrm>
              <a:off x="1030" y="2041"/>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9255" name="Rectangle 46"/>
            <p:cNvSpPr/>
            <p:nvPr/>
          </p:nvSpPr>
          <p:spPr>
            <a:xfrm>
              <a:off x="1568" y="1867"/>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9256" name="Rectangle 47"/>
            <p:cNvSpPr/>
            <p:nvPr/>
          </p:nvSpPr>
          <p:spPr>
            <a:xfrm>
              <a:off x="1643" y="2053"/>
              <a:ext cx="210" cy="288"/>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4800" name="Line 48"/>
            <p:cNvSpPr>
              <a:spLocks noChangeShapeType="1"/>
            </p:cNvSpPr>
            <p:nvPr/>
          </p:nvSpPr>
          <p:spPr bwMode="auto">
            <a:xfrm>
              <a:off x="1502" y="1459"/>
              <a:ext cx="2"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258" name="Rectangle 49"/>
            <p:cNvSpPr/>
            <p:nvPr/>
          </p:nvSpPr>
          <p:spPr>
            <a:xfrm>
              <a:off x="1150" y="1417"/>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4802" name="Line 50"/>
            <p:cNvSpPr>
              <a:spLocks noChangeShapeType="1"/>
            </p:cNvSpPr>
            <p:nvPr/>
          </p:nvSpPr>
          <p:spPr bwMode="auto">
            <a:xfrm>
              <a:off x="1028" y="1849"/>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260" name="Rectangle 51"/>
            <p:cNvSpPr/>
            <p:nvPr/>
          </p:nvSpPr>
          <p:spPr>
            <a:xfrm>
              <a:off x="915" y="1561"/>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4804" name="Oval 52"/>
            <p:cNvSpPr>
              <a:spLocks noChangeArrowheads="1"/>
            </p:cNvSpPr>
            <p:nvPr/>
          </p:nvSpPr>
          <p:spPr bwMode="auto">
            <a:xfrm>
              <a:off x="1865" y="927"/>
              <a:ext cx="56" cy="5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805" name="Line 53"/>
            <p:cNvSpPr>
              <a:spLocks noChangeShapeType="1"/>
            </p:cNvSpPr>
            <p:nvPr/>
          </p:nvSpPr>
          <p:spPr bwMode="auto">
            <a:xfrm>
              <a:off x="1480" y="2753"/>
              <a:ext cx="189" cy="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806" name="Line 54"/>
            <p:cNvSpPr>
              <a:spLocks noChangeShapeType="1"/>
            </p:cNvSpPr>
            <p:nvPr/>
          </p:nvSpPr>
          <p:spPr bwMode="auto">
            <a:xfrm>
              <a:off x="912" y="937"/>
              <a:ext cx="96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807" name="Line 55"/>
            <p:cNvSpPr>
              <a:spLocks noChangeShapeType="1"/>
            </p:cNvSpPr>
            <p:nvPr/>
          </p:nvSpPr>
          <p:spPr bwMode="auto">
            <a:xfrm>
              <a:off x="1561" y="937"/>
              <a:ext cx="0"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808" name="Line 56"/>
            <p:cNvSpPr>
              <a:spLocks noChangeShapeType="1"/>
            </p:cNvSpPr>
            <p:nvPr/>
          </p:nvSpPr>
          <p:spPr bwMode="auto">
            <a:xfrm>
              <a:off x="1573" y="1478"/>
              <a:ext cx="0"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4809" name="Text Box 57"/>
          <p:cNvSpPr txBox="1">
            <a:spLocks noChangeArrowheads="1"/>
          </p:cNvSpPr>
          <p:nvPr/>
        </p:nvSpPr>
        <p:spPr bwMode="auto">
          <a:xfrm>
            <a:off x="4311650" y="914400"/>
            <a:ext cx="43116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marR="0" defTabSz="914400" rtl="0">
              <a:spcBef>
                <a:spcPct val="50000"/>
              </a:spcBef>
              <a:buClrTx/>
              <a:buSzTx/>
              <a:buFontTx/>
              <a:buNone/>
              <a:defRPr/>
            </a:pPr>
            <a:r>
              <a:rPr kumimoji="1" lang="zh-CN" altLang="en-US"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由</a:t>
            </a:r>
            <a:r>
              <a:rPr kumimoji="1" lang="en-US" altLang="zh-CN"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KVL: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U</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CC </a:t>
            </a:r>
            <a:r>
              <a:rPr kumimoji="1" lang="en-US" altLang="zh-CN"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I</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B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B</a:t>
            </a:r>
            <a:r>
              <a:rPr kumimoji="1" lang="en-US" altLang="zh-CN"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U</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BE</a:t>
            </a:r>
            <a:endPar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74810" name="Text Box 58"/>
          <p:cNvSpPr txBox="1">
            <a:spLocks noChangeArrowheads="1"/>
          </p:cNvSpPr>
          <p:nvPr/>
        </p:nvSpPr>
        <p:spPr bwMode="auto">
          <a:xfrm>
            <a:off x="695325" y="5857875"/>
            <a:ext cx="43434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marR="0" defTabSz="914400" rtl="0">
              <a:spcBef>
                <a:spcPct val="50000"/>
              </a:spcBef>
              <a:buClrTx/>
              <a:buSzTx/>
              <a:buFontTx/>
              <a:buNone/>
              <a:defRPr/>
            </a:pPr>
            <a:r>
              <a:rPr kumimoji="1" lang="zh-CN" altLang="en-US"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由</a:t>
            </a:r>
            <a:r>
              <a:rPr kumimoji="1" lang="en-US" altLang="zh-CN"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KVL: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U</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CC </a:t>
            </a:r>
            <a:r>
              <a:rPr kumimoji="1" lang="en-US" altLang="zh-CN"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I</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a:t>
            </a:r>
            <a:r>
              <a:rPr kumimoji="1" lang="en-US" altLang="zh-CN" sz="2800" b="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en-US" altLang="zh-CN" sz="2800" b="1" i="1" kern="1200" cap="none" spc="0" normalizeH="0" baseline="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U</a:t>
            </a:r>
            <a:r>
              <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CE</a:t>
            </a:r>
            <a:endParaRPr kumimoji="1" lang="en-US" altLang="zh-CN" sz="2800" b="1" kern="1200" cap="none" spc="0" normalizeH="0" baseline="-25000" noProof="0" smtClean="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74811" name="Text Box 59"/>
          <p:cNvSpPr txBox="1">
            <a:spLocks noChangeArrowheads="1"/>
          </p:cNvSpPr>
          <p:nvPr/>
        </p:nvSpPr>
        <p:spPr bwMode="auto">
          <a:xfrm>
            <a:off x="5105400" y="5945188"/>
            <a:ext cx="3886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R="0" defTabSz="914400" rtl="0">
              <a:spcBef>
                <a:spcPct val="50000"/>
              </a:spcBef>
              <a:buClrTx/>
              <a:buSzTx/>
              <a:buFontTx/>
              <a:buNone/>
              <a:defRPr/>
            </a:pPr>
            <a:r>
              <a:rPr kumimoji="1" lang="zh-CN" altLang="en-US"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所以  </a:t>
            </a:r>
            <a:r>
              <a:rPr kumimoji="1" lang="en-US" altLang="zh-CN"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U</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CE </a:t>
            </a:r>
            <a:r>
              <a:rPr kumimoji="1" lang="en-US" altLang="zh-CN"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en-US" altLang="zh-CN"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U</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CC </a:t>
            </a:r>
            <a:r>
              <a:rPr kumimoji="1" lang="en-US" altLang="zh-CN"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en-US" altLang="zh-CN"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I</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 </a:t>
            </a:r>
            <a:r>
              <a:rPr kumimoji="1" lang="en-US" altLang="zh-CN" sz="2800" b="1" i="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 </a:t>
            </a:r>
            <a:endParaRPr kumimoji="1" lang="en-US" altLang="zh-CN" sz="2800" b="1" kern="1200" cap="none" spc="0" normalizeH="0" baseline="-2500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graphicFrame>
        <p:nvGraphicFramePr>
          <p:cNvPr id="2" name="对象 1"/>
          <p:cNvGraphicFramePr/>
          <p:nvPr/>
        </p:nvGraphicFramePr>
        <p:xfrm>
          <a:off x="4478655" y="3430905"/>
          <a:ext cx="2813050" cy="955675"/>
        </p:xfrm>
        <a:graphic>
          <a:graphicData uri="http://schemas.openxmlformats.org/presentationml/2006/ole">
            <mc:AlternateContent xmlns:mc="http://schemas.openxmlformats.org/markup-compatibility/2006">
              <mc:Choice xmlns:v="urn:schemas-microsoft-com:vml" Requires="v">
                <p:oleObj spid="_x0000_s3" name="" r:id="rId7" imgW="2335530" imgH="922020" progId="Equation.KSEE3">
                  <p:embed/>
                </p:oleObj>
              </mc:Choice>
              <mc:Fallback>
                <p:oleObj name="" r:id="rId7" imgW="2335530" imgH="922020" progId="Equation.KSEE3">
                  <p:embed/>
                  <p:pic>
                    <p:nvPicPr>
                      <p:cNvPr id="0" name="图片 2"/>
                      <p:cNvPicPr/>
                      <p:nvPr/>
                    </p:nvPicPr>
                    <p:blipFill>
                      <a:blip r:embed="rId8"/>
                      <a:stretch>
                        <a:fillRect/>
                      </a:stretch>
                    </p:blipFill>
                    <p:spPr>
                      <a:xfrm>
                        <a:off x="4478655" y="3430905"/>
                        <a:ext cx="2813050" cy="95567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5"/>
                                        </p:tgtEl>
                                        <p:attrNameLst>
                                          <p:attrName>style.visibility</p:attrName>
                                        </p:attrNameLst>
                                      </p:cBhvr>
                                      <p:to>
                                        <p:strVal val="visible"/>
                                      </p:to>
                                    </p:set>
                                    <p:animEffect transition="in" filter="wipe(left)">
                                      <p:cBhvr>
                                        <p:cTn id="7" dur="500"/>
                                        <p:tgtEl>
                                          <p:spTgt spid="747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5">
                                            <p:txEl>
                                              <p:charRg st="0" end="13"/>
                                            </p:txEl>
                                          </p:spTgt>
                                        </p:tgtEl>
                                        <p:attrNameLst>
                                          <p:attrName>style.visibility</p:attrName>
                                        </p:attrNameLst>
                                      </p:cBhvr>
                                      <p:to>
                                        <p:strVal val="visible"/>
                                      </p:to>
                                    </p:set>
                                    <p:animEffect transition="in" filter="wipe(left)">
                                      <p:cBhvr>
                                        <p:cTn id="12" dur="500"/>
                                        <p:tgtEl>
                                          <p:spTgt spid="74755">
                                            <p:txEl>
                                              <p:charRg st="0"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74776"/>
                                        </p:tgtEl>
                                        <p:attrNameLst>
                                          <p:attrName>style.visibility</p:attrName>
                                        </p:attrNameLst>
                                      </p:cBhvr>
                                      <p:to>
                                        <p:strVal val="visible"/>
                                      </p:to>
                                    </p:set>
                                    <p:animEffect transition="in" filter="strips(downLeft)">
                                      <p:cBhvr>
                                        <p:cTn id="17" dur="500"/>
                                        <p:tgtEl>
                                          <p:spTgt spid="74776"/>
                                        </p:tgtEl>
                                      </p:cBhvr>
                                    </p:animEffect>
                                  </p:childTnLst>
                                </p:cTn>
                              </p:par>
                            </p:childTnLst>
                          </p:cTn>
                        </p:par>
                        <p:par>
                          <p:cTn id="18" fill="hold">
                            <p:stCondLst>
                              <p:cond delay="500"/>
                            </p:stCondLst>
                            <p:childTnLst>
                              <p:par>
                                <p:cTn id="19" presetID="18" presetClass="entr" presetSubtype="6" fill="hold" nodeType="afterEffect">
                                  <p:stCondLst>
                                    <p:cond delay="0"/>
                                  </p:stCondLst>
                                  <p:childTnLst>
                                    <p:set>
                                      <p:cBhvr>
                                        <p:cTn id="20" dur="1" fill="hold">
                                          <p:stCondLst>
                                            <p:cond delay="0"/>
                                          </p:stCondLst>
                                        </p:cTn>
                                        <p:tgtEl>
                                          <p:spTgt spid="74766"/>
                                        </p:tgtEl>
                                        <p:attrNameLst>
                                          <p:attrName>style.visibility</p:attrName>
                                        </p:attrNameLst>
                                      </p:cBhvr>
                                      <p:to>
                                        <p:strVal val="visible"/>
                                      </p:to>
                                    </p:set>
                                    <p:animEffect transition="in" filter="strips(downRight)">
                                      <p:cBhvr>
                                        <p:cTn id="21" dur="500"/>
                                        <p:tgtEl>
                                          <p:spTgt spid="7476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4809"/>
                                        </p:tgtEl>
                                        <p:attrNameLst>
                                          <p:attrName>style.visibility</p:attrName>
                                        </p:attrNameLst>
                                      </p:cBhvr>
                                      <p:to>
                                        <p:strVal val="visible"/>
                                      </p:to>
                                    </p:set>
                                    <p:animEffect transition="in" filter="wipe(left)">
                                      <p:cBhvr>
                                        <p:cTn id="26" dur="500"/>
                                        <p:tgtEl>
                                          <p:spTgt spid="7480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4809">
                                            <p:txEl>
                                              <p:charRg st="0" end="24"/>
                                            </p:txEl>
                                          </p:spTgt>
                                        </p:tgtEl>
                                        <p:attrNameLst>
                                          <p:attrName>style.visibility</p:attrName>
                                        </p:attrNameLst>
                                      </p:cBhvr>
                                      <p:to>
                                        <p:strVal val="visible"/>
                                      </p:to>
                                    </p:set>
                                    <p:animEffect transition="in" filter="wipe(left)">
                                      <p:cBhvr>
                                        <p:cTn id="31" dur="500"/>
                                        <p:tgtEl>
                                          <p:spTgt spid="74809">
                                            <p:txEl>
                                              <p:charRg st="0" end="2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4757"/>
                                        </p:tgtEl>
                                        <p:attrNameLst>
                                          <p:attrName>style.visibility</p:attrName>
                                        </p:attrNameLst>
                                      </p:cBhvr>
                                      <p:to>
                                        <p:strVal val="visible"/>
                                      </p:to>
                                    </p:set>
                                    <p:animEffect transition="in" filter="wipe(left)">
                                      <p:cBhvr>
                                        <p:cTn id="36" dur="500"/>
                                        <p:tgtEl>
                                          <p:spTgt spid="7475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4763"/>
                                        </p:tgtEl>
                                        <p:attrNameLst>
                                          <p:attrName>style.visibility</p:attrName>
                                        </p:attrNameLst>
                                      </p:cBhvr>
                                      <p:to>
                                        <p:strVal val="visible"/>
                                      </p:to>
                                    </p:set>
                                    <p:animEffect transition="in" filter="wipe(left)">
                                      <p:cBhvr>
                                        <p:cTn id="41" dur="500"/>
                                        <p:tgtEl>
                                          <p:spTgt spid="7476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4762"/>
                                        </p:tgtEl>
                                        <p:attrNameLst>
                                          <p:attrName>style.visibility</p:attrName>
                                        </p:attrNameLst>
                                      </p:cBhvr>
                                      <p:to>
                                        <p:strVal val="visible"/>
                                      </p:to>
                                    </p:set>
                                    <p:animEffect transition="in" filter="wipe(left)">
                                      <p:cBhvr>
                                        <p:cTn id="46" dur="500"/>
                                        <p:tgtEl>
                                          <p:spTgt spid="7476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74770"/>
                                        </p:tgtEl>
                                        <p:attrNameLst>
                                          <p:attrName>style.visibility</p:attrName>
                                        </p:attrNameLst>
                                      </p:cBhvr>
                                      <p:to>
                                        <p:strVal val="visible"/>
                                      </p:to>
                                    </p:set>
                                    <p:animEffect transition="in" filter="wipe(up)">
                                      <p:cBhvr>
                                        <p:cTn id="51" dur="500"/>
                                        <p:tgtEl>
                                          <p:spTgt spid="7477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4759"/>
                                        </p:tgtEl>
                                        <p:attrNameLst>
                                          <p:attrName>style.visibility</p:attrName>
                                        </p:attrNameLst>
                                      </p:cBhvr>
                                      <p:to>
                                        <p:strVal val="visible"/>
                                      </p:to>
                                    </p:set>
                                    <p:animEffect transition="in" filter="wipe(left)">
                                      <p:cBhvr>
                                        <p:cTn id="56" dur="500"/>
                                        <p:tgtEl>
                                          <p:spTgt spid="74759"/>
                                        </p:tgtEl>
                                      </p:cBhvr>
                                    </p:animEffect>
                                  </p:childTnLst>
                                </p:cTn>
                              </p:par>
                            </p:childTnLst>
                          </p:cTn>
                        </p:par>
                        <p:par>
                          <p:cTn id="57" fill="hold">
                            <p:stCondLst>
                              <p:cond delay="500"/>
                            </p:stCondLst>
                            <p:childTnLst>
                              <p:par>
                                <p:cTn id="58" presetID="22" presetClass="entr" presetSubtype="8" fill="hold" nodeType="afterEffect">
                                  <p:stCondLst>
                                    <p:cond delay="1000"/>
                                  </p:stCondLst>
                                  <p:childTnLst>
                                    <p:set>
                                      <p:cBhvr>
                                        <p:cTn id="59" dur="1" fill="hold">
                                          <p:stCondLst>
                                            <p:cond delay="0"/>
                                          </p:stCondLst>
                                        </p:cTn>
                                        <p:tgtEl>
                                          <p:spTgt spid="74760"/>
                                        </p:tgtEl>
                                        <p:attrNameLst>
                                          <p:attrName>style.visibility</p:attrName>
                                        </p:attrNameLst>
                                      </p:cBhvr>
                                      <p:to>
                                        <p:strVal val="visible"/>
                                      </p:to>
                                    </p:set>
                                    <p:animEffect transition="in" filter="wipe(left)">
                                      <p:cBhvr>
                                        <p:cTn id="60" dur="500"/>
                                        <p:tgtEl>
                                          <p:spTgt spid="7476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4761"/>
                                        </p:tgtEl>
                                        <p:attrNameLst>
                                          <p:attrName>style.visibility</p:attrName>
                                        </p:attrNameLst>
                                      </p:cBhvr>
                                      <p:to>
                                        <p:strVal val="visible"/>
                                      </p:to>
                                    </p:set>
                                    <p:animEffect transition="in" filter="wipe(left)">
                                      <p:cBhvr>
                                        <p:cTn id="65" dur="500"/>
                                        <p:tgtEl>
                                          <p:spTgt spid="7476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74810"/>
                                        </p:tgtEl>
                                        <p:attrNameLst>
                                          <p:attrName>style.visibility</p:attrName>
                                        </p:attrNameLst>
                                      </p:cBhvr>
                                      <p:to>
                                        <p:strVal val="visible"/>
                                      </p:to>
                                    </p:set>
                                    <p:animEffect transition="in" filter="wipe(left)">
                                      <p:cBhvr>
                                        <p:cTn id="70" dur="500"/>
                                        <p:tgtEl>
                                          <p:spTgt spid="7481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74810">
                                            <p:txEl>
                                              <p:charRg st="0" end="24"/>
                                            </p:txEl>
                                          </p:spTgt>
                                        </p:tgtEl>
                                        <p:attrNameLst>
                                          <p:attrName>style.visibility</p:attrName>
                                        </p:attrNameLst>
                                      </p:cBhvr>
                                      <p:to>
                                        <p:strVal val="visible"/>
                                      </p:to>
                                    </p:set>
                                    <p:animEffect transition="in" filter="wipe(left)">
                                      <p:cBhvr>
                                        <p:cTn id="75" dur="500"/>
                                        <p:tgtEl>
                                          <p:spTgt spid="74810">
                                            <p:txEl>
                                              <p:charRg st="0" end="24"/>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74811"/>
                                        </p:tgtEl>
                                        <p:attrNameLst>
                                          <p:attrName>style.visibility</p:attrName>
                                        </p:attrNameLst>
                                      </p:cBhvr>
                                      <p:to>
                                        <p:strVal val="visible"/>
                                      </p:to>
                                    </p:set>
                                    <p:animEffect transition="in" filter="wipe(left)">
                                      <p:cBhvr>
                                        <p:cTn id="80" dur="500"/>
                                        <p:tgtEl>
                                          <p:spTgt spid="7481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74811">
                                            <p:txEl>
                                              <p:charRg st="0" end="23"/>
                                            </p:txEl>
                                          </p:spTgt>
                                        </p:tgtEl>
                                        <p:attrNameLst>
                                          <p:attrName>style.visibility</p:attrName>
                                        </p:attrNameLst>
                                      </p:cBhvr>
                                      <p:to>
                                        <p:strVal val="visible"/>
                                      </p:to>
                                    </p:set>
                                    <p:animEffect transition="in" filter="wipe(left)">
                                      <p:cBhvr>
                                        <p:cTn id="85" dur="500"/>
                                        <p:tgtEl>
                                          <p:spTgt spid="74811">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P spid="74759" grpId="0"/>
      <p:bldP spid="74762" grpId="0" bldLvl="0" animBg="1"/>
      <p:bldP spid="74763" grpId="0"/>
      <p:bldP spid="74809" grpId="0" build="p"/>
      <p:bldP spid="74810" grpId="0" build="p"/>
      <p:bldP spid="7481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5778" name="Text Box 2"/>
          <p:cNvSpPr txBox="1">
            <a:spLocks noChangeArrowheads="1"/>
          </p:cNvSpPr>
          <p:nvPr/>
        </p:nvSpPr>
        <p:spPr bwMode="auto">
          <a:xfrm>
            <a:off x="436563" y="396875"/>
            <a:ext cx="5473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R="0" defTabSz="914400" rtl="0">
              <a:spcBef>
                <a:spcPct val="50000"/>
              </a:spcBef>
              <a:buClrTx/>
              <a:buSzTx/>
              <a:buFontTx/>
              <a:buNone/>
              <a:defRPr/>
            </a:pPr>
            <a:r>
              <a:rPr kumimoji="1" lang="zh-CN" altLang="en-US"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例</a:t>
            </a:r>
            <a:r>
              <a:rPr kumimoji="1" lang="en-US" altLang="zh-CN"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smtClean="0">
                <a:solidFill>
                  <a:srgbClr val="0000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用估算法计算静态工作点。</a:t>
            </a:r>
            <a:endParaRPr kumimoji="1" lang="zh-CN" altLang="en-US" sz="2800" b="1" kern="1200" cap="none" spc="0" normalizeH="0" baseline="0" noProof="0" smtClean="0">
              <a:solidFill>
                <a:srgbClr val="0000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0242" name="Text Box 3"/>
          <p:cNvSpPr txBox="1"/>
          <p:nvPr/>
        </p:nvSpPr>
        <p:spPr>
          <a:xfrm>
            <a:off x="436563" y="1123950"/>
            <a:ext cx="4843462" cy="1201738"/>
          </a:xfrm>
          <a:prstGeom prst="rect">
            <a:avLst/>
          </a:prstGeom>
          <a:noFill/>
          <a:ln w="38100">
            <a:noFill/>
          </a:ln>
        </p:spPr>
        <p:txBody>
          <a:bodyPr wrap="square" lIns="90000" tIns="46800" rIns="90000" bIns="46800" anchor="ctr">
            <a:spAutoFit/>
          </a:bodyPr>
          <a:p>
            <a:pPr marL="1238250" indent="-1238250">
              <a:lnSpc>
                <a:spcPct val="130000"/>
              </a:lnSpc>
            </a:pPr>
            <a:r>
              <a:rPr lang="zh-CN" altLang="en-US" sz="2800" b="1" dirty="0">
                <a:solidFill>
                  <a:schemeClr val="tx2"/>
                </a:solidFill>
                <a:latin typeface="宋体" panose="02010600030101010101" pitchFamily="2" charset="-122"/>
                <a:ea typeface="宋体" panose="02010600030101010101" pitchFamily="2" charset="-122"/>
              </a:rPr>
              <a:t>已知：</a:t>
            </a:r>
            <a:r>
              <a:rPr lang="en-US" altLang="zh-CN" sz="2800" b="1" i="1" dirty="0">
                <a:solidFill>
                  <a:schemeClr val="tx2"/>
                </a:solidFill>
                <a:latin typeface="Times New Roman" panose="02020603050405020304" pitchFamily="18" charset="0"/>
                <a:ea typeface="宋体" panose="02010600030101010101" pitchFamily="2" charset="-122"/>
              </a:rPr>
              <a:t>U</a:t>
            </a:r>
            <a:r>
              <a:rPr lang="en-US" altLang="zh-CN" sz="2800" b="1" baseline="-25000" dirty="0">
                <a:solidFill>
                  <a:schemeClr val="tx2"/>
                </a:solidFill>
                <a:latin typeface="Times New Roman" panose="02020603050405020304" pitchFamily="18" charset="0"/>
                <a:ea typeface="宋体" panose="02010600030101010101" pitchFamily="2" charset="-122"/>
              </a:rPr>
              <a:t>CC</a:t>
            </a:r>
            <a:r>
              <a:rPr lang="en-US" altLang="zh-CN" sz="2800" b="1" dirty="0">
                <a:solidFill>
                  <a:schemeClr val="tx2"/>
                </a:solidFill>
                <a:latin typeface="Times New Roman" panose="02020603050405020304" pitchFamily="18" charset="0"/>
                <a:ea typeface="宋体" panose="02010600030101010101" pitchFamily="2" charset="-122"/>
              </a:rPr>
              <a:t>=12V</a:t>
            </a:r>
            <a:r>
              <a:rPr lang="zh-CN" altLang="en-US" sz="2800" b="1" dirty="0">
                <a:solidFill>
                  <a:schemeClr val="tx2"/>
                </a:solidFill>
                <a:latin typeface="Times New Roman" panose="02020603050405020304" pitchFamily="18" charset="0"/>
                <a:ea typeface="宋体" panose="02010600030101010101" pitchFamily="2" charset="-122"/>
              </a:rPr>
              <a:t>，</a:t>
            </a:r>
            <a:r>
              <a:rPr lang="en-US" altLang="zh-CN" sz="2800" b="1" i="1" dirty="0">
                <a:solidFill>
                  <a:schemeClr val="tx2"/>
                </a:solidFill>
                <a:latin typeface="Times New Roman" panose="02020603050405020304" pitchFamily="18" charset="0"/>
                <a:ea typeface="宋体" panose="02010600030101010101" pitchFamily="2" charset="-122"/>
              </a:rPr>
              <a:t>R</a:t>
            </a:r>
            <a:r>
              <a:rPr lang="en-US" altLang="zh-CN" sz="2800" b="1" baseline="-25000" dirty="0">
                <a:solidFill>
                  <a:schemeClr val="tx2"/>
                </a:solidFill>
                <a:latin typeface="Times New Roman" panose="02020603050405020304" pitchFamily="18" charset="0"/>
                <a:ea typeface="宋体" panose="02010600030101010101" pitchFamily="2" charset="-122"/>
              </a:rPr>
              <a:t>C</a:t>
            </a:r>
            <a:r>
              <a:rPr lang="en-US" altLang="zh-CN" sz="2800" b="1" dirty="0">
                <a:solidFill>
                  <a:schemeClr val="tx2"/>
                </a:solidFill>
                <a:latin typeface="Times New Roman" panose="02020603050405020304" pitchFamily="18" charset="0"/>
                <a:ea typeface="宋体" panose="02010600030101010101" pitchFamily="2" charset="-122"/>
              </a:rPr>
              <a:t>=4k</a:t>
            </a:r>
            <a:r>
              <a:rPr lang="en-US" altLang="zh-CN"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a:p>
            <a:pPr marL="1238250" indent="-1238250">
              <a:lnSpc>
                <a:spcPct val="130000"/>
              </a:lnSpc>
            </a:pPr>
            <a:r>
              <a:rPr lang="en-US" altLang="zh-CN" sz="2800" b="1" i="1" dirty="0">
                <a:solidFill>
                  <a:schemeClr val="tx2"/>
                </a:solidFill>
                <a:latin typeface="Times New Roman" panose="02020603050405020304" pitchFamily="18" charset="0"/>
                <a:ea typeface="宋体" panose="02010600030101010101" pitchFamily="2" charset="-122"/>
                <a:sym typeface="Symbol" panose="05050102010706020507" pitchFamily="18" charset="2"/>
              </a:rPr>
              <a:t>R</a:t>
            </a:r>
            <a:r>
              <a:rPr lang="en-US" altLang="zh-CN" sz="2800" b="1" baseline="-25000" dirty="0">
                <a:solidFill>
                  <a:schemeClr val="tx2"/>
                </a:solidFill>
                <a:latin typeface="Times New Roman" panose="02020603050405020304" pitchFamily="18" charset="0"/>
                <a:ea typeface="宋体" panose="02010600030101010101" pitchFamily="2" charset="-122"/>
                <a:sym typeface="Symbol" panose="05050102010706020507" pitchFamily="18" charset="2"/>
              </a:rPr>
              <a:t>B</a:t>
            </a:r>
            <a:r>
              <a:rPr lang="en-US" altLang="zh-CN"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=300k</a:t>
            </a:r>
            <a:r>
              <a:rPr lang="zh-CN" altLang="en-US"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1" i="1" dirty="0">
                <a:solidFill>
                  <a:schemeClr val="tx2"/>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=37.5</a:t>
            </a:r>
            <a:r>
              <a:rPr lang="zh-CN" altLang="en-US" sz="2800" b="1" dirty="0">
                <a:solidFill>
                  <a:schemeClr val="tx2"/>
                </a:solidFill>
                <a:latin typeface="宋体" panose="02010600030101010101" pitchFamily="2" charset="-122"/>
                <a:ea typeface="宋体" panose="02010600030101010101" pitchFamily="2" charset="-122"/>
                <a:sym typeface="Symbol" panose="05050102010706020507" pitchFamily="18" charset="2"/>
              </a:rPr>
              <a:t>。</a:t>
            </a:r>
            <a:endParaRPr lang="zh-CN" altLang="en-US" sz="2800" b="1" dirty="0">
              <a:solidFill>
                <a:schemeClr val="tx2"/>
              </a:solidFill>
              <a:latin typeface="宋体" panose="02010600030101010101" pitchFamily="2" charset="-122"/>
              <a:ea typeface="宋体" panose="02010600030101010101" pitchFamily="2" charset="-122"/>
              <a:sym typeface="Symbol" panose="05050102010706020507" pitchFamily="18" charset="2"/>
            </a:endParaRPr>
          </a:p>
        </p:txBody>
      </p:sp>
      <p:sp>
        <p:nvSpPr>
          <p:cNvPr id="75780" name="Text Box 4"/>
          <p:cNvSpPr txBox="1"/>
          <p:nvPr/>
        </p:nvSpPr>
        <p:spPr>
          <a:xfrm>
            <a:off x="581025" y="2511425"/>
            <a:ext cx="1181100" cy="519113"/>
          </a:xfrm>
          <a:prstGeom prst="rect">
            <a:avLst/>
          </a:prstGeom>
          <a:noFill/>
          <a:ln w="38100">
            <a:noFill/>
          </a:ln>
        </p:spPr>
        <p:txBody>
          <a:bodyPr lIns="90000" tIns="46800" rIns="90000" bIns="46800" anchor="ctr">
            <a:spAutoFit/>
          </a:bodyPr>
          <a:p>
            <a:pPr>
              <a:spcBef>
                <a:spcPct val="50000"/>
              </a:spcBef>
            </a:pPr>
            <a:r>
              <a:rPr lang="zh-CN" altLang="en-US" sz="2800" b="1" dirty="0">
                <a:latin typeface="Times New Roman" panose="02020603050405020304" pitchFamily="18" charset="0"/>
                <a:ea typeface="宋体" panose="02010600030101010101" pitchFamily="2" charset="-122"/>
              </a:rPr>
              <a:t>解：</a:t>
            </a:r>
            <a:endParaRPr lang="zh-CN" altLang="en-US" sz="2800" b="1" dirty="0">
              <a:latin typeface="Times New Roman" panose="02020603050405020304" pitchFamily="18" charset="0"/>
              <a:ea typeface="宋体" panose="02010600030101010101" pitchFamily="2" charset="-122"/>
            </a:endParaRPr>
          </a:p>
        </p:txBody>
      </p:sp>
      <p:sp>
        <p:nvSpPr>
          <p:cNvPr id="75781" name="Rectangle 5"/>
          <p:cNvSpPr>
            <a:spLocks noChangeArrowheads="1"/>
          </p:cNvSpPr>
          <p:nvPr/>
        </p:nvSpPr>
        <p:spPr bwMode="auto">
          <a:xfrm>
            <a:off x="560388" y="5514975"/>
            <a:ext cx="6172200" cy="5191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注意：</a:t>
            </a:r>
            <a:r>
              <a:rPr kumimoji="1" lang="zh-CN" altLang="en-US" sz="2800" b="1" i="0" u="none" strike="noStrike" kern="1200" cap="none" spc="0" normalizeH="0" baseline="0" noProof="0" smtClean="0">
                <a:ln>
                  <a:noFill/>
                </a:ln>
                <a:solidFill>
                  <a:srgbClr val="005C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电路中</a:t>
            </a:r>
            <a:r>
              <a:rPr kumimoji="1" lang="en-US" altLang="zh-CN" sz="2800" b="1" i="1" u="none" strike="noStrike" kern="1200" cap="none" spc="0" normalizeH="0" baseline="0" noProof="0" smtClean="0">
                <a:ln>
                  <a:noFill/>
                </a:ln>
                <a:solidFill>
                  <a:srgbClr val="005C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rgbClr val="005C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a:t>
            </a:r>
            <a:r>
              <a:rPr kumimoji="1" lang="en-US" altLang="zh-CN" sz="2800" b="1" i="1" u="none" strike="noStrike" kern="1200" cap="none" spc="0" normalizeH="0" baseline="-25000" noProof="0" smtClean="0">
                <a:ln>
                  <a:noFill/>
                </a:ln>
                <a:solidFill>
                  <a:srgbClr val="005C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rgbClr val="005C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和 </a:t>
            </a:r>
            <a:r>
              <a:rPr kumimoji="1" lang="en-US" altLang="zh-CN" sz="2800" b="1" i="1" u="none" strike="noStrike" kern="1200" cap="none" spc="0" normalizeH="0" baseline="0" noProof="0" smtClean="0">
                <a:ln>
                  <a:noFill/>
                </a:ln>
                <a:solidFill>
                  <a:srgbClr val="005C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rgbClr val="005C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1" lang="en-US" altLang="zh-CN" sz="2800" b="1" i="1" u="none" strike="noStrike" kern="1200" cap="none" spc="0" normalizeH="0" baseline="-25000" noProof="0" smtClean="0">
                <a:ln>
                  <a:noFill/>
                </a:ln>
                <a:solidFill>
                  <a:srgbClr val="005C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rgbClr val="005C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的数量级不同</a:t>
            </a:r>
            <a:endParaRPr kumimoji="1" lang="zh-CN" altLang="en-US" sz="2800" b="1" i="0" u="none" strike="noStrike" kern="1200" cap="none" spc="0" normalizeH="0" baseline="0" noProof="0" smtClean="0">
              <a:ln>
                <a:noFill/>
              </a:ln>
              <a:solidFill>
                <a:srgbClr val="005C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graphicFrame>
        <p:nvGraphicFramePr>
          <p:cNvPr id="75784" name="Object 8"/>
          <p:cNvGraphicFramePr>
            <a:graphicFrameLocks noChangeAspect="1"/>
          </p:cNvGraphicFramePr>
          <p:nvPr/>
        </p:nvGraphicFramePr>
        <p:xfrm>
          <a:off x="990600" y="4173538"/>
          <a:ext cx="3975100" cy="1042987"/>
        </p:xfrm>
        <a:graphic>
          <a:graphicData uri="http://schemas.openxmlformats.org/presentationml/2006/ole">
            <mc:AlternateContent xmlns:mc="http://schemas.openxmlformats.org/markup-compatibility/2006">
              <mc:Choice xmlns:v="urn:schemas-microsoft-com:vml" Requires="v">
                <p:oleObj spid="_x0000_s3088" name="" r:id="rId1" imgW="2070100" imgH="546100" progId="Equation.3">
                  <p:embed/>
                </p:oleObj>
              </mc:Choice>
              <mc:Fallback>
                <p:oleObj name="" r:id="rId1" imgW="2070100" imgH="546100" progId="Equation.3">
                  <p:embed/>
                  <p:pic>
                    <p:nvPicPr>
                      <p:cNvPr id="0" name="图片 3087"/>
                      <p:cNvPicPr/>
                      <p:nvPr/>
                    </p:nvPicPr>
                    <p:blipFill>
                      <a:blip r:embed="rId2">
                        <a:clrChange>
                          <a:clrFrom>
                            <a:srgbClr val="000000"/>
                          </a:clrFrom>
                          <a:clrTo>
                            <a:srgbClr val="000099"/>
                          </a:clrTo>
                        </a:clrChange>
                      </a:blip>
                      <a:stretch>
                        <a:fillRect/>
                      </a:stretch>
                    </p:blipFill>
                    <p:spPr>
                      <a:xfrm>
                        <a:off x="990600" y="4173538"/>
                        <a:ext cx="3975100" cy="1042987"/>
                      </a:xfrm>
                      <a:prstGeom prst="rect">
                        <a:avLst/>
                      </a:prstGeom>
                      <a:noFill/>
                      <a:ln w="38100">
                        <a:noFill/>
                        <a:miter/>
                      </a:ln>
                    </p:spPr>
                  </p:pic>
                </p:oleObj>
              </mc:Fallback>
            </mc:AlternateContent>
          </a:graphicData>
        </a:graphic>
      </p:graphicFrame>
      <p:grpSp>
        <p:nvGrpSpPr>
          <p:cNvPr id="10248" name="Group 12"/>
          <p:cNvGrpSpPr/>
          <p:nvPr/>
        </p:nvGrpSpPr>
        <p:grpSpPr>
          <a:xfrm>
            <a:off x="6015038" y="1371600"/>
            <a:ext cx="2976562" cy="3087688"/>
            <a:chOff x="576" y="816"/>
            <a:chExt cx="1875" cy="1945"/>
          </a:xfrm>
        </p:grpSpPr>
        <p:sp>
          <p:nvSpPr>
            <p:cNvPr id="10249" name="Rectangle 13"/>
            <p:cNvSpPr/>
            <p:nvPr/>
          </p:nvSpPr>
          <p:spPr>
            <a:xfrm>
              <a:off x="1905" y="816"/>
              <a:ext cx="546" cy="288"/>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75790" name="Line 14"/>
            <p:cNvSpPr>
              <a:spLocks noChangeShapeType="1"/>
            </p:cNvSpPr>
            <p:nvPr/>
          </p:nvSpPr>
          <p:spPr bwMode="auto">
            <a:xfrm flipV="1">
              <a:off x="915" y="1535"/>
              <a:ext cx="0" cy="4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791" name="Line 15"/>
            <p:cNvSpPr>
              <a:spLocks noChangeShapeType="1"/>
            </p:cNvSpPr>
            <p:nvPr/>
          </p:nvSpPr>
          <p:spPr bwMode="auto">
            <a:xfrm rot="16200000" flipH="1">
              <a:off x="770" y="1080"/>
              <a:ext cx="290"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0252" name="Group 16"/>
            <p:cNvGrpSpPr/>
            <p:nvPr/>
          </p:nvGrpSpPr>
          <p:grpSpPr>
            <a:xfrm>
              <a:off x="1428" y="1751"/>
              <a:ext cx="156" cy="384"/>
              <a:chOff x="4500" y="2064"/>
              <a:chExt cx="156" cy="384"/>
            </a:xfrm>
          </p:grpSpPr>
          <p:sp>
            <p:nvSpPr>
              <p:cNvPr id="75793" name="Line 17"/>
              <p:cNvSpPr>
                <a:spLocks noChangeShapeType="1"/>
              </p:cNvSpPr>
              <p:nvPr/>
            </p:nvSpPr>
            <p:spPr bwMode="auto">
              <a:xfrm>
                <a:off x="4500" y="2088"/>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794" name="Line 18"/>
              <p:cNvSpPr>
                <a:spLocks noChangeShapeType="1"/>
              </p:cNvSpPr>
              <p:nvPr/>
            </p:nvSpPr>
            <p:spPr bwMode="auto">
              <a:xfrm>
                <a:off x="4500" y="2264"/>
                <a:ext cx="156" cy="184"/>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795" name="Line 19"/>
              <p:cNvSpPr>
                <a:spLocks noChangeShapeType="1"/>
              </p:cNvSpPr>
              <p:nvPr/>
            </p:nvSpPr>
            <p:spPr bwMode="auto">
              <a:xfrm flipV="1">
                <a:off x="450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5796" name="Line 20"/>
            <p:cNvSpPr>
              <a:spLocks noChangeShapeType="1"/>
            </p:cNvSpPr>
            <p:nvPr/>
          </p:nvSpPr>
          <p:spPr bwMode="auto">
            <a:xfrm>
              <a:off x="1570" y="2089"/>
              <a:ext cx="0" cy="67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257" name="Text Box 21"/>
            <p:cNvSpPr txBox="1"/>
            <p:nvPr/>
          </p:nvSpPr>
          <p:spPr>
            <a:xfrm>
              <a:off x="576" y="1254"/>
              <a:ext cx="328" cy="288"/>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5798" name="Rectangle 22"/>
            <p:cNvSpPr>
              <a:spLocks noChangeArrowheads="1"/>
            </p:cNvSpPr>
            <p:nvPr/>
          </p:nvSpPr>
          <p:spPr bwMode="auto">
            <a:xfrm>
              <a:off x="1521" y="1177"/>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799" name="Rectangle 23"/>
            <p:cNvSpPr>
              <a:spLocks noChangeArrowheads="1"/>
            </p:cNvSpPr>
            <p:nvPr/>
          </p:nvSpPr>
          <p:spPr bwMode="auto">
            <a:xfrm>
              <a:off x="868" y="1225"/>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260" name="Text Box 24"/>
            <p:cNvSpPr txBox="1"/>
            <p:nvPr/>
          </p:nvSpPr>
          <p:spPr>
            <a:xfrm>
              <a:off x="1207" y="1083"/>
              <a:ext cx="334" cy="288"/>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10261" name="Text Box 25"/>
            <p:cNvSpPr txBox="1"/>
            <p:nvPr/>
          </p:nvSpPr>
          <p:spPr>
            <a:xfrm>
              <a:off x="1463" y="1772"/>
              <a:ext cx="242" cy="288"/>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75802" name="Line 26"/>
            <p:cNvSpPr>
              <a:spLocks noChangeShapeType="1"/>
            </p:cNvSpPr>
            <p:nvPr/>
          </p:nvSpPr>
          <p:spPr bwMode="auto">
            <a:xfrm flipV="1">
              <a:off x="921" y="1922"/>
              <a:ext cx="50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263" name="Text Box 27"/>
            <p:cNvSpPr txBox="1"/>
            <p:nvPr/>
          </p:nvSpPr>
          <p:spPr>
            <a:xfrm>
              <a:off x="1205" y="1841"/>
              <a:ext cx="367" cy="288"/>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10264" name="Text Box 28"/>
            <p:cNvSpPr txBox="1"/>
            <p:nvPr/>
          </p:nvSpPr>
          <p:spPr>
            <a:xfrm>
              <a:off x="1648" y="1590"/>
              <a:ext cx="366" cy="288"/>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75805" name="Rectangle 29"/>
            <p:cNvSpPr>
              <a:spLocks noChangeArrowheads="1"/>
            </p:cNvSpPr>
            <p:nvPr/>
          </p:nvSpPr>
          <p:spPr bwMode="auto">
            <a:xfrm>
              <a:off x="1357" y="214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rPr>
                <a:t>–</a:t>
              </a:r>
              <a:endPar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10266" name="Rectangle 30"/>
            <p:cNvSpPr/>
            <p:nvPr/>
          </p:nvSpPr>
          <p:spPr>
            <a:xfrm>
              <a:off x="1120" y="1996"/>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0267" name="Rectangle 31"/>
            <p:cNvSpPr/>
            <p:nvPr/>
          </p:nvSpPr>
          <p:spPr>
            <a:xfrm>
              <a:off x="1568" y="1867"/>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0268" name="Rectangle 32"/>
            <p:cNvSpPr/>
            <p:nvPr/>
          </p:nvSpPr>
          <p:spPr>
            <a:xfrm>
              <a:off x="1643" y="2053"/>
              <a:ext cx="210" cy="288"/>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5809" name="Line 33"/>
            <p:cNvSpPr>
              <a:spLocks noChangeShapeType="1"/>
            </p:cNvSpPr>
            <p:nvPr/>
          </p:nvSpPr>
          <p:spPr bwMode="auto">
            <a:xfrm>
              <a:off x="1502" y="1459"/>
              <a:ext cx="2"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270" name="Rectangle 34"/>
            <p:cNvSpPr/>
            <p:nvPr/>
          </p:nvSpPr>
          <p:spPr>
            <a:xfrm>
              <a:off x="1150" y="1417"/>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5811" name="Line 35"/>
            <p:cNvSpPr>
              <a:spLocks noChangeShapeType="1"/>
            </p:cNvSpPr>
            <p:nvPr/>
          </p:nvSpPr>
          <p:spPr bwMode="auto">
            <a:xfrm>
              <a:off x="1028" y="1849"/>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272" name="Rectangle 36"/>
            <p:cNvSpPr/>
            <p:nvPr/>
          </p:nvSpPr>
          <p:spPr>
            <a:xfrm>
              <a:off x="915" y="1561"/>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5813" name="Oval 37"/>
            <p:cNvSpPr>
              <a:spLocks noChangeArrowheads="1"/>
            </p:cNvSpPr>
            <p:nvPr/>
          </p:nvSpPr>
          <p:spPr bwMode="auto">
            <a:xfrm>
              <a:off x="1865" y="927"/>
              <a:ext cx="56" cy="5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814" name="Line 38"/>
            <p:cNvSpPr>
              <a:spLocks noChangeShapeType="1"/>
            </p:cNvSpPr>
            <p:nvPr/>
          </p:nvSpPr>
          <p:spPr bwMode="auto">
            <a:xfrm>
              <a:off x="1480" y="2753"/>
              <a:ext cx="189" cy="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815" name="Line 39"/>
            <p:cNvSpPr>
              <a:spLocks noChangeShapeType="1"/>
            </p:cNvSpPr>
            <p:nvPr/>
          </p:nvSpPr>
          <p:spPr bwMode="auto">
            <a:xfrm>
              <a:off x="912" y="937"/>
              <a:ext cx="96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816" name="Line 40"/>
            <p:cNvSpPr>
              <a:spLocks noChangeShapeType="1"/>
            </p:cNvSpPr>
            <p:nvPr/>
          </p:nvSpPr>
          <p:spPr bwMode="auto">
            <a:xfrm>
              <a:off x="1561" y="937"/>
              <a:ext cx="0"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817" name="Line 41"/>
            <p:cNvSpPr>
              <a:spLocks noChangeShapeType="1"/>
            </p:cNvSpPr>
            <p:nvPr/>
          </p:nvSpPr>
          <p:spPr bwMode="auto">
            <a:xfrm>
              <a:off x="1573" y="1478"/>
              <a:ext cx="0"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aphicFrame>
        <p:nvGraphicFramePr>
          <p:cNvPr id="2" name="对象 1"/>
          <p:cNvGraphicFramePr/>
          <p:nvPr/>
        </p:nvGraphicFramePr>
        <p:xfrm>
          <a:off x="1654175" y="2444750"/>
          <a:ext cx="3984625" cy="901700"/>
        </p:xfrm>
        <a:graphic>
          <a:graphicData uri="http://schemas.openxmlformats.org/presentationml/2006/ole">
            <mc:AlternateContent xmlns:mc="http://schemas.openxmlformats.org/markup-compatibility/2006">
              <mc:Choice xmlns:v="urn:schemas-microsoft-com:vml" Requires="v">
                <p:oleObj spid="_x0000_s3" name="" r:id="rId3" imgW="4146550" imgH="720725" progId="Equation.KSEE3">
                  <p:embed/>
                </p:oleObj>
              </mc:Choice>
              <mc:Fallback>
                <p:oleObj name="" r:id="rId3" imgW="4146550" imgH="720725" progId="Equation.KSEE3">
                  <p:embed/>
                  <p:pic>
                    <p:nvPicPr>
                      <p:cNvPr id="0" name="图片 2"/>
                      <p:cNvPicPr/>
                      <p:nvPr/>
                    </p:nvPicPr>
                    <p:blipFill>
                      <a:blip r:embed="rId4"/>
                      <a:stretch>
                        <a:fillRect/>
                      </a:stretch>
                    </p:blipFill>
                    <p:spPr>
                      <a:xfrm>
                        <a:off x="1654175" y="2444750"/>
                        <a:ext cx="3984625" cy="901700"/>
                      </a:xfrm>
                      <a:prstGeom prst="rect">
                        <a:avLst/>
                      </a:prstGeom>
                    </p:spPr>
                  </p:pic>
                </p:oleObj>
              </mc:Fallback>
            </mc:AlternateContent>
          </a:graphicData>
        </a:graphic>
      </p:graphicFrame>
      <p:graphicFrame>
        <p:nvGraphicFramePr>
          <p:cNvPr id="6" name="对象 5"/>
          <p:cNvGraphicFramePr/>
          <p:nvPr/>
        </p:nvGraphicFramePr>
        <p:xfrm>
          <a:off x="1711960" y="3333115"/>
          <a:ext cx="4304030" cy="606425"/>
        </p:xfrm>
        <a:graphic>
          <a:graphicData uri="http://schemas.openxmlformats.org/presentationml/2006/ole">
            <mc:AlternateContent xmlns:mc="http://schemas.openxmlformats.org/markup-compatibility/2006">
              <mc:Choice xmlns:v="urn:schemas-microsoft-com:vml" Requires="v">
                <p:oleObj spid="_x0000_s7" name="" r:id="rId5" imgW="4078605" imgH="442595" progId="Equation.KSEE3">
                  <p:embed/>
                </p:oleObj>
              </mc:Choice>
              <mc:Fallback>
                <p:oleObj name="" r:id="rId5" imgW="4078605" imgH="442595" progId="Equation.KSEE3">
                  <p:embed/>
                  <p:pic>
                    <p:nvPicPr>
                      <p:cNvPr id="0" name="图片 6"/>
                      <p:cNvPicPr/>
                      <p:nvPr/>
                    </p:nvPicPr>
                    <p:blipFill>
                      <a:blip r:embed="rId6"/>
                      <a:stretch>
                        <a:fillRect/>
                      </a:stretch>
                    </p:blipFill>
                    <p:spPr>
                      <a:xfrm>
                        <a:off x="1711960" y="3333115"/>
                        <a:ext cx="4304030" cy="606425"/>
                      </a:xfrm>
                      <a:prstGeom prst="rect">
                        <a:avLst/>
                      </a:prstGeom>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80">
                                            <p:txEl>
                                              <p:charRg st="0" end="3"/>
                                            </p:txEl>
                                          </p:spTgt>
                                        </p:tgtEl>
                                        <p:attrNameLst>
                                          <p:attrName>style.visibility</p:attrName>
                                        </p:attrNameLst>
                                      </p:cBhvr>
                                      <p:to>
                                        <p:strVal val="visible"/>
                                      </p:to>
                                    </p:set>
                                    <p:animEffect transition="in" filter="wipe(left)">
                                      <p:cBhvr>
                                        <p:cTn id="7" dur="500"/>
                                        <p:tgtEl>
                                          <p:spTgt spid="75780">
                                            <p:txEl>
                                              <p:charRg st="0"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5784"/>
                                        </p:tgtEl>
                                        <p:attrNameLst>
                                          <p:attrName>style.visibility</p:attrName>
                                        </p:attrNameLst>
                                      </p:cBhvr>
                                      <p:to>
                                        <p:strVal val="visible"/>
                                      </p:to>
                                    </p:set>
                                    <p:animEffect transition="in" filter="wipe(left)">
                                      <p:cBhvr>
                                        <p:cTn id="12" dur="500"/>
                                        <p:tgtEl>
                                          <p:spTgt spid="7578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5781"/>
                                        </p:tgtEl>
                                        <p:attrNameLst>
                                          <p:attrName>style.visibility</p:attrName>
                                        </p:attrNameLst>
                                      </p:cBhvr>
                                      <p:to>
                                        <p:strVal val="visible"/>
                                      </p:to>
                                    </p:set>
                                    <p:animEffect transition="in" filter="wipe(left)">
                                      <p:cBhvr>
                                        <p:cTn id="16"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build="p"/>
      <p:bldP spid="75781"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2" name="组合 1"/>
          <p:cNvGrpSpPr/>
          <p:nvPr/>
        </p:nvGrpSpPr>
        <p:grpSpPr>
          <a:xfrm>
            <a:off x="250825" y="1484313"/>
            <a:ext cx="4267200" cy="3541712"/>
            <a:chOff x="250825" y="1484313"/>
            <a:chExt cx="4267201" cy="3541712"/>
          </a:xfrm>
        </p:grpSpPr>
        <p:sp>
          <p:nvSpPr>
            <p:cNvPr id="281605" name="Line 5"/>
            <p:cNvSpPr>
              <a:spLocks noChangeShapeType="1"/>
            </p:cNvSpPr>
            <p:nvPr/>
          </p:nvSpPr>
          <p:spPr bwMode="auto">
            <a:xfrm flipH="1" flipV="1">
              <a:off x="2930525" y="1528763"/>
              <a:ext cx="0" cy="269875"/>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06" name="Line 6"/>
            <p:cNvSpPr>
              <a:spLocks noChangeShapeType="1"/>
            </p:cNvSpPr>
            <p:nvPr/>
          </p:nvSpPr>
          <p:spPr bwMode="auto">
            <a:xfrm flipV="1">
              <a:off x="1927225" y="1520825"/>
              <a:ext cx="1955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268" name="Rectangle 7"/>
            <p:cNvSpPr/>
            <p:nvPr/>
          </p:nvSpPr>
          <p:spPr>
            <a:xfrm>
              <a:off x="3516313" y="1520825"/>
              <a:ext cx="1001713" cy="457200"/>
            </a:xfrm>
            <a:prstGeom prst="rect">
              <a:avLst/>
            </a:prstGeom>
            <a:noFill/>
            <a:ln w="38100">
              <a:noFill/>
            </a:ln>
          </p:spPr>
          <p:txBody>
            <a:bodyPr lIns="90000" tIns="46800" rIns="90000" bIns="46800" anchor="ctr">
              <a:spAutoFit/>
            </a:bodyPr>
            <a:p>
              <a:pPr algn="ctr">
                <a:spcBef>
                  <a:spcPct val="50000"/>
                </a:spcBef>
              </a:pP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11269" name="Text Box 8"/>
            <p:cNvSpPr txBox="1"/>
            <p:nvPr/>
          </p:nvSpPr>
          <p:spPr>
            <a:xfrm>
              <a:off x="250825" y="3390900"/>
              <a:ext cx="584200"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S</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11270" name="Text Box 9"/>
            <p:cNvSpPr txBox="1"/>
            <p:nvPr/>
          </p:nvSpPr>
          <p:spPr>
            <a:xfrm>
              <a:off x="317500" y="4152900"/>
              <a:ext cx="411163" cy="457200"/>
            </a:xfrm>
            <a:prstGeom prst="rect">
              <a:avLst/>
            </a:prstGeom>
            <a:noFill/>
            <a:ln w="38100">
              <a:noFill/>
            </a:ln>
          </p:spPr>
          <p:txBody>
            <a:bodyPr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e</a:t>
              </a:r>
              <a:r>
                <a:rPr lang="en-US" altLang="zh-CN" b="1" baseline="-25000" dirty="0">
                  <a:solidFill>
                    <a:schemeClr val="accent2"/>
                  </a:solidFill>
                  <a:latin typeface="Times New Roman" panose="02020603050405020304" pitchFamily="18" charset="0"/>
                  <a:ea typeface="楷体_GB2312" pitchFamily="49" charset="-122"/>
                </a:rPr>
                <a:t>s</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281610" name="Line 10"/>
            <p:cNvSpPr>
              <a:spLocks noChangeShapeType="1"/>
            </p:cNvSpPr>
            <p:nvPr/>
          </p:nvSpPr>
          <p:spPr bwMode="auto">
            <a:xfrm flipV="1">
              <a:off x="1927225" y="2684463"/>
              <a:ext cx="0" cy="57626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11" name="Line 11"/>
            <p:cNvSpPr>
              <a:spLocks noChangeShapeType="1"/>
            </p:cNvSpPr>
            <p:nvPr/>
          </p:nvSpPr>
          <p:spPr bwMode="auto">
            <a:xfrm rot="5400000">
              <a:off x="1584325" y="1863725"/>
              <a:ext cx="685800"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12" name="Line 12"/>
            <p:cNvSpPr>
              <a:spLocks noChangeShapeType="1"/>
            </p:cNvSpPr>
            <p:nvPr/>
          </p:nvSpPr>
          <p:spPr bwMode="auto">
            <a:xfrm>
              <a:off x="2701925" y="3019425"/>
              <a:ext cx="0" cy="427037"/>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13" name="Line 13"/>
            <p:cNvSpPr>
              <a:spLocks noChangeShapeType="1"/>
            </p:cNvSpPr>
            <p:nvPr/>
          </p:nvSpPr>
          <p:spPr bwMode="auto">
            <a:xfrm rot="21333026">
              <a:off x="2705100" y="3278188"/>
              <a:ext cx="217488" cy="220662"/>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14" name="Line 14"/>
            <p:cNvSpPr>
              <a:spLocks noChangeShapeType="1"/>
            </p:cNvSpPr>
            <p:nvPr/>
          </p:nvSpPr>
          <p:spPr bwMode="auto">
            <a:xfrm flipV="1">
              <a:off x="2701925" y="2968625"/>
              <a:ext cx="217488" cy="193675"/>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15" name="Line 15"/>
            <p:cNvSpPr>
              <a:spLocks noChangeShapeType="1"/>
            </p:cNvSpPr>
            <p:nvPr/>
          </p:nvSpPr>
          <p:spPr bwMode="auto">
            <a:xfrm flipV="1">
              <a:off x="817563" y="4768850"/>
              <a:ext cx="3167063"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277" name="Text Box 16"/>
            <p:cNvSpPr txBox="1"/>
            <p:nvPr/>
          </p:nvSpPr>
          <p:spPr>
            <a:xfrm>
              <a:off x="1393825" y="2054225"/>
              <a:ext cx="520700"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281617" name="Rectangle 17"/>
            <p:cNvSpPr>
              <a:spLocks noChangeArrowheads="1"/>
            </p:cNvSpPr>
            <p:nvPr/>
          </p:nvSpPr>
          <p:spPr bwMode="auto">
            <a:xfrm>
              <a:off x="2849563" y="1800225"/>
              <a:ext cx="146050" cy="484187"/>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18" name="Rectangle 18"/>
            <p:cNvSpPr>
              <a:spLocks noChangeArrowheads="1"/>
            </p:cNvSpPr>
            <p:nvPr/>
          </p:nvSpPr>
          <p:spPr bwMode="auto">
            <a:xfrm>
              <a:off x="1851025" y="2206625"/>
              <a:ext cx="146050" cy="484187"/>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1280" name="Group 19"/>
            <p:cNvGrpSpPr/>
            <p:nvPr/>
          </p:nvGrpSpPr>
          <p:grpSpPr>
            <a:xfrm>
              <a:off x="1354138" y="3035300"/>
              <a:ext cx="106363" cy="388937"/>
              <a:chOff x="3454" y="2018"/>
              <a:chExt cx="96" cy="328"/>
            </a:xfrm>
          </p:grpSpPr>
          <p:sp>
            <p:nvSpPr>
              <p:cNvPr id="281620" name="Line 20"/>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21" name="Line 21"/>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81622" name="Line 22"/>
            <p:cNvSpPr>
              <a:spLocks noChangeShapeType="1"/>
            </p:cNvSpPr>
            <p:nvPr/>
          </p:nvSpPr>
          <p:spPr bwMode="auto">
            <a:xfrm flipV="1">
              <a:off x="817563" y="3232150"/>
              <a:ext cx="5397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1284" name="Group 23"/>
            <p:cNvGrpSpPr/>
            <p:nvPr/>
          </p:nvGrpSpPr>
          <p:grpSpPr>
            <a:xfrm flipH="1">
              <a:off x="3411538" y="2360613"/>
              <a:ext cx="106363" cy="388937"/>
              <a:chOff x="3454" y="2018"/>
              <a:chExt cx="96" cy="328"/>
            </a:xfrm>
          </p:grpSpPr>
          <p:sp>
            <p:nvSpPr>
              <p:cNvPr id="281624" name="Line 24"/>
              <p:cNvSpPr>
                <a:spLocks noChangeShapeType="1"/>
              </p:cNvSpPr>
              <p:nvPr/>
            </p:nvSpPr>
            <p:spPr bwMode="auto">
              <a:xfrm>
                <a:off x="3454"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25" name="Line 25"/>
              <p:cNvSpPr>
                <a:spLocks noChangeShapeType="1"/>
              </p:cNvSpPr>
              <p:nvPr/>
            </p:nvSpPr>
            <p:spPr bwMode="auto">
              <a:xfrm>
                <a:off x="3550" y="2018"/>
                <a:ext cx="0" cy="3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81626" name="Line 26"/>
            <p:cNvSpPr>
              <a:spLocks noChangeShapeType="1"/>
            </p:cNvSpPr>
            <p:nvPr/>
          </p:nvSpPr>
          <p:spPr bwMode="auto">
            <a:xfrm flipH="1">
              <a:off x="3517900" y="2530475"/>
              <a:ext cx="4683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27" name="Line 27"/>
            <p:cNvSpPr>
              <a:spLocks noChangeShapeType="1"/>
            </p:cNvSpPr>
            <p:nvPr/>
          </p:nvSpPr>
          <p:spPr bwMode="auto">
            <a:xfrm flipV="1">
              <a:off x="2917825" y="2532063"/>
              <a:ext cx="4937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289" name="Text Box 28"/>
            <p:cNvSpPr txBox="1"/>
            <p:nvPr/>
          </p:nvSpPr>
          <p:spPr>
            <a:xfrm>
              <a:off x="2351088" y="1765300"/>
              <a:ext cx="530225"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11290" name="Text Box 29"/>
            <p:cNvSpPr txBox="1"/>
            <p:nvPr/>
          </p:nvSpPr>
          <p:spPr>
            <a:xfrm>
              <a:off x="1201738" y="2559050"/>
              <a:ext cx="485775"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baseline="-25000" dirty="0">
                <a:latin typeface="Times New Roman" panose="02020603050405020304" pitchFamily="18" charset="0"/>
                <a:ea typeface="楷体_GB2312" pitchFamily="49" charset="-122"/>
              </a:endParaRPr>
            </a:p>
          </p:txBody>
        </p:sp>
        <p:sp>
          <p:nvSpPr>
            <p:cNvPr id="11291" name="Text Box 30"/>
            <p:cNvSpPr txBox="1"/>
            <p:nvPr/>
          </p:nvSpPr>
          <p:spPr>
            <a:xfrm>
              <a:off x="3278188" y="1951038"/>
              <a:ext cx="485775"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2</a:t>
              </a:r>
              <a:endParaRPr lang="en-US" altLang="zh-CN" b="1" baseline="-25000" dirty="0">
                <a:latin typeface="Times New Roman" panose="02020603050405020304" pitchFamily="18" charset="0"/>
                <a:ea typeface="楷体_GB2312" pitchFamily="49" charset="-122"/>
              </a:endParaRPr>
            </a:p>
          </p:txBody>
        </p:sp>
        <p:sp>
          <p:nvSpPr>
            <p:cNvPr id="11292" name="Text Box 31"/>
            <p:cNvSpPr txBox="1"/>
            <p:nvPr/>
          </p:nvSpPr>
          <p:spPr>
            <a:xfrm>
              <a:off x="2765425" y="3014663"/>
              <a:ext cx="384175" cy="457200"/>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11293" name="Text Box 32"/>
            <p:cNvSpPr txBox="1"/>
            <p:nvPr/>
          </p:nvSpPr>
          <p:spPr>
            <a:xfrm>
              <a:off x="1441450" y="2855913"/>
              <a:ext cx="582613" cy="457200"/>
            </a:xfrm>
            <a:prstGeom prst="rect">
              <a:avLst/>
            </a:prstGeom>
            <a:noFill/>
            <a:ln w="9525">
              <a:noFill/>
            </a:ln>
          </p:spPr>
          <p:txBody>
            <a:bodyPr anchor="t">
              <a:spAutoFit/>
            </a:bodyPr>
            <a:p>
              <a:pPr>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11294" name="Text Box 33"/>
            <p:cNvSpPr txBox="1"/>
            <p:nvPr/>
          </p:nvSpPr>
          <p:spPr>
            <a:xfrm>
              <a:off x="3117850" y="2154238"/>
              <a:ext cx="582613" cy="457200"/>
            </a:xfrm>
            <a:prstGeom prst="rect">
              <a:avLst/>
            </a:prstGeom>
            <a:noFill/>
            <a:ln w="9525">
              <a:noFill/>
            </a:ln>
          </p:spPr>
          <p:txBody>
            <a:bodyPr anchor="t">
              <a:spAutoFit/>
            </a:bodyPr>
            <a:p>
              <a:pPr>
                <a:spcBef>
                  <a:spcPct val="50000"/>
                </a:spcBef>
              </a:pP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281634" name="Line 34"/>
            <p:cNvSpPr>
              <a:spLocks noChangeShapeType="1"/>
            </p:cNvSpPr>
            <p:nvPr/>
          </p:nvSpPr>
          <p:spPr bwMode="auto">
            <a:xfrm>
              <a:off x="817563" y="3902075"/>
              <a:ext cx="0" cy="8731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35" name="Rectangle 35"/>
            <p:cNvSpPr>
              <a:spLocks noChangeArrowheads="1"/>
            </p:cNvSpPr>
            <p:nvPr/>
          </p:nvSpPr>
          <p:spPr bwMode="auto">
            <a:xfrm>
              <a:off x="747713" y="3430588"/>
              <a:ext cx="146050" cy="484187"/>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36" name="Oval 36"/>
            <p:cNvSpPr>
              <a:spLocks noChangeArrowheads="1"/>
            </p:cNvSpPr>
            <p:nvPr/>
          </p:nvSpPr>
          <p:spPr bwMode="auto">
            <a:xfrm>
              <a:off x="631825" y="4257675"/>
              <a:ext cx="360363" cy="360362"/>
            </a:xfrm>
            <a:prstGeom prst="ellipse">
              <a:avLst/>
            </a:prstGeom>
            <a:noFill/>
            <a:ln w="2857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298" name="Text Box 37"/>
            <p:cNvSpPr txBox="1"/>
            <p:nvPr/>
          </p:nvSpPr>
          <p:spPr>
            <a:xfrm>
              <a:off x="552450" y="3889375"/>
              <a:ext cx="352425" cy="457200"/>
            </a:xfrm>
            <a:prstGeom prst="rect">
              <a:avLst/>
            </a:prstGeom>
            <a:noFill/>
            <a:ln w="38100">
              <a:noFill/>
            </a:ln>
          </p:spPr>
          <p:txBody>
            <a:bodyPr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11299" name="Text Box 38"/>
            <p:cNvSpPr txBox="1"/>
            <p:nvPr/>
          </p:nvSpPr>
          <p:spPr>
            <a:xfrm>
              <a:off x="552450" y="4438650"/>
              <a:ext cx="212725" cy="457200"/>
            </a:xfrm>
            <a:prstGeom prst="rect">
              <a:avLst/>
            </a:prstGeom>
            <a:noFill/>
            <a:ln w="38100">
              <a:noFill/>
            </a:ln>
          </p:spPr>
          <p:txBody>
            <a:bodyPr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81639" name="Line 39"/>
            <p:cNvSpPr>
              <a:spLocks noChangeShapeType="1"/>
            </p:cNvSpPr>
            <p:nvPr/>
          </p:nvSpPr>
          <p:spPr bwMode="auto">
            <a:xfrm>
              <a:off x="3973513" y="3970338"/>
              <a:ext cx="0" cy="8096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40" name="Rectangle 40"/>
            <p:cNvSpPr>
              <a:spLocks noChangeArrowheads="1"/>
            </p:cNvSpPr>
            <p:nvPr/>
          </p:nvSpPr>
          <p:spPr bwMode="auto">
            <a:xfrm>
              <a:off x="3895725" y="3487738"/>
              <a:ext cx="146050" cy="484187"/>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02" name="Text Box 41"/>
            <p:cNvSpPr txBox="1"/>
            <p:nvPr/>
          </p:nvSpPr>
          <p:spPr>
            <a:xfrm>
              <a:off x="3457575" y="3413125"/>
              <a:ext cx="522288"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L</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281642" name="Line 42"/>
            <p:cNvSpPr>
              <a:spLocks noChangeShapeType="1"/>
            </p:cNvSpPr>
            <p:nvPr/>
          </p:nvSpPr>
          <p:spPr bwMode="auto">
            <a:xfrm flipV="1">
              <a:off x="1449388" y="3238500"/>
              <a:ext cx="12557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04" name="Rectangle 43"/>
            <p:cNvSpPr/>
            <p:nvPr/>
          </p:nvSpPr>
          <p:spPr>
            <a:xfrm>
              <a:off x="860425" y="3721100"/>
              <a:ext cx="696913"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i</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1305" name="Rectangle 44"/>
            <p:cNvSpPr/>
            <p:nvPr/>
          </p:nvSpPr>
          <p:spPr>
            <a:xfrm>
              <a:off x="1038225" y="3209925"/>
              <a:ext cx="354013" cy="457200"/>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11306" name="Rectangle 45"/>
            <p:cNvSpPr/>
            <p:nvPr/>
          </p:nvSpPr>
          <p:spPr>
            <a:xfrm>
              <a:off x="1044575" y="4335463"/>
              <a:ext cx="333375" cy="457200"/>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11307" name="Rectangle 46"/>
            <p:cNvSpPr/>
            <p:nvPr/>
          </p:nvSpPr>
          <p:spPr>
            <a:xfrm>
              <a:off x="4024313" y="3481388"/>
              <a:ext cx="450850"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o</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1308" name="Rectangle 47"/>
            <p:cNvSpPr/>
            <p:nvPr/>
          </p:nvSpPr>
          <p:spPr>
            <a:xfrm>
              <a:off x="4048125" y="3121025"/>
              <a:ext cx="354013" cy="457200"/>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81648" name="Rectangle 48"/>
            <p:cNvSpPr>
              <a:spLocks noChangeArrowheads="1"/>
            </p:cNvSpPr>
            <p:nvPr/>
          </p:nvSpPr>
          <p:spPr bwMode="auto">
            <a:xfrm>
              <a:off x="4064000" y="3925888"/>
              <a:ext cx="333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algn="ctr">
                <a:spcBef>
                  <a:spcPct val="50000"/>
                </a:spcBef>
              </a:pPr>
              <a:r>
                <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rPr>
                <a:t>–</a:t>
              </a:r>
              <a:endPar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281649" name="Line 49"/>
            <p:cNvSpPr>
              <a:spLocks noChangeShapeType="1"/>
            </p:cNvSpPr>
            <p:nvPr/>
          </p:nvSpPr>
          <p:spPr bwMode="auto">
            <a:xfrm flipH="1">
              <a:off x="3973513" y="2543175"/>
              <a:ext cx="1588" cy="9255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1" name="Line 61"/>
            <p:cNvSpPr>
              <a:spLocks noChangeShapeType="1"/>
            </p:cNvSpPr>
            <p:nvPr/>
          </p:nvSpPr>
          <p:spPr bwMode="auto">
            <a:xfrm>
              <a:off x="2917825" y="4721225"/>
              <a:ext cx="0" cy="3048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2" name="Line 62"/>
            <p:cNvSpPr>
              <a:spLocks noChangeShapeType="1"/>
            </p:cNvSpPr>
            <p:nvPr/>
          </p:nvSpPr>
          <p:spPr bwMode="auto">
            <a:xfrm>
              <a:off x="2765425" y="5026025"/>
              <a:ext cx="30480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3" name="Oval 63"/>
            <p:cNvSpPr>
              <a:spLocks noChangeArrowheads="1"/>
            </p:cNvSpPr>
            <p:nvPr/>
          </p:nvSpPr>
          <p:spPr bwMode="auto">
            <a:xfrm>
              <a:off x="2874963" y="4721225"/>
              <a:ext cx="76200" cy="76200"/>
            </a:xfrm>
            <a:prstGeom prst="ellipse">
              <a:avLst/>
            </a:prstGeom>
            <a:solidFill>
              <a:schemeClr val="tx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4" name="Line 64"/>
            <p:cNvSpPr>
              <a:spLocks noChangeShapeType="1"/>
            </p:cNvSpPr>
            <p:nvPr/>
          </p:nvSpPr>
          <p:spPr bwMode="auto">
            <a:xfrm>
              <a:off x="819150" y="3224213"/>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5" name="Line 65"/>
            <p:cNvSpPr>
              <a:spLocks noChangeShapeType="1"/>
            </p:cNvSpPr>
            <p:nvPr/>
          </p:nvSpPr>
          <p:spPr bwMode="auto">
            <a:xfrm>
              <a:off x="2917825" y="2282825"/>
              <a:ext cx="0" cy="7096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6" name="Line 66"/>
            <p:cNvSpPr>
              <a:spLocks noChangeShapeType="1"/>
            </p:cNvSpPr>
            <p:nvPr/>
          </p:nvSpPr>
          <p:spPr bwMode="auto">
            <a:xfrm>
              <a:off x="2917825" y="3465513"/>
              <a:ext cx="0" cy="1295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8" name="Oval 68"/>
            <p:cNvSpPr>
              <a:spLocks noChangeArrowheads="1"/>
            </p:cNvSpPr>
            <p:nvPr/>
          </p:nvSpPr>
          <p:spPr bwMode="auto">
            <a:xfrm>
              <a:off x="3871913" y="1484313"/>
              <a:ext cx="76200" cy="7620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69" name="Rectangle 69"/>
            <p:cNvSpPr>
              <a:spLocks noChangeArrowheads="1"/>
            </p:cNvSpPr>
            <p:nvPr/>
          </p:nvSpPr>
          <p:spPr bwMode="auto">
            <a:xfrm>
              <a:off x="2843213" y="3860800"/>
              <a:ext cx="146050" cy="484187"/>
            </a:xfrm>
            <a:prstGeom prst="rect">
              <a:avLst/>
            </a:prstGeom>
            <a:solidFill>
              <a:srgbClr val="FFFFCC"/>
            </a:solidFill>
            <a:ln w="28575">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19" name="Text Box 70"/>
            <p:cNvSpPr txBox="1"/>
            <p:nvPr/>
          </p:nvSpPr>
          <p:spPr>
            <a:xfrm>
              <a:off x="2338388" y="3860800"/>
              <a:ext cx="519113"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E</a:t>
              </a:r>
              <a:endParaRPr lang="en-US" altLang="zh-CN" b="1" baseline="-25000" dirty="0">
                <a:solidFill>
                  <a:schemeClr val="tx2"/>
                </a:solidFill>
                <a:latin typeface="Times New Roman" panose="02020603050405020304" pitchFamily="18" charset="0"/>
                <a:ea typeface="楷体_GB2312" pitchFamily="49" charset="-122"/>
              </a:endParaRPr>
            </a:p>
          </p:txBody>
        </p:sp>
      </p:grpSp>
      <p:sp>
        <p:nvSpPr>
          <p:cNvPr id="281672" name="Text Box 72" descr="80%"/>
          <p:cNvSpPr txBox="1"/>
          <p:nvPr/>
        </p:nvSpPr>
        <p:spPr>
          <a:xfrm>
            <a:off x="5580063" y="1052513"/>
            <a:ext cx="1885950" cy="519112"/>
          </a:xfrm>
          <a:prstGeom prst="rect">
            <a:avLst/>
          </a:prstGeom>
          <a:pattFill prst="pct80">
            <a:fgClr>
              <a:srgbClr val="FFCC99"/>
            </a:fgClr>
            <a:bgClr>
              <a:srgbClr val="FFFFFF"/>
            </a:bgClr>
          </a:pattFill>
          <a:ln w="38100">
            <a:noFill/>
          </a:ln>
        </p:spPr>
        <p:txBody>
          <a:bodyPr lIns="90000" tIns="46800" rIns="90000" bIns="46800" anchor="ctr">
            <a:spAutoFit/>
          </a:bodyPr>
          <a:p>
            <a:pPr>
              <a:spcBef>
                <a:spcPct val="50000"/>
              </a:spcBef>
            </a:pPr>
            <a:r>
              <a:rPr lang="zh-CN" altLang="en-US" sz="2800" b="1" dirty="0">
                <a:solidFill>
                  <a:schemeClr val="accent2"/>
                </a:solidFill>
                <a:latin typeface="Times New Roman" panose="02020603050405020304" pitchFamily="18" charset="0"/>
                <a:ea typeface="宋体" panose="02010600030101010101" pitchFamily="2" charset="-122"/>
              </a:rPr>
              <a:t>直流通路</a:t>
            </a:r>
            <a:endParaRPr lang="zh-CN" altLang="en-US" sz="2800" b="1" dirty="0">
              <a:solidFill>
                <a:schemeClr val="accent2"/>
              </a:solidFill>
              <a:latin typeface="Times New Roman" panose="02020603050405020304" pitchFamily="18" charset="0"/>
              <a:ea typeface="宋体" panose="02010600030101010101" pitchFamily="2" charset="-122"/>
            </a:endParaRPr>
          </a:p>
        </p:txBody>
      </p:sp>
      <p:sp>
        <p:nvSpPr>
          <p:cNvPr id="11321" name="Rectangle 108"/>
          <p:cNvSpPr>
            <a:spLocks noGrp="1"/>
          </p:cNvSpPr>
          <p:nvPr>
            <p:ph type="title"/>
          </p:nvPr>
        </p:nvSpPr>
        <p:spPr>
          <a:xfrm>
            <a:off x="539750" y="404813"/>
            <a:ext cx="2530475" cy="561975"/>
          </a:xfrm>
          <a:noFill/>
          <a:ln>
            <a:noFill/>
          </a:ln>
        </p:spPr>
        <p:txBody>
          <a:bodyPr anchor="t"/>
          <a:p>
            <a:pPr algn="l" eaLnBrk="1" hangingPunct="1"/>
            <a:r>
              <a:rPr lang="zh-CN" altLang="en-US" sz="2800" b="1" dirty="0"/>
              <a:t>有射极电阻时</a:t>
            </a:r>
            <a:endParaRPr lang="zh-CN" altLang="en-US" sz="2800" b="1" dirty="0"/>
          </a:p>
        </p:txBody>
      </p:sp>
      <p:grpSp>
        <p:nvGrpSpPr>
          <p:cNvPr id="3" name="组合 2"/>
          <p:cNvGrpSpPr/>
          <p:nvPr/>
        </p:nvGrpSpPr>
        <p:grpSpPr>
          <a:xfrm>
            <a:off x="5003800" y="1916113"/>
            <a:ext cx="2976563" cy="3276600"/>
            <a:chOff x="5003800" y="1916113"/>
            <a:chExt cx="2976563" cy="3276600"/>
          </a:xfrm>
        </p:grpSpPr>
        <p:sp>
          <p:nvSpPr>
            <p:cNvPr id="11323" name="Rectangle 74"/>
            <p:cNvSpPr/>
            <p:nvPr/>
          </p:nvSpPr>
          <p:spPr>
            <a:xfrm>
              <a:off x="6604000" y="4202113"/>
              <a:ext cx="766763" cy="519113"/>
            </a:xfrm>
            <a:prstGeom prst="rect">
              <a:avLst/>
            </a:prstGeom>
            <a:noFill/>
            <a:ln w="38100">
              <a:noFill/>
            </a:ln>
          </p:spPr>
          <p:txBody>
            <a:bodyPr lIns="90000" tIns="46800" rIns="90000" bIns="46800" anchor="ctr">
              <a:spAutoFit/>
            </a:bodyPr>
            <a:p>
              <a:pPr algn="ctr">
                <a:spcBef>
                  <a:spcPct val="50000"/>
                </a:spcBef>
              </a:pPr>
              <a:r>
                <a:rPr lang="en-US" altLang="zh-CN" sz="2800" b="1" i="1" dirty="0">
                  <a:solidFill>
                    <a:schemeClr val="accent2"/>
                  </a:solidFill>
                  <a:latin typeface="Times New Roman" panose="02020603050405020304" pitchFamily="18" charset="0"/>
                  <a:ea typeface="楷体_GB2312" pitchFamily="49" charset="-122"/>
                </a:rPr>
                <a:t>I</a:t>
              </a:r>
              <a:r>
                <a:rPr lang="en-US" altLang="zh-CN" sz="2800" b="1" baseline="-25000" dirty="0">
                  <a:solidFill>
                    <a:schemeClr val="accent2"/>
                  </a:solidFill>
                  <a:latin typeface="Times New Roman" panose="02020603050405020304" pitchFamily="18" charset="0"/>
                  <a:ea typeface="楷体_GB2312" pitchFamily="49" charset="-122"/>
                </a:rPr>
                <a:t>E</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281675" name="Line 75"/>
            <p:cNvSpPr>
              <a:spLocks noChangeShapeType="1"/>
            </p:cNvSpPr>
            <p:nvPr/>
          </p:nvSpPr>
          <p:spPr bwMode="auto">
            <a:xfrm flipH="1">
              <a:off x="6759575" y="4278313"/>
              <a:ext cx="6350" cy="53340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25" name="Rectangle 77"/>
            <p:cNvSpPr/>
            <p:nvPr/>
          </p:nvSpPr>
          <p:spPr>
            <a:xfrm>
              <a:off x="7113588" y="1916113"/>
              <a:ext cx="866775" cy="457200"/>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281678" name="Line 78"/>
            <p:cNvSpPr>
              <a:spLocks noChangeShapeType="1"/>
            </p:cNvSpPr>
            <p:nvPr/>
          </p:nvSpPr>
          <p:spPr bwMode="auto">
            <a:xfrm flipV="1">
              <a:off x="5541963" y="3057526"/>
              <a:ext cx="0" cy="6508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79" name="Line 79"/>
            <p:cNvSpPr>
              <a:spLocks noChangeShapeType="1"/>
            </p:cNvSpPr>
            <p:nvPr/>
          </p:nvSpPr>
          <p:spPr bwMode="auto">
            <a:xfrm rot="16200000" flipH="1">
              <a:off x="5311770" y="2335207"/>
              <a:ext cx="46037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1328" name="Group 80"/>
            <p:cNvGrpSpPr/>
            <p:nvPr/>
          </p:nvGrpSpPr>
          <p:grpSpPr>
            <a:xfrm>
              <a:off x="6356350" y="3400426"/>
              <a:ext cx="247650" cy="609600"/>
              <a:chOff x="4500" y="2064"/>
              <a:chExt cx="156" cy="384"/>
            </a:xfrm>
          </p:grpSpPr>
          <p:sp>
            <p:nvSpPr>
              <p:cNvPr id="281681" name="Line 81"/>
              <p:cNvSpPr>
                <a:spLocks noChangeShapeType="1"/>
              </p:cNvSpPr>
              <p:nvPr/>
            </p:nvSpPr>
            <p:spPr bwMode="auto">
              <a:xfrm>
                <a:off x="4500" y="2088"/>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82" name="Line 82"/>
              <p:cNvSpPr>
                <a:spLocks noChangeShapeType="1"/>
              </p:cNvSpPr>
              <p:nvPr/>
            </p:nvSpPr>
            <p:spPr bwMode="auto">
              <a:xfrm>
                <a:off x="4500" y="2264"/>
                <a:ext cx="156" cy="184"/>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83" name="Line 83"/>
              <p:cNvSpPr>
                <a:spLocks noChangeShapeType="1"/>
              </p:cNvSpPr>
              <p:nvPr/>
            </p:nvSpPr>
            <p:spPr bwMode="auto">
              <a:xfrm flipV="1">
                <a:off x="450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281684" name="Line 84"/>
            <p:cNvSpPr>
              <a:spLocks noChangeShapeType="1"/>
            </p:cNvSpPr>
            <p:nvPr/>
          </p:nvSpPr>
          <p:spPr bwMode="auto">
            <a:xfrm>
              <a:off x="6592888" y="3973513"/>
              <a:ext cx="0" cy="38100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33" name="Text Box 85"/>
            <p:cNvSpPr txBox="1"/>
            <p:nvPr/>
          </p:nvSpPr>
          <p:spPr>
            <a:xfrm>
              <a:off x="5003800" y="2611438"/>
              <a:ext cx="520700"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281686" name="Rectangle 86"/>
            <p:cNvSpPr>
              <a:spLocks noChangeArrowheads="1"/>
            </p:cNvSpPr>
            <p:nvPr/>
          </p:nvSpPr>
          <p:spPr bwMode="auto">
            <a:xfrm>
              <a:off x="6503988" y="2489201"/>
              <a:ext cx="146050" cy="484188"/>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687" name="Rectangle 87"/>
            <p:cNvSpPr>
              <a:spLocks noChangeArrowheads="1"/>
            </p:cNvSpPr>
            <p:nvPr/>
          </p:nvSpPr>
          <p:spPr bwMode="auto">
            <a:xfrm>
              <a:off x="5467350" y="2565401"/>
              <a:ext cx="146050" cy="484188"/>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36" name="Text Box 88"/>
            <p:cNvSpPr txBox="1"/>
            <p:nvPr/>
          </p:nvSpPr>
          <p:spPr>
            <a:xfrm>
              <a:off x="6005513" y="2339976"/>
              <a:ext cx="530225"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11337" name="Text Box 89"/>
            <p:cNvSpPr txBox="1"/>
            <p:nvPr/>
          </p:nvSpPr>
          <p:spPr>
            <a:xfrm>
              <a:off x="6411913" y="3433763"/>
              <a:ext cx="384175" cy="457200"/>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281690" name="Line 90"/>
            <p:cNvSpPr>
              <a:spLocks noChangeShapeType="1"/>
            </p:cNvSpPr>
            <p:nvPr/>
          </p:nvSpPr>
          <p:spPr bwMode="auto">
            <a:xfrm flipV="1">
              <a:off x="5551488" y="3671888"/>
              <a:ext cx="80803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39" name="Text Box 91"/>
            <p:cNvSpPr txBox="1"/>
            <p:nvPr/>
          </p:nvSpPr>
          <p:spPr>
            <a:xfrm>
              <a:off x="6002338" y="3543301"/>
              <a:ext cx="582613" cy="457200"/>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11340" name="Text Box 92"/>
            <p:cNvSpPr txBox="1"/>
            <p:nvPr/>
          </p:nvSpPr>
          <p:spPr>
            <a:xfrm>
              <a:off x="6705600" y="3144838"/>
              <a:ext cx="581025" cy="457200"/>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281693" name="Rectangle 93"/>
            <p:cNvSpPr>
              <a:spLocks noChangeArrowheads="1"/>
            </p:cNvSpPr>
            <p:nvPr/>
          </p:nvSpPr>
          <p:spPr bwMode="auto">
            <a:xfrm>
              <a:off x="6267450" y="397351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rPr>
                <a:t>–</a:t>
              </a:r>
              <a:endPar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11342" name="Rectangle 94"/>
            <p:cNvSpPr/>
            <p:nvPr/>
          </p:nvSpPr>
          <p:spPr>
            <a:xfrm>
              <a:off x="5837238" y="3744913"/>
              <a:ext cx="766763"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1343" name="Rectangle 95"/>
            <p:cNvSpPr/>
            <p:nvPr/>
          </p:nvSpPr>
          <p:spPr>
            <a:xfrm>
              <a:off x="6578600" y="3584576"/>
              <a:ext cx="766763"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1344" name="Rectangle 96"/>
            <p:cNvSpPr/>
            <p:nvPr/>
          </p:nvSpPr>
          <p:spPr>
            <a:xfrm>
              <a:off x="6697663" y="3879851"/>
              <a:ext cx="333375" cy="457200"/>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281697" name="Line 97"/>
            <p:cNvSpPr>
              <a:spLocks noChangeShapeType="1"/>
            </p:cNvSpPr>
            <p:nvPr/>
          </p:nvSpPr>
          <p:spPr bwMode="auto">
            <a:xfrm>
              <a:off x="6473825" y="2936876"/>
              <a:ext cx="3175" cy="50165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46" name="Rectangle 98"/>
            <p:cNvSpPr/>
            <p:nvPr/>
          </p:nvSpPr>
          <p:spPr>
            <a:xfrm>
              <a:off x="5915025" y="2870201"/>
              <a:ext cx="766763"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281699" name="Line 99"/>
            <p:cNvSpPr>
              <a:spLocks noChangeShapeType="1"/>
            </p:cNvSpPr>
            <p:nvPr/>
          </p:nvSpPr>
          <p:spPr bwMode="auto">
            <a:xfrm>
              <a:off x="5721350" y="3556001"/>
              <a:ext cx="501650"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348" name="Rectangle 100"/>
            <p:cNvSpPr/>
            <p:nvPr/>
          </p:nvSpPr>
          <p:spPr>
            <a:xfrm>
              <a:off x="5541963" y="3098801"/>
              <a:ext cx="766763"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281701" name="Oval 101"/>
            <p:cNvSpPr>
              <a:spLocks noChangeArrowheads="1"/>
            </p:cNvSpPr>
            <p:nvPr/>
          </p:nvSpPr>
          <p:spPr bwMode="auto">
            <a:xfrm>
              <a:off x="7050088" y="2092326"/>
              <a:ext cx="88900" cy="88900"/>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702" name="Line 102"/>
            <p:cNvSpPr>
              <a:spLocks noChangeShapeType="1"/>
            </p:cNvSpPr>
            <p:nvPr/>
          </p:nvSpPr>
          <p:spPr bwMode="auto">
            <a:xfrm>
              <a:off x="6438900" y="5180013"/>
              <a:ext cx="300038" cy="63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703" name="Line 103"/>
            <p:cNvSpPr>
              <a:spLocks noChangeShapeType="1"/>
            </p:cNvSpPr>
            <p:nvPr/>
          </p:nvSpPr>
          <p:spPr bwMode="auto">
            <a:xfrm>
              <a:off x="5537200" y="2108201"/>
              <a:ext cx="1524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704" name="Line 104"/>
            <p:cNvSpPr>
              <a:spLocks noChangeShapeType="1"/>
            </p:cNvSpPr>
            <p:nvPr/>
          </p:nvSpPr>
          <p:spPr bwMode="auto">
            <a:xfrm>
              <a:off x="6567488" y="2108201"/>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705" name="Line 105"/>
            <p:cNvSpPr>
              <a:spLocks noChangeShapeType="1"/>
            </p:cNvSpPr>
            <p:nvPr/>
          </p:nvSpPr>
          <p:spPr bwMode="auto">
            <a:xfrm>
              <a:off x="6586538" y="2967038"/>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706" name="Rectangle 106"/>
            <p:cNvSpPr>
              <a:spLocks noChangeArrowheads="1"/>
            </p:cNvSpPr>
            <p:nvPr/>
          </p:nvSpPr>
          <p:spPr bwMode="auto">
            <a:xfrm>
              <a:off x="6527800" y="4327526"/>
              <a:ext cx="146050" cy="484188"/>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1707" name="Line 107"/>
            <p:cNvSpPr>
              <a:spLocks noChangeShapeType="1"/>
            </p:cNvSpPr>
            <p:nvPr/>
          </p:nvSpPr>
          <p:spPr bwMode="auto">
            <a:xfrm>
              <a:off x="6604000" y="4811713"/>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pic>
          <p:nvPicPr>
            <p:cNvPr id="11356" name="Picture 109"/>
            <p:cNvPicPr>
              <a:picLocks noChangeAspect="1"/>
            </p:cNvPicPr>
            <p:nvPr/>
          </p:nvPicPr>
          <p:blipFill>
            <a:blip r:embed="rId1"/>
            <a:stretch>
              <a:fillRect/>
            </a:stretch>
          </p:blipFill>
          <p:spPr>
            <a:xfrm>
              <a:off x="5906294" y="4327526"/>
              <a:ext cx="646113" cy="646113"/>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81672"/>
                                        </p:tgtEl>
                                        <p:attrNameLst>
                                          <p:attrName>style.visibility</p:attrName>
                                        </p:attrNameLst>
                                      </p:cBhvr>
                                      <p:to>
                                        <p:strVal val="visible"/>
                                      </p:to>
                                    </p:set>
                                    <p:animEffect transition="in" filter="blinds(horizontal)">
                                      <p:cBhvr>
                                        <p:cTn id="11" dur="500"/>
                                        <p:tgtEl>
                                          <p:spTgt spid="28167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72"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6802" name="Text Box 2"/>
          <p:cNvSpPr txBox="1">
            <a:spLocks noChangeArrowheads="1"/>
          </p:cNvSpPr>
          <p:nvPr/>
        </p:nvSpPr>
        <p:spPr bwMode="auto">
          <a:xfrm>
            <a:off x="609600" y="639763"/>
            <a:ext cx="8382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R="0" defTabSz="914400" rtl="0">
              <a:spcBef>
                <a:spcPct val="50000"/>
              </a:spcBef>
              <a:buClrTx/>
              <a:buSzTx/>
              <a:buFontTx/>
              <a:buNone/>
              <a:defRPr/>
            </a:pPr>
            <a:r>
              <a:rPr kumimoji="1" lang="zh-CN" altLang="en-US" sz="2800" b="1" kern="1200" cap="none" spc="0" normalizeH="0" baseline="0" noProof="0" smtClean="0">
                <a:solidFill>
                  <a:srgbClr val="CC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例：</a:t>
            </a:r>
            <a:r>
              <a:rPr kumimoji="1" lang="zh-CN" altLang="en-US" sz="2800" b="1" kern="1200" cap="none" spc="0" normalizeH="0" baseline="0" noProof="0" smtClean="0">
                <a:solidFill>
                  <a:srgbClr val="0000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用估算法计算图示电路的静态工作点。</a:t>
            </a:r>
            <a:endParaRPr kumimoji="1" lang="zh-CN" altLang="en-US" sz="2800" b="1" kern="1200" cap="none" spc="0" normalizeH="0" baseline="0" noProof="0" smtClean="0">
              <a:solidFill>
                <a:srgbClr val="0000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graphicFrame>
        <p:nvGraphicFramePr>
          <p:cNvPr id="76803" name="Object 3"/>
          <p:cNvGraphicFramePr>
            <a:graphicFrameLocks noChangeAspect="1"/>
          </p:cNvGraphicFramePr>
          <p:nvPr/>
        </p:nvGraphicFramePr>
        <p:xfrm>
          <a:off x="4416425" y="4673600"/>
          <a:ext cx="3911600" cy="623888"/>
        </p:xfrm>
        <a:graphic>
          <a:graphicData uri="http://schemas.openxmlformats.org/presentationml/2006/ole">
            <mc:AlternateContent xmlns:mc="http://schemas.openxmlformats.org/markup-compatibility/2006">
              <mc:Choice xmlns:v="urn:schemas-microsoft-com:vml" Requires="v">
                <p:oleObj spid="_x0000_s3077" name="" r:id="rId1" imgW="2171700" imgH="304800" progId="Equation.3">
                  <p:embed/>
                </p:oleObj>
              </mc:Choice>
              <mc:Fallback>
                <p:oleObj name="" r:id="rId1" imgW="2171700" imgH="304800" progId="Equation.3">
                  <p:embed/>
                  <p:pic>
                    <p:nvPicPr>
                      <p:cNvPr id="0" name="图片 3076"/>
                      <p:cNvPicPr/>
                      <p:nvPr/>
                    </p:nvPicPr>
                    <p:blipFill>
                      <a:blip r:embed="rId2">
                        <a:clrChange>
                          <a:clrFrom>
                            <a:srgbClr val="000000"/>
                          </a:clrFrom>
                          <a:clrTo>
                            <a:srgbClr val="CC0000"/>
                          </a:clrTo>
                        </a:clrChange>
                      </a:blip>
                      <a:stretch>
                        <a:fillRect/>
                      </a:stretch>
                    </p:blipFill>
                    <p:spPr>
                      <a:xfrm>
                        <a:off x="4416425" y="4673600"/>
                        <a:ext cx="3911600" cy="623888"/>
                      </a:xfrm>
                      <a:prstGeom prst="rect">
                        <a:avLst/>
                      </a:prstGeom>
                      <a:noFill/>
                      <a:ln w="38100">
                        <a:noFill/>
                        <a:miter/>
                      </a:ln>
                    </p:spPr>
                  </p:pic>
                </p:oleObj>
              </mc:Fallback>
            </mc:AlternateContent>
          </a:graphicData>
        </a:graphic>
      </p:graphicFrame>
      <p:graphicFrame>
        <p:nvGraphicFramePr>
          <p:cNvPr id="76804" name="Object 4"/>
          <p:cNvGraphicFramePr>
            <a:graphicFrameLocks noChangeAspect="1"/>
          </p:cNvGraphicFramePr>
          <p:nvPr/>
        </p:nvGraphicFramePr>
        <p:xfrm>
          <a:off x="3886200" y="2987675"/>
          <a:ext cx="3328988" cy="1127125"/>
        </p:xfrm>
        <a:graphic>
          <a:graphicData uri="http://schemas.openxmlformats.org/presentationml/2006/ole">
            <mc:AlternateContent xmlns:mc="http://schemas.openxmlformats.org/markup-compatibility/2006">
              <mc:Choice xmlns:v="urn:schemas-microsoft-com:vml" Requires="v">
                <p:oleObj spid="_x0000_s3078" name="" r:id="rId3" imgW="1739900" imgH="596900" progId="Equation.3">
                  <p:embed/>
                </p:oleObj>
              </mc:Choice>
              <mc:Fallback>
                <p:oleObj name="" r:id="rId3" imgW="1739900" imgH="596900" progId="Equation.3">
                  <p:embed/>
                  <p:pic>
                    <p:nvPicPr>
                      <p:cNvPr id="0" name="图片 3077"/>
                      <p:cNvPicPr/>
                      <p:nvPr/>
                    </p:nvPicPr>
                    <p:blipFill>
                      <a:blip r:embed="rId4">
                        <a:clrChange>
                          <a:clrFrom>
                            <a:srgbClr val="000000"/>
                          </a:clrFrom>
                          <a:clrTo>
                            <a:srgbClr val="CC0000"/>
                          </a:clrTo>
                        </a:clrChange>
                      </a:blip>
                      <a:stretch>
                        <a:fillRect/>
                      </a:stretch>
                    </p:blipFill>
                    <p:spPr>
                      <a:xfrm>
                        <a:off x="3886200" y="2987675"/>
                        <a:ext cx="3328988" cy="1127125"/>
                      </a:xfrm>
                      <a:prstGeom prst="rect">
                        <a:avLst/>
                      </a:prstGeom>
                      <a:noFill/>
                      <a:ln w="38100">
                        <a:noFill/>
                        <a:miter/>
                      </a:ln>
                    </p:spPr>
                  </p:pic>
                </p:oleObj>
              </mc:Fallback>
            </mc:AlternateContent>
          </a:graphicData>
        </a:graphic>
      </p:graphicFrame>
      <p:graphicFrame>
        <p:nvGraphicFramePr>
          <p:cNvPr id="76805" name="Object 5"/>
          <p:cNvGraphicFramePr>
            <a:graphicFrameLocks noChangeAspect="1"/>
          </p:cNvGraphicFramePr>
          <p:nvPr/>
        </p:nvGraphicFramePr>
        <p:xfrm>
          <a:off x="3795713" y="4016375"/>
          <a:ext cx="1785937" cy="714375"/>
        </p:xfrm>
        <a:graphic>
          <a:graphicData uri="http://schemas.openxmlformats.org/presentationml/2006/ole">
            <mc:AlternateContent xmlns:mc="http://schemas.openxmlformats.org/markup-compatibility/2006">
              <mc:Choice xmlns:v="urn:schemas-microsoft-com:vml" Requires="v">
                <p:oleObj spid="_x0000_s3079" name="" r:id="rId5" imgW="762000" imgH="304800" progId="Equation.3">
                  <p:embed/>
                </p:oleObj>
              </mc:Choice>
              <mc:Fallback>
                <p:oleObj name="" r:id="rId5" imgW="762000" imgH="304800" progId="Equation.3">
                  <p:embed/>
                  <p:pic>
                    <p:nvPicPr>
                      <p:cNvPr id="0" name="图片 3078"/>
                      <p:cNvPicPr/>
                      <p:nvPr/>
                    </p:nvPicPr>
                    <p:blipFill>
                      <a:blip r:embed="rId6">
                        <a:clrChange>
                          <a:clrFrom>
                            <a:srgbClr val="000000"/>
                          </a:clrFrom>
                          <a:clrTo>
                            <a:srgbClr val="000099"/>
                          </a:clrTo>
                        </a:clrChange>
                      </a:blip>
                      <a:stretch>
                        <a:fillRect/>
                      </a:stretch>
                    </p:blipFill>
                    <p:spPr>
                      <a:xfrm>
                        <a:off x="3795713" y="4016375"/>
                        <a:ext cx="1785937" cy="714375"/>
                      </a:xfrm>
                      <a:prstGeom prst="rect">
                        <a:avLst/>
                      </a:prstGeom>
                      <a:noFill/>
                      <a:ln w="38100">
                        <a:noFill/>
                        <a:miter/>
                      </a:ln>
                    </p:spPr>
                  </p:pic>
                </p:oleObj>
              </mc:Fallback>
            </mc:AlternateContent>
          </a:graphicData>
        </a:graphic>
      </p:graphicFrame>
      <p:sp>
        <p:nvSpPr>
          <p:cNvPr id="76808" name="Rectangle 8"/>
          <p:cNvSpPr>
            <a:spLocks noChangeArrowheads="1"/>
          </p:cNvSpPr>
          <p:nvPr/>
        </p:nvSpPr>
        <p:spPr bwMode="auto">
          <a:xfrm>
            <a:off x="468313" y="5368925"/>
            <a:ext cx="8308975" cy="94615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由以上两例可知，当电路结构不同时，计算</a:t>
            </a:r>
            <a:r>
              <a:rPr kumimoji="1" lang="zh-CN" altLang="en-US" sz="28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静态值的算式也不同。</a:t>
            </a:r>
            <a:endParaRPr kumimoji="1" lang="zh-CN" altLang="en-US" sz="28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76809" name="Rectangle 9"/>
          <p:cNvSpPr/>
          <p:nvPr/>
        </p:nvSpPr>
        <p:spPr>
          <a:xfrm>
            <a:off x="3651250" y="1219200"/>
            <a:ext cx="2382838" cy="519113"/>
          </a:xfrm>
          <a:prstGeom prst="rect">
            <a:avLst/>
          </a:prstGeom>
          <a:noFill/>
          <a:ln w="9525">
            <a:noFill/>
          </a:ln>
        </p:spPr>
        <p:txBody>
          <a:bodyPr wrap="none" anchor="t">
            <a:spAutoFit/>
          </a:bodyPr>
          <a:p>
            <a:pPr algn="ctr"/>
            <a:r>
              <a:rPr lang="zh-CN" altLang="en-US" sz="2800" b="1" dirty="0">
                <a:solidFill>
                  <a:schemeClr val="tx2"/>
                </a:solidFill>
                <a:latin typeface="宋体" panose="02010600030101010101" pitchFamily="2" charset="-122"/>
                <a:ea typeface="宋体" panose="02010600030101010101" pitchFamily="2" charset="-122"/>
              </a:rPr>
              <a:t>由</a:t>
            </a:r>
            <a:r>
              <a:rPr lang="en-US" altLang="zh-CN" sz="2800" b="1" dirty="0">
                <a:solidFill>
                  <a:schemeClr val="tx2"/>
                </a:solidFill>
                <a:latin typeface="Times New Roman" panose="02020603050405020304" pitchFamily="18" charset="0"/>
                <a:ea typeface="宋体" panose="02010600030101010101" pitchFamily="2" charset="-122"/>
              </a:rPr>
              <a:t>KVL</a:t>
            </a:r>
            <a:r>
              <a:rPr lang="zh-CN" altLang="en-US" sz="2800" b="1" dirty="0">
                <a:solidFill>
                  <a:schemeClr val="tx2"/>
                </a:solidFill>
                <a:latin typeface="Times New Roman" panose="02020603050405020304" pitchFamily="18" charset="0"/>
                <a:ea typeface="宋体" panose="02010600030101010101" pitchFamily="2" charset="-122"/>
              </a:rPr>
              <a:t>可得：</a:t>
            </a:r>
            <a:endParaRPr lang="zh-CN" altLang="en-US" sz="2800" b="1" dirty="0">
              <a:solidFill>
                <a:schemeClr val="tx2"/>
              </a:solidFill>
              <a:latin typeface="Times New Roman" panose="02020603050405020304" pitchFamily="18" charset="0"/>
              <a:ea typeface="宋体" panose="02010600030101010101" pitchFamily="2" charset="-122"/>
            </a:endParaRPr>
          </a:p>
        </p:txBody>
      </p:sp>
      <p:sp>
        <p:nvSpPr>
          <p:cNvPr id="76810" name="Rectangle 10"/>
          <p:cNvSpPr/>
          <p:nvPr/>
        </p:nvSpPr>
        <p:spPr>
          <a:xfrm>
            <a:off x="2232025" y="4687888"/>
            <a:ext cx="2389188" cy="519112"/>
          </a:xfrm>
          <a:prstGeom prst="rect">
            <a:avLst/>
          </a:prstGeom>
          <a:noFill/>
          <a:ln w="9525">
            <a:noFill/>
          </a:ln>
        </p:spPr>
        <p:txBody>
          <a:bodyPr wrap="none" anchor="t">
            <a:spAutoFit/>
          </a:bodyPr>
          <a:p>
            <a:pPr algn="ctr"/>
            <a:r>
              <a:rPr lang="zh-CN" altLang="en-US" sz="2800" b="1" dirty="0">
                <a:solidFill>
                  <a:schemeClr val="tx2"/>
                </a:solidFill>
                <a:latin typeface="宋体" panose="02010600030101010101" pitchFamily="2" charset="-122"/>
                <a:ea typeface="宋体" panose="02010600030101010101" pitchFamily="2" charset="-122"/>
              </a:rPr>
              <a:t>由</a:t>
            </a:r>
            <a:r>
              <a:rPr lang="en-US" altLang="zh-CN" sz="2800" b="1" dirty="0">
                <a:solidFill>
                  <a:schemeClr val="tx2"/>
                </a:solidFill>
                <a:latin typeface="Times New Roman" panose="02020603050405020304" pitchFamily="18" charset="0"/>
                <a:ea typeface="宋体" panose="02010600030101010101" pitchFamily="2" charset="-122"/>
              </a:rPr>
              <a:t>KVL</a:t>
            </a:r>
            <a:r>
              <a:rPr lang="zh-CN" altLang="en-US" sz="2800" b="1" dirty="0">
                <a:solidFill>
                  <a:schemeClr val="tx2"/>
                </a:solidFill>
                <a:latin typeface="Times New Roman" panose="02020603050405020304" pitchFamily="18" charset="0"/>
                <a:ea typeface="宋体" panose="02010600030101010101" pitchFamily="2" charset="-122"/>
              </a:rPr>
              <a:t>可得：</a:t>
            </a:r>
            <a:endParaRPr lang="zh-CN" altLang="en-US" sz="2800" b="1" dirty="0">
              <a:solidFill>
                <a:schemeClr val="tx2"/>
              </a:solidFill>
              <a:latin typeface="Times New Roman" panose="02020603050405020304" pitchFamily="18" charset="0"/>
              <a:ea typeface="宋体" panose="02010600030101010101" pitchFamily="2" charset="-122"/>
            </a:endParaRPr>
          </a:p>
        </p:txBody>
      </p:sp>
      <p:grpSp>
        <p:nvGrpSpPr>
          <p:cNvPr id="12298" name="组合 1"/>
          <p:cNvGrpSpPr/>
          <p:nvPr/>
        </p:nvGrpSpPr>
        <p:grpSpPr>
          <a:xfrm>
            <a:off x="468313" y="1412875"/>
            <a:ext cx="2976562" cy="3276600"/>
            <a:chOff x="468313" y="1412875"/>
            <a:chExt cx="2976562" cy="3276600"/>
          </a:xfrm>
        </p:grpSpPr>
        <p:grpSp>
          <p:nvGrpSpPr>
            <p:cNvPr id="12299" name="Group 14"/>
            <p:cNvGrpSpPr/>
            <p:nvPr/>
          </p:nvGrpSpPr>
          <p:grpSpPr>
            <a:xfrm>
              <a:off x="798513" y="1485900"/>
              <a:ext cx="1676400" cy="3086100"/>
              <a:chOff x="503" y="936"/>
              <a:chExt cx="1056" cy="1944"/>
            </a:xfrm>
          </p:grpSpPr>
          <p:sp>
            <p:nvSpPr>
              <p:cNvPr id="76815" name="Line 15"/>
              <p:cNvSpPr>
                <a:spLocks noChangeShapeType="1"/>
              </p:cNvSpPr>
              <p:nvPr/>
            </p:nvSpPr>
            <p:spPr bwMode="auto">
              <a:xfrm>
                <a:off x="509" y="2135"/>
                <a:ext cx="576"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16" name="Line 16"/>
              <p:cNvSpPr>
                <a:spLocks noChangeShapeType="1"/>
              </p:cNvSpPr>
              <p:nvPr/>
            </p:nvSpPr>
            <p:spPr bwMode="auto">
              <a:xfrm>
                <a:off x="1074" y="2146"/>
                <a:ext cx="147" cy="168"/>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17" name="Line 17"/>
              <p:cNvSpPr>
                <a:spLocks noChangeShapeType="1"/>
              </p:cNvSpPr>
              <p:nvPr/>
            </p:nvSpPr>
            <p:spPr bwMode="auto">
              <a:xfrm>
                <a:off x="505" y="936"/>
                <a:ext cx="0" cy="12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18" name="Line 18"/>
              <p:cNvSpPr>
                <a:spLocks noChangeShapeType="1"/>
              </p:cNvSpPr>
              <p:nvPr/>
            </p:nvSpPr>
            <p:spPr bwMode="auto">
              <a:xfrm>
                <a:off x="503" y="936"/>
                <a:ext cx="1056"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19" name="Line 19"/>
              <p:cNvSpPr>
                <a:spLocks noChangeShapeType="1"/>
              </p:cNvSpPr>
              <p:nvPr/>
            </p:nvSpPr>
            <p:spPr bwMode="auto">
              <a:xfrm>
                <a:off x="1226" y="2304"/>
                <a:ext cx="0" cy="576"/>
              </a:xfrm>
              <a:prstGeom prst="line">
                <a:avLst/>
              </a:prstGeom>
              <a:noFill/>
              <a:ln w="28575">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12305" name="Group 20"/>
            <p:cNvGrpSpPr/>
            <p:nvPr/>
          </p:nvGrpSpPr>
          <p:grpSpPr>
            <a:xfrm>
              <a:off x="2193925" y="1824038"/>
              <a:ext cx="381000" cy="2670175"/>
              <a:chOff x="1344" y="1149"/>
              <a:chExt cx="240" cy="1682"/>
            </a:xfrm>
          </p:grpSpPr>
          <p:sp>
            <p:nvSpPr>
              <p:cNvPr id="76821" name="Line 21"/>
              <p:cNvSpPr>
                <a:spLocks noChangeShapeType="1"/>
              </p:cNvSpPr>
              <p:nvPr/>
            </p:nvSpPr>
            <p:spPr bwMode="auto">
              <a:xfrm>
                <a:off x="1368" y="1149"/>
                <a:ext cx="0" cy="1682"/>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22" name="Line 22"/>
              <p:cNvSpPr>
                <a:spLocks noChangeShapeType="1"/>
              </p:cNvSpPr>
              <p:nvPr/>
            </p:nvSpPr>
            <p:spPr bwMode="auto">
              <a:xfrm>
                <a:off x="1344" y="1152"/>
                <a:ext cx="240" cy="0"/>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12308" name="Rectangle 24"/>
            <p:cNvSpPr/>
            <p:nvPr/>
          </p:nvSpPr>
          <p:spPr>
            <a:xfrm>
              <a:off x="2068513" y="3698875"/>
              <a:ext cx="766762" cy="519113"/>
            </a:xfrm>
            <a:prstGeom prst="rect">
              <a:avLst/>
            </a:prstGeom>
            <a:noFill/>
            <a:ln w="38100">
              <a:noFill/>
            </a:ln>
          </p:spPr>
          <p:txBody>
            <a:bodyPr lIns="90000" tIns="46800" rIns="90000" bIns="46800" anchor="ctr">
              <a:spAutoFit/>
            </a:bodyPr>
            <a:p>
              <a:pPr algn="ctr">
                <a:spcBef>
                  <a:spcPct val="50000"/>
                </a:spcBef>
              </a:pPr>
              <a:r>
                <a:rPr lang="en-US" altLang="zh-CN" sz="2800" b="1" i="1" dirty="0">
                  <a:solidFill>
                    <a:schemeClr val="accent2"/>
                  </a:solidFill>
                  <a:latin typeface="Times New Roman" panose="02020603050405020304" pitchFamily="18" charset="0"/>
                  <a:ea typeface="楷体_GB2312" pitchFamily="49" charset="-122"/>
                </a:rPr>
                <a:t>I</a:t>
              </a:r>
              <a:r>
                <a:rPr lang="en-US" altLang="zh-CN" sz="2800" b="1" baseline="-25000" dirty="0">
                  <a:solidFill>
                    <a:schemeClr val="accent2"/>
                  </a:solidFill>
                  <a:latin typeface="Times New Roman" panose="02020603050405020304" pitchFamily="18" charset="0"/>
                  <a:ea typeface="楷体_GB2312" pitchFamily="49" charset="-122"/>
                </a:rPr>
                <a:t>E</a:t>
              </a:r>
              <a:endParaRPr lang="en-US" altLang="zh-CN" sz="2800" b="1" baseline="-25000" dirty="0">
                <a:solidFill>
                  <a:schemeClr val="accent2"/>
                </a:solidFill>
                <a:latin typeface="Times New Roman" panose="02020603050405020304" pitchFamily="18" charset="0"/>
                <a:ea typeface="楷体_GB2312" pitchFamily="49" charset="-122"/>
              </a:endParaRPr>
            </a:p>
          </p:txBody>
        </p:sp>
        <p:sp>
          <p:nvSpPr>
            <p:cNvPr id="76825" name="Line 25"/>
            <p:cNvSpPr>
              <a:spLocks noChangeShapeType="1"/>
            </p:cNvSpPr>
            <p:nvPr/>
          </p:nvSpPr>
          <p:spPr bwMode="auto">
            <a:xfrm flipH="1">
              <a:off x="2224088" y="3775075"/>
              <a:ext cx="6350" cy="53340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310" name="Rectangle 27"/>
            <p:cNvSpPr/>
            <p:nvPr/>
          </p:nvSpPr>
          <p:spPr>
            <a:xfrm>
              <a:off x="2578100" y="1412875"/>
              <a:ext cx="866775" cy="457200"/>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76828" name="Line 28"/>
            <p:cNvSpPr>
              <a:spLocks noChangeShapeType="1"/>
            </p:cNvSpPr>
            <p:nvPr/>
          </p:nvSpPr>
          <p:spPr bwMode="auto">
            <a:xfrm flipV="1">
              <a:off x="1006475" y="2554288"/>
              <a:ext cx="0" cy="6508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29" name="Line 29"/>
            <p:cNvSpPr>
              <a:spLocks noChangeShapeType="1"/>
            </p:cNvSpPr>
            <p:nvPr/>
          </p:nvSpPr>
          <p:spPr bwMode="auto">
            <a:xfrm rot="16200000" flipH="1">
              <a:off x="776283" y="1831969"/>
              <a:ext cx="460375"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2313" name="Group 30"/>
            <p:cNvGrpSpPr/>
            <p:nvPr/>
          </p:nvGrpSpPr>
          <p:grpSpPr>
            <a:xfrm>
              <a:off x="1820863" y="2897188"/>
              <a:ext cx="247650" cy="609600"/>
              <a:chOff x="4500" y="2064"/>
              <a:chExt cx="156" cy="384"/>
            </a:xfrm>
          </p:grpSpPr>
          <p:sp>
            <p:nvSpPr>
              <p:cNvPr id="76831" name="Line 31"/>
              <p:cNvSpPr>
                <a:spLocks noChangeShapeType="1"/>
              </p:cNvSpPr>
              <p:nvPr/>
            </p:nvSpPr>
            <p:spPr bwMode="auto">
              <a:xfrm>
                <a:off x="4500" y="2088"/>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32" name="Line 32"/>
              <p:cNvSpPr>
                <a:spLocks noChangeShapeType="1"/>
              </p:cNvSpPr>
              <p:nvPr/>
            </p:nvSpPr>
            <p:spPr bwMode="auto">
              <a:xfrm>
                <a:off x="4500" y="2264"/>
                <a:ext cx="156" cy="184"/>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33" name="Line 33"/>
              <p:cNvSpPr>
                <a:spLocks noChangeShapeType="1"/>
              </p:cNvSpPr>
              <p:nvPr/>
            </p:nvSpPr>
            <p:spPr bwMode="auto">
              <a:xfrm flipV="1">
                <a:off x="450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6834" name="Line 34"/>
            <p:cNvSpPr>
              <a:spLocks noChangeShapeType="1"/>
            </p:cNvSpPr>
            <p:nvPr/>
          </p:nvSpPr>
          <p:spPr bwMode="auto">
            <a:xfrm>
              <a:off x="2057400" y="3470275"/>
              <a:ext cx="0" cy="38100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318" name="Text Box 35"/>
            <p:cNvSpPr txBox="1"/>
            <p:nvPr/>
          </p:nvSpPr>
          <p:spPr>
            <a:xfrm>
              <a:off x="468313" y="2108200"/>
              <a:ext cx="520700"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6836" name="Rectangle 36"/>
            <p:cNvSpPr>
              <a:spLocks noChangeArrowheads="1"/>
            </p:cNvSpPr>
            <p:nvPr/>
          </p:nvSpPr>
          <p:spPr bwMode="auto">
            <a:xfrm>
              <a:off x="1968500" y="1985963"/>
              <a:ext cx="146050" cy="484188"/>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37" name="Rectangle 37"/>
            <p:cNvSpPr>
              <a:spLocks noChangeArrowheads="1"/>
            </p:cNvSpPr>
            <p:nvPr/>
          </p:nvSpPr>
          <p:spPr bwMode="auto">
            <a:xfrm>
              <a:off x="931863" y="2062163"/>
              <a:ext cx="146050" cy="484188"/>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321" name="Text Box 38"/>
            <p:cNvSpPr txBox="1"/>
            <p:nvPr/>
          </p:nvSpPr>
          <p:spPr>
            <a:xfrm>
              <a:off x="1470025" y="1836738"/>
              <a:ext cx="530225" cy="457200"/>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12322" name="Text Box 39"/>
            <p:cNvSpPr txBox="1"/>
            <p:nvPr/>
          </p:nvSpPr>
          <p:spPr>
            <a:xfrm>
              <a:off x="1876425" y="2930525"/>
              <a:ext cx="384175" cy="457200"/>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76840" name="Line 40"/>
            <p:cNvSpPr>
              <a:spLocks noChangeShapeType="1"/>
            </p:cNvSpPr>
            <p:nvPr/>
          </p:nvSpPr>
          <p:spPr bwMode="auto">
            <a:xfrm flipV="1">
              <a:off x="1016000" y="3168650"/>
              <a:ext cx="80803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324" name="Text Box 41"/>
            <p:cNvSpPr txBox="1"/>
            <p:nvPr/>
          </p:nvSpPr>
          <p:spPr>
            <a:xfrm>
              <a:off x="1466850" y="3040063"/>
              <a:ext cx="582612" cy="457200"/>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12325" name="Text Box 42"/>
            <p:cNvSpPr txBox="1"/>
            <p:nvPr/>
          </p:nvSpPr>
          <p:spPr>
            <a:xfrm>
              <a:off x="2170113" y="2641600"/>
              <a:ext cx="581025" cy="457200"/>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76843" name="Rectangle 43"/>
            <p:cNvSpPr>
              <a:spLocks noChangeArrowheads="1"/>
            </p:cNvSpPr>
            <p:nvPr/>
          </p:nvSpPr>
          <p:spPr bwMode="auto">
            <a:xfrm>
              <a:off x="1731963" y="34702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rPr>
                <a:t>–</a:t>
              </a:r>
              <a:endPar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12327" name="Rectangle 44"/>
            <p:cNvSpPr/>
            <p:nvPr/>
          </p:nvSpPr>
          <p:spPr>
            <a:xfrm>
              <a:off x="1229995" y="3344545"/>
              <a:ext cx="766762"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2328" name="Rectangle 45"/>
            <p:cNvSpPr/>
            <p:nvPr/>
          </p:nvSpPr>
          <p:spPr>
            <a:xfrm>
              <a:off x="2043113" y="3081338"/>
              <a:ext cx="766762"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2329" name="Rectangle 46"/>
            <p:cNvSpPr/>
            <p:nvPr/>
          </p:nvSpPr>
          <p:spPr>
            <a:xfrm>
              <a:off x="2162175" y="3376613"/>
              <a:ext cx="333375" cy="457200"/>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6847" name="Line 47"/>
            <p:cNvSpPr>
              <a:spLocks noChangeShapeType="1"/>
            </p:cNvSpPr>
            <p:nvPr/>
          </p:nvSpPr>
          <p:spPr bwMode="auto">
            <a:xfrm>
              <a:off x="1938338" y="2433638"/>
              <a:ext cx="3175" cy="50165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331" name="Rectangle 48"/>
            <p:cNvSpPr/>
            <p:nvPr/>
          </p:nvSpPr>
          <p:spPr>
            <a:xfrm>
              <a:off x="1379538" y="2366963"/>
              <a:ext cx="766762"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6849" name="Line 49"/>
            <p:cNvSpPr>
              <a:spLocks noChangeShapeType="1"/>
            </p:cNvSpPr>
            <p:nvPr/>
          </p:nvSpPr>
          <p:spPr bwMode="auto">
            <a:xfrm>
              <a:off x="1185863" y="3052763"/>
              <a:ext cx="501650"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333" name="Rectangle 50"/>
            <p:cNvSpPr/>
            <p:nvPr/>
          </p:nvSpPr>
          <p:spPr>
            <a:xfrm>
              <a:off x="1006475" y="2595563"/>
              <a:ext cx="766762" cy="457200"/>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6851" name="Oval 51"/>
            <p:cNvSpPr>
              <a:spLocks noChangeArrowheads="1"/>
            </p:cNvSpPr>
            <p:nvPr/>
          </p:nvSpPr>
          <p:spPr bwMode="auto">
            <a:xfrm>
              <a:off x="2514600" y="1589088"/>
              <a:ext cx="88900" cy="88900"/>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52" name="Line 52"/>
            <p:cNvSpPr>
              <a:spLocks noChangeShapeType="1"/>
            </p:cNvSpPr>
            <p:nvPr/>
          </p:nvSpPr>
          <p:spPr bwMode="auto">
            <a:xfrm>
              <a:off x="1903413" y="4676775"/>
              <a:ext cx="300037" cy="63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53" name="Line 53"/>
            <p:cNvSpPr>
              <a:spLocks noChangeShapeType="1"/>
            </p:cNvSpPr>
            <p:nvPr/>
          </p:nvSpPr>
          <p:spPr bwMode="auto">
            <a:xfrm>
              <a:off x="1001713" y="1604963"/>
              <a:ext cx="1524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54" name="Line 54"/>
            <p:cNvSpPr>
              <a:spLocks noChangeShapeType="1"/>
            </p:cNvSpPr>
            <p:nvPr/>
          </p:nvSpPr>
          <p:spPr bwMode="auto">
            <a:xfrm>
              <a:off x="2032000" y="1604963"/>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55" name="Line 55"/>
            <p:cNvSpPr>
              <a:spLocks noChangeShapeType="1"/>
            </p:cNvSpPr>
            <p:nvPr/>
          </p:nvSpPr>
          <p:spPr bwMode="auto">
            <a:xfrm>
              <a:off x="2051050" y="24638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56" name="Rectangle 56"/>
            <p:cNvSpPr>
              <a:spLocks noChangeArrowheads="1"/>
            </p:cNvSpPr>
            <p:nvPr/>
          </p:nvSpPr>
          <p:spPr bwMode="auto">
            <a:xfrm>
              <a:off x="1992313" y="3824288"/>
              <a:ext cx="146050" cy="484188"/>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857" name="Line 57"/>
            <p:cNvSpPr>
              <a:spLocks noChangeShapeType="1"/>
            </p:cNvSpPr>
            <p:nvPr/>
          </p:nvSpPr>
          <p:spPr bwMode="auto">
            <a:xfrm>
              <a:off x="2068513" y="4308475"/>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pic>
          <p:nvPicPr>
            <p:cNvPr id="12341" name="Picture 58"/>
            <p:cNvPicPr>
              <a:picLocks noChangeAspect="1"/>
            </p:cNvPicPr>
            <p:nvPr/>
          </p:nvPicPr>
          <p:blipFill>
            <a:blip r:embed="rId7"/>
            <a:stretch>
              <a:fillRect/>
            </a:stretch>
          </p:blipFill>
          <p:spPr>
            <a:xfrm>
              <a:off x="1351756" y="3791743"/>
              <a:ext cx="646113" cy="646113"/>
            </a:xfrm>
            <a:prstGeom prst="rect">
              <a:avLst/>
            </a:prstGeom>
            <a:noFill/>
            <a:ln w="9525">
              <a:noFill/>
            </a:ln>
          </p:spPr>
        </p:pic>
      </p:grpSp>
      <p:graphicFrame>
        <p:nvGraphicFramePr>
          <p:cNvPr id="2" name="对象 1"/>
          <p:cNvGraphicFramePr/>
          <p:nvPr/>
        </p:nvGraphicFramePr>
        <p:xfrm>
          <a:off x="3795395" y="1678940"/>
          <a:ext cx="4982845" cy="615950"/>
        </p:xfrm>
        <a:graphic>
          <a:graphicData uri="http://schemas.openxmlformats.org/presentationml/2006/ole">
            <mc:AlternateContent xmlns:mc="http://schemas.openxmlformats.org/markup-compatibility/2006">
              <mc:Choice xmlns:v="urn:schemas-microsoft-com:vml" Requires="v">
                <p:oleObj spid="_x0000_s3" name="" r:id="rId8" imgW="3385185" imgH="476885" progId="Equation.KSEE3">
                  <p:embed/>
                </p:oleObj>
              </mc:Choice>
              <mc:Fallback>
                <p:oleObj name="" r:id="rId8" imgW="3385185" imgH="476885" progId="Equation.KSEE3">
                  <p:embed/>
                  <p:pic>
                    <p:nvPicPr>
                      <p:cNvPr id="0" name="图片 2"/>
                      <p:cNvPicPr/>
                      <p:nvPr/>
                    </p:nvPicPr>
                    <p:blipFill>
                      <a:blip r:embed="rId9"/>
                      <a:stretch>
                        <a:fillRect/>
                      </a:stretch>
                    </p:blipFill>
                    <p:spPr>
                      <a:xfrm>
                        <a:off x="3795395" y="1678940"/>
                        <a:ext cx="4982845" cy="615950"/>
                      </a:xfrm>
                      <a:prstGeom prst="rect">
                        <a:avLst/>
                      </a:prstGeom>
                    </p:spPr>
                  </p:pic>
                </p:oleObj>
              </mc:Fallback>
            </mc:AlternateContent>
          </a:graphicData>
        </a:graphic>
      </p:graphicFrame>
      <p:graphicFrame>
        <p:nvGraphicFramePr>
          <p:cNvPr id="4" name="对象 3"/>
          <p:cNvGraphicFramePr/>
          <p:nvPr/>
        </p:nvGraphicFramePr>
        <p:xfrm>
          <a:off x="4869815" y="2337435"/>
          <a:ext cx="3364230" cy="560070"/>
        </p:xfrm>
        <a:graphic>
          <a:graphicData uri="http://schemas.openxmlformats.org/presentationml/2006/ole">
            <mc:AlternateContent xmlns:mc="http://schemas.openxmlformats.org/markup-compatibility/2006">
              <mc:Choice xmlns:v="urn:schemas-microsoft-com:vml" Requires="v">
                <p:oleObj spid="_x0000_s5" name="" r:id="rId10" imgW="2680970" imgH="432435" progId="Equation.KSEE3">
                  <p:embed/>
                </p:oleObj>
              </mc:Choice>
              <mc:Fallback>
                <p:oleObj name="" r:id="rId10" imgW="2680970" imgH="432435" progId="Equation.KSEE3">
                  <p:embed/>
                  <p:pic>
                    <p:nvPicPr>
                      <p:cNvPr id="0" name="图片 4"/>
                      <p:cNvPicPr/>
                      <p:nvPr/>
                    </p:nvPicPr>
                    <p:blipFill>
                      <a:blip r:embed="rId11"/>
                      <a:stretch>
                        <a:fillRect/>
                      </a:stretch>
                    </p:blipFill>
                    <p:spPr>
                      <a:xfrm>
                        <a:off x="4869815" y="2337435"/>
                        <a:ext cx="3364230" cy="56007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09"/>
                                        </p:tgtEl>
                                        <p:attrNameLst>
                                          <p:attrName>style.visibility</p:attrName>
                                        </p:attrNameLst>
                                      </p:cBhvr>
                                      <p:to>
                                        <p:strVal val="visible"/>
                                      </p:to>
                                    </p:set>
                                    <p:animEffect transition="in" filter="wipe(left)">
                                      <p:cBhvr>
                                        <p:cTn id="7" dur="500"/>
                                        <p:tgtEl>
                                          <p:spTgt spid="768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6804"/>
                                        </p:tgtEl>
                                        <p:attrNameLst>
                                          <p:attrName>style.visibility</p:attrName>
                                        </p:attrNameLst>
                                      </p:cBhvr>
                                      <p:to>
                                        <p:strVal val="visible"/>
                                      </p:to>
                                    </p:set>
                                    <p:animEffect transition="in" filter="wipe(left)">
                                      <p:cBhvr>
                                        <p:cTn id="12" dur="500"/>
                                        <p:tgtEl>
                                          <p:spTgt spid="768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6805"/>
                                        </p:tgtEl>
                                        <p:attrNameLst>
                                          <p:attrName>style.visibility</p:attrName>
                                        </p:attrNameLst>
                                      </p:cBhvr>
                                      <p:to>
                                        <p:strVal val="visible"/>
                                      </p:to>
                                    </p:set>
                                    <p:animEffect transition="in" filter="wipe(left)">
                                      <p:cBhvr>
                                        <p:cTn id="17" dur="500"/>
                                        <p:tgtEl>
                                          <p:spTgt spid="768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810"/>
                                        </p:tgtEl>
                                        <p:attrNameLst>
                                          <p:attrName>style.visibility</p:attrName>
                                        </p:attrNameLst>
                                      </p:cBhvr>
                                      <p:to>
                                        <p:strVal val="visible"/>
                                      </p:to>
                                    </p:set>
                                    <p:animEffect transition="in" filter="wipe(left)">
                                      <p:cBhvr>
                                        <p:cTn id="22" dur="500"/>
                                        <p:tgtEl>
                                          <p:spTgt spid="768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6803"/>
                                        </p:tgtEl>
                                        <p:attrNameLst>
                                          <p:attrName>style.visibility</p:attrName>
                                        </p:attrNameLst>
                                      </p:cBhvr>
                                      <p:to>
                                        <p:strVal val="visible"/>
                                      </p:to>
                                    </p:set>
                                    <p:animEffect transition="in" filter="wipe(left)">
                                      <p:cBhvr>
                                        <p:cTn id="27" dur="500"/>
                                        <p:tgtEl>
                                          <p:spTgt spid="7680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6808"/>
                                        </p:tgtEl>
                                        <p:attrNameLst>
                                          <p:attrName>style.visibility</p:attrName>
                                        </p:attrNameLst>
                                      </p:cBhvr>
                                      <p:to>
                                        <p:strVal val="visible"/>
                                      </p:to>
                                    </p:set>
                                    <p:animEffect transition="in" filter="wipe(left)">
                                      <p:cBhvr>
                                        <p:cTn id="32" dur="500"/>
                                        <p:tgtEl>
                                          <p:spTgt spid="76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8" grpId="0" bldLvl="0" animBg="1"/>
      <p:bldP spid="76809" grpId="0"/>
      <p:bldP spid="76810"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7826" name="Rectangle 2"/>
          <p:cNvSpPr>
            <a:spLocks noGrp="1" noChangeArrowheads="1"/>
          </p:cNvSpPr>
          <p:nvPr>
            <p:ph type="title"/>
          </p:nvPr>
        </p:nvSpPr>
        <p:spPr bwMode="auto">
          <a:xfrm>
            <a:off x="66675" y="333375"/>
            <a:ext cx="4768850" cy="52863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rPr>
              <a:t> </a:t>
            </a:r>
            <a:r>
              <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rPr>
              <a:t>（</a:t>
            </a:r>
            <a:r>
              <a:rPr kumimoji="1" lang="en-US" altLang="zh-CN"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rPr>
              <a:t>2</a:t>
            </a:r>
            <a:r>
              <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rPr>
              <a:t>）用图解法确定静态值</a:t>
            </a:r>
            <a:endParaRPr kumimoji="1" lang="zh-CN" altLang="en-US" sz="2800" b="1" i="0" u="none" strike="noStrike" kern="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77827" name="Rectangle 3" descr="40%"/>
          <p:cNvSpPr>
            <a:spLocks noChangeArrowheads="1"/>
          </p:cNvSpPr>
          <p:nvPr/>
        </p:nvSpPr>
        <p:spPr bwMode="auto">
          <a:xfrm>
            <a:off x="982663" y="996950"/>
            <a:ext cx="4551363" cy="519113"/>
          </a:xfrm>
          <a:prstGeom prst="rect">
            <a:avLst/>
          </a:prstGeom>
          <a:noFill/>
          <a:ln>
            <a:noFill/>
          </a:ln>
          <a:effectLst/>
          <a:extLst>
            <a:ext uri="{909E8E84-426E-40DD-AFC4-6F175D3DCCD1}">
              <a14:hiddenFill xmlns:a14="http://schemas.microsoft.com/office/drawing/2010/main">
                <a:pattFill prst="pct40">
                  <a:fgClr>
                    <a:srgbClr val="66FF66"/>
                  </a:fgClr>
                  <a:bgClr>
                    <a:srgbClr val="FFFFFF"/>
                  </a:bgClr>
                </a:patt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p>
            <a:pPr lvl="0" eaLnBrk="1" fontAlgn="base" hangingPunct="1">
              <a:spcBef>
                <a:spcPct val="50000"/>
              </a:spcBef>
            </a:pPr>
            <a:r>
              <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cs typeface="+mn-ea"/>
              </a:rPr>
              <a:t>用作图的方法确定静态值。</a:t>
            </a:r>
            <a:endPar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endParaRPr>
          </a:p>
        </p:txBody>
      </p:sp>
      <p:sp>
        <p:nvSpPr>
          <p:cNvPr id="77828" name="Rectangle 4"/>
          <p:cNvSpPr>
            <a:spLocks noChangeArrowheads="1"/>
          </p:cNvSpPr>
          <p:nvPr/>
        </p:nvSpPr>
        <p:spPr bwMode="auto">
          <a:xfrm>
            <a:off x="492125" y="3344863"/>
            <a:ext cx="4918075" cy="9667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500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步骤：</a:t>
            </a:r>
            <a:endPar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
              </a:spcBef>
              <a:spcAft>
                <a:spcPct val="0"/>
              </a:spcAft>
              <a:buClrTx/>
              <a:buSzTx/>
              <a:buFontTx/>
              <a:buNone/>
              <a:defRPr/>
            </a:pPr>
            <a:r>
              <a:rPr kumimoji="1" lang="zh-CN" altLang="en-US" sz="2800" b="1" i="0" u="none" strike="noStrike" kern="1200" cap="none" spc="0" normalizeH="0" baseline="0" noProof="0" smtClean="0">
                <a:ln>
                  <a:noFill/>
                </a:ln>
                <a:solidFill>
                  <a:srgbClr val="005C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 </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用估算法确定</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  </a:t>
            </a:r>
            <a:endPar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77829" name="Rectangle 5" descr="40%"/>
          <p:cNvSpPr>
            <a:spLocks noChangeArrowheads="1"/>
          </p:cNvSpPr>
          <p:nvPr/>
        </p:nvSpPr>
        <p:spPr bwMode="auto">
          <a:xfrm>
            <a:off x="457200" y="1516063"/>
            <a:ext cx="4802188" cy="1862138"/>
          </a:xfrm>
          <a:prstGeom prst="rect">
            <a:avLst/>
          </a:prstGeom>
          <a:noFill/>
          <a:ln>
            <a:noFill/>
          </a:ln>
          <a:effectLst/>
          <a:extLst>
            <a:ext uri="{909E8E84-426E-40DD-AFC4-6F175D3DCCD1}">
              <a14:hiddenFill xmlns:a14="http://schemas.microsoft.com/office/drawing/2010/main">
                <a:pattFill prst="pct40">
                  <a:fgClr>
                    <a:srgbClr val="66FF66"/>
                  </a:fgClr>
                  <a:bgClr>
                    <a:srgbClr val="FFFFFF"/>
                  </a:bgClr>
                </a:patt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p>
            <a:pPr lvl="0" eaLnBrk="1" fontAlgn="base" hangingPunct="1">
              <a:spcBef>
                <a:spcPct val="5000"/>
              </a:spcBef>
            </a:pPr>
            <a:r>
              <a:rPr lang="zh-CN" altLang="en-US" sz="2800" b="1" strike="noStrike" noProof="1" dirty="0">
                <a:solidFill>
                  <a:srgbClr val="CC0000"/>
                </a:solidFill>
                <a:effectLst>
                  <a:outerShdw blurRad="38100" dist="38100" dir="2700000">
                    <a:srgbClr val="000000"/>
                  </a:outerShdw>
                </a:effectLst>
                <a:latin typeface="宋体" panose="02010600030101010101" pitchFamily="2" charset="-122"/>
                <a:ea typeface="宋体" panose="02010600030101010101" pitchFamily="2" charset="-122"/>
                <a:cs typeface="+mn-ea"/>
              </a:rPr>
              <a:t>优点：</a:t>
            </a:r>
            <a:endParaRPr lang="zh-CN" altLang="en-US" sz="2800" b="1" strike="noStrike" noProof="1" dirty="0">
              <a:solidFill>
                <a:srgbClr val="CC0000"/>
              </a:solidFill>
              <a:effectLst>
                <a:outerShdw blurRad="38100" dist="38100" dir="2700000">
                  <a:srgbClr val="000000"/>
                </a:outerShdw>
              </a:effectLst>
              <a:latin typeface="宋体" panose="02010600030101010101" pitchFamily="2" charset="-122"/>
              <a:ea typeface="宋体" panose="02010600030101010101" pitchFamily="2" charset="-122"/>
            </a:endParaRPr>
          </a:p>
          <a:p>
            <a:pPr lvl="0" eaLnBrk="1" fontAlgn="base" hangingPunct="1">
              <a:spcBef>
                <a:spcPct val="5000"/>
              </a:spcBef>
            </a:pPr>
            <a:r>
              <a:rPr lang="zh-CN" altLang="en-US" sz="2800" b="1" strike="noStrike" noProof="1" dirty="0">
                <a:solidFill>
                  <a:srgbClr val="CC0000"/>
                </a:solidFill>
                <a:effectLst>
                  <a:outerShdw blurRad="38100" dist="38100" dir="2700000">
                    <a:srgbClr val="000000"/>
                  </a:outerShdw>
                </a:effectLst>
                <a:latin typeface="宋体" panose="02010600030101010101" pitchFamily="2" charset="-122"/>
                <a:ea typeface="宋体" panose="02010600030101010101" pitchFamily="2" charset="-122"/>
                <a:cs typeface="+mn-ea"/>
              </a:rPr>
              <a:t>    </a:t>
            </a:r>
            <a:r>
              <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cs typeface="+mn-ea"/>
              </a:rPr>
              <a:t>能直观地分析和了解静</a:t>
            </a:r>
            <a:endPar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endParaRPr>
          </a:p>
          <a:p>
            <a:pPr lvl="0" eaLnBrk="1" fontAlgn="base" hangingPunct="1">
              <a:spcBef>
                <a:spcPct val="5000"/>
              </a:spcBef>
            </a:pPr>
            <a:r>
              <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cs typeface="+mn-ea"/>
              </a:rPr>
              <a:t>    态值的变化对放大电路</a:t>
            </a:r>
            <a:endPar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endParaRPr>
          </a:p>
          <a:p>
            <a:pPr lvl="0" eaLnBrk="1" fontAlgn="base" hangingPunct="1">
              <a:spcBef>
                <a:spcPct val="5000"/>
              </a:spcBef>
            </a:pPr>
            <a:r>
              <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cs typeface="+mn-ea"/>
              </a:rPr>
              <a:t>    的影响。</a:t>
            </a:r>
            <a:endParaRPr lang="zh-CN" altLang="en-US" sz="2800" b="1" strike="noStrike" noProof="1" dirty="0">
              <a:solidFill>
                <a:schemeClr val="tx2"/>
              </a:solidFill>
              <a:effectLst>
                <a:outerShdw blurRad="38100" dist="38100" dir="2700000">
                  <a:srgbClr val="FFFFFF"/>
                </a:outerShdw>
              </a:effectLst>
              <a:latin typeface="宋体" panose="02010600030101010101" pitchFamily="2" charset="-122"/>
              <a:ea typeface="宋体" panose="02010600030101010101" pitchFamily="2" charset="-122"/>
            </a:endParaRPr>
          </a:p>
        </p:txBody>
      </p:sp>
      <p:sp>
        <p:nvSpPr>
          <p:cNvPr id="77830" name="Rectangle 6"/>
          <p:cNvSpPr>
            <a:spLocks noChangeArrowheads="1"/>
          </p:cNvSpPr>
          <p:nvPr/>
        </p:nvSpPr>
        <p:spPr bwMode="auto">
          <a:xfrm>
            <a:off x="1217613" y="4273550"/>
            <a:ext cx="4359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 </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由输出特性确定</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C</a:t>
            </a:r>
            <a:r>
              <a:rPr kumimoji="1" lang="en-US" altLang="zh-CN" sz="2800" b="1" i="1"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和</a:t>
            </a:r>
            <a:r>
              <a:rPr kumimoji="1" lang="en-US" altLang="zh-CN" sz="2800" b="1" i="1"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U</a:t>
            </a:r>
            <a:r>
              <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CE</a:t>
            </a:r>
            <a:endParaRPr kumimoji="1" lang="en-US" altLang="zh-CN" sz="2800" b="1" i="0" u="none" strike="noStrike" kern="1200" cap="none" spc="0" normalizeH="0" baseline="-2500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grpSp>
        <p:nvGrpSpPr>
          <p:cNvPr id="77868" name="Group 44"/>
          <p:cNvGrpSpPr/>
          <p:nvPr/>
        </p:nvGrpSpPr>
        <p:grpSpPr>
          <a:xfrm>
            <a:off x="1524000" y="4876800"/>
            <a:ext cx="2984500" cy="838200"/>
            <a:chOff x="960" y="3072"/>
            <a:chExt cx="1880" cy="528"/>
          </a:xfrm>
        </p:grpSpPr>
        <p:sp>
          <p:nvSpPr>
            <p:cNvPr id="13320" name="Rectangle 9"/>
            <p:cNvSpPr/>
            <p:nvPr/>
          </p:nvSpPr>
          <p:spPr>
            <a:xfrm>
              <a:off x="960" y="3072"/>
              <a:ext cx="1880" cy="327"/>
            </a:xfrm>
            <a:prstGeom prst="rect">
              <a:avLst/>
            </a:prstGeom>
            <a:noFill/>
            <a:ln w="38100">
              <a:noFill/>
            </a:ln>
          </p:spPr>
          <p:txBody>
            <a:bodyPr lIns="90000" tIns="46800" rIns="90000" bIns="46800" anchor="ctr">
              <a:spAutoFit/>
            </a:bodyPr>
            <a:p>
              <a:pPr algn="ctr">
                <a:spcBef>
                  <a:spcPct val="50000"/>
                </a:spcBef>
              </a:pPr>
              <a:r>
                <a:rPr lang="en-US" altLang="zh-CN" sz="2800" b="1" i="1" dirty="0">
                  <a:latin typeface="Times New Roman" panose="02020603050405020304" pitchFamily="18" charset="0"/>
                  <a:ea typeface="楷体_GB2312" pitchFamily="49" charset="-122"/>
                </a:rPr>
                <a:t>U</a:t>
              </a:r>
              <a:r>
                <a:rPr lang="en-US" altLang="zh-CN" sz="2800" b="1" baseline="-25000" dirty="0">
                  <a:latin typeface="Times New Roman" panose="02020603050405020304" pitchFamily="18" charset="0"/>
                  <a:ea typeface="楷体_GB2312" pitchFamily="49" charset="-122"/>
                </a:rPr>
                <a:t>CE</a:t>
              </a:r>
              <a:r>
                <a:rPr lang="en-US" altLang="zh-CN" sz="2800" b="1" i="1" baseline="-25000" dirty="0">
                  <a:latin typeface="Times New Roman" panose="02020603050405020304" pitchFamily="18" charset="0"/>
                  <a:ea typeface="楷体_GB2312" pitchFamily="49" charset="-122"/>
                </a:rPr>
                <a:t> </a:t>
              </a:r>
              <a:r>
                <a:rPr lang="en-US" altLang="zh-CN" sz="2800" b="1" i="1" dirty="0">
                  <a:latin typeface="Times New Roman" panose="02020603050405020304" pitchFamily="18" charset="0"/>
                  <a:ea typeface="楷体_GB2312" pitchFamily="49" charset="-122"/>
                </a:rPr>
                <a:t>= U</a:t>
              </a:r>
              <a:r>
                <a:rPr lang="en-US" altLang="zh-CN" sz="2800" b="1" baseline="-25000" dirty="0">
                  <a:latin typeface="Times New Roman" panose="02020603050405020304" pitchFamily="18" charset="0"/>
                  <a:ea typeface="楷体_GB2312" pitchFamily="49" charset="-122"/>
                </a:rPr>
                <a:t>CC</a:t>
              </a:r>
              <a:r>
                <a:rPr lang="en-US" altLang="zh-CN" sz="2800" b="1" i="1" dirty="0">
                  <a:latin typeface="Times New Roman" panose="02020603050405020304" pitchFamily="18" charset="0"/>
                  <a:ea typeface="楷体_GB2312" pitchFamily="49" charset="-122"/>
                </a:rPr>
                <a:t>– I</a:t>
              </a:r>
              <a:r>
                <a:rPr lang="en-US" altLang="zh-CN" sz="2800" b="1" baseline="-25000" dirty="0">
                  <a:latin typeface="Times New Roman" panose="02020603050405020304" pitchFamily="18" charset="0"/>
                  <a:ea typeface="楷体_GB2312" pitchFamily="49" charset="-122"/>
                </a:rPr>
                <a:t>C</a:t>
              </a:r>
              <a:r>
                <a:rPr lang="en-US" altLang="zh-CN" sz="2800" b="1" i="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C  </a:t>
              </a:r>
              <a:endParaRPr lang="en-US" altLang="zh-CN" sz="2800" b="1" baseline="-25000" dirty="0">
                <a:latin typeface="Times New Roman" panose="02020603050405020304" pitchFamily="18" charset="0"/>
                <a:ea typeface="楷体_GB2312" pitchFamily="49" charset="-122"/>
              </a:endParaRPr>
            </a:p>
          </p:txBody>
        </p:sp>
        <p:sp>
          <p:nvSpPr>
            <p:cNvPr id="77834" name="AutoShape 10"/>
            <p:cNvSpPr/>
            <p:nvPr/>
          </p:nvSpPr>
          <p:spPr bwMode="auto">
            <a:xfrm>
              <a:off x="968" y="3197"/>
              <a:ext cx="88" cy="403"/>
            </a:xfrm>
            <a:prstGeom prst="leftBrace">
              <a:avLst>
                <a:gd name="adj1" fmla="val 3816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13322" name="Group 14"/>
          <p:cNvGrpSpPr/>
          <p:nvPr/>
        </p:nvGrpSpPr>
        <p:grpSpPr>
          <a:xfrm>
            <a:off x="5791200" y="1371600"/>
            <a:ext cx="2976563" cy="3087688"/>
            <a:chOff x="576" y="816"/>
            <a:chExt cx="1875" cy="1945"/>
          </a:xfrm>
        </p:grpSpPr>
        <p:sp>
          <p:nvSpPr>
            <p:cNvPr id="13323" name="Rectangle 15"/>
            <p:cNvSpPr/>
            <p:nvPr/>
          </p:nvSpPr>
          <p:spPr>
            <a:xfrm>
              <a:off x="1905" y="816"/>
              <a:ext cx="546" cy="288"/>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a:t>
              </a:r>
              <a:r>
                <a:rPr lang="en-US" altLang="zh-CN" b="1" i="1" dirty="0">
                  <a:latin typeface="Times New Roman" panose="02020603050405020304" pitchFamily="18" charset="0"/>
                  <a:ea typeface="楷体_GB2312" pitchFamily="49" charset="-122"/>
                </a:rPr>
                <a:t>U</a:t>
              </a:r>
              <a:r>
                <a:rPr lang="en-US" altLang="zh-CN" b="1" baseline="-25000" dirty="0">
                  <a:latin typeface="Times New Roman" panose="02020603050405020304" pitchFamily="18" charset="0"/>
                  <a:ea typeface="楷体_GB2312" pitchFamily="49" charset="-122"/>
                </a:rPr>
                <a:t>CC</a:t>
              </a:r>
              <a:endParaRPr lang="en-US" altLang="zh-CN" b="1" baseline="-25000" dirty="0">
                <a:latin typeface="Times New Roman" panose="02020603050405020304" pitchFamily="18" charset="0"/>
                <a:ea typeface="楷体_GB2312" pitchFamily="49" charset="-122"/>
              </a:endParaRPr>
            </a:p>
          </p:txBody>
        </p:sp>
        <p:sp>
          <p:nvSpPr>
            <p:cNvPr id="77840" name="Line 16"/>
            <p:cNvSpPr>
              <a:spLocks noChangeShapeType="1"/>
            </p:cNvSpPr>
            <p:nvPr/>
          </p:nvSpPr>
          <p:spPr bwMode="auto">
            <a:xfrm flipV="1">
              <a:off x="915" y="1535"/>
              <a:ext cx="0" cy="41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41" name="Line 17"/>
            <p:cNvSpPr>
              <a:spLocks noChangeShapeType="1"/>
            </p:cNvSpPr>
            <p:nvPr/>
          </p:nvSpPr>
          <p:spPr bwMode="auto">
            <a:xfrm rot="16200000" flipH="1">
              <a:off x="770" y="1080"/>
              <a:ext cx="290" cy="0"/>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3326" name="Group 18"/>
            <p:cNvGrpSpPr/>
            <p:nvPr/>
          </p:nvGrpSpPr>
          <p:grpSpPr>
            <a:xfrm>
              <a:off x="1428" y="1751"/>
              <a:ext cx="156" cy="384"/>
              <a:chOff x="4500" y="2064"/>
              <a:chExt cx="156" cy="384"/>
            </a:xfrm>
          </p:grpSpPr>
          <p:sp>
            <p:nvSpPr>
              <p:cNvPr id="77843" name="Line 19"/>
              <p:cNvSpPr>
                <a:spLocks noChangeShapeType="1"/>
              </p:cNvSpPr>
              <p:nvPr/>
            </p:nvSpPr>
            <p:spPr bwMode="auto">
              <a:xfrm>
                <a:off x="4500" y="2088"/>
                <a:ext cx="0" cy="269"/>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44" name="Line 20"/>
              <p:cNvSpPr>
                <a:spLocks noChangeShapeType="1"/>
              </p:cNvSpPr>
              <p:nvPr/>
            </p:nvSpPr>
            <p:spPr bwMode="auto">
              <a:xfrm>
                <a:off x="4500" y="2264"/>
                <a:ext cx="156" cy="184"/>
              </a:xfrm>
              <a:prstGeom prst="line">
                <a:avLst/>
              </a:prstGeom>
              <a:noFill/>
              <a:ln w="28575">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45" name="Line 21"/>
              <p:cNvSpPr>
                <a:spLocks noChangeShapeType="1"/>
              </p:cNvSpPr>
              <p:nvPr/>
            </p:nvSpPr>
            <p:spPr bwMode="auto">
              <a:xfrm flipV="1">
                <a:off x="4500" y="2064"/>
                <a:ext cx="137" cy="12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7846" name="Line 22"/>
            <p:cNvSpPr>
              <a:spLocks noChangeShapeType="1"/>
            </p:cNvSpPr>
            <p:nvPr/>
          </p:nvSpPr>
          <p:spPr bwMode="auto">
            <a:xfrm>
              <a:off x="1570" y="2089"/>
              <a:ext cx="0" cy="672"/>
            </a:xfrm>
            <a:prstGeom prst="line">
              <a:avLst/>
            </a:prstGeom>
            <a:noFill/>
            <a:ln w="28575">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331" name="Text Box 23"/>
            <p:cNvSpPr txBox="1"/>
            <p:nvPr/>
          </p:nvSpPr>
          <p:spPr>
            <a:xfrm>
              <a:off x="576" y="1254"/>
              <a:ext cx="328" cy="288"/>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B</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77848" name="Rectangle 24"/>
            <p:cNvSpPr>
              <a:spLocks noChangeArrowheads="1"/>
            </p:cNvSpPr>
            <p:nvPr/>
          </p:nvSpPr>
          <p:spPr bwMode="auto">
            <a:xfrm>
              <a:off x="1521" y="1177"/>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49" name="Rectangle 25"/>
            <p:cNvSpPr>
              <a:spLocks noChangeArrowheads="1"/>
            </p:cNvSpPr>
            <p:nvPr/>
          </p:nvSpPr>
          <p:spPr bwMode="auto">
            <a:xfrm>
              <a:off x="868" y="1225"/>
              <a:ext cx="92" cy="305"/>
            </a:xfrm>
            <a:prstGeom prst="rect">
              <a:avLst/>
            </a:prstGeom>
            <a:noFill/>
            <a:ln w="28575">
              <a:solidFill>
                <a:schemeClr val="tx1"/>
              </a:solidFill>
              <a:miter lim="800000"/>
              <a:headEnd type="none" w="sm" len="sm"/>
              <a:tailEnd type="none" w="med" len="lg"/>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334" name="Text Box 26"/>
            <p:cNvSpPr txBox="1"/>
            <p:nvPr/>
          </p:nvSpPr>
          <p:spPr>
            <a:xfrm>
              <a:off x="1207" y="1083"/>
              <a:ext cx="334" cy="288"/>
            </a:xfrm>
            <a:prstGeom prst="rect">
              <a:avLst/>
            </a:prstGeom>
            <a:noFill/>
            <a:ln w="38100">
              <a:noFill/>
            </a:ln>
          </p:spPr>
          <p:txBody>
            <a:bodyPr wrap="none" lIns="90000" tIns="46800" rIns="90000" bIns="46800" anchor="ctr">
              <a:spAutoFit/>
            </a:bodyPr>
            <a:p>
              <a:pPr algn="ctr">
                <a:spcBef>
                  <a:spcPct val="50000"/>
                </a:spcBef>
              </a:pPr>
              <a:r>
                <a:rPr lang="en-US" altLang="zh-CN" b="1" i="1" dirty="0">
                  <a:solidFill>
                    <a:schemeClr val="tx2"/>
                  </a:solidFill>
                  <a:latin typeface="Times New Roman" panose="02020603050405020304" pitchFamily="18" charset="0"/>
                  <a:ea typeface="楷体_GB2312" pitchFamily="49" charset="-122"/>
                </a:rPr>
                <a:t>R</a:t>
              </a:r>
              <a:r>
                <a:rPr lang="en-US" altLang="zh-CN" b="1" baseline="-25000" dirty="0">
                  <a:solidFill>
                    <a:schemeClr val="tx2"/>
                  </a:solidFill>
                  <a:latin typeface="Times New Roman" panose="02020603050405020304" pitchFamily="18" charset="0"/>
                  <a:ea typeface="楷体_GB2312" pitchFamily="49" charset="-122"/>
                </a:rPr>
                <a:t>C</a:t>
              </a:r>
              <a:endParaRPr lang="en-US" altLang="zh-CN" b="1" baseline="-25000" dirty="0">
                <a:solidFill>
                  <a:schemeClr val="tx2"/>
                </a:solidFill>
                <a:latin typeface="Times New Roman" panose="02020603050405020304" pitchFamily="18" charset="0"/>
                <a:ea typeface="楷体_GB2312" pitchFamily="49" charset="-122"/>
              </a:endParaRPr>
            </a:p>
          </p:txBody>
        </p:sp>
        <p:sp>
          <p:nvSpPr>
            <p:cNvPr id="13335" name="Text Box 27"/>
            <p:cNvSpPr txBox="1"/>
            <p:nvPr/>
          </p:nvSpPr>
          <p:spPr>
            <a:xfrm>
              <a:off x="1463" y="1772"/>
              <a:ext cx="242" cy="288"/>
            </a:xfrm>
            <a:prstGeom prst="rect">
              <a:avLst/>
            </a:prstGeom>
            <a:noFill/>
            <a:ln w="38100">
              <a:noFill/>
            </a:ln>
          </p:spPr>
          <p:txBody>
            <a:bodyPr wrap="none" lIns="90000" tIns="46800" rIns="90000" bIns="46800" anchor="ctr">
              <a:spAutoFit/>
            </a:bodyPr>
            <a:p>
              <a:pPr algn="ctr">
                <a:spcBef>
                  <a:spcPct val="50000"/>
                </a:spcBef>
              </a:pPr>
              <a:r>
                <a:rPr lang="en-US" altLang="zh-CN" b="1" dirty="0">
                  <a:latin typeface="Times New Roman" panose="02020603050405020304" pitchFamily="18" charset="0"/>
                  <a:ea typeface="楷体_GB2312" pitchFamily="49" charset="-122"/>
                </a:rPr>
                <a:t>T</a:t>
              </a:r>
              <a:endParaRPr lang="en-US" altLang="zh-CN" b="1" dirty="0">
                <a:latin typeface="Times New Roman" panose="02020603050405020304" pitchFamily="18" charset="0"/>
                <a:ea typeface="楷体_GB2312" pitchFamily="49" charset="-122"/>
              </a:endParaRPr>
            </a:p>
          </p:txBody>
        </p:sp>
        <p:sp>
          <p:nvSpPr>
            <p:cNvPr id="77852" name="Line 28"/>
            <p:cNvSpPr>
              <a:spLocks noChangeShapeType="1"/>
            </p:cNvSpPr>
            <p:nvPr/>
          </p:nvSpPr>
          <p:spPr bwMode="auto">
            <a:xfrm flipV="1">
              <a:off x="921" y="1922"/>
              <a:ext cx="50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337" name="Text Box 29"/>
            <p:cNvSpPr txBox="1"/>
            <p:nvPr/>
          </p:nvSpPr>
          <p:spPr>
            <a:xfrm>
              <a:off x="1205" y="1841"/>
              <a:ext cx="367" cy="288"/>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13338" name="Text Box 30"/>
            <p:cNvSpPr txBox="1"/>
            <p:nvPr/>
          </p:nvSpPr>
          <p:spPr>
            <a:xfrm>
              <a:off x="1648" y="1590"/>
              <a:ext cx="366" cy="288"/>
            </a:xfrm>
            <a:prstGeom prst="rect">
              <a:avLst/>
            </a:prstGeom>
            <a:noFill/>
            <a:ln w="9525">
              <a:noFill/>
            </a:ln>
          </p:spPr>
          <p:txBody>
            <a:bodyPr anchor="t">
              <a:spAutoFit/>
            </a:bodyPr>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77855" name="Rectangle 31"/>
            <p:cNvSpPr>
              <a:spLocks noChangeArrowheads="1"/>
            </p:cNvSpPr>
            <p:nvPr/>
          </p:nvSpPr>
          <p:spPr bwMode="auto">
            <a:xfrm>
              <a:off x="1357" y="214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rPr>
                <a:t>–</a:t>
              </a:r>
              <a:endParaRPr lang="en-US" altLang="zh-CN" b="1" dirty="0">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13340" name="Rectangle 32"/>
            <p:cNvSpPr/>
            <p:nvPr/>
          </p:nvSpPr>
          <p:spPr>
            <a:xfrm>
              <a:off x="1120" y="1996"/>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BE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3341" name="Rectangle 33"/>
            <p:cNvSpPr/>
            <p:nvPr/>
          </p:nvSpPr>
          <p:spPr>
            <a:xfrm>
              <a:off x="1568" y="1867"/>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U</a:t>
              </a:r>
              <a:r>
                <a:rPr lang="en-US" altLang="zh-CN" b="1" baseline="-25000" dirty="0">
                  <a:solidFill>
                    <a:schemeClr val="accent2"/>
                  </a:solidFill>
                  <a:latin typeface="Times New Roman" panose="02020603050405020304" pitchFamily="18" charset="0"/>
                  <a:ea typeface="楷体_GB2312" pitchFamily="49" charset="-122"/>
                </a:rPr>
                <a:t>CE</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13342" name="Rectangle 34"/>
            <p:cNvSpPr/>
            <p:nvPr/>
          </p:nvSpPr>
          <p:spPr>
            <a:xfrm>
              <a:off x="1643" y="2053"/>
              <a:ext cx="210" cy="288"/>
            </a:xfrm>
            <a:prstGeom prst="rect">
              <a:avLst/>
            </a:prstGeom>
            <a:noFill/>
            <a:ln w="38100">
              <a:noFill/>
            </a:ln>
          </p:spPr>
          <p:txBody>
            <a:bodyPr wrap="none" lIns="90000" tIns="46800" rIns="90000" bIns="46800" anchor="ctr">
              <a:spAutoFit/>
            </a:bodyPr>
            <a:p>
              <a:pPr algn="ctr">
                <a:spcBef>
                  <a:spcPct val="50000"/>
                </a:spcBef>
              </a:pPr>
              <a:r>
                <a:rPr lang="en-US" altLang="zh-CN" b="1" dirty="0">
                  <a:solidFill>
                    <a:srgbClr val="FF0000"/>
                  </a:solidFill>
                  <a:latin typeface="Times New Roman" panose="02020603050405020304" pitchFamily="18" charset="0"/>
                  <a:ea typeface="楷体_GB2312" pitchFamily="49" charset="-122"/>
                </a:rPr>
                <a:t>–</a:t>
              </a:r>
              <a:endParaRPr lang="en-US" altLang="zh-CN" b="1" dirty="0">
                <a:solidFill>
                  <a:srgbClr val="FF0000"/>
                </a:solidFill>
                <a:latin typeface="Times New Roman" panose="02020603050405020304" pitchFamily="18" charset="0"/>
                <a:ea typeface="楷体_GB2312" pitchFamily="49" charset="-122"/>
              </a:endParaRPr>
            </a:p>
          </p:txBody>
        </p:sp>
        <p:sp>
          <p:nvSpPr>
            <p:cNvPr id="77859" name="Line 35"/>
            <p:cNvSpPr>
              <a:spLocks noChangeShapeType="1"/>
            </p:cNvSpPr>
            <p:nvPr/>
          </p:nvSpPr>
          <p:spPr bwMode="auto">
            <a:xfrm>
              <a:off x="1502" y="1459"/>
              <a:ext cx="2" cy="316"/>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344" name="Rectangle 36"/>
            <p:cNvSpPr/>
            <p:nvPr/>
          </p:nvSpPr>
          <p:spPr>
            <a:xfrm>
              <a:off x="1150" y="1417"/>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C</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7861" name="Line 37"/>
            <p:cNvSpPr>
              <a:spLocks noChangeShapeType="1"/>
            </p:cNvSpPr>
            <p:nvPr/>
          </p:nvSpPr>
          <p:spPr bwMode="auto">
            <a:xfrm>
              <a:off x="1028" y="1849"/>
              <a:ext cx="316" cy="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346" name="Rectangle 38"/>
            <p:cNvSpPr/>
            <p:nvPr/>
          </p:nvSpPr>
          <p:spPr>
            <a:xfrm>
              <a:off x="915" y="1561"/>
              <a:ext cx="483" cy="288"/>
            </a:xfrm>
            <a:prstGeom prst="rect">
              <a:avLst/>
            </a:prstGeom>
            <a:noFill/>
            <a:ln w="38100">
              <a:noFill/>
            </a:ln>
          </p:spPr>
          <p:txBody>
            <a:bodyPr lIns="90000" tIns="46800" rIns="90000" bIns="46800" anchor="ctr">
              <a:spAutoFit/>
            </a:bodyPr>
            <a:p>
              <a:pPr algn="ctr">
                <a:spcBef>
                  <a:spcPct val="50000"/>
                </a:spcBef>
              </a:pPr>
              <a:r>
                <a:rPr lang="en-US" altLang="zh-CN" b="1" i="1" dirty="0">
                  <a:solidFill>
                    <a:schemeClr val="accent2"/>
                  </a:solidFill>
                  <a:latin typeface="Times New Roman" panose="02020603050405020304" pitchFamily="18" charset="0"/>
                  <a:ea typeface="楷体_GB2312" pitchFamily="49" charset="-122"/>
                </a:rPr>
                <a:t>I</a:t>
              </a:r>
              <a:r>
                <a:rPr lang="en-US" altLang="zh-CN" b="1" baseline="-25000" dirty="0">
                  <a:solidFill>
                    <a:schemeClr val="accent2"/>
                  </a:solidFill>
                  <a:latin typeface="Times New Roman" panose="02020603050405020304" pitchFamily="18" charset="0"/>
                  <a:ea typeface="楷体_GB2312" pitchFamily="49" charset="-122"/>
                </a:rPr>
                <a:t>B</a:t>
              </a:r>
              <a:endParaRPr lang="en-US" altLang="zh-CN" b="1" baseline="-25000" dirty="0">
                <a:solidFill>
                  <a:schemeClr val="accent2"/>
                </a:solidFill>
                <a:latin typeface="Times New Roman" panose="02020603050405020304" pitchFamily="18" charset="0"/>
                <a:ea typeface="楷体_GB2312" pitchFamily="49" charset="-122"/>
              </a:endParaRPr>
            </a:p>
          </p:txBody>
        </p:sp>
        <p:sp>
          <p:nvSpPr>
            <p:cNvPr id="77863" name="Oval 39"/>
            <p:cNvSpPr>
              <a:spLocks noChangeArrowheads="1"/>
            </p:cNvSpPr>
            <p:nvPr/>
          </p:nvSpPr>
          <p:spPr bwMode="auto">
            <a:xfrm>
              <a:off x="1865" y="927"/>
              <a:ext cx="56" cy="56"/>
            </a:xfrm>
            <a:prstGeom prst="ellipse">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64" name="Line 40"/>
            <p:cNvSpPr>
              <a:spLocks noChangeShapeType="1"/>
            </p:cNvSpPr>
            <p:nvPr/>
          </p:nvSpPr>
          <p:spPr bwMode="auto">
            <a:xfrm>
              <a:off x="1480" y="2753"/>
              <a:ext cx="189" cy="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65" name="Line 41"/>
            <p:cNvSpPr>
              <a:spLocks noChangeShapeType="1"/>
            </p:cNvSpPr>
            <p:nvPr/>
          </p:nvSpPr>
          <p:spPr bwMode="auto">
            <a:xfrm>
              <a:off x="912" y="937"/>
              <a:ext cx="96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66" name="Line 42"/>
            <p:cNvSpPr>
              <a:spLocks noChangeShapeType="1"/>
            </p:cNvSpPr>
            <p:nvPr/>
          </p:nvSpPr>
          <p:spPr bwMode="auto">
            <a:xfrm>
              <a:off x="1561" y="937"/>
              <a:ext cx="0"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7867" name="Line 43"/>
            <p:cNvSpPr>
              <a:spLocks noChangeShapeType="1"/>
            </p:cNvSpPr>
            <p:nvPr/>
          </p:nvSpPr>
          <p:spPr bwMode="auto">
            <a:xfrm>
              <a:off x="1573" y="1478"/>
              <a:ext cx="0"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7870" name="AutoShape 46" descr="40%"/>
          <p:cNvSpPr>
            <a:spLocks noChangeArrowheads="1"/>
          </p:cNvSpPr>
          <p:nvPr/>
        </p:nvSpPr>
        <p:spPr bwMode="auto">
          <a:xfrm>
            <a:off x="5029200" y="4800600"/>
            <a:ext cx="2971800" cy="609600"/>
          </a:xfrm>
          <a:prstGeom prst="wedgeRoundRectCallout">
            <a:avLst>
              <a:gd name="adj1" fmla="val -74037"/>
              <a:gd name="adj2" fmla="val 17708"/>
              <a:gd name="adj3" fmla="val 16667"/>
            </a:avLst>
          </a:prstGeom>
          <a:pattFill prst="pct40">
            <a:fgClr>
              <a:schemeClr val="accent1"/>
            </a:fgClr>
            <a:bgClr>
              <a:srgbClr val="FFFFFF"/>
            </a:bgClr>
          </a:pattFill>
          <a:ln w="1905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直流负载线方程</a:t>
            </a:r>
            <a:endParaRPr kumimoji="1" lang="zh-CN" altLang="en-US" sz="2800" b="1" i="0" u="none" strike="noStrike" kern="1200" cap="none" spc="0" normalizeH="0" baseline="0" noProof="0" smtClean="0">
              <a:ln>
                <a:noFill/>
              </a:ln>
              <a:solidFill>
                <a:srgbClr val="CC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aphicFrame>
        <p:nvGraphicFramePr>
          <p:cNvPr id="2" name="对象 1"/>
          <p:cNvGraphicFramePr/>
          <p:nvPr/>
        </p:nvGraphicFramePr>
        <p:xfrm>
          <a:off x="1824355" y="5531485"/>
          <a:ext cx="4153535" cy="814705"/>
        </p:xfrm>
        <a:graphic>
          <a:graphicData uri="http://schemas.openxmlformats.org/presentationml/2006/ole">
            <mc:AlternateContent xmlns:mc="http://schemas.openxmlformats.org/markup-compatibility/2006">
              <mc:Choice xmlns:v="urn:schemas-microsoft-com:vml" Requires="v">
                <p:oleObj spid="_x0000_s3" name="" r:id="rId1" imgW="2686050" imgH="572135" progId="Equation.KSEE3">
                  <p:embed/>
                </p:oleObj>
              </mc:Choice>
              <mc:Fallback>
                <p:oleObj name="" r:id="rId1" imgW="2686050" imgH="572135" progId="Equation.KSEE3">
                  <p:embed/>
                  <p:pic>
                    <p:nvPicPr>
                      <p:cNvPr id="0" name="图片 2"/>
                      <p:cNvPicPr/>
                      <p:nvPr/>
                    </p:nvPicPr>
                    <p:blipFill>
                      <a:blip r:embed="rId2"/>
                      <a:stretch>
                        <a:fillRect/>
                      </a:stretch>
                    </p:blipFill>
                    <p:spPr>
                      <a:xfrm>
                        <a:off x="1824355" y="5531485"/>
                        <a:ext cx="4153535" cy="8147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Effect transition="in" filter="wipe(left)">
                                      <p:cBhvr>
                                        <p:cTn id="7" dur="500"/>
                                        <p:tgtEl>
                                          <p:spTgt spid="778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29"/>
                                        </p:tgtEl>
                                        <p:attrNameLst>
                                          <p:attrName>style.visibility</p:attrName>
                                        </p:attrNameLst>
                                      </p:cBhvr>
                                      <p:to>
                                        <p:strVal val="visible"/>
                                      </p:to>
                                    </p:set>
                                    <p:animEffect transition="in" filter="wipe(left)">
                                      <p:cBhvr>
                                        <p:cTn id="12" dur="500"/>
                                        <p:tgtEl>
                                          <p:spTgt spid="778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828"/>
                                        </p:tgtEl>
                                        <p:attrNameLst>
                                          <p:attrName>style.visibility</p:attrName>
                                        </p:attrNameLst>
                                      </p:cBhvr>
                                      <p:to>
                                        <p:strVal val="visible"/>
                                      </p:to>
                                    </p:set>
                                    <p:animEffect transition="in" filter="wipe(left)">
                                      <p:cBhvr>
                                        <p:cTn id="17" dur="500"/>
                                        <p:tgtEl>
                                          <p:spTgt spid="778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7830"/>
                                        </p:tgtEl>
                                        <p:attrNameLst>
                                          <p:attrName>style.visibility</p:attrName>
                                        </p:attrNameLst>
                                      </p:cBhvr>
                                      <p:to>
                                        <p:strVal val="visible"/>
                                      </p:to>
                                    </p:set>
                                    <p:animEffect transition="in" filter="wipe(left)">
                                      <p:cBhvr>
                                        <p:cTn id="22" dur="500"/>
                                        <p:tgtEl>
                                          <p:spTgt spid="778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7868"/>
                                        </p:tgtEl>
                                        <p:attrNameLst>
                                          <p:attrName>style.visibility</p:attrName>
                                        </p:attrNameLst>
                                      </p:cBhvr>
                                      <p:to>
                                        <p:strVal val="visible"/>
                                      </p:to>
                                    </p:set>
                                    <p:animEffect transition="in" filter="wipe(left)">
                                      <p:cBhvr>
                                        <p:cTn id="27" dur="500"/>
                                        <p:tgtEl>
                                          <p:spTgt spid="7786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77870"/>
                                        </p:tgtEl>
                                        <p:attrNameLst>
                                          <p:attrName>style.visibility</p:attrName>
                                        </p:attrNameLst>
                                      </p:cBhvr>
                                      <p:to>
                                        <p:strVal val="visible"/>
                                      </p:to>
                                    </p:set>
                                    <p:animEffect transition="in" filter="wipe(right)">
                                      <p:cBhvr>
                                        <p:cTn id="32" dur="500"/>
                                        <p:tgtEl>
                                          <p:spTgt spid="77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ldLvl="0" animBg="1"/>
      <p:bldP spid="77828" grpId="0" bldLvl="0" animBg="1"/>
      <p:bldP spid="77829" grpId="0" bldLvl="0" animBg="1"/>
      <p:bldP spid="77830" grpId="0" bldLvl="0" animBg="1"/>
      <p:bldP spid="77870"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78907" name="Group 59"/>
          <p:cNvGrpSpPr/>
          <p:nvPr/>
        </p:nvGrpSpPr>
        <p:grpSpPr>
          <a:xfrm>
            <a:off x="4038600" y="4103688"/>
            <a:ext cx="3244850" cy="1001712"/>
            <a:chOff x="2784" y="2372"/>
            <a:chExt cx="2044" cy="631"/>
          </a:xfrm>
        </p:grpSpPr>
        <p:graphicFrame>
          <p:nvGraphicFramePr>
            <p:cNvPr id="14338" name="Object 4" descr="90%"/>
            <p:cNvGraphicFramePr>
              <a:graphicFrameLocks noChangeAspect="1"/>
            </p:cNvGraphicFramePr>
            <p:nvPr/>
          </p:nvGraphicFramePr>
          <p:xfrm>
            <a:off x="3321" y="2372"/>
            <a:ext cx="1507" cy="631"/>
          </p:xfrm>
          <a:graphic>
            <a:graphicData uri="http://schemas.openxmlformats.org/presentationml/2006/ole">
              <mc:AlternateContent xmlns:mc="http://schemas.openxmlformats.org/markup-compatibility/2006">
                <mc:Choice xmlns:v="urn:schemas-microsoft-com:vml" Requires="v">
                  <p:oleObj spid="_x0000_s3128" name="" r:id="rId1" imgW="1371600" imgH="571500" progId="Equation.3">
                    <p:embed/>
                  </p:oleObj>
                </mc:Choice>
                <mc:Fallback>
                  <p:oleObj name="" r:id="rId1" imgW="1371600" imgH="571500" progId="Equation.3">
                    <p:embed/>
                    <p:pic>
                      <p:nvPicPr>
                        <p:cNvPr id="0" name="图片 3127"/>
                        <p:cNvPicPr/>
                        <p:nvPr/>
                      </p:nvPicPr>
                      <p:blipFill>
                        <a:blip r:embed="rId2">
                          <a:clrChange>
                            <a:clrFrom>
                              <a:srgbClr val="000000"/>
                            </a:clrFrom>
                            <a:clrTo>
                              <a:srgbClr val="FF3300"/>
                            </a:clrTo>
                          </a:clrChange>
                        </a:blip>
                        <a:stretch>
                          <a:fillRect/>
                        </a:stretch>
                      </p:blipFill>
                      <p:spPr>
                        <a:xfrm>
                          <a:off x="3321" y="2372"/>
                          <a:ext cx="1507" cy="631"/>
                        </a:xfrm>
                        <a:prstGeom prst="rect">
                          <a:avLst/>
                        </a:prstGeom>
                        <a:pattFill prst="pct90">
                          <a:fgClr>
                            <a:srgbClr val="CCFF33"/>
                          </a:fgClr>
                          <a:bgClr>
                            <a:schemeClr val="bg1"/>
                          </a:bgClr>
                        </a:pattFill>
                        <a:ln w="28575" cap="flat" cmpd="sng">
                          <a:solidFill>
                            <a:srgbClr val="008000"/>
                          </a:solidFill>
                          <a:prstDash val="solid"/>
                          <a:miter/>
                          <a:headEnd type="none" w="med" len="med"/>
                          <a:tailEnd type="none" w="med" len="med"/>
                        </a:ln>
                      </p:spPr>
                    </p:pic>
                  </p:oleObj>
                </mc:Fallback>
              </mc:AlternateContent>
            </a:graphicData>
          </a:graphic>
        </p:graphicFrame>
        <p:sp>
          <p:nvSpPr>
            <p:cNvPr id="78853" name="Line 5"/>
            <p:cNvSpPr>
              <a:spLocks noChangeShapeType="1"/>
            </p:cNvSpPr>
            <p:nvPr/>
          </p:nvSpPr>
          <p:spPr bwMode="auto">
            <a:xfrm flipH="1" flipV="1">
              <a:off x="2784" y="2592"/>
              <a:ext cx="576" cy="240"/>
            </a:xfrm>
            <a:prstGeom prst="line">
              <a:avLst/>
            </a:prstGeom>
            <a:noFill/>
            <a:ln w="38100">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78854" name="Group 6"/>
          <p:cNvGrpSpPr/>
          <p:nvPr/>
        </p:nvGrpSpPr>
        <p:grpSpPr>
          <a:xfrm>
            <a:off x="3352800" y="4816475"/>
            <a:ext cx="523875" cy="655638"/>
            <a:chOff x="2112" y="3427"/>
            <a:chExt cx="330" cy="413"/>
          </a:xfrm>
        </p:grpSpPr>
        <p:sp>
          <p:nvSpPr>
            <p:cNvPr id="78855" name="Freeform 7"/>
            <p:cNvSpPr/>
            <p:nvPr/>
          </p:nvSpPr>
          <p:spPr bwMode="auto">
            <a:xfrm>
              <a:off x="2112" y="3744"/>
              <a:ext cx="240" cy="96"/>
            </a:xfrm>
            <a:custGeom>
              <a:avLst/>
              <a:gdLst>
                <a:gd name="T0" fmla="*/ 0 w 192"/>
                <a:gd name="T1" fmla="*/ 24 h 168"/>
                <a:gd name="T2" fmla="*/ 144 w 192"/>
                <a:gd name="T3" fmla="*/ 24 h 168"/>
                <a:gd name="T4" fmla="*/ 192 w 192"/>
                <a:gd name="T5" fmla="*/ 168 h 168"/>
              </a:gdLst>
              <a:ahLst/>
              <a:cxnLst>
                <a:cxn ang="0">
                  <a:pos x="T0" y="T1"/>
                </a:cxn>
                <a:cxn ang="0">
                  <a:pos x="T2" y="T3"/>
                </a:cxn>
                <a:cxn ang="0">
                  <a:pos x="T4" y="T5"/>
                </a:cxn>
              </a:cxnLst>
              <a:rect l="0" t="0" r="r" b="b"/>
              <a:pathLst>
                <a:path w="192" h="168">
                  <a:moveTo>
                    <a:pt x="0" y="24"/>
                  </a:moveTo>
                  <a:cubicBezTo>
                    <a:pt x="56" y="12"/>
                    <a:pt x="112" y="0"/>
                    <a:pt x="144" y="24"/>
                  </a:cubicBezTo>
                  <a:cubicBezTo>
                    <a:pt x="176" y="48"/>
                    <a:pt x="184" y="144"/>
                    <a:pt x="192" y="168"/>
                  </a:cubicBezTo>
                </a:path>
              </a:pathLst>
            </a:custGeom>
            <a:noFill/>
            <a:ln w="381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342" name="Text Box 8"/>
            <p:cNvSpPr txBox="1"/>
            <p:nvPr/>
          </p:nvSpPr>
          <p:spPr>
            <a:xfrm>
              <a:off x="2112" y="3427"/>
              <a:ext cx="330" cy="365"/>
            </a:xfrm>
            <a:prstGeom prst="rect">
              <a:avLst/>
            </a:prstGeom>
            <a:noFill/>
            <a:ln w="38100">
              <a:noFill/>
            </a:ln>
          </p:spPr>
          <p:txBody>
            <a:bodyPr lIns="90000" tIns="46800" rIns="90000" bIns="46800" anchor="ctr">
              <a:spAutoFit/>
            </a:bodyPr>
            <a:p>
              <a:pPr algn="ctr">
                <a:spcBef>
                  <a:spcPct val="50000"/>
                </a:spcBef>
              </a:pPr>
              <a:r>
                <a:rPr lang="en-US" altLang="zh-CN" sz="3200" b="1" i="1" dirty="0">
                  <a:solidFill>
                    <a:schemeClr val="tx2"/>
                  </a:solidFill>
                  <a:latin typeface="Times New Roman" panose="02020603050405020304" pitchFamily="18" charset="0"/>
                  <a:ea typeface="楷体_GB2312" pitchFamily="49" charset="-122"/>
                  <a:sym typeface="Symbol" panose="05050102010706020507" pitchFamily="18" charset="2"/>
                </a:rPr>
                <a:t></a:t>
              </a:r>
              <a:endParaRPr lang="en-US" altLang="zh-CN" sz="3200" b="1" i="1" dirty="0">
                <a:solidFill>
                  <a:schemeClr val="tx2"/>
                </a:solidFill>
                <a:latin typeface="Times New Roman" panose="02020603050405020304" pitchFamily="18" charset="0"/>
                <a:ea typeface="楷体_GB2312" pitchFamily="49" charset="-122"/>
                <a:sym typeface="Symbol" panose="05050102010706020507" pitchFamily="18" charset="2"/>
              </a:endParaRPr>
            </a:p>
          </p:txBody>
        </p:sp>
      </p:grpSp>
      <p:sp>
        <p:nvSpPr>
          <p:cNvPr id="78860" name="Line 12"/>
          <p:cNvSpPr>
            <a:spLocks noChangeShapeType="1"/>
          </p:cNvSpPr>
          <p:nvPr/>
        </p:nvSpPr>
        <p:spPr bwMode="auto">
          <a:xfrm>
            <a:off x="1211263" y="3981450"/>
            <a:ext cx="144463"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FF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8861" name="Line 13"/>
          <p:cNvSpPr>
            <a:spLocks noChangeShapeType="1"/>
          </p:cNvSpPr>
          <p:nvPr/>
        </p:nvSpPr>
        <p:spPr bwMode="auto">
          <a:xfrm>
            <a:off x="1655763" y="3316288"/>
            <a:ext cx="1925638" cy="217011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78862" name="Group 14"/>
          <p:cNvGrpSpPr/>
          <p:nvPr/>
        </p:nvGrpSpPr>
        <p:grpSpPr>
          <a:xfrm>
            <a:off x="735013" y="4140200"/>
            <a:ext cx="1925637" cy="519113"/>
            <a:chOff x="1039" y="1982"/>
            <a:chExt cx="1213" cy="327"/>
          </a:xfrm>
        </p:grpSpPr>
        <p:sp>
          <p:nvSpPr>
            <p:cNvPr id="78863" name="Line 15"/>
            <p:cNvSpPr>
              <a:spLocks noChangeShapeType="1"/>
            </p:cNvSpPr>
            <p:nvPr/>
          </p:nvSpPr>
          <p:spPr bwMode="auto">
            <a:xfrm flipH="1" flipV="1">
              <a:off x="1643" y="2181"/>
              <a:ext cx="609" cy="1"/>
            </a:xfrm>
            <a:prstGeom prst="line">
              <a:avLst/>
            </a:prstGeom>
            <a:noFill/>
            <a:ln w="381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350" name="Rectangle 16"/>
            <p:cNvSpPr/>
            <p:nvPr/>
          </p:nvSpPr>
          <p:spPr>
            <a:xfrm>
              <a:off x="1039" y="1982"/>
              <a:ext cx="641" cy="327"/>
            </a:xfrm>
            <a:prstGeom prst="rect">
              <a:avLst/>
            </a:prstGeom>
            <a:noFill/>
            <a:ln w="9525">
              <a:noFill/>
            </a:ln>
          </p:spPr>
          <p:txBody>
            <a:bodyPr lIns="90000" tIns="46800" rIns="90000" bIns="46800" anchor="ctr">
              <a:spAutoFit/>
            </a:bodyPr>
            <a:p>
              <a:pPr algn="ctr">
                <a:spcBef>
                  <a:spcPct val="50000"/>
                </a:spcBef>
              </a:pPr>
              <a:r>
                <a:rPr lang="en-US" altLang="zh-CN" sz="2800" b="1" i="1" dirty="0">
                  <a:solidFill>
                    <a:schemeClr val="tx2"/>
                  </a:solidFill>
                  <a:latin typeface="Times New Roman" panose="02020603050405020304" pitchFamily="18" charset="0"/>
                  <a:ea typeface="宋体" panose="02010600030101010101" pitchFamily="2" charset="-122"/>
                </a:rPr>
                <a:t>I</a:t>
              </a:r>
              <a:r>
                <a:rPr lang="en-US" altLang="zh-CN" sz="2800" b="1" baseline="-25000" dirty="0">
                  <a:solidFill>
                    <a:schemeClr val="tx2"/>
                  </a:solidFill>
                  <a:latin typeface="Times New Roman" panose="02020603050405020304" pitchFamily="18" charset="0"/>
                  <a:ea typeface="宋体" panose="02010600030101010101" pitchFamily="2" charset="-122"/>
                </a:rPr>
                <a:t>CQ</a:t>
              </a:r>
              <a:endParaRPr lang="en-US" altLang="zh-CN" sz="2800" b="1" baseline="-25000" dirty="0">
                <a:solidFill>
                  <a:schemeClr val="tx2"/>
                </a:solidFill>
                <a:latin typeface="Times New Roman" panose="02020603050405020304" pitchFamily="18" charset="0"/>
                <a:ea typeface="宋体" panose="02010600030101010101" pitchFamily="2" charset="-122"/>
              </a:endParaRPr>
            </a:p>
          </p:txBody>
        </p:sp>
      </p:grpSp>
      <p:grpSp>
        <p:nvGrpSpPr>
          <p:cNvPr id="78865" name="Group 17"/>
          <p:cNvGrpSpPr/>
          <p:nvPr/>
        </p:nvGrpSpPr>
        <p:grpSpPr>
          <a:xfrm>
            <a:off x="2060575" y="4476750"/>
            <a:ext cx="1168400" cy="1425575"/>
            <a:chOff x="2258" y="2346"/>
            <a:chExt cx="736" cy="933"/>
          </a:xfrm>
        </p:grpSpPr>
        <p:sp>
          <p:nvSpPr>
            <p:cNvPr id="78866" name="Line 18"/>
            <p:cNvSpPr>
              <a:spLocks noChangeShapeType="1"/>
            </p:cNvSpPr>
            <p:nvPr/>
          </p:nvSpPr>
          <p:spPr bwMode="auto">
            <a:xfrm>
              <a:off x="2654" y="2346"/>
              <a:ext cx="0" cy="654"/>
            </a:xfrm>
            <a:prstGeom prst="line">
              <a:avLst/>
            </a:prstGeom>
            <a:noFill/>
            <a:ln w="381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353" name="Rectangle 19"/>
            <p:cNvSpPr/>
            <p:nvPr/>
          </p:nvSpPr>
          <p:spPr>
            <a:xfrm>
              <a:off x="2258" y="2939"/>
              <a:ext cx="736" cy="340"/>
            </a:xfrm>
            <a:prstGeom prst="rect">
              <a:avLst/>
            </a:prstGeom>
            <a:noFill/>
            <a:ln w="9525">
              <a:noFill/>
            </a:ln>
          </p:spPr>
          <p:txBody>
            <a:bodyPr lIns="90000" tIns="46800" rIns="90000" bIns="46800" anchor="ctr">
              <a:spAutoFit/>
            </a:bodyPr>
            <a:p>
              <a:pPr algn="ctr">
                <a:spcBef>
                  <a:spcPct val="50000"/>
                </a:spcBef>
              </a:pPr>
              <a:r>
                <a:rPr lang="en-US" altLang="zh-CN" sz="2800" b="1" i="1" dirty="0">
                  <a:solidFill>
                    <a:schemeClr val="tx2"/>
                  </a:solidFill>
                  <a:latin typeface="Times New Roman" panose="02020603050405020304" pitchFamily="18" charset="0"/>
                  <a:ea typeface="华文新魏" panose="02010800040101010101" pitchFamily="2" charset="-122"/>
                </a:rPr>
                <a:t>U</a:t>
              </a:r>
              <a:r>
                <a:rPr lang="en-US" altLang="zh-CN" sz="2800" b="1" baseline="-25000" dirty="0">
                  <a:solidFill>
                    <a:schemeClr val="tx2"/>
                  </a:solidFill>
                  <a:latin typeface="Times New Roman" panose="02020603050405020304" pitchFamily="18" charset="0"/>
                  <a:ea typeface="华文新魏" panose="02010800040101010101" pitchFamily="2" charset="-122"/>
                </a:rPr>
                <a:t>CEQ</a:t>
              </a:r>
              <a:endParaRPr lang="en-US" altLang="zh-CN" sz="2800" b="1" baseline="-25000" dirty="0">
                <a:solidFill>
                  <a:schemeClr val="tx2"/>
                </a:solidFill>
                <a:latin typeface="Times New Roman" panose="02020603050405020304" pitchFamily="18" charset="0"/>
                <a:ea typeface="华文新魏" panose="02010800040101010101" pitchFamily="2" charset="-122"/>
              </a:endParaRPr>
            </a:p>
          </p:txBody>
        </p:sp>
        <p:sp>
          <p:nvSpPr>
            <p:cNvPr id="78868" name="Line 20"/>
            <p:cNvSpPr>
              <a:spLocks noChangeShapeType="1"/>
            </p:cNvSpPr>
            <p:nvPr/>
          </p:nvSpPr>
          <p:spPr bwMode="auto">
            <a:xfrm rot="16200000" flipV="1">
              <a:off x="2623" y="3013"/>
              <a:ext cx="64" cy="1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78875" name="Line 27"/>
          <p:cNvSpPr>
            <a:spLocks noChangeShapeType="1"/>
          </p:cNvSpPr>
          <p:nvPr/>
        </p:nvSpPr>
        <p:spPr bwMode="auto">
          <a:xfrm>
            <a:off x="3581400" y="5565775"/>
            <a:ext cx="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78876" name="Group 28"/>
          <p:cNvGrpSpPr/>
          <p:nvPr/>
        </p:nvGrpSpPr>
        <p:grpSpPr>
          <a:xfrm>
            <a:off x="3227388" y="5418138"/>
            <a:ext cx="949325" cy="601662"/>
            <a:chOff x="2609" y="2736"/>
            <a:chExt cx="598" cy="379"/>
          </a:xfrm>
        </p:grpSpPr>
        <p:grpSp>
          <p:nvGrpSpPr>
            <p:cNvPr id="14360" name="Group 29"/>
            <p:cNvGrpSpPr/>
            <p:nvPr/>
          </p:nvGrpSpPr>
          <p:grpSpPr>
            <a:xfrm>
              <a:off x="2609" y="2750"/>
              <a:ext cx="598" cy="365"/>
              <a:chOff x="1754" y="3792"/>
              <a:chExt cx="598" cy="365"/>
            </a:xfrm>
          </p:grpSpPr>
          <p:sp>
            <p:nvSpPr>
              <p:cNvPr id="78878" name="Line 30"/>
              <p:cNvSpPr>
                <a:spLocks noChangeShapeType="1"/>
              </p:cNvSpPr>
              <p:nvPr/>
            </p:nvSpPr>
            <p:spPr bwMode="auto">
              <a:xfrm flipV="1">
                <a:off x="1975" y="3792"/>
                <a:ext cx="0" cy="7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accent2"/>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362" name="Text Box 31"/>
              <p:cNvSpPr txBox="1"/>
              <p:nvPr/>
            </p:nvSpPr>
            <p:spPr>
              <a:xfrm>
                <a:off x="1754" y="3830"/>
                <a:ext cx="598" cy="327"/>
              </a:xfrm>
              <a:prstGeom prst="rect">
                <a:avLst/>
              </a:prstGeom>
              <a:noFill/>
              <a:ln w="38100">
                <a:noFill/>
              </a:ln>
            </p:spPr>
            <p:txBody>
              <a:bodyPr lIns="90000" tIns="46800" rIns="90000" bIns="46800" anchor="ctr">
                <a:spAutoFit/>
              </a:bodyPr>
              <a:p>
                <a:pPr algn="ctr">
                  <a:spcBef>
                    <a:spcPct val="50000"/>
                  </a:spcBef>
                </a:pPr>
                <a:r>
                  <a:rPr lang="en-US" altLang="zh-CN" sz="2800" b="1" i="1" dirty="0">
                    <a:latin typeface="Times New Roman" panose="02020603050405020304" pitchFamily="18" charset="0"/>
                    <a:ea typeface="楷体_GB2312" pitchFamily="49" charset="-122"/>
                  </a:rPr>
                  <a:t>U</a:t>
                </a:r>
                <a:r>
                  <a:rPr lang="en-US" altLang="zh-CN" sz="2800" b="1" baseline="-25000" dirty="0">
                    <a:latin typeface="Times New Roman" panose="02020603050405020304" pitchFamily="18" charset="0"/>
                    <a:ea typeface="楷体_GB2312" pitchFamily="49" charset="-122"/>
                  </a:rPr>
                  <a:t>CC</a:t>
                </a:r>
                <a:endParaRPr lang="en-US" altLang="zh-CN" sz="2800" b="1" baseline="-25000" dirty="0">
                  <a:latin typeface="Times New Roman" panose="02020603050405020304" pitchFamily="18" charset="0"/>
                  <a:ea typeface="楷体_GB2312" pitchFamily="49" charset="-122"/>
                </a:endParaRPr>
              </a:p>
            </p:txBody>
          </p:sp>
        </p:grpSp>
        <p:sp>
          <p:nvSpPr>
            <p:cNvPr id="78880" name="Line 32"/>
            <p:cNvSpPr>
              <a:spLocks noChangeShapeType="1"/>
            </p:cNvSpPr>
            <p:nvPr/>
          </p:nvSpPr>
          <p:spPr bwMode="auto">
            <a:xfrm flipV="1">
              <a:off x="2832" y="2736"/>
              <a:ext cx="0" cy="8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14364" name="Group 60"/>
          <p:cNvGrpSpPr/>
          <p:nvPr/>
        </p:nvGrpSpPr>
        <p:grpSpPr>
          <a:xfrm>
            <a:off x="1403350" y="692150"/>
            <a:ext cx="2771775" cy="876300"/>
            <a:chOff x="912" y="567"/>
            <a:chExt cx="1746" cy="552"/>
          </a:xfrm>
        </p:grpSpPr>
        <p:sp>
          <p:nvSpPr>
            <p:cNvPr id="78883" name="Rectangle 35"/>
            <p:cNvSpPr>
              <a:spLocks noChangeArrowheads="1"/>
            </p:cNvSpPr>
            <p:nvPr/>
          </p:nvSpPr>
          <p:spPr bwMode="auto">
            <a:xfrm>
              <a:off x="1055" y="567"/>
              <a:ext cx="160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800" b="1" i="1"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U</a:t>
              </a:r>
              <a:r>
                <a:rPr kumimoji="1" lang="en-US" altLang="zh-CN" sz="28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CE</a:t>
              </a:r>
              <a:r>
                <a:rPr kumimoji="1" lang="en-US" altLang="zh-CN" sz="2800" b="1" i="1"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1" lang="en-US" altLang="zh-CN" sz="2800" b="1" i="1"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=U</a:t>
              </a:r>
              <a:r>
                <a:rPr kumimoji="1" lang="en-US" altLang="zh-CN" sz="28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CC</a:t>
              </a:r>
              <a:r>
                <a:rPr kumimoji="1" lang="en-US" altLang="zh-CN" sz="2800" b="1" i="1"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–I</a:t>
              </a:r>
              <a:r>
                <a:rPr kumimoji="1" lang="en-US" altLang="zh-CN" sz="28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C</a:t>
              </a:r>
              <a:r>
                <a:rPr kumimoji="1" lang="en-US" altLang="zh-CN" sz="2800" b="1" i="1"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R</a:t>
              </a:r>
              <a:r>
                <a:rPr kumimoji="1" lang="en-US" altLang="zh-CN" sz="28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C</a:t>
              </a:r>
              <a:endParaRPr kumimoji="1" lang="en-US" altLang="zh-CN" sz="28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78884" name="AutoShape 36"/>
            <p:cNvSpPr/>
            <p:nvPr/>
          </p:nvSpPr>
          <p:spPr bwMode="auto">
            <a:xfrm>
              <a:off x="912" y="738"/>
              <a:ext cx="86" cy="381"/>
            </a:xfrm>
            <a:prstGeom prst="leftBrace">
              <a:avLst>
                <a:gd name="adj1" fmla="val 3691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78885" name="Group 37"/>
          <p:cNvGrpSpPr/>
          <p:nvPr/>
        </p:nvGrpSpPr>
        <p:grpSpPr>
          <a:xfrm>
            <a:off x="1612900" y="2119313"/>
            <a:ext cx="4330700" cy="3900487"/>
            <a:chOff x="1208" y="990"/>
            <a:chExt cx="2728" cy="2457"/>
          </a:xfrm>
        </p:grpSpPr>
        <p:grpSp>
          <p:nvGrpSpPr>
            <p:cNvPr id="14369" name="Group 38"/>
            <p:cNvGrpSpPr/>
            <p:nvPr/>
          </p:nvGrpSpPr>
          <p:grpSpPr>
            <a:xfrm>
              <a:off x="1208" y="990"/>
              <a:ext cx="2663" cy="2194"/>
              <a:chOff x="3264" y="1361"/>
              <a:chExt cx="1851" cy="2194"/>
            </a:xfrm>
          </p:grpSpPr>
          <p:sp>
            <p:nvSpPr>
              <p:cNvPr id="14370" name="Text Box 39"/>
              <p:cNvSpPr txBox="1"/>
              <p:nvPr/>
            </p:nvSpPr>
            <p:spPr>
              <a:xfrm>
                <a:off x="3315" y="1361"/>
                <a:ext cx="1154" cy="327"/>
              </a:xfrm>
              <a:prstGeom prst="rect">
                <a:avLst/>
              </a:prstGeom>
              <a:noFill/>
              <a:ln w="38100">
                <a:noFill/>
              </a:ln>
            </p:spPr>
            <p:txBody>
              <a:bodyPr lIns="90000" tIns="46800" rIns="90000" bIns="46800" anchor="ctr">
                <a:spAutoFit/>
              </a:bodyPr>
              <a:p>
                <a:pPr>
                  <a:spcBef>
                    <a:spcPct val="50000"/>
                  </a:spcBef>
                </a:pPr>
                <a:endParaRPr lang="zh-CN" altLang="zh-CN" sz="2800" b="1" dirty="0">
                  <a:latin typeface="Times New Roman" panose="02020603050405020304" pitchFamily="18" charset="0"/>
                  <a:ea typeface="楷体_GB2312" pitchFamily="49" charset="-122"/>
                </a:endParaRPr>
              </a:p>
            </p:txBody>
          </p:sp>
          <p:sp>
            <p:nvSpPr>
              <p:cNvPr id="14371" name="Text Box 40"/>
              <p:cNvSpPr txBox="1"/>
              <p:nvPr/>
            </p:nvSpPr>
            <p:spPr>
              <a:xfrm>
                <a:off x="5036" y="3228"/>
                <a:ext cx="79" cy="327"/>
              </a:xfrm>
              <a:prstGeom prst="rect">
                <a:avLst/>
              </a:prstGeom>
              <a:noFill/>
              <a:ln w="38100">
                <a:noFill/>
              </a:ln>
            </p:spPr>
            <p:txBody>
              <a:bodyPr wrap="none" lIns="90000" tIns="46800" rIns="90000" bIns="46800" anchor="ctr">
                <a:spAutoFit/>
              </a:bodyPr>
              <a:p>
                <a:pPr algn="ctr">
                  <a:spcBef>
                    <a:spcPct val="50000"/>
                  </a:spcBef>
                </a:pPr>
                <a:endParaRPr lang="zh-CN" altLang="zh-CN" sz="2800" b="1" dirty="0">
                  <a:latin typeface="Times New Roman" panose="02020603050405020304" pitchFamily="18" charset="0"/>
                  <a:ea typeface="楷体_GB2312" pitchFamily="49" charset="-122"/>
                </a:endParaRPr>
              </a:p>
            </p:txBody>
          </p:sp>
          <p:grpSp>
            <p:nvGrpSpPr>
              <p:cNvPr id="14372" name="Group 41"/>
              <p:cNvGrpSpPr/>
              <p:nvPr/>
            </p:nvGrpSpPr>
            <p:grpSpPr>
              <a:xfrm>
                <a:off x="3264" y="1585"/>
                <a:ext cx="1584" cy="1896"/>
                <a:chOff x="3180" y="1585"/>
                <a:chExt cx="1584" cy="1896"/>
              </a:xfrm>
            </p:grpSpPr>
            <p:sp>
              <p:nvSpPr>
                <p:cNvPr id="78890" name="Line 42"/>
                <p:cNvSpPr>
                  <a:spLocks noChangeShapeType="1"/>
                </p:cNvSpPr>
                <p:nvPr/>
              </p:nvSpPr>
              <p:spPr bwMode="auto">
                <a:xfrm flipV="1">
                  <a:off x="3180" y="3481"/>
                  <a:ext cx="1584" cy="0"/>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4374" name="Group 43"/>
                <p:cNvGrpSpPr/>
                <p:nvPr/>
              </p:nvGrpSpPr>
              <p:grpSpPr>
                <a:xfrm>
                  <a:off x="3181" y="1585"/>
                  <a:ext cx="1288" cy="1896"/>
                  <a:chOff x="3181" y="1753"/>
                  <a:chExt cx="1288" cy="1896"/>
                </a:xfrm>
              </p:grpSpPr>
              <p:sp>
                <p:nvSpPr>
                  <p:cNvPr id="78892" name="Line 44"/>
                  <p:cNvSpPr>
                    <a:spLocks noChangeShapeType="1"/>
                  </p:cNvSpPr>
                  <p:nvPr/>
                </p:nvSpPr>
                <p:spPr bwMode="auto">
                  <a:xfrm flipH="1" flipV="1">
                    <a:off x="3192" y="1753"/>
                    <a:ext cx="0" cy="1896"/>
                  </a:xfrm>
                  <a:prstGeom prst="line">
                    <a:avLst/>
                  </a:prstGeom>
                  <a:noFill/>
                  <a:ln w="381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14376" name="Group 45"/>
                  <p:cNvGrpSpPr/>
                  <p:nvPr/>
                </p:nvGrpSpPr>
                <p:grpSpPr>
                  <a:xfrm>
                    <a:off x="3181" y="2028"/>
                    <a:ext cx="1288" cy="1609"/>
                    <a:chOff x="3181" y="1260"/>
                    <a:chExt cx="2387" cy="2377"/>
                  </a:xfrm>
                </p:grpSpPr>
                <p:sp>
                  <p:nvSpPr>
                    <p:cNvPr id="78894" name="Freeform 46"/>
                    <p:cNvSpPr/>
                    <p:nvPr/>
                  </p:nvSpPr>
                  <p:spPr bwMode="auto">
                    <a:xfrm>
                      <a:off x="3181" y="3505"/>
                      <a:ext cx="2387" cy="131"/>
                    </a:xfrm>
                    <a:custGeom>
                      <a:avLst/>
                      <a:gdLst>
                        <a:gd name="T0" fmla="*/ 19 w 2387"/>
                        <a:gd name="T1" fmla="*/ 131 h 131"/>
                        <a:gd name="T2" fmla="*/ 69 w 2387"/>
                        <a:gd name="T3" fmla="*/ 95 h 131"/>
                        <a:gd name="T4" fmla="*/ 431 w 2387"/>
                        <a:gd name="T5" fmla="*/ 24 h 131"/>
                        <a:gd name="T6" fmla="*/ 2387 w 2387"/>
                        <a:gd name="T7" fmla="*/ 0 h 131"/>
                      </a:gdLst>
                      <a:ahLst/>
                      <a:cxnLst>
                        <a:cxn ang="0">
                          <a:pos x="T0" y="T1"/>
                        </a:cxn>
                        <a:cxn ang="0">
                          <a:pos x="T2" y="T3"/>
                        </a:cxn>
                        <a:cxn ang="0">
                          <a:pos x="T4" y="T5"/>
                        </a:cxn>
                        <a:cxn ang="0">
                          <a:pos x="T6" y="T7"/>
                        </a:cxn>
                      </a:cxnLst>
                      <a:rect l="0" t="0" r="r" b="b"/>
                      <a:pathLst>
                        <a:path w="2387" h="131">
                          <a:moveTo>
                            <a:pt x="19" y="131"/>
                          </a:moveTo>
                          <a:cubicBezTo>
                            <a:pt x="27" y="125"/>
                            <a:pt x="0" y="113"/>
                            <a:pt x="69" y="95"/>
                          </a:cubicBezTo>
                          <a:cubicBezTo>
                            <a:pt x="138" y="77"/>
                            <a:pt x="45" y="40"/>
                            <a:pt x="431" y="24"/>
                          </a:cubicBezTo>
                          <a:cubicBezTo>
                            <a:pt x="817" y="8"/>
                            <a:pt x="1980" y="5"/>
                            <a:pt x="2387"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8895" name="Freeform 47"/>
                    <p:cNvSpPr/>
                    <p:nvPr/>
                  </p:nvSpPr>
                  <p:spPr bwMode="auto">
                    <a:xfrm>
                      <a:off x="3200" y="3133"/>
                      <a:ext cx="2308" cy="504"/>
                    </a:xfrm>
                    <a:custGeom>
                      <a:avLst/>
                      <a:gdLst>
                        <a:gd name="T0" fmla="*/ 0 w 2308"/>
                        <a:gd name="T1" fmla="*/ 504 h 504"/>
                        <a:gd name="T2" fmla="*/ 15 w 2308"/>
                        <a:gd name="T3" fmla="*/ 314 h 504"/>
                        <a:gd name="T4" fmla="*/ 52 w 2308"/>
                        <a:gd name="T5" fmla="*/ 276 h 504"/>
                        <a:gd name="T6" fmla="*/ 172 w 2308"/>
                        <a:gd name="T7" fmla="*/ 156 h 504"/>
                        <a:gd name="T8" fmla="*/ 340 w 2308"/>
                        <a:gd name="T9" fmla="*/ 72 h 504"/>
                        <a:gd name="T10" fmla="*/ 748 w 2308"/>
                        <a:gd name="T11" fmla="*/ 48 h 504"/>
                        <a:gd name="T12" fmla="*/ 2308 w 2308"/>
                        <a:gd name="T13" fmla="*/ 0 h 504"/>
                      </a:gdLst>
                      <a:ahLst/>
                      <a:cxnLst>
                        <a:cxn ang="0">
                          <a:pos x="T0" y="T1"/>
                        </a:cxn>
                        <a:cxn ang="0">
                          <a:pos x="T2" y="T3"/>
                        </a:cxn>
                        <a:cxn ang="0">
                          <a:pos x="T4" y="T5"/>
                        </a:cxn>
                        <a:cxn ang="0">
                          <a:pos x="T6" y="T7"/>
                        </a:cxn>
                        <a:cxn ang="0">
                          <a:pos x="T8" y="T9"/>
                        </a:cxn>
                        <a:cxn ang="0">
                          <a:pos x="T10" y="T11"/>
                        </a:cxn>
                        <a:cxn ang="0">
                          <a:pos x="T12" y="T13"/>
                        </a:cxn>
                      </a:cxnLst>
                      <a:rect l="0" t="0" r="r" b="b"/>
                      <a:pathLst>
                        <a:path w="2308" h="504">
                          <a:moveTo>
                            <a:pt x="0" y="504"/>
                          </a:moveTo>
                          <a:cubicBezTo>
                            <a:pt x="3" y="472"/>
                            <a:pt x="6" y="352"/>
                            <a:pt x="15" y="314"/>
                          </a:cubicBezTo>
                          <a:cubicBezTo>
                            <a:pt x="24" y="276"/>
                            <a:pt x="26" y="302"/>
                            <a:pt x="52" y="276"/>
                          </a:cubicBezTo>
                          <a:cubicBezTo>
                            <a:pt x="78" y="250"/>
                            <a:pt x="124" y="190"/>
                            <a:pt x="172" y="156"/>
                          </a:cubicBezTo>
                          <a:cubicBezTo>
                            <a:pt x="220" y="122"/>
                            <a:pt x="244" y="90"/>
                            <a:pt x="340" y="72"/>
                          </a:cubicBezTo>
                          <a:cubicBezTo>
                            <a:pt x="436" y="54"/>
                            <a:pt x="420" y="60"/>
                            <a:pt x="748" y="48"/>
                          </a:cubicBezTo>
                          <a:cubicBezTo>
                            <a:pt x="1076" y="36"/>
                            <a:pt x="1983" y="10"/>
                            <a:pt x="2308"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8896" name="Freeform 48"/>
                    <p:cNvSpPr/>
                    <p:nvPr/>
                  </p:nvSpPr>
                  <p:spPr bwMode="auto">
                    <a:xfrm>
                      <a:off x="3197" y="2689"/>
                      <a:ext cx="2299" cy="948"/>
                    </a:xfrm>
                    <a:custGeom>
                      <a:avLst/>
                      <a:gdLst>
                        <a:gd name="T0" fmla="*/ 0 w 2299"/>
                        <a:gd name="T1" fmla="*/ 948 h 948"/>
                        <a:gd name="T2" fmla="*/ 55 w 2299"/>
                        <a:gd name="T3" fmla="*/ 408 h 948"/>
                        <a:gd name="T4" fmla="*/ 211 w 2299"/>
                        <a:gd name="T5" fmla="*/ 156 h 948"/>
                        <a:gd name="T6" fmla="*/ 413 w 2299"/>
                        <a:gd name="T7" fmla="*/ 69 h 948"/>
                        <a:gd name="T8" fmla="*/ 1207 w 2299"/>
                        <a:gd name="T9" fmla="*/ 12 h 948"/>
                        <a:gd name="T10" fmla="*/ 2299 w 2299"/>
                        <a:gd name="T11" fmla="*/ 0 h 948"/>
                      </a:gdLst>
                      <a:ahLst/>
                      <a:cxnLst>
                        <a:cxn ang="0">
                          <a:pos x="T0" y="T1"/>
                        </a:cxn>
                        <a:cxn ang="0">
                          <a:pos x="T2" y="T3"/>
                        </a:cxn>
                        <a:cxn ang="0">
                          <a:pos x="T4" y="T5"/>
                        </a:cxn>
                        <a:cxn ang="0">
                          <a:pos x="T6" y="T7"/>
                        </a:cxn>
                        <a:cxn ang="0">
                          <a:pos x="T8" y="T9"/>
                        </a:cxn>
                        <a:cxn ang="0">
                          <a:pos x="T10" y="T11"/>
                        </a:cxn>
                      </a:cxnLst>
                      <a:rect l="0" t="0" r="r" b="b"/>
                      <a:pathLst>
                        <a:path w="2299" h="948">
                          <a:moveTo>
                            <a:pt x="0" y="948"/>
                          </a:moveTo>
                          <a:cubicBezTo>
                            <a:pt x="9" y="858"/>
                            <a:pt x="20" y="540"/>
                            <a:pt x="55" y="408"/>
                          </a:cubicBezTo>
                          <a:cubicBezTo>
                            <a:pt x="90" y="276"/>
                            <a:pt x="151" y="212"/>
                            <a:pt x="211" y="156"/>
                          </a:cubicBezTo>
                          <a:cubicBezTo>
                            <a:pt x="271" y="100"/>
                            <a:pt x="247" y="93"/>
                            <a:pt x="413" y="69"/>
                          </a:cubicBezTo>
                          <a:cubicBezTo>
                            <a:pt x="579" y="45"/>
                            <a:pt x="893" y="23"/>
                            <a:pt x="1207" y="12"/>
                          </a:cubicBezTo>
                          <a:cubicBezTo>
                            <a:pt x="1521" y="1"/>
                            <a:pt x="2072" y="2"/>
                            <a:pt x="2299"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8897" name="Freeform 49"/>
                    <p:cNvSpPr/>
                    <p:nvPr/>
                  </p:nvSpPr>
                  <p:spPr bwMode="auto">
                    <a:xfrm>
                      <a:off x="3200" y="2221"/>
                      <a:ext cx="2260" cy="1380"/>
                    </a:xfrm>
                    <a:custGeom>
                      <a:avLst/>
                      <a:gdLst>
                        <a:gd name="T0" fmla="*/ 0 w 2260"/>
                        <a:gd name="T1" fmla="*/ 1380 h 1380"/>
                        <a:gd name="T2" fmla="*/ 73 w 2260"/>
                        <a:gd name="T3" fmla="*/ 525 h 1380"/>
                        <a:gd name="T4" fmla="*/ 155 w 2260"/>
                        <a:gd name="T5" fmla="*/ 157 h 1380"/>
                        <a:gd name="T6" fmla="*/ 483 w 2260"/>
                        <a:gd name="T7" fmla="*/ 50 h 1380"/>
                        <a:gd name="T8" fmla="*/ 2260 w 2260"/>
                        <a:gd name="T9" fmla="*/ 0 h 1380"/>
                      </a:gdLst>
                      <a:ahLst/>
                      <a:cxnLst>
                        <a:cxn ang="0">
                          <a:pos x="T0" y="T1"/>
                        </a:cxn>
                        <a:cxn ang="0">
                          <a:pos x="T2" y="T3"/>
                        </a:cxn>
                        <a:cxn ang="0">
                          <a:pos x="T4" y="T5"/>
                        </a:cxn>
                        <a:cxn ang="0">
                          <a:pos x="T6" y="T7"/>
                        </a:cxn>
                        <a:cxn ang="0">
                          <a:pos x="T8" y="T9"/>
                        </a:cxn>
                      </a:cxnLst>
                      <a:rect l="0" t="0" r="r" b="b"/>
                      <a:pathLst>
                        <a:path w="2260" h="1380">
                          <a:moveTo>
                            <a:pt x="0" y="1380"/>
                          </a:moveTo>
                          <a:cubicBezTo>
                            <a:pt x="12" y="1237"/>
                            <a:pt x="48" y="729"/>
                            <a:pt x="73" y="525"/>
                          </a:cubicBezTo>
                          <a:cubicBezTo>
                            <a:pt x="99" y="321"/>
                            <a:pt x="86" y="236"/>
                            <a:pt x="155" y="157"/>
                          </a:cubicBezTo>
                          <a:cubicBezTo>
                            <a:pt x="223" y="77"/>
                            <a:pt x="132" y="76"/>
                            <a:pt x="483" y="50"/>
                          </a:cubicBezTo>
                          <a:cubicBezTo>
                            <a:pt x="834" y="24"/>
                            <a:pt x="1890" y="10"/>
                            <a:pt x="2260"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8898" name="Freeform 50"/>
                    <p:cNvSpPr/>
                    <p:nvPr/>
                  </p:nvSpPr>
                  <p:spPr bwMode="auto">
                    <a:xfrm>
                      <a:off x="3200" y="1813"/>
                      <a:ext cx="2224" cy="1788"/>
                    </a:xfrm>
                    <a:custGeom>
                      <a:avLst/>
                      <a:gdLst>
                        <a:gd name="T0" fmla="*/ 0 w 2224"/>
                        <a:gd name="T1" fmla="*/ 1788 h 1788"/>
                        <a:gd name="T2" fmla="*/ 89 w 2224"/>
                        <a:gd name="T3" fmla="*/ 754 h 1788"/>
                        <a:gd name="T4" fmla="*/ 112 w 2224"/>
                        <a:gd name="T5" fmla="*/ 312 h 1788"/>
                        <a:gd name="T6" fmla="*/ 209 w 2224"/>
                        <a:gd name="T7" fmla="*/ 125 h 1788"/>
                        <a:gd name="T8" fmla="*/ 640 w 2224"/>
                        <a:gd name="T9" fmla="*/ 36 h 1788"/>
                        <a:gd name="T10" fmla="*/ 2224 w 2224"/>
                        <a:gd name="T11" fmla="*/ 0 h 1788"/>
                      </a:gdLst>
                      <a:ahLst/>
                      <a:cxnLst>
                        <a:cxn ang="0">
                          <a:pos x="T0" y="T1"/>
                        </a:cxn>
                        <a:cxn ang="0">
                          <a:pos x="T2" y="T3"/>
                        </a:cxn>
                        <a:cxn ang="0">
                          <a:pos x="T4" y="T5"/>
                        </a:cxn>
                        <a:cxn ang="0">
                          <a:pos x="T6" y="T7"/>
                        </a:cxn>
                        <a:cxn ang="0">
                          <a:pos x="T8" y="T9"/>
                        </a:cxn>
                        <a:cxn ang="0">
                          <a:pos x="T10" y="T11"/>
                        </a:cxn>
                      </a:cxnLst>
                      <a:rect l="0" t="0" r="r" b="b"/>
                      <a:pathLst>
                        <a:path w="2224" h="1788">
                          <a:moveTo>
                            <a:pt x="0" y="1788"/>
                          </a:moveTo>
                          <a:cubicBezTo>
                            <a:pt x="15" y="1616"/>
                            <a:pt x="70" y="1000"/>
                            <a:pt x="89" y="754"/>
                          </a:cubicBezTo>
                          <a:cubicBezTo>
                            <a:pt x="108" y="508"/>
                            <a:pt x="92" y="417"/>
                            <a:pt x="112" y="312"/>
                          </a:cubicBezTo>
                          <a:cubicBezTo>
                            <a:pt x="132" y="207"/>
                            <a:pt x="121" y="171"/>
                            <a:pt x="209" y="125"/>
                          </a:cubicBezTo>
                          <a:cubicBezTo>
                            <a:pt x="297" y="79"/>
                            <a:pt x="304" y="57"/>
                            <a:pt x="640" y="36"/>
                          </a:cubicBezTo>
                          <a:cubicBezTo>
                            <a:pt x="976" y="15"/>
                            <a:pt x="1894" y="8"/>
                            <a:pt x="2224" y="0"/>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8899" name="Freeform 51"/>
                    <p:cNvSpPr/>
                    <p:nvPr/>
                  </p:nvSpPr>
                  <p:spPr bwMode="auto">
                    <a:xfrm>
                      <a:off x="3200" y="1260"/>
                      <a:ext cx="2212" cy="2377"/>
                    </a:xfrm>
                    <a:custGeom>
                      <a:avLst/>
                      <a:gdLst>
                        <a:gd name="T0" fmla="*/ 0 w 2212"/>
                        <a:gd name="T1" fmla="*/ 2377 h 2377"/>
                        <a:gd name="T2" fmla="*/ 93 w 2212"/>
                        <a:gd name="T3" fmla="*/ 1248 h 2377"/>
                        <a:gd name="T4" fmla="*/ 186 w 2212"/>
                        <a:gd name="T5" fmla="*/ 369 h 2377"/>
                        <a:gd name="T6" fmla="*/ 532 w 2212"/>
                        <a:gd name="T7" fmla="*/ 61 h 2377"/>
                        <a:gd name="T8" fmla="*/ 2212 w 2212"/>
                        <a:gd name="T9" fmla="*/ 1 h 2377"/>
                      </a:gdLst>
                      <a:ahLst/>
                      <a:cxnLst>
                        <a:cxn ang="0">
                          <a:pos x="T0" y="T1"/>
                        </a:cxn>
                        <a:cxn ang="0">
                          <a:pos x="T2" y="T3"/>
                        </a:cxn>
                        <a:cxn ang="0">
                          <a:pos x="T4" y="T5"/>
                        </a:cxn>
                        <a:cxn ang="0">
                          <a:pos x="T6" y="T7"/>
                        </a:cxn>
                        <a:cxn ang="0">
                          <a:pos x="T8" y="T9"/>
                        </a:cxn>
                      </a:cxnLst>
                      <a:rect l="0" t="0" r="r" b="b"/>
                      <a:pathLst>
                        <a:path w="2212" h="2377">
                          <a:moveTo>
                            <a:pt x="0" y="2377"/>
                          </a:moveTo>
                          <a:cubicBezTo>
                            <a:pt x="15" y="2189"/>
                            <a:pt x="62" y="1583"/>
                            <a:pt x="93" y="1248"/>
                          </a:cubicBezTo>
                          <a:cubicBezTo>
                            <a:pt x="124" y="914"/>
                            <a:pt x="113" y="567"/>
                            <a:pt x="186" y="369"/>
                          </a:cubicBezTo>
                          <a:cubicBezTo>
                            <a:pt x="259" y="171"/>
                            <a:pt x="194" y="122"/>
                            <a:pt x="532" y="61"/>
                          </a:cubicBezTo>
                          <a:cubicBezTo>
                            <a:pt x="870" y="0"/>
                            <a:pt x="1862" y="13"/>
                            <a:pt x="2212" y="1"/>
                          </a:cubicBezTo>
                        </a:path>
                      </a:pathLst>
                    </a:custGeom>
                    <a:noFill/>
                    <a:ln w="38100" cap="flat" cmpd="sng">
                      <a:solidFill>
                        <a:schemeClr val="tx1"/>
                      </a:solidFill>
                      <a:prstDash val="solid"/>
                      <a:round/>
                      <a:headEnd type="none" w="sm" len="sm"/>
                      <a:tailEnd type="none" w="med" len="lg"/>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grpSp>
        </p:grpSp>
        <p:sp>
          <p:nvSpPr>
            <p:cNvPr id="14383" name="Rectangle 52"/>
            <p:cNvSpPr/>
            <p:nvPr/>
          </p:nvSpPr>
          <p:spPr>
            <a:xfrm>
              <a:off x="3185" y="3120"/>
              <a:ext cx="751" cy="327"/>
            </a:xfrm>
            <a:prstGeom prst="rect">
              <a:avLst/>
            </a:prstGeom>
            <a:noFill/>
            <a:ln w="9525">
              <a:noFill/>
            </a:ln>
          </p:spPr>
          <p:txBody>
            <a:bodyPr wrap="none" anchor="t">
              <a:spAutoFit/>
            </a:bodyPr>
            <a:p>
              <a:r>
                <a:rPr lang="en-US" altLang="zh-CN" sz="2800" b="1" i="1" dirty="0">
                  <a:latin typeface="Times New Roman" panose="02020603050405020304" pitchFamily="18" charset="0"/>
                  <a:ea typeface="楷体_GB2312" pitchFamily="49" charset="-122"/>
                </a:rPr>
                <a:t>U</a:t>
              </a:r>
              <a:r>
                <a:rPr lang="en-US" altLang="zh-CN" sz="2800" b="1" baseline="-25000" dirty="0">
                  <a:latin typeface="Times New Roman" panose="02020603050405020304" pitchFamily="18" charset="0"/>
                  <a:ea typeface="楷体_GB2312" pitchFamily="49" charset="-122"/>
                </a:rPr>
                <a:t>CE </a:t>
              </a:r>
              <a:r>
                <a:rPr lang="en-US" altLang="zh-CN" sz="2800" b="1" dirty="0">
                  <a:latin typeface="Times New Roman" panose="02020603050405020304" pitchFamily="18" charset="0"/>
                  <a:ea typeface="楷体_GB2312" pitchFamily="49" charset="-122"/>
                </a:rPr>
                <a:t>/V</a:t>
              </a:r>
              <a:endParaRPr lang="en-US" altLang="zh-CN" sz="2800" b="1" dirty="0">
                <a:latin typeface="Times New Roman" panose="02020603050405020304" pitchFamily="18" charset="0"/>
                <a:ea typeface="楷体_GB2312" pitchFamily="49" charset="-122"/>
              </a:endParaRPr>
            </a:p>
          </p:txBody>
        </p:sp>
        <p:sp>
          <p:nvSpPr>
            <p:cNvPr id="14384" name="Rectangle 53"/>
            <p:cNvSpPr/>
            <p:nvPr/>
          </p:nvSpPr>
          <p:spPr>
            <a:xfrm>
              <a:off x="1248" y="1113"/>
              <a:ext cx="724" cy="327"/>
            </a:xfrm>
            <a:prstGeom prst="rect">
              <a:avLst/>
            </a:prstGeom>
            <a:noFill/>
            <a:ln w="9525">
              <a:noFill/>
            </a:ln>
          </p:spPr>
          <p:txBody>
            <a:bodyPr wrap="none" anchor="t">
              <a:spAutoFit/>
            </a:bodyPr>
            <a:p>
              <a:r>
                <a:rPr lang="en-US" altLang="zh-CN" sz="2800" b="1" i="1" dirty="0">
                  <a:latin typeface="Times New Roman" panose="02020603050405020304" pitchFamily="18" charset="0"/>
                  <a:ea typeface="楷体_GB2312" pitchFamily="49" charset="-122"/>
                </a:rPr>
                <a:t>I</a:t>
              </a:r>
              <a:r>
                <a:rPr lang="en-US" altLang="zh-CN" sz="2800" b="1" baseline="-25000" dirty="0">
                  <a:latin typeface="Times New Roman" panose="02020603050405020304" pitchFamily="18" charset="0"/>
                  <a:ea typeface="楷体_GB2312" pitchFamily="49" charset="-122"/>
                </a:rPr>
                <a:t>C</a:t>
              </a:r>
              <a:r>
                <a:rPr lang="en-US" altLang="zh-CN" sz="2800" b="1" dirty="0">
                  <a:latin typeface="Times New Roman" panose="02020603050405020304" pitchFamily="18" charset="0"/>
                  <a:ea typeface="楷体_GB2312" pitchFamily="49" charset="-122"/>
                </a:rPr>
                <a:t>/mA</a:t>
              </a:r>
              <a:endParaRPr lang="en-US" altLang="zh-CN" sz="2800" b="1" dirty="0">
                <a:latin typeface="Times New Roman" panose="02020603050405020304" pitchFamily="18" charset="0"/>
                <a:ea typeface="楷体_GB2312" pitchFamily="49" charset="-122"/>
              </a:endParaRPr>
            </a:p>
          </p:txBody>
        </p:sp>
      </p:grpSp>
      <p:sp>
        <p:nvSpPr>
          <p:cNvPr id="78902" name="AutoShape 54" descr="40%"/>
          <p:cNvSpPr/>
          <p:nvPr/>
        </p:nvSpPr>
        <p:spPr>
          <a:xfrm>
            <a:off x="2133600" y="2819400"/>
            <a:ext cx="2209800" cy="592138"/>
          </a:xfrm>
          <a:prstGeom prst="wedgeRoundRectCallout">
            <a:avLst>
              <a:gd name="adj1" fmla="val -48278"/>
              <a:gd name="adj2" fmla="val 115417"/>
              <a:gd name="adj3" fmla="val 16667"/>
            </a:avLst>
          </a:prstGeom>
          <a:pattFill prst="pct40">
            <a:fgClr>
              <a:srgbClr val="66FF66"/>
            </a:fgClr>
            <a:bgClr>
              <a:srgbClr val="FFFFFF"/>
            </a:bgClr>
          </a:pattFill>
          <a:ln w="38100" cap="flat" cmpd="sng">
            <a:solidFill>
              <a:schemeClr val="accent2"/>
            </a:solidFill>
            <a:prstDash val="solid"/>
            <a:miter/>
            <a:headEnd type="none" w="med" len="med"/>
            <a:tailEnd type="none" w="med" len="med"/>
          </a:ln>
        </p:spPr>
        <p:txBody>
          <a:bodyPr lIns="90000" tIns="46800" rIns="90000" bIns="46800" anchor="ctr">
            <a:spAutoFit/>
          </a:bodyPr>
          <a:p>
            <a:pPr algn="ctr">
              <a:spcBef>
                <a:spcPct val="50000"/>
              </a:spcBef>
            </a:pPr>
            <a:r>
              <a:rPr lang="zh-CN" altLang="en-US" sz="2800" b="1" dirty="0">
                <a:solidFill>
                  <a:schemeClr val="tx2"/>
                </a:solidFill>
                <a:latin typeface="Times New Roman" panose="02020603050405020304" pitchFamily="18" charset="0"/>
                <a:ea typeface="楷体_GB2312" pitchFamily="49" charset="-122"/>
              </a:rPr>
              <a:t>直流负载线</a:t>
            </a:r>
            <a:endParaRPr lang="zh-CN" altLang="en-US" sz="2800" b="1" dirty="0">
              <a:solidFill>
                <a:schemeClr val="tx2"/>
              </a:solidFill>
              <a:latin typeface="Times New Roman" panose="02020603050405020304" pitchFamily="18" charset="0"/>
              <a:ea typeface="楷体_GB2312" pitchFamily="49" charset="-122"/>
            </a:endParaRPr>
          </a:p>
        </p:txBody>
      </p:sp>
      <p:grpSp>
        <p:nvGrpSpPr>
          <p:cNvPr id="78903" name="Group 55"/>
          <p:cNvGrpSpPr/>
          <p:nvPr/>
        </p:nvGrpSpPr>
        <p:grpSpPr>
          <a:xfrm>
            <a:off x="2576513" y="3938588"/>
            <a:ext cx="701675" cy="582612"/>
            <a:chOff x="2292" y="2969"/>
            <a:chExt cx="408" cy="367"/>
          </a:xfrm>
        </p:grpSpPr>
        <p:sp>
          <p:nvSpPr>
            <p:cNvPr id="78904" name="Oval 56"/>
            <p:cNvSpPr>
              <a:spLocks noChangeArrowheads="1"/>
            </p:cNvSpPr>
            <p:nvPr/>
          </p:nvSpPr>
          <p:spPr bwMode="auto">
            <a:xfrm>
              <a:off x="2292" y="3240"/>
              <a:ext cx="96" cy="96"/>
            </a:xfrm>
            <a:prstGeom prst="ellipse">
              <a:avLst/>
            </a:prstGeom>
            <a:solidFill>
              <a:schemeClr val="accent2"/>
            </a:solidFill>
            <a:ln w="38100">
              <a:solidFill>
                <a:schemeClr val="accent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388" name="Text Box 57"/>
            <p:cNvSpPr txBox="1"/>
            <p:nvPr/>
          </p:nvSpPr>
          <p:spPr>
            <a:xfrm>
              <a:off x="2328" y="2969"/>
              <a:ext cx="372" cy="327"/>
            </a:xfrm>
            <a:prstGeom prst="rect">
              <a:avLst/>
            </a:prstGeom>
            <a:noFill/>
            <a:ln w="38100">
              <a:noFill/>
            </a:ln>
          </p:spPr>
          <p:txBody>
            <a:bodyPr lIns="90000" tIns="46800" rIns="90000" bIns="46800" anchor="ctr">
              <a:spAutoFit/>
            </a:bodyPr>
            <a:p>
              <a:pPr>
                <a:spcBef>
                  <a:spcPct val="50000"/>
                </a:spcBef>
              </a:pPr>
              <a:r>
                <a:rPr lang="en-US" altLang="zh-CN" sz="2800" b="1" i="1" dirty="0">
                  <a:solidFill>
                    <a:schemeClr val="accent2"/>
                  </a:solidFill>
                  <a:latin typeface="Times New Roman" panose="02020603050405020304" pitchFamily="18" charset="0"/>
                  <a:ea typeface="楷体_GB2312" pitchFamily="49" charset="-122"/>
                </a:rPr>
                <a:t>Q</a:t>
              </a:r>
              <a:endParaRPr lang="en-US" altLang="zh-CN" sz="2800" b="1" i="1" dirty="0">
                <a:solidFill>
                  <a:schemeClr val="accent2"/>
                </a:solidFill>
                <a:latin typeface="Times New Roman" panose="02020603050405020304" pitchFamily="18" charset="0"/>
                <a:ea typeface="楷体_GB2312" pitchFamily="49" charset="-122"/>
              </a:endParaRPr>
            </a:p>
          </p:txBody>
        </p:sp>
      </p:grpSp>
      <p:sp>
        <p:nvSpPr>
          <p:cNvPr id="78906" name="AutoShape 58" descr="40%"/>
          <p:cNvSpPr/>
          <p:nvPr/>
        </p:nvSpPr>
        <p:spPr>
          <a:xfrm>
            <a:off x="4724400" y="2057400"/>
            <a:ext cx="2667000" cy="1965325"/>
          </a:xfrm>
          <a:prstGeom prst="wedgeRoundRectCallout">
            <a:avLst>
              <a:gd name="adj1" fmla="val -125356"/>
              <a:gd name="adj2" fmla="val 71727"/>
              <a:gd name="adj3" fmla="val 16667"/>
            </a:avLst>
          </a:prstGeom>
          <a:pattFill prst="pct40">
            <a:fgClr>
              <a:srgbClr val="FFCCCC"/>
            </a:fgClr>
            <a:bgClr>
              <a:srgbClr val="FFFFFF"/>
            </a:bgClr>
          </a:pattFill>
          <a:ln w="28575" cap="flat" cmpd="sng">
            <a:solidFill>
              <a:srgbClr val="005C00"/>
            </a:solidFill>
            <a:prstDash val="solid"/>
            <a:miter/>
            <a:headEnd type="none" w="med" len="med"/>
            <a:tailEnd type="none" w="med" len="med"/>
          </a:ln>
        </p:spPr>
        <p:txBody>
          <a:bodyPr lIns="90000" tIns="46800" rIns="90000" bIns="46800" anchor="ctr">
            <a:spAutoFit/>
          </a:bodyPr>
          <a:p>
            <a:pPr>
              <a:spcBef>
                <a:spcPct val="50000"/>
              </a:spcBef>
            </a:pPr>
            <a:r>
              <a:rPr lang="zh-CN" altLang="en-US" sz="2800" b="1" dirty="0">
                <a:solidFill>
                  <a:schemeClr val="accent2"/>
                </a:solidFill>
                <a:latin typeface="宋体" panose="02010600030101010101" pitchFamily="2" charset="-122"/>
                <a:ea typeface="宋体" panose="02010600030101010101" pitchFamily="2" charset="-122"/>
              </a:rPr>
              <a:t>由</a:t>
            </a:r>
            <a:r>
              <a:rPr lang="en-US" altLang="zh-CN" sz="2800" b="1" i="1" dirty="0">
                <a:solidFill>
                  <a:schemeClr val="accent2"/>
                </a:solidFill>
                <a:latin typeface="Times New Roman" panose="02020603050405020304" pitchFamily="18" charset="0"/>
                <a:ea typeface="楷体_GB2312" pitchFamily="49" charset="-122"/>
              </a:rPr>
              <a:t>I</a:t>
            </a:r>
            <a:r>
              <a:rPr lang="en-US" altLang="zh-CN" sz="2800" b="1" baseline="-25000" dirty="0">
                <a:solidFill>
                  <a:schemeClr val="accent2"/>
                </a:solidFill>
                <a:latin typeface="Times New Roman" panose="02020603050405020304" pitchFamily="18" charset="0"/>
                <a:ea typeface="楷体_GB2312" pitchFamily="49" charset="-122"/>
              </a:rPr>
              <a:t>B</a:t>
            </a:r>
            <a:r>
              <a:rPr lang="zh-CN" altLang="en-US" sz="2800" b="1" dirty="0">
                <a:solidFill>
                  <a:schemeClr val="accent2"/>
                </a:solidFill>
                <a:latin typeface="宋体" panose="02010600030101010101" pitchFamily="2" charset="-122"/>
                <a:ea typeface="宋体" panose="02010600030101010101" pitchFamily="2" charset="-122"/>
              </a:rPr>
              <a:t>确定的那条输出特性与直流负载线的交点就是</a:t>
            </a:r>
            <a:r>
              <a:rPr lang="en-US" altLang="zh-CN" sz="2800" b="1" i="1" dirty="0">
                <a:solidFill>
                  <a:schemeClr val="accent2"/>
                </a:solidFill>
                <a:latin typeface="Times New Roman" panose="02020603050405020304" pitchFamily="18" charset="0"/>
                <a:ea typeface="宋体" panose="02010600030101010101" pitchFamily="2" charset="-122"/>
              </a:rPr>
              <a:t>Q</a:t>
            </a:r>
            <a:r>
              <a:rPr lang="zh-CN" altLang="en-US" sz="2800" b="1" dirty="0">
                <a:solidFill>
                  <a:schemeClr val="accent2"/>
                </a:solidFill>
                <a:latin typeface="宋体" panose="02010600030101010101" pitchFamily="2" charset="-122"/>
                <a:ea typeface="宋体" panose="02010600030101010101" pitchFamily="2" charset="-122"/>
              </a:rPr>
              <a:t>点</a:t>
            </a:r>
            <a:endParaRPr lang="zh-CN" altLang="en-US" sz="2800" b="1" dirty="0">
              <a:solidFill>
                <a:schemeClr val="accent2"/>
              </a:solidFill>
              <a:latin typeface="宋体" panose="02010600030101010101" pitchFamily="2" charset="-122"/>
              <a:ea typeface="宋体" panose="02010600030101010101" pitchFamily="2" charset="-122"/>
            </a:endParaRPr>
          </a:p>
        </p:txBody>
      </p:sp>
      <p:sp>
        <p:nvSpPr>
          <p:cNvPr id="78909" name="Text Box 61"/>
          <p:cNvSpPr txBox="1"/>
          <p:nvPr/>
        </p:nvSpPr>
        <p:spPr>
          <a:xfrm>
            <a:off x="1308100" y="5319713"/>
            <a:ext cx="368300" cy="396875"/>
          </a:xfrm>
          <a:prstGeom prst="rect">
            <a:avLst/>
          </a:prstGeom>
          <a:noFill/>
          <a:ln w="9525">
            <a:noFill/>
          </a:ln>
        </p:spPr>
        <p:txBody>
          <a:bodyPr wrap="none" anchor="t">
            <a:spAutoFit/>
          </a:bodyPr>
          <a:p>
            <a:r>
              <a:rPr lang="en-US" altLang="zh-CN" sz="2000" b="1" i="1" dirty="0">
                <a:latin typeface="Times New Roman" panose="02020603050405020304" pitchFamily="18" charset="0"/>
                <a:ea typeface="宋体" panose="02010600030101010101" pitchFamily="2" charset="-122"/>
              </a:rPr>
              <a:t>O</a:t>
            </a:r>
            <a:endParaRPr lang="en-US" altLang="zh-CN" sz="2000" b="1" i="1" dirty="0">
              <a:latin typeface="Times New Roman" panose="02020603050405020304" pitchFamily="18" charset="0"/>
              <a:ea typeface="宋体" panose="02010600030101010101" pitchFamily="2" charset="-122"/>
            </a:endParaRPr>
          </a:p>
        </p:txBody>
      </p:sp>
      <p:graphicFrame>
        <p:nvGraphicFramePr>
          <p:cNvPr id="2" name="对象 1"/>
          <p:cNvGraphicFramePr/>
          <p:nvPr/>
        </p:nvGraphicFramePr>
        <p:xfrm>
          <a:off x="5944235" y="5045710"/>
          <a:ext cx="3077210" cy="1193165"/>
        </p:xfrm>
        <a:graphic>
          <a:graphicData uri="http://schemas.openxmlformats.org/presentationml/2006/ole">
            <mc:AlternateContent xmlns:mc="http://schemas.openxmlformats.org/markup-compatibility/2006">
              <mc:Choice xmlns:v="urn:schemas-microsoft-com:vml" Requires="v">
                <p:oleObj spid="_x0000_s3" name="" r:id="rId3" imgW="1764030" imgH="920115" progId="Equation.KSEE3">
                  <p:embed/>
                </p:oleObj>
              </mc:Choice>
              <mc:Fallback>
                <p:oleObj name="" r:id="rId3" imgW="1764030" imgH="920115" progId="Equation.KSEE3">
                  <p:embed/>
                  <p:pic>
                    <p:nvPicPr>
                      <p:cNvPr id="0" name="图片 2"/>
                      <p:cNvPicPr/>
                      <p:nvPr/>
                    </p:nvPicPr>
                    <p:blipFill>
                      <a:blip r:embed="rId4"/>
                      <a:stretch>
                        <a:fillRect/>
                      </a:stretch>
                    </p:blipFill>
                    <p:spPr>
                      <a:xfrm>
                        <a:off x="5944235" y="5045710"/>
                        <a:ext cx="3077210" cy="1193165"/>
                      </a:xfrm>
                      <a:prstGeom prst="rect">
                        <a:avLst/>
                      </a:prstGeom>
                    </p:spPr>
                  </p:pic>
                </p:oleObj>
              </mc:Fallback>
            </mc:AlternateContent>
          </a:graphicData>
        </a:graphic>
      </p:graphicFrame>
      <p:sp>
        <p:nvSpPr>
          <p:cNvPr id="4" name="Rectangle 11"/>
          <p:cNvSpPr>
            <a:spLocks noChangeArrowheads="1"/>
          </p:cNvSpPr>
          <p:nvPr/>
        </p:nvSpPr>
        <p:spPr bwMode="auto">
          <a:xfrm>
            <a:off x="6035674" y="6219826"/>
            <a:ext cx="2681288" cy="5191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直流负载线斜率</a:t>
            </a:r>
            <a:endParaRPr kumimoji="1" lang="zh-CN" altLang="en-US" sz="28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aphicFrame>
        <p:nvGraphicFramePr>
          <p:cNvPr id="5" name="对象 4"/>
          <p:cNvGraphicFramePr/>
          <p:nvPr/>
        </p:nvGraphicFramePr>
        <p:xfrm>
          <a:off x="612775" y="2746058"/>
          <a:ext cx="1229995" cy="1365250"/>
        </p:xfrm>
        <a:graphic>
          <a:graphicData uri="http://schemas.openxmlformats.org/presentationml/2006/ole">
            <mc:AlternateContent xmlns:mc="http://schemas.openxmlformats.org/markup-compatibility/2006">
              <mc:Choice xmlns:v="urn:schemas-microsoft-com:vml" Requires="v">
                <p:oleObj spid="_x0000_s6" name="" r:id="rId5" imgW="624205" imgH="767715" progId="Equation.KSEE3">
                  <p:embed/>
                </p:oleObj>
              </mc:Choice>
              <mc:Fallback>
                <p:oleObj name="" r:id="rId5" imgW="624205" imgH="767715" progId="Equation.KSEE3">
                  <p:embed/>
                  <p:pic>
                    <p:nvPicPr>
                      <p:cNvPr id="0" name="图片 5"/>
                      <p:cNvPicPr/>
                      <p:nvPr/>
                    </p:nvPicPr>
                    <p:blipFill>
                      <a:blip r:embed="rId6"/>
                      <a:stretch>
                        <a:fillRect/>
                      </a:stretch>
                    </p:blipFill>
                    <p:spPr>
                      <a:xfrm>
                        <a:off x="612775" y="2746058"/>
                        <a:ext cx="1229995" cy="1365250"/>
                      </a:xfrm>
                      <a:prstGeom prst="rect">
                        <a:avLst/>
                      </a:prstGeom>
                    </p:spPr>
                  </p:pic>
                </p:oleObj>
              </mc:Fallback>
            </mc:AlternateContent>
          </a:graphicData>
        </a:graphic>
      </p:graphicFrame>
      <p:graphicFrame>
        <p:nvGraphicFramePr>
          <p:cNvPr id="11" name="对象 10"/>
          <p:cNvGraphicFramePr/>
          <p:nvPr/>
        </p:nvGraphicFramePr>
        <p:xfrm>
          <a:off x="1752600" y="1249680"/>
          <a:ext cx="3262630" cy="869950"/>
        </p:xfrm>
        <a:graphic>
          <a:graphicData uri="http://schemas.openxmlformats.org/presentationml/2006/ole">
            <mc:AlternateContent xmlns:mc="http://schemas.openxmlformats.org/markup-compatibility/2006">
              <mc:Choice xmlns:v="urn:schemas-microsoft-com:vml" Requires="v">
                <p:oleObj spid="_x0000_s12" name="" r:id="rId7" imgW="2404110" imgH="604520" progId="Equation.KSEE3">
                  <p:embed/>
                </p:oleObj>
              </mc:Choice>
              <mc:Fallback>
                <p:oleObj name="" r:id="rId7" imgW="2404110" imgH="604520" progId="Equation.KSEE3">
                  <p:embed/>
                  <p:pic>
                    <p:nvPicPr>
                      <p:cNvPr id="0" name="图片 11"/>
                      <p:cNvPicPr/>
                      <p:nvPr/>
                    </p:nvPicPr>
                    <p:blipFill>
                      <a:blip r:embed="rId8"/>
                      <a:stretch>
                        <a:fillRect/>
                      </a:stretch>
                    </p:blipFill>
                    <p:spPr>
                      <a:xfrm>
                        <a:off x="1752600" y="1249680"/>
                        <a:ext cx="3262630" cy="8699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8885"/>
                                        </p:tgtEl>
                                        <p:attrNameLst>
                                          <p:attrName>style.visibility</p:attrName>
                                        </p:attrNameLst>
                                      </p:cBhvr>
                                      <p:to>
                                        <p:strVal val="visible"/>
                                      </p:to>
                                    </p:set>
                                    <p:animEffect transition="in" filter="wipe(left)">
                                      <p:cBhvr>
                                        <p:cTn id="7" dur="500"/>
                                        <p:tgtEl>
                                          <p:spTgt spid="78885"/>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789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8876"/>
                                        </p:tgtEl>
                                        <p:attrNameLst>
                                          <p:attrName>style.visibility</p:attrName>
                                        </p:attrNameLst>
                                      </p:cBhvr>
                                      <p:to>
                                        <p:strVal val="visible"/>
                                      </p:to>
                                    </p:set>
                                    <p:animEffect transition="in" filter="wipe(down)">
                                      <p:cBhvr>
                                        <p:cTn id="15" dur="500"/>
                                        <p:tgtEl>
                                          <p:spTgt spid="7887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8861"/>
                                        </p:tgtEl>
                                        <p:attrNameLst>
                                          <p:attrName>style.visibility</p:attrName>
                                        </p:attrNameLst>
                                      </p:cBhvr>
                                      <p:to>
                                        <p:strVal val="visible"/>
                                      </p:to>
                                    </p:set>
                                    <p:animEffect transition="in" filter="wipe(left)">
                                      <p:cBhvr>
                                        <p:cTn id="20" dur="500"/>
                                        <p:tgtEl>
                                          <p:spTgt spid="7886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78902"/>
                                        </p:tgtEl>
                                        <p:attrNameLst>
                                          <p:attrName>style.visibility</p:attrName>
                                        </p:attrNameLst>
                                      </p:cBhvr>
                                      <p:to>
                                        <p:strVal val="visible"/>
                                      </p:to>
                                    </p:set>
                                    <p:animEffect transition="in" filter="wipe(right)">
                                      <p:cBhvr>
                                        <p:cTn id="25" dur="500"/>
                                        <p:tgtEl>
                                          <p:spTgt spid="7890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8854"/>
                                        </p:tgtEl>
                                        <p:attrNameLst>
                                          <p:attrName>style.visibility</p:attrName>
                                        </p:attrNameLst>
                                      </p:cBhvr>
                                      <p:to>
                                        <p:strVal val="visible"/>
                                      </p:to>
                                    </p:set>
                                    <p:animEffect transition="in" filter="wipe(left)">
                                      <p:cBhvr>
                                        <p:cTn id="30" dur="500"/>
                                        <p:tgtEl>
                                          <p:spTgt spid="7885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78907"/>
                                        </p:tgtEl>
                                        <p:attrNameLst>
                                          <p:attrName>style.visibility</p:attrName>
                                        </p:attrNameLst>
                                      </p:cBhvr>
                                      <p:to>
                                        <p:strVal val="visible"/>
                                      </p:to>
                                    </p:set>
                                    <p:animEffect transition="in" filter="wipe(right)">
                                      <p:cBhvr>
                                        <p:cTn id="35" dur="500"/>
                                        <p:tgtEl>
                                          <p:spTgt spid="7890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78906"/>
                                        </p:tgtEl>
                                        <p:attrNameLst>
                                          <p:attrName>style.visibility</p:attrName>
                                        </p:attrNameLst>
                                      </p:cBhvr>
                                      <p:to>
                                        <p:strVal val="visible"/>
                                      </p:to>
                                    </p:set>
                                    <p:animEffect transition="in" filter="wipe(right)">
                                      <p:cBhvr>
                                        <p:cTn id="40" dur="500"/>
                                        <p:tgtEl>
                                          <p:spTgt spid="78906"/>
                                        </p:tgtEl>
                                      </p:cBhvr>
                                    </p:animEffect>
                                  </p:childTnLst>
                                </p:cTn>
                              </p:par>
                            </p:childTnLst>
                          </p:cTn>
                        </p:par>
                        <p:par>
                          <p:cTn id="41" fill="hold">
                            <p:stCondLst>
                              <p:cond delay="500"/>
                            </p:stCondLst>
                            <p:childTnLst>
                              <p:par>
                                <p:cTn id="42" presetID="22" presetClass="entr" presetSubtype="2" fill="hold" nodeType="afterEffect">
                                  <p:stCondLst>
                                    <p:cond delay="0"/>
                                  </p:stCondLst>
                                  <p:childTnLst>
                                    <p:set>
                                      <p:cBhvr>
                                        <p:cTn id="43" dur="1" fill="hold">
                                          <p:stCondLst>
                                            <p:cond delay="0"/>
                                          </p:stCondLst>
                                        </p:cTn>
                                        <p:tgtEl>
                                          <p:spTgt spid="78903"/>
                                        </p:tgtEl>
                                        <p:attrNameLst>
                                          <p:attrName>style.visibility</p:attrName>
                                        </p:attrNameLst>
                                      </p:cBhvr>
                                      <p:to>
                                        <p:strVal val="visible"/>
                                      </p:to>
                                    </p:set>
                                    <p:animEffect transition="in" filter="wipe(right)">
                                      <p:cBhvr>
                                        <p:cTn id="44" dur="500"/>
                                        <p:tgtEl>
                                          <p:spTgt spid="7890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78865"/>
                                        </p:tgtEl>
                                        <p:attrNameLst>
                                          <p:attrName>style.visibility</p:attrName>
                                        </p:attrNameLst>
                                      </p:cBhvr>
                                      <p:to>
                                        <p:strVal val="visible"/>
                                      </p:to>
                                    </p:set>
                                    <p:animEffect transition="in" filter="wipe(up)">
                                      <p:cBhvr>
                                        <p:cTn id="49" dur="500"/>
                                        <p:tgtEl>
                                          <p:spTgt spid="7886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78862"/>
                                        </p:tgtEl>
                                        <p:attrNameLst>
                                          <p:attrName>style.visibility</p:attrName>
                                        </p:attrNameLst>
                                      </p:cBhvr>
                                      <p:to>
                                        <p:strVal val="visible"/>
                                      </p:to>
                                    </p:set>
                                    <p:animEffect transition="in" filter="wipe(right)">
                                      <p:cBhvr>
                                        <p:cTn id="54" dur="500"/>
                                        <p:tgtEl>
                                          <p:spTgt spid="78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02" grpId="0" bldLvl="0" animBg="1"/>
      <p:bldP spid="78906" grpId="0" bldLvl="0" animBg="1"/>
      <p:bldP spid="78909"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51202" name="Rectangle 2"/>
          <p:cNvSpPr>
            <a:spLocks noGrp="1"/>
          </p:cNvSpPr>
          <p:nvPr>
            <p:ph type="title"/>
          </p:nvPr>
        </p:nvSpPr>
        <p:spPr>
          <a:xfrm>
            <a:off x="155575" y="142875"/>
            <a:ext cx="1073150" cy="622300"/>
          </a:xfrm>
        </p:spPr>
        <p:txBody>
          <a:bodyPr wrap="square" lIns="91440" tIns="45720" rIns="91440" bIns="45720" anchor="ctr"/>
          <a:p>
            <a:pPr algn="l" eaLnBrk="1" hangingPunct="1"/>
            <a:r>
              <a:rPr lang="zh-CN" altLang="en-US" sz="2800" b="1" dirty="0">
                <a:solidFill>
                  <a:schemeClr val="tx1"/>
                </a:solidFill>
                <a:latin typeface="Times New Roman" panose="02020603050405020304" pitchFamily="18" charset="0"/>
              </a:rPr>
              <a:t>作业：</a:t>
            </a:r>
            <a:endParaRPr lang="zh-CN" altLang="en-US" sz="2800" b="1" dirty="0">
              <a:solidFill>
                <a:schemeClr val="tx1"/>
              </a:solidFill>
              <a:latin typeface="Times New Roman" panose="02020603050405020304" pitchFamily="18" charset="0"/>
            </a:endParaRPr>
          </a:p>
        </p:txBody>
      </p:sp>
      <p:sp>
        <p:nvSpPr>
          <p:cNvPr id="51203" name="文本框 1"/>
          <p:cNvSpPr txBox="1"/>
          <p:nvPr/>
        </p:nvSpPr>
        <p:spPr>
          <a:xfrm>
            <a:off x="155575" y="3647440"/>
            <a:ext cx="6315710" cy="1630045"/>
          </a:xfrm>
          <a:prstGeom prst="rect">
            <a:avLst/>
          </a:prstGeom>
          <a:noFill/>
          <a:ln w="9525">
            <a:noFill/>
          </a:ln>
        </p:spPr>
        <p:txBody>
          <a:bodyPr wrap="square" anchor="t">
            <a:spAutoFit/>
          </a:bodyPr>
          <a:p>
            <a:r>
              <a:rPr lang="en-US" altLang="zh-CN" sz="2000">
                <a:solidFill>
                  <a:schemeClr val="tx1"/>
                </a:solidFill>
                <a:latin typeface="Times New Roman" panose="02020603050405020304" pitchFamily="18" charset="0"/>
                <a:ea typeface="宋体" panose="02010600030101010101" pitchFamily="2" charset="-122"/>
              </a:rPr>
              <a:t>13.</a:t>
            </a:r>
            <a:r>
              <a:rPr lang="zh-CN" altLang="en-US" sz="2000">
                <a:solidFill>
                  <a:schemeClr val="tx1"/>
                </a:solidFill>
                <a:latin typeface="Times New Roman" panose="02020603050405020304" pitchFamily="18" charset="0"/>
                <a:ea typeface="宋体" panose="02010600030101010101" pitchFamily="2" charset="-122"/>
              </a:rPr>
              <a:t>右</a:t>
            </a:r>
            <a:r>
              <a:rPr sz="2000">
                <a:solidFill>
                  <a:schemeClr val="tx1"/>
                </a:solidFill>
                <a:latin typeface="Times New Roman" panose="02020603050405020304" pitchFamily="18" charset="0"/>
                <a:ea typeface="宋体" panose="02010600030101010101" pitchFamily="2" charset="-122"/>
              </a:rPr>
              <a:t>图所示电路是一继电器驱动电路，线圈电阻为500Ω，V</a:t>
            </a:r>
            <a:r>
              <a:rPr sz="2000" baseline="-25000">
                <a:solidFill>
                  <a:schemeClr val="tx1"/>
                </a:solidFill>
                <a:latin typeface="Times New Roman" panose="02020603050405020304" pitchFamily="18" charset="0"/>
                <a:ea typeface="宋体" panose="02010600030101010101" pitchFamily="2" charset="-122"/>
              </a:rPr>
              <a:t>C</a:t>
            </a:r>
            <a:r>
              <a:rPr sz="2000">
                <a:solidFill>
                  <a:schemeClr val="tx1"/>
                </a:solidFill>
                <a:latin typeface="Times New Roman" panose="02020603050405020304" pitchFamily="18" charset="0"/>
                <a:ea typeface="宋体" panose="02010600030101010101" pitchFamily="2" charset="-122"/>
              </a:rPr>
              <a:t>=12V，晶体管的β=20，输入控制信号的低电平为0V，高电平为4.5V，R1=1.5KΩ。请通过估算分别判断输入高、低电平时晶体管三极管的工作状态。</a:t>
            </a:r>
            <a:r>
              <a:rPr lang="zh-CN" sz="2000">
                <a:solidFill>
                  <a:schemeClr val="tx1"/>
                </a:solidFill>
                <a:latin typeface="Times New Roman" panose="02020603050405020304" pitchFamily="18" charset="0"/>
                <a:ea typeface="宋体" panose="02010600030101010101" pitchFamily="2" charset="-122"/>
              </a:rPr>
              <a:t>并分析二极管</a:t>
            </a:r>
            <a:r>
              <a:rPr lang="en-US" altLang="zh-CN" sz="2000">
                <a:solidFill>
                  <a:schemeClr val="tx1"/>
                </a:solidFill>
                <a:latin typeface="Times New Roman" panose="02020603050405020304" pitchFamily="18" charset="0"/>
                <a:ea typeface="宋体" panose="02010600030101010101" pitchFamily="2" charset="-122"/>
              </a:rPr>
              <a:t>D1</a:t>
            </a:r>
            <a:r>
              <a:rPr lang="zh-CN" altLang="en-US" sz="2000">
                <a:solidFill>
                  <a:schemeClr val="tx1"/>
                </a:solidFill>
                <a:latin typeface="Times New Roman" panose="02020603050405020304" pitchFamily="18" charset="0"/>
                <a:ea typeface="宋体" panose="02010600030101010101" pitchFamily="2" charset="-122"/>
              </a:rPr>
              <a:t>的作用。</a:t>
            </a:r>
            <a:endParaRPr lang="zh-CN" altLang="en-US" sz="2000">
              <a:solidFill>
                <a:schemeClr val="tx1"/>
              </a:solidFill>
              <a:latin typeface="Times New Roman" panose="02020603050405020304" pitchFamily="18" charset="0"/>
              <a:ea typeface="宋体" panose="02010600030101010101" pitchFamily="2" charset="-122"/>
            </a:endParaRPr>
          </a:p>
        </p:txBody>
      </p:sp>
      <p:sp>
        <p:nvSpPr>
          <p:cNvPr id="51205" name="文本框 3"/>
          <p:cNvSpPr txBox="1"/>
          <p:nvPr/>
        </p:nvSpPr>
        <p:spPr>
          <a:xfrm>
            <a:off x="257175" y="765175"/>
            <a:ext cx="8870950" cy="706755"/>
          </a:xfrm>
          <a:prstGeom prst="rect">
            <a:avLst/>
          </a:prstGeom>
          <a:noFill/>
          <a:ln w="9525">
            <a:noFill/>
          </a:ln>
        </p:spPr>
        <p:txBody>
          <a:bodyPr wrap="square" anchor="t">
            <a:spAutoFit/>
          </a:bodyPr>
          <a:p>
            <a:r>
              <a:rPr lang="en-US" altLang="zh-CN" sz="2000">
                <a:solidFill>
                  <a:schemeClr val="tx1"/>
                </a:solidFill>
                <a:latin typeface="Times New Roman" panose="02020603050405020304" pitchFamily="18" charset="0"/>
                <a:ea typeface="宋体" panose="02010600030101010101" pitchFamily="2" charset="-122"/>
              </a:rPr>
              <a:t>12.</a:t>
            </a:r>
            <a:r>
              <a:rPr lang="zh-CN" altLang="en-US" sz="2000">
                <a:solidFill>
                  <a:schemeClr val="tx1"/>
                </a:solidFill>
                <a:latin typeface="Times New Roman" panose="02020603050405020304" pitchFamily="18" charset="0"/>
                <a:ea typeface="宋体" panose="02010600030101010101" pitchFamily="2" charset="-122"/>
              </a:rPr>
              <a:t>测得某电路中处于放大状态的晶体管</a:t>
            </a:r>
            <a:r>
              <a:rPr lang="en-US" altLang="zh-CN" sz="2000">
                <a:solidFill>
                  <a:schemeClr val="tx1"/>
                </a:solidFill>
                <a:latin typeface="Times New Roman" panose="02020603050405020304" pitchFamily="18" charset="0"/>
                <a:ea typeface="宋体" panose="02010600030101010101" pitchFamily="2" charset="-122"/>
              </a:rPr>
              <a:t>T1</a:t>
            </a:r>
            <a:r>
              <a:rPr lang="zh-CN" altLang="en-US" sz="2000">
                <a:solidFill>
                  <a:schemeClr val="tx1"/>
                </a:solidFill>
                <a:latin typeface="Times New Roman" panose="02020603050405020304" pitchFamily="18" charset="0"/>
                <a:ea typeface="宋体" panose="02010600030101010101" pitchFamily="2" charset="-122"/>
              </a:rPr>
              <a:t>、</a:t>
            </a:r>
            <a:r>
              <a:rPr lang="en-US" altLang="zh-CN" sz="2000">
                <a:solidFill>
                  <a:schemeClr val="tx1"/>
                </a:solidFill>
                <a:latin typeface="Times New Roman" panose="02020603050405020304" pitchFamily="18" charset="0"/>
                <a:ea typeface="宋体" panose="02010600030101010101" pitchFamily="2" charset="-122"/>
              </a:rPr>
              <a:t>T2</a:t>
            </a:r>
            <a:r>
              <a:rPr lang="zh-CN" altLang="en-US" sz="2000">
                <a:solidFill>
                  <a:schemeClr val="tx1"/>
                </a:solidFill>
                <a:latin typeface="Times New Roman" panose="02020603050405020304" pitchFamily="18" charset="0"/>
                <a:ea typeface="宋体" panose="02010600030101010101" pitchFamily="2" charset="-122"/>
              </a:rPr>
              <a:t>、</a:t>
            </a:r>
            <a:r>
              <a:rPr lang="en-US" altLang="zh-CN" sz="2000">
                <a:solidFill>
                  <a:schemeClr val="tx1"/>
                </a:solidFill>
                <a:latin typeface="Times New Roman" panose="02020603050405020304" pitchFamily="18" charset="0"/>
                <a:ea typeface="宋体" panose="02010600030101010101" pitchFamily="2" charset="-122"/>
              </a:rPr>
              <a:t>T3</a:t>
            </a:r>
            <a:r>
              <a:rPr lang="zh-CN" altLang="en-US" sz="2000">
                <a:solidFill>
                  <a:schemeClr val="tx1"/>
                </a:solidFill>
                <a:latin typeface="Times New Roman" panose="02020603050405020304" pitchFamily="18" charset="0"/>
                <a:ea typeface="宋体" panose="02010600030101010101" pitchFamily="2" charset="-122"/>
              </a:rPr>
              <a:t>各个电极的电位如下表所示，试在空格处填上</a:t>
            </a:r>
            <a:r>
              <a:rPr lang="en-US" altLang="zh-CN" sz="2000">
                <a:solidFill>
                  <a:schemeClr val="tx1"/>
                </a:solidFill>
                <a:latin typeface="Times New Roman" panose="02020603050405020304" pitchFamily="18" charset="0"/>
                <a:ea typeface="宋体" panose="02010600030101010101" pitchFamily="2" charset="-122"/>
              </a:rPr>
              <a:t>‘</a:t>
            </a:r>
            <a:r>
              <a:rPr lang="zh-CN" altLang="en-US" sz="2000">
                <a:solidFill>
                  <a:schemeClr val="tx1"/>
                </a:solidFill>
                <a:latin typeface="Times New Roman" panose="02020603050405020304" pitchFamily="18" charset="0"/>
                <a:ea typeface="宋体" panose="02010600030101010101" pitchFamily="2" charset="-122"/>
              </a:rPr>
              <a:t>电极名称</a:t>
            </a:r>
            <a:r>
              <a:rPr lang="en-US" altLang="zh-CN" sz="2000">
                <a:solidFill>
                  <a:schemeClr val="tx1"/>
                </a:solidFill>
                <a:latin typeface="Times New Roman" panose="02020603050405020304" pitchFamily="18" charset="0"/>
                <a:ea typeface="宋体" panose="02010600030101010101" pitchFamily="2" charset="-122"/>
              </a:rPr>
              <a:t>’</a:t>
            </a:r>
            <a:r>
              <a:rPr lang="zh-CN" altLang="en-US" sz="2000">
                <a:solidFill>
                  <a:schemeClr val="tx1"/>
                </a:solidFill>
                <a:latin typeface="Times New Roman" panose="02020603050405020304" pitchFamily="18" charset="0"/>
                <a:ea typeface="宋体" panose="02010600030101010101" pitchFamily="2" charset="-122"/>
              </a:rPr>
              <a:t>（</a:t>
            </a:r>
            <a:r>
              <a:rPr lang="en-US" altLang="zh-CN" sz="2000">
                <a:solidFill>
                  <a:schemeClr val="tx1"/>
                </a:solidFill>
                <a:latin typeface="Times New Roman" panose="02020603050405020304" pitchFamily="18" charset="0"/>
                <a:ea typeface="宋体" panose="02010600030101010101" pitchFamily="2" charset="-122"/>
              </a:rPr>
              <a:t>E\B\C</a:t>
            </a:r>
            <a:r>
              <a:rPr lang="zh-CN" altLang="en-US" sz="2000">
                <a:solidFill>
                  <a:schemeClr val="tx1"/>
                </a:solidFill>
                <a:latin typeface="Times New Roman" panose="02020603050405020304" pitchFamily="18" charset="0"/>
                <a:ea typeface="宋体" panose="02010600030101010101" pitchFamily="2" charset="-122"/>
              </a:rPr>
              <a:t>）和</a:t>
            </a:r>
            <a:r>
              <a:rPr lang="en-US" altLang="zh-CN" sz="2000">
                <a:solidFill>
                  <a:schemeClr val="tx1"/>
                </a:solidFill>
                <a:latin typeface="Times New Roman" panose="02020603050405020304" pitchFamily="18" charset="0"/>
                <a:ea typeface="宋体" panose="02010600030101010101" pitchFamily="2" charset="-122"/>
              </a:rPr>
              <a:t>‘</a:t>
            </a:r>
            <a:r>
              <a:rPr lang="zh-CN" altLang="en-US" sz="2000">
                <a:solidFill>
                  <a:schemeClr val="tx1"/>
                </a:solidFill>
                <a:latin typeface="Times New Roman" panose="02020603050405020304" pitchFamily="18" charset="0"/>
                <a:ea typeface="宋体" panose="02010600030101010101" pitchFamily="2" charset="-122"/>
              </a:rPr>
              <a:t>管型</a:t>
            </a:r>
            <a:r>
              <a:rPr lang="en-US" altLang="zh-CN" sz="2000">
                <a:solidFill>
                  <a:schemeClr val="tx1"/>
                </a:solidFill>
                <a:latin typeface="Times New Roman" panose="02020603050405020304" pitchFamily="18" charset="0"/>
                <a:ea typeface="宋体" panose="02010600030101010101" pitchFamily="2" charset="-122"/>
              </a:rPr>
              <a:t>’</a:t>
            </a:r>
            <a:r>
              <a:rPr lang="zh-CN" altLang="en-US" sz="2000">
                <a:solidFill>
                  <a:schemeClr val="tx1"/>
                </a:solidFill>
                <a:latin typeface="Times New Roman" panose="02020603050405020304" pitchFamily="18" charset="0"/>
                <a:ea typeface="宋体" panose="02010600030101010101" pitchFamily="2" charset="-122"/>
              </a:rPr>
              <a:t>（硅管</a:t>
            </a:r>
            <a:r>
              <a:rPr lang="en-US" altLang="zh-CN" sz="2000">
                <a:solidFill>
                  <a:schemeClr val="tx1"/>
                </a:solidFill>
                <a:latin typeface="Times New Roman" panose="02020603050405020304" pitchFamily="18" charset="0"/>
                <a:ea typeface="宋体" panose="02010600030101010101" pitchFamily="2" charset="-122"/>
              </a:rPr>
              <a:t>/</a:t>
            </a:r>
            <a:r>
              <a:rPr lang="zh-CN" altLang="en-US" sz="2000">
                <a:solidFill>
                  <a:schemeClr val="tx1"/>
                </a:solidFill>
                <a:latin typeface="Times New Roman" panose="02020603050405020304" pitchFamily="18" charset="0"/>
                <a:ea typeface="宋体" panose="02010600030101010101" pitchFamily="2" charset="-122"/>
              </a:rPr>
              <a:t>锗管，</a:t>
            </a:r>
            <a:r>
              <a:rPr lang="en-US" altLang="zh-CN" sz="2000">
                <a:solidFill>
                  <a:schemeClr val="tx1"/>
                </a:solidFill>
                <a:latin typeface="Times New Roman" panose="02020603050405020304" pitchFamily="18" charset="0"/>
                <a:ea typeface="宋体" panose="02010600030101010101" pitchFamily="2" charset="-122"/>
              </a:rPr>
              <a:t>NPN</a:t>
            </a:r>
            <a:r>
              <a:rPr lang="zh-CN" altLang="en-US" sz="2000">
                <a:solidFill>
                  <a:schemeClr val="tx1"/>
                </a:solidFill>
                <a:latin typeface="Times New Roman" panose="02020603050405020304" pitchFamily="18" charset="0"/>
                <a:ea typeface="宋体" panose="02010600030101010101" pitchFamily="2" charset="-122"/>
              </a:rPr>
              <a:t>或</a:t>
            </a:r>
            <a:r>
              <a:rPr lang="en-US" altLang="zh-CN" sz="2000">
                <a:solidFill>
                  <a:schemeClr val="tx1"/>
                </a:solidFill>
                <a:latin typeface="Times New Roman" panose="02020603050405020304" pitchFamily="18" charset="0"/>
                <a:ea typeface="宋体" panose="02010600030101010101" pitchFamily="2" charset="-122"/>
              </a:rPr>
              <a:t>PNP</a:t>
            </a:r>
            <a:r>
              <a:rPr lang="zh-CN" altLang="en-US" sz="2000">
                <a:solidFill>
                  <a:schemeClr val="tx1"/>
                </a:solidFill>
                <a:latin typeface="Times New Roman" panose="02020603050405020304" pitchFamily="18" charset="0"/>
                <a:ea typeface="宋体" panose="02010600030101010101" pitchFamily="2" charset="-122"/>
              </a:rPr>
              <a:t>）。</a:t>
            </a:r>
            <a:endParaRPr lang="zh-CN" altLang="en-US" sz="2000">
              <a:solidFill>
                <a:schemeClr val="tx1"/>
              </a:solidFill>
              <a:latin typeface="Times New Roman" panose="02020603050405020304" pitchFamily="18" charset="0"/>
              <a:ea typeface="宋体" panose="02010600030101010101" pitchFamily="2" charset="-122"/>
            </a:endParaRPr>
          </a:p>
        </p:txBody>
      </p:sp>
      <p:graphicFrame>
        <p:nvGraphicFramePr>
          <p:cNvPr id="9" name="表格 8"/>
          <p:cNvGraphicFramePr/>
          <p:nvPr/>
        </p:nvGraphicFramePr>
        <p:xfrm>
          <a:off x="677228" y="1471930"/>
          <a:ext cx="6394450" cy="1838325"/>
        </p:xfrm>
        <a:graphic>
          <a:graphicData uri="http://schemas.openxmlformats.org/drawingml/2006/table">
            <a:tbl>
              <a:tblPr firstRow="1" bandRow="1">
                <a:tableStyleId>{5C22544A-7EE6-4342-B048-85BDC9FD1C3A}</a:tableStyleId>
              </a:tblPr>
              <a:tblGrid>
                <a:gridCol w="1043305"/>
                <a:gridCol w="501650"/>
                <a:gridCol w="596900"/>
                <a:gridCol w="639445"/>
                <a:gridCol w="617855"/>
                <a:gridCol w="618490"/>
                <a:gridCol w="650240"/>
                <a:gridCol w="575310"/>
                <a:gridCol w="596900"/>
                <a:gridCol w="554355"/>
              </a:tblGrid>
              <a:tr h="365760">
                <a:tc>
                  <a:txBody>
                    <a:bodyPr/>
                    <a:p>
                      <a:pPr>
                        <a:buNone/>
                      </a:pPr>
                      <a:r>
                        <a:rPr lang="zh-CN" altLang="en-US" sz="1600">
                          <a:solidFill>
                            <a:schemeClr val="tx1"/>
                          </a:solidFill>
                        </a:rPr>
                        <a:t>晶体管</a:t>
                      </a:r>
                      <a:endParaRPr lang="zh-CN" altLang="en-US" sz="1600">
                        <a:solidFill>
                          <a:schemeClr val="tx1"/>
                        </a:solidFill>
                      </a:endParaRPr>
                    </a:p>
                  </a:txBody>
                  <a:tcPr/>
                </a:tc>
                <a:tc gridSpan="3">
                  <a:txBody>
                    <a:bodyPr/>
                    <a:p>
                      <a:pPr algn="ctr">
                        <a:buNone/>
                      </a:pPr>
                      <a:r>
                        <a:rPr lang="en-US" altLang="zh-CN" sz="1600">
                          <a:solidFill>
                            <a:schemeClr val="tx1"/>
                          </a:solidFill>
                        </a:rPr>
                        <a:t>T</a:t>
                      </a:r>
                      <a:r>
                        <a:rPr lang="en-US" altLang="zh-CN" sz="1600" baseline="-25000">
                          <a:solidFill>
                            <a:schemeClr val="tx1"/>
                          </a:solidFill>
                        </a:rPr>
                        <a:t>1</a:t>
                      </a:r>
                      <a:endParaRPr lang="en-US" altLang="zh-CN" sz="1600" baseline="-25000">
                        <a:solidFill>
                          <a:schemeClr val="tx1"/>
                        </a:solidFill>
                      </a:endParaRPr>
                    </a:p>
                  </a:txBody>
                  <a:tcPr/>
                </a:tc>
                <a:tc hMerge="1">
                  <a:tcPr/>
                </a:tc>
                <a:tc hMerge="1">
                  <a:tcPr/>
                </a:tc>
                <a:tc gridSpan="3">
                  <a:txBody>
                    <a:bodyPr/>
                    <a:p>
                      <a:pPr algn="ctr">
                        <a:buNone/>
                      </a:pPr>
                      <a:r>
                        <a:rPr lang="en-US" altLang="zh-CN" sz="1600">
                          <a:solidFill>
                            <a:schemeClr val="tx1"/>
                          </a:solidFill>
                        </a:rPr>
                        <a:t>T</a:t>
                      </a:r>
                      <a:r>
                        <a:rPr lang="en-US" altLang="zh-CN" sz="1600" baseline="-25000">
                          <a:solidFill>
                            <a:schemeClr val="tx1"/>
                          </a:solidFill>
                        </a:rPr>
                        <a:t>2</a:t>
                      </a:r>
                      <a:endParaRPr lang="en-US" altLang="zh-CN" sz="1600" baseline="-25000">
                        <a:solidFill>
                          <a:schemeClr val="tx1"/>
                        </a:solidFill>
                      </a:endParaRPr>
                    </a:p>
                  </a:txBody>
                  <a:tcPr/>
                </a:tc>
                <a:tc hMerge="1">
                  <a:tcPr/>
                </a:tc>
                <a:tc hMerge="1">
                  <a:tcPr/>
                </a:tc>
                <a:tc gridSpan="3">
                  <a:txBody>
                    <a:bodyPr/>
                    <a:p>
                      <a:pPr algn="ctr">
                        <a:buNone/>
                      </a:pPr>
                      <a:r>
                        <a:rPr lang="en-US" altLang="zh-CN" sz="1600">
                          <a:solidFill>
                            <a:schemeClr val="tx1"/>
                          </a:solidFill>
                        </a:rPr>
                        <a:t>T</a:t>
                      </a:r>
                      <a:r>
                        <a:rPr lang="en-US" altLang="zh-CN" sz="1600" baseline="-25000">
                          <a:solidFill>
                            <a:schemeClr val="tx1"/>
                          </a:solidFill>
                        </a:rPr>
                        <a:t>3</a:t>
                      </a:r>
                      <a:endParaRPr lang="en-US" altLang="zh-CN" sz="1600" baseline="-25000">
                        <a:solidFill>
                          <a:schemeClr val="tx1"/>
                        </a:solidFill>
                      </a:endParaRPr>
                    </a:p>
                  </a:txBody>
                  <a:tcPr/>
                </a:tc>
                <a:tc hMerge="1">
                  <a:tcPr/>
                </a:tc>
                <a:tc hMerge="1">
                  <a:tcPr/>
                </a:tc>
              </a:tr>
              <a:tr h="365760">
                <a:tc>
                  <a:txBody>
                    <a:bodyPr/>
                    <a:p>
                      <a:pPr>
                        <a:buNone/>
                      </a:pPr>
                      <a:r>
                        <a:rPr lang="zh-CN" altLang="en-US" sz="1600" b="1"/>
                        <a:t>电极编号</a:t>
                      </a:r>
                      <a:endParaRPr lang="zh-CN" altLang="en-US" sz="1600" b="1"/>
                    </a:p>
                  </a:txBody>
                  <a:tcPr/>
                </a:tc>
                <a:tc>
                  <a:txBody>
                    <a:bodyPr/>
                    <a:p>
                      <a:pPr>
                        <a:buNone/>
                      </a:pPr>
                      <a:r>
                        <a:rPr lang="en-US" altLang="zh-CN" sz="1600">
                          <a:solidFill>
                            <a:schemeClr val="tx1"/>
                          </a:solidFill>
                        </a:rPr>
                        <a:t>1-1</a:t>
                      </a:r>
                      <a:endParaRPr lang="en-US" altLang="zh-CN" sz="1600">
                        <a:solidFill>
                          <a:schemeClr val="tx1"/>
                        </a:solidFill>
                      </a:endParaRPr>
                    </a:p>
                  </a:txBody>
                  <a:tcPr/>
                </a:tc>
                <a:tc>
                  <a:txBody>
                    <a:bodyPr/>
                    <a:p>
                      <a:pPr>
                        <a:buNone/>
                      </a:pPr>
                      <a:r>
                        <a:rPr lang="en-US" altLang="zh-CN" sz="1600">
                          <a:solidFill>
                            <a:schemeClr val="tx1"/>
                          </a:solidFill>
                        </a:rPr>
                        <a:t>1-2</a:t>
                      </a:r>
                      <a:endParaRPr lang="en-US" altLang="zh-CN" sz="1600">
                        <a:solidFill>
                          <a:schemeClr val="tx1"/>
                        </a:solidFill>
                      </a:endParaRPr>
                    </a:p>
                  </a:txBody>
                  <a:tcPr/>
                </a:tc>
                <a:tc>
                  <a:txBody>
                    <a:bodyPr/>
                    <a:p>
                      <a:pPr>
                        <a:buNone/>
                      </a:pPr>
                      <a:r>
                        <a:rPr lang="en-US" altLang="zh-CN" sz="1600">
                          <a:solidFill>
                            <a:schemeClr val="tx1"/>
                          </a:solidFill>
                        </a:rPr>
                        <a:t>1-3</a:t>
                      </a:r>
                      <a:endParaRPr lang="en-US" altLang="zh-CN" sz="1600">
                        <a:solidFill>
                          <a:schemeClr val="tx1"/>
                        </a:solidFill>
                      </a:endParaRPr>
                    </a:p>
                  </a:txBody>
                  <a:tcPr/>
                </a:tc>
                <a:tc>
                  <a:txBody>
                    <a:bodyPr/>
                    <a:p>
                      <a:pPr>
                        <a:buNone/>
                      </a:pPr>
                      <a:r>
                        <a:rPr lang="en-US" altLang="zh-CN" sz="1600">
                          <a:solidFill>
                            <a:schemeClr val="tx1"/>
                          </a:solidFill>
                        </a:rPr>
                        <a:t>2-1</a:t>
                      </a:r>
                      <a:endParaRPr lang="en-US" altLang="zh-CN" sz="1600">
                        <a:solidFill>
                          <a:schemeClr val="tx1"/>
                        </a:solidFill>
                      </a:endParaRPr>
                    </a:p>
                  </a:txBody>
                  <a:tcPr/>
                </a:tc>
                <a:tc>
                  <a:txBody>
                    <a:bodyPr/>
                    <a:p>
                      <a:pPr>
                        <a:buNone/>
                      </a:pPr>
                      <a:r>
                        <a:rPr lang="en-US" altLang="zh-CN" sz="1600">
                          <a:solidFill>
                            <a:schemeClr val="tx1"/>
                          </a:solidFill>
                        </a:rPr>
                        <a:t>2-2</a:t>
                      </a:r>
                      <a:endParaRPr lang="en-US" altLang="zh-CN" sz="1600">
                        <a:solidFill>
                          <a:schemeClr val="tx1"/>
                        </a:solidFill>
                      </a:endParaRPr>
                    </a:p>
                  </a:txBody>
                  <a:tcPr/>
                </a:tc>
                <a:tc>
                  <a:txBody>
                    <a:bodyPr/>
                    <a:p>
                      <a:pPr>
                        <a:buNone/>
                      </a:pPr>
                      <a:r>
                        <a:rPr lang="en-US" altLang="zh-CN" sz="1600">
                          <a:solidFill>
                            <a:schemeClr val="tx1"/>
                          </a:solidFill>
                        </a:rPr>
                        <a:t>2-3</a:t>
                      </a:r>
                      <a:endParaRPr lang="en-US" altLang="zh-CN" sz="1600">
                        <a:solidFill>
                          <a:schemeClr val="tx1"/>
                        </a:solidFill>
                      </a:endParaRPr>
                    </a:p>
                  </a:txBody>
                  <a:tcPr/>
                </a:tc>
                <a:tc>
                  <a:txBody>
                    <a:bodyPr/>
                    <a:p>
                      <a:pPr>
                        <a:buNone/>
                      </a:pPr>
                      <a:r>
                        <a:rPr lang="en-US" altLang="zh-CN" sz="1600">
                          <a:solidFill>
                            <a:schemeClr val="tx1"/>
                          </a:solidFill>
                        </a:rPr>
                        <a:t>3-1</a:t>
                      </a:r>
                      <a:endParaRPr lang="en-US" altLang="zh-CN" sz="1600">
                        <a:solidFill>
                          <a:schemeClr val="tx1"/>
                        </a:solidFill>
                      </a:endParaRPr>
                    </a:p>
                  </a:txBody>
                  <a:tcPr/>
                </a:tc>
                <a:tc>
                  <a:txBody>
                    <a:bodyPr/>
                    <a:p>
                      <a:pPr>
                        <a:buNone/>
                      </a:pPr>
                      <a:r>
                        <a:rPr lang="en-US" altLang="zh-CN" sz="1600">
                          <a:solidFill>
                            <a:schemeClr val="tx1"/>
                          </a:solidFill>
                        </a:rPr>
                        <a:t>3-2</a:t>
                      </a:r>
                      <a:endParaRPr lang="en-US" altLang="zh-CN" sz="1600">
                        <a:solidFill>
                          <a:schemeClr val="tx1"/>
                        </a:solidFill>
                      </a:endParaRPr>
                    </a:p>
                  </a:txBody>
                  <a:tcPr/>
                </a:tc>
                <a:tc>
                  <a:txBody>
                    <a:bodyPr/>
                    <a:p>
                      <a:pPr>
                        <a:buNone/>
                      </a:pPr>
                      <a:r>
                        <a:rPr lang="en-US" altLang="zh-CN" sz="1600">
                          <a:solidFill>
                            <a:schemeClr val="tx1"/>
                          </a:solidFill>
                        </a:rPr>
                        <a:t>3-3</a:t>
                      </a:r>
                      <a:endParaRPr lang="en-US" altLang="zh-CN" sz="1600">
                        <a:solidFill>
                          <a:schemeClr val="tx1"/>
                        </a:solidFill>
                      </a:endParaRPr>
                    </a:p>
                  </a:txBody>
                  <a:tcPr/>
                </a:tc>
              </a:tr>
              <a:tr h="365760">
                <a:tc>
                  <a:txBody>
                    <a:bodyPr/>
                    <a:p>
                      <a:pPr>
                        <a:buNone/>
                      </a:pPr>
                      <a:r>
                        <a:rPr lang="zh-CN" altLang="en-US"/>
                        <a:t>电位</a:t>
                      </a:r>
                      <a:r>
                        <a:rPr lang="en-US" altLang="zh-CN"/>
                        <a:t>/V</a:t>
                      </a:r>
                      <a:endParaRPr lang="en-US" altLang="zh-CN"/>
                    </a:p>
                  </a:txBody>
                  <a:tcPr/>
                </a:tc>
                <a:tc>
                  <a:txBody>
                    <a:bodyPr/>
                    <a:p>
                      <a:pPr>
                        <a:buNone/>
                      </a:pPr>
                      <a:r>
                        <a:rPr lang="en-US" altLang="zh-CN" sz="1600">
                          <a:solidFill>
                            <a:schemeClr val="tx1"/>
                          </a:solidFill>
                        </a:rPr>
                        <a:t>+6</a:t>
                      </a:r>
                      <a:endParaRPr lang="en-US" altLang="zh-CN" sz="1600">
                        <a:solidFill>
                          <a:schemeClr val="tx1"/>
                        </a:solidFill>
                      </a:endParaRPr>
                    </a:p>
                  </a:txBody>
                  <a:tcPr/>
                </a:tc>
                <a:tc>
                  <a:txBody>
                    <a:bodyPr/>
                    <a:p>
                      <a:pPr>
                        <a:buNone/>
                      </a:pPr>
                      <a:r>
                        <a:rPr lang="en-US" altLang="zh-CN" sz="1600">
                          <a:solidFill>
                            <a:schemeClr val="tx1"/>
                          </a:solidFill>
                        </a:rPr>
                        <a:t>+3</a:t>
                      </a:r>
                      <a:endParaRPr lang="en-US" altLang="zh-CN" sz="1600">
                        <a:solidFill>
                          <a:schemeClr val="tx1"/>
                        </a:solidFill>
                      </a:endParaRPr>
                    </a:p>
                  </a:txBody>
                  <a:tcPr/>
                </a:tc>
                <a:tc>
                  <a:txBody>
                    <a:bodyPr/>
                    <a:p>
                      <a:pPr>
                        <a:buNone/>
                      </a:pPr>
                      <a:r>
                        <a:rPr lang="en-US" altLang="zh-CN" sz="1600">
                          <a:solidFill>
                            <a:schemeClr val="tx1"/>
                          </a:solidFill>
                        </a:rPr>
                        <a:t>+2.3</a:t>
                      </a:r>
                      <a:endParaRPr lang="en-US" altLang="zh-CN" sz="1600">
                        <a:solidFill>
                          <a:schemeClr val="tx1"/>
                        </a:solidFill>
                      </a:endParaRPr>
                    </a:p>
                  </a:txBody>
                  <a:tcPr/>
                </a:tc>
                <a:tc>
                  <a:txBody>
                    <a:bodyPr/>
                    <a:p>
                      <a:pPr>
                        <a:buNone/>
                      </a:pPr>
                      <a:r>
                        <a:rPr lang="en-US" altLang="zh-CN" sz="1600">
                          <a:solidFill>
                            <a:schemeClr val="tx1"/>
                          </a:solidFill>
                        </a:rPr>
                        <a:t>-0.7</a:t>
                      </a:r>
                      <a:endParaRPr lang="en-US" altLang="zh-CN" sz="1600">
                        <a:solidFill>
                          <a:schemeClr val="tx1"/>
                        </a:solidFill>
                      </a:endParaRPr>
                    </a:p>
                  </a:txBody>
                  <a:tcPr/>
                </a:tc>
                <a:tc>
                  <a:txBody>
                    <a:bodyPr/>
                    <a:p>
                      <a:pPr>
                        <a:buNone/>
                      </a:pPr>
                      <a:r>
                        <a:rPr lang="en-US" altLang="zh-CN" sz="1600">
                          <a:solidFill>
                            <a:schemeClr val="tx1"/>
                          </a:solidFill>
                        </a:rPr>
                        <a:t>0</a:t>
                      </a:r>
                      <a:endParaRPr lang="en-US" altLang="zh-CN" sz="1600">
                        <a:solidFill>
                          <a:schemeClr val="tx1"/>
                        </a:solidFill>
                      </a:endParaRPr>
                    </a:p>
                  </a:txBody>
                  <a:tcPr/>
                </a:tc>
                <a:tc>
                  <a:txBody>
                    <a:bodyPr/>
                    <a:p>
                      <a:pPr>
                        <a:buNone/>
                      </a:pPr>
                      <a:r>
                        <a:rPr lang="en-US" altLang="zh-CN" sz="1600">
                          <a:solidFill>
                            <a:schemeClr val="tx1"/>
                          </a:solidFill>
                        </a:rPr>
                        <a:t>-6</a:t>
                      </a:r>
                      <a:endParaRPr lang="en-US" altLang="zh-CN" sz="1600">
                        <a:solidFill>
                          <a:schemeClr val="tx1"/>
                        </a:solidFill>
                      </a:endParaRPr>
                    </a:p>
                  </a:txBody>
                  <a:tcPr/>
                </a:tc>
                <a:tc>
                  <a:txBody>
                    <a:bodyPr/>
                    <a:p>
                      <a:pPr>
                        <a:buNone/>
                      </a:pPr>
                      <a:r>
                        <a:rPr lang="en-US" altLang="zh-CN" sz="1600">
                          <a:solidFill>
                            <a:schemeClr val="tx1"/>
                          </a:solidFill>
                        </a:rPr>
                        <a:t>-1</a:t>
                      </a:r>
                      <a:endParaRPr lang="en-US" altLang="zh-CN" sz="1600">
                        <a:solidFill>
                          <a:schemeClr val="tx1"/>
                        </a:solidFill>
                      </a:endParaRPr>
                    </a:p>
                  </a:txBody>
                  <a:tcPr/>
                </a:tc>
                <a:tc>
                  <a:txBody>
                    <a:bodyPr/>
                    <a:p>
                      <a:pPr>
                        <a:buNone/>
                      </a:pPr>
                      <a:r>
                        <a:rPr lang="en-US" altLang="zh-CN" sz="1600">
                          <a:solidFill>
                            <a:schemeClr val="tx1"/>
                          </a:solidFill>
                        </a:rPr>
                        <a:t>-1.3</a:t>
                      </a:r>
                      <a:endParaRPr lang="en-US" altLang="zh-CN" sz="1600">
                        <a:solidFill>
                          <a:schemeClr val="tx1"/>
                        </a:solidFill>
                      </a:endParaRPr>
                    </a:p>
                  </a:txBody>
                  <a:tcPr/>
                </a:tc>
                <a:tc>
                  <a:txBody>
                    <a:bodyPr/>
                    <a:p>
                      <a:pPr>
                        <a:buNone/>
                      </a:pPr>
                      <a:r>
                        <a:rPr lang="en-US" altLang="zh-CN" sz="1600">
                          <a:solidFill>
                            <a:schemeClr val="tx1"/>
                          </a:solidFill>
                        </a:rPr>
                        <a:t>-6</a:t>
                      </a:r>
                      <a:endParaRPr lang="en-US" altLang="zh-CN" sz="1600">
                        <a:solidFill>
                          <a:schemeClr val="tx1"/>
                        </a:solidFill>
                      </a:endParaRPr>
                    </a:p>
                  </a:txBody>
                  <a:tcPr/>
                </a:tc>
              </a:tr>
              <a:tr h="365760">
                <a:tc>
                  <a:txBody>
                    <a:bodyPr/>
                    <a:p>
                      <a:pPr>
                        <a:buNone/>
                      </a:pPr>
                      <a:r>
                        <a:rPr lang="zh-CN" altLang="en-US" sz="1600" b="1"/>
                        <a:t>电极名称</a:t>
                      </a:r>
                      <a:endParaRPr lang="zh-CN" altLang="en-US" sz="1600" b="1"/>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r h="365760">
                <a:tc>
                  <a:txBody>
                    <a:bodyPr/>
                    <a:p>
                      <a:pPr>
                        <a:buNone/>
                      </a:pPr>
                      <a:r>
                        <a:rPr lang="zh-CN" altLang="en-US" sz="1600" b="1"/>
                        <a:t>管型</a:t>
                      </a:r>
                      <a:endParaRPr lang="zh-CN" altLang="en-US" sz="1600" b="1"/>
                    </a:p>
                  </a:txBody>
                  <a:tcPr/>
                </a:tc>
                <a:tc gridSpan="3">
                  <a:txBody>
                    <a:bodyPr/>
                    <a:p>
                      <a:pPr>
                        <a:buNone/>
                      </a:pPr>
                      <a:endParaRPr lang="zh-CN" altLang="en-US"/>
                    </a:p>
                  </a:txBody>
                  <a:tcPr/>
                </a:tc>
                <a:tc hMerge="1">
                  <a:tcPr/>
                </a:tc>
                <a:tc hMerge="1">
                  <a:tcPr/>
                </a:tc>
                <a:tc gridSpan="3">
                  <a:txBody>
                    <a:bodyPr/>
                    <a:p>
                      <a:pPr>
                        <a:buNone/>
                      </a:pPr>
                      <a:endParaRPr lang="zh-CN" altLang="en-US"/>
                    </a:p>
                  </a:txBody>
                  <a:tcPr/>
                </a:tc>
                <a:tc hMerge="1">
                  <a:tcPr/>
                </a:tc>
                <a:tc hMerge="1">
                  <a:tcPr/>
                </a:tc>
                <a:tc gridSpan="3">
                  <a:txBody>
                    <a:bodyPr/>
                    <a:p>
                      <a:pPr>
                        <a:buNone/>
                      </a:pPr>
                      <a:endParaRPr lang="zh-CN" altLang="en-US"/>
                    </a:p>
                  </a:txBody>
                  <a:tcPr/>
                </a:tc>
                <a:tc hMerge="1">
                  <a:tcPr/>
                </a:tc>
                <a:tc hMerge="1">
                  <a:tcPr/>
                </a:tc>
              </a:tr>
            </a:tbl>
          </a:graphicData>
        </a:graphic>
      </p:graphicFrame>
      <p:pic>
        <p:nvPicPr>
          <p:cNvPr id="2" name="图片 34"/>
          <p:cNvPicPr>
            <a:picLocks noChangeAspect="1"/>
          </p:cNvPicPr>
          <p:nvPr/>
        </p:nvPicPr>
        <p:blipFill>
          <a:blip r:embed="rId1"/>
          <a:stretch>
            <a:fillRect/>
          </a:stretch>
        </p:blipFill>
        <p:spPr>
          <a:xfrm>
            <a:off x="6677660" y="3615373"/>
            <a:ext cx="1663700" cy="1751965"/>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5057" name="Rectangle 2"/>
          <p:cNvSpPr>
            <a:spLocks noGrp="1"/>
          </p:cNvSpPr>
          <p:nvPr>
            <p:ph type="title"/>
          </p:nvPr>
        </p:nvSpPr>
        <p:spPr>
          <a:xfrm>
            <a:off x="42863" y="82550"/>
            <a:ext cx="1203325" cy="657225"/>
          </a:xfrm>
          <a:noFill/>
          <a:ln>
            <a:noFill/>
          </a:ln>
        </p:spPr>
        <p:txBody>
          <a:bodyPr anchor="t"/>
          <a:p>
            <a:pPr eaLnBrk="1" hangingPunct="1"/>
            <a:r>
              <a:rPr lang="en-US" altLang="zh-CN" sz="4000" b="1" dirty="0">
                <a:solidFill>
                  <a:srgbClr val="000099"/>
                </a:solidFill>
              </a:rPr>
              <a:t> </a:t>
            </a:r>
            <a:r>
              <a:rPr lang="zh-CN" altLang="en-US" sz="2800" b="1" dirty="0">
                <a:solidFill>
                  <a:srgbClr val="000099"/>
                </a:solidFill>
              </a:rPr>
              <a:t>作业：</a:t>
            </a:r>
            <a:endParaRPr lang="zh-CN" altLang="en-US" sz="2800" b="1" dirty="0">
              <a:solidFill>
                <a:srgbClr val="000099"/>
              </a:solidFill>
            </a:endParaRPr>
          </a:p>
        </p:txBody>
      </p:sp>
      <p:graphicFrame>
        <p:nvGraphicFramePr>
          <p:cNvPr id="45059" name="对象 1"/>
          <p:cNvGraphicFramePr/>
          <p:nvPr/>
        </p:nvGraphicFramePr>
        <p:xfrm>
          <a:off x="5577840" y="165735"/>
          <a:ext cx="3443288" cy="3944938"/>
        </p:xfrm>
        <a:graphic>
          <a:graphicData uri="http://schemas.openxmlformats.org/presentationml/2006/ole">
            <mc:AlternateContent xmlns:mc="http://schemas.openxmlformats.org/markup-compatibility/2006">
              <mc:Choice xmlns:v="urn:schemas-microsoft-com:vml" Requires="v">
                <p:oleObj spid="_x0000_s3088" name="" r:id="rId1" imgW="4705350" imgH="5238750" progId="Paint.Picture">
                  <p:embed/>
                </p:oleObj>
              </mc:Choice>
              <mc:Fallback>
                <p:oleObj name="" r:id="rId1" imgW="4705350" imgH="5238750" progId="Paint.Picture">
                  <p:embed/>
                  <p:pic>
                    <p:nvPicPr>
                      <p:cNvPr id="0" name="图片 3087"/>
                      <p:cNvPicPr/>
                      <p:nvPr/>
                    </p:nvPicPr>
                    <p:blipFill>
                      <a:blip r:embed="rId2">
                        <a:lum contrast="66000"/>
                      </a:blip>
                      <a:stretch>
                        <a:fillRect/>
                      </a:stretch>
                    </p:blipFill>
                    <p:spPr>
                      <a:xfrm>
                        <a:off x="5577840" y="165735"/>
                        <a:ext cx="3443288" cy="3944938"/>
                      </a:xfrm>
                      <a:prstGeom prst="rect">
                        <a:avLst/>
                      </a:prstGeom>
                      <a:noFill/>
                      <a:ln w="38100">
                        <a:noFill/>
                        <a:miter/>
                      </a:ln>
                    </p:spPr>
                  </p:pic>
                </p:oleObj>
              </mc:Fallback>
            </mc:AlternateContent>
          </a:graphicData>
        </a:graphic>
      </p:graphicFrame>
      <p:sp>
        <p:nvSpPr>
          <p:cNvPr id="45060" name="文本框 3"/>
          <p:cNvSpPr txBox="1"/>
          <p:nvPr/>
        </p:nvSpPr>
        <p:spPr>
          <a:xfrm>
            <a:off x="231140" y="824865"/>
            <a:ext cx="5167313" cy="1630045"/>
          </a:xfrm>
          <a:prstGeom prst="rect">
            <a:avLst/>
          </a:prstGeom>
          <a:noFill/>
          <a:ln w="9525">
            <a:noFill/>
          </a:ln>
        </p:spPr>
        <p:txBody>
          <a:bodyPr wrap="square" anchor="t">
            <a:spAutoFit/>
          </a:bodyPr>
          <a:p>
            <a:pPr lvl="0" indent="0"/>
            <a:r>
              <a:rPr lang="en-US" altLang="zh-CN" sz="2000">
                <a:latin typeface="Times New Roman" panose="02020603050405020304" pitchFamily="18" charset="0"/>
                <a:ea typeface="宋体" panose="02010600030101010101" pitchFamily="2" charset="-122"/>
              </a:rPr>
              <a:t>14.</a:t>
            </a:r>
            <a:r>
              <a:rPr lang="zh-CN" altLang="en-US" sz="2000">
                <a:latin typeface="Times New Roman" panose="02020603050405020304" pitchFamily="18" charset="0"/>
                <a:ea typeface="宋体" panose="02010600030101010101" pitchFamily="2" charset="-122"/>
              </a:rPr>
              <a:t>试画出右图所示四个电路的直流通路和交流通路。说明是否可能起电压放大作用？（提示：判断静态工作点是否在放大区比较中间位置以及判断交流信号是否可以从输入传输到输出） </a:t>
            </a:r>
            <a:endParaRPr lang="en-US" altLang="zh-CN" sz="2000">
              <a:latin typeface="Times New Roman" panose="02020603050405020304" pitchFamily="18" charset="0"/>
              <a:ea typeface="宋体" panose="02010600030101010101" pitchFamily="2" charset="-122"/>
            </a:endParaRPr>
          </a:p>
        </p:txBody>
      </p:sp>
      <p:sp>
        <p:nvSpPr>
          <p:cNvPr id="49154" name="文本框 1"/>
          <p:cNvSpPr txBox="1"/>
          <p:nvPr/>
        </p:nvSpPr>
        <p:spPr>
          <a:xfrm>
            <a:off x="42863" y="4204653"/>
            <a:ext cx="5786437" cy="1630045"/>
          </a:xfrm>
          <a:prstGeom prst="rect">
            <a:avLst/>
          </a:prstGeom>
          <a:noFill/>
          <a:ln w="9525">
            <a:noFill/>
          </a:ln>
        </p:spPr>
        <p:txBody>
          <a:bodyPr wrap="square" anchor="t">
            <a:spAutoFit/>
          </a:bodyPr>
          <a:p>
            <a:r>
              <a:rPr lang="en-US" altLang="zh-CN" sz="2000">
                <a:latin typeface="Times New Roman" panose="02020603050405020304" pitchFamily="18" charset="0"/>
                <a:ea typeface="宋体" panose="02010600030101010101" pitchFamily="2" charset="-122"/>
              </a:rPr>
              <a:t>15.</a:t>
            </a:r>
            <a:r>
              <a:rPr lang="zh-CN" altLang="en-US" sz="2000">
                <a:latin typeface="Times New Roman" panose="02020603050405020304" pitchFamily="18" charset="0"/>
                <a:ea typeface="宋体" panose="02010600030101010101" pitchFamily="2" charset="-122"/>
              </a:rPr>
              <a:t>右图所示的放大电路，已知</a:t>
            </a:r>
            <a:r>
              <a:rPr lang="en-US" altLang="zh-CN" sz="2000">
                <a:latin typeface="Times New Roman" panose="02020603050405020304" pitchFamily="18" charset="0"/>
                <a:ea typeface="宋体" panose="02010600030101010101" pitchFamily="2" charset="-122"/>
              </a:rPr>
              <a:t>U</a:t>
            </a:r>
            <a:r>
              <a:rPr lang="en-US" altLang="zh-CN" sz="2000" baseline="-25000">
                <a:latin typeface="Times New Roman" panose="02020603050405020304" pitchFamily="18" charset="0"/>
                <a:ea typeface="宋体" panose="02010600030101010101" pitchFamily="2" charset="-122"/>
              </a:rPr>
              <a:t>CC</a:t>
            </a:r>
            <a:r>
              <a:rPr lang="en-US" altLang="zh-CN" sz="2000">
                <a:latin typeface="Times New Roman" panose="02020603050405020304" pitchFamily="18" charset="0"/>
                <a:ea typeface="宋体" panose="02010600030101010101" pitchFamily="2" charset="-122"/>
              </a:rPr>
              <a:t>=18V</a:t>
            </a:r>
            <a:r>
              <a:rPr lang="zh-CN" altLang="en-US" sz="2000">
                <a:latin typeface="Times New Roman" panose="02020603050405020304" pitchFamily="18" charset="0"/>
                <a:ea typeface="宋体" panose="02010600030101010101" pitchFamily="2" charset="-122"/>
              </a:rPr>
              <a:t>，晶体管的β</a:t>
            </a:r>
            <a:r>
              <a:rPr lang="en-US" altLang="zh-CN" sz="2000">
                <a:latin typeface="Times New Roman" panose="02020603050405020304" pitchFamily="18" charset="0"/>
                <a:ea typeface="宋体" panose="02010600030101010101" pitchFamily="2" charset="-122"/>
              </a:rPr>
              <a:t>=80</a:t>
            </a:r>
            <a:r>
              <a:rPr lang="zh-CN" altLang="en-US" sz="2000">
                <a:latin typeface="Times New Roman" panose="02020603050405020304" pitchFamily="18" charset="0"/>
                <a:ea typeface="宋体" panose="02010600030101010101" pitchFamily="2" charset="-122"/>
              </a:rPr>
              <a:t>，导通时</a:t>
            </a:r>
            <a:r>
              <a:rPr lang="en-US" altLang="zh-CN" sz="2000">
                <a:latin typeface="Times New Roman" panose="02020603050405020304" pitchFamily="18" charset="0"/>
                <a:ea typeface="宋体" panose="02010600030101010101" pitchFamily="2" charset="-122"/>
              </a:rPr>
              <a:t>U</a:t>
            </a:r>
            <a:r>
              <a:rPr lang="en-US" altLang="zh-CN" sz="2000" baseline="-25000">
                <a:latin typeface="Times New Roman" panose="02020603050405020304" pitchFamily="18" charset="0"/>
                <a:ea typeface="宋体" panose="02010600030101010101" pitchFamily="2" charset="-122"/>
              </a:rPr>
              <a:t>BE</a:t>
            </a:r>
            <a:r>
              <a:rPr lang="en-US" altLang="zh-CN" sz="2000">
                <a:latin typeface="Times New Roman" panose="02020603050405020304" pitchFamily="18" charset="0"/>
                <a:ea typeface="宋体" panose="02010600030101010101" pitchFamily="2" charset="-122"/>
              </a:rPr>
              <a:t>=0.7V</a:t>
            </a:r>
            <a:r>
              <a:rPr lang="zh-CN" altLang="en-US" sz="2000">
                <a:latin typeface="Times New Roman" panose="02020603050405020304" pitchFamily="18" charset="0"/>
                <a:ea typeface="宋体" panose="02010600030101010101" pitchFamily="2" charset="-122"/>
              </a:rPr>
              <a:t>。试问（</a:t>
            </a:r>
            <a:r>
              <a:rPr lang="en-US" altLang="zh-CN" sz="2000">
                <a:latin typeface="Times New Roman" panose="02020603050405020304" pitchFamily="18" charset="0"/>
                <a:ea typeface="宋体" panose="02010600030101010101" pitchFamily="2" charset="-122"/>
              </a:rPr>
              <a:t>1</a:t>
            </a:r>
            <a:r>
              <a:rPr lang="zh-CN" altLang="en-US" sz="2000">
                <a:latin typeface="Times New Roman" panose="02020603050405020304" pitchFamily="18" charset="0"/>
                <a:ea typeface="宋体" panose="02010600030101010101" pitchFamily="2" charset="-122"/>
              </a:rPr>
              <a:t>）欲使静态时</a:t>
            </a:r>
            <a:r>
              <a:rPr lang="en-US" altLang="zh-CN" sz="2000">
                <a:latin typeface="Times New Roman" panose="02020603050405020304" pitchFamily="18" charset="0"/>
                <a:ea typeface="宋体" panose="02010600030101010101" pitchFamily="2" charset="-122"/>
              </a:rPr>
              <a:t>I</a:t>
            </a:r>
            <a:r>
              <a:rPr lang="en-US" altLang="zh-CN" sz="2000" baseline="-25000">
                <a:latin typeface="Times New Roman" panose="02020603050405020304" pitchFamily="18" charset="0"/>
                <a:ea typeface="宋体" panose="02010600030101010101" pitchFamily="2" charset="-122"/>
              </a:rPr>
              <a:t>C</a:t>
            </a:r>
            <a:r>
              <a:rPr lang="en-US" altLang="zh-CN" sz="2000">
                <a:latin typeface="Times New Roman" panose="02020603050405020304" pitchFamily="18" charset="0"/>
                <a:ea typeface="宋体" panose="02010600030101010101" pitchFamily="2" charset="-122"/>
              </a:rPr>
              <a:t>=1.5mA</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U</a:t>
            </a:r>
            <a:r>
              <a:rPr lang="en-US" altLang="zh-CN" sz="2000" baseline="-25000">
                <a:latin typeface="Times New Roman" panose="02020603050405020304" pitchFamily="18" charset="0"/>
                <a:ea typeface="宋体" panose="02010600030101010101" pitchFamily="2" charset="-122"/>
              </a:rPr>
              <a:t>CE</a:t>
            </a:r>
            <a:r>
              <a:rPr lang="en-US" altLang="zh-CN" sz="2000">
                <a:latin typeface="Times New Roman" panose="02020603050405020304" pitchFamily="18" charset="0"/>
                <a:ea typeface="宋体" panose="02010600030101010101" pitchFamily="2" charset="-122"/>
              </a:rPr>
              <a:t>=6V</a:t>
            </a:r>
            <a:r>
              <a:rPr lang="zh-CN" altLang="en-US" sz="2000">
                <a:latin typeface="Times New Roman" panose="02020603050405020304" pitchFamily="18" charset="0"/>
                <a:ea typeface="宋体" panose="02010600030101010101" pitchFamily="2" charset="-122"/>
              </a:rPr>
              <a:t>，则</a:t>
            </a:r>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B</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C</a:t>
            </a:r>
            <a:r>
              <a:rPr lang="zh-CN" altLang="en-US" sz="2000">
                <a:latin typeface="Times New Roman" panose="02020603050405020304" pitchFamily="18" charset="0"/>
                <a:ea typeface="宋体" panose="02010600030101010101" pitchFamily="2" charset="-122"/>
              </a:rPr>
              <a:t>的阻值为多少？（</a:t>
            </a:r>
            <a:r>
              <a:rPr lang="en-US" altLang="zh-CN" sz="2000">
                <a:latin typeface="Times New Roman" panose="02020603050405020304" pitchFamily="18" charset="0"/>
                <a:ea typeface="宋体" panose="02010600030101010101" pitchFamily="2" charset="-122"/>
              </a:rPr>
              <a:t>2</a:t>
            </a:r>
            <a:r>
              <a:rPr lang="zh-CN" altLang="en-US" sz="2000">
                <a:latin typeface="Times New Roman" panose="02020603050405020304" pitchFamily="18" charset="0"/>
                <a:ea typeface="宋体" panose="02010600030101010101" pitchFamily="2" charset="-122"/>
              </a:rPr>
              <a:t>）若取</a:t>
            </a:r>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B</a:t>
            </a:r>
            <a:r>
              <a:rPr lang="en-US" altLang="zh-CN" sz="2000">
                <a:latin typeface="Times New Roman" panose="02020603050405020304" pitchFamily="18" charset="0"/>
                <a:ea typeface="宋体" panose="02010600030101010101" pitchFamily="2" charset="-122"/>
              </a:rPr>
              <a:t>=330kΩ</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C</a:t>
            </a:r>
            <a:r>
              <a:rPr lang="en-US" altLang="zh-CN" sz="2000">
                <a:latin typeface="Times New Roman" panose="02020603050405020304" pitchFamily="18" charset="0"/>
                <a:ea typeface="宋体" panose="02010600030101010101" pitchFamily="2" charset="-122"/>
              </a:rPr>
              <a:t>=10kΩ</a:t>
            </a:r>
            <a:r>
              <a:rPr lang="zh-CN" altLang="en-US" sz="2000">
                <a:latin typeface="Times New Roman" panose="02020603050405020304" pitchFamily="18" charset="0"/>
                <a:ea typeface="宋体" panose="02010600030101010101" pitchFamily="2" charset="-122"/>
              </a:rPr>
              <a:t>，则静态</a:t>
            </a:r>
            <a:r>
              <a:rPr lang="en-US" altLang="zh-CN" sz="2000">
                <a:latin typeface="Times New Roman" panose="02020603050405020304" pitchFamily="18" charset="0"/>
                <a:ea typeface="宋体" panose="02010600030101010101" pitchFamily="2" charset="-122"/>
              </a:rPr>
              <a:t>I</a:t>
            </a:r>
            <a:r>
              <a:rPr lang="en-US" altLang="zh-CN" sz="2000" baseline="-25000">
                <a:latin typeface="Times New Roman" panose="02020603050405020304" pitchFamily="18" charset="0"/>
                <a:ea typeface="宋体" panose="02010600030101010101" pitchFamily="2" charset="-122"/>
              </a:rPr>
              <a:t>C</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U</a:t>
            </a:r>
            <a:r>
              <a:rPr lang="en-US" altLang="zh-CN" sz="2000" baseline="-25000">
                <a:latin typeface="Times New Roman" panose="02020603050405020304" pitchFamily="18" charset="0"/>
                <a:ea typeface="宋体" panose="02010600030101010101" pitchFamily="2" charset="-122"/>
              </a:rPr>
              <a:t>CE</a:t>
            </a:r>
            <a:r>
              <a:rPr lang="zh-CN" altLang="en-US" sz="2000">
                <a:latin typeface="Times New Roman" panose="02020603050405020304" pitchFamily="18" charset="0"/>
                <a:ea typeface="宋体" panose="02010600030101010101" pitchFamily="2" charset="-122"/>
              </a:rPr>
              <a:t>又为多少？</a:t>
            </a:r>
            <a:endParaRPr lang="zh-CN" altLang="en-US" sz="2000">
              <a:latin typeface="Times New Roman" panose="02020603050405020304" pitchFamily="18" charset="0"/>
              <a:ea typeface="宋体" panose="02010600030101010101" pitchFamily="2" charset="-122"/>
            </a:endParaRPr>
          </a:p>
        </p:txBody>
      </p:sp>
      <p:graphicFrame>
        <p:nvGraphicFramePr>
          <p:cNvPr id="49156" name="对象 5"/>
          <p:cNvGraphicFramePr/>
          <p:nvPr/>
        </p:nvGraphicFramePr>
        <p:xfrm>
          <a:off x="6055995" y="4204970"/>
          <a:ext cx="2487613" cy="2460625"/>
        </p:xfrm>
        <a:graphic>
          <a:graphicData uri="http://schemas.openxmlformats.org/presentationml/2006/ole">
            <mc:AlternateContent xmlns:mc="http://schemas.openxmlformats.org/markup-compatibility/2006">
              <mc:Choice xmlns:v="urn:schemas-microsoft-com:vml" Requires="v">
                <p:oleObj spid="_x0000_s3268" name="" r:id="rId3" imgW="2486025" imgH="2457450" progId="Paint.Picture">
                  <p:embed/>
                </p:oleObj>
              </mc:Choice>
              <mc:Fallback>
                <p:oleObj name="" r:id="rId3" imgW="2486025" imgH="2457450" progId="Paint.Picture">
                  <p:embed/>
                  <p:pic>
                    <p:nvPicPr>
                      <p:cNvPr id="0" name="图片 3267"/>
                      <p:cNvPicPr/>
                      <p:nvPr/>
                    </p:nvPicPr>
                    <p:blipFill>
                      <a:blip r:embed="rId4">
                        <a:lum contrast="78000"/>
                      </a:blip>
                      <a:stretch>
                        <a:fillRect/>
                      </a:stretch>
                    </p:blipFill>
                    <p:spPr>
                      <a:xfrm>
                        <a:off x="6055995" y="4204970"/>
                        <a:ext cx="2487613" cy="2460625"/>
                      </a:xfrm>
                      <a:prstGeom prst="rect">
                        <a:avLst/>
                      </a:prstGeom>
                      <a:noFill/>
                      <a:ln w="38100">
                        <a:noFill/>
                        <a:miter/>
                      </a:ln>
                    </p:spPr>
                  </p:pic>
                </p:oleObj>
              </mc:Fallback>
            </mc:AlternateContent>
          </a:graphicData>
        </a:graphic>
      </p:graphicFrame>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4940</Words>
  <Application>WPS 演示</Application>
  <PresentationFormat>全屏显示(4:3)</PresentationFormat>
  <Paragraphs>1754</Paragraphs>
  <Slides>40</Slides>
  <Notes>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80</vt:i4>
      </vt:variant>
      <vt:variant>
        <vt:lpstr>幻灯片标题</vt:lpstr>
      </vt:variant>
      <vt:variant>
        <vt:i4>40</vt:i4>
      </vt:variant>
    </vt:vector>
  </HeadingPairs>
  <TitlesOfParts>
    <vt:vector size="137" baseType="lpstr">
      <vt:lpstr>Arial</vt:lpstr>
      <vt:lpstr>宋体</vt:lpstr>
      <vt:lpstr>Wingdings</vt:lpstr>
      <vt:lpstr>方正综艺简体</vt:lpstr>
      <vt:lpstr>微软雅黑</vt:lpstr>
      <vt:lpstr>Times New Roman</vt:lpstr>
      <vt:lpstr>隶书</vt:lpstr>
      <vt:lpstr>黑体</vt:lpstr>
      <vt:lpstr>幼圆</vt:lpstr>
      <vt:lpstr>方正琥珀繁体</vt:lpstr>
      <vt:lpstr>Arial Unicode MS</vt:lpstr>
      <vt:lpstr>楷体</vt:lpstr>
      <vt:lpstr>楷体_GB2312</vt:lpstr>
      <vt:lpstr>新宋体</vt:lpstr>
      <vt:lpstr>Symbol</vt:lpstr>
      <vt:lpstr>华文新魏</vt:lpstr>
      <vt:lpstr>默认设计模板</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CorelDraw.Graphic.8</vt:lpstr>
      <vt:lpstr>MSPhotoEd.3</vt:lpstr>
      <vt:lpstr>MSPhotoEd.3</vt:lpstr>
      <vt:lpstr>CorelDraw.Graphic.8</vt:lpstr>
      <vt:lpstr>MSPhotoEd.3</vt:lpstr>
      <vt:lpstr>MSPhotoEd.3</vt:lpstr>
      <vt:lpstr>Equation.3</vt:lpstr>
      <vt:lpstr>Equation.3</vt:lpstr>
      <vt:lpstr>Equation.3</vt:lpstr>
      <vt:lpstr>Equation.KSEE3</vt:lpstr>
      <vt:lpstr>Equation.3</vt:lpstr>
      <vt:lpstr>Equation.KSEE3</vt:lpstr>
      <vt:lpstr>Equation.KSEE3</vt:lpstr>
      <vt:lpstr>Equation.3</vt:lpstr>
      <vt:lpstr>CorelDraw.Graphic.8</vt:lpstr>
      <vt:lpstr>Equation.3</vt:lpstr>
      <vt:lpstr>Equation.3</vt:lpstr>
      <vt:lpstr>Equation.KSEE3</vt:lpstr>
      <vt:lpstr>Equation.KSEE3</vt:lpstr>
      <vt:lpstr>Equation.KSEE3</vt:lpstr>
      <vt:lpstr>Equation.3</vt:lpstr>
      <vt:lpstr>Equation.KSEE3</vt:lpstr>
      <vt:lpstr>Equation.KSEE3</vt:lpstr>
      <vt:lpstr>Equation.KSEE3</vt:lpstr>
      <vt:lpstr>Paint.Picture</vt:lpstr>
      <vt:lpstr>CorelDraw.Graphic.8</vt:lpstr>
      <vt:lpstr>Paint.Picture</vt:lpstr>
      <vt:lpstr>CorelDraw.Graphic.8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温度对晶体管特性的影响</vt:lpstr>
      <vt:lpstr>对晶体管输出特性的影响</vt:lpstr>
      <vt:lpstr> 光电三极管</vt:lpstr>
      <vt:lpstr> 光电三极管的输出特性曲线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（3）共射放大电路的电压放大作用</vt:lpstr>
      <vt:lpstr>结论：</vt:lpstr>
      <vt:lpstr>PowerPoint 演示文稿</vt:lpstr>
      <vt:lpstr>结论：</vt:lpstr>
      <vt:lpstr>结论：</vt:lpstr>
      <vt:lpstr>1.  实现放大的条件 </vt:lpstr>
      <vt:lpstr>2. 直流通路和交流通路 </vt:lpstr>
      <vt:lpstr>PowerPoint 演示文稿</vt:lpstr>
      <vt:lpstr>PowerPoint 演示文稿</vt:lpstr>
      <vt:lpstr>1.放大电路的静态分析</vt:lpstr>
      <vt:lpstr>（1）用估算法确定静态值</vt:lpstr>
      <vt:lpstr>PowerPoint 演示文稿</vt:lpstr>
      <vt:lpstr>有射极电阻时</vt:lpstr>
      <vt:lpstr>PowerPoint 演示文稿</vt:lpstr>
      <vt:lpstr> （2）用图解法确定静态值</vt:lpstr>
      <vt:lpstr>PowerPoint 演示文稿</vt:lpstr>
      <vt:lpstr>作业：</vt:lpstr>
      <vt:lpstr> 作业：</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cui</dc:creator>
  <cp:lastModifiedBy>Administrator</cp:lastModifiedBy>
  <cp:revision>48</cp:revision>
  <dcterms:created xsi:type="dcterms:W3CDTF">2005-04-12T12:57:00Z</dcterms:created>
  <dcterms:modified xsi:type="dcterms:W3CDTF">2019-10-10T13:01:36Z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