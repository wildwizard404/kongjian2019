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434" r:id="rId13"/>
    <p:sldId id="435" r:id="rId14"/>
    <p:sldId id="436" r:id="rId15"/>
    <p:sldId id="437" r:id="rId16"/>
    <p:sldId id="474" r:id="rId17"/>
    <p:sldId id="475" r:id="rId18"/>
    <p:sldId id="476" r:id="rId19"/>
    <p:sldId id="477" r:id="rId20"/>
    <p:sldId id="478" r:id="rId21"/>
    <p:sldId id="479" r:id="rId22"/>
    <p:sldId id="480" r:id="rId23"/>
    <p:sldId id="481" r:id="rId24"/>
    <p:sldId id="482" r:id="rId25"/>
    <p:sldId id="483" r:id="rId26"/>
    <p:sldId id="484" r:id="rId27"/>
    <p:sldId id="485" r:id="rId28"/>
    <p:sldId id="486" r:id="rId29"/>
    <p:sldId id="487" r:id="rId30"/>
    <p:sldId id="488" r:id="rId31"/>
    <p:sldId id="489" r:id="rId32"/>
    <p:sldId id="490" r:id="rId34"/>
    <p:sldId id="491" r:id="rId35"/>
    <p:sldId id="492" r:id="rId36"/>
    <p:sldId id="493" r:id="rId37"/>
    <p:sldId id="494" r:id="rId38"/>
    <p:sldId id="495" r:id="rId3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6FF66"/>
    <a:srgbClr val="FFCC99"/>
    <a:srgbClr val="FF0000"/>
    <a:srgbClr val="000099"/>
    <a:srgbClr val="CC0000"/>
    <a:srgbClr val="006600"/>
    <a:srgbClr val="003E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80"/>
    <p:restoredTop sz="92446"/>
  </p:normalViewPr>
  <p:slideViewPr>
    <p:cSldViewPr showGuides="1">
      <p:cViewPr>
        <p:scale>
          <a:sx n="50" d="100"/>
          <a:sy n="50" d="100"/>
        </p:scale>
        <p:origin x="-1272" y="-1446"/>
      </p:cViewPr>
      <p:guideLst>
        <p:guide orient="horz" pos="4176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0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5" Type="http://schemas.openxmlformats.org/officeDocument/2006/relationships/image" Target="../media/image18.wmf"/><Relationship Id="rId14" Type="http://schemas.openxmlformats.org/officeDocument/2006/relationships/image" Target="../media/image17.wmf"/><Relationship Id="rId13" Type="http://schemas.openxmlformats.org/officeDocument/2006/relationships/image" Target="../media/image16.wmf"/><Relationship Id="rId12" Type="http://schemas.openxmlformats.org/officeDocument/2006/relationships/image" Target="../media/image15.wmf"/><Relationship Id="rId11" Type="http://schemas.openxmlformats.org/officeDocument/2006/relationships/image" Target="../media/image14.wmf"/><Relationship Id="rId10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4" Type="http://schemas.openxmlformats.org/officeDocument/2006/relationships/image" Target="../media/image25.wmf"/><Relationship Id="rId13" Type="http://schemas.openxmlformats.org/officeDocument/2006/relationships/image" Target="../media/image24.wmf"/><Relationship Id="rId12" Type="http://schemas.openxmlformats.org/officeDocument/2006/relationships/image" Target="../media/image23.wmf"/><Relationship Id="rId11" Type="http://schemas.openxmlformats.org/officeDocument/2006/relationships/image" Target="../media/image22.wmf"/><Relationship Id="rId10" Type="http://schemas.openxmlformats.org/officeDocument/2006/relationships/image" Target="../media/image21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9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5" Type="http://schemas.openxmlformats.org/officeDocument/2006/relationships/image" Target="../media/image32.wmf"/><Relationship Id="rId14" Type="http://schemas.openxmlformats.org/officeDocument/2006/relationships/image" Target="../media/image31.wmf"/><Relationship Id="rId13" Type="http://schemas.openxmlformats.org/officeDocument/2006/relationships/image" Target="../media/image30.wmf"/><Relationship Id="rId12" Type="http://schemas.openxmlformats.org/officeDocument/2006/relationships/image" Target="../media/image18.wmf"/><Relationship Id="rId11" Type="http://schemas.openxmlformats.org/officeDocument/2006/relationships/image" Target="../media/image17.wmf"/><Relationship Id="rId10" Type="http://schemas.openxmlformats.org/officeDocument/2006/relationships/image" Target="../media/image16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3.wmf"/><Relationship Id="rId1" Type="http://schemas.openxmlformats.org/officeDocument/2006/relationships/image" Target="../media/image54.jpe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54.jpeg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页眉占位符 3276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strike="noStrike" noProof="1" dirty="0"/>
          </a:p>
        </p:txBody>
      </p:sp>
      <p:sp>
        <p:nvSpPr>
          <p:cNvPr id="32771" name="日期占位符 3277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strike="noStrike" noProof="1" dirty="0"/>
          </a:p>
        </p:txBody>
      </p:sp>
      <p:sp>
        <p:nvSpPr>
          <p:cNvPr id="2052" name="幻灯片图像占位符 32771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32772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2774" name="页脚占位符 3277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altLang="en-US" sz="1200" strike="noStrike" noProof="1" dirty="0"/>
          </a:p>
        </p:txBody>
      </p:sp>
      <p:sp>
        <p:nvSpPr>
          <p:cNvPr id="32775" name="灯片编号占位符 3277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3794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hyperlink" Target="&#30005;&#23376;&#25216;&#26415;.ppt" TargetMode="Externa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动作按钮: 自定义 3073">
            <a:hlinkClick r:id="" action="ppaction://hlinkshowjump?jump=nextslide"/>
          </p:cNvPr>
          <p:cNvSpPr/>
          <p:nvPr/>
        </p:nvSpPr>
        <p:spPr>
          <a:xfrm>
            <a:off x="8448675" y="6488113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下一页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动作按钮: 自定义 3074"/>
          <p:cNvSpPr/>
          <p:nvPr/>
        </p:nvSpPr>
        <p:spPr>
          <a:xfrm>
            <a:off x="632460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总目录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动作按钮: 自定义 3075">
            <a:hlinkClick r:id="" action="ppaction://hlinkshowjump?jump=firstslide"/>
          </p:cNvPr>
          <p:cNvSpPr/>
          <p:nvPr/>
        </p:nvSpPr>
        <p:spPr>
          <a:xfrm>
            <a:off x="6854825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章目录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动作按钮: 自定义 3076">
            <a:hlinkClick r:id="" action="ppaction://hlinkshowjump?jump=lastslideviewed"/>
          </p:cNvPr>
          <p:cNvSpPr/>
          <p:nvPr/>
        </p:nvSpPr>
        <p:spPr>
          <a:xfrm>
            <a:off x="7383463" y="6489700"/>
            <a:ext cx="500062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动作按钮: 自定义 3077">
            <a:hlinkClick r:id="rId12" action="ppaction://hlinkshowjump?jump=previousslide"/>
          </p:cNvPr>
          <p:cNvSpPr/>
          <p:nvPr/>
        </p:nvSpPr>
        <p:spPr>
          <a:xfrm>
            <a:off x="791845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上一页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1" name="矩形 3078">
            <a:hlinkClick r:id="" action="ppaction://hlinkpres?slideindex=1&amp;slidetitle="/>
          </p:cNvPr>
          <p:cNvSpPr/>
          <p:nvPr/>
        </p:nvSpPr>
        <p:spPr>
          <a:xfrm>
            <a:off x="6324600" y="6477000"/>
            <a:ext cx="457200" cy="3063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3" Type="http://schemas.openxmlformats.org/officeDocument/2006/relationships/vmlDrawing" Target="../drawings/vmlDrawing2.vml"/><Relationship Id="rId32" Type="http://schemas.openxmlformats.org/officeDocument/2006/relationships/slideLayout" Target="../slideLayouts/slideLayout7.xml"/><Relationship Id="rId31" Type="http://schemas.openxmlformats.org/officeDocument/2006/relationships/audio" Target="../media/audio1.wav"/><Relationship Id="rId30" Type="http://schemas.openxmlformats.org/officeDocument/2006/relationships/image" Target="../media/image18.wmf"/><Relationship Id="rId3" Type="http://schemas.openxmlformats.org/officeDocument/2006/relationships/oleObject" Target="../embeddings/oleObject5.bin"/><Relationship Id="rId29" Type="http://schemas.openxmlformats.org/officeDocument/2006/relationships/oleObject" Target="../embeddings/oleObject18.bin"/><Relationship Id="rId28" Type="http://schemas.openxmlformats.org/officeDocument/2006/relationships/image" Target="../media/image17.wmf"/><Relationship Id="rId27" Type="http://schemas.openxmlformats.org/officeDocument/2006/relationships/oleObject" Target="../embeddings/oleObject17.bin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16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13.wmf"/><Relationship Id="rId2" Type="http://schemas.openxmlformats.org/officeDocument/2006/relationships/image" Target="../media/image4.wmf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2.wmf"/><Relationship Id="rId31" Type="http://schemas.openxmlformats.org/officeDocument/2006/relationships/vmlDrawing" Target="../drawings/vmlDrawing3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20.bin"/><Relationship Id="rId29" Type="http://schemas.openxmlformats.org/officeDocument/2006/relationships/audio" Target="../media/audio1.wav"/><Relationship Id="rId28" Type="http://schemas.openxmlformats.org/officeDocument/2006/relationships/image" Target="../media/image25.wmf"/><Relationship Id="rId27" Type="http://schemas.openxmlformats.org/officeDocument/2006/relationships/oleObject" Target="../embeddings/oleObject32.bin"/><Relationship Id="rId26" Type="http://schemas.openxmlformats.org/officeDocument/2006/relationships/image" Target="../media/image24.wmf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23.w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22.w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21.w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0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27.wmf"/><Relationship Id="rId33" Type="http://schemas.openxmlformats.org/officeDocument/2006/relationships/vmlDrawing" Target="../drawings/vmlDrawing4.vml"/><Relationship Id="rId32" Type="http://schemas.openxmlformats.org/officeDocument/2006/relationships/slideLayout" Target="../slideLayouts/slideLayout7.xml"/><Relationship Id="rId31" Type="http://schemas.openxmlformats.org/officeDocument/2006/relationships/audio" Target="../media/audio1.wav"/><Relationship Id="rId30" Type="http://schemas.openxmlformats.org/officeDocument/2006/relationships/image" Target="../media/image32.wmf"/><Relationship Id="rId3" Type="http://schemas.openxmlformats.org/officeDocument/2006/relationships/oleObject" Target="../embeddings/oleObject34.bin"/><Relationship Id="rId29" Type="http://schemas.openxmlformats.org/officeDocument/2006/relationships/oleObject" Target="../embeddings/oleObject47.bin"/><Relationship Id="rId28" Type="http://schemas.openxmlformats.org/officeDocument/2006/relationships/image" Target="../media/image31.wmf"/><Relationship Id="rId27" Type="http://schemas.openxmlformats.org/officeDocument/2006/relationships/oleObject" Target="../embeddings/oleObject46.bin"/><Relationship Id="rId26" Type="http://schemas.openxmlformats.org/officeDocument/2006/relationships/image" Target="../media/image30.wmf"/><Relationship Id="rId25" Type="http://schemas.openxmlformats.org/officeDocument/2006/relationships/oleObject" Target="../embeddings/oleObject45.bin"/><Relationship Id="rId24" Type="http://schemas.openxmlformats.org/officeDocument/2006/relationships/image" Target="../media/image18.wmf"/><Relationship Id="rId23" Type="http://schemas.openxmlformats.org/officeDocument/2006/relationships/oleObject" Target="../embeddings/oleObject44.bin"/><Relationship Id="rId22" Type="http://schemas.openxmlformats.org/officeDocument/2006/relationships/image" Target="../media/image17.wmf"/><Relationship Id="rId21" Type="http://schemas.openxmlformats.org/officeDocument/2006/relationships/oleObject" Target="../embeddings/oleObject43.bin"/><Relationship Id="rId20" Type="http://schemas.openxmlformats.org/officeDocument/2006/relationships/image" Target="../media/image16.wmf"/><Relationship Id="rId2" Type="http://schemas.openxmlformats.org/officeDocument/2006/relationships/image" Target="../media/image26.wmf"/><Relationship Id="rId19" Type="http://schemas.openxmlformats.org/officeDocument/2006/relationships/oleObject" Target="../embeddings/oleObject42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41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40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39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19.wmf"/><Relationship Id="rId1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6.png"/><Relationship Id="rId6" Type="http://schemas.openxmlformats.org/officeDocument/2006/relationships/image" Target="../media/image35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48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55.bin"/><Relationship Id="rId28" Type="http://schemas.openxmlformats.org/officeDocument/2006/relationships/vmlDrawing" Target="../drawings/vmlDrawing7.vml"/><Relationship Id="rId27" Type="http://schemas.openxmlformats.org/officeDocument/2006/relationships/slideLayout" Target="../slideLayouts/slideLayout6.xml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66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65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64.bin"/><Relationship Id="rId20" Type="http://schemas.openxmlformats.org/officeDocument/2006/relationships/image" Target="../media/image14.wmf"/><Relationship Id="rId2" Type="http://schemas.openxmlformats.org/officeDocument/2006/relationships/image" Target="../media/image40.wmf"/><Relationship Id="rId19" Type="http://schemas.openxmlformats.org/officeDocument/2006/relationships/oleObject" Target="../embeddings/oleObject63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62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oleObject" Target="../embeddings/oleObject67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oleObject" Target="../embeddings/oleObject68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oleObject" Target="../embeddings/oleObject69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70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wmf"/><Relationship Id="rId1" Type="http://schemas.openxmlformats.org/officeDocument/2006/relationships/oleObject" Target="../embeddings/oleObject7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2.wmf"/><Relationship Id="rId1" Type="http://schemas.openxmlformats.org/officeDocument/2006/relationships/oleObject" Target="../embeddings/oleObject7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wmf"/><Relationship Id="rId6" Type="http://schemas.openxmlformats.org/officeDocument/2006/relationships/oleObject" Target="../embeddings/oleObject75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74.bin"/><Relationship Id="rId3" Type="http://schemas.openxmlformats.org/officeDocument/2006/relationships/image" Target="../media/image54.jpeg"/><Relationship Id="rId2" Type="http://schemas.openxmlformats.org/officeDocument/2006/relationships/image" Target="../media/image53.wmf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oleObject" Target="../embeddings/oleObject73.bin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2.png"/><Relationship Id="rId3" Type="http://schemas.openxmlformats.org/officeDocument/2006/relationships/image" Target="../media/image54.jpeg"/><Relationship Id="rId2" Type="http://schemas.openxmlformats.org/officeDocument/2006/relationships/image" Target="../media/image61.wmf"/><Relationship Id="rId1" Type="http://schemas.openxmlformats.org/officeDocument/2006/relationships/oleObject" Target="../embeddings/oleObject76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oleObject" Target="../embeddings/oleObject79.bin"/><Relationship Id="rId4" Type="http://schemas.openxmlformats.org/officeDocument/2006/relationships/image" Target="../media/image64.png"/><Relationship Id="rId3" Type="http://schemas.openxmlformats.org/officeDocument/2006/relationships/oleObject" Target="../embeddings/oleObject78.bin"/><Relationship Id="rId2" Type="http://schemas.openxmlformats.org/officeDocument/2006/relationships/image" Target="../media/image63.png"/><Relationship Id="rId1" Type="http://schemas.openxmlformats.org/officeDocument/2006/relationships/oleObject" Target="../embeddings/oleObject77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1" Type="http://schemas.openxmlformats.org/officeDocument/2006/relationships/oleObject" Target="../embeddings/oleObject80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oleObject" Target="../embeddings/oleObject81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9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82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wmf"/><Relationship Id="rId1" Type="http://schemas.openxmlformats.org/officeDocument/2006/relationships/oleObject" Target="../embeddings/oleObject8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111617"/>
          <p:cNvSpPr>
            <a:spLocks noGrp="1"/>
          </p:cNvSpPr>
          <p:nvPr>
            <p:ph type="title"/>
          </p:nvPr>
        </p:nvSpPr>
        <p:spPr>
          <a:xfrm>
            <a:off x="533400" y="806450"/>
            <a:ext cx="4714875" cy="609600"/>
          </a:xfrm>
          <a:noFill/>
          <a:ln>
            <a:noFill/>
          </a:ln>
        </p:spPr>
        <p:txBody>
          <a:bodyPr anchor="ctr"/>
          <a:p>
            <a:pPr algn="l"/>
            <a:r>
              <a:rPr lang="zh-CN" altLang="en-US" sz="2800" b="1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</a:rPr>
              <a:t>一、</a:t>
            </a:r>
            <a:r>
              <a:rPr lang="en-US" altLang="zh-CN" sz="2800" b="1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</a:rPr>
              <a:t>共集电极放大电路</a:t>
            </a:r>
            <a:endParaRPr lang="zh-CN" altLang="en-US" sz="2800" b="1">
              <a:solidFill>
                <a:srgbClr val="CC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664" name="文本框 111663"/>
          <p:cNvSpPr txBox="1"/>
          <p:nvPr/>
        </p:nvSpPr>
        <p:spPr>
          <a:xfrm>
            <a:off x="762000" y="4746625"/>
            <a:ext cx="7848600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因对交流信号而言，集电极是输入与输出回路的公共端，所以是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共集电极放大电路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800" b="1" noProof="1" dirty="0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因从发射极输出，所以称射极输出器。</a:t>
            </a:r>
            <a:endParaRPr lang="zh-CN" altLang="en-US" sz="2800" b="1" noProof="1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11665" name="组合 111664"/>
          <p:cNvGrpSpPr/>
          <p:nvPr/>
        </p:nvGrpSpPr>
        <p:grpSpPr>
          <a:xfrm>
            <a:off x="1219200" y="1230313"/>
            <a:ext cx="5429250" cy="3417887"/>
            <a:chOff x="768" y="624"/>
            <a:chExt cx="3420" cy="2153"/>
          </a:xfrm>
        </p:grpSpPr>
        <p:sp>
          <p:nvSpPr>
            <p:cNvPr id="3076" name="文本框 111665"/>
            <p:cNvSpPr txBox="1"/>
            <p:nvPr/>
          </p:nvSpPr>
          <p:spPr>
            <a:xfrm>
              <a:off x="1728" y="969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77" name="直接连接符 111666"/>
            <p:cNvSpPr/>
            <p:nvPr/>
          </p:nvSpPr>
          <p:spPr>
            <a:xfrm>
              <a:off x="2108" y="1344"/>
              <a:ext cx="0" cy="2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8" name="直接连接符 111667"/>
            <p:cNvSpPr/>
            <p:nvPr/>
          </p:nvSpPr>
          <p:spPr>
            <a:xfrm flipH="1" flipV="1">
              <a:off x="2112" y="800"/>
              <a:ext cx="0" cy="3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9" name="矩形 111668"/>
            <p:cNvSpPr/>
            <p:nvPr/>
          </p:nvSpPr>
          <p:spPr>
            <a:xfrm>
              <a:off x="2064" y="1092"/>
              <a:ext cx="96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" name="直接连接符 111669"/>
            <p:cNvSpPr/>
            <p:nvPr/>
          </p:nvSpPr>
          <p:spPr>
            <a:xfrm>
              <a:off x="2524" y="1440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1" name="直接连接符 111670"/>
            <p:cNvSpPr/>
            <p:nvPr/>
          </p:nvSpPr>
          <p:spPr>
            <a:xfrm flipV="1">
              <a:off x="2524" y="1455"/>
              <a:ext cx="141" cy="1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2" name="直接连接符 111671"/>
            <p:cNvSpPr/>
            <p:nvPr/>
          </p:nvSpPr>
          <p:spPr>
            <a:xfrm>
              <a:off x="2659" y="807"/>
              <a:ext cx="0" cy="6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3" name="直接连接符 111672"/>
            <p:cNvSpPr/>
            <p:nvPr/>
          </p:nvSpPr>
          <p:spPr>
            <a:xfrm>
              <a:off x="2645" y="176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4" name="直接连接符 111673"/>
            <p:cNvSpPr/>
            <p:nvPr/>
          </p:nvSpPr>
          <p:spPr>
            <a:xfrm flipH="1">
              <a:off x="2645" y="2427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5" name="直接连接符 111674"/>
            <p:cNvSpPr/>
            <p:nvPr/>
          </p:nvSpPr>
          <p:spPr>
            <a:xfrm flipV="1">
              <a:off x="1296" y="2624"/>
              <a:ext cx="216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086" name="文本框 111675"/>
            <p:cNvSpPr txBox="1"/>
            <p:nvPr/>
          </p:nvSpPr>
          <p:spPr>
            <a:xfrm>
              <a:off x="3600" y="624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87" name="椭圆 111676"/>
            <p:cNvSpPr/>
            <p:nvPr/>
          </p:nvSpPr>
          <p:spPr>
            <a:xfrm>
              <a:off x="3531" y="768"/>
              <a:ext cx="69" cy="6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88" name="组合 111677"/>
            <p:cNvGrpSpPr/>
            <p:nvPr/>
          </p:nvGrpSpPr>
          <p:grpSpPr>
            <a:xfrm>
              <a:off x="1682" y="1533"/>
              <a:ext cx="68" cy="209"/>
              <a:chOff x="3454" y="2018"/>
              <a:chExt cx="96" cy="328"/>
            </a:xfrm>
          </p:grpSpPr>
          <p:sp>
            <p:nvSpPr>
              <p:cNvPr id="3089" name="直接连接符 111678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90" name="直接连接符 111679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091" name="直接连接符 111680"/>
            <p:cNvSpPr/>
            <p:nvPr/>
          </p:nvSpPr>
          <p:spPr>
            <a:xfrm>
              <a:off x="1307" y="1631"/>
              <a:ext cx="3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092" name="组合 111681"/>
            <p:cNvGrpSpPr/>
            <p:nvPr/>
          </p:nvGrpSpPr>
          <p:grpSpPr>
            <a:xfrm flipH="1">
              <a:off x="3098" y="1809"/>
              <a:ext cx="68" cy="207"/>
              <a:chOff x="3454" y="2018"/>
              <a:chExt cx="96" cy="328"/>
            </a:xfrm>
          </p:grpSpPr>
          <p:sp>
            <p:nvSpPr>
              <p:cNvPr id="3093" name="直接连接符 111682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94" name="直接连接符 111683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095" name="直接连接符 111684"/>
            <p:cNvSpPr/>
            <p:nvPr/>
          </p:nvSpPr>
          <p:spPr>
            <a:xfrm>
              <a:off x="2644" y="1902"/>
              <a:ext cx="45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96" name="文本框 111685"/>
            <p:cNvSpPr txBox="1"/>
            <p:nvPr/>
          </p:nvSpPr>
          <p:spPr>
            <a:xfrm>
              <a:off x="1485" y="1241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97" name="文本框 111686"/>
            <p:cNvSpPr txBox="1"/>
            <p:nvPr/>
          </p:nvSpPr>
          <p:spPr>
            <a:xfrm>
              <a:off x="2973" y="1488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98" name="直接连接符 111687"/>
            <p:cNvSpPr/>
            <p:nvPr/>
          </p:nvSpPr>
          <p:spPr>
            <a:xfrm>
              <a:off x="2112" y="795"/>
              <a:ext cx="140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99" name="椭圆 111688"/>
            <p:cNvSpPr/>
            <p:nvPr/>
          </p:nvSpPr>
          <p:spPr>
            <a:xfrm>
              <a:off x="2630" y="2609"/>
              <a:ext cx="34" cy="3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0" name="矩形 111689"/>
            <p:cNvSpPr/>
            <p:nvPr/>
          </p:nvSpPr>
          <p:spPr>
            <a:xfrm>
              <a:off x="2601" y="2160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1" name="直接连接符 111690"/>
            <p:cNvSpPr/>
            <p:nvPr/>
          </p:nvSpPr>
          <p:spPr>
            <a:xfrm flipH="1">
              <a:off x="3456" y="1913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02" name="矩形 111691"/>
            <p:cNvSpPr/>
            <p:nvPr/>
          </p:nvSpPr>
          <p:spPr>
            <a:xfrm>
              <a:off x="3402" y="2160"/>
              <a:ext cx="95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93" name="文本框 111692"/>
            <p:cNvSpPr txBox="1"/>
            <p:nvPr/>
          </p:nvSpPr>
          <p:spPr>
            <a:xfrm>
              <a:off x="2264" y="211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lang="en-US" altLang="zh-CN" b="1" baseline="-250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4" name="文本框 111693"/>
            <p:cNvSpPr txBox="1"/>
            <p:nvPr/>
          </p:nvSpPr>
          <p:spPr>
            <a:xfrm>
              <a:off x="3066" y="2105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05" name="直接连接符 111694"/>
            <p:cNvSpPr/>
            <p:nvPr/>
          </p:nvSpPr>
          <p:spPr>
            <a:xfrm>
              <a:off x="3166" y="1902"/>
              <a:ext cx="30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06" name="直接连接符 111695"/>
            <p:cNvSpPr/>
            <p:nvPr/>
          </p:nvSpPr>
          <p:spPr>
            <a:xfrm flipH="1">
              <a:off x="1745" y="1622"/>
              <a:ext cx="7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07" name="直接连接符 111696"/>
            <p:cNvSpPr/>
            <p:nvPr/>
          </p:nvSpPr>
          <p:spPr>
            <a:xfrm>
              <a:off x="2530" y="1649"/>
              <a:ext cx="130" cy="1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3108" name="组合 111697"/>
            <p:cNvGrpSpPr/>
            <p:nvPr/>
          </p:nvGrpSpPr>
          <p:grpSpPr>
            <a:xfrm>
              <a:off x="1270" y="1752"/>
              <a:ext cx="554" cy="880"/>
              <a:chOff x="1152" y="2248"/>
              <a:chExt cx="693" cy="1100"/>
            </a:xfrm>
          </p:grpSpPr>
          <p:sp>
            <p:nvSpPr>
              <p:cNvPr id="3109" name="文本框 111698"/>
              <p:cNvSpPr txBox="1"/>
              <p:nvPr/>
            </p:nvSpPr>
            <p:spPr>
              <a:xfrm>
                <a:off x="1152" y="2517"/>
                <a:ext cx="69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0" name="矩形 111699"/>
              <p:cNvSpPr/>
              <p:nvPr/>
            </p:nvSpPr>
            <p:spPr>
              <a:xfrm>
                <a:off x="1303" y="2248"/>
                <a:ext cx="30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1" name="矩形 111700"/>
              <p:cNvSpPr/>
              <p:nvPr/>
            </p:nvSpPr>
            <p:spPr>
              <a:xfrm>
                <a:off x="1325" y="2939"/>
                <a:ext cx="282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3112" name="组合 111701"/>
            <p:cNvGrpSpPr/>
            <p:nvPr/>
          </p:nvGrpSpPr>
          <p:grpSpPr>
            <a:xfrm>
              <a:off x="3365" y="1824"/>
              <a:ext cx="595" cy="826"/>
              <a:chOff x="3960" y="2297"/>
              <a:chExt cx="744" cy="1032"/>
            </a:xfrm>
          </p:grpSpPr>
          <p:sp>
            <p:nvSpPr>
              <p:cNvPr id="3113" name="文本框 111702"/>
              <p:cNvSpPr txBox="1"/>
              <p:nvPr/>
            </p:nvSpPr>
            <p:spPr>
              <a:xfrm>
                <a:off x="3960" y="2528"/>
                <a:ext cx="744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4" name="矩形 111703"/>
              <p:cNvSpPr/>
              <p:nvPr/>
            </p:nvSpPr>
            <p:spPr>
              <a:xfrm>
                <a:off x="4155" y="2297"/>
                <a:ext cx="30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5" name="矩形 111704"/>
              <p:cNvSpPr/>
              <p:nvPr/>
            </p:nvSpPr>
            <p:spPr>
              <a:xfrm>
                <a:off x="4154" y="2920"/>
                <a:ext cx="28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3116" name="矩形 111705"/>
            <p:cNvSpPr/>
            <p:nvPr/>
          </p:nvSpPr>
          <p:spPr>
            <a:xfrm>
              <a:off x="2887" y="165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17" name="矩形 111706"/>
            <p:cNvSpPr/>
            <p:nvPr/>
          </p:nvSpPr>
          <p:spPr>
            <a:xfrm>
              <a:off x="1735" y="135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3118" name="组合 111707"/>
            <p:cNvGrpSpPr/>
            <p:nvPr/>
          </p:nvGrpSpPr>
          <p:grpSpPr>
            <a:xfrm>
              <a:off x="2568" y="2623"/>
              <a:ext cx="154" cy="154"/>
              <a:chOff x="2880" y="3360"/>
              <a:chExt cx="192" cy="192"/>
            </a:xfrm>
          </p:grpSpPr>
          <p:sp>
            <p:nvSpPr>
              <p:cNvPr id="3119" name="直接连接符 111708"/>
              <p:cNvSpPr/>
              <p:nvPr/>
            </p:nvSpPr>
            <p:spPr>
              <a:xfrm>
                <a:off x="2976" y="3360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20" name="直接连接符 111709"/>
              <p:cNvSpPr/>
              <p:nvPr/>
            </p:nvSpPr>
            <p:spPr>
              <a:xfrm>
                <a:off x="2880" y="355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121" name="直接连接符 111710"/>
            <p:cNvSpPr/>
            <p:nvPr/>
          </p:nvSpPr>
          <p:spPr>
            <a:xfrm>
              <a:off x="3456" y="2405"/>
              <a:ext cx="0" cy="2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22" name="矩形 111711"/>
            <p:cNvSpPr/>
            <p:nvPr/>
          </p:nvSpPr>
          <p:spPr>
            <a:xfrm>
              <a:off x="1248" y="1799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23" name="直接连接符 111712"/>
            <p:cNvSpPr/>
            <p:nvPr/>
          </p:nvSpPr>
          <p:spPr>
            <a:xfrm>
              <a:off x="1296" y="1625"/>
              <a:ext cx="0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24" name="直接连接符 111713"/>
            <p:cNvSpPr/>
            <p:nvPr/>
          </p:nvSpPr>
          <p:spPr>
            <a:xfrm>
              <a:off x="1296" y="2057"/>
              <a:ext cx="0" cy="5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25" name="椭圆 111714"/>
            <p:cNvSpPr/>
            <p:nvPr/>
          </p:nvSpPr>
          <p:spPr>
            <a:xfrm>
              <a:off x="1200" y="229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26" name="文本框 111715"/>
            <p:cNvSpPr txBox="1"/>
            <p:nvPr/>
          </p:nvSpPr>
          <p:spPr>
            <a:xfrm>
              <a:off x="768" y="2175"/>
              <a:ext cx="595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7" name="矩形 111716"/>
            <p:cNvSpPr/>
            <p:nvPr/>
          </p:nvSpPr>
          <p:spPr>
            <a:xfrm>
              <a:off x="1054" y="206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8" name="矩形 111717"/>
            <p:cNvSpPr/>
            <p:nvPr/>
          </p:nvSpPr>
          <p:spPr>
            <a:xfrm>
              <a:off x="1070" y="239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29" name="文本框 111718"/>
            <p:cNvSpPr txBox="1"/>
            <p:nvPr/>
          </p:nvSpPr>
          <p:spPr>
            <a:xfrm>
              <a:off x="919" y="1721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3675" y="203200"/>
            <a:ext cx="7356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800" b="1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charset="-122"/>
                <a:ea typeface="黑体" panose="02010609060101010101" charset="-122"/>
                <a:cs typeface="+mn-cs"/>
                <a:sym typeface="+mn-ea"/>
              </a:rPr>
              <a:t>第六讲  分立元件放大电路及其分析（续）</a:t>
            </a:r>
            <a:endParaRPr lang="zh-CN" altLang="en-US" sz="28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4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64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4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64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6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42" name="对象 112641"/>
          <p:cNvGraphicFramePr/>
          <p:nvPr/>
        </p:nvGraphicFramePr>
        <p:xfrm>
          <a:off x="2081213" y="4559300"/>
          <a:ext cx="31845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07465" imgH="431800" progId="Equation.3">
                  <p:embed/>
                </p:oleObj>
              </mc:Choice>
              <mc:Fallback>
                <p:oleObj name="" r:id="rId1" imgW="1307465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81213" y="4559300"/>
                        <a:ext cx="3184525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3" name="对象 112642"/>
          <p:cNvGraphicFramePr/>
          <p:nvPr/>
        </p:nvGraphicFramePr>
        <p:xfrm>
          <a:off x="2057400" y="5715000"/>
          <a:ext cx="23225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913130" imgH="215900" progId="Equation.3">
                  <p:embed/>
                </p:oleObj>
              </mc:Choice>
              <mc:Fallback>
                <p:oleObj name="" r:id="rId3" imgW="913130" imgH="215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7400" y="5715000"/>
                        <a:ext cx="2322513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4" name="文本框 112643"/>
          <p:cNvSpPr txBox="1"/>
          <p:nvPr/>
        </p:nvSpPr>
        <p:spPr>
          <a:xfrm>
            <a:off x="609600" y="4738688"/>
            <a:ext cx="15128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</a:t>
            </a:r>
            <a:r>
              <a:rPr lang="en-US" altLang="zh-CN" sz="2800" b="1" i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点：</a:t>
            </a:r>
            <a:endParaRPr lang="zh-CN" altLang="en-US" sz="28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2645" name="文本框 112644"/>
          <p:cNvSpPr txBox="1"/>
          <p:nvPr/>
        </p:nvSpPr>
        <p:spPr>
          <a:xfrm>
            <a:off x="533400" y="379413"/>
            <a:ext cx="3733800" cy="522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静态分析</a:t>
            </a:r>
            <a:endParaRPr lang="zh-CN" altLang="en-US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112646" name="对象 112645"/>
          <p:cNvGraphicFramePr/>
          <p:nvPr/>
        </p:nvGraphicFramePr>
        <p:xfrm>
          <a:off x="4960938" y="5765800"/>
          <a:ext cx="2819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155700" imgH="228600" progId="Equation.3">
                  <p:embed/>
                </p:oleObj>
              </mc:Choice>
              <mc:Fallback>
                <p:oleObj name="" r:id="rId5" imgW="11557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0938" y="5765800"/>
                        <a:ext cx="2819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1" name="文本框 112650"/>
          <p:cNvSpPr txBox="1"/>
          <p:nvPr/>
        </p:nvSpPr>
        <p:spPr>
          <a:xfrm>
            <a:off x="5638800" y="12192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直流通路</a:t>
            </a:r>
            <a:endParaRPr lang="zh-CN" altLang="en-US" sz="28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12707" name="组合 112706"/>
          <p:cNvGrpSpPr/>
          <p:nvPr/>
        </p:nvGrpSpPr>
        <p:grpSpPr>
          <a:xfrm>
            <a:off x="5181600" y="1690688"/>
            <a:ext cx="4038600" cy="3186112"/>
            <a:chOff x="3216" y="681"/>
            <a:chExt cx="2544" cy="2007"/>
          </a:xfrm>
        </p:grpSpPr>
        <p:sp>
          <p:nvSpPr>
            <p:cNvPr id="4104" name="文本框 112707"/>
            <p:cNvSpPr txBox="1"/>
            <p:nvPr/>
          </p:nvSpPr>
          <p:spPr>
            <a:xfrm>
              <a:off x="4818" y="681"/>
              <a:ext cx="9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5" name="文本框 112708"/>
            <p:cNvSpPr txBox="1"/>
            <p:nvPr/>
          </p:nvSpPr>
          <p:spPr>
            <a:xfrm>
              <a:off x="3216" y="100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6" name="直接连接符 112709"/>
            <p:cNvSpPr/>
            <p:nvPr/>
          </p:nvSpPr>
          <p:spPr>
            <a:xfrm flipH="1" flipV="1">
              <a:off x="3641" y="842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7" name="直接连接符 112710"/>
            <p:cNvSpPr/>
            <p:nvPr/>
          </p:nvSpPr>
          <p:spPr>
            <a:xfrm>
              <a:off x="3649" y="1361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8" name="矩形 112711"/>
            <p:cNvSpPr/>
            <p:nvPr/>
          </p:nvSpPr>
          <p:spPr>
            <a:xfrm>
              <a:off x="3593" y="1105"/>
              <a:ext cx="95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9" name="直接连接符 112712"/>
            <p:cNvSpPr/>
            <p:nvPr/>
          </p:nvSpPr>
          <p:spPr>
            <a:xfrm>
              <a:off x="4221" y="863"/>
              <a:ext cx="0" cy="6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10" name="直接连接符 112713"/>
            <p:cNvSpPr/>
            <p:nvPr/>
          </p:nvSpPr>
          <p:spPr>
            <a:xfrm>
              <a:off x="4245" y="1865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grpSp>
          <p:nvGrpSpPr>
            <p:cNvPr id="4111" name="组合 112714"/>
            <p:cNvGrpSpPr/>
            <p:nvPr/>
          </p:nvGrpSpPr>
          <p:grpSpPr>
            <a:xfrm>
              <a:off x="3632" y="824"/>
              <a:ext cx="1193" cy="60"/>
              <a:chOff x="3704" y="684"/>
              <a:chExt cx="1193" cy="60"/>
            </a:xfrm>
          </p:grpSpPr>
          <p:sp>
            <p:nvSpPr>
              <p:cNvPr id="4112" name="椭圆 112715"/>
              <p:cNvSpPr/>
              <p:nvPr/>
            </p:nvSpPr>
            <p:spPr>
              <a:xfrm>
                <a:off x="4828" y="684"/>
                <a:ext cx="69" cy="6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3" name="直接连接符 112716"/>
              <p:cNvSpPr/>
              <p:nvPr/>
            </p:nvSpPr>
            <p:spPr>
              <a:xfrm>
                <a:off x="3704" y="711"/>
                <a:ext cx="11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14" name="矩形 112717"/>
            <p:cNvSpPr/>
            <p:nvPr/>
          </p:nvSpPr>
          <p:spPr>
            <a:xfrm>
              <a:off x="4201" y="2142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9" name="文本框 112718"/>
            <p:cNvSpPr txBox="1"/>
            <p:nvPr/>
          </p:nvSpPr>
          <p:spPr>
            <a:xfrm>
              <a:off x="3864" y="2069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lang="en-US" altLang="zh-CN" b="1" baseline="-250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16" name="直接连接符 112719"/>
            <p:cNvSpPr/>
            <p:nvPr/>
          </p:nvSpPr>
          <p:spPr>
            <a:xfrm flipH="1">
              <a:off x="3644" y="1640"/>
              <a:ext cx="42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17" name="直接连接符 112720"/>
            <p:cNvSpPr/>
            <p:nvPr/>
          </p:nvSpPr>
          <p:spPr>
            <a:xfrm>
              <a:off x="4245" y="240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18" name="直接连接符 112721"/>
            <p:cNvSpPr/>
            <p:nvPr/>
          </p:nvSpPr>
          <p:spPr>
            <a:xfrm>
              <a:off x="4168" y="2684"/>
              <a:ext cx="15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19" name="矩形 112722"/>
            <p:cNvSpPr/>
            <p:nvPr/>
          </p:nvSpPr>
          <p:spPr>
            <a:xfrm>
              <a:off x="4231" y="1244"/>
              <a:ext cx="2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0" name="矩形 112723"/>
            <p:cNvSpPr/>
            <p:nvPr/>
          </p:nvSpPr>
          <p:spPr>
            <a:xfrm>
              <a:off x="4244" y="17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1" name="矩形 112724"/>
            <p:cNvSpPr/>
            <p:nvPr/>
          </p:nvSpPr>
          <p:spPr>
            <a:xfrm>
              <a:off x="4216" y="1464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b="1" i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2" name="矩形 112725"/>
            <p:cNvSpPr/>
            <p:nvPr/>
          </p:nvSpPr>
          <p:spPr>
            <a:xfrm>
              <a:off x="3789" y="1551"/>
              <a:ext cx="2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3" name="矩形 112726"/>
            <p:cNvSpPr/>
            <p:nvPr/>
          </p:nvSpPr>
          <p:spPr>
            <a:xfrm>
              <a:off x="4004" y="191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4" name="矩形 112727"/>
            <p:cNvSpPr/>
            <p:nvPr/>
          </p:nvSpPr>
          <p:spPr>
            <a:xfrm>
              <a:off x="3784" y="1720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i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5" name="直接连接符 112728"/>
            <p:cNvSpPr/>
            <p:nvPr/>
          </p:nvSpPr>
          <p:spPr>
            <a:xfrm>
              <a:off x="3740" y="1573"/>
              <a:ext cx="28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26" name="直接连接符 112729"/>
            <p:cNvSpPr/>
            <p:nvPr/>
          </p:nvSpPr>
          <p:spPr>
            <a:xfrm>
              <a:off x="4360" y="2060"/>
              <a:ext cx="0" cy="38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12731" name="矩形 112730"/>
            <p:cNvSpPr/>
            <p:nvPr/>
          </p:nvSpPr>
          <p:spPr>
            <a:xfrm>
              <a:off x="4360" y="2012"/>
              <a:ext cx="2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 fontAlgn="base">
                <a:spcBef>
                  <a:spcPct val="50000"/>
                </a:spcBef>
              </a:pPr>
              <a:r>
                <a:rPr lang="en-US" altLang="zh-CN" sz="2800" b="1" i="1" strike="noStrike" noProof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</a:t>
              </a:r>
              <a:r>
                <a:rPr lang="en-US" altLang="zh-CN" b="1" strike="noStrike" baseline="-25000" noProof="1">
                  <a:solidFill>
                    <a:srgbClr val="000099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8" name="矩形 112731"/>
            <p:cNvSpPr/>
            <p:nvPr/>
          </p:nvSpPr>
          <p:spPr>
            <a:xfrm>
              <a:off x="3700" y="1257"/>
              <a:ext cx="2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29" name="直接连接符 112732"/>
            <p:cNvSpPr/>
            <p:nvPr/>
          </p:nvSpPr>
          <p:spPr>
            <a:xfrm>
              <a:off x="4142" y="956"/>
              <a:ext cx="0" cy="28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30" name="矩形 112733"/>
            <p:cNvSpPr/>
            <p:nvPr/>
          </p:nvSpPr>
          <p:spPr>
            <a:xfrm>
              <a:off x="3854" y="860"/>
              <a:ext cx="29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31" name="直接连接符 112734"/>
            <p:cNvSpPr/>
            <p:nvPr/>
          </p:nvSpPr>
          <p:spPr>
            <a:xfrm>
              <a:off x="4072" y="1510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2" name="直接连接符 112735"/>
            <p:cNvSpPr/>
            <p:nvPr/>
          </p:nvSpPr>
          <p:spPr>
            <a:xfrm flipV="1">
              <a:off x="4072" y="1484"/>
              <a:ext cx="144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3" name="直接连接符 112736"/>
            <p:cNvSpPr/>
            <p:nvPr/>
          </p:nvSpPr>
          <p:spPr>
            <a:xfrm>
              <a:off x="4072" y="1680"/>
              <a:ext cx="192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</p:grpSp>
      <p:grpSp>
        <p:nvGrpSpPr>
          <p:cNvPr id="4134" name="组合 112737"/>
          <p:cNvGrpSpPr/>
          <p:nvPr/>
        </p:nvGrpSpPr>
        <p:grpSpPr>
          <a:xfrm>
            <a:off x="228600" y="773113"/>
            <a:ext cx="5429250" cy="3417887"/>
            <a:chOff x="768" y="624"/>
            <a:chExt cx="3420" cy="2153"/>
          </a:xfrm>
        </p:grpSpPr>
        <p:sp>
          <p:nvSpPr>
            <p:cNvPr id="4135" name="文本框 112738"/>
            <p:cNvSpPr txBox="1"/>
            <p:nvPr/>
          </p:nvSpPr>
          <p:spPr>
            <a:xfrm>
              <a:off x="1728" y="969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36" name="直接连接符 112739"/>
            <p:cNvSpPr/>
            <p:nvPr/>
          </p:nvSpPr>
          <p:spPr>
            <a:xfrm>
              <a:off x="2108" y="1344"/>
              <a:ext cx="0" cy="2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7" name="直接连接符 112740"/>
            <p:cNvSpPr/>
            <p:nvPr/>
          </p:nvSpPr>
          <p:spPr>
            <a:xfrm flipH="1" flipV="1">
              <a:off x="2112" y="800"/>
              <a:ext cx="0" cy="3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8" name="矩形 112741"/>
            <p:cNvSpPr/>
            <p:nvPr/>
          </p:nvSpPr>
          <p:spPr>
            <a:xfrm>
              <a:off x="2064" y="1092"/>
              <a:ext cx="96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39" name="直接连接符 112742"/>
            <p:cNvSpPr/>
            <p:nvPr/>
          </p:nvSpPr>
          <p:spPr>
            <a:xfrm>
              <a:off x="2524" y="1440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0" name="直接连接符 112743"/>
            <p:cNvSpPr/>
            <p:nvPr/>
          </p:nvSpPr>
          <p:spPr>
            <a:xfrm flipV="1">
              <a:off x="2524" y="1455"/>
              <a:ext cx="141" cy="1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1" name="直接连接符 112744"/>
            <p:cNvSpPr/>
            <p:nvPr/>
          </p:nvSpPr>
          <p:spPr>
            <a:xfrm>
              <a:off x="2659" y="807"/>
              <a:ext cx="0" cy="6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2" name="直接连接符 112745"/>
            <p:cNvSpPr/>
            <p:nvPr/>
          </p:nvSpPr>
          <p:spPr>
            <a:xfrm>
              <a:off x="2645" y="176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3" name="直接连接符 112746"/>
            <p:cNvSpPr/>
            <p:nvPr/>
          </p:nvSpPr>
          <p:spPr>
            <a:xfrm flipH="1">
              <a:off x="2645" y="2427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4" name="直接连接符 112747"/>
            <p:cNvSpPr/>
            <p:nvPr/>
          </p:nvSpPr>
          <p:spPr>
            <a:xfrm flipV="1">
              <a:off x="1296" y="2624"/>
              <a:ext cx="216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45" name="文本框 112748"/>
            <p:cNvSpPr txBox="1"/>
            <p:nvPr/>
          </p:nvSpPr>
          <p:spPr>
            <a:xfrm>
              <a:off x="3600" y="624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46" name="椭圆 112749"/>
            <p:cNvSpPr/>
            <p:nvPr/>
          </p:nvSpPr>
          <p:spPr>
            <a:xfrm>
              <a:off x="3531" y="768"/>
              <a:ext cx="69" cy="6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47" name="组合 112750"/>
            <p:cNvGrpSpPr/>
            <p:nvPr/>
          </p:nvGrpSpPr>
          <p:grpSpPr>
            <a:xfrm>
              <a:off x="1682" y="1533"/>
              <a:ext cx="68" cy="209"/>
              <a:chOff x="3454" y="2018"/>
              <a:chExt cx="96" cy="328"/>
            </a:xfrm>
          </p:grpSpPr>
          <p:sp>
            <p:nvSpPr>
              <p:cNvPr id="4148" name="直接连接符 112751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49" name="直接连接符 112752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50" name="直接连接符 112753"/>
            <p:cNvSpPr/>
            <p:nvPr/>
          </p:nvSpPr>
          <p:spPr>
            <a:xfrm>
              <a:off x="1307" y="1631"/>
              <a:ext cx="3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151" name="组合 112754"/>
            <p:cNvGrpSpPr/>
            <p:nvPr/>
          </p:nvGrpSpPr>
          <p:grpSpPr>
            <a:xfrm flipH="1">
              <a:off x="3098" y="1809"/>
              <a:ext cx="68" cy="207"/>
              <a:chOff x="3454" y="2018"/>
              <a:chExt cx="96" cy="328"/>
            </a:xfrm>
          </p:grpSpPr>
          <p:sp>
            <p:nvSpPr>
              <p:cNvPr id="4152" name="直接连接符 112755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53" name="直接连接符 112756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54" name="直接连接符 112757"/>
            <p:cNvSpPr/>
            <p:nvPr/>
          </p:nvSpPr>
          <p:spPr>
            <a:xfrm>
              <a:off x="2644" y="1902"/>
              <a:ext cx="45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55" name="文本框 112758"/>
            <p:cNvSpPr txBox="1"/>
            <p:nvPr/>
          </p:nvSpPr>
          <p:spPr>
            <a:xfrm>
              <a:off x="1485" y="1241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56" name="文本框 112759"/>
            <p:cNvSpPr txBox="1"/>
            <p:nvPr/>
          </p:nvSpPr>
          <p:spPr>
            <a:xfrm>
              <a:off x="2973" y="1488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57" name="直接连接符 112760"/>
            <p:cNvSpPr/>
            <p:nvPr/>
          </p:nvSpPr>
          <p:spPr>
            <a:xfrm>
              <a:off x="2112" y="795"/>
              <a:ext cx="140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58" name="椭圆 112761"/>
            <p:cNvSpPr/>
            <p:nvPr/>
          </p:nvSpPr>
          <p:spPr>
            <a:xfrm>
              <a:off x="2630" y="2609"/>
              <a:ext cx="34" cy="3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59" name="矩形 112762"/>
            <p:cNvSpPr/>
            <p:nvPr/>
          </p:nvSpPr>
          <p:spPr>
            <a:xfrm>
              <a:off x="2601" y="2160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60" name="直接连接符 112763"/>
            <p:cNvSpPr/>
            <p:nvPr/>
          </p:nvSpPr>
          <p:spPr>
            <a:xfrm flipH="1">
              <a:off x="3456" y="1913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61" name="矩形 112764"/>
            <p:cNvSpPr/>
            <p:nvPr/>
          </p:nvSpPr>
          <p:spPr>
            <a:xfrm>
              <a:off x="3402" y="2160"/>
              <a:ext cx="95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66" name="文本框 112765"/>
            <p:cNvSpPr txBox="1"/>
            <p:nvPr/>
          </p:nvSpPr>
          <p:spPr>
            <a:xfrm>
              <a:off x="2264" y="211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lang="en-US" altLang="zh-CN" b="1" baseline="-250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63" name="文本框 112766"/>
            <p:cNvSpPr txBox="1"/>
            <p:nvPr/>
          </p:nvSpPr>
          <p:spPr>
            <a:xfrm>
              <a:off x="3066" y="2105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64" name="直接连接符 112767"/>
            <p:cNvSpPr/>
            <p:nvPr/>
          </p:nvSpPr>
          <p:spPr>
            <a:xfrm>
              <a:off x="3166" y="1902"/>
              <a:ext cx="30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65" name="直接连接符 112768"/>
            <p:cNvSpPr/>
            <p:nvPr/>
          </p:nvSpPr>
          <p:spPr>
            <a:xfrm flipH="1">
              <a:off x="1745" y="1622"/>
              <a:ext cx="7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66" name="直接连接符 112769"/>
            <p:cNvSpPr/>
            <p:nvPr/>
          </p:nvSpPr>
          <p:spPr>
            <a:xfrm>
              <a:off x="2530" y="1649"/>
              <a:ext cx="130" cy="1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4167" name="组合 112770"/>
            <p:cNvGrpSpPr/>
            <p:nvPr/>
          </p:nvGrpSpPr>
          <p:grpSpPr>
            <a:xfrm>
              <a:off x="1270" y="1752"/>
              <a:ext cx="554" cy="880"/>
              <a:chOff x="1152" y="2248"/>
              <a:chExt cx="693" cy="1100"/>
            </a:xfrm>
          </p:grpSpPr>
          <p:sp>
            <p:nvSpPr>
              <p:cNvPr id="4168" name="文本框 112771"/>
              <p:cNvSpPr txBox="1"/>
              <p:nvPr/>
            </p:nvSpPr>
            <p:spPr>
              <a:xfrm>
                <a:off x="1152" y="2517"/>
                <a:ext cx="69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4169" name="矩形 112772"/>
              <p:cNvSpPr/>
              <p:nvPr/>
            </p:nvSpPr>
            <p:spPr>
              <a:xfrm>
                <a:off x="1303" y="2248"/>
                <a:ext cx="30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4170" name="矩形 112773"/>
              <p:cNvSpPr/>
              <p:nvPr/>
            </p:nvSpPr>
            <p:spPr>
              <a:xfrm>
                <a:off x="1325" y="2939"/>
                <a:ext cx="282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4171" name="组合 112774"/>
            <p:cNvGrpSpPr/>
            <p:nvPr/>
          </p:nvGrpSpPr>
          <p:grpSpPr>
            <a:xfrm>
              <a:off x="3365" y="1824"/>
              <a:ext cx="595" cy="826"/>
              <a:chOff x="3960" y="2297"/>
              <a:chExt cx="744" cy="1032"/>
            </a:xfrm>
          </p:grpSpPr>
          <p:sp>
            <p:nvSpPr>
              <p:cNvPr id="4172" name="文本框 112775"/>
              <p:cNvSpPr txBox="1"/>
              <p:nvPr/>
            </p:nvSpPr>
            <p:spPr>
              <a:xfrm>
                <a:off x="3960" y="2528"/>
                <a:ext cx="744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4173" name="矩形 112776"/>
              <p:cNvSpPr/>
              <p:nvPr/>
            </p:nvSpPr>
            <p:spPr>
              <a:xfrm>
                <a:off x="4155" y="2297"/>
                <a:ext cx="30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4174" name="矩形 112777"/>
              <p:cNvSpPr/>
              <p:nvPr/>
            </p:nvSpPr>
            <p:spPr>
              <a:xfrm>
                <a:off x="4154" y="2920"/>
                <a:ext cx="28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4175" name="矩形 112778"/>
            <p:cNvSpPr/>
            <p:nvPr/>
          </p:nvSpPr>
          <p:spPr>
            <a:xfrm>
              <a:off x="2887" y="165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76" name="矩形 112779"/>
            <p:cNvSpPr/>
            <p:nvPr/>
          </p:nvSpPr>
          <p:spPr>
            <a:xfrm>
              <a:off x="1735" y="135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177" name="组合 112780"/>
            <p:cNvGrpSpPr/>
            <p:nvPr/>
          </p:nvGrpSpPr>
          <p:grpSpPr>
            <a:xfrm>
              <a:off x="2568" y="2623"/>
              <a:ext cx="154" cy="154"/>
              <a:chOff x="2880" y="3360"/>
              <a:chExt cx="192" cy="192"/>
            </a:xfrm>
          </p:grpSpPr>
          <p:sp>
            <p:nvSpPr>
              <p:cNvPr id="4178" name="直接连接符 112781"/>
              <p:cNvSpPr/>
              <p:nvPr/>
            </p:nvSpPr>
            <p:spPr>
              <a:xfrm>
                <a:off x="2976" y="3360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79" name="直接连接符 112782"/>
              <p:cNvSpPr/>
              <p:nvPr/>
            </p:nvSpPr>
            <p:spPr>
              <a:xfrm>
                <a:off x="2880" y="355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80" name="直接连接符 112783"/>
            <p:cNvSpPr/>
            <p:nvPr/>
          </p:nvSpPr>
          <p:spPr>
            <a:xfrm>
              <a:off x="3456" y="2405"/>
              <a:ext cx="0" cy="2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81" name="矩形 112784"/>
            <p:cNvSpPr/>
            <p:nvPr/>
          </p:nvSpPr>
          <p:spPr>
            <a:xfrm>
              <a:off x="1248" y="1799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82" name="直接连接符 112785"/>
            <p:cNvSpPr/>
            <p:nvPr/>
          </p:nvSpPr>
          <p:spPr>
            <a:xfrm>
              <a:off x="1296" y="1625"/>
              <a:ext cx="0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83" name="直接连接符 112786"/>
            <p:cNvSpPr/>
            <p:nvPr/>
          </p:nvSpPr>
          <p:spPr>
            <a:xfrm>
              <a:off x="1296" y="2057"/>
              <a:ext cx="0" cy="5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84" name="椭圆 112787"/>
            <p:cNvSpPr/>
            <p:nvPr/>
          </p:nvSpPr>
          <p:spPr>
            <a:xfrm>
              <a:off x="1200" y="229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85" name="文本框 112788"/>
            <p:cNvSpPr txBox="1"/>
            <p:nvPr/>
          </p:nvSpPr>
          <p:spPr>
            <a:xfrm>
              <a:off x="768" y="2175"/>
              <a:ext cx="595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86" name="矩形 112789"/>
            <p:cNvSpPr/>
            <p:nvPr/>
          </p:nvSpPr>
          <p:spPr>
            <a:xfrm>
              <a:off x="1054" y="206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87" name="矩形 112790"/>
            <p:cNvSpPr/>
            <p:nvPr/>
          </p:nvSpPr>
          <p:spPr>
            <a:xfrm>
              <a:off x="1070" y="239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88" name="文本框 112791"/>
            <p:cNvSpPr txBox="1"/>
            <p:nvPr/>
          </p:nvSpPr>
          <p:spPr>
            <a:xfrm>
              <a:off x="919" y="1721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文本框 113665"/>
          <p:cNvSpPr txBox="1"/>
          <p:nvPr/>
        </p:nvSpPr>
        <p:spPr>
          <a:xfrm>
            <a:off x="514350" y="227013"/>
            <a:ext cx="3371850" cy="522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动态分析</a:t>
            </a:r>
            <a:endParaRPr lang="zh-CN" altLang="en-US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3667" name="对象 113666"/>
          <p:cNvGraphicFramePr/>
          <p:nvPr/>
        </p:nvGraphicFramePr>
        <p:xfrm>
          <a:off x="5410200" y="1093788"/>
          <a:ext cx="22145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75030" imgH="215900" progId="Equation.3">
                  <p:embed/>
                </p:oleObj>
              </mc:Choice>
              <mc:Fallback>
                <p:oleObj name="" r:id="rId1" imgW="87503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10200" y="1093788"/>
                        <a:ext cx="2214563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对象 113667"/>
          <p:cNvGraphicFramePr/>
          <p:nvPr/>
        </p:nvGraphicFramePr>
        <p:xfrm>
          <a:off x="5478463" y="1622425"/>
          <a:ext cx="168433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673100" imgH="241300" progId="Equation.3">
                  <p:embed/>
                </p:oleObj>
              </mc:Choice>
              <mc:Fallback>
                <p:oleObj name="" r:id="rId3" imgW="6731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78463" y="1622425"/>
                        <a:ext cx="1684337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对象 113668"/>
          <p:cNvGraphicFramePr/>
          <p:nvPr/>
        </p:nvGraphicFramePr>
        <p:xfrm>
          <a:off x="6019800" y="2209800"/>
          <a:ext cx="22860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103630" imgH="266065" progId="Equation.3">
                  <p:embed/>
                </p:oleObj>
              </mc:Choice>
              <mc:Fallback>
                <p:oleObj name="" r:id="rId5" imgW="1103630" imgH="2660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9800" y="2209800"/>
                        <a:ext cx="22860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0" name="对象 113669"/>
          <p:cNvGraphicFramePr/>
          <p:nvPr/>
        </p:nvGraphicFramePr>
        <p:xfrm>
          <a:off x="5486400" y="2771775"/>
          <a:ext cx="26590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078865" imgH="241300" progId="Equation.3">
                  <p:embed/>
                </p:oleObj>
              </mc:Choice>
              <mc:Fallback>
                <p:oleObj name="" r:id="rId7" imgW="1078865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86400" y="2771775"/>
                        <a:ext cx="2659063" cy="59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对象 113670"/>
          <p:cNvGraphicFramePr/>
          <p:nvPr/>
        </p:nvGraphicFramePr>
        <p:xfrm>
          <a:off x="5975350" y="3384550"/>
          <a:ext cx="28638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1496695" imgH="266065" progId="Equation.3">
                  <p:embed/>
                </p:oleObj>
              </mc:Choice>
              <mc:Fallback>
                <p:oleObj name="" r:id="rId9" imgW="1496695" imgH="2660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75350" y="3384550"/>
                        <a:ext cx="28638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对象 113671"/>
          <p:cNvGraphicFramePr/>
          <p:nvPr/>
        </p:nvGraphicFramePr>
        <p:xfrm>
          <a:off x="631825" y="4198938"/>
          <a:ext cx="36512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1" imgW="1574800" imgH="457200" progId="Equation.3">
                  <p:embed/>
                </p:oleObj>
              </mc:Choice>
              <mc:Fallback>
                <p:oleObj name="" r:id="rId11" imgW="15748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1825" y="4198938"/>
                        <a:ext cx="3651250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对象 113672"/>
          <p:cNvGraphicFramePr/>
          <p:nvPr/>
        </p:nvGraphicFramePr>
        <p:xfrm>
          <a:off x="4343400" y="4267200"/>
          <a:ext cx="26670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3" imgW="1091565" imgH="431800" progId="Equation.3">
                  <p:embed/>
                </p:oleObj>
              </mc:Choice>
              <mc:Fallback>
                <p:oleObj name="" r:id="rId13" imgW="1091565" imgH="431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4267200"/>
                        <a:ext cx="2667000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4" name="文本框 113673"/>
          <p:cNvSpPr txBox="1"/>
          <p:nvPr/>
        </p:nvSpPr>
        <p:spPr>
          <a:xfrm>
            <a:off x="4411663" y="485775"/>
            <a:ext cx="3817938" cy="522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电压放大倍数</a:t>
            </a:r>
            <a:endParaRPr lang="zh-CN" altLang="en-US" sz="28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3675" name="矩形 113674"/>
          <p:cNvSpPr/>
          <p:nvPr/>
        </p:nvSpPr>
        <p:spPr>
          <a:xfrm>
            <a:off x="609600" y="5334000"/>
            <a:ext cx="7848600" cy="1060450"/>
          </a:xfrm>
          <a:prstGeom prst="rect">
            <a:avLst/>
          </a:prstGeom>
          <a:pattFill prst="pct30">
            <a:fgClr>
              <a:srgbClr val="FFCCCC"/>
            </a:fgClr>
            <a:bgClr>
              <a:srgbClr val="FFFFFF"/>
            </a:bgClr>
          </a:patt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fontAlgn="base">
              <a:lnSpc>
                <a:spcPct val="110000"/>
              </a:lnSpc>
            </a:pPr>
            <a:r>
              <a:rPr lang="en-US" altLang="zh-CN" sz="2800" b="1" strike="noStrike" noProof="1" dirty="0">
                <a:solidFill>
                  <a:srgbClr val="3399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电压放大倍数</a:t>
            </a:r>
            <a:r>
              <a:rPr lang="en-US" altLang="zh-CN" sz="2800" b="1" i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b="1" i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zh-CN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</a:t>
            </a:r>
            <a:r>
              <a:rPr lang="en-US" altLang="zh-CN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且输入输出同相，输出电压跟随输入电压，</a:t>
            </a:r>
            <a:r>
              <a:rPr lang="zh-CN" altLang="en-US" sz="2800" b="1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故称电压跟随器。</a:t>
            </a:r>
            <a:endParaRPr lang="zh-CN" altLang="en-US" sz="2800" b="1" strike="noStrike" noProof="1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3798" name="矩形 113797"/>
          <p:cNvSpPr/>
          <p:nvPr/>
        </p:nvSpPr>
        <p:spPr>
          <a:xfrm>
            <a:off x="1524000" y="3733800"/>
            <a:ext cx="20224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fontAlgn="base">
              <a:spcBef>
                <a:spcPct val="50000"/>
              </a:spcBef>
            </a:pPr>
            <a:r>
              <a:rPr lang="zh-CN" altLang="en-US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微变等效电路</a:t>
            </a:r>
            <a:endParaRPr lang="zh-CN" altLang="en-US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13858" name="组合 113857"/>
          <p:cNvGrpSpPr/>
          <p:nvPr/>
        </p:nvGrpSpPr>
        <p:grpSpPr>
          <a:xfrm>
            <a:off x="304800" y="714375"/>
            <a:ext cx="4219575" cy="3095625"/>
            <a:chOff x="192" y="450"/>
            <a:chExt cx="2658" cy="1950"/>
          </a:xfrm>
        </p:grpSpPr>
        <p:sp>
          <p:nvSpPr>
            <p:cNvPr id="5133" name="直接连接符 113799"/>
            <p:cNvSpPr/>
            <p:nvPr/>
          </p:nvSpPr>
          <p:spPr>
            <a:xfrm flipV="1">
              <a:off x="567" y="2285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4" name="直接连接符 113800"/>
            <p:cNvSpPr/>
            <p:nvPr/>
          </p:nvSpPr>
          <p:spPr>
            <a:xfrm flipH="1" flipV="1">
              <a:off x="1997" y="825"/>
              <a:ext cx="0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5" name="直接连接符 113801"/>
            <p:cNvSpPr/>
            <p:nvPr/>
          </p:nvSpPr>
          <p:spPr>
            <a:xfrm flipV="1">
              <a:off x="567" y="830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36" name="组合 113802"/>
            <p:cNvGrpSpPr/>
            <p:nvPr/>
          </p:nvGrpSpPr>
          <p:grpSpPr>
            <a:xfrm>
              <a:off x="1883" y="997"/>
              <a:ext cx="206" cy="290"/>
              <a:chOff x="4164" y="1968"/>
              <a:chExt cx="264" cy="420"/>
            </a:xfrm>
          </p:grpSpPr>
          <p:sp>
            <p:nvSpPr>
              <p:cNvPr id="5137" name="菱形 113803"/>
              <p:cNvSpPr/>
              <p:nvPr/>
            </p:nvSpPr>
            <p:spPr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8" name="直接连接符 113804"/>
              <p:cNvSpPr/>
              <p:nvPr/>
            </p:nvSpPr>
            <p:spPr>
              <a:xfrm>
                <a:off x="4176" y="2184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139" name="矩形 113805"/>
            <p:cNvSpPr/>
            <p:nvPr/>
          </p:nvSpPr>
          <p:spPr>
            <a:xfrm>
              <a:off x="1406" y="1041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40" name="直接连接符 113806"/>
            <p:cNvSpPr/>
            <p:nvPr/>
          </p:nvSpPr>
          <p:spPr>
            <a:xfrm>
              <a:off x="1989" y="813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1" name="文本框 113807"/>
            <p:cNvSpPr txBox="1"/>
            <p:nvPr/>
          </p:nvSpPr>
          <p:spPr>
            <a:xfrm>
              <a:off x="1056" y="950"/>
              <a:ext cx="4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2" name="直接连接符 113808"/>
            <p:cNvSpPr/>
            <p:nvPr/>
          </p:nvSpPr>
          <p:spPr>
            <a:xfrm>
              <a:off x="1843" y="1019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5143" name="文本框 113809"/>
            <p:cNvSpPr txBox="1"/>
            <p:nvPr/>
          </p:nvSpPr>
          <p:spPr>
            <a:xfrm>
              <a:off x="1020" y="1420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4" name="直接连接符 113810"/>
            <p:cNvSpPr/>
            <p:nvPr/>
          </p:nvSpPr>
          <p:spPr>
            <a:xfrm flipV="1">
              <a:off x="2837" y="821"/>
              <a:ext cx="1" cy="14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5" name="文本框 113811"/>
            <p:cNvSpPr txBox="1"/>
            <p:nvPr/>
          </p:nvSpPr>
          <p:spPr>
            <a:xfrm>
              <a:off x="1762" y="1845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6" name="文本框 113812"/>
            <p:cNvSpPr txBox="1"/>
            <p:nvPr/>
          </p:nvSpPr>
          <p:spPr>
            <a:xfrm>
              <a:off x="1614" y="1195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7" name="文本框 113813"/>
            <p:cNvSpPr txBox="1"/>
            <p:nvPr/>
          </p:nvSpPr>
          <p:spPr>
            <a:xfrm>
              <a:off x="951" y="591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8" name="文本框 113814"/>
            <p:cNvSpPr txBox="1"/>
            <p:nvPr/>
          </p:nvSpPr>
          <p:spPr>
            <a:xfrm>
              <a:off x="2189" y="567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49" name="直接连接符 113815"/>
            <p:cNvSpPr/>
            <p:nvPr/>
          </p:nvSpPr>
          <p:spPr>
            <a:xfrm flipV="1">
              <a:off x="1050" y="833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50" name="文本框 113816"/>
            <p:cNvSpPr txBox="1"/>
            <p:nvPr/>
          </p:nvSpPr>
          <p:spPr>
            <a:xfrm>
              <a:off x="685" y="80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51" name="文本框 113817"/>
            <p:cNvSpPr txBox="1"/>
            <p:nvPr/>
          </p:nvSpPr>
          <p:spPr>
            <a:xfrm>
              <a:off x="687" y="203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52" name="矩形 113818"/>
            <p:cNvSpPr/>
            <p:nvPr/>
          </p:nvSpPr>
          <p:spPr>
            <a:xfrm>
              <a:off x="1014" y="1445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53" name="矩形 113819"/>
            <p:cNvSpPr/>
            <p:nvPr/>
          </p:nvSpPr>
          <p:spPr>
            <a:xfrm>
              <a:off x="2244" y="1599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54" name="矩形 113820"/>
            <p:cNvSpPr/>
            <p:nvPr/>
          </p:nvSpPr>
          <p:spPr>
            <a:xfrm>
              <a:off x="2245" y="207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5155" name="组合 113821"/>
            <p:cNvGrpSpPr/>
            <p:nvPr/>
          </p:nvGrpSpPr>
          <p:grpSpPr>
            <a:xfrm>
              <a:off x="1639" y="2281"/>
              <a:ext cx="160" cy="119"/>
              <a:chOff x="4403" y="3875"/>
              <a:chExt cx="160" cy="119"/>
            </a:xfrm>
          </p:grpSpPr>
          <p:sp>
            <p:nvSpPr>
              <p:cNvPr id="5156" name="直接连接符 113822"/>
              <p:cNvSpPr/>
              <p:nvPr/>
            </p:nvSpPr>
            <p:spPr>
              <a:xfrm>
                <a:off x="4489" y="3875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57" name="直接连接符 113823"/>
              <p:cNvSpPr/>
              <p:nvPr/>
            </p:nvSpPr>
            <p:spPr>
              <a:xfrm>
                <a:off x="4403" y="3994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158" name="直接连接符 113824"/>
            <p:cNvSpPr/>
            <p:nvPr/>
          </p:nvSpPr>
          <p:spPr>
            <a:xfrm flipV="1">
              <a:off x="1449" y="1297"/>
              <a:ext cx="0" cy="1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59" name="直接连接符 113825"/>
            <p:cNvSpPr/>
            <p:nvPr/>
          </p:nvSpPr>
          <p:spPr>
            <a:xfrm flipH="1" flipV="1">
              <a:off x="1051" y="1696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60" name="直接连接符 113826"/>
            <p:cNvSpPr/>
            <p:nvPr/>
          </p:nvSpPr>
          <p:spPr>
            <a:xfrm flipV="1">
              <a:off x="1990" y="1274"/>
              <a:ext cx="0" cy="1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61" name="直接连接符 113827"/>
            <p:cNvSpPr/>
            <p:nvPr/>
          </p:nvSpPr>
          <p:spPr>
            <a:xfrm flipH="1">
              <a:off x="570" y="1400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62" name="矩形 113828"/>
            <p:cNvSpPr/>
            <p:nvPr/>
          </p:nvSpPr>
          <p:spPr>
            <a:xfrm>
              <a:off x="533" y="1172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63" name="直接连接符 113829"/>
            <p:cNvSpPr/>
            <p:nvPr/>
          </p:nvSpPr>
          <p:spPr>
            <a:xfrm flipH="1">
              <a:off x="570" y="816"/>
              <a:ext cx="0" cy="35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64" name="椭圆 113830"/>
            <p:cNvSpPr/>
            <p:nvPr/>
          </p:nvSpPr>
          <p:spPr>
            <a:xfrm>
              <a:off x="480" y="173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65" name="矩形 113831"/>
            <p:cNvSpPr/>
            <p:nvPr/>
          </p:nvSpPr>
          <p:spPr>
            <a:xfrm>
              <a:off x="374" y="1523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66" name="矩形 113832"/>
            <p:cNvSpPr/>
            <p:nvPr/>
          </p:nvSpPr>
          <p:spPr>
            <a:xfrm>
              <a:off x="363" y="1843"/>
              <a:ext cx="2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67" name="文本框 113833"/>
            <p:cNvSpPr txBox="1"/>
            <p:nvPr/>
          </p:nvSpPr>
          <p:spPr>
            <a:xfrm>
              <a:off x="192" y="1143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68" name="椭圆 113834"/>
            <p:cNvSpPr/>
            <p:nvPr/>
          </p:nvSpPr>
          <p:spPr>
            <a:xfrm>
              <a:off x="1693" y="2251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69" name="对象 113835"/>
            <p:cNvGraphicFramePr/>
            <p:nvPr/>
          </p:nvGraphicFramePr>
          <p:xfrm>
            <a:off x="713" y="1419"/>
            <a:ext cx="18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5" imgW="190500" imgH="228600" progId="Equation.3">
                    <p:embed/>
                  </p:oleObj>
                </mc:Choice>
                <mc:Fallback>
                  <p:oleObj name="" r:id="rId15" imgW="190500" imgH="2286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13" y="1419"/>
                          <a:ext cx="181" cy="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0" name="直接连接符 113836"/>
            <p:cNvSpPr/>
            <p:nvPr/>
          </p:nvSpPr>
          <p:spPr>
            <a:xfrm flipV="1">
              <a:off x="1204" y="775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5171" name="对象 113837"/>
            <p:cNvGraphicFramePr/>
            <p:nvPr/>
          </p:nvGraphicFramePr>
          <p:xfrm>
            <a:off x="1190" y="49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7" imgW="177800" imgH="240665" progId="Equation.3">
                    <p:embed/>
                  </p:oleObj>
                </mc:Choice>
                <mc:Fallback>
                  <p:oleObj name="" r:id="rId17" imgW="177800" imgH="24066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90" y="49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2" name="直接连接符 113838"/>
            <p:cNvSpPr/>
            <p:nvPr/>
          </p:nvSpPr>
          <p:spPr>
            <a:xfrm flipH="1">
              <a:off x="2016" y="763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5173" name="对象 113839"/>
            <p:cNvGraphicFramePr/>
            <p:nvPr/>
          </p:nvGraphicFramePr>
          <p:xfrm>
            <a:off x="2044" y="450"/>
            <a:ext cx="2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9" imgW="266065" imgH="241300" progId="Equation.3">
                    <p:embed/>
                  </p:oleObj>
                </mc:Choice>
                <mc:Fallback>
                  <p:oleObj name="" r:id="rId19" imgW="266065" imgH="2413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44" y="450"/>
                          <a:ext cx="2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4" name="对象 113840"/>
            <p:cNvGraphicFramePr/>
            <p:nvPr/>
          </p:nvGraphicFramePr>
          <p:xfrm>
            <a:off x="2263" y="189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21" imgW="203200" imgH="241300" progId="Equation.3">
                    <p:embed/>
                  </p:oleObj>
                </mc:Choice>
                <mc:Fallback>
                  <p:oleObj name="" r:id="rId21" imgW="203200" imgH="2413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63" y="189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5" name="对象 113841"/>
            <p:cNvGraphicFramePr/>
            <p:nvPr/>
          </p:nvGraphicFramePr>
          <p:xfrm>
            <a:off x="1632" y="768"/>
            <a:ext cx="30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23" imgW="254000" imgH="241300" progId="Equation.3">
                    <p:embed/>
                  </p:oleObj>
                </mc:Choice>
                <mc:Fallback>
                  <p:oleObj name="" r:id="rId23" imgW="254000" imgH="2413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32" y="768"/>
                          <a:ext cx="300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6" name="对象 113842"/>
            <p:cNvGraphicFramePr/>
            <p:nvPr/>
          </p:nvGraphicFramePr>
          <p:xfrm>
            <a:off x="254" y="1677"/>
            <a:ext cx="20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25" imgW="215900" imgH="241300" progId="Equation.3">
                    <p:embed/>
                  </p:oleObj>
                </mc:Choice>
                <mc:Fallback>
                  <p:oleObj name="" r:id="rId25" imgW="215900" imgH="2413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4" y="1677"/>
                          <a:ext cx="20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77" name="矩形 113843"/>
            <p:cNvSpPr/>
            <p:nvPr/>
          </p:nvSpPr>
          <p:spPr>
            <a:xfrm>
              <a:off x="1683" y="1888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78" name="直接连接符 113844"/>
            <p:cNvSpPr/>
            <p:nvPr/>
          </p:nvSpPr>
          <p:spPr>
            <a:xfrm>
              <a:off x="1729" y="1434"/>
              <a:ext cx="0" cy="4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79" name="直接连接符 113845"/>
            <p:cNvSpPr/>
            <p:nvPr/>
          </p:nvSpPr>
          <p:spPr>
            <a:xfrm>
              <a:off x="1724" y="2152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0" name="直接连接符 113846"/>
            <p:cNvSpPr/>
            <p:nvPr/>
          </p:nvSpPr>
          <p:spPr>
            <a:xfrm>
              <a:off x="1691" y="1456"/>
              <a:ext cx="0" cy="2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5181" name="对象 113847"/>
            <p:cNvGraphicFramePr/>
            <p:nvPr/>
          </p:nvGraphicFramePr>
          <p:xfrm>
            <a:off x="1517" y="1430"/>
            <a:ext cx="1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27" imgW="177800" imgH="266065" progId="Equation.3">
                    <p:embed/>
                  </p:oleObj>
                </mc:Choice>
                <mc:Fallback>
                  <p:oleObj name="" r:id="rId27" imgW="177800" imgH="26606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7" y="1430"/>
                          <a:ext cx="163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2" name="文本框 113848"/>
            <p:cNvSpPr txBox="1"/>
            <p:nvPr/>
          </p:nvSpPr>
          <p:spPr>
            <a:xfrm>
              <a:off x="1319" y="186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83" name="矩形 113849"/>
            <p:cNvSpPr/>
            <p:nvPr/>
          </p:nvSpPr>
          <p:spPr>
            <a:xfrm>
              <a:off x="2141" y="1883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84" name="直接连接符 113850"/>
            <p:cNvSpPr/>
            <p:nvPr/>
          </p:nvSpPr>
          <p:spPr>
            <a:xfrm>
              <a:off x="2187" y="1670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5" name="直接连接符 113851"/>
            <p:cNvSpPr/>
            <p:nvPr/>
          </p:nvSpPr>
          <p:spPr>
            <a:xfrm>
              <a:off x="2182" y="2135"/>
              <a:ext cx="0" cy="1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6" name="直接连接符 113852"/>
            <p:cNvSpPr/>
            <p:nvPr/>
          </p:nvSpPr>
          <p:spPr>
            <a:xfrm>
              <a:off x="1734" y="1670"/>
              <a:ext cx="465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7" name="直接连接符 113853"/>
            <p:cNvSpPr/>
            <p:nvPr/>
          </p:nvSpPr>
          <p:spPr>
            <a:xfrm>
              <a:off x="1451" y="1440"/>
              <a:ext cx="5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8" name="直接连接符 113854"/>
            <p:cNvSpPr/>
            <p:nvPr/>
          </p:nvSpPr>
          <p:spPr>
            <a:xfrm>
              <a:off x="1463" y="81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89" name="直接连接符 113855"/>
            <p:cNvSpPr/>
            <p:nvPr/>
          </p:nvSpPr>
          <p:spPr>
            <a:xfrm flipV="1">
              <a:off x="594" y="786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5190" name="对象 113856"/>
            <p:cNvGraphicFramePr/>
            <p:nvPr/>
          </p:nvGraphicFramePr>
          <p:xfrm>
            <a:off x="594" y="498"/>
            <a:ext cx="15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29" imgW="152400" imgH="228600" progId="Equation.3">
                    <p:embed/>
                  </p:oleObj>
                </mc:Choice>
                <mc:Fallback>
                  <p:oleObj name="" r:id="rId29" imgW="152400" imgH="2286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94" y="498"/>
                          <a:ext cx="15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4" grpId="0"/>
      <p:bldP spid="113675" grpId="0" animBg="1"/>
      <p:bldP spid="1137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45" name="组合 114884"/>
          <p:cNvGrpSpPr/>
          <p:nvPr/>
        </p:nvGrpSpPr>
        <p:grpSpPr>
          <a:xfrm>
            <a:off x="352425" y="762000"/>
            <a:ext cx="4219575" cy="3095625"/>
            <a:chOff x="222" y="480"/>
            <a:chExt cx="2658" cy="1950"/>
          </a:xfrm>
        </p:grpSpPr>
        <p:sp>
          <p:nvSpPr>
            <p:cNvPr id="6146" name="直接连接符 114825"/>
            <p:cNvSpPr/>
            <p:nvPr/>
          </p:nvSpPr>
          <p:spPr>
            <a:xfrm flipV="1">
              <a:off x="597" y="2315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7" name="直接连接符 114826"/>
            <p:cNvSpPr/>
            <p:nvPr/>
          </p:nvSpPr>
          <p:spPr>
            <a:xfrm flipH="1" flipV="1">
              <a:off x="2027" y="855"/>
              <a:ext cx="0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8" name="直接连接符 114827"/>
            <p:cNvSpPr/>
            <p:nvPr/>
          </p:nvSpPr>
          <p:spPr>
            <a:xfrm flipV="1">
              <a:off x="597" y="860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9" name="组合 114828"/>
            <p:cNvGrpSpPr/>
            <p:nvPr/>
          </p:nvGrpSpPr>
          <p:grpSpPr>
            <a:xfrm>
              <a:off x="1913" y="1027"/>
              <a:ext cx="206" cy="290"/>
              <a:chOff x="4164" y="1968"/>
              <a:chExt cx="264" cy="420"/>
            </a:xfrm>
          </p:grpSpPr>
          <p:sp>
            <p:nvSpPr>
              <p:cNvPr id="6150" name="菱形 114829"/>
              <p:cNvSpPr/>
              <p:nvPr/>
            </p:nvSpPr>
            <p:spPr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" name="直接连接符 114830"/>
              <p:cNvSpPr/>
              <p:nvPr/>
            </p:nvSpPr>
            <p:spPr>
              <a:xfrm>
                <a:off x="4176" y="2184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52" name="矩形 114831"/>
            <p:cNvSpPr/>
            <p:nvPr/>
          </p:nvSpPr>
          <p:spPr>
            <a:xfrm>
              <a:off x="1436" y="1071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53" name="直接连接符 114832"/>
            <p:cNvSpPr/>
            <p:nvPr/>
          </p:nvSpPr>
          <p:spPr>
            <a:xfrm>
              <a:off x="2019" y="843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54" name="文本框 114833"/>
            <p:cNvSpPr txBox="1"/>
            <p:nvPr/>
          </p:nvSpPr>
          <p:spPr>
            <a:xfrm>
              <a:off x="1086" y="980"/>
              <a:ext cx="4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55" name="直接连接符 114834"/>
            <p:cNvSpPr/>
            <p:nvPr/>
          </p:nvSpPr>
          <p:spPr>
            <a:xfrm>
              <a:off x="1873" y="1049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6156" name="文本框 114835"/>
            <p:cNvSpPr txBox="1"/>
            <p:nvPr/>
          </p:nvSpPr>
          <p:spPr>
            <a:xfrm>
              <a:off x="1050" y="1450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57" name="直接连接符 114836"/>
            <p:cNvSpPr/>
            <p:nvPr/>
          </p:nvSpPr>
          <p:spPr>
            <a:xfrm flipV="1">
              <a:off x="2867" y="851"/>
              <a:ext cx="1" cy="14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58" name="文本框 114837"/>
            <p:cNvSpPr txBox="1"/>
            <p:nvPr/>
          </p:nvSpPr>
          <p:spPr>
            <a:xfrm>
              <a:off x="1792" y="1875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59" name="文本框 114838"/>
            <p:cNvSpPr txBox="1"/>
            <p:nvPr/>
          </p:nvSpPr>
          <p:spPr>
            <a:xfrm>
              <a:off x="1644" y="1225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60" name="文本框 114839"/>
            <p:cNvSpPr txBox="1"/>
            <p:nvPr/>
          </p:nvSpPr>
          <p:spPr>
            <a:xfrm>
              <a:off x="981" y="621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61" name="文本框 114840"/>
            <p:cNvSpPr txBox="1"/>
            <p:nvPr/>
          </p:nvSpPr>
          <p:spPr>
            <a:xfrm>
              <a:off x="2219" y="597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62" name="直接连接符 114841"/>
            <p:cNvSpPr/>
            <p:nvPr/>
          </p:nvSpPr>
          <p:spPr>
            <a:xfrm flipV="1">
              <a:off x="1080" y="863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63" name="文本框 114842"/>
            <p:cNvSpPr txBox="1"/>
            <p:nvPr/>
          </p:nvSpPr>
          <p:spPr>
            <a:xfrm>
              <a:off x="715" y="83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64" name="文本框 114843"/>
            <p:cNvSpPr txBox="1"/>
            <p:nvPr/>
          </p:nvSpPr>
          <p:spPr>
            <a:xfrm>
              <a:off x="717" y="206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65" name="矩形 114844"/>
            <p:cNvSpPr/>
            <p:nvPr/>
          </p:nvSpPr>
          <p:spPr>
            <a:xfrm>
              <a:off x="1044" y="1475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" name="矩形 114845"/>
            <p:cNvSpPr/>
            <p:nvPr/>
          </p:nvSpPr>
          <p:spPr>
            <a:xfrm>
              <a:off x="2274" y="1629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67" name="矩形 114846"/>
            <p:cNvSpPr/>
            <p:nvPr/>
          </p:nvSpPr>
          <p:spPr>
            <a:xfrm>
              <a:off x="2275" y="210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6168" name="组合 114847"/>
            <p:cNvGrpSpPr/>
            <p:nvPr/>
          </p:nvGrpSpPr>
          <p:grpSpPr>
            <a:xfrm>
              <a:off x="1669" y="2311"/>
              <a:ext cx="160" cy="119"/>
              <a:chOff x="4403" y="3875"/>
              <a:chExt cx="160" cy="119"/>
            </a:xfrm>
          </p:grpSpPr>
          <p:sp>
            <p:nvSpPr>
              <p:cNvPr id="6169" name="直接连接符 114848"/>
              <p:cNvSpPr/>
              <p:nvPr/>
            </p:nvSpPr>
            <p:spPr>
              <a:xfrm>
                <a:off x="4489" y="3875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70" name="直接连接符 114849"/>
              <p:cNvSpPr/>
              <p:nvPr/>
            </p:nvSpPr>
            <p:spPr>
              <a:xfrm>
                <a:off x="4403" y="3994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71" name="直接连接符 114850"/>
            <p:cNvSpPr/>
            <p:nvPr/>
          </p:nvSpPr>
          <p:spPr>
            <a:xfrm flipV="1">
              <a:off x="1479" y="1327"/>
              <a:ext cx="0" cy="1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72" name="直接连接符 114851"/>
            <p:cNvSpPr/>
            <p:nvPr/>
          </p:nvSpPr>
          <p:spPr>
            <a:xfrm flipH="1" flipV="1">
              <a:off x="1081" y="1726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73" name="直接连接符 114852"/>
            <p:cNvSpPr/>
            <p:nvPr/>
          </p:nvSpPr>
          <p:spPr>
            <a:xfrm flipV="1">
              <a:off x="2020" y="1304"/>
              <a:ext cx="0" cy="1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74" name="直接连接符 114853"/>
            <p:cNvSpPr/>
            <p:nvPr/>
          </p:nvSpPr>
          <p:spPr>
            <a:xfrm flipH="1">
              <a:off x="600" y="1430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75" name="矩形 114854"/>
            <p:cNvSpPr/>
            <p:nvPr/>
          </p:nvSpPr>
          <p:spPr>
            <a:xfrm>
              <a:off x="563" y="1202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6" name="直接连接符 114855"/>
            <p:cNvSpPr/>
            <p:nvPr/>
          </p:nvSpPr>
          <p:spPr>
            <a:xfrm flipH="1">
              <a:off x="600" y="846"/>
              <a:ext cx="0" cy="35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77" name="椭圆 114856"/>
            <p:cNvSpPr/>
            <p:nvPr/>
          </p:nvSpPr>
          <p:spPr>
            <a:xfrm>
              <a:off x="510" y="176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8" name="矩形 114857"/>
            <p:cNvSpPr/>
            <p:nvPr/>
          </p:nvSpPr>
          <p:spPr>
            <a:xfrm>
              <a:off x="404" y="1553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79" name="矩形 114858"/>
            <p:cNvSpPr/>
            <p:nvPr/>
          </p:nvSpPr>
          <p:spPr>
            <a:xfrm>
              <a:off x="393" y="1873"/>
              <a:ext cx="2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80" name="文本框 114859"/>
            <p:cNvSpPr txBox="1"/>
            <p:nvPr/>
          </p:nvSpPr>
          <p:spPr>
            <a:xfrm>
              <a:off x="222" y="1173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81" name="椭圆 114860"/>
            <p:cNvSpPr/>
            <p:nvPr/>
          </p:nvSpPr>
          <p:spPr>
            <a:xfrm>
              <a:off x="1723" y="2281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182" name="对象 114861"/>
            <p:cNvGraphicFramePr/>
            <p:nvPr/>
          </p:nvGraphicFramePr>
          <p:xfrm>
            <a:off x="743" y="1448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190500" imgH="228600" progId="Equation.3">
                    <p:embed/>
                  </p:oleObj>
                </mc:Choice>
                <mc:Fallback>
                  <p:oleObj name="" r:id="rId1" imgW="190500" imgH="2286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3" y="1448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3" name="直接连接符 114862"/>
            <p:cNvSpPr/>
            <p:nvPr/>
          </p:nvSpPr>
          <p:spPr>
            <a:xfrm flipV="1">
              <a:off x="1234" y="805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6184" name="对象 114863"/>
            <p:cNvGraphicFramePr/>
            <p:nvPr/>
          </p:nvGraphicFramePr>
          <p:xfrm>
            <a:off x="1220" y="52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177800" imgH="240665" progId="Equation.3">
                    <p:embed/>
                  </p:oleObj>
                </mc:Choice>
                <mc:Fallback>
                  <p:oleObj name="" r:id="rId3" imgW="177800" imgH="24066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20" y="52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5" name="直接连接符 114864"/>
            <p:cNvSpPr/>
            <p:nvPr/>
          </p:nvSpPr>
          <p:spPr>
            <a:xfrm flipH="1">
              <a:off x="2046" y="793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6186" name="对象 114865"/>
            <p:cNvGraphicFramePr/>
            <p:nvPr/>
          </p:nvGraphicFramePr>
          <p:xfrm>
            <a:off x="2074" y="480"/>
            <a:ext cx="2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266065" imgH="241300" progId="Equation.3">
                    <p:embed/>
                  </p:oleObj>
                </mc:Choice>
                <mc:Fallback>
                  <p:oleObj name="" r:id="rId5" imgW="266065" imgH="2413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4" y="480"/>
                          <a:ext cx="2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7" name="对象 114866"/>
            <p:cNvGraphicFramePr/>
            <p:nvPr/>
          </p:nvGraphicFramePr>
          <p:xfrm>
            <a:off x="2293" y="192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7" imgW="203200" imgH="241300" progId="Equation.3">
                    <p:embed/>
                  </p:oleObj>
                </mc:Choice>
                <mc:Fallback>
                  <p:oleObj name="" r:id="rId7" imgW="203200" imgH="2413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93" y="192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8" name="对象 114867"/>
            <p:cNvGraphicFramePr/>
            <p:nvPr/>
          </p:nvGraphicFramePr>
          <p:xfrm>
            <a:off x="1662" y="798"/>
            <a:ext cx="30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9" imgW="254000" imgH="241300" progId="Equation.3">
                    <p:embed/>
                  </p:oleObj>
                </mc:Choice>
                <mc:Fallback>
                  <p:oleObj name="" r:id="rId9" imgW="254000" imgH="2413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62" y="798"/>
                          <a:ext cx="300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9" name="对象 114868"/>
            <p:cNvGraphicFramePr/>
            <p:nvPr/>
          </p:nvGraphicFramePr>
          <p:xfrm>
            <a:off x="284" y="1707"/>
            <a:ext cx="20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1" imgW="215900" imgH="241300" progId="Equation.3">
                    <p:embed/>
                  </p:oleObj>
                </mc:Choice>
                <mc:Fallback>
                  <p:oleObj name="" r:id="rId11" imgW="215900" imgH="2413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" y="1707"/>
                          <a:ext cx="20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0" name="矩形 114869"/>
            <p:cNvSpPr/>
            <p:nvPr/>
          </p:nvSpPr>
          <p:spPr>
            <a:xfrm>
              <a:off x="1713" y="1918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1" name="直接连接符 114870"/>
            <p:cNvSpPr/>
            <p:nvPr/>
          </p:nvSpPr>
          <p:spPr>
            <a:xfrm>
              <a:off x="1759" y="1464"/>
              <a:ext cx="0" cy="4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92" name="直接连接符 114871"/>
            <p:cNvSpPr/>
            <p:nvPr/>
          </p:nvSpPr>
          <p:spPr>
            <a:xfrm>
              <a:off x="1754" y="2182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93" name="直接连接符 114872"/>
            <p:cNvSpPr/>
            <p:nvPr/>
          </p:nvSpPr>
          <p:spPr>
            <a:xfrm>
              <a:off x="1721" y="1486"/>
              <a:ext cx="0" cy="2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6194" name="对象 114873"/>
            <p:cNvGraphicFramePr/>
            <p:nvPr/>
          </p:nvGraphicFramePr>
          <p:xfrm>
            <a:off x="1547" y="1460"/>
            <a:ext cx="1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3" imgW="177800" imgH="266065" progId="Equation.3">
                    <p:embed/>
                  </p:oleObj>
                </mc:Choice>
                <mc:Fallback>
                  <p:oleObj name="" r:id="rId13" imgW="177800" imgH="266065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7" y="1460"/>
                          <a:ext cx="163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5" name="文本框 114874"/>
            <p:cNvSpPr txBox="1"/>
            <p:nvPr/>
          </p:nvSpPr>
          <p:spPr>
            <a:xfrm>
              <a:off x="1349" y="189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196" name="矩形 114875"/>
            <p:cNvSpPr/>
            <p:nvPr/>
          </p:nvSpPr>
          <p:spPr>
            <a:xfrm>
              <a:off x="2171" y="1913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97" name="直接连接符 114876"/>
            <p:cNvSpPr/>
            <p:nvPr/>
          </p:nvSpPr>
          <p:spPr>
            <a:xfrm>
              <a:off x="2217" y="1700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98" name="直接连接符 114877"/>
            <p:cNvSpPr/>
            <p:nvPr/>
          </p:nvSpPr>
          <p:spPr>
            <a:xfrm>
              <a:off x="2212" y="2165"/>
              <a:ext cx="0" cy="1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99" name="直接连接符 114878"/>
            <p:cNvSpPr/>
            <p:nvPr/>
          </p:nvSpPr>
          <p:spPr>
            <a:xfrm>
              <a:off x="1764" y="1700"/>
              <a:ext cx="465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00" name="直接连接符 114879"/>
            <p:cNvSpPr/>
            <p:nvPr/>
          </p:nvSpPr>
          <p:spPr>
            <a:xfrm>
              <a:off x="1481" y="1470"/>
              <a:ext cx="5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01" name="直接连接符 114880"/>
            <p:cNvSpPr/>
            <p:nvPr/>
          </p:nvSpPr>
          <p:spPr>
            <a:xfrm>
              <a:off x="1493" y="84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02" name="直接连接符 114881"/>
            <p:cNvSpPr/>
            <p:nvPr/>
          </p:nvSpPr>
          <p:spPr>
            <a:xfrm flipV="1">
              <a:off x="624" y="816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6203" name="对象 114882"/>
            <p:cNvGraphicFramePr/>
            <p:nvPr/>
          </p:nvGraphicFramePr>
          <p:xfrm>
            <a:off x="624" y="528"/>
            <a:ext cx="15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5" imgW="152400" imgH="228600" progId="Equation.3">
                    <p:embed/>
                  </p:oleObj>
                </mc:Choice>
                <mc:Fallback>
                  <p:oleObj name="" r:id="rId15" imgW="152400" imgH="2286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4" y="528"/>
                          <a:ext cx="15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690" name="对象 114689"/>
          <p:cNvGraphicFramePr/>
          <p:nvPr/>
        </p:nvGraphicFramePr>
        <p:xfrm>
          <a:off x="3028950" y="3813175"/>
          <a:ext cx="20764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7" imgW="862330" imgH="215900" progId="Equation.3">
                  <p:embed/>
                </p:oleObj>
              </mc:Choice>
              <mc:Fallback>
                <p:oleObj name="" r:id="rId17" imgW="862330" imgH="2159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28950" y="3813175"/>
                        <a:ext cx="207645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1" name="文本框 114690"/>
          <p:cNvSpPr txBox="1"/>
          <p:nvPr/>
        </p:nvSpPr>
        <p:spPr>
          <a:xfrm>
            <a:off x="609600" y="393700"/>
            <a:ext cx="3048000" cy="522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lang="en-US" altLang="zh-CN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输入电阻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4692" name="对象 114691"/>
          <p:cNvGraphicFramePr/>
          <p:nvPr/>
        </p:nvGraphicFramePr>
        <p:xfrm>
          <a:off x="1095375" y="5619750"/>
          <a:ext cx="361791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9" imgW="1574800" imgH="228600" progId="Equation.3">
                  <p:embed/>
                </p:oleObj>
              </mc:Choice>
              <mc:Fallback>
                <p:oleObj name="" r:id="rId19" imgW="1574800" imgH="228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95375" y="5619750"/>
                        <a:ext cx="3617913" cy="573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对象 114692"/>
          <p:cNvGraphicFramePr/>
          <p:nvPr/>
        </p:nvGraphicFramePr>
        <p:xfrm>
          <a:off x="1052513" y="4419600"/>
          <a:ext cx="6415087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1" imgW="2743200" imgH="457200" progId="Equation.3">
                  <p:embed/>
                </p:oleObj>
              </mc:Choice>
              <mc:Fallback>
                <p:oleObj name="" r:id="rId21" imgW="2743200" imgH="457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2513" y="4419600"/>
                        <a:ext cx="6415087" cy="1169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对象 114693"/>
          <p:cNvGraphicFramePr/>
          <p:nvPr/>
        </p:nvGraphicFramePr>
        <p:xfrm>
          <a:off x="5334000" y="5643563"/>
          <a:ext cx="19494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23" imgW="875030" imgH="215900" progId="Equation.3">
                  <p:embed/>
                </p:oleObj>
              </mc:Choice>
              <mc:Fallback>
                <p:oleObj name="" r:id="rId23" imgW="875030" imgH="215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34000" y="5643563"/>
                        <a:ext cx="194945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5" name="横卷形 114694"/>
          <p:cNvSpPr/>
          <p:nvPr/>
        </p:nvSpPr>
        <p:spPr>
          <a:xfrm>
            <a:off x="5148263" y="1163638"/>
            <a:ext cx="3287713" cy="2409825"/>
          </a:xfrm>
          <a:prstGeom prst="horizontalScroll">
            <a:avLst>
              <a:gd name="adj" fmla="val 12500"/>
            </a:avLst>
          </a:prstGeom>
          <a:pattFill prst="pct25">
            <a:fgClr>
              <a:srgbClr val="FFCCCC"/>
            </a:fgClr>
            <a:bgClr>
              <a:srgbClr val="FFFFFF"/>
            </a:bgClr>
          </a:pattFill>
          <a:ln w="38100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fontAlgn="base"/>
            <a:r>
              <a:rPr lang="en-US" altLang="zh-CN" sz="2800" b="1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lang="zh-CN" altLang="en-US" sz="2800" b="1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射极输出器的</a:t>
            </a:r>
            <a:r>
              <a:rPr lang="zh-CN" altLang="en-US" sz="2800" b="1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输入电阻高，对前级有利。</a:t>
            </a:r>
            <a:endParaRPr lang="zh-CN" altLang="en-US" sz="2800" b="1" strike="noStrike" noProof="1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fontAlgn="base"/>
            <a:r>
              <a:rPr lang="zh-CN" altLang="en-US" sz="2800" b="1" i="1" strike="noStrike" noProof="1" dirty="0"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lang="en-US" altLang="zh-CN" sz="2800" b="1" i="1" strike="noStrike" noProof="1" err="1"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lang="en-US" altLang="zh-CN" sz="2800" b="1" strike="noStrike" baseline="-25000" noProof="1" err="1"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lang="en-US" altLang="zh-CN" sz="2800" b="1" strike="noStrike" baseline="-25000" noProof="1"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lang="zh-CN" altLang="en-US" sz="2800" b="1" strike="noStrike" noProof="1" dirty="0"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与负载有关</a:t>
            </a:r>
            <a:endParaRPr lang="zh-CN" altLang="en-US" sz="2800" b="1" strike="noStrike" noProof="1">
              <a:solidFill>
                <a:schemeClr val="accent2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4700" name="组合 114699"/>
          <p:cNvGrpSpPr/>
          <p:nvPr/>
        </p:nvGrpSpPr>
        <p:grpSpPr>
          <a:xfrm>
            <a:off x="1042988" y="3119438"/>
            <a:ext cx="481012" cy="1071562"/>
            <a:chOff x="563" y="1913"/>
            <a:chExt cx="303" cy="675"/>
          </a:xfrm>
        </p:grpSpPr>
        <p:sp>
          <p:nvSpPr>
            <p:cNvPr id="6211" name="任意多边形 114700"/>
            <p:cNvSpPr/>
            <p:nvPr/>
          </p:nvSpPr>
          <p:spPr>
            <a:xfrm>
              <a:off x="563" y="1913"/>
              <a:ext cx="240" cy="528"/>
            </a:xfrm>
            <a:custGeom>
              <a:avLst/>
              <a:gdLst/>
              <a:ahLst/>
              <a:cxnLst>
                <a:cxn ang="270">
                  <a:pos x="15126" y="0"/>
                </a:cxn>
                <a:cxn ang="90">
                  <a:pos x="15126" y="12158"/>
                </a:cxn>
                <a:cxn ang="90">
                  <a:pos x="3237" y="21600"/>
                </a:cxn>
                <a:cxn ang="0">
                  <a:pos x="21600" y="6079"/>
                </a:cxn>
              </a:cxnLst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00FF00"/>
                </a:gs>
                <a:gs pos="100000">
                  <a:srgbClr val="006600"/>
                </a:gs>
              </a:gsLst>
              <a:lin ang="0" scaled="1"/>
              <a:tileRect/>
            </a:gra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6212" name="对象 114701"/>
            <p:cNvGraphicFramePr/>
            <p:nvPr/>
          </p:nvGraphicFramePr>
          <p:xfrm>
            <a:off x="672" y="2256"/>
            <a:ext cx="19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25" imgW="127000" imgH="215265" progId="Equation.3">
                    <p:embed/>
                  </p:oleObj>
                </mc:Choice>
                <mc:Fallback>
                  <p:oleObj name="" r:id="rId25" imgW="127000" imgH="21526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66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72" y="2256"/>
                          <a:ext cx="194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03" name="组合 114702"/>
          <p:cNvGrpSpPr/>
          <p:nvPr/>
        </p:nvGrpSpPr>
        <p:grpSpPr>
          <a:xfrm>
            <a:off x="1828800" y="3084513"/>
            <a:ext cx="630238" cy="1106487"/>
            <a:chOff x="1119" y="1906"/>
            <a:chExt cx="397" cy="697"/>
          </a:xfrm>
        </p:grpSpPr>
        <p:graphicFrame>
          <p:nvGraphicFramePr>
            <p:cNvPr id="6214" name="对象 114703"/>
            <p:cNvGraphicFramePr/>
            <p:nvPr/>
          </p:nvGraphicFramePr>
          <p:xfrm>
            <a:off x="1282" y="2271"/>
            <a:ext cx="23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27" imgW="152400" imgH="215900" progId="Equation.3">
                    <p:embed/>
                  </p:oleObj>
                </mc:Choice>
                <mc:Fallback>
                  <p:oleObj name="" r:id="rId27" imgW="152400" imgH="2159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66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82" y="2271"/>
                          <a:ext cx="234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15" name="任意多边形 114704"/>
            <p:cNvSpPr/>
            <p:nvPr/>
          </p:nvSpPr>
          <p:spPr>
            <a:xfrm>
              <a:off x="1119" y="1906"/>
              <a:ext cx="288" cy="528"/>
            </a:xfrm>
            <a:custGeom>
              <a:avLst/>
              <a:gdLst/>
              <a:ahLst/>
              <a:cxnLst>
                <a:cxn ang="270">
                  <a:pos x="15126" y="0"/>
                </a:cxn>
                <a:cxn ang="90">
                  <a:pos x="15126" y="12158"/>
                </a:cxn>
                <a:cxn ang="90">
                  <a:pos x="3237" y="21600"/>
                </a:cxn>
                <a:cxn ang="0">
                  <a:pos x="21600" y="6079"/>
                </a:cxn>
              </a:cxnLst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00FF00"/>
                </a:gs>
                <a:gs pos="100000">
                  <a:srgbClr val="006600"/>
                </a:gs>
              </a:gsLst>
              <a:lin ang="0" scaled="1"/>
              <a:tileRect/>
            </a:gra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文本框 115713"/>
          <p:cNvSpPr txBox="1"/>
          <p:nvPr/>
        </p:nvSpPr>
        <p:spPr>
          <a:xfrm>
            <a:off x="609600" y="303213"/>
            <a:ext cx="3200400" cy="522288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lang="en-US" altLang="zh-CN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输出电阻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115715" name="对象 115714"/>
          <p:cNvGraphicFramePr/>
          <p:nvPr/>
        </p:nvGraphicFramePr>
        <p:xfrm>
          <a:off x="5257800" y="3048000"/>
          <a:ext cx="216693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787400" imgH="419100" progId="Equation.3">
                  <p:embed/>
                </p:oleObj>
              </mc:Choice>
              <mc:Fallback>
                <p:oleObj name="" r:id="rId1" imgW="787400" imgH="4191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57800" y="3048000"/>
                        <a:ext cx="2166938" cy="115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0" name="对象 115719"/>
          <p:cNvGraphicFramePr/>
          <p:nvPr/>
        </p:nvGraphicFramePr>
        <p:xfrm>
          <a:off x="5089525" y="1676400"/>
          <a:ext cx="23780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1016000" imgH="228600" progId="Equation.3">
                  <p:embed/>
                </p:oleObj>
              </mc:Choice>
              <mc:Fallback>
                <p:oleObj name="" r:id="rId3" imgW="1016000" imgH="228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89525" y="1676400"/>
                        <a:ext cx="2378075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对象 115720"/>
          <p:cNvGraphicFramePr/>
          <p:nvPr/>
        </p:nvGraphicFramePr>
        <p:xfrm>
          <a:off x="5164138" y="665163"/>
          <a:ext cx="261620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1104900" imgH="419100" progId="Equation.3">
                  <p:embed/>
                </p:oleObj>
              </mc:Choice>
              <mc:Fallback>
                <p:oleObj name="" r:id="rId5" imgW="1104900" imgH="4191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64138" y="665163"/>
                        <a:ext cx="2616200" cy="107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对象 115721"/>
          <p:cNvGraphicFramePr/>
          <p:nvPr/>
        </p:nvGraphicFramePr>
        <p:xfrm>
          <a:off x="4876800" y="2438400"/>
          <a:ext cx="40671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7" imgW="1816100" imgH="228600" progId="Equation.3">
                  <p:embed/>
                </p:oleObj>
              </mc:Choice>
              <mc:Fallback>
                <p:oleObj name="" r:id="rId7" imgW="1816100" imgH="2286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2438400"/>
                        <a:ext cx="4067175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动作按钮: 后退或前一项 115722"/>
          <p:cNvSpPr/>
          <p:nvPr/>
        </p:nvSpPr>
        <p:spPr>
          <a:xfrm>
            <a:off x="2743200" y="457200"/>
            <a:ext cx="533400" cy="304800"/>
          </a:xfrm>
          <a:prstGeom prst="actionButtonBackPrevious">
            <a:avLst/>
          </a:prstGeom>
          <a:solidFill>
            <a:srgbClr val="F6FAE6"/>
          </a:solidFill>
          <a:ln w="38100">
            <a:noFill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4" name="横卷形 115723"/>
          <p:cNvSpPr/>
          <p:nvPr/>
        </p:nvSpPr>
        <p:spPr>
          <a:xfrm>
            <a:off x="5100638" y="4038600"/>
            <a:ext cx="3281363" cy="2009775"/>
          </a:xfrm>
          <a:prstGeom prst="horizontalScroll">
            <a:avLst>
              <a:gd name="adj" fmla="val 12500"/>
            </a:avLst>
          </a:prstGeom>
          <a:pattFill prst="pct25">
            <a:fgClr>
              <a:srgbClr val="FFCCCC"/>
            </a:fgClr>
            <a:bgClr>
              <a:srgbClr val="FFFFFF"/>
            </a:bgClr>
          </a:pattFill>
          <a:ln w="38100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fontAlgn="base">
              <a:lnSpc>
                <a:spcPct val="110000"/>
              </a:lnSpc>
            </a:pPr>
            <a:r>
              <a:rPr lang="zh-CN" altLang="en-US" sz="2800" b="1" strike="noStrike" noProof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射极输出器的输出电阻很小，带负载能力强。</a:t>
            </a:r>
            <a:endParaRPr lang="zh-CN" altLang="en-US" sz="2800" b="1" strike="noStrike" noProof="1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176" name="组合 115900"/>
          <p:cNvGrpSpPr/>
          <p:nvPr/>
        </p:nvGrpSpPr>
        <p:grpSpPr>
          <a:xfrm>
            <a:off x="352425" y="762000"/>
            <a:ext cx="4219575" cy="3095625"/>
            <a:chOff x="222" y="480"/>
            <a:chExt cx="2658" cy="1950"/>
          </a:xfrm>
        </p:grpSpPr>
        <p:sp>
          <p:nvSpPr>
            <p:cNvPr id="7177" name="直接连接符 115901"/>
            <p:cNvSpPr/>
            <p:nvPr/>
          </p:nvSpPr>
          <p:spPr>
            <a:xfrm flipV="1">
              <a:off x="597" y="2315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8" name="直接连接符 115902"/>
            <p:cNvSpPr/>
            <p:nvPr/>
          </p:nvSpPr>
          <p:spPr>
            <a:xfrm flipH="1" flipV="1">
              <a:off x="2027" y="855"/>
              <a:ext cx="0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79" name="直接连接符 115903"/>
            <p:cNvSpPr/>
            <p:nvPr/>
          </p:nvSpPr>
          <p:spPr>
            <a:xfrm flipV="1">
              <a:off x="597" y="860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180" name="组合 115904"/>
            <p:cNvGrpSpPr/>
            <p:nvPr/>
          </p:nvGrpSpPr>
          <p:grpSpPr>
            <a:xfrm>
              <a:off x="1913" y="1027"/>
              <a:ext cx="206" cy="290"/>
              <a:chOff x="4164" y="1968"/>
              <a:chExt cx="264" cy="420"/>
            </a:xfrm>
          </p:grpSpPr>
          <p:sp>
            <p:nvSpPr>
              <p:cNvPr id="7181" name="菱形 115905"/>
              <p:cNvSpPr/>
              <p:nvPr/>
            </p:nvSpPr>
            <p:spPr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82" name="直接连接符 115906"/>
              <p:cNvSpPr/>
              <p:nvPr/>
            </p:nvSpPr>
            <p:spPr>
              <a:xfrm>
                <a:off x="4176" y="2184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183" name="矩形 115907"/>
            <p:cNvSpPr/>
            <p:nvPr/>
          </p:nvSpPr>
          <p:spPr>
            <a:xfrm>
              <a:off x="1436" y="1071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4" name="直接连接符 115908"/>
            <p:cNvSpPr/>
            <p:nvPr/>
          </p:nvSpPr>
          <p:spPr>
            <a:xfrm>
              <a:off x="2019" y="843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5" name="文本框 115909"/>
            <p:cNvSpPr txBox="1"/>
            <p:nvPr/>
          </p:nvSpPr>
          <p:spPr>
            <a:xfrm>
              <a:off x="1086" y="980"/>
              <a:ext cx="4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86" name="直接连接符 115910"/>
            <p:cNvSpPr/>
            <p:nvPr/>
          </p:nvSpPr>
          <p:spPr>
            <a:xfrm>
              <a:off x="1873" y="1049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7187" name="文本框 115911"/>
            <p:cNvSpPr txBox="1"/>
            <p:nvPr/>
          </p:nvSpPr>
          <p:spPr>
            <a:xfrm>
              <a:off x="1050" y="1450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88" name="直接连接符 115912"/>
            <p:cNvSpPr/>
            <p:nvPr/>
          </p:nvSpPr>
          <p:spPr>
            <a:xfrm flipV="1">
              <a:off x="2867" y="851"/>
              <a:ext cx="1" cy="14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89" name="文本框 115913"/>
            <p:cNvSpPr txBox="1"/>
            <p:nvPr/>
          </p:nvSpPr>
          <p:spPr>
            <a:xfrm>
              <a:off x="1792" y="1875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90" name="文本框 115914"/>
            <p:cNvSpPr txBox="1"/>
            <p:nvPr/>
          </p:nvSpPr>
          <p:spPr>
            <a:xfrm>
              <a:off x="1644" y="1225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91" name="文本框 115915"/>
            <p:cNvSpPr txBox="1"/>
            <p:nvPr/>
          </p:nvSpPr>
          <p:spPr>
            <a:xfrm>
              <a:off x="981" y="621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92" name="文本框 115916"/>
            <p:cNvSpPr txBox="1"/>
            <p:nvPr/>
          </p:nvSpPr>
          <p:spPr>
            <a:xfrm>
              <a:off x="2219" y="597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93" name="直接连接符 115917"/>
            <p:cNvSpPr/>
            <p:nvPr/>
          </p:nvSpPr>
          <p:spPr>
            <a:xfrm flipV="1">
              <a:off x="1080" y="863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94" name="文本框 115918"/>
            <p:cNvSpPr txBox="1"/>
            <p:nvPr/>
          </p:nvSpPr>
          <p:spPr>
            <a:xfrm>
              <a:off x="715" y="83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95" name="文本框 115919"/>
            <p:cNvSpPr txBox="1"/>
            <p:nvPr/>
          </p:nvSpPr>
          <p:spPr>
            <a:xfrm>
              <a:off x="717" y="206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96" name="矩形 115920"/>
            <p:cNvSpPr/>
            <p:nvPr/>
          </p:nvSpPr>
          <p:spPr>
            <a:xfrm>
              <a:off x="1044" y="1475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7" name="矩形 115921"/>
            <p:cNvSpPr/>
            <p:nvPr/>
          </p:nvSpPr>
          <p:spPr>
            <a:xfrm>
              <a:off x="2274" y="1629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198" name="矩形 115922"/>
            <p:cNvSpPr/>
            <p:nvPr/>
          </p:nvSpPr>
          <p:spPr>
            <a:xfrm>
              <a:off x="2275" y="210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7199" name="组合 115923"/>
            <p:cNvGrpSpPr/>
            <p:nvPr/>
          </p:nvGrpSpPr>
          <p:grpSpPr>
            <a:xfrm>
              <a:off x="1669" y="2311"/>
              <a:ext cx="160" cy="119"/>
              <a:chOff x="4403" y="3875"/>
              <a:chExt cx="160" cy="119"/>
            </a:xfrm>
          </p:grpSpPr>
          <p:sp>
            <p:nvSpPr>
              <p:cNvPr id="7200" name="直接连接符 115924"/>
              <p:cNvSpPr/>
              <p:nvPr/>
            </p:nvSpPr>
            <p:spPr>
              <a:xfrm>
                <a:off x="4489" y="3875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201" name="直接连接符 115925"/>
              <p:cNvSpPr/>
              <p:nvPr/>
            </p:nvSpPr>
            <p:spPr>
              <a:xfrm>
                <a:off x="4403" y="3994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7202" name="直接连接符 115926"/>
            <p:cNvSpPr/>
            <p:nvPr/>
          </p:nvSpPr>
          <p:spPr>
            <a:xfrm flipV="1">
              <a:off x="1479" y="1327"/>
              <a:ext cx="0" cy="1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3" name="直接连接符 115927"/>
            <p:cNvSpPr/>
            <p:nvPr/>
          </p:nvSpPr>
          <p:spPr>
            <a:xfrm flipH="1" flipV="1">
              <a:off x="1081" y="1726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4" name="直接连接符 115928"/>
            <p:cNvSpPr/>
            <p:nvPr/>
          </p:nvSpPr>
          <p:spPr>
            <a:xfrm flipV="1">
              <a:off x="2020" y="1304"/>
              <a:ext cx="0" cy="1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5" name="直接连接符 115929"/>
            <p:cNvSpPr/>
            <p:nvPr/>
          </p:nvSpPr>
          <p:spPr>
            <a:xfrm flipH="1">
              <a:off x="600" y="1430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6" name="矩形 115930"/>
            <p:cNvSpPr/>
            <p:nvPr/>
          </p:nvSpPr>
          <p:spPr>
            <a:xfrm>
              <a:off x="563" y="1202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7" name="直接连接符 115931"/>
            <p:cNvSpPr/>
            <p:nvPr/>
          </p:nvSpPr>
          <p:spPr>
            <a:xfrm flipH="1">
              <a:off x="600" y="846"/>
              <a:ext cx="0" cy="35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08" name="椭圆 115932"/>
            <p:cNvSpPr/>
            <p:nvPr/>
          </p:nvSpPr>
          <p:spPr>
            <a:xfrm>
              <a:off x="510" y="176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9" name="矩形 115933"/>
            <p:cNvSpPr/>
            <p:nvPr/>
          </p:nvSpPr>
          <p:spPr>
            <a:xfrm>
              <a:off x="404" y="1553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10" name="矩形 115934"/>
            <p:cNvSpPr/>
            <p:nvPr/>
          </p:nvSpPr>
          <p:spPr>
            <a:xfrm>
              <a:off x="393" y="1873"/>
              <a:ext cx="2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11" name="文本框 115935"/>
            <p:cNvSpPr txBox="1"/>
            <p:nvPr/>
          </p:nvSpPr>
          <p:spPr>
            <a:xfrm>
              <a:off x="222" y="1173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12" name="椭圆 115936"/>
            <p:cNvSpPr/>
            <p:nvPr/>
          </p:nvSpPr>
          <p:spPr>
            <a:xfrm>
              <a:off x="1723" y="2281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213" name="对象 115937"/>
            <p:cNvGraphicFramePr/>
            <p:nvPr/>
          </p:nvGraphicFramePr>
          <p:xfrm>
            <a:off x="743" y="1448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9" imgW="190500" imgH="228600" progId="Equation.3">
                    <p:embed/>
                  </p:oleObj>
                </mc:Choice>
                <mc:Fallback>
                  <p:oleObj name="" r:id="rId9" imgW="190500" imgH="2286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3" y="1448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4" name="直接连接符 115938"/>
            <p:cNvSpPr/>
            <p:nvPr/>
          </p:nvSpPr>
          <p:spPr>
            <a:xfrm flipV="1">
              <a:off x="1234" y="805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7215" name="对象 115939"/>
            <p:cNvGraphicFramePr/>
            <p:nvPr/>
          </p:nvGraphicFramePr>
          <p:xfrm>
            <a:off x="1220" y="52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1" imgW="177800" imgH="240665" progId="Equation.3">
                    <p:embed/>
                  </p:oleObj>
                </mc:Choice>
                <mc:Fallback>
                  <p:oleObj name="" r:id="rId11" imgW="177800" imgH="240665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20" y="52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6" name="直接连接符 115940"/>
            <p:cNvSpPr/>
            <p:nvPr/>
          </p:nvSpPr>
          <p:spPr>
            <a:xfrm flipH="1">
              <a:off x="2046" y="793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7217" name="对象 115941"/>
            <p:cNvGraphicFramePr/>
            <p:nvPr/>
          </p:nvGraphicFramePr>
          <p:xfrm>
            <a:off x="2074" y="480"/>
            <a:ext cx="2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3" imgW="266065" imgH="241300" progId="Equation.3">
                    <p:embed/>
                  </p:oleObj>
                </mc:Choice>
                <mc:Fallback>
                  <p:oleObj name="" r:id="rId13" imgW="266065" imgH="2413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4" y="480"/>
                          <a:ext cx="2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8" name="对象 115942"/>
            <p:cNvGraphicFramePr/>
            <p:nvPr/>
          </p:nvGraphicFramePr>
          <p:xfrm>
            <a:off x="2293" y="192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5" imgW="203200" imgH="241300" progId="Equation.3">
                    <p:embed/>
                  </p:oleObj>
                </mc:Choice>
                <mc:Fallback>
                  <p:oleObj name="" r:id="rId15" imgW="203200" imgH="2413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93" y="192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9" name="对象 115943"/>
            <p:cNvGraphicFramePr/>
            <p:nvPr/>
          </p:nvGraphicFramePr>
          <p:xfrm>
            <a:off x="1662" y="798"/>
            <a:ext cx="30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7" imgW="254000" imgH="241300" progId="Equation.3">
                    <p:embed/>
                  </p:oleObj>
                </mc:Choice>
                <mc:Fallback>
                  <p:oleObj name="" r:id="rId17" imgW="254000" imgH="2413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62" y="798"/>
                          <a:ext cx="300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0" name="对象 115944"/>
            <p:cNvGraphicFramePr/>
            <p:nvPr/>
          </p:nvGraphicFramePr>
          <p:xfrm>
            <a:off x="284" y="1707"/>
            <a:ext cx="20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9" imgW="215900" imgH="241300" progId="Equation.3">
                    <p:embed/>
                  </p:oleObj>
                </mc:Choice>
                <mc:Fallback>
                  <p:oleObj name="" r:id="rId19" imgW="215900" imgH="2413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" y="1707"/>
                          <a:ext cx="20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1" name="矩形 115945"/>
            <p:cNvSpPr/>
            <p:nvPr/>
          </p:nvSpPr>
          <p:spPr>
            <a:xfrm>
              <a:off x="1713" y="1918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22" name="直接连接符 115946"/>
            <p:cNvSpPr/>
            <p:nvPr/>
          </p:nvSpPr>
          <p:spPr>
            <a:xfrm>
              <a:off x="1759" y="1464"/>
              <a:ext cx="0" cy="4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3" name="直接连接符 115947"/>
            <p:cNvSpPr/>
            <p:nvPr/>
          </p:nvSpPr>
          <p:spPr>
            <a:xfrm>
              <a:off x="1754" y="2182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4" name="直接连接符 115948"/>
            <p:cNvSpPr/>
            <p:nvPr/>
          </p:nvSpPr>
          <p:spPr>
            <a:xfrm>
              <a:off x="1721" y="1486"/>
              <a:ext cx="0" cy="2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7225" name="对象 115949"/>
            <p:cNvGraphicFramePr/>
            <p:nvPr/>
          </p:nvGraphicFramePr>
          <p:xfrm>
            <a:off x="1547" y="1460"/>
            <a:ext cx="1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21" imgW="177800" imgH="266065" progId="Equation.3">
                    <p:embed/>
                  </p:oleObj>
                </mc:Choice>
                <mc:Fallback>
                  <p:oleObj name="" r:id="rId21" imgW="177800" imgH="26606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7" y="1460"/>
                          <a:ext cx="163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6" name="文本框 115950"/>
            <p:cNvSpPr txBox="1"/>
            <p:nvPr/>
          </p:nvSpPr>
          <p:spPr>
            <a:xfrm>
              <a:off x="1349" y="189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227" name="矩形 115951"/>
            <p:cNvSpPr/>
            <p:nvPr/>
          </p:nvSpPr>
          <p:spPr>
            <a:xfrm>
              <a:off x="2171" y="1913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28" name="直接连接符 115952"/>
            <p:cNvSpPr/>
            <p:nvPr/>
          </p:nvSpPr>
          <p:spPr>
            <a:xfrm>
              <a:off x="2217" y="1700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29" name="直接连接符 115953"/>
            <p:cNvSpPr/>
            <p:nvPr/>
          </p:nvSpPr>
          <p:spPr>
            <a:xfrm>
              <a:off x="2212" y="2165"/>
              <a:ext cx="0" cy="1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0" name="直接连接符 115954"/>
            <p:cNvSpPr/>
            <p:nvPr/>
          </p:nvSpPr>
          <p:spPr>
            <a:xfrm>
              <a:off x="1764" y="1700"/>
              <a:ext cx="465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1" name="直接连接符 115955"/>
            <p:cNvSpPr/>
            <p:nvPr/>
          </p:nvSpPr>
          <p:spPr>
            <a:xfrm>
              <a:off x="1481" y="1470"/>
              <a:ext cx="5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2" name="直接连接符 115956"/>
            <p:cNvSpPr/>
            <p:nvPr/>
          </p:nvSpPr>
          <p:spPr>
            <a:xfrm>
              <a:off x="1493" y="84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33" name="直接连接符 115957"/>
            <p:cNvSpPr/>
            <p:nvPr/>
          </p:nvSpPr>
          <p:spPr>
            <a:xfrm flipV="1">
              <a:off x="624" y="816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7234" name="对象 115958"/>
            <p:cNvGraphicFramePr/>
            <p:nvPr/>
          </p:nvGraphicFramePr>
          <p:xfrm>
            <a:off x="624" y="528"/>
            <a:ext cx="15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23" imgW="152400" imgH="228600" progId="Equation.3">
                    <p:embed/>
                  </p:oleObj>
                </mc:Choice>
                <mc:Fallback>
                  <p:oleObj name="" r:id="rId23" imgW="152400" imgH="2286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4" y="528"/>
                          <a:ext cx="15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5960" name="组合 115959"/>
          <p:cNvGrpSpPr/>
          <p:nvPr/>
        </p:nvGrpSpPr>
        <p:grpSpPr>
          <a:xfrm>
            <a:off x="2895600" y="3276600"/>
            <a:ext cx="354013" cy="882650"/>
            <a:chOff x="2717" y="1440"/>
            <a:chExt cx="223" cy="556"/>
          </a:xfrm>
        </p:grpSpPr>
        <p:sp>
          <p:nvSpPr>
            <p:cNvPr id="7236" name="任意多边形 115960"/>
            <p:cNvSpPr/>
            <p:nvPr/>
          </p:nvSpPr>
          <p:spPr>
            <a:xfrm flipH="1">
              <a:off x="2761" y="1440"/>
              <a:ext cx="179" cy="390"/>
            </a:xfrm>
            <a:custGeom>
              <a:avLst/>
              <a:gdLst/>
              <a:ahLst/>
              <a:cxnLst>
                <a:cxn ang="270">
                  <a:pos x="15126" y="0"/>
                </a:cxn>
                <a:cxn ang="90">
                  <a:pos x="15126" y="12158"/>
                </a:cxn>
                <a:cxn ang="90">
                  <a:pos x="3237" y="21600"/>
                </a:cxn>
                <a:cxn ang="0">
                  <a:pos x="21600" y="6079"/>
                </a:cxn>
              </a:cxnLst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  <a:tileRect/>
            </a:gra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7237" name="对象 115961"/>
            <p:cNvGraphicFramePr/>
            <p:nvPr/>
          </p:nvGraphicFramePr>
          <p:xfrm>
            <a:off x="2717" y="1657"/>
            <a:ext cx="20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25" imgW="139700" imgH="228600" progId="Equation.3">
                    <p:embed/>
                  </p:oleObj>
                </mc:Choice>
                <mc:Fallback>
                  <p:oleObj name="" r:id="rId25" imgW="139700" imgH="2286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17" y="1657"/>
                          <a:ext cx="209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/>
          <p:nvPr/>
        </p:nvGraphicFramePr>
        <p:xfrm>
          <a:off x="500063" y="4483100"/>
          <a:ext cx="34036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27" imgW="3005455" imgH="641350" progId="Equation.KSEE3">
                  <p:embed/>
                </p:oleObj>
              </mc:Choice>
              <mc:Fallback>
                <p:oleObj name="" r:id="rId27" imgW="3005455" imgH="64135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0063" y="4483100"/>
                        <a:ext cx="3403600" cy="636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654050" y="5119688"/>
          <a:ext cx="378301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9" imgW="3507740" imgH="932180" progId="Equation.KSEE3">
                  <p:embed/>
                </p:oleObj>
              </mc:Choice>
              <mc:Fallback>
                <p:oleObj name="" r:id="rId29" imgW="3507740" imgH="93218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4050" y="5119688"/>
                        <a:ext cx="3783013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1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标题 116737"/>
          <p:cNvSpPr/>
          <p:nvPr>
            <p:ph type="title"/>
          </p:nvPr>
        </p:nvSpPr>
        <p:spPr>
          <a:xfrm>
            <a:off x="457200" y="609600"/>
            <a:ext cx="7924800" cy="914400"/>
          </a:xfrm>
          <a:noFill/>
          <a:ln>
            <a:noFill/>
          </a:ln>
        </p:spPr>
        <p:txBody>
          <a:bodyPr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楷体_GB2312" pitchFamily="49" charset="-122"/>
                <a:cs typeface="+mj-cs"/>
              </a:rPr>
              <a:t>共集电极放大电路</a:t>
            </a:r>
            <a:r>
              <a:rPr kumimoji="0" lang="en-US" altLang="zh-CN" sz="32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楷体_GB2312" pitchFamily="49" charset="-122"/>
                <a:cs typeface="+mj-cs"/>
              </a:rPr>
              <a:t>(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楷体_GB2312" pitchFamily="49" charset="-122"/>
                <a:cs typeface="+mj-cs"/>
              </a:rPr>
              <a:t>射极输出器</a:t>
            </a:r>
            <a:r>
              <a:rPr kumimoji="0" lang="en-US" altLang="zh-CN" sz="32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楷体_GB2312" pitchFamily="49" charset="-122"/>
                <a:cs typeface="+mj-cs"/>
              </a:rPr>
              <a:t>)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楷体_GB2312" pitchFamily="49" charset="-122"/>
                <a:cs typeface="+mj-cs"/>
              </a:rPr>
              <a:t>的特点：</a:t>
            </a:r>
            <a:endParaRPr kumimoji="0" lang="zh-CN" altLang="en-US" sz="3200" b="1" i="0" u="none" strike="noStrike" kern="1200" cap="none" spc="0" normalizeH="0" baseline="0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116739" name="文本框 116738"/>
          <p:cNvSpPr txBox="1"/>
          <p:nvPr/>
        </p:nvSpPr>
        <p:spPr>
          <a:xfrm>
            <a:off x="2895600" y="3508375"/>
            <a:ext cx="5791200" cy="20574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</a:t>
            </a: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电压放大倍数小于</a:t>
            </a: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，约等于</a:t>
            </a: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1;</a:t>
            </a:r>
            <a:endParaRPr lang="en-US" altLang="zh-CN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输入电阻高；</a:t>
            </a:r>
            <a:endParaRPr lang="zh-CN" altLang="en-US" sz="2800" b="1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</a:t>
            </a: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输出电阻低；</a:t>
            </a:r>
            <a:endParaRPr lang="zh-CN" altLang="en-US" sz="2800" b="1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 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输出与输入同相。</a:t>
            </a:r>
            <a:endParaRPr lang="zh-CN" altLang="en-US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8195" name="对象 116739"/>
          <p:cNvGraphicFramePr/>
          <p:nvPr/>
        </p:nvGraphicFramePr>
        <p:xfrm>
          <a:off x="609600" y="1452563"/>
          <a:ext cx="290988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1320165" imgH="444500" progId="Equation.3">
                  <p:embed/>
                </p:oleObj>
              </mc:Choice>
              <mc:Fallback>
                <p:oleObj name="" r:id="rId1" imgW="1320165" imgH="4445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1452563"/>
                        <a:ext cx="2909888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对象 116740"/>
          <p:cNvGraphicFramePr/>
          <p:nvPr/>
        </p:nvGraphicFramePr>
        <p:xfrm>
          <a:off x="736600" y="2632075"/>
          <a:ext cx="40751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1586865" imgH="241300" progId="Equation.3">
                  <p:embed/>
                </p:oleObj>
              </mc:Choice>
              <mc:Fallback>
                <p:oleObj name="" r:id="rId3" imgW="1586865" imgH="2413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6600" y="2632075"/>
                        <a:ext cx="4075113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对象 116741"/>
          <p:cNvGraphicFramePr/>
          <p:nvPr/>
        </p:nvGraphicFramePr>
        <p:xfrm>
          <a:off x="700088" y="3455988"/>
          <a:ext cx="18002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5" imgW="787400" imgH="419100" progId="Equation.3">
                  <p:embed/>
                </p:oleObj>
              </mc:Choice>
              <mc:Fallback>
                <p:oleObj name="" r:id="rId5" imgW="787400" imgH="4191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0088" y="3455988"/>
                        <a:ext cx="1800225" cy="957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8" name="组合 116742"/>
          <p:cNvGrpSpPr/>
          <p:nvPr/>
        </p:nvGrpSpPr>
        <p:grpSpPr>
          <a:xfrm>
            <a:off x="457200" y="1165225"/>
            <a:ext cx="7772400" cy="171450"/>
            <a:chOff x="288" y="618"/>
            <a:chExt cx="4896" cy="108"/>
          </a:xfrm>
        </p:grpSpPr>
        <p:pic>
          <p:nvPicPr>
            <p:cNvPr id="8199" name="图片 116743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0" name="图片 116744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1" name="图片 116745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2" name="图片 116746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3" name="图片 116747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4" name="图片 116748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3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5" name="图片 116749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6" name="图片 116750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2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7" name="图片 116751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1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8" name="图片 116752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1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9" name="图片 116753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1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0" name="图片 116754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0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1" name="图片 116755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4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2" name="图片 116756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3" name="图片 116757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0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4" name="图片 116758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5" name="图片 116759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8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6" name="图片 116760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9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7" name="图片 116761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8" name="图片 116762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7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9" name="图片 116763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7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0" name="图片 116764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6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1" name="图片 116765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2" name="图片 116766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6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3" name="图片 116767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5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4" name="图片 116768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5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5" name="图片 116769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4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6" name="图片 116770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7" name="图片 116771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3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8" name="图片 116772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2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9" name="图片 116773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7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0" name="图片 116774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5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1" name="图片 116775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3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2" name="图片 116776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2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3" name="图片 116777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4" name="图片 116778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1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5" name="图片 116779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1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6" name="图片 116780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0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7" name="图片 116781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0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8" name="图片 116782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9" name="图片 116783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9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0" name="图片 116784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9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1" name="图片 116785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8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2" name="图片 116786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8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3" name="图片 116787" descr="Green and Black Diamond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0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244" name="组合 116788"/>
            <p:cNvGrpSpPr/>
            <p:nvPr/>
          </p:nvGrpSpPr>
          <p:grpSpPr>
            <a:xfrm>
              <a:off x="288" y="618"/>
              <a:ext cx="582" cy="102"/>
              <a:chOff x="4698" y="720"/>
              <a:chExt cx="582" cy="102"/>
            </a:xfrm>
          </p:grpSpPr>
          <p:pic>
            <p:nvPicPr>
              <p:cNvPr id="8245" name="图片 116789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46" name="图片 116790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0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47" name="图片 116791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6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48" name="图片 116792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6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49" name="图片 116793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50" name="图片 116794" descr="Green and Black Diamond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9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1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charRg st="1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2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charRg st="2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文本框 117761"/>
          <p:cNvSpPr txBox="1"/>
          <p:nvPr/>
        </p:nvSpPr>
        <p:spPr>
          <a:xfrm>
            <a:off x="2590800" y="304800"/>
            <a:ext cx="3924300" cy="6413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射极输出器的应用</a:t>
            </a:r>
            <a:endParaRPr lang="zh-CN" altLang="en-US" sz="36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7767" name="矩形 117766"/>
          <p:cNvSpPr/>
          <p:nvPr/>
        </p:nvSpPr>
        <p:spPr>
          <a:xfrm>
            <a:off x="806450" y="1066800"/>
            <a:ext cx="8042275" cy="6477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>
            <a:spAutoFit/>
          </a:bodyPr>
          <a:p>
            <a:pPr algn="ctr" fontAlgn="base">
              <a:lnSpc>
                <a:spcPct val="130000"/>
              </a:lnSpc>
            </a:pP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主要利用它具有输入电阻高和输出电阻低的特点。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7768" name="矩形 117767"/>
          <p:cNvSpPr/>
          <p:nvPr/>
        </p:nvSpPr>
        <p:spPr>
          <a:xfrm>
            <a:off x="762000" y="1633538"/>
            <a:ext cx="7772400" cy="1117600"/>
          </a:xfrm>
          <a:prstGeom prst="rect">
            <a:avLst/>
          </a:prstGeom>
          <a:noFill/>
          <a:ln w="38100">
            <a:noFill/>
          </a:ln>
        </p:spPr>
        <p:txBody>
          <a:bodyPr anchor="ctr">
            <a:spAutoFit/>
          </a:bodyPr>
          <a:p>
            <a:pPr fontAlgn="base">
              <a:lnSpc>
                <a:spcPct val="120000"/>
              </a:lnSpc>
            </a:pPr>
            <a:r>
              <a:rPr lang="en-US" altLang="zh-CN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sz="2800" b="1" strike="noStrike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lang="en-US" altLang="zh-CN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因输入电阻高，它常被用在多级放大电路的第一级，可以提高输入电阻，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减轻信号源负担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800" b="1" strike="noStrike" noProof="1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7769" name="矩形 117768"/>
          <p:cNvSpPr/>
          <p:nvPr/>
        </p:nvSpPr>
        <p:spPr>
          <a:xfrm>
            <a:off x="762000" y="2667000"/>
            <a:ext cx="7772400" cy="1117600"/>
          </a:xfrm>
          <a:prstGeom prst="rect">
            <a:avLst/>
          </a:prstGeom>
          <a:noFill/>
          <a:ln w="38100">
            <a:noFill/>
          </a:ln>
        </p:spPr>
        <p:txBody>
          <a:bodyPr anchor="ctr">
            <a:spAutoFit/>
          </a:bodyPr>
          <a:p>
            <a:pPr fontAlgn="base">
              <a:lnSpc>
                <a:spcPct val="120000"/>
              </a:lnSpc>
            </a:pPr>
            <a:r>
              <a:rPr lang="en-US" altLang="zh-CN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sz="2800" b="1" strike="noStrike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lang="en-US" altLang="zh-CN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因输出电阻低，它常被用在多级放大电路的末级，可以降低输出电阻，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提高带负载能力。 </a:t>
            </a:r>
            <a:endParaRPr lang="zh-CN" altLang="en-US" sz="2800" b="1" strike="noStrike" noProof="1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7770" name="矩形 117769"/>
          <p:cNvSpPr/>
          <p:nvPr/>
        </p:nvSpPr>
        <p:spPr>
          <a:xfrm>
            <a:off x="769938" y="3652838"/>
            <a:ext cx="7993063" cy="2214563"/>
          </a:xfrm>
          <a:prstGeom prst="rect">
            <a:avLst/>
          </a:prstGeom>
          <a:noFill/>
          <a:ln w="38100">
            <a:noFill/>
          </a:ln>
        </p:spPr>
        <p:txBody>
          <a:bodyPr anchor="ctr">
            <a:spAutoFit/>
          </a:bodyPr>
          <a:p>
            <a:pPr fontAlgn="base">
              <a:lnSpc>
                <a:spcPct val="120000"/>
              </a:lnSpc>
            </a:pP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sz="2800" b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</a:t>
            </a: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利用 </a:t>
            </a:r>
            <a:r>
              <a:rPr lang="en-US" altLang="zh-CN" sz="3200" b="1" i="1" strike="noStrike" noProof="1" err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lang="en-US" altLang="zh-CN" b="1" strike="noStrike" baseline="-25000" noProof="1" err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lang="en-US" altLang="zh-CN" b="1" strike="noStrike" baseline="-250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大、 </a:t>
            </a:r>
            <a:r>
              <a:rPr lang="en-US" altLang="zh-CN" sz="3200" b="1" i="1" strike="noStrike" noProof="1" err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lang="en-US" altLang="zh-CN" b="1" strike="noStrike" baseline="-25000" noProof="1" err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小以及 </a:t>
            </a:r>
            <a:r>
              <a:rPr lang="en-US" altLang="zh-CN" sz="2800" b="1" i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b="1" i="1" strike="noStrike" baseline="-250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 </a:t>
            </a:r>
            <a:r>
              <a:rPr lang="en-US" altLang="zh-CN" sz="2800" b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</a:t>
            </a: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的特点，也可将射极输出器放在放大电路的两级之间，起到阻抗匹配作用，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这一级射极输出器称为缓冲级或中间隔离级。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grpSp>
        <p:nvGrpSpPr>
          <p:cNvPr id="9222" name="组合 117770"/>
          <p:cNvGrpSpPr/>
          <p:nvPr/>
        </p:nvGrpSpPr>
        <p:grpSpPr>
          <a:xfrm>
            <a:off x="838200" y="914400"/>
            <a:ext cx="7772400" cy="171450"/>
            <a:chOff x="288" y="618"/>
            <a:chExt cx="4896" cy="108"/>
          </a:xfrm>
        </p:grpSpPr>
        <p:pic>
          <p:nvPicPr>
            <p:cNvPr id="9223" name="图片 117771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5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4" name="图片 117772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5" name="图片 117773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6" name="图片 117774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7" name="图片 117775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8" name="图片 117776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3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9" name="图片 117777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0" name="图片 117778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1" name="图片 117779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1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2" name="图片 117780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1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3" name="图片 117781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1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4" name="图片 117782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0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5" name="图片 117783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6" name="图片 117784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2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7" name="图片 117785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0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8" name="图片 117786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9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9" name="图片 117787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8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0" name="图片 117788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9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1" name="图片 117789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8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2" name="图片 117790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7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3" name="图片 117791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7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4" name="图片 117792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6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5" name="图片 117793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6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6" name="图片 117794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6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7" name="图片 117795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5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8" name="图片 117796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5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9" name="图片 117797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4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0" name="图片 117798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1" name="图片 117799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3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2" name="图片 117800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2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3" name="图片 117801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7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4" name="图片 117802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5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5" name="图片 117803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6" name="图片 117804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2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7" name="图片 117805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1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8" name="图片 117806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18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9" name="图片 117807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1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0" name="图片 117808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0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1" name="图片 117809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06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2" name="图片 117810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3" name="图片 117811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94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4" name="图片 117812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9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5" name="图片 117813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80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6" name="图片 117814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8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7" name="图片 117815" descr="Green and Black Diamon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02" y="62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268" name="组合 117816"/>
            <p:cNvGrpSpPr/>
            <p:nvPr/>
          </p:nvGrpSpPr>
          <p:grpSpPr>
            <a:xfrm>
              <a:off x="288" y="618"/>
              <a:ext cx="582" cy="102"/>
              <a:chOff x="4698" y="720"/>
              <a:chExt cx="582" cy="102"/>
            </a:xfrm>
          </p:grpSpPr>
          <p:pic>
            <p:nvPicPr>
              <p:cNvPr id="9269" name="图片 117817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78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9270" name="图片 117818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890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9271" name="图片 117819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86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9272" name="图片 117820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76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9273" name="图片 117821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17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9274" name="图片 117822" descr="Green and Black Diamond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698" y="720"/>
                <a:ext cx="10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7" grpId="0"/>
      <p:bldP spid="117768" grpId="0"/>
      <p:bldP spid="117769" grpId="0"/>
      <p:bldP spid="1177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标题 118785"/>
          <p:cNvSpPr/>
          <p:nvPr>
            <p:ph type="title"/>
          </p:nvPr>
        </p:nvSpPr>
        <p:spPr>
          <a:xfrm>
            <a:off x="152400" y="609600"/>
            <a:ext cx="1524000" cy="685800"/>
          </a:xfrm>
          <a:noFill/>
          <a:ln>
            <a:noFill/>
          </a:ln>
        </p:spPr>
        <p:txBody>
          <a:bodyPr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例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1:</a:t>
            </a:r>
            <a:endParaRPr kumimoji="0" lang="en-US" altLang="zh-CN" sz="2800" b="1" i="0" u="none" strike="noStrike" kern="1200" cap="none" spc="0" normalizeH="0" baseline="0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242" name="文本框 118786"/>
          <p:cNvSpPr txBox="1"/>
          <p:nvPr/>
        </p:nvSpPr>
        <p:spPr>
          <a:xfrm>
            <a:off x="4038600" y="2803525"/>
            <a:ext cx="273050" cy="6254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25000"/>
              </a:lnSpc>
            </a:pPr>
            <a:r>
              <a:rPr lang="en-US" altLang="zh-CN" sz="2800" b="1">
                <a:solidFill>
                  <a:srgbClr val="0066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>
              <a:solidFill>
                <a:srgbClr val="0066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8" name="矩形 118787"/>
          <p:cNvSpPr/>
          <p:nvPr/>
        </p:nvSpPr>
        <p:spPr>
          <a:xfrm>
            <a:off x="352425" y="517525"/>
            <a:ext cx="8486775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base">
              <a:lnSpc>
                <a:spcPct val="125000"/>
              </a:lnSpc>
            </a:pPr>
            <a:r>
              <a:rPr lang="en-US" altLang="zh-CN" sz="2800" b="1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</a:t>
            </a:r>
            <a:r>
              <a:rPr lang="zh-CN" altLang="en-US" sz="2800" b="1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在图示放大电路中，已知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CC</a:t>
            </a: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=12V,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2kΩ, </a:t>
            </a:r>
            <a:endParaRPr lang="en-US" altLang="zh-CN" sz="2800" b="1" strike="noStrike" noProof="1">
              <a:latin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</a:pP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200kΩ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lang="en-US" altLang="zh-CN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2kΩ </a:t>
            </a:r>
            <a:r>
              <a:rPr lang="zh-CN" altLang="en-US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，晶体管</a:t>
            </a:r>
            <a:r>
              <a:rPr lang="en-US" altLang="zh-CN" sz="2800" b="1" i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β</a:t>
            </a: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=60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</a:t>
            </a:r>
            <a:r>
              <a:rPr lang="en-US" altLang="zh-CN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=0.6V,  </a:t>
            </a:r>
            <a:r>
              <a:rPr lang="zh-CN" altLang="en-US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信号源内阻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100Ω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2800" b="1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试求</a:t>
            </a:r>
            <a:r>
              <a:rPr lang="en-US" altLang="zh-CN" sz="28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lang="en-US" altLang="zh-CN" sz="2800" b="1" strike="noStrike" noProof="1">
              <a:latin typeface="宋体" panose="02010600030101010101" pitchFamily="2" charset="-122"/>
            </a:endParaRPr>
          </a:p>
          <a:p>
            <a:pPr fontAlgn="base">
              <a:lnSpc>
                <a:spcPct val="125000"/>
              </a:lnSpc>
            </a:pP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lang="en-US" altLang="zh-CN" sz="28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静态工作点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 </a:t>
            </a:r>
            <a:r>
              <a:rPr lang="zh-CN" altLang="en-US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及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en-US" altLang="zh-CN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CE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en-US" sz="2800" b="1" strike="noStrike" noProof="1">
              <a:latin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</a:pPr>
            <a:r>
              <a:rPr lang="en-US" altLang="zh-CN" sz="2800" b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lang="en-US" altLang="zh-CN" sz="2800" b="1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画出微变等效电路；</a:t>
            </a:r>
            <a:endParaRPr lang="zh-CN" altLang="en-US" sz="2800" b="1" strike="noStrike" noProof="1" dirty="0">
              <a:latin typeface="宋体" panose="02010600030101010101" pitchFamily="2" charset="-122"/>
            </a:endParaRPr>
          </a:p>
          <a:p>
            <a:pPr fontAlgn="base">
              <a:lnSpc>
                <a:spcPct val="125000"/>
              </a:lnSpc>
            </a:pPr>
            <a:r>
              <a:rPr lang="en-US" altLang="zh-CN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lang="en-US" altLang="zh-CN" sz="28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b="1" i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b="1" i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lang="zh-CN" altLang="en-US" sz="28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2800" b="1" i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2800" b="1" strike="noStrike" baseline="-25000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2800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lang="zh-CN" altLang="en-US" sz="2800" b="1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lang="en-US" altLang="zh-CN" sz="2800" b="1" i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b="1" strike="noStrike" baseline="-25000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lang="en-US" altLang="zh-CN" b="1" strike="noStrike" baseline="-25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800" b="1" strike="noStrike" noProof="1">
              <a:latin typeface="宋体" panose="02010600030101010101" pitchFamily="2" charset="-122"/>
            </a:endParaRPr>
          </a:p>
        </p:txBody>
      </p:sp>
      <p:grpSp>
        <p:nvGrpSpPr>
          <p:cNvPr id="10244" name="组合 118847"/>
          <p:cNvGrpSpPr/>
          <p:nvPr/>
        </p:nvGrpSpPr>
        <p:grpSpPr>
          <a:xfrm>
            <a:off x="3352800" y="2743200"/>
            <a:ext cx="5429250" cy="3417888"/>
            <a:chOff x="768" y="624"/>
            <a:chExt cx="3420" cy="2153"/>
          </a:xfrm>
        </p:grpSpPr>
        <p:sp>
          <p:nvSpPr>
            <p:cNvPr id="10245" name="文本框 118848"/>
            <p:cNvSpPr txBox="1"/>
            <p:nvPr/>
          </p:nvSpPr>
          <p:spPr>
            <a:xfrm>
              <a:off x="1728" y="969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46" name="直接连接符 118849"/>
            <p:cNvSpPr/>
            <p:nvPr/>
          </p:nvSpPr>
          <p:spPr>
            <a:xfrm>
              <a:off x="2108" y="1344"/>
              <a:ext cx="0" cy="2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7" name="直接连接符 118850"/>
            <p:cNvSpPr/>
            <p:nvPr/>
          </p:nvSpPr>
          <p:spPr>
            <a:xfrm flipH="1" flipV="1">
              <a:off x="2112" y="800"/>
              <a:ext cx="0" cy="3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8" name="矩形 118851"/>
            <p:cNvSpPr/>
            <p:nvPr/>
          </p:nvSpPr>
          <p:spPr>
            <a:xfrm>
              <a:off x="2064" y="1092"/>
              <a:ext cx="96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9" name="直接连接符 118852"/>
            <p:cNvSpPr/>
            <p:nvPr/>
          </p:nvSpPr>
          <p:spPr>
            <a:xfrm>
              <a:off x="2524" y="1440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0" name="直接连接符 118853"/>
            <p:cNvSpPr/>
            <p:nvPr/>
          </p:nvSpPr>
          <p:spPr>
            <a:xfrm flipV="1">
              <a:off x="2524" y="1455"/>
              <a:ext cx="141" cy="1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1" name="直接连接符 118854"/>
            <p:cNvSpPr/>
            <p:nvPr/>
          </p:nvSpPr>
          <p:spPr>
            <a:xfrm>
              <a:off x="2659" y="807"/>
              <a:ext cx="0" cy="6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2" name="直接连接符 118855"/>
            <p:cNvSpPr/>
            <p:nvPr/>
          </p:nvSpPr>
          <p:spPr>
            <a:xfrm>
              <a:off x="2645" y="176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3" name="直接连接符 118856"/>
            <p:cNvSpPr/>
            <p:nvPr/>
          </p:nvSpPr>
          <p:spPr>
            <a:xfrm flipH="1">
              <a:off x="2645" y="2427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4" name="直接连接符 118857"/>
            <p:cNvSpPr/>
            <p:nvPr/>
          </p:nvSpPr>
          <p:spPr>
            <a:xfrm flipV="1">
              <a:off x="1296" y="2624"/>
              <a:ext cx="216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0255" name="文本框 118858"/>
            <p:cNvSpPr txBox="1"/>
            <p:nvPr/>
          </p:nvSpPr>
          <p:spPr>
            <a:xfrm>
              <a:off x="3600" y="624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56" name="椭圆 118859"/>
            <p:cNvSpPr/>
            <p:nvPr/>
          </p:nvSpPr>
          <p:spPr>
            <a:xfrm>
              <a:off x="3531" y="768"/>
              <a:ext cx="69" cy="6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257" name="组合 118860"/>
            <p:cNvGrpSpPr/>
            <p:nvPr/>
          </p:nvGrpSpPr>
          <p:grpSpPr>
            <a:xfrm>
              <a:off x="1682" y="1533"/>
              <a:ext cx="68" cy="209"/>
              <a:chOff x="3454" y="2018"/>
              <a:chExt cx="96" cy="328"/>
            </a:xfrm>
          </p:grpSpPr>
          <p:sp>
            <p:nvSpPr>
              <p:cNvPr id="10258" name="直接连接符 118861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9" name="直接连接符 118862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260" name="直接连接符 118863"/>
            <p:cNvSpPr/>
            <p:nvPr/>
          </p:nvSpPr>
          <p:spPr>
            <a:xfrm>
              <a:off x="1307" y="1631"/>
              <a:ext cx="3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61" name="组合 118864"/>
            <p:cNvGrpSpPr/>
            <p:nvPr/>
          </p:nvGrpSpPr>
          <p:grpSpPr>
            <a:xfrm flipH="1">
              <a:off x="3098" y="1809"/>
              <a:ext cx="68" cy="207"/>
              <a:chOff x="3454" y="2018"/>
              <a:chExt cx="96" cy="328"/>
            </a:xfrm>
          </p:grpSpPr>
          <p:sp>
            <p:nvSpPr>
              <p:cNvPr id="10262" name="直接连接符 118865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3" name="直接连接符 118866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264" name="直接连接符 118867"/>
            <p:cNvSpPr/>
            <p:nvPr/>
          </p:nvSpPr>
          <p:spPr>
            <a:xfrm>
              <a:off x="2644" y="1902"/>
              <a:ext cx="45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65" name="文本框 118868"/>
            <p:cNvSpPr txBox="1"/>
            <p:nvPr/>
          </p:nvSpPr>
          <p:spPr>
            <a:xfrm>
              <a:off x="1485" y="1241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66" name="文本框 118869"/>
            <p:cNvSpPr txBox="1"/>
            <p:nvPr/>
          </p:nvSpPr>
          <p:spPr>
            <a:xfrm>
              <a:off x="2973" y="1488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67" name="直接连接符 118870"/>
            <p:cNvSpPr/>
            <p:nvPr/>
          </p:nvSpPr>
          <p:spPr>
            <a:xfrm>
              <a:off x="2112" y="795"/>
              <a:ext cx="1409" cy="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68" name="椭圆 118871"/>
            <p:cNvSpPr/>
            <p:nvPr/>
          </p:nvSpPr>
          <p:spPr>
            <a:xfrm>
              <a:off x="2630" y="2609"/>
              <a:ext cx="34" cy="3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9" name="矩形 118872"/>
            <p:cNvSpPr/>
            <p:nvPr/>
          </p:nvSpPr>
          <p:spPr>
            <a:xfrm>
              <a:off x="2601" y="2160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0" name="直接连接符 118873"/>
            <p:cNvSpPr/>
            <p:nvPr/>
          </p:nvSpPr>
          <p:spPr>
            <a:xfrm flipH="1">
              <a:off x="3456" y="1913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71" name="矩形 118874"/>
            <p:cNvSpPr/>
            <p:nvPr/>
          </p:nvSpPr>
          <p:spPr>
            <a:xfrm>
              <a:off x="3402" y="2160"/>
              <a:ext cx="95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76" name="文本框 118875"/>
            <p:cNvSpPr txBox="1"/>
            <p:nvPr/>
          </p:nvSpPr>
          <p:spPr>
            <a:xfrm>
              <a:off x="2264" y="211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lang="en-US" altLang="zh-CN" b="1" baseline="-250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73" name="文本框 118876"/>
            <p:cNvSpPr txBox="1"/>
            <p:nvPr/>
          </p:nvSpPr>
          <p:spPr>
            <a:xfrm>
              <a:off x="3066" y="2105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74" name="直接连接符 118877"/>
            <p:cNvSpPr/>
            <p:nvPr/>
          </p:nvSpPr>
          <p:spPr>
            <a:xfrm>
              <a:off x="3166" y="1902"/>
              <a:ext cx="30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75" name="直接连接符 118878"/>
            <p:cNvSpPr/>
            <p:nvPr/>
          </p:nvSpPr>
          <p:spPr>
            <a:xfrm flipH="1">
              <a:off x="1745" y="1622"/>
              <a:ext cx="7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76" name="直接连接符 118879"/>
            <p:cNvSpPr/>
            <p:nvPr/>
          </p:nvSpPr>
          <p:spPr>
            <a:xfrm>
              <a:off x="2530" y="1649"/>
              <a:ext cx="130" cy="1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10277" name="组合 118880"/>
            <p:cNvGrpSpPr/>
            <p:nvPr/>
          </p:nvGrpSpPr>
          <p:grpSpPr>
            <a:xfrm>
              <a:off x="1270" y="1752"/>
              <a:ext cx="554" cy="880"/>
              <a:chOff x="1152" y="2248"/>
              <a:chExt cx="693" cy="1100"/>
            </a:xfrm>
          </p:grpSpPr>
          <p:sp>
            <p:nvSpPr>
              <p:cNvPr id="10278" name="文本框 118881"/>
              <p:cNvSpPr txBox="1"/>
              <p:nvPr/>
            </p:nvSpPr>
            <p:spPr>
              <a:xfrm>
                <a:off x="1152" y="2517"/>
                <a:ext cx="69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79" name="矩形 118882"/>
              <p:cNvSpPr/>
              <p:nvPr/>
            </p:nvSpPr>
            <p:spPr>
              <a:xfrm>
                <a:off x="1303" y="2248"/>
                <a:ext cx="30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80" name="矩形 118883"/>
              <p:cNvSpPr/>
              <p:nvPr/>
            </p:nvSpPr>
            <p:spPr>
              <a:xfrm>
                <a:off x="1325" y="2939"/>
                <a:ext cx="282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0281" name="组合 118884"/>
            <p:cNvGrpSpPr/>
            <p:nvPr/>
          </p:nvGrpSpPr>
          <p:grpSpPr>
            <a:xfrm>
              <a:off x="3365" y="1824"/>
              <a:ext cx="595" cy="826"/>
              <a:chOff x="3960" y="2297"/>
              <a:chExt cx="744" cy="1032"/>
            </a:xfrm>
          </p:grpSpPr>
          <p:sp>
            <p:nvSpPr>
              <p:cNvPr id="10282" name="文本框 118885"/>
              <p:cNvSpPr txBox="1"/>
              <p:nvPr/>
            </p:nvSpPr>
            <p:spPr>
              <a:xfrm>
                <a:off x="3960" y="2528"/>
                <a:ext cx="744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sz="2800" b="1" baseline="-2500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</a:t>
                </a:r>
                <a:endParaRPr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83" name="矩形 118886"/>
              <p:cNvSpPr/>
              <p:nvPr/>
            </p:nvSpPr>
            <p:spPr>
              <a:xfrm>
                <a:off x="4155" y="2297"/>
                <a:ext cx="303" cy="40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284" name="矩形 118887"/>
              <p:cNvSpPr/>
              <p:nvPr/>
            </p:nvSpPr>
            <p:spPr>
              <a:xfrm>
                <a:off x="4154" y="2920"/>
                <a:ext cx="283" cy="40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–</a:t>
                </a:r>
                <a:endPara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0285" name="矩形 118888"/>
            <p:cNvSpPr/>
            <p:nvPr/>
          </p:nvSpPr>
          <p:spPr>
            <a:xfrm>
              <a:off x="2887" y="165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86" name="矩形 118889"/>
            <p:cNvSpPr/>
            <p:nvPr/>
          </p:nvSpPr>
          <p:spPr>
            <a:xfrm>
              <a:off x="1735" y="135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287" name="组合 118890"/>
            <p:cNvGrpSpPr/>
            <p:nvPr/>
          </p:nvGrpSpPr>
          <p:grpSpPr>
            <a:xfrm>
              <a:off x="2568" y="2623"/>
              <a:ext cx="154" cy="154"/>
              <a:chOff x="2880" y="3360"/>
              <a:chExt cx="192" cy="192"/>
            </a:xfrm>
          </p:grpSpPr>
          <p:sp>
            <p:nvSpPr>
              <p:cNvPr id="10288" name="直接连接符 118891"/>
              <p:cNvSpPr/>
              <p:nvPr/>
            </p:nvSpPr>
            <p:spPr>
              <a:xfrm>
                <a:off x="2976" y="3360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89" name="直接连接符 118892"/>
              <p:cNvSpPr/>
              <p:nvPr/>
            </p:nvSpPr>
            <p:spPr>
              <a:xfrm>
                <a:off x="2880" y="355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0290" name="直接连接符 118893"/>
            <p:cNvSpPr/>
            <p:nvPr/>
          </p:nvSpPr>
          <p:spPr>
            <a:xfrm>
              <a:off x="3456" y="2405"/>
              <a:ext cx="0" cy="2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91" name="矩形 118894"/>
            <p:cNvSpPr/>
            <p:nvPr/>
          </p:nvSpPr>
          <p:spPr>
            <a:xfrm>
              <a:off x="1248" y="1799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92" name="直接连接符 118895"/>
            <p:cNvSpPr/>
            <p:nvPr/>
          </p:nvSpPr>
          <p:spPr>
            <a:xfrm>
              <a:off x="1296" y="1625"/>
              <a:ext cx="0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93" name="直接连接符 118896"/>
            <p:cNvSpPr/>
            <p:nvPr/>
          </p:nvSpPr>
          <p:spPr>
            <a:xfrm>
              <a:off x="1296" y="2057"/>
              <a:ext cx="0" cy="5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94" name="椭圆 118897"/>
            <p:cNvSpPr/>
            <p:nvPr/>
          </p:nvSpPr>
          <p:spPr>
            <a:xfrm>
              <a:off x="1200" y="229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95" name="文本框 118898"/>
            <p:cNvSpPr txBox="1"/>
            <p:nvPr/>
          </p:nvSpPr>
          <p:spPr>
            <a:xfrm>
              <a:off x="768" y="2175"/>
              <a:ext cx="595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96" name="矩形 118899"/>
            <p:cNvSpPr/>
            <p:nvPr/>
          </p:nvSpPr>
          <p:spPr>
            <a:xfrm>
              <a:off x="1054" y="206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97" name="矩形 118900"/>
            <p:cNvSpPr/>
            <p:nvPr/>
          </p:nvSpPr>
          <p:spPr>
            <a:xfrm>
              <a:off x="1070" y="239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298" name="文本框 118901"/>
            <p:cNvSpPr txBox="1"/>
            <p:nvPr/>
          </p:nvSpPr>
          <p:spPr>
            <a:xfrm>
              <a:off x="919" y="1721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标题 119809"/>
          <p:cNvSpPr/>
          <p:nvPr>
            <p:ph type="title"/>
          </p:nvPr>
        </p:nvSpPr>
        <p:spPr>
          <a:xfrm>
            <a:off x="228600" y="685800"/>
            <a:ext cx="1524000" cy="457200"/>
          </a:xfrm>
          <a:noFill/>
          <a:ln>
            <a:noFill/>
          </a:ln>
        </p:spPr>
        <p:txBody>
          <a:bodyPr lIns="92075" tIns="46038" rIns="92075" bIns="46038" anchor="ctr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解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:</a:t>
            </a:r>
            <a:endParaRPr kumimoji="0" lang="en-US" altLang="zh-CN" sz="2800" b="1" i="0" u="none" strike="noStrike" kern="1200" cap="none" spc="0" normalizeH="0" baseline="0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19811" name="文本框 119810"/>
          <p:cNvSpPr txBox="1"/>
          <p:nvPr/>
        </p:nvSpPr>
        <p:spPr>
          <a:xfrm>
            <a:off x="1219200" y="577850"/>
            <a:ext cx="4886325" cy="6254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25000"/>
              </a:lnSpc>
            </a:pP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由直流通路求静态工作点</a:t>
            </a:r>
            <a:r>
              <a:rPr lang="zh-CN" altLang="en-US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119812" name="对象 119811"/>
          <p:cNvGraphicFramePr/>
          <p:nvPr/>
        </p:nvGraphicFramePr>
        <p:xfrm>
          <a:off x="609600" y="1304925"/>
          <a:ext cx="82296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3567430" imgH="444500" progId="Equation.3">
                  <p:embed/>
                </p:oleObj>
              </mc:Choice>
              <mc:Fallback>
                <p:oleObj name="" r:id="rId1" imgW="3567430" imgH="444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1304925"/>
                        <a:ext cx="822960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对象 119812"/>
          <p:cNvGraphicFramePr/>
          <p:nvPr/>
        </p:nvGraphicFramePr>
        <p:xfrm>
          <a:off x="657225" y="2514600"/>
          <a:ext cx="3457575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524000" imgH="647700" progId="Equation.3">
                  <p:embed/>
                </p:oleObj>
              </mc:Choice>
              <mc:Fallback>
                <p:oleObj name="" r:id="rId3" imgW="1524000" imgH="6477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7225" y="2514600"/>
                        <a:ext cx="3457575" cy="1471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4" name="对象 119813"/>
          <p:cNvGraphicFramePr/>
          <p:nvPr/>
        </p:nvGraphicFramePr>
        <p:xfrm>
          <a:off x="430213" y="3963988"/>
          <a:ext cx="3074987" cy="154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295400" imgH="647700" progId="Equation.3">
                  <p:embed/>
                </p:oleObj>
              </mc:Choice>
              <mc:Fallback>
                <p:oleObj name="" r:id="rId5" imgW="1295400" imgH="6477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0213" y="3963988"/>
                        <a:ext cx="3074987" cy="1541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50" name="文本框 119849"/>
          <p:cNvSpPr txBox="1"/>
          <p:nvPr/>
        </p:nvSpPr>
        <p:spPr>
          <a:xfrm>
            <a:off x="5486400" y="25146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直流通路</a:t>
            </a:r>
            <a:endParaRPr lang="zh-CN" altLang="en-US" sz="28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119851" name="组合 119850"/>
          <p:cNvGrpSpPr/>
          <p:nvPr/>
        </p:nvGrpSpPr>
        <p:grpSpPr>
          <a:xfrm>
            <a:off x="5029200" y="2986088"/>
            <a:ext cx="4038600" cy="3186112"/>
            <a:chOff x="3216" y="681"/>
            <a:chExt cx="2544" cy="2007"/>
          </a:xfrm>
        </p:grpSpPr>
        <p:sp>
          <p:nvSpPr>
            <p:cNvPr id="11272" name="文本框 119851"/>
            <p:cNvSpPr txBox="1"/>
            <p:nvPr/>
          </p:nvSpPr>
          <p:spPr>
            <a:xfrm>
              <a:off x="4818" y="681"/>
              <a:ext cx="9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 i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73" name="文本框 119852"/>
            <p:cNvSpPr txBox="1"/>
            <p:nvPr/>
          </p:nvSpPr>
          <p:spPr>
            <a:xfrm>
              <a:off x="3216" y="100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74" name="直接连接符 119853"/>
            <p:cNvSpPr/>
            <p:nvPr/>
          </p:nvSpPr>
          <p:spPr>
            <a:xfrm flipH="1" flipV="1">
              <a:off x="3641" y="842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5" name="直接连接符 119854"/>
            <p:cNvSpPr/>
            <p:nvPr/>
          </p:nvSpPr>
          <p:spPr>
            <a:xfrm>
              <a:off x="3649" y="1361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6" name="矩形 119855"/>
            <p:cNvSpPr/>
            <p:nvPr/>
          </p:nvSpPr>
          <p:spPr>
            <a:xfrm>
              <a:off x="3593" y="1105"/>
              <a:ext cx="95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7" name="直接连接符 119856"/>
            <p:cNvSpPr/>
            <p:nvPr/>
          </p:nvSpPr>
          <p:spPr>
            <a:xfrm>
              <a:off x="4221" y="863"/>
              <a:ext cx="0" cy="6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11278" name="直接连接符 119857"/>
            <p:cNvSpPr/>
            <p:nvPr/>
          </p:nvSpPr>
          <p:spPr>
            <a:xfrm>
              <a:off x="4245" y="1865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grpSp>
          <p:nvGrpSpPr>
            <p:cNvPr id="11279" name="组合 119858"/>
            <p:cNvGrpSpPr/>
            <p:nvPr/>
          </p:nvGrpSpPr>
          <p:grpSpPr>
            <a:xfrm>
              <a:off x="3632" y="824"/>
              <a:ext cx="1193" cy="60"/>
              <a:chOff x="3704" y="684"/>
              <a:chExt cx="1193" cy="60"/>
            </a:xfrm>
          </p:grpSpPr>
          <p:sp>
            <p:nvSpPr>
              <p:cNvPr id="11280" name="椭圆 119859"/>
              <p:cNvSpPr/>
              <p:nvPr/>
            </p:nvSpPr>
            <p:spPr>
              <a:xfrm>
                <a:off x="4828" y="684"/>
                <a:ext cx="69" cy="6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81" name="直接连接符 119860"/>
              <p:cNvSpPr/>
              <p:nvPr/>
            </p:nvSpPr>
            <p:spPr>
              <a:xfrm>
                <a:off x="3704" y="711"/>
                <a:ext cx="11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282" name="矩形 119861"/>
            <p:cNvSpPr/>
            <p:nvPr/>
          </p:nvSpPr>
          <p:spPr>
            <a:xfrm>
              <a:off x="4201" y="2142"/>
              <a:ext cx="93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863" name="文本框 119862"/>
            <p:cNvSpPr txBox="1"/>
            <p:nvPr/>
          </p:nvSpPr>
          <p:spPr>
            <a:xfrm>
              <a:off x="3864" y="2069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lang="en-US" altLang="zh-CN" b="1" baseline="-250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84" name="直接连接符 119863"/>
            <p:cNvSpPr/>
            <p:nvPr/>
          </p:nvSpPr>
          <p:spPr>
            <a:xfrm flipH="1">
              <a:off x="3644" y="1640"/>
              <a:ext cx="42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5" name="直接连接符 119864"/>
            <p:cNvSpPr/>
            <p:nvPr/>
          </p:nvSpPr>
          <p:spPr>
            <a:xfrm>
              <a:off x="4245" y="240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6" name="直接连接符 119865"/>
            <p:cNvSpPr/>
            <p:nvPr/>
          </p:nvSpPr>
          <p:spPr>
            <a:xfrm>
              <a:off x="4168" y="2684"/>
              <a:ext cx="15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7" name="矩形 119866"/>
            <p:cNvSpPr/>
            <p:nvPr/>
          </p:nvSpPr>
          <p:spPr>
            <a:xfrm>
              <a:off x="4231" y="1244"/>
              <a:ext cx="2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88" name="矩形 119867"/>
            <p:cNvSpPr/>
            <p:nvPr/>
          </p:nvSpPr>
          <p:spPr>
            <a:xfrm>
              <a:off x="4244" y="172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89" name="矩形 119868"/>
            <p:cNvSpPr/>
            <p:nvPr/>
          </p:nvSpPr>
          <p:spPr>
            <a:xfrm>
              <a:off x="4216" y="1464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b="1" i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0" name="矩形 119869"/>
            <p:cNvSpPr/>
            <p:nvPr/>
          </p:nvSpPr>
          <p:spPr>
            <a:xfrm>
              <a:off x="3789" y="1551"/>
              <a:ext cx="2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1" name="矩形 119870"/>
            <p:cNvSpPr/>
            <p:nvPr/>
          </p:nvSpPr>
          <p:spPr>
            <a:xfrm>
              <a:off x="4004" y="1916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2" name="矩形 119871"/>
            <p:cNvSpPr/>
            <p:nvPr/>
          </p:nvSpPr>
          <p:spPr>
            <a:xfrm>
              <a:off x="3784" y="1720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i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3" name="直接连接符 119872"/>
            <p:cNvSpPr/>
            <p:nvPr/>
          </p:nvSpPr>
          <p:spPr>
            <a:xfrm>
              <a:off x="3740" y="1573"/>
              <a:ext cx="28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1294" name="直接连接符 119873"/>
            <p:cNvSpPr/>
            <p:nvPr/>
          </p:nvSpPr>
          <p:spPr>
            <a:xfrm>
              <a:off x="4360" y="2060"/>
              <a:ext cx="0" cy="38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19875" name="矩形 119874"/>
            <p:cNvSpPr/>
            <p:nvPr/>
          </p:nvSpPr>
          <p:spPr>
            <a:xfrm>
              <a:off x="4360" y="2012"/>
              <a:ext cx="2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 fontAlgn="base">
                <a:spcBef>
                  <a:spcPct val="50000"/>
                </a:spcBef>
              </a:pPr>
              <a:r>
                <a:rPr lang="en-US" altLang="zh-CN" sz="2800" b="1" i="1" strike="noStrike" noProof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</a:t>
              </a:r>
              <a:r>
                <a:rPr lang="en-US" altLang="zh-CN" b="1" strike="noStrike" baseline="-25000" noProof="1">
                  <a:solidFill>
                    <a:srgbClr val="000099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endParaRPr lang="en-US" altLang="zh-CN" b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6" name="矩形 119875"/>
            <p:cNvSpPr/>
            <p:nvPr/>
          </p:nvSpPr>
          <p:spPr>
            <a:xfrm>
              <a:off x="3700" y="1257"/>
              <a:ext cx="2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7" name="直接连接符 119876"/>
            <p:cNvSpPr/>
            <p:nvPr/>
          </p:nvSpPr>
          <p:spPr>
            <a:xfrm>
              <a:off x="4142" y="956"/>
              <a:ext cx="0" cy="28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1298" name="矩形 119877"/>
            <p:cNvSpPr/>
            <p:nvPr/>
          </p:nvSpPr>
          <p:spPr>
            <a:xfrm>
              <a:off x="3854" y="860"/>
              <a:ext cx="29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299" name="直接连接符 119878"/>
            <p:cNvSpPr/>
            <p:nvPr/>
          </p:nvSpPr>
          <p:spPr>
            <a:xfrm>
              <a:off x="4072" y="1510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0" name="直接连接符 119879"/>
            <p:cNvSpPr/>
            <p:nvPr/>
          </p:nvSpPr>
          <p:spPr>
            <a:xfrm flipV="1">
              <a:off x="4072" y="1484"/>
              <a:ext cx="144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1" name="直接连接符 119880"/>
            <p:cNvSpPr/>
            <p:nvPr/>
          </p:nvSpPr>
          <p:spPr>
            <a:xfrm>
              <a:off x="4072" y="1680"/>
              <a:ext cx="192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标题 120833"/>
          <p:cNvSpPr/>
          <p:nvPr>
            <p:ph type="title"/>
          </p:nvPr>
        </p:nvSpPr>
        <p:spPr>
          <a:xfrm>
            <a:off x="609600" y="457200"/>
            <a:ext cx="6019800" cy="762000"/>
          </a:xfrm>
          <a:noFill/>
          <a:ln>
            <a:noFill/>
          </a:ln>
        </p:spPr>
        <p:txBody>
          <a:bodyPr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(2)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由微变等效电路求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</a:t>
            </a:r>
            <a:r>
              <a:rPr kumimoji="0" lang="en-US" altLang="zh-CN" sz="2800" b="1" i="1" u="none" strike="noStrike" kern="1200" cap="none" spc="0" normalizeH="0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u</a:t>
            </a:r>
            <a:r>
              <a:rPr kumimoji="0" lang="zh-CN" altLang="en-US" sz="2800" b="1" i="0" u="none" strike="noStrike" kern="1200" cap="none" spc="0" normalizeH="0" baseline="0" noProof="1" dirty="0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、 </a:t>
            </a:r>
            <a:r>
              <a:rPr kumimoji="0" lang="en-US" altLang="zh-CN" sz="3200" b="1" i="1" u="none" strike="noStrike" kern="1200" cap="none" spc="0" normalizeH="0" baseline="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r</a:t>
            </a:r>
            <a:r>
              <a:rPr kumimoji="0" lang="en-US" altLang="zh-CN" sz="2800" b="1" i="0" u="none" strike="noStrike" kern="1200" cap="none" spc="0" normalizeH="0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i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、</a:t>
            </a:r>
            <a:r>
              <a:rPr kumimoji="0" lang="zh-CN" altLang="en-US" sz="2800" b="1" i="0" u="none" strike="noStrike" kern="1200" cap="none" spc="0" normalizeH="0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3200" b="1" i="1" u="none" strike="noStrike" kern="1200" cap="none" spc="0" normalizeH="0" baseline="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r</a:t>
            </a:r>
            <a:r>
              <a:rPr kumimoji="0" lang="en-US" altLang="zh-CN" sz="2400" b="1" i="0" u="none" strike="noStrike" kern="1200" cap="none" spc="0" normalizeH="0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o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。</a:t>
            </a:r>
            <a:endParaRPr kumimoji="0" lang="zh-CN" altLang="en-US" sz="2800" b="1" i="0" u="none" strike="noStrike" kern="1200" cap="none" spc="0" normalizeH="0" baseline="0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0835" name="对象 120834"/>
          <p:cNvGraphicFramePr/>
          <p:nvPr/>
        </p:nvGraphicFramePr>
        <p:xfrm>
          <a:off x="755650" y="5257800"/>
          <a:ext cx="52879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2171065" imgH="660400" progId="Equation.3">
                  <p:embed/>
                </p:oleObj>
              </mc:Choice>
              <mc:Fallback>
                <p:oleObj name="" r:id="rId1" imgW="2171065" imgH="6604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5257800"/>
                        <a:ext cx="5287963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对象 120835"/>
          <p:cNvGraphicFramePr/>
          <p:nvPr/>
        </p:nvGraphicFramePr>
        <p:xfrm>
          <a:off x="609600" y="1011238"/>
          <a:ext cx="80772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3237230" imgH="444500" progId="Equation.3">
                  <p:embed/>
                </p:oleObj>
              </mc:Choice>
              <mc:Fallback>
                <p:oleObj name="" r:id="rId3" imgW="3237230" imgH="444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1011238"/>
                        <a:ext cx="8077200" cy="1046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对象 120836"/>
          <p:cNvGraphicFramePr/>
          <p:nvPr/>
        </p:nvGraphicFramePr>
        <p:xfrm>
          <a:off x="609600" y="3887788"/>
          <a:ext cx="38100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1587500" imgH="228600" progId="Equation.3">
                  <p:embed/>
                </p:oleObj>
              </mc:Choice>
              <mc:Fallback>
                <p:oleObj name="" r:id="rId5" imgW="1587500" imgH="2286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3887788"/>
                        <a:ext cx="3810000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对象 120837"/>
          <p:cNvGraphicFramePr/>
          <p:nvPr/>
        </p:nvGraphicFramePr>
        <p:xfrm>
          <a:off x="990600" y="4633913"/>
          <a:ext cx="14478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659765" imgH="203200" progId="Equation.3">
                  <p:embed/>
                </p:oleObj>
              </mc:Choice>
              <mc:Fallback>
                <p:oleObj name="" r:id="rId7" imgW="659765" imgH="2032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4633913"/>
                        <a:ext cx="1447800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对象 120838"/>
          <p:cNvGraphicFramePr/>
          <p:nvPr/>
        </p:nvGraphicFramePr>
        <p:xfrm>
          <a:off x="609600" y="1971675"/>
          <a:ext cx="35496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9" imgW="1332865" imgH="444500" progId="Equation.3">
                  <p:embed/>
                </p:oleObj>
              </mc:Choice>
              <mc:Fallback>
                <p:oleObj name="" r:id="rId9" imgW="1332865" imgH="4445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1971675"/>
                        <a:ext cx="3549650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对象 120839"/>
          <p:cNvGraphicFramePr/>
          <p:nvPr/>
        </p:nvGraphicFramePr>
        <p:xfrm>
          <a:off x="990600" y="3070225"/>
          <a:ext cx="14478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469265" imgH="177800" progId="Equation.3">
                  <p:embed/>
                </p:oleObj>
              </mc:Choice>
              <mc:Fallback>
                <p:oleObj name="" r:id="rId11" imgW="469265" imgH="1778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3070225"/>
                        <a:ext cx="14478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0902" name="组合 120901"/>
          <p:cNvGrpSpPr/>
          <p:nvPr/>
        </p:nvGrpSpPr>
        <p:grpSpPr>
          <a:xfrm>
            <a:off x="4467225" y="1752600"/>
            <a:ext cx="4219575" cy="3095625"/>
            <a:chOff x="2832" y="1084"/>
            <a:chExt cx="2658" cy="1950"/>
          </a:xfrm>
        </p:grpSpPr>
        <p:sp>
          <p:nvSpPr>
            <p:cNvPr id="12297" name="直接连接符 120845"/>
            <p:cNvSpPr/>
            <p:nvPr/>
          </p:nvSpPr>
          <p:spPr>
            <a:xfrm flipV="1">
              <a:off x="3207" y="2919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8" name="直接连接符 120846"/>
            <p:cNvSpPr/>
            <p:nvPr/>
          </p:nvSpPr>
          <p:spPr>
            <a:xfrm flipH="1" flipV="1">
              <a:off x="4637" y="1459"/>
              <a:ext cx="0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9" name="直接连接符 120847"/>
            <p:cNvSpPr/>
            <p:nvPr/>
          </p:nvSpPr>
          <p:spPr>
            <a:xfrm flipV="1">
              <a:off x="3207" y="1464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2300" name="组合 120848"/>
            <p:cNvGrpSpPr/>
            <p:nvPr/>
          </p:nvGrpSpPr>
          <p:grpSpPr>
            <a:xfrm>
              <a:off x="4523" y="1631"/>
              <a:ext cx="206" cy="290"/>
              <a:chOff x="4164" y="1968"/>
              <a:chExt cx="264" cy="420"/>
            </a:xfrm>
          </p:grpSpPr>
          <p:sp>
            <p:nvSpPr>
              <p:cNvPr id="12301" name="菱形 120849"/>
              <p:cNvSpPr/>
              <p:nvPr/>
            </p:nvSpPr>
            <p:spPr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02" name="直接连接符 120850"/>
              <p:cNvSpPr/>
              <p:nvPr/>
            </p:nvSpPr>
            <p:spPr>
              <a:xfrm>
                <a:off x="4176" y="2184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303" name="矩形 120851"/>
            <p:cNvSpPr/>
            <p:nvPr/>
          </p:nvSpPr>
          <p:spPr>
            <a:xfrm>
              <a:off x="4046" y="1675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直接连接符 120852"/>
            <p:cNvSpPr/>
            <p:nvPr/>
          </p:nvSpPr>
          <p:spPr>
            <a:xfrm>
              <a:off x="4629" y="1447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5" name="文本框 120853"/>
            <p:cNvSpPr txBox="1"/>
            <p:nvPr/>
          </p:nvSpPr>
          <p:spPr>
            <a:xfrm>
              <a:off x="3696" y="1584"/>
              <a:ext cx="4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06" name="直接连接符 120854"/>
            <p:cNvSpPr/>
            <p:nvPr/>
          </p:nvSpPr>
          <p:spPr>
            <a:xfrm>
              <a:off x="4483" y="1653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2307" name="文本框 120855"/>
            <p:cNvSpPr txBox="1"/>
            <p:nvPr/>
          </p:nvSpPr>
          <p:spPr>
            <a:xfrm>
              <a:off x="3660" y="2054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08" name="直接连接符 120856"/>
            <p:cNvSpPr/>
            <p:nvPr/>
          </p:nvSpPr>
          <p:spPr>
            <a:xfrm flipV="1">
              <a:off x="5477" y="1455"/>
              <a:ext cx="1" cy="14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9" name="文本框 120857"/>
            <p:cNvSpPr txBox="1"/>
            <p:nvPr/>
          </p:nvSpPr>
          <p:spPr>
            <a:xfrm>
              <a:off x="4402" y="2479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10" name="文本框 120858"/>
            <p:cNvSpPr txBox="1"/>
            <p:nvPr/>
          </p:nvSpPr>
          <p:spPr>
            <a:xfrm>
              <a:off x="4254" y="1829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11" name="文本框 120859"/>
            <p:cNvSpPr txBox="1"/>
            <p:nvPr/>
          </p:nvSpPr>
          <p:spPr>
            <a:xfrm>
              <a:off x="3591" y="1225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12" name="文本框 120860"/>
            <p:cNvSpPr txBox="1"/>
            <p:nvPr/>
          </p:nvSpPr>
          <p:spPr>
            <a:xfrm>
              <a:off x="4829" y="1201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13" name="直接连接符 120861"/>
            <p:cNvSpPr/>
            <p:nvPr/>
          </p:nvSpPr>
          <p:spPr>
            <a:xfrm flipV="1">
              <a:off x="3690" y="1467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14" name="文本框 120862"/>
            <p:cNvSpPr txBox="1"/>
            <p:nvPr/>
          </p:nvSpPr>
          <p:spPr>
            <a:xfrm>
              <a:off x="3325" y="1442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15" name="文本框 120863"/>
            <p:cNvSpPr txBox="1"/>
            <p:nvPr/>
          </p:nvSpPr>
          <p:spPr>
            <a:xfrm>
              <a:off x="3327" y="2672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16" name="矩形 120864"/>
            <p:cNvSpPr/>
            <p:nvPr/>
          </p:nvSpPr>
          <p:spPr>
            <a:xfrm>
              <a:off x="3654" y="2079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17" name="矩形 120865"/>
            <p:cNvSpPr/>
            <p:nvPr/>
          </p:nvSpPr>
          <p:spPr>
            <a:xfrm>
              <a:off x="4884" y="223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18" name="矩形 120866"/>
            <p:cNvSpPr/>
            <p:nvPr/>
          </p:nvSpPr>
          <p:spPr>
            <a:xfrm>
              <a:off x="4885" y="2707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2319" name="组合 120867"/>
            <p:cNvGrpSpPr/>
            <p:nvPr/>
          </p:nvGrpSpPr>
          <p:grpSpPr>
            <a:xfrm>
              <a:off x="4279" y="2915"/>
              <a:ext cx="160" cy="119"/>
              <a:chOff x="4403" y="3875"/>
              <a:chExt cx="160" cy="119"/>
            </a:xfrm>
          </p:grpSpPr>
          <p:sp>
            <p:nvSpPr>
              <p:cNvPr id="12320" name="直接连接符 120868"/>
              <p:cNvSpPr/>
              <p:nvPr/>
            </p:nvSpPr>
            <p:spPr>
              <a:xfrm>
                <a:off x="4489" y="3875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21" name="直接连接符 120869"/>
              <p:cNvSpPr/>
              <p:nvPr/>
            </p:nvSpPr>
            <p:spPr>
              <a:xfrm>
                <a:off x="4403" y="3994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322" name="直接连接符 120870"/>
            <p:cNvSpPr/>
            <p:nvPr/>
          </p:nvSpPr>
          <p:spPr>
            <a:xfrm flipV="1">
              <a:off x="4089" y="1931"/>
              <a:ext cx="0" cy="1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3" name="直接连接符 120871"/>
            <p:cNvSpPr/>
            <p:nvPr/>
          </p:nvSpPr>
          <p:spPr>
            <a:xfrm flipH="1" flipV="1">
              <a:off x="3691" y="2330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4" name="直接连接符 120872"/>
            <p:cNvSpPr/>
            <p:nvPr/>
          </p:nvSpPr>
          <p:spPr>
            <a:xfrm flipV="1">
              <a:off x="4630" y="1908"/>
              <a:ext cx="0" cy="1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5" name="直接连接符 120873"/>
            <p:cNvSpPr/>
            <p:nvPr/>
          </p:nvSpPr>
          <p:spPr>
            <a:xfrm flipH="1">
              <a:off x="3210" y="2034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6" name="矩形 120874"/>
            <p:cNvSpPr/>
            <p:nvPr/>
          </p:nvSpPr>
          <p:spPr>
            <a:xfrm>
              <a:off x="3173" y="1806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7" name="直接连接符 120875"/>
            <p:cNvSpPr/>
            <p:nvPr/>
          </p:nvSpPr>
          <p:spPr>
            <a:xfrm flipH="1">
              <a:off x="3210" y="1450"/>
              <a:ext cx="0" cy="35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28" name="椭圆 120876"/>
            <p:cNvSpPr/>
            <p:nvPr/>
          </p:nvSpPr>
          <p:spPr>
            <a:xfrm>
              <a:off x="3120" y="2371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9" name="矩形 120877"/>
            <p:cNvSpPr/>
            <p:nvPr/>
          </p:nvSpPr>
          <p:spPr>
            <a:xfrm>
              <a:off x="3014" y="2157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30" name="矩形 120878"/>
            <p:cNvSpPr/>
            <p:nvPr/>
          </p:nvSpPr>
          <p:spPr>
            <a:xfrm>
              <a:off x="3003" y="2477"/>
              <a:ext cx="2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31" name="文本框 120879"/>
            <p:cNvSpPr txBox="1"/>
            <p:nvPr/>
          </p:nvSpPr>
          <p:spPr>
            <a:xfrm>
              <a:off x="2832" y="1777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32" name="椭圆 120880"/>
            <p:cNvSpPr/>
            <p:nvPr/>
          </p:nvSpPr>
          <p:spPr>
            <a:xfrm>
              <a:off x="4333" y="2885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2333" name="对象 120881"/>
            <p:cNvGraphicFramePr/>
            <p:nvPr/>
          </p:nvGraphicFramePr>
          <p:xfrm>
            <a:off x="3353" y="2045"/>
            <a:ext cx="18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3" imgW="190500" imgH="241300" progId="Equation.3">
                    <p:embed/>
                  </p:oleObj>
                </mc:Choice>
                <mc:Fallback>
                  <p:oleObj name="" r:id="rId13" imgW="190500" imgH="2413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53" y="2045"/>
                          <a:ext cx="181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4" name="直接连接符 120882"/>
            <p:cNvSpPr/>
            <p:nvPr/>
          </p:nvSpPr>
          <p:spPr>
            <a:xfrm flipV="1">
              <a:off x="3844" y="1409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12335" name="对象 120883"/>
            <p:cNvGraphicFramePr/>
            <p:nvPr/>
          </p:nvGraphicFramePr>
          <p:xfrm>
            <a:off x="3830" y="1125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5" imgW="177800" imgH="240665" progId="Equation.3">
                    <p:embed/>
                  </p:oleObj>
                </mc:Choice>
                <mc:Fallback>
                  <p:oleObj name="" r:id="rId15" imgW="177800" imgH="24066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30" y="1125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6" name="直接连接符 120884"/>
            <p:cNvSpPr/>
            <p:nvPr/>
          </p:nvSpPr>
          <p:spPr>
            <a:xfrm flipH="1">
              <a:off x="4656" y="1397"/>
              <a:ext cx="2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12337" name="对象 120885"/>
            <p:cNvGraphicFramePr/>
            <p:nvPr/>
          </p:nvGraphicFramePr>
          <p:xfrm>
            <a:off x="4684" y="1084"/>
            <a:ext cx="2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7" imgW="266065" imgH="241300" progId="Equation.3">
                    <p:embed/>
                  </p:oleObj>
                </mc:Choice>
                <mc:Fallback>
                  <p:oleObj name="" r:id="rId17" imgW="266065" imgH="2413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84" y="1084"/>
                          <a:ext cx="2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8" name="对象 120886"/>
            <p:cNvGraphicFramePr/>
            <p:nvPr/>
          </p:nvGraphicFramePr>
          <p:xfrm>
            <a:off x="4903" y="2527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9" imgW="203200" imgH="241300" progId="Equation.3">
                    <p:embed/>
                  </p:oleObj>
                </mc:Choice>
                <mc:Fallback>
                  <p:oleObj name="" r:id="rId19" imgW="203200" imgH="2413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03" y="2527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9" name="对象 120887"/>
            <p:cNvGraphicFramePr/>
            <p:nvPr/>
          </p:nvGraphicFramePr>
          <p:xfrm>
            <a:off x="4272" y="1402"/>
            <a:ext cx="30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21" imgW="254000" imgH="241300" progId="Equation.3">
                    <p:embed/>
                  </p:oleObj>
                </mc:Choice>
                <mc:Fallback>
                  <p:oleObj name="" r:id="rId21" imgW="254000" imgH="2413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72" y="1402"/>
                          <a:ext cx="300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0" name="对象 120888"/>
            <p:cNvGraphicFramePr/>
            <p:nvPr/>
          </p:nvGraphicFramePr>
          <p:xfrm>
            <a:off x="2894" y="2311"/>
            <a:ext cx="20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23" imgW="215900" imgH="241300" progId="Equation.3">
                    <p:embed/>
                  </p:oleObj>
                </mc:Choice>
                <mc:Fallback>
                  <p:oleObj name="" r:id="rId23" imgW="215900" imgH="2413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94" y="2311"/>
                          <a:ext cx="20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1" name="矩形 120889"/>
            <p:cNvSpPr/>
            <p:nvPr/>
          </p:nvSpPr>
          <p:spPr>
            <a:xfrm>
              <a:off x="4323" y="2522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42" name="直接连接符 120890"/>
            <p:cNvSpPr/>
            <p:nvPr/>
          </p:nvSpPr>
          <p:spPr>
            <a:xfrm>
              <a:off x="4369" y="2068"/>
              <a:ext cx="0" cy="45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43" name="直接连接符 120891"/>
            <p:cNvSpPr/>
            <p:nvPr/>
          </p:nvSpPr>
          <p:spPr>
            <a:xfrm>
              <a:off x="4364" y="2786"/>
              <a:ext cx="0" cy="1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44" name="直接连接符 120892"/>
            <p:cNvSpPr/>
            <p:nvPr/>
          </p:nvSpPr>
          <p:spPr>
            <a:xfrm>
              <a:off x="4331" y="2090"/>
              <a:ext cx="0" cy="2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aphicFrame>
          <p:nvGraphicFramePr>
            <p:cNvPr id="12345" name="对象 120893"/>
            <p:cNvGraphicFramePr/>
            <p:nvPr/>
          </p:nvGraphicFramePr>
          <p:xfrm>
            <a:off x="4157" y="2064"/>
            <a:ext cx="1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25" imgW="177800" imgH="266065" progId="Equation.3">
                    <p:embed/>
                  </p:oleObj>
                </mc:Choice>
                <mc:Fallback>
                  <p:oleObj name="" r:id="rId25" imgW="177800" imgH="26606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57" y="2064"/>
                          <a:ext cx="163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6" name="文本框 120894"/>
            <p:cNvSpPr txBox="1"/>
            <p:nvPr/>
          </p:nvSpPr>
          <p:spPr>
            <a:xfrm>
              <a:off x="3959" y="2497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47" name="矩形 120895"/>
            <p:cNvSpPr/>
            <p:nvPr/>
          </p:nvSpPr>
          <p:spPr>
            <a:xfrm>
              <a:off x="4781" y="2517"/>
              <a:ext cx="91" cy="25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48" name="直接连接符 120896"/>
            <p:cNvSpPr/>
            <p:nvPr/>
          </p:nvSpPr>
          <p:spPr>
            <a:xfrm>
              <a:off x="4827" y="2304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49" name="直接连接符 120897"/>
            <p:cNvSpPr/>
            <p:nvPr/>
          </p:nvSpPr>
          <p:spPr>
            <a:xfrm>
              <a:off x="4822" y="2769"/>
              <a:ext cx="0" cy="1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0" name="直接连接符 120898"/>
            <p:cNvSpPr/>
            <p:nvPr/>
          </p:nvSpPr>
          <p:spPr>
            <a:xfrm>
              <a:off x="4374" y="2304"/>
              <a:ext cx="465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1" name="直接连接符 120899"/>
            <p:cNvSpPr/>
            <p:nvPr/>
          </p:nvSpPr>
          <p:spPr>
            <a:xfrm>
              <a:off x="4091" y="2074"/>
              <a:ext cx="5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2" name="直接连接符 120900"/>
            <p:cNvSpPr/>
            <p:nvPr/>
          </p:nvSpPr>
          <p:spPr>
            <a:xfrm>
              <a:off x="4103" y="1450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0903" name="矩形 120902"/>
          <p:cNvSpPr/>
          <p:nvPr/>
        </p:nvSpPr>
        <p:spPr>
          <a:xfrm>
            <a:off x="5673725" y="4800600"/>
            <a:ext cx="20224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fontAlgn="base">
              <a:spcBef>
                <a:spcPct val="50000"/>
              </a:spcBef>
            </a:pPr>
            <a:r>
              <a:rPr lang="zh-CN" altLang="en-US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微变等效电路</a:t>
            </a:r>
            <a:endParaRPr lang="zh-CN" altLang="en-US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6" name="文本框 272385"/>
          <p:cNvSpPr txBox="1"/>
          <p:nvPr/>
        </p:nvSpPr>
        <p:spPr>
          <a:xfrm>
            <a:off x="0" y="379413"/>
            <a:ext cx="5676900" cy="644525"/>
          </a:xfrm>
          <a:prstGeom prst="rect">
            <a:avLst/>
          </a:prstGeom>
          <a:noFill/>
          <a:ln w="28575">
            <a:noFill/>
          </a:ln>
        </p:spPr>
        <p:txBody>
          <a:bodyPr wrap="square" anchor="ctr">
            <a:spAutoFit/>
          </a:bodyPr>
          <a:p>
            <a:r>
              <a:rPr lang="zh-CN" altLang="en-US" sz="3200" b="1" noProof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二、阻容耦合多级放大电路</a:t>
            </a:r>
            <a:r>
              <a:rPr lang="zh-CN" altLang="en-US" sz="3600" b="1" noProof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                </a:t>
            </a:r>
            <a:endParaRPr lang="zh-CN" altLang="en-US" sz="3600" b="1" noProof="1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3314" name="组合 272386"/>
          <p:cNvGrpSpPr/>
          <p:nvPr/>
        </p:nvGrpSpPr>
        <p:grpSpPr>
          <a:xfrm>
            <a:off x="0" y="2057400"/>
            <a:ext cx="9099550" cy="4267200"/>
            <a:chOff x="0" y="1296"/>
            <a:chExt cx="5732" cy="2688"/>
          </a:xfrm>
        </p:grpSpPr>
        <p:sp>
          <p:nvSpPr>
            <p:cNvPr id="13315" name="直接连接符 272387"/>
            <p:cNvSpPr/>
            <p:nvPr/>
          </p:nvSpPr>
          <p:spPr>
            <a:xfrm>
              <a:off x="3174" y="1440"/>
              <a:ext cx="0" cy="2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3316" name="直接连接符 272388"/>
            <p:cNvSpPr/>
            <p:nvPr/>
          </p:nvSpPr>
          <p:spPr>
            <a:xfrm>
              <a:off x="1446" y="1800"/>
              <a:ext cx="14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17" name="直接连接符 272389"/>
            <p:cNvSpPr/>
            <p:nvPr/>
          </p:nvSpPr>
          <p:spPr>
            <a:xfrm>
              <a:off x="1446" y="1800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18" name="矩形 272390"/>
            <p:cNvSpPr/>
            <p:nvPr/>
          </p:nvSpPr>
          <p:spPr>
            <a:xfrm>
              <a:off x="1398" y="2184"/>
              <a:ext cx="96" cy="336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19" name="直接连接符 272391"/>
            <p:cNvSpPr/>
            <p:nvPr/>
          </p:nvSpPr>
          <p:spPr>
            <a:xfrm>
              <a:off x="2454" y="180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0" name="矩形 272392"/>
            <p:cNvSpPr/>
            <p:nvPr/>
          </p:nvSpPr>
          <p:spPr>
            <a:xfrm>
              <a:off x="2406" y="2088"/>
              <a:ext cx="96" cy="28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1" name="直接连接符 272393"/>
            <p:cNvSpPr/>
            <p:nvPr/>
          </p:nvSpPr>
          <p:spPr>
            <a:xfrm>
              <a:off x="2454" y="237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2" name="直接连接符 272394"/>
            <p:cNvSpPr/>
            <p:nvPr/>
          </p:nvSpPr>
          <p:spPr>
            <a:xfrm>
              <a:off x="2262" y="2568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3" name="直接连接符 272395"/>
            <p:cNvSpPr/>
            <p:nvPr/>
          </p:nvSpPr>
          <p:spPr>
            <a:xfrm flipV="1">
              <a:off x="2262" y="2529"/>
              <a:ext cx="192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4" name="直接连接符 272396"/>
            <p:cNvSpPr/>
            <p:nvPr/>
          </p:nvSpPr>
          <p:spPr>
            <a:xfrm>
              <a:off x="2271" y="2760"/>
              <a:ext cx="192" cy="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25" name="直接连接符 272397"/>
            <p:cNvSpPr/>
            <p:nvPr/>
          </p:nvSpPr>
          <p:spPr>
            <a:xfrm>
              <a:off x="2454" y="2856"/>
              <a:ext cx="0" cy="10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6" name="直接连接符 272398"/>
            <p:cNvSpPr/>
            <p:nvPr/>
          </p:nvSpPr>
          <p:spPr>
            <a:xfrm flipH="1">
              <a:off x="1062" y="2712"/>
              <a:ext cx="12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7" name="直接连接符 272399"/>
            <p:cNvSpPr/>
            <p:nvPr/>
          </p:nvSpPr>
          <p:spPr>
            <a:xfrm>
              <a:off x="1446" y="2520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8" name="直接连接符 272400"/>
            <p:cNvSpPr/>
            <p:nvPr/>
          </p:nvSpPr>
          <p:spPr>
            <a:xfrm>
              <a:off x="1062" y="261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9" name="直接连接符 272401"/>
            <p:cNvSpPr/>
            <p:nvPr/>
          </p:nvSpPr>
          <p:spPr>
            <a:xfrm>
              <a:off x="966" y="261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0" name="直接连接符 272402"/>
            <p:cNvSpPr/>
            <p:nvPr/>
          </p:nvSpPr>
          <p:spPr>
            <a:xfrm flipH="1">
              <a:off x="534" y="2712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1" name="直接连接符 272403"/>
            <p:cNvSpPr/>
            <p:nvPr/>
          </p:nvSpPr>
          <p:spPr>
            <a:xfrm>
              <a:off x="534" y="271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2" name="矩形 272404"/>
            <p:cNvSpPr/>
            <p:nvPr/>
          </p:nvSpPr>
          <p:spPr>
            <a:xfrm>
              <a:off x="486" y="2952"/>
              <a:ext cx="96" cy="24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3" name="直接连接符 272405"/>
            <p:cNvSpPr/>
            <p:nvPr/>
          </p:nvSpPr>
          <p:spPr>
            <a:xfrm>
              <a:off x="534" y="3192"/>
              <a:ext cx="0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4" name="直接连接符 272406"/>
            <p:cNvSpPr/>
            <p:nvPr/>
          </p:nvSpPr>
          <p:spPr>
            <a:xfrm>
              <a:off x="2358" y="38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5" name="椭圆 272407"/>
            <p:cNvSpPr/>
            <p:nvPr/>
          </p:nvSpPr>
          <p:spPr>
            <a:xfrm>
              <a:off x="438" y="3336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6" name="直接连接符 272408"/>
            <p:cNvSpPr/>
            <p:nvPr/>
          </p:nvSpPr>
          <p:spPr>
            <a:xfrm>
              <a:off x="2454" y="2472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7" name="直接连接符 272409"/>
            <p:cNvSpPr/>
            <p:nvPr/>
          </p:nvSpPr>
          <p:spPr>
            <a:xfrm>
              <a:off x="2838" y="23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8" name="直接连接符 272410"/>
            <p:cNvSpPr/>
            <p:nvPr/>
          </p:nvSpPr>
          <p:spPr>
            <a:xfrm>
              <a:off x="2934" y="23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9" name="直接连接符 272411"/>
            <p:cNvSpPr/>
            <p:nvPr/>
          </p:nvSpPr>
          <p:spPr>
            <a:xfrm>
              <a:off x="2934" y="2472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40" name="文本框 272412"/>
            <p:cNvSpPr txBox="1"/>
            <p:nvPr/>
          </p:nvSpPr>
          <p:spPr>
            <a:xfrm>
              <a:off x="1494" y="2232"/>
              <a:ext cx="3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1" name="文本框 272413"/>
            <p:cNvSpPr txBox="1"/>
            <p:nvPr/>
          </p:nvSpPr>
          <p:spPr>
            <a:xfrm>
              <a:off x="1974" y="1992"/>
              <a:ext cx="4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C1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2" name="文本框 272414"/>
            <p:cNvSpPr txBox="1"/>
            <p:nvPr/>
          </p:nvSpPr>
          <p:spPr>
            <a:xfrm>
              <a:off x="870" y="2328"/>
              <a:ext cx="2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200" b="1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3" name="文本框 272415"/>
            <p:cNvSpPr txBox="1"/>
            <p:nvPr/>
          </p:nvSpPr>
          <p:spPr>
            <a:xfrm>
              <a:off x="2742" y="208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4" name="文本框 272416"/>
            <p:cNvSpPr txBox="1"/>
            <p:nvPr/>
          </p:nvSpPr>
          <p:spPr>
            <a:xfrm>
              <a:off x="188" y="2834"/>
              <a:ext cx="3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5" name="直接连接符 272417"/>
            <p:cNvSpPr/>
            <p:nvPr/>
          </p:nvSpPr>
          <p:spPr>
            <a:xfrm>
              <a:off x="341" y="3239"/>
              <a:ext cx="0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3346" name="文本框 272418"/>
            <p:cNvSpPr txBox="1"/>
            <p:nvPr/>
          </p:nvSpPr>
          <p:spPr>
            <a:xfrm>
              <a:off x="2454" y="2568"/>
              <a:ext cx="3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7" name="矩形 272419"/>
            <p:cNvSpPr/>
            <p:nvPr/>
          </p:nvSpPr>
          <p:spPr>
            <a:xfrm>
              <a:off x="1398" y="3000"/>
              <a:ext cx="96" cy="336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8" name="直接连接符 272420"/>
            <p:cNvSpPr/>
            <p:nvPr/>
          </p:nvSpPr>
          <p:spPr>
            <a:xfrm>
              <a:off x="1446" y="2712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49" name="直接连接符 272421"/>
            <p:cNvSpPr/>
            <p:nvPr/>
          </p:nvSpPr>
          <p:spPr>
            <a:xfrm>
              <a:off x="1446" y="33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0" name="文本框 272422"/>
            <p:cNvSpPr txBox="1"/>
            <p:nvPr/>
          </p:nvSpPr>
          <p:spPr>
            <a:xfrm>
              <a:off x="1494" y="3048"/>
              <a:ext cx="3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1" name="直接连接符 272423"/>
            <p:cNvSpPr/>
            <p:nvPr/>
          </p:nvSpPr>
          <p:spPr>
            <a:xfrm>
              <a:off x="2454" y="3144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2" name="矩形 272424"/>
            <p:cNvSpPr/>
            <p:nvPr/>
          </p:nvSpPr>
          <p:spPr>
            <a:xfrm>
              <a:off x="2406" y="3144"/>
              <a:ext cx="96" cy="288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3" name="文本框 272425"/>
            <p:cNvSpPr txBox="1"/>
            <p:nvPr/>
          </p:nvSpPr>
          <p:spPr>
            <a:xfrm>
              <a:off x="1979" y="3144"/>
              <a:ext cx="40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E 1</a:t>
              </a:r>
              <a:endParaRPr lang="en-US" altLang="zh-CN" sz="1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4" name="直接连接符 272426"/>
            <p:cNvSpPr/>
            <p:nvPr/>
          </p:nvSpPr>
          <p:spPr>
            <a:xfrm>
              <a:off x="2454" y="2952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5" name="直接连接符 272427"/>
            <p:cNvSpPr/>
            <p:nvPr/>
          </p:nvSpPr>
          <p:spPr>
            <a:xfrm>
              <a:off x="2838" y="2952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6" name="直接连接符 272428"/>
            <p:cNvSpPr/>
            <p:nvPr/>
          </p:nvSpPr>
          <p:spPr>
            <a:xfrm>
              <a:off x="2751" y="324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7" name="直接连接符 272429"/>
            <p:cNvSpPr/>
            <p:nvPr/>
          </p:nvSpPr>
          <p:spPr>
            <a:xfrm>
              <a:off x="2751" y="3336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8" name="直接连接符 272430"/>
            <p:cNvSpPr/>
            <p:nvPr/>
          </p:nvSpPr>
          <p:spPr>
            <a:xfrm>
              <a:off x="2838" y="33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59" name="文本框 272431"/>
            <p:cNvSpPr txBox="1"/>
            <p:nvPr/>
          </p:nvSpPr>
          <p:spPr>
            <a:xfrm>
              <a:off x="2835" y="3029"/>
              <a:ext cx="198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b="1" i="1">
                  <a:latin typeface="Times New Roman" panose="02020603050405020304" pitchFamily="18" charset="0"/>
                  <a:ea typeface="方正琥珀繁体" pitchFamily="2" charset="-122"/>
                </a:rPr>
                <a:t>+</a:t>
              </a:r>
              <a:endParaRPr lang="en-US" altLang="zh-CN" sz="1800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360" name="文本框 272432"/>
            <p:cNvSpPr txBox="1"/>
            <p:nvPr/>
          </p:nvSpPr>
          <p:spPr>
            <a:xfrm>
              <a:off x="2882" y="3300"/>
              <a:ext cx="319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C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E</a:t>
              </a:r>
              <a:endParaRPr lang="en-US" altLang="zh-CN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361" name="椭圆 272433"/>
            <p:cNvSpPr/>
            <p:nvPr/>
          </p:nvSpPr>
          <p:spPr>
            <a:xfrm>
              <a:off x="2424" y="3681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62" name="文本框 272434"/>
            <p:cNvSpPr txBox="1"/>
            <p:nvPr/>
          </p:nvSpPr>
          <p:spPr>
            <a:xfrm>
              <a:off x="0" y="3096"/>
              <a:ext cx="35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3600" b="1" i="1">
                  <a:latin typeface="Times New Roman" panose="02020603050405020304" pitchFamily="18" charset="0"/>
                  <a:ea typeface="方正琥珀繁体" pitchFamily="2" charset="-122"/>
                </a:rPr>
                <a:t>u</a:t>
              </a:r>
              <a:r>
                <a:rPr lang="en-US" altLang="zh-CN" b="1">
                  <a:latin typeface="Times New Roman" panose="02020603050405020304" pitchFamily="18" charset="0"/>
                  <a:ea typeface="方正琥珀繁体" pitchFamily="2" charset="-122"/>
                </a:rPr>
                <a:t>s</a:t>
              </a:r>
              <a:endParaRPr lang="en-US" altLang="zh-CN" sz="3600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363" name="直接连接符 272435"/>
            <p:cNvSpPr/>
            <p:nvPr/>
          </p:nvSpPr>
          <p:spPr>
            <a:xfrm>
              <a:off x="3152" y="1800"/>
              <a:ext cx="14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4" name="矩形 272436"/>
            <p:cNvSpPr/>
            <p:nvPr/>
          </p:nvSpPr>
          <p:spPr>
            <a:xfrm>
              <a:off x="3306" y="1944"/>
              <a:ext cx="96" cy="336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65" name="直接连接符 272437"/>
            <p:cNvSpPr/>
            <p:nvPr/>
          </p:nvSpPr>
          <p:spPr>
            <a:xfrm>
              <a:off x="4160" y="180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6" name="矩形 272438"/>
            <p:cNvSpPr/>
            <p:nvPr/>
          </p:nvSpPr>
          <p:spPr>
            <a:xfrm>
              <a:off x="4112" y="2088"/>
              <a:ext cx="96" cy="288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67" name="直接连接符 272439"/>
            <p:cNvSpPr/>
            <p:nvPr/>
          </p:nvSpPr>
          <p:spPr>
            <a:xfrm>
              <a:off x="4160" y="237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8" name="直接连接符 272440"/>
            <p:cNvSpPr/>
            <p:nvPr/>
          </p:nvSpPr>
          <p:spPr>
            <a:xfrm>
              <a:off x="3956" y="2568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9" name="直接连接符 272441"/>
            <p:cNvSpPr/>
            <p:nvPr/>
          </p:nvSpPr>
          <p:spPr>
            <a:xfrm flipV="1">
              <a:off x="3968" y="2520"/>
              <a:ext cx="192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0" name="直接连接符 272442"/>
            <p:cNvSpPr/>
            <p:nvPr/>
          </p:nvSpPr>
          <p:spPr>
            <a:xfrm>
              <a:off x="3968" y="2760"/>
              <a:ext cx="192" cy="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71" name="直接连接符 272443"/>
            <p:cNvSpPr/>
            <p:nvPr/>
          </p:nvSpPr>
          <p:spPr>
            <a:xfrm>
              <a:off x="3354" y="2280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2" name="直接连接符 272444"/>
            <p:cNvSpPr/>
            <p:nvPr/>
          </p:nvSpPr>
          <p:spPr>
            <a:xfrm>
              <a:off x="2454" y="3720"/>
              <a:ext cx="28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3" name="直接连接符 272445"/>
            <p:cNvSpPr/>
            <p:nvPr/>
          </p:nvSpPr>
          <p:spPr>
            <a:xfrm>
              <a:off x="4160" y="2472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4" name="直接连接符 272446"/>
            <p:cNvSpPr/>
            <p:nvPr/>
          </p:nvSpPr>
          <p:spPr>
            <a:xfrm>
              <a:off x="4544" y="23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5" name="直接连接符 272447"/>
            <p:cNvSpPr/>
            <p:nvPr/>
          </p:nvSpPr>
          <p:spPr>
            <a:xfrm>
              <a:off x="4640" y="237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6" name="直接连接符 272448"/>
            <p:cNvSpPr/>
            <p:nvPr/>
          </p:nvSpPr>
          <p:spPr>
            <a:xfrm>
              <a:off x="4640" y="2472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7" name="直接连接符 272449"/>
            <p:cNvSpPr/>
            <p:nvPr/>
          </p:nvSpPr>
          <p:spPr>
            <a:xfrm>
              <a:off x="5024" y="2472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8" name="矩形 272450"/>
            <p:cNvSpPr/>
            <p:nvPr/>
          </p:nvSpPr>
          <p:spPr>
            <a:xfrm>
              <a:off x="4976" y="2952"/>
              <a:ext cx="96" cy="384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79" name="直接连接符 272451"/>
            <p:cNvSpPr/>
            <p:nvPr/>
          </p:nvSpPr>
          <p:spPr>
            <a:xfrm>
              <a:off x="5024" y="3336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0" name="直接连接符 272452"/>
            <p:cNvSpPr/>
            <p:nvPr/>
          </p:nvSpPr>
          <p:spPr>
            <a:xfrm>
              <a:off x="5024" y="2472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1" name="椭圆 272453"/>
            <p:cNvSpPr/>
            <p:nvPr/>
          </p:nvSpPr>
          <p:spPr>
            <a:xfrm>
              <a:off x="5300" y="2448"/>
              <a:ext cx="48" cy="4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2" name="文本框 272454"/>
            <p:cNvSpPr txBox="1"/>
            <p:nvPr/>
          </p:nvSpPr>
          <p:spPr>
            <a:xfrm>
              <a:off x="4688" y="1624"/>
              <a:ext cx="4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3" name="文本框 272455"/>
            <p:cNvSpPr txBox="1"/>
            <p:nvPr/>
          </p:nvSpPr>
          <p:spPr>
            <a:xfrm>
              <a:off x="3414" y="1896"/>
              <a:ext cx="3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4" name="文本框 272456"/>
            <p:cNvSpPr txBox="1"/>
            <p:nvPr/>
          </p:nvSpPr>
          <p:spPr>
            <a:xfrm>
              <a:off x="4230" y="1848"/>
              <a:ext cx="4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5" name="文本框 272457"/>
            <p:cNvSpPr txBox="1"/>
            <p:nvPr/>
          </p:nvSpPr>
          <p:spPr>
            <a:xfrm>
              <a:off x="4448" y="208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6" name="文本框 272458"/>
            <p:cNvSpPr txBox="1"/>
            <p:nvPr/>
          </p:nvSpPr>
          <p:spPr>
            <a:xfrm>
              <a:off x="4160" y="2568"/>
              <a:ext cx="3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7" name="文本框 272459"/>
            <p:cNvSpPr txBox="1"/>
            <p:nvPr/>
          </p:nvSpPr>
          <p:spPr>
            <a:xfrm>
              <a:off x="4640" y="3000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8" name="直接连接符 272460"/>
            <p:cNvSpPr/>
            <p:nvPr/>
          </p:nvSpPr>
          <p:spPr>
            <a:xfrm>
              <a:off x="5312" y="2712"/>
              <a:ext cx="0" cy="67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3389" name="文本框 272461"/>
            <p:cNvSpPr txBox="1"/>
            <p:nvPr/>
          </p:nvSpPr>
          <p:spPr>
            <a:xfrm>
              <a:off x="5360" y="2858"/>
              <a:ext cx="37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600" b="1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90" name="直接连接符 272462"/>
            <p:cNvSpPr/>
            <p:nvPr/>
          </p:nvSpPr>
          <p:spPr>
            <a:xfrm>
              <a:off x="2934" y="1800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1" name="直接连接符 272463"/>
            <p:cNvSpPr/>
            <p:nvPr/>
          </p:nvSpPr>
          <p:spPr>
            <a:xfrm flipV="1">
              <a:off x="3354" y="1800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2" name="直接连接符 272464"/>
            <p:cNvSpPr/>
            <p:nvPr/>
          </p:nvSpPr>
          <p:spPr>
            <a:xfrm flipH="1">
              <a:off x="3366" y="2712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3" name="直接连接符 272465"/>
            <p:cNvSpPr/>
            <p:nvPr/>
          </p:nvSpPr>
          <p:spPr>
            <a:xfrm>
              <a:off x="3354" y="247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4" name="直接连接符 272466"/>
            <p:cNvSpPr/>
            <p:nvPr/>
          </p:nvSpPr>
          <p:spPr>
            <a:xfrm>
              <a:off x="4146" y="2856"/>
              <a:ext cx="0" cy="8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5" name="直接连接符 272467"/>
            <p:cNvSpPr/>
            <p:nvPr/>
          </p:nvSpPr>
          <p:spPr>
            <a:xfrm flipH="1">
              <a:off x="534" y="3708"/>
              <a:ext cx="19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396" name="椭圆 272468"/>
            <p:cNvSpPr/>
            <p:nvPr/>
          </p:nvSpPr>
          <p:spPr>
            <a:xfrm>
              <a:off x="5334" y="3696"/>
              <a:ext cx="48" cy="4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97" name="文本框 272469"/>
            <p:cNvSpPr txBox="1"/>
            <p:nvPr/>
          </p:nvSpPr>
          <p:spPr>
            <a:xfrm>
              <a:off x="1062" y="2472"/>
              <a:ext cx="213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i="1">
                  <a:latin typeface="Times New Roman" panose="02020603050405020304" pitchFamily="18" charset="0"/>
                  <a:ea typeface="方正琥珀繁体" pitchFamily="2" charset="-122"/>
                </a:rPr>
                <a:t>+</a:t>
              </a:r>
              <a:endParaRPr lang="en-US" altLang="zh-CN" sz="1800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398" name="文本框 272470"/>
            <p:cNvSpPr txBox="1"/>
            <p:nvPr/>
          </p:nvSpPr>
          <p:spPr>
            <a:xfrm>
              <a:off x="2598" y="2232"/>
              <a:ext cx="213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i="1">
                  <a:latin typeface="Times New Roman" panose="02020603050405020304" pitchFamily="18" charset="0"/>
                  <a:ea typeface="方正琥珀繁体" pitchFamily="2" charset="-122"/>
                </a:rPr>
                <a:t>+</a:t>
              </a:r>
              <a:endParaRPr lang="en-US" altLang="zh-CN" sz="1800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399" name="文本框 272471"/>
            <p:cNvSpPr txBox="1"/>
            <p:nvPr/>
          </p:nvSpPr>
          <p:spPr>
            <a:xfrm>
              <a:off x="4350" y="2244"/>
              <a:ext cx="213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i="1">
                  <a:latin typeface="Times New Roman" panose="02020603050405020304" pitchFamily="18" charset="0"/>
                  <a:ea typeface="方正琥珀繁体" pitchFamily="2" charset="-122"/>
                </a:rPr>
                <a:t>+</a:t>
              </a:r>
              <a:endParaRPr lang="en-US" altLang="zh-CN" sz="1800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3400" name="文本框 272472"/>
            <p:cNvSpPr txBox="1"/>
            <p:nvPr/>
          </p:nvSpPr>
          <p:spPr>
            <a:xfrm>
              <a:off x="1688" y="1320"/>
              <a:ext cx="884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zh-CN" altLang="en-US" sz="3200" b="1" dirty="0">
                  <a:latin typeface="Times New Roman" panose="02020603050405020304" pitchFamily="18" charset="0"/>
                  <a:ea typeface="隶书" pitchFamily="49" charset="-122"/>
                </a:rPr>
                <a:t>第一级</a:t>
              </a:r>
              <a:endParaRPr lang="zh-CN" altLang="en-US" sz="3200" b="1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sp>
          <p:nvSpPr>
            <p:cNvPr id="13401" name="文本框 272473"/>
            <p:cNvSpPr txBox="1"/>
            <p:nvPr/>
          </p:nvSpPr>
          <p:spPr>
            <a:xfrm>
              <a:off x="3392" y="1296"/>
              <a:ext cx="884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zh-CN" altLang="en-US" sz="3200" b="1" dirty="0">
                  <a:latin typeface="Times New Roman" panose="02020603050405020304" pitchFamily="18" charset="0"/>
                  <a:ea typeface="隶书" pitchFamily="49" charset="-122"/>
                </a:rPr>
                <a:t>第二级</a:t>
              </a:r>
              <a:endParaRPr lang="zh-CN" altLang="en-US" sz="3200" b="1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sp>
          <p:nvSpPr>
            <p:cNvPr id="13402" name="椭圆 272474"/>
            <p:cNvSpPr/>
            <p:nvPr/>
          </p:nvSpPr>
          <p:spPr>
            <a:xfrm>
              <a:off x="1425" y="2694"/>
              <a:ext cx="48" cy="48"/>
            </a:xfrm>
            <a:prstGeom prst="ellipse">
              <a:avLst/>
            </a:prstGeom>
            <a:solidFill>
              <a:schemeClr val="tx1"/>
            </a:solidFill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03" name="椭圆 272475"/>
            <p:cNvSpPr/>
            <p:nvPr/>
          </p:nvSpPr>
          <p:spPr>
            <a:xfrm>
              <a:off x="4632" y="1773"/>
              <a:ext cx="48" cy="4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04" name="文本框 272476"/>
          <p:cNvSpPr txBox="1"/>
          <p:nvPr/>
        </p:nvSpPr>
        <p:spPr>
          <a:xfrm>
            <a:off x="238125" y="1295400"/>
            <a:ext cx="4806950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>
            <a:spAutoFit/>
          </a:bodyPr>
          <a:p>
            <a:pPr algn="ctr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以两级阻容耦合放大电路为例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3410" name="组合 273409"/>
          <p:cNvGrpSpPr/>
          <p:nvPr/>
        </p:nvGrpSpPr>
        <p:grpSpPr>
          <a:xfrm>
            <a:off x="-49212" y="3581400"/>
            <a:ext cx="6481762" cy="731838"/>
            <a:chOff x="-31" y="2256"/>
            <a:chExt cx="4083" cy="461"/>
          </a:xfrm>
        </p:grpSpPr>
        <p:sp>
          <p:nvSpPr>
            <p:cNvPr id="14338" name="文本框 273410"/>
            <p:cNvSpPr txBox="1"/>
            <p:nvPr/>
          </p:nvSpPr>
          <p:spPr>
            <a:xfrm>
              <a:off x="-31" y="2285"/>
              <a:ext cx="197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方正琥珀繁体" pitchFamily="2" charset="-122"/>
                </a:rPr>
                <a:t>1.  </a:t>
              </a:r>
              <a:r>
                <a:rPr lang="zh-CN" altLang="en-US" sz="3200" b="1" dirty="0">
                  <a:latin typeface="Times New Roman" panose="02020603050405020304" pitchFamily="18" charset="0"/>
                  <a:ea typeface="方正琥珀繁体" pitchFamily="2" charset="-122"/>
                </a:rPr>
                <a:t>电压放大倍数</a:t>
              </a:r>
              <a:endParaRPr lang="zh-CN" altLang="en-US" sz="3200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grpSp>
          <p:nvGrpSpPr>
            <p:cNvPr id="14339" name="组合 273411"/>
            <p:cNvGrpSpPr/>
            <p:nvPr/>
          </p:nvGrpSpPr>
          <p:grpSpPr>
            <a:xfrm>
              <a:off x="2360" y="2256"/>
              <a:ext cx="1692" cy="461"/>
              <a:chOff x="2360" y="2448"/>
              <a:chExt cx="1692" cy="461"/>
            </a:xfrm>
          </p:grpSpPr>
          <p:grpSp>
            <p:nvGrpSpPr>
              <p:cNvPr id="14340" name="组合 273412"/>
              <p:cNvGrpSpPr/>
              <p:nvPr/>
            </p:nvGrpSpPr>
            <p:grpSpPr>
              <a:xfrm>
                <a:off x="2360" y="2544"/>
                <a:ext cx="1692" cy="365"/>
                <a:chOff x="3317" y="2208"/>
                <a:chExt cx="1692" cy="365"/>
              </a:xfrm>
            </p:grpSpPr>
            <p:sp>
              <p:nvSpPr>
                <p:cNvPr id="14341" name="矩形 273413"/>
                <p:cNvSpPr/>
                <p:nvPr/>
              </p:nvSpPr>
              <p:spPr>
                <a:xfrm>
                  <a:off x="3317" y="2208"/>
                  <a:ext cx="622" cy="36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32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A</a:t>
                  </a:r>
                  <a:r>
                    <a:rPr lang="en-US" altLang="zh-CN" sz="2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u</a:t>
                  </a:r>
                  <a:r>
                    <a:rPr lang="en-US" altLang="zh-CN" sz="32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 =</a:t>
                  </a:r>
                  <a:endParaRPr lang="en-US" altLang="zh-CN" sz="32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  <p:sp>
              <p:nvSpPr>
                <p:cNvPr id="14342" name="矩形 273414"/>
                <p:cNvSpPr/>
                <p:nvPr/>
              </p:nvSpPr>
              <p:spPr>
                <a:xfrm>
                  <a:off x="3893" y="2208"/>
                  <a:ext cx="492" cy="36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32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A</a:t>
                  </a:r>
                  <a:r>
                    <a:rPr lang="en-US" altLang="zh-CN" sz="2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u</a:t>
                  </a:r>
                  <a:r>
                    <a:rPr lang="en-US" altLang="zh-CN" sz="2000" b="1">
                      <a:latin typeface="Times New Roman" panose="02020603050405020304" pitchFamily="18" charset="0"/>
                      <a:ea typeface="方正琥珀繁体" pitchFamily="2" charset="-122"/>
                    </a:rPr>
                    <a:t>1</a:t>
                  </a:r>
                  <a:endParaRPr lang="en-US" altLang="zh-CN" sz="20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  <p:sp>
              <p:nvSpPr>
                <p:cNvPr id="14343" name="矩形 273415"/>
                <p:cNvSpPr/>
                <p:nvPr/>
              </p:nvSpPr>
              <p:spPr>
                <a:xfrm>
                  <a:off x="4517" y="2208"/>
                  <a:ext cx="492" cy="36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32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A</a:t>
                  </a:r>
                  <a:r>
                    <a:rPr lang="en-US" altLang="zh-CN" sz="2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u</a:t>
                  </a:r>
                  <a:r>
                    <a:rPr lang="en-US" altLang="zh-CN" sz="2000" b="1">
                      <a:latin typeface="Times New Roman" panose="02020603050405020304" pitchFamily="18" charset="0"/>
                      <a:ea typeface="方正琥珀繁体" pitchFamily="2" charset="-122"/>
                    </a:rPr>
                    <a:t>2</a:t>
                  </a:r>
                  <a:endParaRPr lang="en-US" altLang="zh-CN" sz="20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  <p:sp>
              <p:nvSpPr>
                <p:cNvPr id="14344" name="文本框 273416"/>
                <p:cNvSpPr txBox="1"/>
                <p:nvPr/>
              </p:nvSpPr>
              <p:spPr>
                <a:xfrm>
                  <a:off x="4365" y="2304"/>
                  <a:ext cx="166" cy="23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1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•</a:t>
                  </a:r>
                  <a:endPara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</p:grpSp>
          <p:sp>
            <p:nvSpPr>
              <p:cNvPr id="14345" name="文本框 273417"/>
              <p:cNvSpPr txBox="1"/>
              <p:nvPr/>
            </p:nvSpPr>
            <p:spPr>
              <a:xfrm>
                <a:off x="3672" y="2460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46" name="文本框 273418"/>
              <p:cNvSpPr txBox="1"/>
              <p:nvPr/>
            </p:nvSpPr>
            <p:spPr>
              <a:xfrm>
                <a:off x="3048" y="2448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47" name="文本框 273419"/>
              <p:cNvSpPr txBox="1"/>
              <p:nvPr/>
            </p:nvSpPr>
            <p:spPr>
              <a:xfrm>
                <a:off x="2474" y="2448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</p:grpSp>
      <p:grpSp>
        <p:nvGrpSpPr>
          <p:cNvPr id="273421" name="组合 273420"/>
          <p:cNvGrpSpPr/>
          <p:nvPr/>
        </p:nvGrpSpPr>
        <p:grpSpPr>
          <a:xfrm>
            <a:off x="585788" y="4098925"/>
            <a:ext cx="7407275" cy="1235075"/>
            <a:chOff x="369" y="2582"/>
            <a:chExt cx="4666" cy="778"/>
          </a:xfrm>
        </p:grpSpPr>
        <p:sp>
          <p:nvSpPr>
            <p:cNvPr id="14349" name="文本框 273421"/>
            <p:cNvSpPr txBox="1"/>
            <p:nvPr/>
          </p:nvSpPr>
          <p:spPr>
            <a:xfrm>
              <a:off x="1394" y="2582"/>
              <a:ext cx="895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28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C1</a:t>
              </a:r>
              <a:r>
                <a:rPr lang="en-US" altLang="zh-CN" sz="2800" b="1">
                  <a:latin typeface="Times New Roman" panose="02020603050405020304" pitchFamily="18" charset="0"/>
                  <a:ea typeface="方正琥珀繁体" pitchFamily="2" charset="-122"/>
                </a:rPr>
                <a:t>// </a:t>
              </a:r>
              <a:r>
                <a:rPr lang="en-US" altLang="zh-CN" sz="40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  <a:ea typeface="方正琥珀繁体" pitchFamily="2" charset="-122"/>
                </a:rPr>
                <a:t>i2</a:t>
              </a:r>
              <a:endParaRPr lang="en-US" altLang="zh-CN" sz="2000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grpSp>
          <p:nvGrpSpPr>
            <p:cNvPr id="14350" name="组合 273422"/>
            <p:cNvGrpSpPr/>
            <p:nvPr/>
          </p:nvGrpSpPr>
          <p:grpSpPr>
            <a:xfrm>
              <a:off x="369" y="2688"/>
              <a:ext cx="4666" cy="672"/>
              <a:chOff x="369" y="2688"/>
              <a:chExt cx="4666" cy="672"/>
            </a:xfrm>
          </p:grpSpPr>
          <p:sp>
            <p:nvSpPr>
              <p:cNvPr id="14351" name="文本框 273423"/>
              <p:cNvSpPr txBox="1"/>
              <p:nvPr/>
            </p:nvSpPr>
            <p:spPr>
              <a:xfrm>
                <a:off x="369" y="2755"/>
                <a:ext cx="1066" cy="4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3600" b="1" i="1">
                    <a:latin typeface="Times New Roman" panose="02020603050405020304" pitchFamily="18" charset="0"/>
                    <a:ea typeface="方正琥珀繁体" pitchFamily="2" charset="-122"/>
                  </a:rPr>
                  <a:t>A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b="1">
                    <a:latin typeface="Times New Roman" panose="02020603050405020304" pitchFamily="18" charset="0"/>
                    <a:ea typeface="方正琥珀繁体" pitchFamily="2" charset="-122"/>
                  </a:rPr>
                  <a:t>1</a:t>
                </a:r>
                <a:r>
                  <a:rPr lang="en-US" altLang="zh-CN" sz="3200" b="1">
                    <a:latin typeface="Times New Roman" panose="02020603050405020304" pitchFamily="18" charset="0"/>
                    <a:ea typeface="方正琥珀繁体" pitchFamily="2" charset="-122"/>
                  </a:rPr>
                  <a:t>= –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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800" b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52" name="文本框 273424"/>
              <p:cNvSpPr txBox="1"/>
              <p:nvPr/>
            </p:nvSpPr>
            <p:spPr>
              <a:xfrm>
                <a:off x="1604" y="2918"/>
                <a:ext cx="529" cy="4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4000" b="1" i="1">
                    <a:latin typeface="Times New Roman" panose="02020603050405020304" pitchFamily="18" charset="0"/>
                    <a:ea typeface="方正琥珀繁体" pitchFamily="2" charset="-122"/>
                  </a:rPr>
                  <a:t>r</a:t>
                </a:r>
                <a:r>
                  <a:rPr lang="en-US" altLang="zh-CN" b="1">
                    <a:latin typeface="Times New Roman" panose="02020603050405020304" pitchFamily="18" charset="0"/>
                    <a:ea typeface="方正琥珀繁体" pitchFamily="2" charset="-122"/>
                  </a:rPr>
                  <a:t>be1</a:t>
                </a:r>
                <a:endParaRPr lang="en-US" altLang="zh-CN" sz="2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53" name="文本框 273425"/>
              <p:cNvSpPr txBox="1"/>
              <p:nvPr/>
            </p:nvSpPr>
            <p:spPr>
              <a:xfrm>
                <a:off x="518" y="2703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54" name="直接连接符 273426"/>
              <p:cNvSpPr/>
              <p:nvPr/>
            </p:nvSpPr>
            <p:spPr>
              <a:xfrm>
                <a:off x="1430" y="3024"/>
                <a:ext cx="86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4355" name="矩形 273427"/>
              <p:cNvSpPr/>
              <p:nvPr/>
            </p:nvSpPr>
            <p:spPr>
              <a:xfrm>
                <a:off x="3220" y="2772"/>
                <a:ext cx="1069" cy="3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3200" b="1" i="1">
                    <a:latin typeface="Times New Roman" panose="02020603050405020304" pitchFamily="18" charset="0"/>
                    <a:ea typeface="方正琥珀繁体" pitchFamily="2" charset="-122"/>
                  </a:rPr>
                  <a:t>A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sz="2000" b="1">
                    <a:latin typeface="Times New Roman" panose="02020603050405020304" pitchFamily="18" charset="0"/>
                    <a:ea typeface="方正琥珀繁体" pitchFamily="2" charset="-122"/>
                  </a:rPr>
                  <a:t>2</a:t>
                </a:r>
                <a:r>
                  <a:rPr lang="en-US" altLang="zh-CN" sz="2000" b="1" i="1">
                    <a:latin typeface="Times New Roman" panose="02020603050405020304" pitchFamily="18" charset="0"/>
                    <a:ea typeface="方正琥珀繁体" pitchFamily="2" charset="-122"/>
                  </a:rPr>
                  <a:t> </a:t>
                </a:r>
                <a:r>
                  <a:rPr lang="en-US" altLang="zh-CN" sz="3200" b="1">
                    <a:latin typeface="Times New Roman" panose="02020603050405020304" pitchFamily="18" charset="0"/>
                    <a:ea typeface="方正琥珀繁体" pitchFamily="2" charset="-122"/>
                  </a:rPr>
                  <a:t>= –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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sz="2800" b="1">
                  <a:latin typeface="Times New Roman" panose="02020603050405020304" pitchFamily="18" charset="0"/>
                  <a:ea typeface="方正琥珀繁体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4356" name="文本框 273428"/>
              <p:cNvSpPr txBox="1"/>
              <p:nvPr/>
            </p:nvSpPr>
            <p:spPr>
              <a:xfrm>
                <a:off x="3343" y="2700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57" name="直接连接符 273429"/>
              <p:cNvSpPr/>
              <p:nvPr/>
            </p:nvSpPr>
            <p:spPr>
              <a:xfrm>
                <a:off x="4315" y="3024"/>
                <a:ext cx="72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4358" name="文本框 273430"/>
              <p:cNvSpPr txBox="1"/>
              <p:nvPr/>
            </p:nvSpPr>
            <p:spPr>
              <a:xfrm>
                <a:off x="4224" y="2688"/>
                <a:ext cx="810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R</a:t>
                </a:r>
                <a:r>
                  <a:rPr lang="en-US" altLang="zh-CN" sz="1800" b="1">
                    <a:latin typeface="Times New Roman" panose="02020603050405020304" pitchFamily="18" charset="0"/>
                    <a:ea typeface="方正琥珀繁体" pitchFamily="2" charset="-122"/>
                  </a:rPr>
                  <a:t>C2</a:t>
                </a:r>
                <a:r>
                  <a:rPr lang="en-US" altLang="zh-CN" sz="2800" b="1">
                    <a:latin typeface="Times New Roman" panose="02020603050405020304" pitchFamily="18" charset="0"/>
                    <a:ea typeface="方正琥珀繁体" pitchFamily="2" charset="-122"/>
                  </a:rPr>
                  <a:t>//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R</a:t>
                </a:r>
                <a:r>
                  <a:rPr lang="en-US" altLang="zh-CN" sz="1800" b="1">
                    <a:latin typeface="Times New Roman" panose="02020603050405020304" pitchFamily="18" charset="0"/>
                    <a:ea typeface="方正琥珀繁体" pitchFamily="2" charset="-122"/>
                  </a:rPr>
                  <a:t>L</a:t>
                </a:r>
                <a:endParaRPr lang="en-US" altLang="zh-CN" sz="2800" b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359" name="文本框 273431"/>
              <p:cNvSpPr txBox="1"/>
              <p:nvPr/>
            </p:nvSpPr>
            <p:spPr>
              <a:xfrm>
                <a:off x="4409" y="2918"/>
                <a:ext cx="481" cy="4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4000" b="1" i="1">
                    <a:latin typeface="Times New Roman" panose="02020603050405020304" pitchFamily="18" charset="0"/>
                    <a:ea typeface="方正琥珀繁体" pitchFamily="2" charset="-122"/>
                  </a:rPr>
                  <a:t>r</a:t>
                </a:r>
                <a:r>
                  <a:rPr lang="en-US" altLang="zh-CN" sz="2000" b="1">
                    <a:latin typeface="Times New Roman" panose="02020603050405020304" pitchFamily="18" charset="0"/>
                    <a:ea typeface="方正琥珀繁体" pitchFamily="2" charset="-122"/>
                  </a:rPr>
                  <a:t>be2</a:t>
                </a:r>
                <a:endParaRPr lang="en-US" altLang="zh-CN" sz="2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</p:grpSp>
      <p:grpSp>
        <p:nvGrpSpPr>
          <p:cNvPr id="273433" name="组合 273432"/>
          <p:cNvGrpSpPr/>
          <p:nvPr/>
        </p:nvGrpSpPr>
        <p:grpSpPr>
          <a:xfrm>
            <a:off x="-49212" y="5165725"/>
            <a:ext cx="6711950" cy="701675"/>
            <a:chOff x="-31" y="3254"/>
            <a:chExt cx="4228" cy="442"/>
          </a:xfrm>
        </p:grpSpPr>
        <p:sp>
          <p:nvSpPr>
            <p:cNvPr id="14361" name="文本框 273433"/>
            <p:cNvSpPr txBox="1"/>
            <p:nvPr/>
          </p:nvSpPr>
          <p:spPr>
            <a:xfrm>
              <a:off x="-31" y="3293"/>
              <a:ext cx="152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方正琥珀繁体" pitchFamily="2" charset="-122"/>
                </a:rPr>
                <a:t>2.   </a:t>
              </a:r>
              <a:r>
                <a:rPr lang="zh-CN" altLang="en-US" sz="3200" b="1" dirty="0">
                  <a:latin typeface="Times New Roman" panose="02020603050405020304" pitchFamily="18" charset="0"/>
                  <a:ea typeface="方正琥珀繁体" pitchFamily="2" charset="-122"/>
                </a:rPr>
                <a:t>输入电阻</a:t>
              </a:r>
              <a:endParaRPr lang="zh-CN" altLang="en-US" sz="3200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62" name="文本框 273434"/>
            <p:cNvSpPr txBox="1"/>
            <p:nvPr/>
          </p:nvSpPr>
          <p:spPr>
            <a:xfrm>
              <a:off x="1636" y="3254"/>
              <a:ext cx="2561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4000" b="1" i="1" err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 err="1">
                  <a:latin typeface="Times New Roman" panose="02020603050405020304" pitchFamily="18" charset="0"/>
                  <a:ea typeface="方正琥珀繁体" pitchFamily="2" charset="-122"/>
                </a:rPr>
                <a:t>i</a:t>
              </a:r>
              <a:r>
                <a:rPr lang="en-US" altLang="zh-CN" sz="2000" b="1" i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  <a:ea typeface="方正琥珀繁体" pitchFamily="2" charset="-122"/>
                </a:rPr>
                <a:t>= </a:t>
              </a:r>
              <a:r>
                <a:rPr lang="en-US" altLang="zh-CN" sz="40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i1 </a:t>
              </a:r>
              <a:r>
                <a:rPr lang="en-US" altLang="zh-CN" sz="2800" b="1">
                  <a:latin typeface="Times New Roman" panose="02020603050405020304" pitchFamily="18" charset="0"/>
                  <a:ea typeface="方正琥珀繁体" pitchFamily="2" charset="-122"/>
                </a:rPr>
                <a:t>=</a:t>
              </a:r>
              <a:r>
                <a:rPr lang="en-US" altLang="zh-CN" sz="3200" b="1" i="1">
                  <a:latin typeface="Times New Roman" panose="02020603050405020304" pitchFamily="18" charset="0"/>
                  <a:ea typeface="方正琥珀繁体" pitchFamily="2" charset="-122"/>
                </a:rPr>
                <a:t> R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B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1 </a:t>
              </a:r>
              <a:r>
                <a:rPr lang="en-US" altLang="zh-CN" sz="3200" b="1">
                  <a:latin typeface="Times New Roman" panose="02020603050405020304" pitchFamily="18" charset="0"/>
                  <a:ea typeface="方正琥珀繁体" pitchFamily="2" charset="-122"/>
                </a:rPr>
                <a:t>// </a:t>
              </a:r>
              <a:r>
                <a:rPr lang="en-US" altLang="zh-CN" sz="32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B2</a:t>
              </a:r>
              <a:r>
                <a:rPr lang="en-US" altLang="zh-CN" sz="2000" b="1" i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r>
                <a:rPr lang="en-US" altLang="zh-CN" sz="3200" b="1">
                  <a:latin typeface="Times New Roman" panose="02020603050405020304" pitchFamily="18" charset="0"/>
                  <a:ea typeface="方正琥珀繁体" pitchFamily="2" charset="-122"/>
                </a:rPr>
                <a:t>// </a:t>
              </a:r>
              <a:r>
                <a:rPr lang="en-US" altLang="zh-CN" sz="40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be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1 </a:t>
              </a:r>
              <a:endParaRPr lang="en-US" altLang="zh-CN" sz="2000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</p:grpSp>
      <p:grpSp>
        <p:nvGrpSpPr>
          <p:cNvPr id="273436" name="组合 273435"/>
          <p:cNvGrpSpPr/>
          <p:nvPr/>
        </p:nvGrpSpPr>
        <p:grpSpPr>
          <a:xfrm>
            <a:off x="-49212" y="5784850"/>
            <a:ext cx="5233987" cy="784225"/>
            <a:chOff x="-31" y="3644"/>
            <a:chExt cx="3297" cy="494"/>
          </a:xfrm>
        </p:grpSpPr>
        <p:sp>
          <p:nvSpPr>
            <p:cNvPr id="14364" name="文本框 273436"/>
            <p:cNvSpPr txBox="1"/>
            <p:nvPr/>
          </p:nvSpPr>
          <p:spPr>
            <a:xfrm>
              <a:off x="-31" y="3773"/>
              <a:ext cx="152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ea typeface="方正琥珀繁体" pitchFamily="2" charset="-122"/>
                </a:rPr>
                <a:t>3.   </a:t>
              </a:r>
              <a:r>
                <a:rPr lang="zh-CN" altLang="en-US" sz="3200" b="1" dirty="0">
                  <a:latin typeface="Times New Roman" panose="02020603050405020304" pitchFamily="18" charset="0"/>
                  <a:ea typeface="方正琥珀繁体" pitchFamily="2" charset="-122"/>
                </a:rPr>
                <a:t>输出电阻</a:t>
              </a:r>
              <a:endParaRPr lang="zh-CN" altLang="en-US" sz="3200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65" name="文本框 273437"/>
            <p:cNvSpPr txBox="1"/>
            <p:nvPr/>
          </p:nvSpPr>
          <p:spPr>
            <a:xfrm>
              <a:off x="2720" y="3644"/>
              <a:ext cx="1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endPara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66" name="文本框 273438"/>
            <p:cNvSpPr txBox="1"/>
            <p:nvPr/>
          </p:nvSpPr>
          <p:spPr>
            <a:xfrm>
              <a:off x="1723" y="3695"/>
              <a:ext cx="1543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4000" b="1" i="1" err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b="1" err="1">
                  <a:latin typeface="Times New Roman" panose="02020603050405020304" pitchFamily="18" charset="0"/>
                  <a:ea typeface="方正琥珀繁体" pitchFamily="2" charset="-122"/>
                </a:rPr>
                <a:t>o</a:t>
              </a:r>
              <a:r>
                <a:rPr lang="en-US" altLang="zh-CN" b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r>
                <a:rPr lang="en-US" altLang="zh-CN" sz="3200" b="1" i="1">
                  <a:latin typeface="Times New Roman" panose="02020603050405020304" pitchFamily="18" charset="0"/>
                  <a:ea typeface="方正琥珀繁体" pitchFamily="2" charset="-122"/>
                </a:rPr>
                <a:t>= </a:t>
              </a:r>
              <a:r>
                <a:rPr lang="en-US" altLang="zh-CN" sz="40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  <a:ea typeface="方正琥珀繁体" pitchFamily="2" charset="-122"/>
                </a:rPr>
                <a:t>o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2</a:t>
              </a:r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r>
                <a:rPr lang="en-US" altLang="zh-CN" sz="3200" b="1" i="1">
                  <a:latin typeface="Times New Roman" panose="02020603050405020304" pitchFamily="18" charset="0"/>
                  <a:ea typeface="方正琥珀繁体" pitchFamily="2" charset="-122"/>
                </a:rPr>
                <a:t>= </a:t>
              </a:r>
              <a:r>
                <a:rPr lang="en-US" altLang="zh-CN" sz="28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C2</a:t>
              </a:r>
              <a:r>
                <a:rPr lang="en-US" altLang="zh-CN" sz="3200" b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endParaRPr lang="en-US" altLang="zh-CN" sz="3200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</p:grpSp>
      <p:grpSp>
        <p:nvGrpSpPr>
          <p:cNvPr id="14367" name="组合 273439"/>
          <p:cNvGrpSpPr/>
          <p:nvPr/>
        </p:nvGrpSpPr>
        <p:grpSpPr>
          <a:xfrm>
            <a:off x="-22225" y="895350"/>
            <a:ext cx="9166225" cy="2762250"/>
            <a:chOff x="-14" y="564"/>
            <a:chExt cx="5774" cy="1740"/>
          </a:xfrm>
        </p:grpSpPr>
        <p:sp>
          <p:nvSpPr>
            <p:cNvPr id="14368" name="直接连接符 273440"/>
            <p:cNvSpPr/>
            <p:nvPr/>
          </p:nvSpPr>
          <p:spPr>
            <a:xfrm>
              <a:off x="420" y="630"/>
              <a:ext cx="1344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9" name="矩形 273441"/>
            <p:cNvSpPr/>
            <p:nvPr/>
          </p:nvSpPr>
          <p:spPr>
            <a:xfrm>
              <a:off x="1698" y="1092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370" name="组合 273442"/>
            <p:cNvGrpSpPr/>
            <p:nvPr/>
          </p:nvGrpSpPr>
          <p:grpSpPr>
            <a:xfrm>
              <a:off x="2331" y="1008"/>
              <a:ext cx="240" cy="432"/>
              <a:chOff x="2331" y="1440"/>
              <a:chExt cx="240" cy="432"/>
            </a:xfrm>
          </p:grpSpPr>
          <p:sp>
            <p:nvSpPr>
              <p:cNvPr id="14371" name="直接连接符 273443"/>
              <p:cNvSpPr/>
              <p:nvPr/>
            </p:nvSpPr>
            <p:spPr>
              <a:xfrm flipH="1">
                <a:off x="2331" y="1440"/>
                <a:ext cx="117" cy="23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2" name="直接连接符 273444"/>
              <p:cNvSpPr/>
              <p:nvPr/>
            </p:nvSpPr>
            <p:spPr>
              <a:xfrm>
                <a:off x="2448" y="1440"/>
                <a:ext cx="123" cy="23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3" name="直接连接符 273445"/>
              <p:cNvSpPr/>
              <p:nvPr/>
            </p:nvSpPr>
            <p:spPr>
              <a:xfrm>
                <a:off x="2331" y="1674"/>
                <a:ext cx="117" cy="19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4" name="直接连接符 273446"/>
              <p:cNvSpPr/>
              <p:nvPr/>
            </p:nvSpPr>
            <p:spPr>
              <a:xfrm rot="-50714" flipH="1">
                <a:off x="2447" y="1679"/>
                <a:ext cx="113" cy="19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5" name="直接连接符 273447"/>
              <p:cNvSpPr/>
              <p:nvPr/>
            </p:nvSpPr>
            <p:spPr>
              <a:xfrm>
                <a:off x="2331" y="167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376" name="直接连接符 273448"/>
            <p:cNvSpPr/>
            <p:nvPr/>
          </p:nvSpPr>
          <p:spPr>
            <a:xfrm>
              <a:off x="2448" y="1434"/>
              <a:ext cx="0" cy="51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7" name="直接连接符 273449"/>
            <p:cNvSpPr/>
            <p:nvPr/>
          </p:nvSpPr>
          <p:spPr>
            <a:xfrm flipV="1">
              <a:off x="2448" y="585"/>
              <a:ext cx="0" cy="4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8" name="直接连接符 273450"/>
            <p:cNvSpPr/>
            <p:nvPr/>
          </p:nvSpPr>
          <p:spPr>
            <a:xfrm>
              <a:off x="2439" y="576"/>
              <a:ext cx="163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9" name="直接连接符 273451"/>
            <p:cNvSpPr/>
            <p:nvPr/>
          </p:nvSpPr>
          <p:spPr>
            <a:xfrm>
              <a:off x="2091" y="1956"/>
              <a:ext cx="0" cy="19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0" name="直接连接符 273452"/>
            <p:cNvSpPr/>
            <p:nvPr/>
          </p:nvSpPr>
          <p:spPr>
            <a:xfrm>
              <a:off x="1995" y="2148"/>
              <a:ext cx="192" cy="0"/>
            </a:xfrm>
            <a:prstGeom prst="line">
              <a:avLst/>
            </a:prstGeom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1" name="文本框 273453"/>
            <p:cNvSpPr txBox="1"/>
            <p:nvPr/>
          </p:nvSpPr>
          <p:spPr>
            <a:xfrm>
              <a:off x="1680" y="1315"/>
              <a:ext cx="62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/>
              <a:r>
                <a:rPr lang="en-US" altLang="zh-CN" sz="36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be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1</a:t>
              </a:r>
              <a:r>
                <a:rPr lang="en-US" altLang="zh-CN" sz="1600" b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endParaRPr lang="en-US" altLang="zh-CN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82" name="直接连接符 273454"/>
            <p:cNvSpPr/>
            <p:nvPr/>
          </p:nvSpPr>
          <p:spPr>
            <a:xfrm flipH="1">
              <a:off x="5616" y="864"/>
              <a:ext cx="0" cy="8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383" name="直接连接符 273455"/>
            <p:cNvSpPr/>
            <p:nvPr/>
          </p:nvSpPr>
          <p:spPr>
            <a:xfrm>
              <a:off x="1837" y="663"/>
              <a:ext cx="0" cy="5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384" name="直接连接符 273456"/>
            <p:cNvSpPr/>
            <p:nvPr/>
          </p:nvSpPr>
          <p:spPr>
            <a:xfrm>
              <a:off x="2608" y="754"/>
              <a:ext cx="0" cy="62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385" name="直接连接符 273457"/>
            <p:cNvSpPr/>
            <p:nvPr/>
          </p:nvSpPr>
          <p:spPr>
            <a:xfrm flipV="1">
              <a:off x="411" y="1944"/>
              <a:ext cx="3792" cy="1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6" name="直接连接符 273458"/>
            <p:cNvSpPr/>
            <p:nvPr/>
          </p:nvSpPr>
          <p:spPr>
            <a:xfrm flipV="1">
              <a:off x="2976" y="564"/>
              <a:ext cx="0" cy="4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87" name="文本框 273459"/>
            <p:cNvSpPr txBox="1"/>
            <p:nvPr/>
          </p:nvSpPr>
          <p:spPr>
            <a:xfrm>
              <a:off x="2608" y="1344"/>
              <a:ext cx="3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C</a:t>
              </a:r>
              <a:r>
                <a:rPr lang="en-US" altLang="zh-CN" sz="1600" b="1">
                  <a:latin typeface="Times New Roman" panose="02020603050405020304" pitchFamily="18" charset="0"/>
                  <a:ea typeface="方正琥珀繁体" pitchFamily="2" charset="-12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88" name="文本框 273460"/>
            <p:cNvSpPr txBox="1"/>
            <p:nvPr/>
          </p:nvSpPr>
          <p:spPr>
            <a:xfrm>
              <a:off x="5370" y="96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L</a:t>
              </a:r>
              <a:endParaRPr lang="en-US" altLang="zh-CN" sz="1800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89" name="文本框 273461"/>
            <p:cNvSpPr txBox="1"/>
            <p:nvPr/>
          </p:nvSpPr>
          <p:spPr>
            <a:xfrm>
              <a:off x="992" y="1280"/>
              <a:ext cx="3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B1</a:t>
              </a:r>
              <a:endParaRPr lang="en-US" altLang="zh-CN" sz="1800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390" name="直接连接符 273462"/>
            <p:cNvSpPr/>
            <p:nvPr/>
          </p:nvSpPr>
          <p:spPr>
            <a:xfrm>
              <a:off x="839" y="890"/>
              <a:ext cx="0" cy="100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391" name="椭圆 273463"/>
            <p:cNvSpPr/>
            <p:nvPr/>
          </p:nvSpPr>
          <p:spPr>
            <a:xfrm>
              <a:off x="2073" y="192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92" name="直接连接符 273464"/>
            <p:cNvSpPr/>
            <p:nvPr/>
          </p:nvSpPr>
          <p:spPr>
            <a:xfrm>
              <a:off x="978" y="645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93" name="直接连接符 273465"/>
            <p:cNvSpPr/>
            <p:nvPr/>
          </p:nvSpPr>
          <p:spPr>
            <a:xfrm>
              <a:off x="978" y="1440"/>
              <a:ext cx="0" cy="52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94" name="椭圆 273466"/>
            <p:cNvSpPr/>
            <p:nvPr/>
          </p:nvSpPr>
          <p:spPr>
            <a:xfrm>
              <a:off x="267" y="1392"/>
              <a:ext cx="288" cy="288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95" name="文本框 273467"/>
            <p:cNvSpPr txBox="1"/>
            <p:nvPr/>
          </p:nvSpPr>
          <p:spPr>
            <a:xfrm>
              <a:off x="88" y="840"/>
              <a:ext cx="3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96" name="直接连接符 273468"/>
            <p:cNvSpPr/>
            <p:nvPr/>
          </p:nvSpPr>
          <p:spPr>
            <a:xfrm>
              <a:off x="192" y="1248"/>
              <a:ext cx="0" cy="4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397" name="直接连接符 273469"/>
            <p:cNvSpPr/>
            <p:nvPr/>
          </p:nvSpPr>
          <p:spPr>
            <a:xfrm>
              <a:off x="414" y="624"/>
              <a:ext cx="0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398" name="直接连接符 273470"/>
            <p:cNvSpPr/>
            <p:nvPr/>
          </p:nvSpPr>
          <p:spPr>
            <a:xfrm>
              <a:off x="411" y="1200"/>
              <a:ext cx="0" cy="76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399" name="直接连接符 273471"/>
            <p:cNvSpPr/>
            <p:nvPr/>
          </p:nvSpPr>
          <p:spPr>
            <a:xfrm>
              <a:off x="4176" y="1947"/>
              <a:ext cx="120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00" name="直接连接符 273472"/>
            <p:cNvSpPr/>
            <p:nvPr/>
          </p:nvSpPr>
          <p:spPr>
            <a:xfrm>
              <a:off x="3720" y="594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01" name="文本框 273473"/>
            <p:cNvSpPr txBox="1"/>
            <p:nvPr/>
          </p:nvSpPr>
          <p:spPr>
            <a:xfrm>
              <a:off x="3672" y="816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B3</a:t>
              </a:r>
              <a:r>
                <a:rPr lang="en-US" altLang="zh-CN" sz="1600" b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endParaRPr lang="en-US" altLang="zh-CN" sz="1800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402" name="矩形 273474"/>
            <p:cNvSpPr/>
            <p:nvPr/>
          </p:nvSpPr>
          <p:spPr>
            <a:xfrm>
              <a:off x="4011" y="1083"/>
              <a:ext cx="96" cy="309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03" name="直接连接符 273475"/>
            <p:cNvSpPr/>
            <p:nvPr/>
          </p:nvSpPr>
          <p:spPr>
            <a:xfrm>
              <a:off x="4059" y="1410"/>
              <a:ext cx="0" cy="52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04" name="文本框 273476"/>
            <p:cNvSpPr txBox="1"/>
            <p:nvPr/>
          </p:nvSpPr>
          <p:spPr>
            <a:xfrm>
              <a:off x="3972" y="1020"/>
              <a:ext cx="62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 algn="ctr"/>
              <a:r>
                <a:rPr lang="en-US" altLang="zh-CN" sz="36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  <a:ea typeface="方正琥珀繁体" pitchFamily="2" charset="-122"/>
                </a:rPr>
                <a:t>be</a:t>
              </a:r>
              <a:r>
                <a:rPr lang="en-US" altLang="zh-CN" sz="1800" b="1">
                  <a:latin typeface="Times New Roman" panose="02020603050405020304" pitchFamily="18" charset="0"/>
                  <a:ea typeface="方正琥珀繁体" pitchFamily="2" charset="-122"/>
                </a:rPr>
                <a:t>2</a:t>
              </a:r>
              <a:r>
                <a:rPr lang="en-US" altLang="zh-CN" sz="1800" b="1" i="1">
                  <a:latin typeface="Times New Roman" panose="02020603050405020304" pitchFamily="18" charset="0"/>
                  <a:ea typeface="方正琥珀繁体" pitchFamily="2" charset="-122"/>
                </a:rPr>
                <a:t> </a:t>
              </a:r>
              <a:endParaRPr lang="en-US" altLang="zh-CN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405" name="直接连接符 273477"/>
            <p:cNvSpPr/>
            <p:nvPr/>
          </p:nvSpPr>
          <p:spPr>
            <a:xfrm>
              <a:off x="4150" y="572"/>
              <a:ext cx="0" cy="5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406" name="直接连接符 273478"/>
            <p:cNvSpPr/>
            <p:nvPr/>
          </p:nvSpPr>
          <p:spPr>
            <a:xfrm>
              <a:off x="4059" y="594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07" name="直接连接符 273479"/>
            <p:cNvSpPr/>
            <p:nvPr/>
          </p:nvSpPr>
          <p:spPr>
            <a:xfrm flipV="1">
              <a:off x="4605" y="588"/>
              <a:ext cx="0" cy="4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08" name="直接连接符 273480"/>
            <p:cNvSpPr/>
            <p:nvPr/>
          </p:nvSpPr>
          <p:spPr>
            <a:xfrm>
              <a:off x="4785" y="845"/>
              <a:ext cx="0" cy="62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sp>
          <p:nvSpPr>
            <p:cNvPr id="14409" name="直接连接符 273481"/>
            <p:cNvSpPr/>
            <p:nvPr/>
          </p:nvSpPr>
          <p:spPr>
            <a:xfrm>
              <a:off x="4608" y="576"/>
              <a:ext cx="768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10" name="矩形 273482"/>
            <p:cNvSpPr/>
            <p:nvPr/>
          </p:nvSpPr>
          <p:spPr>
            <a:xfrm>
              <a:off x="930" y="1122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1" name="矩形 273483"/>
            <p:cNvSpPr/>
            <p:nvPr/>
          </p:nvSpPr>
          <p:spPr>
            <a:xfrm>
              <a:off x="2919" y="1008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2" name="直接连接符 273484"/>
            <p:cNvSpPr/>
            <p:nvPr/>
          </p:nvSpPr>
          <p:spPr>
            <a:xfrm>
              <a:off x="2976" y="1314"/>
              <a:ext cx="0" cy="62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13" name="矩形 273485"/>
            <p:cNvSpPr/>
            <p:nvPr/>
          </p:nvSpPr>
          <p:spPr>
            <a:xfrm>
              <a:off x="3666" y="1047"/>
              <a:ext cx="105" cy="288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4" name="直接连接符 273486"/>
            <p:cNvSpPr/>
            <p:nvPr/>
          </p:nvSpPr>
          <p:spPr>
            <a:xfrm>
              <a:off x="3714" y="1344"/>
              <a:ext cx="0" cy="62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15" name="文本框 273487"/>
            <p:cNvSpPr txBox="1"/>
            <p:nvPr/>
          </p:nvSpPr>
          <p:spPr>
            <a:xfrm>
              <a:off x="1353" y="1296"/>
              <a:ext cx="3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B2</a:t>
              </a:r>
              <a:endParaRPr lang="en-US" altLang="zh-CN" sz="1800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416" name="直接连接符 273488"/>
            <p:cNvSpPr/>
            <p:nvPr/>
          </p:nvSpPr>
          <p:spPr>
            <a:xfrm>
              <a:off x="1362" y="645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7" name="直接连接符 273489"/>
            <p:cNvSpPr/>
            <p:nvPr/>
          </p:nvSpPr>
          <p:spPr>
            <a:xfrm>
              <a:off x="1362" y="1440"/>
              <a:ext cx="0" cy="52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8" name="矩形 273490"/>
            <p:cNvSpPr/>
            <p:nvPr/>
          </p:nvSpPr>
          <p:spPr>
            <a:xfrm>
              <a:off x="1314" y="1122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19" name="矩形 273491"/>
            <p:cNvSpPr/>
            <p:nvPr/>
          </p:nvSpPr>
          <p:spPr>
            <a:xfrm>
              <a:off x="366" y="882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20" name="直接连接符 273492"/>
            <p:cNvSpPr/>
            <p:nvPr/>
          </p:nvSpPr>
          <p:spPr>
            <a:xfrm flipV="1">
              <a:off x="5058" y="564"/>
              <a:ext cx="0" cy="4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1" name="文本框 273493"/>
            <p:cNvSpPr txBox="1"/>
            <p:nvPr/>
          </p:nvSpPr>
          <p:spPr>
            <a:xfrm>
              <a:off x="4992" y="720"/>
              <a:ext cx="3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1400" b="1">
                  <a:latin typeface="Times New Roman" panose="02020603050405020304" pitchFamily="18" charset="0"/>
                  <a:ea typeface="方正琥珀繁体" pitchFamily="2" charset="-122"/>
                </a:rPr>
                <a:t>C</a:t>
              </a:r>
              <a:r>
                <a:rPr lang="en-US" altLang="zh-CN" sz="1600" b="1">
                  <a:latin typeface="Times New Roman" panose="02020603050405020304" pitchFamily="18" charset="0"/>
                  <a:ea typeface="方正琥珀繁体" pitchFamily="2" charset="-122"/>
                </a:rPr>
                <a:t>2</a:t>
              </a:r>
              <a:endParaRPr lang="en-US" altLang="zh-CN" sz="1600" b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sp>
          <p:nvSpPr>
            <p:cNvPr id="14422" name="矩形 273494"/>
            <p:cNvSpPr/>
            <p:nvPr/>
          </p:nvSpPr>
          <p:spPr>
            <a:xfrm>
              <a:off x="5001" y="1008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23" name="直接连接符 273495"/>
            <p:cNvSpPr/>
            <p:nvPr/>
          </p:nvSpPr>
          <p:spPr>
            <a:xfrm>
              <a:off x="5058" y="1314"/>
              <a:ext cx="0" cy="62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24" name="直接连接符 273496"/>
            <p:cNvSpPr/>
            <p:nvPr/>
          </p:nvSpPr>
          <p:spPr>
            <a:xfrm flipV="1">
              <a:off x="5385" y="564"/>
              <a:ext cx="0" cy="43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25" name="矩形 273497"/>
            <p:cNvSpPr/>
            <p:nvPr/>
          </p:nvSpPr>
          <p:spPr>
            <a:xfrm>
              <a:off x="5328" y="1008"/>
              <a:ext cx="96" cy="300"/>
            </a:xfrm>
            <a:prstGeom prst="rect">
              <a:avLst/>
            </a:prstGeom>
            <a:solidFill>
              <a:srgbClr val="66FF66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26" name="直接连接符 273498"/>
            <p:cNvSpPr/>
            <p:nvPr/>
          </p:nvSpPr>
          <p:spPr>
            <a:xfrm>
              <a:off x="5385" y="1323"/>
              <a:ext cx="0" cy="62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27" name="直接连接符 273499"/>
            <p:cNvSpPr/>
            <p:nvPr/>
          </p:nvSpPr>
          <p:spPr>
            <a:xfrm>
              <a:off x="3107" y="754"/>
              <a:ext cx="0" cy="5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14428" name="直接连接符 273500"/>
            <p:cNvSpPr/>
            <p:nvPr/>
          </p:nvSpPr>
          <p:spPr>
            <a:xfrm>
              <a:off x="3600" y="1008"/>
              <a:ext cx="0" cy="5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</p:sp>
        <p:grpSp>
          <p:nvGrpSpPr>
            <p:cNvPr id="14429" name="组合 273501"/>
            <p:cNvGrpSpPr/>
            <p:nvPr/>
          </p:nvGrpSpPr>
          <p:grpSpPr>
            <a:xfrm>
              <a:off x="3072" y="720"/>
              <a:ext cx="399" cy="383"/>
              <a:chOff x="4718" y="2727"/>
              <a:chExt cx="399" cy="383"/>
            </a:xfrm>
          </p:grpSpPr>
          <p:sp>
            <p:nvSpPr>
              <p:cNvPr id="14430" name="文本框 273502"/>
              <p:cNvSpPr txBox="1"/>
              <p:nvPr/>
            </p:nvSpPr>
            <p:spPr>
              <a:xfrm>
                <a:off x="4718" y="2822"/>
                <a:ext cx="39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sz="2000" b="1">
                    <a:latin typeface="Times New Roman" panose="02020603050405020304" pitchFamily="18" charset="0"/>
                    <a:ea typeface="方正琥珀繁体" pitchFamily="2" charset="-122"/>
                  </a:rPr>
                  <a:t>o</a:t>
                </a:r>
                <a:r>
                  <a:rPr lang="en-US" altLang="zh-CN" sz="1600" b="1">
                    <a:latin typeface="Times New Roman" panose="02020603050405020304" pitchFamily="18" charset="0"/>
                    <a:ea typeface="方正琥珀繁体" pitchFamily="2" charset="-122"/>
                  </a:rPr>
                  <a:t>1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31" name="文本框 273503"/>
              <p:cNvSpPr txBox="1"/>
              <p:nvPr/>
            </p:nvSpPr>
            <p:spPr>
              <a:xfrm>
                <a:off x="4788" y="2727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32" name="组合 273504"/>
            <p:cNvGrpSpPr/>
            <p:nvPr/>
          </p:nvGrpSpPr>
          <p:grpSpPr>
            <a:xfrm>
              <a:off x="3264" y="1056"/>
              <a:ext cx="355" cy="363"/>
              <a:chOff x="3216" y="1077"/>
              <a:chExt cx="355" cy="363"/>
            </a:xfrm>
          </p:grpSpPr>
          <p:sp>
            <p:nvSpPr>
              <p:cNvPr id="14433" name="文本框 273505"/>
              <p:cNvSpPr txBox="1"/>
              <p:nvPr/>
            </p:nvSpPr>
            <p:spPr>
              <a:xfrm>
                <a:off x="3216" y="1152"/>
                <a:ext cx="3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b="1" i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sz="1600" b="1">
                    <a:latin typeface="Times New Roman" panose="02020603050405020304" pitchFamily="18" charset="0"/>
                    <a:ea typeface="方正琥珀繁体" pitchFamily="2" charset="-122"/>
                  </a:rPr>
                  <a:t>i2</a:t>
                </a:r>
                <a:endParaRPr lang="en-US" altLang="zh-CN" sz="32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34" name="文本框 273506"/>
              <p:cNvSpPr txBox="1"/>
              <p:nvPr/>
            </p:nvSpPr>
            <p:spPr>
              <a:xfrm>
                <a:off x="3282" y="1077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35" name="组合 273507"/>
            <p:cNvGrpSpPr/>
            <p:nvPr/>
          </p:nvGrpSpPr>
          <p:grpSpPr>
            <a:xfrm>
              <a:off x="4494" y="1008"/>
              <a:ext cx="240" cy="432"/>
              <a:chOff x="2331" y="1440"/>
              <a:chExt cx="240" cy="432"/>
            </a:xfrm>
          </p:grpSpPr>
          <p:sp>
            <p:nvSpPr>
              <p:cNvPr id="14436" name="直接连接符 273508"/>
              <p:cNvSpPr/>
              <p:nvPr/>
            </p:nvSpPr>
            <p:spPr>
              <a:xfrm flipH="1">
                <a:off x="2331" y="1440"/>
                <a:ext cx="117" cy="23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7" name="直接连接符 273509"/>
              <p:cNvSpPr/>
              <p:nvPr/>
            </p:nvSpPr>
            <p:spPr>
              <a:xfrm>
                <a:off x="2448" y="1440"/>
                <a:ext cx="123" cy="23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8" name="直接连接符 273510"/>
              <p:cNvSpPr/>
              <p:nvPr/>
            </p:nvSpPr>
            <p:spPr>
              <a:xfrm>
                <a:off x="2331" y="1674"/>
                <a:ext cx="117" cy="19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39" name="直接连接符 273511"/>
              <p:cNvSpPr/>
              <p:nvPr/>
            </p:nvSpPr>
            <p:spPr>
              <a:xfrm rot="-50714" flipH="1">
                <a:off x="2447" y="1679"/>
                <a:ext cx="113" cy="19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40" name="直接连接符 273512"/>
              <p:cNvSpPr/>
              <p:nvPr/>
            </p:nvSpPr>
            <p:spPr>
              <a:xfrm>
                <a:off x="2331" y="167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441" name="直接连接符 273513"/>
            <p:cNvSpPr/>
            <p:nvPr/>
          </p:nvSpPr>
          <p:spPr>
            <a:xfrm>
              <a:off x="4608" y="1449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42" name="直接连接符 273514"/>
            <p:cNvSpPr/>
            <p:nvPr/>
          </p:nvSpPr>
          <p:spPr>
            <a:xfrm>
              <a:off x="1746" y="636"/>
              <a:ext cx="0" cy="48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43" name="直接连接符 273515"/>
            <p:cNvSpPr/>
            <p:nvPr/>
          </p:nvSpPr>
          <p:spPr>
            <a:xfrm>
              <a:off x="1758" y="1392"/>
              <a:ext cx="0" cy="57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4444" name="任意多边形 273516"/>
            <p:cNvSpPr/>
            <p:nvPr/>
          </p:nvSpPr>
          <p:spPr>
            <a:xfrm>
              <a:off x="3216" y="1776"/>
              <a:ext cx="240" cy="336"/>
            </a:xfrm>
            <a:custGeom>
              <a:avLst/>
              <a:gdLst/>
              <a:ahLst/>
              <a:cxnLst/>
              <a:pathLst>
                <a:path w="240" h="336">
                  <a:moveTo>
                    <a:pt x="0" y="336"/>
                  </a:move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45" name="文本框 273517"/>
            <p:cNvSpPr txBox="1"/>
            <p:nvPr/>
          </p:nvSpPr>
          <p:spPr>
            <a:xfrm>
              <a:off x="3228" y="1862"/>
              <a:ext cx="365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4000" b="1" i="1">
                  <a:latin typeface="Times New Roman" panose="02020603050405020304" pitchFamily="18" charset="0"/>
                  <a:ea typeface="方正琥珀繁体" pitchFamily="2" charset="-122"/>
                </a:rPr>
                <a:t>r</a:t>
              </a:r>
              <a:r>
                <a:rPr lang="en-US" altLang="zh-CN" sz="2000" b="1" i="1">
                  <a:latin typeface="Times New Roman" panose="02020603050405020304" pitchFamily="18" charset="0"/>
                  <a:ea typeface="方正琥珀繁体" pitchFamily="2" charset="-122"/>
                </a:rPr>
                <a:t>i2</a:t>
              </a:r>
              <a:endParaRPr lang="en-US" altLang="zh-CN" sz="4000" b="1" i="1">
                <a:latin typeface="Times New Roman" panose="02020603050405020304" pitchFamily="18" charset="0"/>
                <a:ea typeface="方正琥珀繁体" pitchFamily="2" charset="-122"/>
              </a:endParaRPr>
            </a:p>
          </p:txBody>
        </p:sp>
        <p:grpSp>
          <p:nvGrpSpPr>
            <p:cNvPr id="14446" name="组合 273518"/>
            <p:cNvGrpSpPr/>
            <p:nvPr/>
          </p:nvGrpSpPr>
          <p:grpSpPr>
            <a:xfrm>
              <a:off x="-14" y="1632"/>
              <a:ext cx="349" cy="412"/>
              <a:chOff x="500" y="1296"/>
              <a:chExt cx="349" cy="412"/>
            </a:xfrm>
          </p:grpSpPr>
          <p:sp>
            <p:nvSpPr>
              <p:cNvPr id="14447" name="文本框 273519"/>
              <p:cNvSpPr txBox="1"/>
              <p:nvPr/>
            </p:nvSpPr>
            <p:spPr>
              <a:xfrm>
                <a:off x="500" y="1381"/>
                <a:ext cx="34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b="1" baseline="-25000">
                    <a:latin typeface="Times New Roman" panose="02020603050405020304" pitchFamily="18" charset="0"/>
                    <a:ea typeface="方正琥珀繁体" pitchFamily="2" charset="-122"/>
                  </a:rPr>
                  <a:t>S</a:t>
                </a:r>
                <a:endParaRPr lang="en-US" altLang="zh-CN" sz="2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48" name="文本框 273520"/>
              <p:cNvSpPr txBox="1"/>
              <p:nvPr/>
            </p:nvSpPr>
            <p:spPr>
              <a:xfrm>
                <a:off x="602" y="1296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49" name="组合 273521"/>
            <p:cNvGrpSpPr/>
            <p:nvPr/>
          </p:nvGrpSpPr>
          <p:grpSpPr>
            <a:xfrm>
              <a:off x="514" y="972"/>
              <a:ext cx="320" cy="412"/>
              <a:chOff x="514" y="1296"/>
              <a:chExt cx="320" cy="412"/>
            </a:xfrm>
          </p:grpSpPr>
          <p:sp>
            <p:nvSpPr>
              <p:cNvPr id="14450" name="文本框 273522"/>
              <p:cNvSpPr txBox="1"/>
              <p:nvPr/>
            </p:nvSpPr>
            <p:spPr>
              <a:xfrm>
                <a:off x="514" y="1381"/>
                <a:ext cx="32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2800" b="1" i="1" err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sz="2800" b="1" baseline="-25000" err="1">
                    <a:latin typeface="Times New Roman" panose="02020603050405020304" pitchFamily="18" charset="0"/>
                    <a:ea typeface="方正琥珀繁体" pitchFamily="2" charset="-122"/>
                  </a:rPr>
                  <a:t>i</a:t>
                </a:r>
                <a:endParaRPr lang="en-US" altLang="zh-CN" sz="2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51" name="文本框 273523"/>
              <p:cNvSpPr txBox="1"/>
              <p:nvPr/>
            </p:nvSpPr>
            <p:spPr>
              <a:xfrm>
                <a:off x="602" y="1296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52" name="组合 273524"/>
            <p:cNvGrpSpPr/>
            <p:nvPr/>
          </p:nvGrpSpPr>
          <p:grpSpPr>
            <a:xfrm>
              <a:off x="5398" y="1488"/>
              <a:ext cx="362" cy="431"/>
              <a:chOff x="4739" y="1152"/>
              <a:chExt cx="362" cy="431"/>
            </a:xfrm>
          </p:grpSpPr>
          <p:sp>
            <p:nvSpPr>
              <p:cNvPr id="14453" name="文本框 273525"/>
              <p:cNvSpPr txBox="1"/>
              <p:nvPr/>
            </p:nvSpPr>
            <p:spPr>
              <a:xfrm>
                <a:off x="4739" y="1218"/>
                <a:ext cx="36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2800" b="1" i="1" err="1">
                    <a:latin typeface="Times New Roman" panose="02020603050405020304" pitchFamily="18" charset="0"/>
                    <a:ea typeface="方正琥珀繁体" pitchFamily="2" charset="-122"/>
                  </a:rPr>
                  <a:t>U</a:t>
                </a:r>
                <a:r>
                  <a:rPr lang="en-US" altLang="zh-CN" sz="3200" b="1" baseline="-25000" err="1">
                    <a:latin typeface="Times New Roman" panose="02020603050405020304" pitchFamily="18" charset="0"/>
                    <a:ea typeface="方正琥珀繁体" pitchFamily="2" charset="-122"/>
                  </a:rPr>
                  <a:t>o</a:t>
                </a:r>
                <a:endParaRPr lang="en-US" altLang="zh-CN" sz="2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54" name="文本框 273526"/>
              <p:cNvSpPr txBox="1"/>
              <p:nvPr/>
            </p:nvSpPr>
            <p:spPr>
              <a:xfrm>
                <a:off x="4824" y="1152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55" name="组合 273527"/>
            <p:cNvGrpSpPr/>
            <p:nvPr/>
          </p:nvGrpSpPr>
          <p:grpSpPr>
            <a:xfrm>
              <a:off x="4150" y="618"/>
              <a:ext cx="372" cy="404"/>
              <a:chOff x="342" y="1920"/>
              <a:chExt cx="372" cy="404"/>
            </a:xfrm>
          </p:grpSpPr>
          <p:sp>
            <p:nvSpPr>
              <p:cNvPr id="14456" name="文本框 273528"/>
              <p:cNvSpPr txBox="1"/>
              <p:nvPr/>
            </p:nvSpPr>
            <p:spPr>
              <a:xfrm>
                <a:off x="384" y="1920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57" name="文本框 273529"/>
              <p:cNvSpPr txBox="1"/>
              <p:nvPr/>
            </p:nvSpPr>
            <p:spPr>
              <a:xfrm>
                <a:off x="342" y="1997"/>
                <a:ext cx="37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I</a:t>
                </a:r>
                <a:r>
                  <a:rPr lang="en-US" altLang="zh-CN" sz="2000" b="1">
                    <a:latin typeface="Times New Roman" panose="02020603050405020304" pitchFamily="18" charset="0"/>
                    <a:ea typeface="方正琥珀繁体" pitchFamily="2" charset="-122"/>
                  </a:rPr>
                  <a:t>b2</a:t>
                </a:r>
                <a:endParaRPr lang="en-US" altLang="zh-CN" sz="2000" b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58" name="组合 273530"/>
            <p:cNvGrpSpPr/>
            <p:nvPr/>
          </p:nvGrpSpPr>
          <p:grpSpPr>
            <a:xfrm>
              <a:off x="2352" y="672"/>
              <a:ext cx="543" cy="404"/>
              <a:chOff x="1785" y="3076"/>
              <a:chExt cx="543" cy="404"/>
            </a:xfrm>
          </p:grpSpPr>
          <p:sp>
            <p:nvSpPr>
              <p:cNvPr id="14459" name="文本框 273531"/>
              <p:cNvSpPr txBox="1"/>
              <p:nvPr/>
            </p:nvSpPr>
            <p:spPr>
              <a:xfrm>
                <a:off x="1785" y="3139"/>
                <a:ext cx="239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</a:t>
                </a:r>
                <a:endParaRPr lang="en-US" altLang="zh-CN" sz="3200" b="1" i="1">
                  <a:latin typeface="Times New Roman" panose="02020603050405020304" pitchFamily="18" charset="0"/>
                  <a:ea typeface="方正琥珀繁体" pitchFamily="2" charset="-122"/>
                  <a:sym typeface="Symbol" panose="05050102010706020507" pitchFamily="18" charset="2"/>
                </a:endParaRPr>
              </a:p>
            </p:txBody>
          </p:sp>
          <p:grpSp>
            <p:nvGrpSpPr>
              <p:cNvPr id="14460" name="组合 273532"/>
              <p:cNvGrpSpPr/>
              <p:nvPr/>
            </p:nvGrpSpPr>
            <p:grpSpPr>
              <a:xfrm>
                <a:off x="1956" y="3076"/>
                <a:ext cx="372" cy="404"/>
                <a:chOff x="342" y="1920"/>
                <a:chExt cx="372" cy="404"/>
              </a:xfrm>
            </p:grpSpPr>
            <p:sp>
              <p:nvSpPr>
                <p:cNvPr id="14461" name="文本框 273533"/>
                <p:cNvSpPr txBox="1"/>
                <p:nvPr/>
              </p:nvSpPr>
              <p:spPr>
                <a:xfrm>
                  <a:off x="384" y="1920"/>
                  <a:ext cx="166" cy="23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1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•</a:t>
                  </a:r>
                  <a:endPara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  <p:sp>
              <p:nvSpPr>
                <p:cNvPr id="14462" name="文本框 273534"/>
                <p:cNvSpPr txBox="1"/>
                <p:nvPr/>
              </p:nvSpPr>
              <p:spPr>
                <a:xfrm>
                  <a:off x="342" y="1997"/>
                  <a:ext cx="372" cy="32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 eaLnBrk="0" hangingPunct="0"/>
                  <a:r>
                    <a:rPr lang="en-US" altLang="zh-CN" sz="2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I</a:t>
                  </a:r>
                  <a:r>
                    <a:rPr lang="en-US" altLang="zh-CN" sz="2000" b="1">
                      <a:latin typeface="Times New Roman" panose="02020603050405020304" pitchFamily="18" charset="0"/>
                      <a:ea typeface="方正琥珀繁体" pitchFamily="2" charset="-122"/>
                    </a:rPr>
                    <a:t>b1</a:t>
                  </a:r>
                  <a:endParaRPr lang="en-US" altLang="zh-CN" sz="2000" b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</p:grpSp>
        </p:grpSp>
        <p:grpSp>
          <p:nvGrpSpPr>
            <p:cNvPr id="14463" name="组合 273535"/>
            <p:cNvGrpSpPr/>
            <p:nvPr/>
          </p:nvGrpSpPr>
          <p:grpSpPr>
            <a:xfrm>
              <a:off x="1837" y="754"/>
              <a:ext cx="372" cy="404"/>
              <a:chOff x="342" y="1920"/>
              <a:chExt cx="372" cy="404"/>
            </a:xfrm>
          </p:grpSpPr>
          <p:sp>
            <p:nvSpPr>
              <p:cNvPr id="14464" name="文本框 273536"/>
              <p:cNvSpPr txBox="1"/>
              <p:nvPr/>
            </p:nvSpPr>
            <p:spPr>
              <a:xfrm>
                <a:off x="384" y="1920"/>
                <a:ext cx="166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rPr>
                  <a:t>•</a:t>
                </a:r>
                <a:endParaRPr lang="en-US" altLang="zh-CN" sz="1800" b="1" i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  <p:sp>
            <p:nvSpPr>
              <p:cNvPr id="14465" name="文本框 273537"/>
              <p:cNvSpPr txBox="1"/>
              <p:nvPr/>
            </p:nvSpPr>
            <p:spPr>
              <a:xfrm>
                <a:off x="342" y="1997"/>
                <a:ext cx="37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</a:rPr>
                  <a:t>I</a:t>
                </a:r>
                <a:r>
                  <a:rPr lang="en-US" altLang="zh-CN" sz="2000" b="1">
                    <a:latin typeface="Times New Roman" panose="02020603050405020304" pitchFamily="18" charset="0"/>
                    <a:ea typeface="方正琥珀繁体" pitchFamily="2" charset="-122"/>
                  </a:rPr>
                  <a:t>b1</a:t>
                </a:r>
                <a:endParaRPr lang="en-US" altLang="zh-CN" sz="2000" b="1">
                  <a:latin typeface="Times New Roman" panose="02020603050405020304" pitchFamily="18" charset="0"/>
                  <a:ea typeface="方正琥珀繁体" pitchFamily="2" charset="-122"/>
                </a:endParaRPr>
              </a:p>
            </p:txBody>
          </p:sp>
        </p:grpSp>
        <p:grpSp>
          <p:nvGrpSpPr>
            <p:cNvPr id="14466" name="组合 273538"/>
            <p:cNvGrpSpPr/>
            <p:nvPr/>
          </p:nvGrpSpPr>
          <p:grpSpPr>
            <a:xfrm>
              <a:off x="4512" y="624"/>
              <a:ext cx="543" cy="404"/>
              <a:chOff x="1785" y="3076"/>
              <a:chExt cx="543" cy="404"/>
            </a:xfrm>
          </p:grpSpPr>
          <p:sp>
            <p:nvSpPr>
              <p:cNvPr id="14467" name="文本框 273539"/>
              <p:cNvSpPr txBox="1"/>
              <p:nvPr/>
            </p:nvSpPr>
            <p:spPr>
              <a:xfrm>
                <a:off x="1785" y="3139"/>
                <a:ext cx="239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>
                <a:spAutoFit/>
              </a:bodyPr>
              <a:p>
                <a:pPr algn="ctr" eaLnBrk="0" hangingPunct="0"/>
                <a:r>
                  <a:rPr lang="en-US" altLang="zh-CN" sz="2800" b="1" i="1">
                    <a:latin typeface="Times New Roman" panose="02020603050405020304" pitchFamily="18" charset="0"/>
                    <a:ea typeface="方正琥珀繁体" pitchFamily="2" charset="-122"/>
                    <a:sym typeface="Symbol" panose="05050102010706020507" pitchFamily="18" charset="2"/>
                  </a:rPr>
                  <a:t></a:t>
                </a:r>
                <a:endParaRPr lang="en-US" altLang="zh-CN" sz="3200" b="1" i="1">
                  <a:latin typeface="Times New Roman" panose="02020603050405020304" pitchFamily="18" charset="0"/>
                  <a:ea typeface="方正琥珀繁体" pitchFamily="2" charset="-122"/>
                  <a:sym typeface="Symbol" panose="05050102010706020507" pitchFamily="18" charset="2"/>
                </a:endParaRPr>
              </a:p>
            </p:txBody>
          </p:sp>
          <p:grpSp>
            <p:nvGrpSpPr>
              <p:cNvPr id="14468" name="组合 273540"/>
              <p:cNvGrpSpPr/>
              <p:nvPr/>
            </p:nvGrpSpPr>
            <p:grpSpPr>
              <a:xfrm>
                <a:off x="1956" y="3076"/>
                <a:ext cx="372" cy="404"/>
                <a:chOff x="342" y="1920"/>
                <a:chExt cx="372" cy="404"/>
              </a:xfrm>
            </p:grpSpPr>
            <p:sp>
              <p:nvSpPr>
                <p:cNvPr id="14469" name="文本框 273541"/>
                <p:cNvSpPr txBox="1"/>
                <p:nvPr/>
              </p:nvSpPr>
              <p:spPr>
                <a:xfrm>
                  <a:off x="384" y="1920"/>
                  <a:ext cx="166" cy="23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/>
                  <a:r>
                    <a:rPr lang="en-US" altLang="zh-CN" sz="1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•</a:t>
                  </a:r>
                  <a:endParaRPr lang="en-US" altLang="zh-CN" sz="1800" b="1" i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  <p:sp>
              <p:nvSpPr>
                <p:cNvPr id="14470" name="文本框 273542"/>
                <p:cNvSpPr txBox="1"/>
                <p:nvPr/>
              </p:nvSpPr>
              <p:spPr>
                <a:xfrm>
                  <a:off x="342" y="1997"/>
                  <a:ext cx="372" cy="32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>
                  <a:spAutoFit/>
                </a:bodyPr>
                <a:p>
                  <a:pPr algn="ctr" eaLnBrk="0" hangingPunct="0"/>
                  <a:r>
                    <a:rPr lang="en-US" altLang="zh-CN" sz="2800" b="1" i="1">
                      <a:latin typeface="Times New Roman" panose="02020603050405020304" pitchFamily="18" charset="0"/>
                      <a:ea typeface="方正琥珀繁体" pitchFamily="2" charset="-122"/>
                    </a:rPr>
                    <a:t>I</a:t>
                  </a:r>
                  <a:r>
                    <a:rPr lang="en-US" altLang="zh-CN" sz="2000" b="1">
                      <a:latin typeface="Times New Roman" panose="02020603050405020304" pitchFamily="18" charset="0"/>
                      <a:ea typeface="方正琥珀繁体" pitchFamily="2" charset="-122"/>
                    </a:rPr>
                    <a:t>b2</a:t>
                  </a:r>
                  <a:endParaRPr lang="en-US" altLang="zh-CN" sz="2000" b="1">
                    <a:latin typeface="Times New Roman" panose="02020603050405020304" pitchFamily="18" charset="0"/>
                    <a:ea typeface="方正琥珀繁体" pitchFamily="2" charset="-122"/>
                  </a:endParaRPr>
                </a:p>
              </p:txBody>
            </p:sp>
          </p:grpSp>
        </p:grpSp>
      </p:grpSp>
      <p:sp>
        <p:nvSpPr>
          <p:cNvPr id="14471" name="文本框 273543"/>
          <p:cNvSpPr txBox="1"/>
          <p:nvPr/>
        </p:nvSpPr>
        <p:spPr>
          <a:xfrm>
            <a:off x="1558925" y="233363"/>
            <a:ext cx="4697413" cy="51911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难点：确定各级的输入阻抗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72" name="文本框 273544"/>
          <p:cNvSpPr txBox="1"/>
          <p:nvPr/>
        </p:nvSpPr>
        <p:spPr>
          <a:xfrm>
            <a:off x="304800" y="0"/>
            <a:ext cx="1111250" cy="457200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altLang="zh-CN" i="1" dirty="0">
              <a:solidFill>
                <a:srgbClr val="FFFF00"/>
              </a:solidFill>
              <a:latin typeface="Times New Roman" panose="02020603050405020304" pitchFamily="18" charset="0"/>
              <a:ea typeface="幼圆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文本框 274433"/>
          <p:cNvSpPr txBox="1"/>
          <p:nvPr/>
        </p:nvSpPr>
        <p:spPr>
          <a:xfrm>
            <a:off x="457200" y="304800"/>
            <a:ext cx="7053263" cy="519113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[</a:t>
            </a:r>
            <a:r>
              <a:rPr lang="zh-CN" altLang="en-US" sz="2800" b="1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]</a:t>
            </a:r>
            <a:r>
              <a:rPr lang="en-US" altLang="zh-CN" sz="2800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幼圆" pitchFamily="49" charset="-122"/>
                <a:ea typeface="幼圆" pitchFamily="49" charset="-122"/>
              </a:rPr>
              <a:t>多级阻容耦合放大电路的分析</a:t>
            </a:r>
            <a:endParaRPr lang="zh-CN" altLang="en-US" sz="28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15362" name="组合 274434"/>
          <p:cNvGrpSpPr/>
          <p:nvPr/>
        </p:nvGrpSpPr>
        <p:grpSpPr>
          <a:xfrm>
            <a:off x="1314450" y="962025"/>
            <a:ext cx="7019925" cy="2570163"/>
            <a:chOff x="828" y="606"/>
            <a:chExt cx="4422" cy="1619"/>
          </a:xfrm>
        </p:grpSpPr>
        <p:sp>
          <p:nvSpPr>
            <p:cNvPr id="15363" name="直接连接符 274435"/>
            <p:cNvSpPr/>
            <p:nvPr/>
          </p:nvSpPr>
          <p:spPr>
            <a:xfrm flipV="1">
              <a:off x="3003" y="2120"/>
              <a:ext cx="1890" cy="6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64" name="直接连接符 274436"/>
            <p:cNvSpPr/>
            <p:nvPr/>
          </p:nvSpPr>
          <p:spPr>
            <a:xfrm>
              <a:off x="3318" y="1420"/>
              <a:ext cx="473" cy="0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5" name="直接连接符 274437"/>
            <p:cNvSpPr/>
            <p:nvPr/>
          </p:nvSpPr>
          <p:spPr>
            <a:xfrm>
              <a:off x="3793" y="1255"/>
              <a:ext cx="0" cy="32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6" name="直接连接符 274438"/>
            <p:cNvSpPr/>
            <p:nvPr/>
          </p:nvSpPr>
          <p:spPr>
            <a:xfrm flipV="1">
              <a:off x="3793" y="1217"/>
              <a:ext cx="189" cy="138"/>
            </a:xfrm>
            <a:prstGeom prst="line">
              <a:avLst/>
            </a:prstGeom>
            <a:ln w="412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7" name="直接连接符 274439"/>
            <p:cNvSpPr/>
            <p:nvPr/>
          </p:nvSpPr>
          <p:spPr>
            <a:xfrm>
              <a:off x="3808" y="1476"/>
              <a:ext cx="190" cy="13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68" name="直接连接符 274440"/>
            <p:cNvSpPr/>
            <p:nvPr/>
          </p:nvSpPr>
          <p:spPr>
            <a:xfrm flipH="1">
              <a:off x="3981" y="627"/>
              <a:ext cx="1" cy="589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9" name="直接连接符 274441"/>
            <p:cNvSpPr/>
            <p:nvPr/>
          </p:nvSpPr>
          <p:spPr>
            <a:xfrm>
              <a:off x="3973" y="1582"/>
              <a:ext cx="0" cy="538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0" name="直接连接符 274442"/>
            <p:cNvSpPr/>
            <p:nvPr/>
          </p:nvSpPr>
          <p:spPr>
            <a:xfrm>
              <a:off x="3973" y="627"/>
              <a:ext cx="920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1" name="椭圆 274443"/>
            <p:cNvSpPr/>
            <p:nvPr/>
          </p:nvSpPr>
          <p:spPr>
            <a:xfrm>
              <a:off x="3952" y="2095"/>
              <a:ext cx="41" cy="41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2" name="直接连接符 274444"/>
            <p:cNvSpPr/>
            <p:nvPr/>
          </p:nvSpPr>
          <p:spPr>
            <a:xfrm flipH="1">
              <a:off x="3973" y="2096"/>
              <a:ext cx="2" cy="12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73" name="直接连接符 274445"/>
            <p:cNvSpPr/>
            <p:nvPr/>
          </p:nvSpPr>
          <p:spPr>
            <a:xfrm>
              <a:off x="3910" y="2216"/>
              <a:ext cx="135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74" name="矩形 274446"/>
            <p:cNvSpPr/>
            <p:nvPr/>
          </p:nvSpPr>
          <p:spPr>
            <a:xfrm>
              <a:off x="4897" y="1609"/>
              <a:ext cx="207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5" name="矩形 274447"/>
            <p:cNvSpPr/>
            <p:nvPr/>
          </p:nvSpPr>
          <p:spPr>
            <a:xfrm>
              <a:off x="4889" y="1955"/>
              <a:ext cx="228" cy="192"/>
            </a:xfrm>
            <a:prstGeom prst="rect">
              <a:avLst/>
            </a:prstGeom>
            <a:noFill/>
            <a:ln w="57150">
              <a:noFill/>
            </a:ln>
            <a:effectLst>
              <a:prstShdw prst="shdw17" dist="17961" dir="2699999">
                <a:srgbClr val="007A5C"/>
              </a:prstShdw>
            </a:effectLst>
          </p:spPr>
          <p:txBody>
            <a:bodyPr wrap="none" anchor="t">
              <a:spAutoFit/>
            </a:bodyPr>
            <a:p>
              <a:pPr algn="ctr"/>
              <a:r>
                <a:rPr lang="zh-CN" alt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6" name="矩形 274448"/>
            <p:cNvSpPr/>
            <p:nvPr/>
          </p:nvSpPr>
          <p:spPr>
            <a:xfrm>
              <a:off x="3940" y="1753"/>
              <a:ext cx="87" cy="228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7" name="矩形 274449"/>
            <p:cNvSpPr/>
            <p:nvPr/>
          </p:nvSpPr>
          <p:spPr>
            <a:xfrm>
              <a:off x="4583" y="1765"/>
              <a:ext cx="28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i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000" b="1" i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8" name="矩形 274450"/>
            <p:cNvSpPr/>
            <p:nvPr/>
          </p:nvSpPr>
          <p:spPr>
            <a:xfrm>
              <a:off x="4081" y="1351"/>
              <a:ext cx="116" cy="1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endParaRPr lang="zh-CN" altLang="zh-CN" sz="20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9" name="直接连接符 274451"/>
            <p:cNvSpPr/>
            <p:nvPr/>
          </p:nvSpPr>
          <p:spPr>
            <a:xfrm>
              <a:off x="4037" y="883"/>
              <a:ext cx="0" cy="226"/>
            </a:xfrm>
            <a:prstGeom prst="line">
              <a:avLst/>
            </a:prstGeom>
            <a:ln w="254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380" name="矩形 274452"/>
            <p:cNvSpPr/>
            <p:nvPr/>
          </p:nvSpPr>
          <p:spPr>
            <a:xfrm>
              <a:off x="4027" y="818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1" name="直接连接符 274453"/>
            <p:cNvSpPr/>
            <p:nvPr/>
          </p:nvSpPr>
          <p:spPr>
            <a:xfrm flipH="1">
              <a:off x="3319" y="627"/>
              <a:ext cx="0" cy="805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82" name="矩形 274454"/>
            <p:cNvSpPr/>
            <p:nvPr/>
          </p:nvSpPr>
          <p:spPr>
            <a:xfrm>
              <a:off x="3275" y="856"/>
              <a:ext cx="88" cy="212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3" name="直接连接符 274455"/>
            <p:cNvSpPr/>
            <p:nvPr/>
          </p:nvSpPr>
          <p:spPr>
            <a:xfrm>
              <a:off x="4394" y="1643"/>
              <a:ext cx="495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15384" name="组合 274456"/>
            <p:cNvGrpSpPr/>
            <p:nvPr/>
          </p:nvGrpSpPr>
          <p:grpSpPr>
            <a:xfrm>
              <a:off x="4281" y="1544"/>
              <a:ext cx="105" cy="205"/>
              <a:chOff x="4456" y="623"/>
              <a:chExt cx="108" cy="238"/>
            </a:xfrm>
          </p:grpSpPr>
          <p:sp>
            <p:nvSpPr>
              <p:cNvPr id="15385" name="直接连接符 274457"/>
              <p:cNvSpPr/>
              <p:nvPr/>
            </p:nvSpPr>
            <p:spPr>
              <a:xfrm>
                <a:off x="4456" y="623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386" name="直接连接符 274458"/>
              <p:cNvSpPr/>
              <p:nvPr/>
            </p:nvSpPr>
            <p:spPr>
              <a:xfrm>
                <a:off x="4564" y="625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</p:grpSp>
        <p:sp>
          <p:nvSpPr>
            <p:cNvPr id="15387" name="直接连接符 274459"/>
            <p:cNvSpPr/>
            <p:nvPr/>
          </p:nvSpPr>
          <p:spPr>
            <a:xfrm>
              <a:off x="3973" y="1647"/>
              <a:ext cx="308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88" name="直接连接符 274460"/>
            <p:cNvSpPr/>
            <p:nvPr/>
          </p:nvSpPr>
          <p:spPr>
            <a:xfrm>
              <a:off x="4893" y="1632"/>
              <a:ext cx="0" cy="494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389" name="椭圆 274461"/>
            <p:cNvSpPr/>
            <p:nvPr/>
          </p:nvSpPr>
          <p:spPr>
            <a:xfrm>
              <a:off x="4853" y="606"/>
              <a:ext cx="40" cy="42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0" name="文本框 274462"/>
            <p:cNvSpPr txBox="1"/>
            <p:nvPr/>
          </p:nvSpPr>
          <p:spPr>
            <a:xfrm>
              <a:off x="3905" y="1253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2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15391" name="矩形 274463"/>
            <p:cNvSpPr/>
            <p:nvPr/>
          </p:nvSpPr>
          <p:spPr>
            <a:xfrm>
              <a:off x="4235" y="1351"/>
              <a:ext cx="275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2" name="矩形 274464"/>
            <p:cNvSpPr/>
            <p:nvPr/>
          </p:nvSpPr>
          <p:spPr>
            <a:xfrm>
              <a:off x="4104" y="1440"/>
              <a:ext cx="207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3" name="矩形 274465"/>
            <p:cNvSpPr/>
            <p:nvPr/>
          </p:nvSpPr>
          <p:spPr>
            <a:xfrm>
              <a:off x="2959" y="796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4" name="矩形 274466"/>
            <p:cNvSpPr/>
            <p:nvPr/>
          </p:nvSpPr>
          <p:spPr>
            <a:xfrm>
              <a:off x="3631" y="1718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E2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5" name="矩形 274467"/>
            <p:cNvSpPr/>
            <p:nvPr/>
          </p:nvSpPr>
          <p:spPr>
            <a:xfrm>
              <a:off x="4581" y="608"/>
              <a:ext cx="473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6" name="矩形 274468"/>
            <p:cNvSpPr/>
            <p:nvPr/>
          </p:nvSpPr>
          <p:spPr>
            <a:xfrm>
              <a:off x="4928" y="1729"/>
              <a:ext cx="32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7" name="直接连接符 274469"/>
            <p:cNvSpPr/>
            <p:nvPr/>
          </p:nvSpPr>
          <p:spPr>
            <a:xfrm>
              <a:off x="1680" y="1430"/>
              <a:ext cx="473" cy="0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8" name="直接连接符 274470"/>
            <p:cNvSpPr/>
            <p:nvPr/>
          </p:nvSpPr>
          <p:spPr>
            <a:xfrm>
              <a:off x="2155" y="1266"/>
              <a:ext cx="0" cy="32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9" name="直接连接符 274471"/>
            <p:cNvSpPr/>
            <p:nvPr/>
          </p:nvSpPr>
          <p:spPr>
            <a:xfrm flipV="1">
              <a:off x="2155" y="1227"/>
              <a:ext cx="189" cy="139"/>
            </a:xfrm>
            <a:prstGeom prst="line">
              <a:avLst/>
            </a:prstGeom>
            <a:ln w="412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0" name="直接连接符 274472"/>
            <p:cNvSpPr/>
            <p:nvPr/>
          </p:nvSpPr>
          <p:spPr>
            <a:xfrm>
              <a:off x="2170" y="1487"/>
              <a:ext cx="190" cy="136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401" name="直接连接符 274473"/>
            <p:cNvSpPr/>
            <p:nvPr/>
          </p:nvSpPr>
          <p:spPr>
            <a:xfrm flipH="1">
              <a:off x="2343" y="638"/>
              <a:ext cx="1" cy="588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2" name="直接连接符 274474"/>
            <p:cNvSpPr/>
            <p:nvPr/>
          </p:nvSpPr>
          <p:spPr>
            <a:xfrm>
              <a:off x="1680" y="1428"/>
              <a:ext cx="1" cy="702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3" name="矩形 274475"/>
            <p:cNvSpPr/>
            <p:nvPr/>
          </p:nvSpPr>
          <p:spPr>
            <a:xfrm>
              <a:off x="1636" y="1657"/>
              <a:ext cx="88" cy="213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4" name="矩形 274476"/>
            <p:cNvSpPr/>
            <p:nvPr/>
          </p:nvSpPr>
          <p:spPr>
            <a:xfrm>
              <a:off x="1299" y="1657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5" name="直接连接符 274477"/>
            <p:cNvSpPr/>
            <p:nvPr/>
          </p:nvSpPr>
          <p:spPr>
            <a:xfrm>
              <a:off x="1385" y="1428"/>
              <a:ext cx="296" cy="1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06" name="矩形 274478"/>
            <p:cNvSpPr/>
            <p:nvPr/>
          </p:nvSpPr>
          <p:spPr>
            <a:xfrm>
              <a:off x="2021" y="814"/>
              <a:ext cx="29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7" name="矩形 274479"/>
            <p:cNvSpPr/>
            <p:nvPr/>
          </p:nvSpPr>
          <p:spPr>
            <a:xfrm>
              <a:off x="2443" y="1361"/>
              <a:ext cx="116" cy="1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endParaRPr lang="zh-CN" altLang="zh-CN" sz="20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8" name="直接连接符 274480"/>
            <p:cNvSpPr/>
            <p:nvPr/>
          </p:nvSpPr>
          <p:spPr>
            <a:xfrm>
              <a:off x="1872" y="1388"/>
              <a:ext cx="196" cy="0"/>
            </a:xfrm>
            <a:prstGeom prst="line">
              <a:avLst/>
            </a:prstGeom>
            <a:ln w="254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409" name="矩形 274481"/>
            <p:cNvSpPr/>
            <p:nvPr/>
          </p:nvSpPr>
          <p:spPr>
            <a:xfrm>
              <a:off x="1841" y="1101"/>
              <a:ext cx="21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0" name="直接连接符 274482"/>
            <p:cNvSpPr/>
            <p:nvPr/>
          </p:nvSpPr>
          <p:spPr>
            <a:xfrm flipH="1">
              <a:off x="1680" y="638"/>
              <a:ext cx="1" cy="896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11" name="矩形 274483"/>
            <p:cNvSpPr/>
            <p:nvPr/>
          </p:nvSpPr>
          <p:spPr>
            <a:xfrm>
              <a:off x="2302" y="809"/>
              <a:ext cx="88" cy="229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2" name="矩形 274484"/>
            <p:cNvSpPr/>
            <p:nvPr/>
          </p:nvSpPr>
          <p:spPr>
            <a:xfrm>
              <a:off x="1637" y="866"/>
              <a:ext cx="88" cy="213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3" name="直接连接符 274485"/>
            <p:cNvSpPr/>
            <p:nvPr/>
          </p:nvSpPr>
          <p:spPr>
            <a:xfrm>
              <a:off x="2335" y="1206"/>
              <a:ext cx="308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14" name="直接连接符 274486"/>
            <p:cNvSpPr/>
            <p:nvPr/>
          </p:nvSpPr>
          <p:spPr>
            <a:xfrm>
              <a:off x="2760" y="1206"/>
              <a:ext cx="558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15415" name="组合 274487"/>
            <p:cNvGrpSpPr/>
            <p:nvPr/>
          </p:nvGrpSpPr>
          <p:grpSpPr>
            <a:xfrm>
              <a:off x="2643" y="1113"/>
              <a:ext cx="105" cy="205"/>
              <a:chOff x="4456" y="623"/>
              <a:chExt cx="108" cy="238"/>
            </a:xfrm>
          </p:grpSpPr>
          <p:sp>
            <p:nvSpPr>
              <p:cNvPr id="15416" name="直接连接符 274488"/>
              <p:cNvSpPr/>
              <p:nvPr/>
            </p:nvSpPr>
            <p:spPr>
              <a:xfrm>
                <a:off x="4456" y="623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17" name="直接连接符 274489"/>
              <p:cNvSpPr/>
              <p:nvPr/>
            </p:nvSpPr>
            <p:spPr>
              <a:xfrm>
                <a:off x="4564" y="625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</p:grpSp>
        <p:sp>
          <p:nvSpPr>
            <p:cNvPr id="15418" name="椭圆 274490"/>
            <p:cNvSpPr/>
            <p:nvPr/>
          </p:nvSpPr>
          <p:spPr>
            <a:xfrm>
              <a:off x="1661" y="1409"/>
              <a:ext cx="40" cy="42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9" name="文本框 274491"/>
            <p:cNvSpPr txBox="1"/>
            <p:nvPr/>
          </p:nvSpPr>
          <p:spPr>
            <a:xfrm>
              <a:off x="2261" y="1264"/>
              <a:ext cx="32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sz="28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1</a:t>
              </a:r>
              <a:endParaRPr lang="en-US" altLang="zh-CN" sz="2800" b="1" baseline="-250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grpSp>
          <p:nvGrpSpPr>
            <p:cNvPr id="15420" name="组合 274492"/>
            <p:cNvGrpSpPr/>
            <p:nvPr/>
          </p:nvGrpSpPr>
          <p:grpSpPr>
            <a:xfrm>
              <a:off x="1280" y="1331"/>
              <a:ext cx="105" cy="205"/>
              <a:chOff x="4456" y="623"/>
              <a:chExt cx="108" cy="238"/>
            </a:xfrm>
          </p:grpSpPr>
          <p:sp>
            <p:nvSpPr>
              <p:cNvPr id="15421" name="直接连接符 274493"/>
              <p:cNvSpPr/>
              <p:nvPr/>
            </p:nvSpPr>
            <p:spPr>
              <a:xfrm>
                <a:off x="4456" y="623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22" name="直接连接符 274494"/>
              <p:cNvSpPr/>
              <p:nvPr/>
            </p:nvSpPr>
            <p:spPr>
              <a:xfrm>
                <a:off x="4564" y="625"/>
                <a:ext cx="0" cy="236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</p:grpSp>
        <p:sp>
          <p:nvSpPr>
            <p:cNvPr id="15423" name="直接连接符 274495"/>
            <p:cNvSpPr/>
            <p:nvPr/>
          </p:nvSpPr>
          <p:spPr>
            <a:xfrm>
              <a:off x="971" y="1430"/>
              <a:ext cx="309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24" name="矩形 274496"/>
            <p:cNvSpPr/>
            <p:nvPr/>
          </p:nvSpPr>
          <p:spPr>
            <a:xfrm>
              <a:off x="2544" y="883"/>
              <a:ext cx="275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5" name="矩形 274497"/>
            <p:cNvSpPr/>
            <p:nvPr/>
          </p:nvSpPr>
          <p:spPr>
            <a:xfrm>
              <a:off x="1159" y="1120"/>
              <a:ext cx="275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6" name="矩形 274498"/>
            <p:cNvSpPr/>
            <p:nvPr/>
          </p:nvSpPr>
          <p:spPr>
            <a:xfrm>
              <a:off x="1383" y="1210"/>
              <a:ext cx="207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7" name="矩形 274499"/>
            <p:cNvSpPr/>
            <p:nvPr/>
          </p:nvSpPr>
          <p:spPr>
            <a:xfrm>
              <a:off x="2454" y="1024"/>
              <a:ext cx="207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8" name="矩形 274500"/>
            <p:cNvSpPr/>
            <p:nvPr/>
          </p:nvSpPr>
          <p:spPr>
            <a:xfrm>
              <a:off x="1321" y="806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9" name="矩形 274501"/>
            <p:cNvSpPr/>
            <p:nvPr/>
          </p:nvSpPr>
          <p:spPr>
            <a:xfrm>
              <a:off x="2747" y="1843"/>
              <a:ext cx="29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30" name="直接连接符 274502"/>
            <p:cNvSpPr/>
            <p:nvPr/>
          </p:nvSpPr>
          <p:spPr>
            <a:xfrm>
              <a:off x="1670" y="625"/>
              <a:ext cx="2318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1" name="矩形 274503"/>
            <p:cNvSpPr/>
            <p:nvPr/>
          </p:nvSpPr>
          <p:spPr>
            <a:xfrm>
              <a:off x="4853" y="1765"/>
              <a:ext cx="87" cy="227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32" name="椭圆 274504"/>
            <p:cNvSpPr/>
            <p:nvPr/>
          </p:nvSpPr>
          <p:spPr>
            <a:xfrm>
              <a:off x="3299" y="1187"/>
              <a:ext cx="40" cy="40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433" name="组合 274505"/>
            <p:cNvGrpSpPr/>
            <p:nvPr/>
          </p:nvGrpSpPr>
          <p:grpSpPr>
            <a:xfrm>
              <a:off x="828" y="1428"/>
              <a:ext cx="415" cy="734"/>
              <a:chOff x="828" y="1428"/>
              <a:chExt cx="415" cy="734"/>
            </a:xfrm>
          </p:grpSpPr>
          <p:sp>
            <p:nvSpPr>
              <p:cNvPr id="15434" name="椭圆 274506"/>
              <p:cNvSpPr/>
              <p:nvPr/>
            </p:nvSpPr>
            <p:spPr>
              <a:xfrm>
                <a:off x="828" y="1812"/>
                <a:ext cx="232" cy="197"/>
              </a:xfrm>
              <a:prstGeom prst="ellipse">
                <a:avLst/>
              </a:prstGeom>
              <a:solidFill>
                <a:srgbClr val="FF0000"/>
              </a:solidFill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35" name="直接连接符 274507"/>
              <p:cNvSpPr/>
              <p:nvPr/>
            </p:nvSpPr>
            <p:spPr>
              <a:xfrm>
                <a:off x="943" y="1432"/>
                <a:ext cx="1" cy="691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36" name="矩形 274508"/>
              <p:cNvSpPr/>
              <p:nvPr/>
            </p:nvSpPr>
            <p:spPr>
              <a:xfrm>
                <a:off x="899" y="1514"/>
                <a:ext cx="88" cy="210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37" name="矩形 274509"/>
              <p:cNvSpPr/>
              <p:nvPr/>
            </p:nvSpPr>
            <p:spPr>
              <a:xfrm>
                <a:off x="959" y="1504"/>
                <a:ext cx="281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38" name="直接连接符 274510"/>
              <p:cNvSpPr/>
              <p:nvPr/>
            </p:nvSpPr>
            <p:spPr>
              <a:xfrm>
                <a:off x="931" y="1428"/>
                <a:ext cx="309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39" name="矩形 274511"/>
              <p:cNvSpPr/>
              <p:nvPr/>
            </p:nvSpPr>
            <p:spPr>
              <a:xfrm>
                <a:off x="1015" y="1667"/>
                <a:ext cx="207" cy="250"/>
              </a:xfrm>
              <a:prstGeom prst="rect">
                <a:avLst/>
              </a:prstGeom>
              <a:noFill/>
              <a:ln w="38100">
                <a:noFill/>
              </a:ln>
              <a:effectLst>
                <a:prstShdw prst="shdw17" dist="17961" dir="2699999">
                  <a:srgbClr val="999999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40" name="矩形 274512"/>
              <p:cNvSpPr/>
              <p:nvPr/>
            </p:nvSpPr>
            <p:spPr>
              <a:xfrm>
                <a:off x="1015" y="1970"/>
                <a:ext cx="228" cy="192"/>
              </a:xfrm>
              <a:prstGeom prst="rect">
                <a:avLst/>
              </a:prstGeom>
              <a:noFill/>
              <a:ln w="57150">
                <a:noFill/>
              </a:ln>
              <a:effectLst>
                <a:prstShdw prst="shdw17" dist="17961" dir="2699999">
                  <a:srgbClr val="007A5C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zh-CN" altLang="en-US" sz="14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endParaRPr lang="zh-CN" alt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441" name="矩形 274513"/>
            <p:cNvSpPr/>
            <p:nvPr/>
          </p:nvSpPr>
          <p:spPr>
            <a:xfrm>
              <a:off x="1022" y="1738"/>
              <a:ext cx="299" cy="327"/>
            </a:xfrm>
            <a:prstGeom prst="rect">
              <a:avLst/>
            </a:prstGeom>
            <a:noFill/>
            <a:ln w="38100">
              <a:noFill/>
            </a:ln>
            <a:effectLst>
              <a:prstShdw prst="shdw17" dist="17961" dir="2699999">
                <a:srgbClr val="999999"/>
              </a:prstShdw>
            </a:effectLst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442" name="组合 274514"/>
            <p:cNvGrpSpPr/>
            <p:nvPr/>
          </p:nvGrpSpPr>
          <p:grpSpPr>
            <a:xfrm>
              <a:off x="1961" y="1582"/>
              <a:ext cx="787" cy="643"/>
              <a:chOff x="1961" y="1582"/>
              <a:chExt cx="787" cy="643"/>
            </a:xfrm>
          </p:grpSpPr>
          <p:sp>
            <p:nvSpPr>
              <p:cNvPr id="15443" name="直接连接符 274515"/>
              <p:cNvSpPr/>
              <p:nvPr/>
            </p:nvSpPr>
            <p:spPr>
              <a:xfrm>
                <a:off x="2335" y="1593"/>
                <a:ext cx="0" cy="537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44" name="椭圆 274516"/>
              <p:cNvSpPr/>
              <p:nvPr/>
            </p:nvSpPr>
            <p:spPr>
              <a:xfrm>
                <a:off x="2314" y="2096"/>
                <a:ext cx="41" cy="40"/>
              </a:xfrm>
              <a:prstGeom prst="ellipse">
                <a:avLst/>
              </a:pr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45" name="直接连接符 274517"/>
              <p:cNvSpPr/>
              <p:nvPr/>
            </p:nvSpPr>
            <p:spPr>
              <a:xfrm>
                <a:off x="2335" y="2084"/>
                <a:ext cx="0" cy="141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46" name="直接连接符 274518"/>
              <p:cNvSpPr/>
              <p:nvPr/>
            </p:nvSpPr>
            <p:spPr>
              <a:xfrm>
                <a:off x="2272" y="2225"/>
                <a:ext cx="135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47" name="矩形 274519"/>
              <p:cNvSpPr/>
              <p:nvPr/>
            </p:nvSpPr>
            <p:spPr>
              <a:xfrm>
                <a:off x="2291" y="1892"/>
                <a:ext cx="87" cy="123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48" name="直接连接符 274520"/>
              <p:cNvSpPr/>
              <p:nvPr/>
            </p:nvSpPr>
            <p:spPr>
              <a:xfrm>
                <a:off x="2344" y="1853"/>
                <a:ext cx="308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49" name="直接连接符 274521"/>
              <p:cNvSpPr/>
              <p:nvPr/>
            </p:nvSpPr>
            <p:spPr>
              <a:xfrm>
                <a:off x="2641" y="1859"/>
                <a:ext cx="0" cy="78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grpSp>
            <p:nvGrpSpPr>
              <p:cNvPr id="15450" name="组合 274522"/>
              <p:cNvGrpSpPr/>
              <p:nvPr/>
            </p:nvGrpSpPr>
            <p:grpSpPr>
              <a:xfrm>
                <a:off x="2546" y="1940"/>
                <a:ext cx="202" cy="60"/>
                <a:chOff x="4356" y="1544"/>
                <a:chExt cx="208" cy="70"/>
              </a:xfrm>
            </p:grpSpPr>
            <p:sp>
              <p:nvSpPr>
                <p:cNvPr id="15451" name="直接连接符 274523"/>
                <p:cNvSpPr/>
                <p:nvPr/>
              </p:nvSpPr>
              <p:spPr>
                <a:xfrm>
                  <a:off x="4356" y="1544"/>
                  <a:ext cx="208" cy="0"/>
                </a:xfrm>
                <a:prstGeom prst="line">
                  <a:avLst/>
                </a:prstGeom>
                <a:ln w="38100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none" w="med" len="lg"/>
                </a:ln>
              </p:spPr>
            </p:sp>
            <p:sp>
              <p:nvSpPr>
                <p:cNvPr id="15452" name="直接连接符 274524"/>
                <p:cNvSpPr/>
                <p:nvPr/>
              </p:nvSpPr>
              <p:spPr>
                <a:xfrm>
                  <a:off x="4356" y="1614"/>
                  <a:ext cx="208" cy="0"/>
                </a:xfrm>
                <a:prstGeom prst="line">
                  <a:avLst/>
                </a:prstGeom>
                <a:ln w="38100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none" w="med" len="lg"/>
                </a:ln>
              </p:spPr>
            </p:sp>
          </p:grpSp>
          <p:sp>
            <p:nvSpPr>
              <p:cNvPr id="15453" name="直接连接符 274525"/>
              <p:cNvSpPr/>
              <p:nvPr/>
            </p:nvSpPr>
            <p:spPr>
              <a:xfrm>
                <a:off x="2643" y="2015"/>
                <a:ext cx="0" cy="112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454" name="矩形 274526"/>
              <p:cNvSpPr/>
              <p:nvPr/>
            </p:nvSpPr>
            <p:spPr>
              <a:xfrm>
                <a:off x="1961" y="1582"/>
                <a:ext cx="388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R'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55" name="矩形 274527"/>
              <p:cNvSpPr/>
              <p:nvPr/>
            </p:nvSpPr>
            <p:spPr>
              <a:xfrm>
                <a:off x="2302" y="1662"/>
                <a:ext cx="87" cy="123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56" name="矩形 274528"/>
              <p:cNvSpPr/>
              <p:nvPr/>
            </p:nvSpPr>
            <p:spPr>
              <a:xfrm>
                <a:off x="2001" y="1853"/>
                <a:ext cx="34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457" name="直接连接符 274529"/>
            <p:cNvSpPr/>
            <p:nvPr/>
          </p:nvSpPr>
          <p:spPr>
            <a:xfrm flipV="1">
              <a:off x="932" y="2127"/>
              <a:ext cx="2253" cy="3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15458" name="组合 274530"/>
            <p:cNvGrpSpPr/>
            <p:nvPr/>
          </p:nvGrpSpPr>
          <p:grpSpPr>
            <a:xfrm>
              <a:off x="3024" y="1344"/>
              <a:ext cx="336" cy="545"/>
              <a:chOff x="3024" y="1344"/>
              <a:chExt cx="336" cy="545"/>
            </a:xfrm>
          </p:grpSpPr>
          <p:sp>
            <p:nvSpPr>
              <p:cNvPr id="15459" name="矩形 274531"/>
              <p:cNvSpPr/>
              <p:nvPr/>
            </p:nvSpPr>
            <p:spPr>
              <a:xfrm>
                <a:off x="3073" y="1344"/>
                <a:ext cx="164" cy="288"/>
              </a:xfrm>
              <a:prstGeom prst="rect">
                <a:avLst/>
              </a:prstGeom>
              <a:noFill/>
              <a:ln w="57150">
                <a:noFill/>
              </a:ln>
              <a:effectLst>
                <a:prstShdw prst="shdw17" dist="17961" dir="2699999">
                  <a:srgbClr val="007A5C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  <a:endPara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60" name="矩形 274532"/>
              <p:cNvSpPr/>
              <p:nvPr/>
            </p:nvSpPr>
            <p:spPr>
              <a:xfrm>
                <a:off x="3024" y="1639"/>
                <a:ext cx="336" cy="250"/>
              </a:xfrm>
              <a:prstGeom prst="rect">
                <a:avLst/>
              </a:prstGeom>
              <a:noFill/>
              <a:ln w="38100">
                <a:noFill/>
              </a:ln>
              <a:effectLst>
                <a:prstShdw prst="shdw17" dist="17961" dir="2699999">
                  <a:srgbClr val="999999"/>
                </a:prstShdw>
              </a:effectLst>
            </p:spPr>
            <p:txBody>
              <a:bodyPr wrap="none" anchor="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461" name="直接连接符 274533"/>
            <p:cNvSpPr/>
            <p:nvPr/>
          </p:nvSpPr>
          <p:spPr>
            <a:xfrm>
              <a:off x="3360" y="1488"/>
              <a:ext cx="0" cy="48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74535" name="组合 274534"/>
          <p:cNvGrpSpPr/>
          <p:nvPr/>
        </p:nvGrpSpPr>
        <p:grpSpPr>
          <a:xfrm>
            <a:off x="1116013" y="3629025"/>
            <a:ext cx="7188200" cy="2546350"/>
            <a:chOff x="703" y="2286"/>
            <a:chExt cx="4528" cy="1604"/>
          </a:xfrm>
        </p:grpSpPr>
        <p:sp>
          <p:nvSpPr>
            <p:cNvPr id="15463" name="直接连接符 274535"/>
            <p:cNvSpPr/>
            <p:nvPr/>
          </p:nvSpPr>
          <p:spPr>
            <a:xfrm flipV="1">
              <a:off x="2878" y="3785"/>
              <a:ext cx="1890" cy="6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64" name="直接连接符 274536"/>
            <p:cNvSpPr/>
            <p:nvPr/>
          </p:nvSpPr>
          <p:spPr>
            <a:xfrm>
              <a:off x="3193" y="3085"/>
              <a:ext cx="473" cy="0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65" name="直接连接符 274537"/>
            <p:cNvSpPr/>
            <p:nvPr/>
          </p:nvSpPr>
          <p:spPr>
            <a:xfrm>
              <a:off x="3668" y="2920"/>
              <a:ext cx="0" cy="32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66" name="直接连接符 274538"/>
            <p:cNvSpPr/>
            <p:nvPr/>
          </p:nvSpPr>
          <p:spPr>
            <a:xfrm flipV="1">
              <a:off x="3668" y="2882"/>
              <a:ext cx="189" cy="138"/>
            </a:xfrm>
            <a:prstGeom prst="line">
              <a:avLst/>
            </a:prstGeom>
            <a:ln w="412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67" name="直接连接符 274539"/>
            <p:cNvSpPr/>
            <p:nvPr/>
          </p:nvSpPr>
          <p:spPr>
            <a:xfrm>
              <a:off x="3683" y="3141"/>
              <a:ext cx="190" cy="13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468" name="直接连接符 274540"/>
            <p:cNvSpPr/>
            <p:nvPr/>
          </p:nvSpPr>
          <p:spPr>
            <a:xfrm flipH="1">
              <a:off x="3856" y="2292"/>
              <a:ext cx="1" cy="589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69" name="直接连接符 274541"/>
            <p:cNvSpPr/>
            <p:nvPr/>
          </p:nvSpPr>
          <p:spPr>
            <a:xfrm>
              <a:off x="3848" y="3247"/>
              <a:ext cx="0" cy="538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70" name="直接连接符 274542"/>
            <p:cNvSpPr/>
            <p:nvPr/>
          </p:nvSpPr>
          <p:spPr>
            <a:xfrm>
              <a:off x="3848" y="2292"/>
              <a:ext cx="1383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71" name="椭圆 274543"/>
            <p:cNvSpPr/>
            <p:nvPr/>
          </p:nvSpPr>
          <p:spPr>
            <a:xfrm>
              <a:off x="3827" y="3760"/>
              <a:ext cx="41" cy="41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2" name="直接连接符 274544"/>
            <p:cNvSpPr/>
            <p:nvPr/>
          </p:nvSpPr>
          <p:spPr>
            <a:xfrm flipH="1">
              <a:off x="3848" y="3761"/>
              <a:ext cx="2" cy="12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73" name="直接连接符 274545"/>
            <p:cNvSpPr/>
            <p:nvPr/>
          </p:nvSpPr>
          <p:spPr>
            <a:xfrm>
              <a:off x="3785" y="3881"/>
              <a:ext cx="135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74" name="矩形 274546"/>
            <p:cNvSpPr/>
            <p:nvPr/>
          </p:nvSpPr>
          <p:spPr>
            <a:xfrm>
              <a:off x="4772" y="3274"/>
              <a:ext cx="207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5" name="矩形 274547"/>
            <p:cNvSpPr/>
            <p:nvPr/>
          </p:nvSpPr>
          <p:spPr>
            <a:xfrm>
              <a:off x="4764" y="3620"/>
              <a:ext cx="228" cy="192"/>
            </a:xfrm>
            <a:prstGeom prst="rect">
              <a:avLst/>
            </a:prstGeom>
            <a:noFill/>
            <a:ln w="57150">
              <a:noFill/>
            </a:ln>
            <a:effectLst>
              <a:prstShdw prst="shdw17" dist="17961" dir="2699999">
                <a:srgbClr val="007A5C"/>
              </a:prstShdw>
            </a:effectLst>
          </p:spPr>
          <p:txBody>
            <a:bodyPr wrap="none" anchor="t">
              <a:spAutoFit/>
            </a:bodyPr>
            <a:p>
              <a:pPr algn="ctr"/>
              <a:r>
                <a:rPr lang="zh-CN" alt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6" name="矩形 274548"/>
            <p:cNvSpPr/>
            <p:nvPr/>
          </p:nvSpPr>
          <p:spPr>
            <a:xfrm>
              <a:off x="3815" y="3418"/>
              <a:ext cx="87" cy="228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7" name="矩形 274549"/>
            <p:cNvSpPr/>
            <p:nvPr/>
          </p:nvSpPr>
          <p:spPr>
            <a:xfrm>
              <a:off x="4458" y="3430"/>
              <a:ext cx="28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i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000" b="1" i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8" name="矩形 274550"/>
            <p:cNvSpPr/>
            <p:nvPr/>
          </p:nvSpPr>
          <p:spPr>
            <a:xfrm>
              <a:off x="3956" y="3016"/>
              <a:ext cx="116" cy="1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endParaRPr lang="zh-CN" altLang="zh-CN" sz="20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79" name="直接连接符 274551"/>
            <p:cNvSpPr/>
            <p:nvPr/>
          </p:nvSpPr>
          <p:spPr>
            <a:xfrm>
              <a:off x="3912" y="2548"/>
              <a:ext cx="0" cy="226"/>
            </a:xfrm>
            <a:prstGeom prst="line">
              <a:avLst/>
            </a:prstGeom>
            <a:ln w="254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480" name="矩形 274552"/>
            <p:cNvSpPr/>
            <p:nvPr/>
          </p:nvSpPr>
          <p:spPr>
            <a:xfrm>
              <a:off x="3902" y="2483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81" name="直接连接符 274553"/>
            <p:cNvSpPr/>
            <p:nvPr/>
          </p:nvSpPr>
          <p:spPr>
            <a:xfrm flipH="1">
              <a:off x="3194" y="2879"/>
              <a:ext cx="11" cy="929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82" name="矩形 274554"/>
            <p:cNvSpPr/>
            <p:nvPr/>
          </p:nvSpPr>
          <p:spPr>
            <a:xfrm>
              <a:off x="3162" y="3324"/>
              <a:ext cx="88" cy="212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83" name="直接连接符 274555"/>
            <p:cNvSpPr/>
            <p:nvPr/>
          </p:nvSpPr>
          <p:spPr>
            <a:xfrm>
              <a:off x="4269" y="3308"/>
              <a:ext cx="495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84" name="直接连接符 274556"/>
            <p:cNvSpPr/>
            <p:nvPr/>
          </p:nvSpPr>
          <p:spPr>
            <a:xfrm>
              <a:off x="3848" y="3312"/>
              <a:ext cx="477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85" name="直接连接符 274557"/>
            <p:cNvSpPr/>
            <p:nvPr/>
          </p:nvSpPr>
          <p:spPr>
            <a:xfrm>
              <a:off x="4768" y="3297"/>
              <a:ext cx="0" cy="494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86" name="文本框 274558"/>
            <p:cNvSpPr txBox="1"/>
            <p:nvPr/>
          </p:nvSpPr>
          <p:spPr>
            <a:xfrm>
              <a:off x="3780" y="291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2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15487" name="矩形 274559"/>
            <p:cNvSpPr/>
            <p:nvPr/>
          </p:nvSpPr>
          <p:spPr>
            <a:xfrm>
              <a:off x="3207" y="3274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88" name="矩形 274560"/>
            <p:cNvSpPr/>
            <p:nvPr/>
          </p:nvSpPr>
          <p:spPr>
            <a:xfrm>
              <a:off x="3506" y="3383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E2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89" name="矩形 274561"/>
            <p:cNvSpPr/>
            <p:nvPr/>
          </p:nvSpPr>
          <p:spPr>
            <a:xfrm>
              <a:off x="4803" y="3394"/>
              <a:ext cx="32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90" name="直接连接符 274562"/>
            <p:cNvSpPr/>
            <p:nvPr/>
          </p:nvSpPr>
          <p:spPr>
            <a:xfrm>
              <a:off x="1555" y="3095"/>
              <a:ext cx="473" cy="0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91" name="直接连接符 274563"/>
            <p:cNvSpPr/>
            <p:nvPr/>
          </p:nvSpPr>
          <p:spPr>
            <a:xfrm>
              <a:off x="2030" y="2931"/>
              <a:ext cx="0" cy="32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92" name="直接连接符 274564"/>
            <p:cNvSpPr/>
            <p:nvPr/>
          </p:nvSpPr>
          <p:spPr>
            <a:xfrm flipV="1">
              <a:off x="2030" y="2892"/>
              <a:ext cx="189" cy="139"/>
            </a:xfrm>
            <a:prstGeom prst="line">
              <a:avLst/>
            </a:prstGeom>
            <a:ln w="412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93" name="直接连接符 274565"/>
            <p:cNvSpPr/>
            <p:nvPr/>
          </p:nvSpPr>
          <p:spPr>
            <a:xfrm>
              <a:off x="2045" y="3152"/>
              <a:ext cx="190" cy="136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494" name="直接连接符 274566"/>
            <p:cNvSpPr/>
            <p:nvPr/>
          </p:nvSpPr>
          <p:spPr>
            <a:xfrm flipH="1">
              <a:off x="1744" y="3105"/>
              <a:ext cx="1" cy="689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95" name="直接连接符 274567"/>
            <p:cNvSpPr/>
            <p:nvPr/>
          </p:nvSpPr>
          <p:spPr>
            <a:xfrm>
              <a:off x="1555" y="3093"/>
              <a:ext cx="1" cy="702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96" name="矩形 274568"/>
            <p:cNvSpPr/>
            <p:nvPr/>
          </p:nvSpPr>
          <p:spPr>
            <a:xfrm>
              <a:off x="1511" y="3322"/>
              <a:ext cx="88" cy="213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97" name="矩形 274569"/>
            <p:cNvSpPr/>
            <p:nvPr/>
          </p:nvSpPr>
          <p:spPr>
            <a:xfrm>
              <a:off x="1174" y="3322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98" name="直接连接符 274570"/>
            <p:cNvSpPr/>
            <p:nvPr/>
          </p:nvSpPr>
          <p:spPr>
            <a:xfrm flipV="1">
              <a:off x="1045" y="3094"/>
              <a:ext cx="511" cy="1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499" name="矩形 274571"/>
            <p:cNvSpPr/>
            <p:nvPr/>
          </p:nvSpPr>
          <p:spPr>
            <a:xfrm>
              <a:off x="2359" y="3269"/>
              <a:ext cx="29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00" name="矩形 274572"/>
            <p:cNvSpPr/>
            <p:nvPr/>
          </p:nvSpPr>
          <p:spPr>
            <a:xfrm>
              <a:off x="2318" y="3026"/>
              <a:ext cx="116" cy="1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endParaRPr lang="zh-CN" altLang="zh-CN" sz="20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01" name="直接连接符 274573"/>
            <p:cNvSpPr/>
            <p:nvPr/>
          </p:nvSpPr>
          <p:spPr>
            <a:xfrm>
              <a:off x="1747" y="3053"/>
              <a:ext cx="196" cy="0"/>
            </a:xfrm>
            <a:prstGeom prst="line">
              <a:avLst/>
            </a:prstGeom>
            <a:ln w="254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5502" name="矩形 274574"/>
            <p:cNvSpPr/>
            <p:nvPr/>
          </p:nvSpPr>
          <p:spPr>
            <a:xfrm>
              <a:off x="1716" y="2766"/>
              <a:ext cx="218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03" name="矩形 274575"/>
            <p:cNvSpPr/>
            <p:nvPr/>
          </p:nvSpPr>
          <p:spPr>
            <a:xfrm>
              <a:off x="1692" y="3344"/>
              <a:ext cx="88" cy="213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04" name="直接连接符 274576"/>
            <p:cNvSpPr/>
            <p:nvPr/>
          </p:nvSpPr>
          <p:spPr>
            <a:xfrm>
              <a:off x="2210" y="2871"/>
              <a:ext cx="399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505" name="直接连接符 274577"/>
            <p:cNvSpPr/>
            <p:nvPr/>
          </p:nvSpPr>
          <p:spPr>
            <a:xfrm>
              <a:off x="2635" y="2871"/>
              <a:ext cx="558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506" name="椭圆 274578"/>
            <p:cNvSpPr/>
            <p:nvPr/>
          </p:nvSpPr>
          <p:spPr>
            <a:xfrm>
              <a:off x="1536" y="3074"/>
              <a:ext cx="40" cy="42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07" name="文本框 274579"/>
            <p:cNvSpPr txBox="1"/>
            <p:nvPr/>
          </p:nvSpPr>
          <p:spPr>
            <a:xfrm>
              <a:off x="2136" y="2929"/>
              <a:ext cx="32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sz="28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rPr>
                <a:t>1</a:t>
              </a:r>
              <a:endParaRPr lang="en-US" altLang="zh-CN" sz="2800" b="1" baseline="-250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15508" name="直接连接符 274580"/>
            <p:cNvSpPr/>
            <p:nvPr/>
          </p:nvSpPr>
          <p:spPr>
            <a:xfrm>
              <a:off x="846" y="3095"/>
              <a:ext cx="309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509" name="矩形 274581"/>
            <p:cNvSpPr/>
            <p:nvPr/>
          </p:nvSpPr>
          <p:spPr>
            <a:xfrm>
              <a:off x="1720" y="3488"/>
              <a:ext cx="34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10" name="矩形 274582"/>
            <p:cNvSpPr/>
            <p:nvPr/>
          </p:nvSpPr>
          <p:spPr>
            <a:xfrm>
              <a:off x="4728" y="3430"/>
              <a:ext cx="87" cy="227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11" name="椭圆 274583"/>
            <p:cNvSpPr/>
            <p:nvPr/>
          </p:nvSpPr>
          <p:spPr>
            <a:xfrm>
              <a:off x="3174" y="2852"/>
              <a:ext cx="40" cy="40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512" name="组合 274584"/>
            <p:cNvGrpSpPr/>
            <p:nvPr/>
          </p:nvGrpSpPr>
          <p:grpSpPr>
            <a:xfrm>
              <a:off x="703" y="3093"/>
              <a:ext cx="415" cy="734"/>
              <a:chOff x="703" y="3093"/>
              <a:chExt cx="415" cy="734"/>
            </a:xfrm>
          </p:grpSpPr>
          <p:sp>
            <p:nvSpPr>
              <p:cNvPr id="15513" name="椭圆 274585"/>
              <p:cNvSpPr/>
              <p:nvPr/>
            </p:nvSpPr>
            <p:spPr>
              <a:xfrm>
                <a:off x="703" y="3477"/>
                <a:ext cx="232" cy="197"/>
              </a:xfrm>
              <a:prstGeom prst="ellipse">
                <a:avLst/>
              </a:prstGeom>
              <a:solidFill>
                <a:srgbClr val="FF0000"/>
              </a:solidFill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14" name="直接连接符 274586"/>
              <p:cNvSpPr/>
              <p:nvPr/>
            </p:nvSpPr>
            <p:spPr>
              <a:xfrm>
                <a:off x="818" y="3097"/>
                <a:ext cx="1" cy="691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515" name="矩形 274587"/>
              <p:cNvSpPr/>
              <p:nvPr/>
            </p:nvSpPr>
            <p:spPr>
              <a:xfrm>
                <a:off x="774" y="3179"/>
                <a:ext cx="88" cy="210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16" name="矩形 274588"/>
              <p:cNvSpPr/>
              <p:nvPr/>
            </p:nvSpPr>
            <p:spPr>
              <a:xfrm>
                <a:off x="834" y="3169"/>
                <a:ext cx="281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17" name="直接连接符 274589"/>
              <p:cNvSpPr/>
              <p:nvPr/>
            </p:nvSpPr>
            <p:spPr>
              <a:xfrm>
                <a:off x="806" y="3093"/>
                <a:ext cx="309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5518" name="矩形 274590"/>
              <p:cNvSpPr/>
              <p:nvPr/>
            </p:nvSpPr>
            <p:spPr>
              <a:xfrm>
                <a:off x="890" y="3332"/>
                <a:ext cx="207" cy="250"/>
              </a:xfrm>
              <a:prstGeom prst="rect">
                <a:avLst/>
              </a:prstGeom>
              <a:noFill/>
              <a:ln w="38100">
                <a:noFill/>
              </a:ln>
              <a:effectLst>
                <a:prstShdw prst="shdw17" dist="17961" dir="2699999">
                  <a:srgbClr val="999999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19" name="矩形 274591"/>
              <p:cNvSpPr/>
              <p:nvPr/>
            </p:nvSpPr>
            <p:spPr>
              <a:xfrm>
                <a:off x="890" y="3635"/>
                <a:ext cx="228" cy="192"/>
              </a:xfrm>
              <a:prstGeom prst="rect">
                <a:avLst/>
              </a:prstGeom>
              <a:noFill/>
              <a:ln w="57150">
                <a:noFill/>
              </a:ln>
              <a:effectLst>
                <a:prstShdw prst="shdw17" dist="17961" dir="2699999">
                  <a:srgbClr val="007A5C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zh-CN" altLang="en-US" sz="14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endParaRPr lang="zh-CN" alt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520" name="矩形 274592"/>
            <p:cNvSpPr/>
            <p:nvPr/>
          </p:nvSpPr>
          <p:spPr>
            <a:xfrm>
              <a:off x="897" y="3403"/>
              <a:ext cx="299" cy="327"/>
            </a:xfrm>
            <a:prstGeom prst="rect">
              <a:avLst/>
            </a:prstGeom>
            <a:noFill/>
            <a:ln w="38100">
              <a:noFill/>
            </a:ln>
            <a:effectLst>
              <a:prstShdw prst="shdw17" dist="17961" dir="2699999">
                <a:srgbClr val="999999"/>
              </a:prstShdw>
            </a:effectLst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21" name="直接连接符 274593"/>
            <p:cNvSpPr/>
            <p:nvPr/>
          </p:nvSpPr>
          <p:spPr>
            <a:xfrm>
              <a:off x="2210" y="3258"/>
              <a:ext cx="0" cy="537"/>
            </a:xfrm>
            <a:prstGeom prst="line">
              <a:avLst/>
            </a:prstGeom>
            <a:ln w="4445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22" name="椭圆 274594"/>
            <p:cNvSpPr/>
            <p:nvPr/>
          </p:nvSpPr>
          <p:spPr>
            <a:xfrm>
              <a:off x="2189" y="3761"/>
              <a:ext cx="41" cy="40"/>
            </a:xfrm>
            <a:prstGeom prst="ellipse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23" name="直接连接符 274595"/>
            <p:cNvSpPr/>
            <p:nvPr/>
          </p:nvSpPr>
          <p:spPr>
            <a:xfrm>
              <a:off x="2210" y="3749"/>
              <a:ext cx="0" cy="141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524" name="直接连接符 274596"/>
            <p:cNvSpPr/>
            <p:nvPr/>
          </p:nvSpPr>
          <p:spPr>
            <a:xfrm>
              <a:off x="2147" y="3890"/>
              <a:ext cx="135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sp>
          <p:nvSpPr>
            <p:cNvPr id="15525" name="矩形 274597"/>
            <p:cNvSpPr/>
            <p:nvPr/>
          </p:nvSpPr>
          <p:spPr>
            <a:xfrm>
              <a:off x="1791" y="3247"/>
              <a:ext cx="388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R'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E1</a:t>
              </a:r>
              <a:endParaRPr lang="en-US" altLang="zh-CN" sz="2000" b="1" baseline="-25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26" name="矩形 274598"/>
            <p:cNvSpPr/>
            <p:nvPr/>
          </p:nvSpPr>
          <p:spPr>
            <a:xfrm>
              <a:off x="2177" y="3327"/>
              <a:ext cx="110" cy="258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27" name="直接连接符 274599"/>
            <p:cNvSpPr/>
            <p:nvPr/>
          </p:nvSpPr>
          <p:spPr>
            <a:xfrm flipV="1">
              <a:off x="807" y="3792"/>
              <a:ext cx="2253" cy="3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lg"/>
            </a:ln>
          </p:spPr>
        </p:sp>
        <p:grpSp>
          <p:nvGrpSpPr>
            <p:cNvPr id="15528" name="组合 274600"/>
            <p:cNvGrpSpPr/>
            <p:nvPr/>
          </p:nvGrpSpPr>
          <p:grpSpPr>
            <a:xfrm>
              <a:off x="2789" y="3009"/>
              <a:ext cx="336" cy="399"/>
              <a:chOff x="2789" y="3009"/>
              <a:chExt cx="336" cy="399"/>
            </a:xfrm>
          </p:grpSpPr>
          <p:sp>
            <p:nvSpPr>
              <p:cNvPr id="15529" name="矩形 274601"/>
              <p:cNvSpPr/>
              <p:nvPr/>
            </p:nvSpPr>
            <p:spPr>
              <a:xfrm>
                <a:off x="2835" y="3009"/>
                <a:ext cx="164" cy="288"/>
              </a:xfrm>
              <a:prstGeom prst="rect">
                <a:avLst/>
              </a:prstGeom>
              <a:noFill/>
              <a:ln w="57150">
                <a:noFill/>
              </a:ln>
              <a:effectLst>
                <a:prstShdw prst="shdw17" dist="17961" dir="2699999">
                  <a:srgbClr val="007A5C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  <a:endPara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30" name="矩形 274602"/>
              <p:cNvSpPr/>
              <p:nvPr/>
            </p:nvSpPr>
            <p:spPr>
              <a:xfrm>
                <a:off x="2789" y="3158"/>
                <a:ext cx="336" cy="250"/>
              </a:xfrm>
              <a:prstGeom prst="rect">
                <a:avLst/>
              </a:prstGeom>
              <a:noFill/>
              <a:ln w="38100">
                <a:noFill/>
              </a:ln>
              <a:effectLst>
                <a:prstShdw prst="shdw17" dist="17961" dir="2699999">
                  <a:srgbClr val="999999"/>
                </a:prstShdw>
              </a:effectLst>
            </p:spPr>
            <p:txBody>
              <a:bodyPr wrap="none" anchor="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531" name="直接连接符 274603"/>
            <p:cNvSpPr/>
            <p:nvPr/>
          </p:nvSpPr>
          <p:spPr>
            <a:xfrm>
              <a:off x="2828" y="3198"/>
              <a:ext cx="0" cy="48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532" name="直接连接符 274604"/>
            <p:cNvSpPr/>
            <p:nvPr/>
          </p:nvSpPr>
          <p:spPr>
            <a:xfrm>
              <a:off x="2620" y="2862"/>
              <a:ext cx="11" cy="948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33" name="直接连接符 274605"/>
            <p:cNvSpPr/>
            <p:nvPr/>
          </p:nvSpPr>
          <p:spPr>
            <a:xfrm>
              <a:off x="5218" y="2286"/>
              <a:ext cx="0" cy="1525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34" name="直接连接符 274606"/>
            <p:cNvSpPr/>
            <p:nvPr/>
          </p:nvSpPr>
          <p:spPr>
            <a:xfrm>
              <a:off x="4642" y="3788"/>
              <a:ext cx="576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535" name="矩形 274607"/>
            <p:cNvSpPr/>
            <p:nvPr/>
          </p:nvSpPr>
          <p:spPr>
            <a:xfrm>
              <a:off x="2584" y="3266"/>
              <a:ext cx="88" cy="229"/>
            </a:xfrm>
            <a:prstGeom prst="rect">
              <a:avLst/>
            </a:prstGeom>
            <a:solidFill>
              <a:srgbClr val="66FF66"/>
            </a:solidFill>
            <a:ln w="4445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7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8" name="文本框 275457"/>
          <p:cNvSpPr txBox="1"/>
          <p:nvPr/>
        </p:nvSpPr>
        <p:spPr>
          <a:xfrm>
            <a:off x="0" y="592138"/>
            <a:ext cx="2971800" cy="64135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幼圆" pitchFamily="49" charset="-122"/>
                <a:ea typeface="幼圆" pitchFamily="49" charset="-122"/>
              </a:rPr>
              <a:t>电压放大倍数</a:t>
            </a:r>
            <a:endParaRPr lang="zh-CN" altLang="en-US" sz="36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275571" name="组合 275570"/>
          <p:cNvGrpSpPr/>
          <p:nvPr/>
        </p:nvGrpSpPr>
        <p:grpSpPr>
          <a:xfrm>
            <a:off x="476250" y="4195763"/>
            <a:ext cx="4738688" cy="990600"/>
            <a:chOff x="300" y="2643"/>
            <a:chExt cx="2985" cy="624"/>
          </a:xfrm>
        </p:grpSpPr>
        <p:sp>
          <p:nvSpPr>
            <p:cNvPr id="16387" name="文本框 275459"/>
            <p:cNvSpPr txBox="1"/>
            <p:nvPr/>
          </p:nvSpPr>
          <p:spPr>
            <a:xfrm>
              <a:off x="300" y="2806"/>
              <a:ext cx="29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————————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88" name="文本框 275460"/>
            <p:cNvSpPr txBox="1"/>
            <p:nvPr/>
          </p:nvSpPr>
          <p:spPr>
            <a:xfrm>
              <a:off x="951" y="2902"/>
              <a:ext cx="20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sz="1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1+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R'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E1</a:t>
              </a:r>
              <a:endParaRPr lang="en-US" altLang="zh-CN" sz="1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89" name="文本框 275461"/>
            <p:cNvSpPr txBox="1"/>
            <p:nvPr/>
          </p:nvSpPr>
          <p:spPr>
            <a:xfrm>
              <a:off x="1168" y="2643"/>
              <a:ext cx="146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5463" name="组合 275462"/>
          <p:cNvGrpSpPr/>
          <p:nvPr/>
        </p:nvGrpSpPr>
        <p:grpSpPr>
          <a:xfrm>
            <a:off x="457200" y="4876800"/>
            <a:ext cx="8458200" cy="990600"/>
            <a:chOff x="288" y="2784"/>
            <a:chExt cx="5328" cy="624"/>
          </a:xfrm>
        </p:grpSpPr>
        <p:sp>
          <p:nvSpPr>
            <p:cNvPr id="16391" name="文本框 275463"/>
            <p:cNvSpPr txBox="1"/>
            <p:nvPr/>
          </p:nvSpPr>
          <p:spPr>
            <a:xfrm>
              <a:off x="288" y="2880"/>
              <a:ext cx="53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1+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R'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E1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   </a:t>
              </a: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  ————————</a:t>
              </a:r>
              <a:endParaRPr lang="en-US" altLang="zh-CN" sz="1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文本框 275464"/>
            <p:cNvSpPr txBox="1"/>
            <p:nvPr/>
          </p:nvSpPr>
          <p:spPr>
            <a:xfrm>
              <a:off x="3840" y="2784"/>
              <a:ext cx="16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be2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矩形 275465"/>
            <p:cNvSpPr/>
            <p:nvPr/>
          </p:nvSpPr>
          <p:spPr>
            <a:xfrm>
              <a:off x="4277" y="3120"/>
              <a:ext cx="5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1+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5467" name="文本框 275466"/>
          <p:cNvSpPr txBox="1"/>
          <p:nvPr/>
        </p:nvSpPr>
        <p:spPr>
          <a:xfrm>
            <a:off x="577850" y="5653088"/>
            <a:ext cx="3581400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rPr>
              <a:t>输入电阻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3200" b="1" i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400" b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i1   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5468" name="文本框 275467"/>
          <p:cNvSpPr txBox="1"/>
          <p:nvPr/>
        </p:nvSpPr>
        <p:spPr>
          <a:xfrm>
            <a:off x="3965575" y="5683250"/>
            <a:ext cx="3917950" cy="5794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</a:rPr>
              <a:t>输出电阻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3200" b="1" i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b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1" 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4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5469" name="组合 275468"/>
          <p:cNvGrpSpPr/>
          <p:nvPr/>
        </p:nvGrpSpPr>
        <p:grpSpPr>
          <a:xfrm>
            <a:off x="3052763" y="323850"/>
            <a:ext cx="4800600" cy="1069975"/>
            <a:chOff x="2304" y="144"/>
            <a:chExt cx="3024" cy="674"/>
          </a:xfrm>
        </p:grpSpPr>
        <p:sp>
          <p:nvSpPr>
            <p:cNvPr id="16397" name="文本框 275469"/>
            <p:cNvSpPr txBox="1"/>
            <p:nvPr/>
          </p:nvSpPr>
          <p:spPr>
            <a:xfrm>
              <a:off x="2304" y="336"/>
              <a:ext cx="30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b="1" i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—— = ——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—— = 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6398" name="组合 275470"/>
            <p:cNvGrpSpPr/>
            <p:nvPr/>
          </p:nvGrpSpPr>
          <p:grpSpPr>
            <a:xfrm>
              <a:off x="2832" y="144"/>
              <a:ext cx="576" cy="386"/>
              <a:chOff x="2832" y="526"/>
              <a:chExt cx="576" cy="386"/>
            </a:xfrm>
          </p:grpSpPr>
          <p:sp>
            <p:nvSpPr>
              <p:cNvPr id="16399" name="文本框 275471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0" name="矩形 275472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6401" name="组合 275473"/>
            <p:cNvGrpSpPr/>
            <p:nvPr/>
          </p:nvGrpSpPr>
          <p:grpSpPr>
            <a:xfrm>
              <a:off x="2832" y="430"/>
              <a:ext cx="576" cy="386"/>
              <a:chOff x="2832" y="526"/>
              <a:chExt cx="576" cy="386"/>
            </a:xfrm>
          </p:grpSpPr>
          <p:sp>
            <p:nvSpPr>
              <p:cNvPr id="16402" name="文本框 275474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3" name="矩形 275475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6404" name="组合 275476"/>
            <p:cNvGrpSpPr/>
            <p:nvPr/>
          </p:nvGrpSpPr>
          <p:grpSpPr>
            <a:xfrm>
              <a:off x="3396" y="144"/>
              <a:ext cx="576" cy="386"/>
              <a:chOff x="2832" y="526"/>
              <a:chExt cx="576" cy="386"/>
            </a:xfrm>
          </p:grpSpPr>
          <p:sp>
            <p:nvSpPr>
              <p:cNvPr id="16405" name="文本框 275477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6" name="矩形 275478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6407" name="组合 275479"/>
            <p:cNvGrpSpPr/>
            <p:nvPr/>
          </p:nvGrpSpPr>
          <p:grpSpPr>
            <a:xfrm>
              <a:off x="3408" y="432"/>
              <a:ext cx="576" cy="386"/>
              <a:chOff x="2832" y="526"/>
              <a:chExt cx="576" cy="386"/>
            </a:xfrm>
          </p:grpSpPr>
          <p:sp>
            <p:nvSpPr>
              <p:cNvPr id="16408" name="文本框 275480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O1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9" name="矩形 275481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6410" name="组合 275482"/>
            <p:cNvGrpSpPr/>
            <p:nvPr/>
          </p:nvGrpSpPr>
          <p:grpSpPr>
            <a:xfrm>
              <a:off x="3890" y="150"/>
              <a:ext cx="576" cy="386"/>
              <a:chOff x="2832" y="526"/>
              <a:chExt cx="576" cy="386"/>
            </a:xfrm>
          </p:grpSpPr>
          <p:sp>
            <p:nvSpPr>
              <p:cNvPr id="16411" name="文本框 275483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O1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12" name="矩形 275484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6413" name="组合 275485"/>
            <p:cNvGrpSpPr/>
            <p:nvPr/>
          </p:nvGrpSpPr>
          <p:grpSpPr>
            <a:xfrm>
              <a:off x="3937" y="432"/>
              <a:ext cx="576" cy="386"/>
              <a:chOff x="2832" y="526"/>
              <a:chExt cx="576" cy="386"/>
            </a:xfrm>
          </p:grpSpPr>
          <p:sp>
            <p:nvSpPr>
              <p:cNvPr id="16414" name="文本框 275486"/>
              <p:cNvSpPr txBox="1"/>
              <p:nvPr/>
            </p:nvSpPr>
            <p:spPr>
              <a:xfrm>
                <a:off x="2832" y="624"/>
                <a:ext cx="57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1400" b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15" name="矩形 275487"/>
              <p:cNvSpPr/>
              <p:nvPr/>
            </p:nvSpPr>
            <p:spPr>
              <a:xfrm>
                <a:off x="2889" y="526"/>
                <a:ext cx="16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1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endParaRPr lang="en-US" altLang="zh-CN" sz="1800" b="1"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5572" name="组合 275571"/>
          <p:cNvGrpSpPr/>
          <p:nvPr/>
        </p:nvGrpSpPr>
        <p:grpSpPr>
          <a:xfrm>
            <a:off x="4249738" y="4054475"/>
            <a:ext cx="4754562" cy="898525"/>
            <a:chOff x="2677" y="2554"/>
            <a:chExt cx="2995" cy="566"/>
          </a:xfrm>
        </p:grpSpPr>
        <p:sp>
          <p:nvSpPr>
            <p:cNvPr id="16417" name="文本框 275489"/>
            <p:cNvSpPr txBox="1"/>
            <p:nvPr/>
          </p:nvSpPr>
          <p:spPr>
            <a:xfrm>
              <a:off x="2677" y="2620"/>
              <a:ext cx="29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A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 ———————————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8" name="文本框 275490"/>
            <p:cNvSpPr txBox="1"/>
            <p:nvPr/>
          </p:nvSpPr>
          <p:spPr>
            <a:xfrm>
              <a:off x="3320" y="2755"/>
              <a:ext cx="23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sz="12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1+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）（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9" name="矩形 275491"/>
            <p:cNvSpPr/>
            <p:nvPr/>
          </p:nvSpPr>
          <p:spPr>
            <a:xfrm>
              <a:off x="3541" y="2554"/>
              <a:ext cx="16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+β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E2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en-US" altLang="zh-CN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 i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zh-CN" altLang="en-US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420" name="组合 275492"/>
          <p:cNvGrpSpPr/>
          <p:nvPr/>
        </p:nvGrpSpPr>
        <p:grpSpPr>
          <a:xfrm>
            <a:off x="1042988" y="1233488"/>
            <a:ext cx="7708900" cy="2871787"/>
            <a:chOff x="657" y="777"/>
            <a:chExt cx="4856" cy="1809"/>
          </a:xfrm>
        </p:grpSpPr>
        <p:sp>
          <p:nvSpPr>
            <p:cNvPr id="16421" name="直接连接符 275493"/>
            <p:cNvSpPr/>
            <p:nvPr/>
          </p:nvSpPr>
          <p:spPr>
            <a:xfrm>
              <a:off x="3196" y="1096"/>
              <a:ext cx="0" cy="149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6422" name="直接连接符 275494"/>
            <p:cNvSpPr/>
            <p:nvPr/>
          </p:nvSpPr>
          <p:spPr>
            <a:xfrm>
              <a:off x="3195" y="2519"/>
              <a:ext cx="192" cy="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16423" name="直接连接符 275495"/>
            <p:cNvSpPr/>
            <p:nvPr/>
          </p:nvSpPr>
          <p:spPr>
            <a:xfrm flipV="1">
              <a:off x="3184" y="1073"/>
              <a:ext cx="192" cy="1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16424" name="组合 275496"/>
            <p:cNvGrpSpPr/>
            <p:nvPr/>
          </p:nvGrpSpPr>
          <p:grpSpPr>
            <a:xfrm>
              <a:off x="657" y="777"/>
              <a:ext cx="4856" cy="1732"/>
              <a:chOff x="657" y="777"/>
              <a:chExt cx="4856" cy="1732"/>
            </a:xfrm>
          </p:grpSpPr>
          <p:sp>
            <p:nvSpPr>
              <p:cNvPr id="16425" name="直接连接符 275497"/>
              <p:cNvSpPr/>
              <p:nvPr/>
            </p:nvSpPr>
            <p:spPr>
              <a:xfrm flipV="1">
                <a:off x="2984" y="2383"/>
                <a:ext cx="2023" cy="7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26" name="直接连接符 275498"/>
              <p:cNvSpPr/>
              <p:nvPr/>
            </p:nvSpPr>
            <p:spPr>
              <a:xfrm>
                <a:off x="3321" y="1545"/>
                <a:ext cx="506" cy="0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7" name="直接连接符 275499"/>
              <p:cNvSpPr/>
              <p:nvPr/>
            </p:nvSpPr>
            <p:spPr>
              <a:xfrm>
                <a:off x="3830" y="1348"/>
                <a:ext cx="0" cy="391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8" name="直接连接符 275500"/>
              <p:cNvSpPr/>
              <p:nvPr/>
            </p:nvSpPr>
            <p:spPr>
              <a:xfrm flipV="1">
                <a:off x="3830" y="1302"/>
                <a:ext cx="202" cy="166"/>
              </a:xfrm>
              <a:prstGeom prst="line">
                <a:avLst/>
              </a:prstGeom>
              <a:ln w="41275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9" name="直接连接符 275501"/>
              <p:cNvSpPr/>
              <p:nvPr/>
            </p:nvSpPr>
            <p:spPr>
              <a:xfrm>
                <a:off x="3846" y="1612"/>
                <a:ext cx="203" cy="164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6430" name="直接连接符 275502"/>
              <p:cNvSpPr/>
              <p:nvPr/>
            </p:nvSpPr>
            <p:spPr>
              <a:xfrm flipH="1">
                <a:off x="4031" y="777"/>
                <a:ext cx="12" cy="524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31" name="直接连接符 275503"/>
              <p:cNvSpPr/>
              <p:nvPr/>
            </p:nvSpPr>
            <p:spPr>
              <a:xfrm>
                <a:off x="4022" y="1739"/>
                <a:ext cx="0" cy="644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32" name="直接连接符 275504"/>
              <p:cNvSpPr/>
              <p:nvPr/>
            </p:nvSpPr>
            <p:spPr>
              <a:xfrm>
                <a:off x="4033" y="788"/>
                <a:ext cx="1480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33" name="椭圆 275505"/>
              <p:cNvSpPr/>
              <p:nvPr/>
            </p:nvSpPr>
            <p:spPr>
              <a:xfrm>
                <a:off x="4000" y="2353"/>
                <a:ext cx="44" cy="49"/>
              </a:xfrm>
              <a:prstGeom prst="ellipse">
                <a:avLst/>
              </a:pr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4" name="直接连接符 275506"/>
              <p:cNvSpPr/>
              <p:nvPr/>
            </p:nvSpPr>
            <p:spPr>
              <a:xfrm flipH="1">
                <a:off x="4022" y="2355"/>
                <a:ext cx="2" cy="143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35" name="直接连接符 275507"/>
              <p:cNvSpPr/>
              <p:nvPr/>
            </p:nvSpPr>
            <p:spPr>
              <a:xfrm>
                <a:off x="3955" y="2498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36" name="矩形 275508"/>
              <p:cNvSpPr/>
              <p:nvPr/>
            </p:nvSpPr>
            <p:spPr>
              <a:xfrm>
                <a:off x="5018" y="1772"/>
                <a:ext cx="207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000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7" name="矩形 275509"/>
              <p:cNvSpPr/>
              <p:nvPr/>
            </p:nvSpPr>
            <p:spPr>
              <a:xfrm>
                <a:off x="5010" y="2186"/>
                <a:ext cx="228" cy="192"/>
              </a:xfrm>
              <a:prstGeom prst="rect">
                <a:avLst/>
              </a:prstGeom>
              <a:noFill/>
              <a:ln w="57150">
                <a:noFill/>
              </a:ln>
              <a:effectLst>
                <a:prstShdw prst="shdw17" dist="17961" dir="2699999">
                  <a:srgbClr val="007A5C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zh-CN" altLang="en-US" sz="14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endParaRPr lang="zh-CN" alt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8" name="矩形 275510"/>
              <p:cNvSpPr/>
              <p:nvPr/>
            </p:nvSpPr>
            <p:spPr>
              <a:xfrm>
                <a:off x="3987" y="1944"/>
                <a:ext cx="93" cy="273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39" name="矩形 275511"/>
              <p:cNvSpPr/>
              <p:nvPr/>
            </p:nvSpPr>
            <p:spPr>
              <a:xfrm>
                <a:off x="4685" y="1958"/>
                <a:ext cx="287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i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sz="2000" b="1" i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0" name="矩形 275512"/>
              <p:cNvSpPr/>
              <p:nvPr/>
            </p:nvSpPr>
            <p:spPr>
              <a:xfrm>
                <a:off x="4142" y="1463"/>
                <a:ext cx="116" cy="18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endParaRPr lang="zh-CN" altLang="zh-CN" sz="2000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1" name="直接连接符 275513"/>
              <p:cNvSpPr/>
              <p:nvPr/>
            </p:nvSpPr>
            <p:spPr>
              <a:xfrm>
                <a:off x="4091" y="903"/>
                <a:ext cx="0" cy="270"/>
              </a:xfrm>
              <a:prstGeom prst="line">
                <a:avLst/>
              </a:prstGeom>
              <a:ln w="254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16442" name="矩形 275514"/>
              <p:cNvSpPr/>
              <p:nvPr/>
            </p:nvSpPr>
            <p:spPr>
              <a:xfrm>
                <a:off x="4091" y="825"/>
                <a:ext cx="334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8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C2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3" name="直接连接符 275515"/>
              <p:cNvSpPr/>
              <p:nvPr/>
            </p:nvSpPr>
            <p:spPr>
              <a:xfrm flipH="1">
                <a:off x="3322" y="1299"/>
                <a:ext cx="12" cy="1112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44" name="矩形 275516"/>
              <p:cNvSpPr/>
              <p:nvPr/>
            </p:nvSpPr>
            <p:spPr>
              <a:xfrm>
                <a:off x="3288" y="1831"/>
                <a:ext cx="94" cy="254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45" name="直接连接符 275517"/>
              <p:cNvSpPr/>
              <p:nvPr/>
            </p:nvSpPr>
            <p:spPr>
              <a:xfrm>
                <a:off x="4473" y="1812"/>
                <a:ext cx="529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46" name="直接连接符 275518"/>
              <p:cNvSpPr/>
              <p:nvPr/>
            </p:nvSpPr>
            <p:spPr>
              <a:xfrm>
                <a:off x="4022" y="1817"/>
                <a:ext cx="511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47" name="直接连接符 275519"/>
              <p:cNvSpPr/>
              <p:nvPr/>
            </p:nvSpPr>
            <p:spPr>
              <a:xfrm>
                <a:off x="5007" y="1799"/>
                <a:ext cx="0" cy="591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48" name="文本框 275520"/>
              <p:cNvSpPr txBox="1"/>
              <p:nvPr/>
            </p:nvSpPr>
            <p:spPr>
              <a:xfrm>
                <a:off x="3960" y="1346"/>
                <a:ext cx="3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T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2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  <p:sp>
            <p:nvSpPr>
              <p:cNvPr id="16449" name="矩形 275521"/>
              <p:cNvSpPr/>
              <p:nvPr/>
            </p:nvSpPr>
            <p:spPr>
              <a:xfrm>
                <a:off x="3348" y="1772"/>
                <a:ext cx="34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B3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50" name="矩形 275522"/>
              <p:cNvSpPr/>
              <p:nvPr/>
            </p:nvSpPr>
            <p:spPr>
              <a:xfrm>
                <a:off x="3668" y="1902"/>
                <a:ext cx="34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E2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51" name="矩形 275523"/>
              <p:cNvSpPr/>
              <p:nvPr/>
            </p:nvSpPr>
            <p:spPr>
              <a:xfrm>
                <a:off x="5055" y="1915"/>
                <a:ext cx="322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800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52" name="直接连接符 275524"/>
              <p:cNvSpPr/>
              <p:nvPr/>
            </p:nvSpPr>
            <p:spPr>
              <a:xfrm>
                <a:off x="1569" y="1557"/>
                <a:ext cx="506" cy="0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3" name="直接连接符 275525"/>
              <p:cNvSpPr/>
              <p:nvPr/>
            </p:nvSpPr>
            <p:spPr>
              <a:xfrm>
                <a:off x="2077" y="1361"/>
                <a:ext cx="0" cy="391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4" name="直接连接符 275526"/>
              <p:cNvSpPr/>
              <p:nvPr/>
            </p:nvSpPr>
            <p:spPr>
              <a:xfrm flipV="1">
                <a:off x="2077" y="1314"/>
                <a:ext cx="202" cy="167"/>
              </a:xfrm>
              <a:prstGeom prst="line">
                <a:avLst/>
              </a:prstGeom>
              <a:ln w="41275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5" name="直接连接符 275527"/>
              <p:cNvSpPr/>
              <p:nvPr/>
            </p:nvSpPr>
            <p:spPr>
              <a:xfrm>
                <a:off x="2093" y="1626"/>
                <a:ext cx="203" cy="162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6456" name="直接连接符 275528"/>
              <p:cNvSpPr/>
              <p:nvPr/>
            </p:nvSpPr>
            <p:spPr>
              <a:xfrm flipH="1">
                <a:off x="1771" y="1569"/>
                <a:ext cx="1" cy="825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7" name="直接连接符 275529"/>
              <p:cNvSpPr/>
              <p:nvPr/>
            </p:nvSpPr>
            <p:spPr>
              <a:xfrm>
                <a:off x="1569" y="1555"/>
                <a:ext cx="1" cy="840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58" name="矩形 275530"/>
              <p:cNvSpPr/>
              <p:nvPr/>
            </p:nvSpPr>
            <p:spPr>
              <a:xfrm>
                <a:off x="1522" y="1829"/>
                <a:ext cx="94" cy="255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59" name="矩形 275531"/>
              <p:cNvSpPr/>
              <p:nvPr/>
            </p:nvSpPr>
            <p:spPr>
              <a:xfrm>
                <a:off x="1173" y="1829"/>
                <a:ext cx="34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B2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0" name="直接连接符 275532"/>
              <p:cNvSpPr/>
              <p:nvPr/>
            </p:nvSpPr>
            <p:spPr>
              <a:xfrm flipV="1">
                <a:off x="1023" y="1556"/>
                <a:ext cx="547" cy="12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61" name="矩形 275533"/>
              <p:cNvSpPr/>
              <p:nvPr/>
            </p:nvSpPr>
            <p:spPr>
              <a:xfrm>
                <a:off x="2439" y="1766"/>
                <a:ext cx="298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2" name="矩形 275534"/>
              <p:cNvSpPr/>
              <p:nvPr/>
            </p:nvSpPr>
            <p:spPr>
              <a:xfrm>
                <a:off x="2389" y="1475"/>
                <a:ext cx="116" cy="18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endParaRPr lang="zh-CN" altLang="zh-CN" sz="2000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3" name="直接连接符 275535"/>
              <p:cNvSpPr/>
              <p:nvPr/>
            </p:nvSpPr>
            <p:spPr>
              <a:xfrm>
                <a:off x="1774" y="1507"/>
                <a:ext cx="210" cy="0"/>
              </a:xfrm>
              <a:prstGeom prst="line">
                <a:avLst/>
              </a:prstGeom>
              <a:ln w="254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16464" name="矩形 275536"/>
              <p:cNvSpPr/>
              <p:nvPr/>
            </p:nvSpPr>
            <p:spPr>
              <a:xfrm>
                <a:off x="1748" y="1164"/>
                <a:ext cx="218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000" b="1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5" name="矩形 275537"/>
              <p:cNvSpPr/>
              <p:nvPr/>
            </p:nvSpPr>
            <p:spPr>
              <a:xfrm>
                <a:off x="1715" y="1855"/>
                <a:ext cx="94" cy="255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6" name="直接连接符 275538"/>
              <p:cNvSpPr/>
              <p:nvPr/>
            </p:nvSpPr>
            <p:spPr>
              <a:xfrm>
                <a:off x="2270" y="1289"/>
                <a:ext cx="426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67" name="直接连接符 275539"/>
              <p:cNvSpPr/>
              <p:nvPr/>
            </p:nvSpPr>
            <p:spPr>
              <a:xfrm>
                <a:off x="2724" y="1289"/>
                <a:ext cx="597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68" name="椭圆 275540"/>
              <p:cNvSpPr/>
              <p:nvPr/>
            </p:nvSpPr>
            <p:spPr>
              <a:xfrm>
                <a:off x="1548" y="1532"/>
                <a:ext cx="43" cy="51"/>
              </a:xfrm>
              <a:prstGeom prst="ellipse">
                <a:avLst/>
              </a:pr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69" name="文本框 275541"/>
              <p:cNvSpPr txBox="1"/>
              <p:nvPr/>
            </p:nvSpPr>
            <p:spPr>
              <a:xfrm>
                <a:off x="2201" y="1359"/>
                <a:ext cx="32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T</a:t>
                </a:r>
                <a:r>
                  <a:rPr lang="en-US" altLang="zh-CN" sz="28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1</a:t>
                </a:r>
                <a:endParaRPr lang="en-US" altLang="zh-CN" sz="28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  <p:sp>
            <p:nvSpPr>
              <p:cNvPr id="16470" name="直接连接符 275542"/>
              <p:cNvSpPr/>
              <p:nvPr/>
            </p:nvSpPr>
            <p:spPr>
              <a:xfrm>
                <a:off x="810" y="1557"/>
                <a:ext cx="331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71" name="矩形 275543"/>
              <p:cNvSpPr/>
              <p:nvPr/>
            </p:nvSpPr>
            <p:spPr>
              <a:xfrm>
                <a:off x="1704" y="2028"/>
                <a:ext cx="34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72" name="矩形 275544"/>
              <p:cNvSpPr/>
              <p:nvPr/>
            </p:nvSpPr>
            <p:spPr>
              <a:xfrm>
                <a:off x="4964" y="1958"/>
                <a:ext cx="93" cy="272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73" name="椭圆 275545"/>
              <p:cNvSpPr/>
              <p:nvPr/>
            </p:nvSpPr>
            <p:spPr>
              <a:xfrm>
                <a:off x="3301" y="1267"/>
                <a:ext cx="43" cy="47"/>
              </a:xfrm>
              <a:prstGeom prst="ellipse">
                <a:avLst/>
              </a:pr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6474" name="组合 275546"/>
              <p:cNvGrpSpPr/>
              <p:nvPr/>
            </p:nvGrpSpPr>
            <p:grpSpPr>
              <a:xfrm>
                <a:off x="657" y="1555"/>
                <a:ext cx="441" cy="840"/>
                <a:chOff x="657" y="1555"/>
                <a:chExt cx="441" cy="840"/>
              </a:xfrm>
            </p:grpSpPr>
            <p:sp>
              <p:nvSpPr>
                <p:cNvPr id="16475" name="椭圆 275547"/>
                <p:cNvSpPr/>
                <p:nvPr/>
              </p:nvSpPr>
              <p:spPr>
                <a:xfrm>
                  <a:off x="657" y="2015"/>
                  <a:ext cx="248" cy="235"/>
                </a:xfrm>
                <a:prstGeom prst="ellipse">
                  <a:avLst/>
                </a:prstGeom>
                <a:solidFill>
                  <a:srgbClr val="FF0000"/>
                </a:solidFill>
                <a:ln w="38100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76" name="直接连接符 275548"/>
                <p:cNvSpPr/>
                <p:nvPr/>
              </p:nvSpPr>
              <p:spPr>
                <a:xfrm>
                  <a:off x="780" y="1559"/>
                  <a:ext cx="1" cy="828"/>
                </a:xfrm>
                <a:prstGeom prst="line">
                  <a:avLst/>
                </a:prstGeom>
                <a:ln w="44450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77" name="矩形 275549"/>
                <p:cNvSpPr/>
                <p:nvPr/>
              </p:nvSpPr>
              <p:spPr>
                <a:xfrm>
                  <a:off x="733" y="1658"/>
                  <a:ext cx="94" cy="251"/>
                </a:xfrm>
                <a:prstGeom prst="rect">
                  <a:avLst/>
                </a:prstGeom>
                <a:solidFill>
                  <a:srgbClr val="66FF66"/>
                </a:solidFill>
                <a:ln w="44450" cap="flat" cmpd="sng">
                  <a:solidFill>
                    <a:srgbClr val="0000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p>
                  <a:endPara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78" name="矩形 275550"/>
                <p:cNvSpPr/>
                <p:nvPr/>
              </p:nvSpPr>
              <p:spPr>
                <a:xfrm>
                  <a:off x="808" y="1646"/>
                  <a:ext cx="281" cy="25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t">
                  <a:spAutoFit/>
                </a:bodyPr>
                <a:p>
                  <a:pPr algn="ctr"/>
                  <a:r>
                    <a:rPr lang="en-US" altLang="zh-CN" sz="2000" b="1" i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2000" b="1" baseline="-25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S</a:t>
                  </a:r>
                  <a:endPara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79" name="直接连接符 275551"/>
                <p:cNvSpPr/>
                <p:nvPr/>
              </p:nvSpPr>
              <p:spPr>
                <a:xfrm>
                  <a:off x="767" y="1555"/>
                  <a:ext cx="331" cy="0"/>
                </a:xfrm>
                <a:prstGeom prst="line">
                  <a:avLst/>
                </a:prstGeom>
                <a:ln w="38100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none" w="med" len="lg"/>
                </a:ln>
              </p:spPr>
            </p:sp>
            <p:sp>
              <p:nvSpPr>
                <p:cNvPr id="16480" name="矩形 275552"/>
                <p:cNvSpPr/>
                <p:nvPr/>
              </p:nvSpPr>
              <p:spPr>
                <a:xfrm>
                  <a:off x="864" y="1840"/>
                  <a:ext cx="207" cy="250"/>
                </a:xfrm>
                <a:prstGeom prst="rect">
                  <a:avLst/>
                </a:prstGeom>
                <a:noFill/>
                <a:ln w="38100">
                  <a:noFill/>
                </a:ln>
                <a:effectLst>
                  <a:prstShdw prst="shdw17" dist="17961" dir="2699999">
                    <a:srgbClr val="999999"/>
                  </a:prstShdw>
                </a:effectLst>
              </p:spPr>
              <p:txBody>
                <a:bodyPr wrap="none" anchor="t">
                  <a:spAutoFit/>
                </a:bodyPr>
                <a:p>
                  <a:pPr algn="ctr"/>
                  <a:r>
                    <a:rPr lang="en-US" altLang="zh-CN" sz="20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sz="20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81" name="矩形 275553"/>
                <p:cNvSpPr/>
                <p:nvPr/>
              </p:nvSpPr>
              <p:spPr>
                <a:xfrm>
                  <a:off x="865" y="2203"/>
                  <a:ext cx="228" cy="192"/>
                </a:xfrm>
                <a:prstGeom prst="rect">
                  <a:avLst/>
                </a:prstGeom>
                <a:noFill/>
                <a:ln w="57150">
                  <a:noFill/>
                </a:ln>
                <a:effectLst>
                  <a:prstShdw prst="shdw17" dist="17961" dir="2699999">
                    <a:srgbClr val="007A5C"/>
                  </a:prstShdw>
                </a:effectLst>
              </p:spPr>
              <p:txBody>
                <a:bodyPr wrap="none" anchor="t">
                  <a:spAutoFit/>
                </a:bodyPr>
                <a:p>
                  <a:pPr algn="ctr"/>
                  <a:r>
                    <a:rPr lang="zh-CN" altLang="en-US" sz="1400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－</a:t>
                  </a:r>
                  <a:endParaRPr lang="zh-CN" altLang="en-US" sz="14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482" name="矩形 275554"/>
              <p:cNvSpPr/>
              <p:nvPr/>
            </p:nvSpPr>
            <p:spPr>
              <a:xfrm>
                <a:off x="875" y="1926"/>
                <a:ext cx="299" cy="327"/>
              </a:xfrm>
              <a:prstGeom prst="rect">
                <a:avLst/>
              </a:prstGeom>
              <a:noFill/>
              <a:ln w="38100">
                <a:noFill/>
              </a:ln>
              <a:effectLst>
                <a:prstShdw prst="shdw17" dist="17961" dir="2699999">
                  <a:srgbClr val="999999"/>
                </a:prstShdw>
              </a:effectLst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800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3" name="直接连接符 275555"/>
              <p:cNvSpPr/>
              <p:nvPr/>
            </p:nvSpPr>
            <p:spPr>
              <a:xfrm>
                <a:off x="2270" y="1752"/>
                <a:ext cx="0" cy="643"/>
              </a:xfrm>
              <a:prstGeom prst="line">
                <a:avLst/>
              </a:prstGeom>
              <a:ln w="4445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84" name="椭圆 275556"/>
              <p:cNvSpPr/>
              <p:nvPr/>
            </p:nvSpPr>
            <p:spPr>
              <a:xfrm>
                <a:off x="2247" y="2355"/>
                <a:ext cx="44" cy="47"/>
              </a:xfrm>
              <a:prstGeom prst="ellipse">
                <a:avLst/>
              </a:pr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5" name="直接连接符 275557"/>
              <p:cNvSpPr/>
              <p:nvPr/>
            </p:nvSpPr>
            <p:spPr>
              <a:xfrm>
                <a:off x="2270" y="2340"/>
                <a:ext cx="0" cy="169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86" name="直接连接符 275558"/>
              <p:cNvSpPr/>
              <p:nvPr/>
            </p:nvSpPr>
            <p:spPr>
              <a:xfrm>
                <a:off x="2202" y="2509"/>
                <a:ext cx="145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sp>
            <p:nvSpPr>
              <p:cNvPr id="16487" name="矩形 275559"/>
              <p:cNvSpPr/>
              <p:nvPr/>
            </p:nvSpPr>
            <p:spPr>
              <a:xfrm>
                <a:off x="1882" y="1739"/>
                <a:ext cx="388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0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R'</a:t>
                </a:r>
                <a:r>
                  <a: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E1</a:t>
                </a:r>
                <a:endPara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8" name="矩形 275560"/>
              <p:cNvSpPr/>
              <p:nvPr/>
            </p:nvSpPr>
            <p:spPr>
              <a:xfrm>
                <a:off x="2234" y="1835"/>
                <a:ext cx="118" cy="309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89" name="直接连接符 275561"/>
              <p:cNvSpPr/>
              <p:nvPr/>
            </p:nvSpPr>
            <p:spPr>
              <a:xfrm flipV="1">
                <a:off x="768" y="2392"/>
                <a:ext cx="2411" cy="3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lg"/>
              </a:ln>
            </p:spPr>
          </p:sp>
          <p:grpSp>
            <p:nvGrpSpPr>
              <p:cNvPr id="16490" name="组合 275562"/>
              <p:cNvGrpSpPr/>
              <p:nvPr/>
            </p:nvGrpSpPr>
            <p:grpSpPr>
              <a:xfrm>
                <a:off x="2898" y="1645"/>
                <a:ext cx="336" cy="412"/>
                <a:chOff x="2898" y="1645"/>
                <a:chExt cx="336" cy="412"/>
              </a:xfrm>
            </p:grpSpPr>
            <p:sp>
              <p:nvSpPr>
                <p:cNvPr id="16491" name="矩形 275563"/>
                <p:cNvSpPr/>
                <p:nvPr/>
              </p:nvSpPr>
              <p:spPr>
                <a:xfrm>
                  <a:off x="2945" y="1645"/>
                  <a:ext cx="164" cy="288"/>
                </a:xfrm>
                <a:prstGeom prst="rect">
                  <a:avLst/>
                </a:prstGeom>
                <a:noFill/>
                <a:ln w="57150">
                  <a:noFill/>
                </a:ln>
                <a:effectLst>
                  <a:prstShdw prst="shdw17" dist="17961" dir="2699999">
                    <a:srgbClr val="007A5C"/>
                  </a:prstShdw>
                </a:effectLst>
              </p:spPr>
              <p:txBody>
                <a:bodyPr wrap="none" anchor="t">
                  <a:spAutoFit/>
                </a:bodyPr>
                <a:p>
                  <a:pPr algn="ctr"/>
                  <a:r>
                    <a:rPr lang="en-US" altLang="zh-CN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.</a:t>
                  </a:r>
                  <a:endPara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492" name="矩形 275564"/>
                <p:cNvSpPr/>
                <p:nvPr/>
              </p:nvSpPr>
              <p:spPr>
                <a:xfrm>
                  <a:off x="2898" y="1807"/>
                  <a:ext cx="336" cy="250"/>
                </a:xfrm>
                <a:prstGeom prst="rect">
                  <a:avLst/>
                </a:prstGeom>
                <a:noFill/>
                <a:ln w="38100">
                  <a:noFill/>
                </a:ln>
                <a:effectLst>
                  <a:prstShdw prst="shdw17" dist="17961" dir="2699999">
                    <a:srgbClr val="999999"/>
                  </a:prstShdw>
                </a:effectLst>
              </p:spPr>
              <p:txBody>
                <a:bodyPr wrap="none" anchor="t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i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sz="2000" b="1" baseline="-250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</a:t>
                  </a:r>
                  <a:endParaRPr lang="en-US" altLang="zh-CN" sz="2000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493" name="直接连接符 275565"/>
              <p:cNvSpPr/>
              <p:nvPr/>
            </p:nvSpPr>
            <p:spPr>
              <a:xfrm>
                <a:off x="2931" y="1681"/>
                <a:ext cx="0" cy="574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494" name="直接连接符 275566"/>
              <p:cNvSpPr/>
              <p:nvPr/>
            </p:nvSpPr>
            <p:spPr>
              <a:xfrm>
                <a:off x="2708" y="1278"/>
                <a:ext cx="12" cy="1135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95" name="直接连接符 275567"/>
              <p:cNvSpPr/>
              <p:nvPr/>
            </p:nvSpPr>
            <p:spPr>
              <a:xfrm>
                <a:off x="5455" y="781"/>
                <a:ext cx="33" cy="1633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96" name="直接连接符 275568"/>
              <p:cNvSpPr/>
              <p:nvPr/>
            </p:nvSpPr>
            <p:spPr>
              <a:xfrm>
                <a:off x="4872" y="2387"/>
                <a:ext cx="616" cy="0"/>
              </a:xfrm>
              <a:prstGeom prst="line">
                <a:avLst/>
              </a:prstGeom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97" name="矩形 275569"/>
              <p:cNvSpPr/>
              <p:nvPr/>
            </p:nvSpPr>
            <p:spPr>
              <a:xfrm>
                <a:off x="2670" y="1762"/>
                <a:ext cx="94" cy="274"/>
              </a:xfrm>
              <a:prstGeom prst="rect">
                <a:avLst/>
              </a:prstGeom>
              <a:solidFill>
                <a:srgbClr val="66FF66"/>
              </a:solidFill>
              <a:ln w="44450" cap="flat" cmpd="sng">
                <a:solidFill>
                  <a:srgbClr val="00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7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7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7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8" grpId="0"/>
      <p:bldP spid="275467" grpId="0"/>
      <p:bldP spid="2754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ext Box 2"/>
          <p:cNvSpPr txBox="1"/>
          <p:nvPr/>
        </p:nvSpPr>
        <p:spPr>
          <a:xfrm>
            <a:off x="1187450" y="928688"/>
            <a:ext cx="5289550" cy="5842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square"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幼圆" pitchFamily="49" charset="-122"/>
                <a:ea typeface="幼圆" pitchFamily="49" charset="-122"/>
              </a:rPr>
              <a:t>三、</a:t>
            </a:r>
            <a:r>
              <a:rPr lang="en-US" altLang="zh-CN" sz="3200" b="1" dirty="0"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latin typeface="方正综艺简体" pitchFamily="2" charset="-122"/>
                <a:ea typeface="方正综艺简体" pitchFamily="2" charset="-122"/>
              </a:rPr>
              <a:t>集成运放的组成</a:t>
            </a:r>
            <a:endParaRPr lang="zh-CN" altLang="en-US" sz="3200" b="1" dirty="0">
              <a:latin typeface="方正综艺简体" pitchFamily="2" charset="-122"/>
              <a:ea typeface="方正综艺简体" pitchFamily="2" charset="-122"/>
            </a:endParaRPr>
          </a:p>
        </p:txBody>
      </p:sp>
      <p:sp>
        <p:nvSpPr>
          <p:cNvPr id="266243" name="Text Box 3"/>
          <p:cNvSpPr txBox="1"/>
          <p:nvPr/>
        </p:nvSpPr>
        <p:spPr>
          <a:xfrm>
            <a:off x="1828800" y="1790700"/>
            <a:ext cx="3030538" cy="5492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隶书" pitchFamily="49" charset="-122"/>
              </a:rPr>
              <a:t>1.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概述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266244" name="Group 4"/>
          <p:cNvGrpSpPr/>
          <p:nvPr/>
        </p:nvGrpSpPr>
        <p:grpSpPr>
          <a:xfrm>
            <a:off x="1801813" y="2557463"/>
            <a:ext cx="5900737" cy="1058862"/>
            <a:chOff x="884" y="1600"/>
            <a:chExt cx="3509" cy="667"/>
          </a:xfrm>
        </p:grpSpPr>
        <p:sp>
          <p:nvSpPr>
            <p:cNvPr id="17412" name="Rectangle 5"/>
            <p:cNvSpPr/>
            <p:nvPr/>
          </p:nvSpPr>
          <p:spPr>
            <a:xfrm>
              <a:off x="884" y="1600"/>
              <a:ext cx="2507" cy="346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t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隶书" pitchFamily="49" charset="-122"/>
                </a:rPr>
                <a:t>2.</a:t>
              </a:r>
              <a:r>
                <a:rPr lang="en-US" altLang="zh-CN" sz="2800" dirty="0">
                  <a:latin typeface="隶书" pitchFamily="49" charset="-122"/>
                  <a:ea typeface="隶书" pitchFamily="49" charset="-122"/>
                </a:rPr>
                <a:t>  </a:t>
              </a:r>
              <a:r>
                <a:rPr lang="en-US" altLang="en-US" sz="2800" dirty="0">
                  <a:latin typeface="隶书" pitchFamily="49" charset="-122"/>
                  <a:ea typeface="隶书" pitchFamily="49" charset="-122"/>
                </a:rPr>
                <a:t>集成运放的</a:t>
              </a:r>
              <a:r>
                <a:rPr lang="zh-CN" altLang="en-US" sz="2800" dirty="0">
                  <a:latin typeface="隶书" pitchFamily="49" charset="-122"/>
                  <a:ea typeface="隶书" pitchFamily="49" charset="-122"/>
                </a:rPr>
                <a:t>输入级电路</a:t>
              </a:r>
              <a:endParaRPr lang="zh-CN" altLang="en-US" sz="2800" dirty="0">
                <a:latin typeface="隶书" pitchFamily="49" charset="-122"/>
                <a:ea typeface="隶书" pitchFamily="49" charset="-122"/>
              </a:endParaRPr>
            </a:p>
          </p:txBody>
        </p:sp>
        <p:grpSp>
          <p:nvGrpSpPr>
            <p:cNvPr id="17413" name="Group 6"/>
            <p:cNvGrpSpPr/>
            <p:nvPr/>
          </p:nvGrpSpPr>
          <p:grpSpPr>
            <a:xfrm>
              <a:off x="2789" y="1921"/>
              <a:ext cx="1604" cy="346"/>
              <a:chOff x="4059" y="247"/>
              <a:chExt cx="1604" cy="346"/>
            </a:xfrm>
          </p:grpSpPr>
          <p:sp>
            <p:nvSpPr>
              <p:cNvPr id="266247" name="Line 7"/>
              <p:cNvSpPr>
                <a:spLocks noChangeShapeType="1"/>
              </p:cNvSpPr>
              <p:nvPr/>
            </p:nvSpPr>
            <p:spPr bwMode="auto">
              <a:xfrm>
                <a:off x="4059" y="437"/>
                <a:ext cx="227" cy="0"/>
              </a:xfrm>
              <a:prstGeom prst="line">
                <a:avLst/>
              </a:prstGeom>
              <a:noFill/>
              <a:ln w="9525">
                <a:solidFill>
                  <a:srgbClr val="FFCC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15" name="Text Box 8"/>
              <p:cNvSpPr txBox="1"/>
              <p:nvPr/>
            </p:nvSpPr>
            <p:spPr>
              <a:xfrm>
                <a:off x="4286" y="247"/>
                <a:ext cx="1377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800" dirty="0">
                    <a:latin typeface="隶书" pitchFamily="49" charset="-122"/>
                    <a:ea typeface="隶书" pitchFamily="49" charset="-122"/>
                  </a:rPr>
                  <a:t>差分放大电路</a:t>
                </a:r>
                <a:endParaRPr lang="zh-CN" altLang="en-US" sz="2800" dirty="0">
                  <a:latin typeface="隶书" pitchFamily="49" charset="-122"/>
                  <a:ea typeface="隶书" pitchFamily="49" charset="-122"/>
                </a:endParaRPr>
              </a:p>
            </p:txBody>
          </p:sp>
        </p:grpSp>
      </p:grpSp>
      <p:grpSp>
        <p:nvGrpSpPr>
          <p:cNvPr id="266249" name="Group 9"/>
          <p:cNvGrpSpPr/>
          <p:nvPr/>
        </p:nvGrpSpPr>
        <p:grpSpPr>
          <a:xfrm>
            <a:off x="1766888" y="3709988"/>
            <a:ext cx="5938837" cy="1058862"/>
            <a:chOff x="1012" y="2190"/>
            <a:chExt cx="3740" cy="667"/>
          </a:xfrm>
        </p:grpSpPr>
        <p:sp>
          <p:nvSpPr>
            <p:cNvPr id="17417" name="Rectangle 10"/>
            <p:cNvSpPr/>
            <p:nvPr/>
          </p:nvSpPr>
          <p:spPr>
            <a:xfrm>
              <a:off x="1012" y="2190"/>
              <a:ext cx="2656" cy="346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t">
              <a:spAutoFit/>
            </a:bodyPr>
            <a:p>
              <a:r>
                <a:rPr lang="en-US" altLang="zh-CN" sz="2800" dirty="0">
                  <a:latin typeface="Times New Roman" panose="02020603050405020304" pitchFamily="18" charset="0"/>
                  <a:ea typeface="隶书" pitchFamily="49" charset="-122"/>
                </a:rPr>
                <a:t>3.</a:t>
              </a:r>
              <a:r>
                <a:rPr lang="en-US" altLang="zh-CN" sz="2800" dirty="0">
                  <a:latin typeface="隶书" pitchFamily="49" charset="-122"/>
                  <a:ea typeface="隶书" pitchFamily="49" charset="-122"/>
                </a:rPr>
                <a:t>  </a:t>
              </a:r>
              <a:r>
                <a:rPr lang="en-US" altLang="en-US" sz="2800" dirty="0">
                  <a:latin typeface="隶书" pitchFamily="49" charset="-122"/>
                  <a:ea typeface="隶书" pitchFamily="49" charset="-122"/>
                </a:rPr>
                <a:t>集成运放的</a:t>
              </a:r>
              <a:r>
                <a:rPr lang="zh-CN" altLang="en-US" sz="2800" dirty="0">
                  <a:latin typeface="隶书" pitchFamily="49" charset="-122"/>
                  <a:ea typeface="隶书" pitchFamily="49" charset="-122"/>
                </a:rPr>
                <a:t>输出级电路</a:t>
              </a:r>
              <a:endParaRPr lang="zh-CN" altLang="en-US" sz="2800" dirty="0">
                <a:latin typeface="隶书" pitchFamily="49" charset="-122"/>
                <a:ea typeface="隶书" pitchFamily="49" charset="-122"/>
              </a:endParaRPr>
            </a:p>
          </p:txBody>
        </p:sp>
        <p:grpSp>
          <p:nvGrpSpPr>
            <p:cNvPr id="17418" name="Group 11"/>
            <p:cNvGrpSpPr/>
            <p:nvPr/>
          </p:nvGrpSpPr>
          <p:grpSpPr>
            <a:xfrm>
              <a:off x="3053" y="2511"/>
              <a:ext cx="1699" cy="346"/>
              <a:chOff x="4059" y="247"/>
              <a:chExt cx="1605" cy="346"/>
            </a:xfrm>
          </p:grpSpPr>
          <p:sp>
            <p:nvSpPr>
              <p:cNvPr id="266252" name="Line 12"/>
              <p:cNvSpPr>
                <a:spLocks noChangeShapeType="1"/>
              </p:cNvSpPr>
              <p:nvPr/>
            </p:nvSpPr>
            <p:spPr bwMode="auto">
              <a:xfrm>
                <a:off x="4059" y="437"/>
                <a:ext cx="227" cy="0"/>
              </a:xfrm>
              <a:prstGeom prst="line">
                <a:avLst/>
              </a:prstGeom>
              <a:noFill/>
              <a:ln w="9525">
                <a:solidFill>
                  <a:srgbClr val="FFCC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20" name="Text Box 13"/>
              <p:cNvSpPr txBox="1"/>
              <p:nvPr/>
            </p:nvSpPr>
            <p:spPr>
              <a:xfrm>
                <a:off x="4286" y="247"/>
                <a:ext cx="1378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800" dirty="0">
                    <a:latin typeface="隶书" pitchFamily="49" charset="-122"/>
                    <a:ea typeface="隶书" pitchFamily="49" charset="-122"/>
                  </a:rPr>
                  <a:t>互补对称电路</a:t>
                </a:r>
                <a:endParaRPr lang="zh-CN" altLang="en-US" sz="2800" dirty="0">
                  <a:latin typeface="隶书" pitchFamily="49" charset="-122"/>
                  <a:ea typeface="隶书" pitchFamily="49" charset="-122"/>
                </a:endParaRPr>
              </a:p>
            </p:txBody>
          </p:sp>
        </p:grpSp>
      </p:grpSp>
      <p:sp>
        <p:nvSpPr>
          <p:cNvPr id="17421" name="Text Box 15"/>
          <p:cNvSpPr txBox="1"/>
          <p:nvPr/>
        </p:nvSpPr>
        <p:spPr>
          <a:xfrm>
            <a:off x="7667625" y="62626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7422" name="Text Box 17">
            <a:hlinkClick r:id="" action="ppaction://hlinkshowjump?jump=previousslide"/>
          </p:cNvPr>
          <p:cNvSpPr txBox="1"/>
          <p:nvPr/>
        </p:nvSpPr>
        <p:spPr>
          <a:xfrm>
            <a:off x="5181600" y="62626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上页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7423" name="Text Box 18">
            <a:hlinkClick r:id="" action="ppaction://hlinkshowjump?jump=nextslide"/>
          </p:cNvPr>
          <p:cNvSpPr txBox="1"/>
          <p:nvPr/>
        </p:nvSpPr>
        <p:spPr>
          <a:xfrm>
            <a:off x="6477000" y="62626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下页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66259" name="Rectangle 19"/>
          <p:cNvSpPr>
            <a:spLocks noChangeArrowheads="1"/>
          </p:cNvSpPr>
          <p:nvPr/>
        </p:nvSpPr>
        <p:spPr bwMode="auto">
          <a:xfrm>
            <a:off x="2627313" y="6092825"/>
            <a:ext cx="6372225" cy="73025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FFFFC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6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ldLvl="0" animBg="1"/>
      <p:bldP spid="26625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433" name="Group 2"/>
          <p:cNvGrpSpPr/>
          <p:nvPr/>
        </p:nvGrpSpPr>
        <p:grpSpPr>
          <a:xfrm>
            <a:off x="685800" y="1676400"/>
            <a:ext cx="7916863" cy="3733800"/>
            <a:chOff x="336" y="1200"/>
            <a:chExt cx="4987" cy="2352"/>
          </a:xfrm>
        </p:grpSpPr>
        <p:sp>
          <p:nvSpPr>
            <p:cNvPr id="267267" name="Line 3"/>
            <p:cNvSpPr>
              <a:spLocks noChangeShapeType="1"/>
            </p:cNvSpPr>
            <p:nvPr/>
          </p:nvSpPr>
          <p:spPr bwMode="auto">
            <a:xfrm>
              <a:off x="2154" y="1738"/>
              <a:ext cx="513" cy="0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68" name="Line 4"/>
            <p:cNvSpPr>
              <a:spLocks noChangeShapeType="1"/>
            </p:cNvSpPr>
            <p:nvPr/>
          </p:nvSpPr>
          <p:spPr bwMode="auto">
            <a:xfrm>
              <a:off x="3090" y="1738"/>
              <a:ext cx="560" cy="0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69" name="Line 5"/>
            <p:cNvSpPr>
              <a:spLocks noChangeShapeType="1"/>
            </p:cNvSpPr>
            <p:nvPr/>
          </p:nvSpPr>
          <p:spPr bwMode="auto">
            <a:xfrm>
              <a:off x="1916" y="3029"/>
              <a:ext cx="741" cy="1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0" name="Line 6"/>
            <p:cNvSpPr>
              <a:spLocks noChangeShapeType="1"/>
            </p:cNvSpPr>
            <p:nvPr/>
          </p:nvSpPr>
          <p:spPr bwMode="auto">
            <a:xfrm flipV="1">
              <a:off x="2902" y="2158"/>
              <a:ext cx="0" cy="479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1" name="Rectangle 7"/>
            <p:cNvSpPr>
              <a:spLocks noChangeArrowheads="1"/>
            </p:cNvSpPr>
            <p:nvPr/>
          </p:nvSpPr>
          <p:spPr bwMode="auto">
            <a:xfrm>
              <a:off x="2623" y="2518"/>
              <a:ext cx="514" cy="958"/>
            </a:xfrm>
            <a:prstGeom prst="rect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6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2" name="Rectangle 8"/>
            <p:cNvSpPr>
              <a:spLocks noChangeArrowheads="1"/>
            </p:cNvSpPr>
            <p:nvPr/>
          </p:nvSpPr>
          <p:spPr bwMode="auto">
            <a:xfrm>
              <a:off x="3603" y="1261"/>
              <a:ext cx="513" cy="958"/>
            </a:xfrm>
            <a:prstGeom prst="rect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6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3" name="Rectangle 9"/>
            <p:cNvSpPr>
              <a:spLocks noChangeArrowheads="1"/>
            </p:cNvSpPr>
            <p:nvPr/>
          </p:nvSpPr>
          <p:spPr bwMode="auto">
            <a:xfrm>
              <a:off x="2623" y="1261"/>
              <a:ext cx="514" cy="958"/>
            </a:xfrm>
            <a:prstGeom prst="rect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6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41" name="Text Box 10"/>
            <p:cNvSpPr txBox="1"/>
            <p:nvPr/>
          </p:nvSpPr>
          <p:spPr>
            <a:xfrm>
              <a:off x="662" y="1200"/>
              <a:ext cx="31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b="1" i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endParaRPr lang="en-US" altLang="zh-CN" sz="3200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275" name="Rectangle 11"/>
            <p:cNvSpPr>
              <a:spLocks noChangeArrowheads="1"/>
            </p:cNvSpPr>
            <p:nvPr/>
          </p:nvSpPr>
          <p:spPr bwMode="auto">
            <a:xfrm>
              <a:off x="2657" y="1319"/>
              <a:ext cx="445" cy="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CC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6" name="Rectangle 12"/>
            <p:cNvSpPr>
              <a:spLocks noChangeArrowheads="1"/>
            </p:cNvSpPr>
            <p:nvPr/>
          </p:nvSpPr>
          <p:spPr bwMode="auto">
            <a:xfrm>
              <a:off x="3645" y="1319"/>
              <a:ext cx="444" cy="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7" name="Line 13"/>
            <p:cNvSpPr>
              <a:spLocks noChangeShapeType="1"/>
            </p:cNvSpPr>
            <p:nvPr/>
          </p:nvSpPr>
          <p:spPr bwMode="auto">
            <a:xfrm>
              <a:off x="1126" y="1509"/>
              <a:ext cx="543" cy="1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8" name="Line 14"/>
            <p:cNvSpPr>
              <a:spLocks noChangeShapeType="1"/>
            </p:cNvSpPr>
            <p:nvPr/>
          </p:nvSpPr>
          <p:spPr bwMode="auto">
            <a:xfrm>
              <a:off x="3102" y="3029"/>
              <a:ext cx="740" cy="1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9" name="Oval 15"/>
            <p:cNvSpPr>
              <a:spLocks noChangeArrowheads="1"/>
            </p:cNvSpPr>
            <p:nvPr/>
          </p:nvSpPr>
          <p:spPr bwMode="auto">
            <a:xfrm>
              <a:off x="1077" y="1473"/>
              <a:ext cx="49" cy="63"/>
            </a:xfrm>
            <a:prstGeom prst="ellips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47" name="Text Box 16"/>
            <p:cNvSpPr txBox="1"/>
            <p:nvPr/>
          </p:nvSpPr>
          <p:spPr>
            <a:xfrm>
              <a:off x="336" y="1509"/>
              <a:ext cx="741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18448" name="Text Box 17"/>
            <p:cNvSpPr txBox="1"/>
            <p:nvPr/>
          </p:nvSpPr>
          <p:spPr>
            <a:xfrm>
              <a:off x="4582" y="1440"/>
              <a:ext cx="741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rgbClr val="FFFF66"/>
                  </a:solidFill>
                  <a:latin typeface="Times New Roman" panose="02020603050405020304" pitchFamily="18" charset="0"/>
                  <a:ea typeface="幼圆" pitchFamily="49" charset="-122"/>
                </a:rPr>
                <a:t>u</a:t>
              </a:r>
              <a:r>
                <a:rPr lang="en-US" altLang="zh-CN" sz="3200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幼圆" pitchFamily="49" charset="-122"/>
                </a:rPr>
                <a:t>0</a:t>
              </a:r>
              <a:endParaRPr lang="en-US" altLang="zh-CN" sz="3200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18449" name="Text Box 18"/>
            <p:cNvSpPr txBox="1"/>
            <p:nvPr/>
          </p:nvSpPr>
          <p:spPr>
            <a:xfrm>
              <a:off x="2726" y="1320"/>
              <a:ext cx="346" cy="107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993300"/>
                  </a:solidFill>
                  <a:latin typeface="Times New Roman" panose="02020603050405020304" pitchFamily="18" charset="0"/>
                  <a:ea typeface="隶书" pitchFamily="49" charset="-122"/>
                </a:rPr>
                <a:t>中间级</a:t>
              </a:r>
              <a:endParaRPr lang="zh-CN" altLang="en-US" b="1" dirty="0">
                <a:solidFill>
                  <a:srgbClr val="993300"/>
                </a:solidFill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sp>
          <p:nvSpPr>
            <p:cNvPr id="18450" name="Text Box 19"/>
            <p:cNvSpPr txBox="1"/>
            <p:nvPr/>
          </p:nvSpPr>
          <p:spPr>
            <a:xfrm>
              <a:off x="3704" y="1319"/>
              <a:ext cx="346" cy="1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993300"/>
                  </a:solidFill>
                  <a:latin typeface="Times New Roman" panose="02020603050405020304" pitchFamily="18" charset="0"/>
                  <a:ea typeface="隶书" pitchFamily="49" charset="-122"/>
                </a:rPr>
                <a:t>输出级</a:t>
              </a:r>
              <a:endParaRPr lang="zh-CN" altLang="en-US" b="1" dirty="0">
                <a:solidFill>
                  <a:srgbClr val="993300"/>
                </a:solidFill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grpSp>
          <p:nvGrpSpPr>
            <p:cNvPr id="18451" name="Group 20"/>
            <p:cNvGrpSpPr/>
            <p:nvPr/>
          </p:nvGrpSpPr>
          <p:grpSpPr>
            <a:xfrm>
              <a:off x="2544" y="2544"/>
              <a:ext cx="494" cy="1008"/>
              <a:chOff x="2687" y="2895"/>
              <a:chExt cx="480" cy="624"/>
            </a:xfrm>
          </p:grpSpPr>
          <p:sp>
            <p:nvSpPr>
              <p:cNvPr id="267285" name="Rectangle 21"/>
              <p:cNvSpPr>
                <a:spLocks noChangeArrowheads="1"/>
              </p:cNvSpPr>
              <p:nvPr/>
            </p:nvSpPr>
            <p:spPr bwMode="auto">
              <a:xfrm>
                <a:off x="2687" y="2895"/>
                <a:ext cx="432" cy="6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453" name="Text Box 22"/>
              <p:cNvSpPr txBox="1"/>
              <p:nvPr/>
            </p:nvSpPr>
            <p:spPr>
              <a:xfrm>
                <a:off x="2849" y="2943"/>
                <a:ext cx="318" cy="5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200" b="1" dirty="0">
                    <a:solidFill>
                      <a:srgbClr val="993300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偏置 电路</a:t>
                </a:r>
                <a:endParaRPr lang="zh-CN" altLang="en-US" sz="2200" b="1" dirty="0">
                  <a:solidFill>
                    <a:srgbClr val="993300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</p:grpSp>
        <p:sp>
          <p:nvSpPr>
            <p:cNvPr id="18454" name="Text Box 23"/>
            <p:cNvSpPr txBox="1"/>
            <p:nvPr/>
          </p:nvSpPr>
          <p:spPr>
            <a:xfrm>
              <a:off x="849" y="1918"/>
              <a:ext cx="187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5" name="Text Box 24"/>
            <p:cNvSpPr txBox="1"/>
            <p:nvPr/>
          </p:nvSpPr>
          <p:spPr>
            <a:xfrm>
              <a:off x="662" y="1738"/>
              <a:ext cx="345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b="1" i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6" name="Text Box 25"/>
            <p:cNvSpPr txBox="1"/>
            <p:nvPr/>
          </p:nvSpPr>
          <p:spPr>
            <a:xfrm>
              <a:off x="1269" y="1440"/>
              <a:ext cx="305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b="1" i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290" name="Line 26"/>
            <p:cNvSpPr>
              <a:spLocks noChangeShapeType="1"/>
            </p:cNvSpPr>
            <p:nvPr/>
          </p:nvSpPr>
          <p:spPr bwMode="auto">
            <a:xfrm>
              <a:off x="4116" y="1738"/>
              <a:ext cx="467" cy="0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91" name="Line 27"/>
            <p:cNvSpPr>
              <a:spLocks noChangeShapeType="1"/>
            </p:cNvSpPr>
            <p:nvPr/>
          </p:nvSpPr>
          <p:spPr bwMode="auto">
            <a:xfrm flipV="1">
              <a:off x="3836" y="2158"/>
              <a:ext cx="0" cy="897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92" name="Line 28"/>
            <p:cNvSpPr>
              <a:spLocks noChangeShapeType="1"/>
            </p:cNvSpPr>
            <p:nvPr/>
          </p:nvSpPr>
          <p:spPr bwMode="auto">
            <a:xfrm flipV="1">
              <a:off x="1923" y="2158"/>
              <a:ext cx="0" cy="897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93" name="Line 29"/>
            <p:cNvSpPr>
              <a:spLocks noChangeShapeType="1"/>
            </p:cNvSpPr>
            <p:nvPr/>
          </p:nvSpPr>
          <p:spPr bwMode="auto">
            <a:xfrm>
              <a:off x="1126" y="1952"/>
              <a:ext cx="543" cy="1"/>
            </a:xfrm>
            <a:prstGeom prst="line">
              <a:avLst/>
            </a:prstGeom>
            <a:noFill/>
            <a:ln w="31750">
              <a:solidFill>
                <a:srgbClr val="C0C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94" name="Oval 30"/>
            <p:cNvSpPr>
              <a:spLocks noChangeArrowheads="1"/>
            </p:cNvSpPr>
            <p:nvPr/>
          </p:nvSpPr>
          <p:spPr bwMode="auto">
            <a:xfrm>
              <a:off x="1077" y="1916"/>
              <a:ext cx="49" cy="64"/>
            </a:xfrm>
            <a:prstGeom prst="ellips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95" name="Rectangle 31"/>
            <p:cNvSpPr>
              <a:spLocks noChangeArrowheads="1"/>
            </p:cNvSpPr>
            <p:nvPr/>
          </p:nvSpPr>
          <p:spPr bwMode="auto">
            <a:xfrm>
              <a:off x="1643" y="1261"/>
              <a:ext cx="513" cy="958"/>
            </a:xfrm>
            <a:prstGeom prst="rect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6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3" name="Text Box 32"/>
            <p:cNvSpPr txBox="1"/>
            <p:nvPr/>
          </p:nvSpPr>
          <p:spPr>
            <a:xfrm>
              <a:off x="1746" y="1320"/>
              <a:ext cx="346" cy="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993300"/>
                  </a:solidFill>
                  <a:latin typeface="Times New Roman" panose="02020603050405020304" pitchFamily="18" charset="0"/>
                  <a:ea typeface="隶书" pitchFamily="49" charset="-122"/>
                </a:rPr>
                <a:t>输入级</a:t>
              </a:r>
              <a:endParaRPr lang="zh-CN" altLang="en-US" b="1" dirty="0">
                <a:solidFill>
                  <a:srgbClr val="993300"/>
                </a:solidFill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</p:grpSp>
      <p:sp>
        <p:nvSpPr>
          <p:cNvPr id="18464" name="Text Box 33"/>
          <p:cNvSpPr txBox="1"/>
          <p:nvPr/>
        </p:nvSpPr>
        <p:spPr>
          <a:xfrm>
            <a:off x="1619250" y="476250"/>
            <a:ext cx="3600450" cy="61277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隶书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隶书" pitchFamily="49" charset="-122"/>
              </a:rPr>
              <a:t>概述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8465" name="Text Box 35">
            <a:hlinkClick r:id="" action="ppaction://hlinkshowjump?jump=previousslide"/>
          </p:cNvPr>
          <p:cNvSpPr txBox="1"/>
          <p:nvPr/>
        </p:nvSpPr>
        <p:spPr>
          <a:xfrm>
            <a:off x="5181600" y="62626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上页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8466" name="Text Box 36">
            <a:hlinkClick r:id="" action="ppaction://hlinkshowjump?jump=nextslide"/>
          </p:cNvPr>
          <p:cNvSpPr txBox="1"/>
          <p:nvPr/>
        </p:nvSpPr>
        <p:spPr>
          <a:xfrm>
            <a:off x="6477000" y="62626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下页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8467" name="Text Box 37"/>
          <p:cNvSpPr txBox="1"/>
          <p:nvPr/>
        </p:nvSpPr>
        <p:spPr>
          <a:xfrm>
            <a:off x="7696200" y="62626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67302" name="Text Box 38"/>
          <p:cNvSpPr txBox="1"/>
          <p:nvPr/>
        </p:nvSpPr>
        <p:spPr>
          <a:xfrm>
            <a:off x="2843213" y="5661025"/>
            <a:ext cx="3929062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rPr>
              <a:t>集成运放的组成框图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幼圆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0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ext Box 2"/>
          <p:cNvSpPr txBox="1"/>
          <p:nvPr/>
        </p:nvSpPr>
        <p:spPr>
          <a:xfrm>
            <a:off x="381000" y="501650"/>
            <a:ext cx="3178175" cy="6143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隶书" pitchFamily="49" charset="-122"/>
              </a:rPr>
              <a:t>集成电路的特点</a:t>
            </a:r>
            <a:endParaRPr lang="zh-CN" altLang="en-US" sz="3200" dirty="0"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9458" name="Text Box 4">
            <a:hlinkClick r:id="" action="ppaction://hlinkshowjump?jump=previousslide"/>
          </p:cNvPr>
          <p:cNvSpPr txBox="1"/>
          <p:nvPr/>
        </p:nvSpPr>
        <p:spPr>
          <a:xfrm>
            <a:off x="5181600" y="62626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上页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19459" name="Text Box 5">
            <a:hlinkClick r:id="" action="ppaction://hlinkshowjump?jump=nextslide"/>
          </p:cNvPr>
          <p:cNvSpPr txBox="1"/>
          <p:nvPr/>
        </p:nvSpPr>
        <p:spPr>
          <a:xfrm>
            <a:off x="6477000" y="62626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下页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68294" name="Rectangle 6"/>
          <p:cNvSpPr>
            <a:spLocks noChangeArrowheads="1"/>
          </p:cNvSpPr>
          <p:nvPr/>
        </p:nvSpPr>
        <p:spPr bwMode="auto">
          <a:xfrm>
            <a:off x="2339975" y="5949950"/>
            <a:ext cx="6804025" cy="71438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FFFFC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8295" name="Group 7"/>
          <p:cNvGrpSpPr/>
          <p:nvPr/>
        </p:nvGrpSpPr>
        <p:grpSpPr>
          <a:xfrm>
            <a:off x="228600" y="1536700"/>
            <a:ext cx="8763000" cy="946150"/>
            <a:chOff x="144" y="968"/>
            <a:chExt cx="5520" cy="596"/>
          </a:xfrm>
        </p:grpSpPr>
        <p:sp>
          <p:nvSpPr>
            <p:cNvPr id="19462" name="Text Box 8"/>
            <p:cNvSpPr txBox="1"/>
            <p:nvPr/>
          </p:nvSpPr>
          <p:spPr>
            <a:xfrm>
              <a:off x="144" y="968"/>
              <a:ext cx="552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457200" indent="-457200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lang="zh-CN" altLang="en-US" sz="2800" b="1" dirty="0">
                  <a:latin typeface="幼圆" pitchFamily="49" charset="-122"/>
                  <a:ea typeface="幼圆" pitchFamily="49" charset="-122"/>
                </a:rPr>
                <a:t>在集成电路工艺中还难于制造电感元件和大容量电容，因此集成运放主要采用直接耦合。</a:t>
              </a:r>
              <a:endParaRPr lang="zh-CN" altLang="en-US" sz="2800" b="1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68297" name="Oval 9"/>
            <p:cNvSpPr>
              <a:spLocks noChangeArrowheads="1"/>
            </p:cNvSpPr>
            <p:nvPr/>
          </p:nvSpPr>
          <p:spPr bwMode="auto">
            <a:xfrm>
              <a:off x="385" y="1071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8298" name="Group 10"/>
          <p:cNvGrpSpPr/>
          <p:nvPr/>
        </p:nvGrpSpPr>
        <p:grpSpPr>
          <a:xfrm>
            <a:off x="228600" y="2603500"/>
            <a:ext cx="8763000" cy="946150"/>
            <a:chOff x="144" y="1640"/>
            <a:chExt cx="5520" cy="596"/>
          </a:xfrm>
        </p:grpSpPr>
        <p:sp>
          <p:nvSpPr>
            <p:cNvPr id="19465" name="Text Box 11"/>
            <p:cNvSpPr txBox="1"/>
            <p:nvPr/>
          </p:nvSpPr>
          <p:spPr>
            <a:xfrm>
              <a:off x="144" y="1640"/>
              <a:ext cx="552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457200" indent="-457200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lang="zh-CN" altLang="en-US" sz="2800" b="1" dirty="0">
                  <a:latin typeface="幼圆" pitchFamily="49" charset="-122"/>
                  <a:ea typeface="幼圆" pitchFamily="49" charset="-122"/>
                </a:rPr>
                <a:t>运算放大器的输入级采用差分放大电路，其特点是输入电阻高、抗干扰能力强、零漂小。</a:t>
              </a:r>
              <a:endParaRPr lang="zh-CN" altLang="en-US" sz="2800" b="1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68300" name="Oval 12"/>
            <p:cNvSpPr>
              <a:spLocks noChangeArrowheads="1"/>
            </p:cNvSpPr>
            <p:nvPr/>
          </p:nvSpPr>
          <p:spPr bwMode="auto">
            <a:xfrm>
              <a:off x="385" y="1752"/>
              <a:ext cx="181" cy="181"/>
            </a:xfrm>
            <a:prstGeom prst="ellipse">
              <a:avLst/>
            </a:prstGeom>
            <a:solidFill>
              <a:srgbClr val="FCC7AC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8301" name="Group 13"/>
          <p:cNvGrpSpPr/>
          <p:nvPr/>
        </p:nvGrpSpPr>
        <p:grpSpPr>
          <a:xfrm>
            <a:off x="381000" y="3810000"/>
            <a:ext cx="9145588" cy="1160463"/>
            <a:chOff x="249" y="2296"/>
            <a:chExt cx="5761" cy="731"/>
          </a:xfrm>
        </p:grpSpPr>
        <p:sp>
          <p:nvSpPr>
            <p:cNvPr id="19468" name="Text Box 14"/>
            <p:cNvSpPr txBox="1"/>
            <p:nvPr/>
          </p:nvSpPr>
          <p:spPr>
            <a:xfrm>
              <a:off x="249" y="2296"/>
              <a:ext cx="5761" cy="7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 marL="457200" indent="-457200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  </a:t>
              </a:r>
              <a:r>
                <a:rPr lang="zh-CN" altLang="en-US" sz="2800" b="1" dirty="0">
                  <a:latin typeface="幼圆" pitchFamily="49" charset="-122"/>
                  <a:ea typeface="幼圆" pitchFamily="49" charset="-122"/>
                </a:rPr>
                <a:t>在集成运算放大器中往往用晶体管恒流源代替发射</a:t>
              </a:r>
              <a:endParaRPr lang="zh-CN" altLang="en-US" sz="2800" b="1" dirty="0">
                <a:latin typeface="幼圆" pitchFamily="49" charset="-122"/>
                <a:ea typeface="幼圆" pitchFamily="49" charset="-122"/>
              </a:endParaRPr>
            </a:p>
            <a:p>
              <a:pPr marL="457200" indent="-457200">
                <a:spcBef>
                  <a:spcPct val="50000"/>
                </a:spcBef>
              </a:pPr>
              <a:r>
                <a:rPr lang="zh-CN" altLang="en-US" sz="2800" b="1" dirty="0">
                  <a:latin typeface="幼圆" pitchFamily="49" charset="-122"/>
                  <a:ea typeface="幼圆" pitchFamily="49" charset="-122"/>
                </a:rPr>
                <a:t>   极的大直流电阻。</a:t>
              </a:r>
              <a:endParaRPr lang="zh-CN" altLang="en-US" sz="2800" b="1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68303" name="Oval 15"/>
            <p:cNvSpPr>
              <a:spLocks noChangeArrowheads="1"/>
            </p:cNvSpPr>
            <p:nvPr/>
          </p:nvSpPr>
          <p:spPr bwMode="auto">
            <a:xfrm>
              <a:off x="385" y="2387"/>
              <a:ext cx="181" cy="181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470" name="Text Box 16">
            <a:hlinkClick r:id="" action="ppaction://hlinkshowjump?jump=firstslide"/>
          </p:cNvPr>
          <p:cNvSpPr txBox="1"/>
          <p:nvPr/>
        </p:nvSpPr>
        <p:spPr>
          <a:xfrm>
            <a:off x="7696200" y="62626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685800" y="1143000"/>
            <a:ext cx="4649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2800" b="1" kern="1200" cap="none" spc="0" normalizeH="0" baseline="0" noProof="0" smtClean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引言</a:t>
            </a:r>
            <a:r>
              <a:rPr kumimoji="1" lang="en-US" altLang="zh-CN" sz="2800" b="1" kern="1200" cap="none" spc="0" normalizeH="0" baseline="0" noProof="0" smtClean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sz="2800" b="1" kern="1200" cap="none" spc="0" normalizeH="0" baseline="0" noProof="0" smtClean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多级放大器的耦合方式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80808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9315" name="Group 3"/>
          <p:cNvGrpSpPr/>
          <p:nvPr/>
        </p:nvGrpSpPr>
        <p:grpSpPr>
          <a:xfrm>
            <a:off x="250825" y="452438"/>
            <a:ext cx="8061325" cy="650875"/>
            <a:chOff x="158" y="240"/>
            <a:chExt cx="5078" cy="410"/>
          </a:xfrm>
        </p:grpSpPr>
        <p:sp>
          <p:nvSpPr>
            <p:cNvPr id="20483" name="Rectangle 4"/>
            <p:cNvSpPr/>
            <p:nvPr/>
          </p:nvSpPr>
          <p:spPr>
            <a:xfrm>
              <a:off x="158" y="240"/>
              <a:ext cx="2931" cy="386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t">
              <a:spAutoFit/>
            </a:bodyPr>
            <a:p>
              <a:r>
                <a:rPr lang="en-US" altLang="zh-CN" sz="3200" dirty="0">
                  <a:latin typeface="Times New Roman" panose="02020603050405020304" pitchFamily="18" charset="0"/>
                  <a:ea typeface="隶书" pitchFamily="49" charset="-122"/>
                </a:rPr>
                <a:t>2. </a:t>
              </a:r>
              <a:r>
                <a:rPr lang="en-US" altLang="en-US" sz="3200" dirty="0">
                  <a:latin typeface="Times New Roman" panose="02020603050405020304" pitchFamily="18" charset="0"/>
                  <a:ea typeface="隶书" pitchFamily="49" charset="-122"/>
                </a:rPr>
                <a:t>集成运放的</a:t>
              </a:r>
              <a:r>
                <a:rPr lang="zh-CN" altLang="en-US" sz="3200" dirty="0">
                  <a:latin typeface="Times New Roman" panose="02020603050405020304" pitchFamily="18" charset="0"/>
                  <a:ea typeface="隶书" pitchFamily="49" charset="-122"/>
                </a:rPr>
                <a:t>输入级电路</a:t>
              </a:r>
              <a:endParaRPr lang="zh-CN" altLang="en-US" sz="3200" dirty="0"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grpSp>
          <p:nvGrpSpPr>
            <p:cNvPr id="20484" name="Group 5"/>
            <p:cNvGrpSpPr/>
            <p:nvPr/>
          </p:nvGrpSpPr>
          <p:grpSpPr>
            <a:xfrm>
              <a:off x="3202" y="285"/>
              <a:ext cx="2034" cy="365"/>
              <a:chOff x="3519" y="310"/>
              <a:chExt cx="2034" cy="365"/>
            </a:xfrm>
          </p:grpSpPr>
          <p:sp>
            <p:nvSpPr>
              <p:cNvPr id="269318" name="Line 6"/>
              <p:cNvSpPr>
                <a:spLocks noChangeShapeType="1"/>
              </p:cNvSpPr>
              <p:nvPr/>
            </p:nvSpPr>
            <p:spPr bwMode="auto">
              <a:xfrm>
                <a:off x="3519" y="482"/>
                <a:ext cx="227" cy="0"/>
              </a:xfrm>
              <a:prstGeom prst="line">
                <a:avLst/>
              </a:prstGeom>
              <a:noFill/>
              <a:ln w="28575" cmpd="sng">
                <a:solidFill>
                  <a:srgbClr val="003300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486" name="Text Box 7"/>
              <p:cNvSpPr txBox="1"/>
              <p:nvPr/>
            </p:nvSpPr>
            <p:spPr>
              <a:xfrm>
                <a:off x="3895" y="310"/>
                <a:ext cx="165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3200" b="1" dirty="0">
                    <a:latin typeface="Times New Roman" panose="02020603050405020304" pitchFamily="18" charset="0"/>
                    <a:ea typeface="幼圆" pitchFamily="49" charset="-122"/>
                  </a:rPr>
                  <a:t>差分放大电路</a:t>
                </a:r>
                <a:endParaRPr lang="zh-CN" altLang="en-US" sz="3200" b="1" dirty="0"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</p:grpSp>
      </p:grpSp>
      <p:sp>
        <p:nvSpPr>
          <p:cNvPr id="20487" name="Text Box 9"/>
          <p:cNvSpPr txBox="1"/>
          <p:nvPr/>
        </p:nvSpPr>
        <p:spPr>
          <a:xfrm>
            <a:off x="1371600" y="2590800"/>
            <a:ext cx="6096000" cy="457200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endParaRPr lang="zh-CN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9322" name="Text Box 10"/>
          <p:cNvSpPr txBox="1"/>
          <p:nvPr/>
        </p:nvSpPr>
        <p:spPr>
          <a:xfrm>
            <a:off x="568325" y="1662113"/>
            <a:ext cx="6045200" cy="51911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）阻容耦合（不适用于集成）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9323" name="Object 11"/>
          <p:cNvGraphicFramePr>
            <a:graphicFrameLocks noChangeAspect="1"/>
          </p:cNvGraphicFramePr>
          <p:nvPr>
            <p:ph idx="1"/>
          </p:nvPr>
        </p:nvGraphicFramePr>
        <p:xfrm>
          <a:off x="1263650" y="2354263"/>
          <a:ext cx="6340475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668500" imgH="8496300" progId="MSPhotoEd.3">
                  <p:embed/>
                </p:oleObj>
              </mc:Choice>
              <mc:Fallback>
                <p:oleObj name="" r:id="rId1" imgW="14668500" imgH="8496300" progId="MSPhotoEd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63650" y="2354263"/>
                        <a:ext cx="6340475" cy="352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 bldLvl="0" animBg="1"/>
      <p:bldP spid="2693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Text Box 2"/>
          <p:cNvSpPr txBox="1"/>
          <p:nvPr/>
        </p:nvSpPr>
        <p:spPr>
          <a:xfrm>
            <a:off x="519113" y="417513"/>
            <a:ext cx="5937250" cy="519112"/>
          </a:xfrm>
          <a:prstGeom prst="rect">
            <a:avLst/>
          </a:prstGeom>
          <a:noFill/>
          <a:ln w="38100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）变压器耦合（不适用于集成）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06" name="Object 3"/>
          <p:cNvGraphicFramePr>
            <a:graphicFrameLocks noChangeAspect="1"/>
          </p:cNvGraphicFramePr>
          <p:nvPr>
            <p:ph idx="1"/>
          </p:nvPr>
        </p:nvGraphicFramePr>
        <p:xfrm>
          <a:off x="381000" y="1447800"/>
          <a:ext cx="8305800" cy="379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469725" imgH="10239375" progId="MSPhotoEd.3">
                  <p:embed/>
                </p:oleObj>
              </mc:Choice>
              <mc:Fallback>
                <p:oleObj name="" r:id="rId1" imgW="24469725" imgH="10239375" progId="MSPhotoEd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1447800"/>
                        <a:ext cx="8305800" cy="3795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2"/>
          <p:cNvSpPr txBox="1"/>
          <p:nvPr/>
        </p:nvSpPr>
        <p:spPr>
          <a:xfrm>
            <a:off x="615950" y="533400"/>
            <a:ext cx="4567238" cy="517525"/>
          </a:xfrm>
          <a:prstGeom prst="rect">
            <a:avLst/>
          </a:prstGeom>
          <a:noFill/>
          <a:ln w="38100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）光电耦合（集成困难）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0" name="Object 3"/>
          <p:cNvGraphicFramePr>
            <a:graphicFrameLocks noChangeAspect="1"/>
          </p:cNvGraphicFramePr>
          <p:nvPr>
            <p:ph idx="1"/>
          </p:nvPr>
        </p:nvGraphicFramePr>
        <p:xfrm>
          <a:off x="685800" y="1524000"/>
          <a:ext cx="7772400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622125" imgH="9334500" progId="MSPhotoEd.3">
                  <p:embed/>
                </p:oleObj>
              </mc:Choice>
              <mc:Fallback>
                <p:oleObj name="" r:id="rId1" imgW="24622125" imgH="9334500" progId="MSPhotoEd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524000"/>
                        <a:ext cx="7772400" cy="363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6" name="Line 2"/>
          <p:cNvSpPr>
            <a:spLocks noChangeShapeType="1"/>
          </p:cNvSpPr>
          <p:nvPr/>
        </p:nvSpPr>
        <p:spPr bwMode="auto">
          <a:xfrm>
            <a:off x="4581525" y="3854450"/>
            <a:ext cx="0" cy="96361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CC99"/>
                </a:solidFill>
                <a:round/>
                <a:tailEnd type="stealth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4" name="Text Box 3">
            <a:hlinkClick r:id="" action="ppaction://hlinkshowjump?jump=previousslide"/>
          </p:cNvPr>
          <p:cNvSpPr txBox="1"/>
          <p:nvPr/>
        </p:nvSpPr>
        <p:spPr>
          <a:xfrm>
            <a:off x="5181600" y="62626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上页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3555" name="Text Box 4">
            <a:hlinkClick r:id="" action="ppaction://hlinkshowjump?jump=nextslide"/>
          </p:cNvPr>
          <p:cNvSpPr txBox="1"/>
          <p:nvPr/>
        </p:nvSpPr>
        <p:spPr>
          <a:xfrm>
            <a:off x="6477000" y="62626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下页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3556" name="Text Box 5"/>
          <p:cNvSpPr txBox="1"/>
          <p:nvPr/>
        </p:nvSpPr>
        <p:spPr>
          <a:xfrm>
            <a:off x="7696200" y="62626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grpSp>
        <p:nvGrpSpPr>
          <p:cNvPr id="23557" name="Group 7"/>
          <p:cNvGrpSpPr/>
          <p:nvPr/>
        </p:nvGrpSpPr>
        <p:grpSpPr>
          <a:xfrm>
            <a:off x="2268538" y="2781300"/>
            <a:ext cx="4398962" cy="3097213"/>
            <a:chOff x="1429" y="1752"/>
            <a:chExt cx="2771" cy="1951"/>
          </a:xfrm>
        </p:grpSpPr>
        <p:sp>
          <p:nvSpPr>
            <p:cNvPr id="272392" name="Line 8"/>
            <p:cNvSpPr>
              <a:spLocks noChangeShapeType="1"/>
            </p:cNvSpPr>
            <p:nvPr/>
          </p:nvSpPr>
          <p:spPr bwMode="auto">
            <a:xfrm>
              <a:off x="3278" y="2893"/>
              <a:ext cx="0" cy="81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3" name="Line 9"/>
            <p:cNvSpPr>
              <a:spLocks noChangeShapeType="1"/>
            </p:cNvSpPr>
            <p:nvPr/>
          </p:nvSpPr>
          <p:spPr bwMode="auto">
            <a:xfrm>
              <a:off x="3201" y="3703"/>
              <a:ext cx="155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4" name="Line 10"/>
            <p:cNvSpPr>
              <a:spLocks noChangeShapeType="1"/>
            </p:cNvSpPr>
            <p:nvPr/>
          </p:nvSpPr>
          <p:spPr bwMode="auto">
            <a:xfrm flipV="1">
              <a:off x="2575" y="1770"/>
              <a:ext cx="0" cy="24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5" name="Line 11"/>
            <p:cNvSpPr>
              <a:spLocks noChangeShapeType="1"/>
            </p:cNvSpPr>
            <p:nvPr/>
          </p:nvSpPr>
          <p:spPr bwMode="auto">
            <a:xfrm>
              <a:off x="3274" y="2296"/>
              <a:ext cx="0" cy="176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6" name="Line 12"/>
            <p:cNvSpPr>
              <a:spLocks noChangeShapeType="1"/>
            </p:cNvSpPr>
            <p:nvPr/>
          </p:nvSpPr>
          <p:spPr bwMode="auto">
            <a:xfrm>
              <a:off x="1925" y="1770"/>
              <a:ext cx="2131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7" name="Line 13"/>
            <p:cNvSpPr>
              <a:spLocks noChangeShapeType="1"/>
            </p:cNvSpPr>
            <p:nvPr/>
          </p:nvSpPr>
          <p:spPr bwMode="auto">
            <a:xfrm>
              <a:off x="1915" y="2337"/>
              <a:ext cx="0" cy="539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8" name="Line 14"/>
            <p:cNvSpPr>
              <a:spLocks noChangeShapeType="1"/>
            </p:cNvSpPr>
            <p:nvPr/>
          </p:nvSpPr>
          <p:spPr bwMode="auto">
            <a:xfrm>
              <a:off x="1537" y="2876"/>
              <a:ext cx="805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399" name="Line 15"/>
            <p:cNvSpPr>
              <a:spLocks noChangeShapeType="1"/>
            </p:cNvSpPr>
            <p:nvPr/>
          </p:nvSpPr>
          <p:spPr bwMode="auto">
            <a:xfrm flipV="1">
              <a:off x="3049" y="2499"/>
              <a:ext cx="0" cy="28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0" name="Line 16"/>
            <p:cNvSpPr>
              <a:spLocks noChangeShapeType="1"/>
            </p:cNvSpPr>
            <p:nvPr/>
          </p:nvSpPr>
          <p:spPr bwMode="auto">
            <a:xfrm rot="3235542" flipV="1">
              <a:off x="3153" y="2413"/>
              <a:ext cx="4" cy="268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1" name="Line 17"/>
            <p:cNvSpPr>
              <a:spLocks noChangeShapeType="1"/>
            </p:cNvSpPr>
            <p:nvPr/>
          </p:nvSpPr>
          <p:spPr bwMode="auto">
            <a:xfrm>
              <a:off x="3058" y="2701"/>
              <a:ext cx="233" cy="202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2" name="Line 18"/>
            <p:cNvSpPr>
              <a:spLocks noChangeShapeType="1"/>
            </p:cNvSpPr>
            <p:nvPr/>
          </p:nvSpPr>
          <p:spPr bwMode="auto">
            <a:xfrm>
              <a:off x="2575" y="2337"/>
              <a:ext cx="0" cy="364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3" name="Line 19"/>
            <p:cNvSpPr>
              <a:spLocks noChangeShapeType="1"/>
            </p:cNvSpPr>
            <p:nvPr/>
          </p:nvSpPr>
          <p:spPr bwMode="auto">
            <a:xfrm flipV="1">
              <a:off x="2344" y="2734"/>
              <a:ext cx="0" cy="28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4" name="Line 20"/>
            <p:cNvSpPr>
              <a:spLocks noChangeShapeType="1"/>
            </p:cNvSpPr>
            <p:nvPr/>
          </p:nvSpPr>
          <p:spPr bwMode="auto">
            <a:xfrm rot="3235542" flipV="1">
              <a:off x="2443" y="2618"/>
              <a:ext cx="27" cy="265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5" name="Line 21"/>
            <p:cNvSpPr>
              <a:spLocks noChangeShapeType="1"/>
            </p:cNvSpPr>
            <p:nvPr/>
          </p:nvSpPr>
          <p:spPr bwMode="auto">
            <a:xfrm>
              <a:off x="2356" y="2944"/>
              <a:ext cx="237" cy="162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6" name="Line 22"/>
            <p:cNvSpPr>
              <a:spLocks noChangeShapeType="1"/>
            </p:cNvSpPr>
            <p:nvPr/>
          </p:nvSpPr>
          <p:spPr bwMode="auto">
            <a:xfrm flipH="1">
              <a:off x="2575" y="2660"/>
              <a:ext cx="465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7" name="Line 23"/>
            <p:cNvSpPr>
              <a:spLocks noChangeShapeType="1"/>
            </p:cNvSpPr>
            <p:nvPr/>
          </p:nvSpPr>
          <p:spPr bwMode="auto">
            <a:xfrm>
              <a:off x="3272" y="2418"/>
              <a:ext cx="737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08" name="Line 24"/>
            <p:cNvSpPr>
              <a:spLocks noChangeShapeType="1"/>
            </p:cNvSpPr>
            <p:nvPr/>
          </p:nvSpPr>
          <p:spPr bwMode="auto">
            <a:xfrm>
              <a:off x="1529" y="3592"/>
              <a:ext cx="2518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75" name="Text Box 25"/>
            <p:cNvSpPr txBox="1"/>
            <p:nvPr/>
          </p:nvSpPr>
          <p:spPr>
            <a:xfrm>
              <a:off x="1429" y="1972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R</a:t>
              </a:r>
              <a:endPara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76" name="Text Box 26"/>
            <p:cNvSpPr txBox="1"/>
            <p:nvPr/>
          </p:nvSpPr>
          <p:spPr>
            <a:xfrm>
              <a:off x="2050" y="1892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R</a:t>
              </a:r>
              <a:endPara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77" name="Text Box 27"/>
            <p:cNvSpPr txBox="1"/>
            <p:nvPr/>
          </p:nvSpPr>
          <p:spPr>
            <a:xfrm>
              <a:off x="1454" y="2098"/>
              <a:ext cx="476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B1</a:t>
              </a:r>
              <a:endParaRPr lang="en-US" altLang="zh-CN" sz="1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78" name="Text Box 28"/>
            <p:cNvSpPr txBox="1"/>
            <p:nvPr/>
          </p:nvSpPr>
          <p:spPr>
            <a:xfrm>
              <a:off x="2217" y="2032"/>
              <a:ext cx="292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C1</a:t>
              </a:r>
              <a:endParaRPr lang="en-US" altLang="zh-CN" sz="1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79" name="Text Box 29"/>
            <p:cNvSpPr txBox="1"/>
            <p:nvPr/>
          </p:nvSpPr>
          <p:spPr>
            <a:xfrm>
              <a:off x="1520" y="3044"/>
              <a:ext cx="258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u</a:t>
              </a:r>
              <a:endPara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80" name="Text Box 30"/>
            <p:cNvSpPr txBox="1"/>
            <p:nvPr/>
          </p:nvSpPr>
          <p:spPr>
            <a:xfrm>
              <a:off x="1701" y="3158"/>
              <a:ext cx="16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i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grpSp>
          <p:nvGrpSpPr>
            <p:cNvPr id="23581" name="Group 31"/>
            <p:cNvGrpSpPr/>
            <p:nvPr/>
          </p:nvGrpSpPr>
          <p:grpSpPr>
            <a:xfrm>
              <a:off x="3833" y="2817"/>
              <a:ext cx="365" cy="371"/>
              <a:chOff x="2818" y="2485"/>
              <a:chExt cx="365" cy="371"/>
            </a:xfrm>
          </p:grpSpPr>
          <p:sp>
            <p:nvSpPr>
              <p:cNvPr id="23582" name="Text Box 32"/>
              <p:cNvSpPr txBox="1"/>
              <p:nvPr/>
            </p:nvSpPr>
            <p:spPr>
              <a:xfrm>
                <a:off x="2818" y="2485"/>
                <a:ext cx="258" cy="3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sz="32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u</a:t>
                </a:r>
                <a:endPara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  <p:sp>
            <p:nvSpPr>
              <p:cNvPr id="23583" name="Text Box 33"/>
              <p:cNvSpPr txBox="1"/>
              <p:nvPr/>
            </p:nvSpPr>
            <p:spPr>
              <a:xfrm>
                <a:off x="2971" y="2568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o</a:t>
                </a:r>
                <a:endPara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</p:grpSp>
        <p:sp>
          <p:nvSpPr>
            <p:cNvPr id="23584" name="Text Box 34"/>
            <p:cNvSpPr txBox="1"/>
            <p:nvPr/>
          </p:nvSpPr>
          <p:spPr>
            <a:xfrm>
              <a:off x="1964" y="2927"/>
              <a:ext cx="41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85" name="Text Box 35"/>
            <p:cNvSpPr txBox="1"/>
            <p:nvPr/>
          </p:nvSpPr>
          <p:spPr>
            <a:xfrm>
              <a:off x="3199" y="2539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86" name="Text Box 36"/>
            <p:cNvSpPr txBox="1"/>
            <p:nvPr/>
          </p:nvSpPr>
          <p:spPr>
            <a:xfrm>
              <a:off x="2188" y="3084"/>
              <a:ext cx="188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1</a:t>
              </a:r>
              <a:endParaRPr lang="en-US" altLang="zh-CN" sz="1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87" name="Text Box 37"/>
            <p:cNvSpPr txBox="1"/>
            <p:nvPr/>
          </p:nvSpPr>
          <p:spPr>
            <a:xfrm>
              <a:off x="3377" y="2639"/>
              <a:ext cx="21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2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588" name="Text Box 38"/>
            <p:cNvSpPr txBox="1"/>
            <p:nvPr/>
          </p:nvSpPr>
          <p:spPr>
            <a:xfrm>
              <a:off x="2609" y="2712"/>
              <a:ext cx="25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U</a:t>
              </a:r>
              <a:endPara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72423" name="Line 39"/>
            <p:cNvSpPr>
              <a:spLocks noChangeShapeType="1"/>
            </p:cNvSpPr>
            <p:nvPr/>
          </p:nvSpPr>
          <p:spPr bwMode="auto">
            <a:xfrm>
              <a:off x="2614" y="2782"/>
              <a:ext cx="0" cy="24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0" name="Text Box 40"/>
            <p:cNvSpPr txBox="1"/>
            <p:nvPr/>
          </p:nvSpPr>
          <p:spPr>
            <a:xfrm>
              <a:off x="2737" y="2828"/>
              <a:ext cx="388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CE1</a:t>
              </a:r>
              <a:endParaRPr lang="en-US" altLang="zh-CN" sz="1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72425" name="Line 41"/>
            <p:cNvSpPr>
              <a:spLocks noChangeShapeType="1"/>
            </p:cNvSpPr>
            <p:nvPr/>
          </p:nvSpPr>
          <p:spPr bwMode="auto">
            <a:xfrm flipV="1">
              <a:off x="3281" y="1770"/>
              <a:ext cx="0" cy="202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26" name="Line 42"/>
            <p:cNvSpPr>
              <a:spLocks noChangeShapeType="1"/>
            </p:cNvSpPr>
            <p:nvPr/>
          </p:nvSpPr>
          <p:spPr bwMode="auto">
            <a:xfrm>
              <a:off x="2584" y="3106"/>
              <a:ext cx="0" cy="486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3" name="Rectangle 43"/>
            <p:cNvSpPr/>
            <p:nvPr/>
          </p:nvSpPr>
          <p:spPr>
            <a:xfrm>
              <a:off x="3652" y="1774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+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CC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72428" name="Line 44"/>
            <p:cNvSpPr>
              <a:spLocks noChangeShapeType="1"/>
            </p:cNvSpPr>
            <p:nvPr/>
          </p:nvSpPr>
          <p:spPr bwMode="auto">
            <a:xfrm flipV="1">
              <a:off x="1925" y="1770"/>
              <a:ext cx="0" cy="24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29" name="Oval 45"/>
            <p:cNvSpPr>
              <a:spLocks noChangeArrowheads="1"/>
            </p:cNvSpPr>
            <p:nvPr/>
          </p:nvSpPr>
          <p:spPr bwMode="auto">
            <a:xfrm>
              <a:off x="4015" y="1752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30" name="Oval 46"/>
            <p:cNvSpPr>
              <a:spLocks noChangeArrowheads="1"/>
            </p:cNvSpPr>
            <p:nvPr/>
          </p:nvSpPr>
          <p:spPr bwMode="auto">
            <a:xfrm flipV="1">
              <a:off x="3257" y="3564"/>
              <a:ext cx="39" cy="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CC99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3597" name="Group 47"/>
            <p:cNvGrpSpPr/>
            <p:nvPr/>
          </p:nvGrpSpPr>
          <p:grpSpPr>
            <a:xfrm>
              <a:off x="3289" y="3158"/>
              <a:ext cx="532" cy="328"/>
              <a:chOff x="2195" y="3130"/>
              <a:chExt cx="532" cy="328"/>
            </a:xfrm>
          </p:grpSpPr>
          <p:sp>
            <p:nvSpPr>
              <p:cNvPr id="23598" name="Text Box 48"/>
              <p:cNvSpPr txBox="1"/>
              <p:nvPr/>
            </p:nvSpPr>
            <p:spPr>
              <a:xfrm>
                <a:off x="2269" y="3227"/>
                <a:ext cx="458" cy="23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E2</a:t>
                </a:r>
                <a:endPara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  <p:sp>
            <p:nvSpPr>
              <p:cNvPr id="23599" name="Rectangle 49"/>
              <p:cNvSpPr/>
              <p:nvPr/>
            </p:nvSpPr>
            <p:spPr>
              <a:xfrm>
                <a:off x="2195" y="3130"/>
                <a:ext cx="24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>
                <a:spAutoFit/>
              </a:bodyPr>
              <a:p>
                <a:pPr algn="ctr"/>
                <a:r>
                  <a:rPr lang="en-US" altLang="zh-CN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R</a:t>
                </a:r>
                <a:endPara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</p:grpSp>
        <p:sp>
          <p:nvSpPr>
            <p:cNvPr id="23600" name="Text Box 50"/>
            <p:cNvSpPr txBox="1"/>
            <p:nvPr/>
          </p:nvSpPr>
          <p:spPr>
            <a:xfrm>
              <a:off x="2749" y="1893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R</a:t>
              </a:r>
              <a:endPara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3601" name="Text Box 51"/>
            <p:cNvSpPr txBox="1"/>
            <p:nvPr/>
          </p:nvSpPr>
          <p:spPr>
            <a:xfrm>
              <a:off x="2916" y="2032"/>
              <a:ext cx="292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C2</a:t>
              </a:r>
              <a:endParaRPr lang="en-US" altLang="zh-CN" sz="1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endParaRPr>
            </a:p>
          </p:txBody>
        </p:sp>
        <p:sp>
          <p:nvSpPr>
            <p:cNvPr id="272436" name="Oval 52"/>
            <p:cNvSpPr>
              <a:spLocks noChangeArrowheads="1"/>
            </p:cNvSpPr>
            <p:nvPr/>
          </p:nvSpPr>
          <p:spPr bwMode="auto">
            <a:xfrm>
              <a:off x="3969" y="2409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37" name="Oval 53"/>
            <p:cNvSpPr>
              <a:spLocks noChangeArrowheads="1"/>
            </p:cNvSpPr>
            <p:nvPr/>
          </p:nvSpPr>
          <p:spPr bwMode="auto">
            <a:xfrm>
              <a:off x="1520" y="2863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38" name="Oval 54"/>
            <p:cNvSpPr>
              <a:spLocks noChangeArrowheads="1"/>
            </p:cNvSpPr>
            <p:nvPr/>
          </p:nvSpPr>
          <p:spPr bwMode="auto">
            <a:xfrm>
              <a:off x="1520" y="3565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39" name="Oval 55"/>
            <p:cNvSpPr>
              <a:spLocks noChangeArrowheads="1"/>
            </p:cNvSpPr>
            <p:nvPr/>
          </p:nvSpPr>
          <p:spPr bwMode="auto">
            <a:xfrm>
              <a:off x="1883" y="2840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40" name="Oval 56"/>
            <p:cNvSpPr>
              <a:spLocks noChangeArrowheads="1"/>
            </p:cNvSpPr>
            <p:nvPr/>
          </p:nvSpPr>
          <p:spPr bwMode="auto">
            <a:xfrm>
              <a:off x="4015" y="3565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07" name="Rectangle 57"/>
            <p:cNvSpPr/>
            <p:nvPr/>
          </p:nvSpPr>
          <p:spPr>
            <a:xfrm>
              <a:off x="3833" y="3362"/>
              <a:ext cx="261" cy="231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08" name="Rectangle 58"/>
            <p:cNvSpPr/>
            <p:nvPr/>
          </p:nvSpPr>
          <p:spPr>
            <a:xfrm>
              <a:off x="1429" y="3362"/>
              <a:ext cx="261" cy="231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09" name="Rectangle 59"/>
            <p:cNvSpPr/>
            <p:nvPr/>
          </p:nvSpPr>
          <p:spPr>
            <a:xfrm>
              <a:off x="3879" y="2455"/>
              <a:ext cx="225" cy="28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10" name="Rectangle 60"/>
            <p:cNvSpPr/>
            <p:nvPr/>
          </p:nvSpPr>
          <p:spPr>
            <a:xfrm>
              <a:off x="1452" y="2863"/>
              <a:ext cx="225" cy="28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2445" name="Rectangle 61"/>
            <p:cNvSpPr>
              <a:spLocks noChangeArrowheads="1"/>
            </p:cNvSpPr>
            <p:nvPr/>
          </p:nvSpPr>
          <p:spPr bwMode="auto">
            <a:xfrm>
              <a:off x="1858" y="2024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99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46" name="Rectangle 62"/>
            <p:cNvSpPr>
              <a:spLocks noChangeArrowheads="1"/>
            </p:cNvSpPr>
            <p:nvPr/>
          </p:nvSpPr>
          <p:spPr bwMode="auto">
            <a:xfrm>
              <a:off x="2517" y="1979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99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47" name="Rectangle 63"/>
            <p:cNvSpPr>
              <a:spLocks noChangeArrowheads="1"/>
            </p:cNvSpPr>
            <p:nvPr/>
          </p:nvSpPr>
          <p:spPr bwMode="auto">
            <a:xfrm>
              <a:off x="3221" y="1979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99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2448" name="Rectangle 64"/>
            <p:cNvSpPr>
              <a:spLocks noChangeArrowheads="1"/>
            </p:cNvSpPr>
            <p:nvPr/>
          </p:nvSpPr>
          <p:spPr bwMode="auto">
            <a:xfrm>
              <a:off x="3221" y="3067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99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2449" name="Group 65"/>
          <p:cNvGrpSpPr/>
          <p:nvPr/>
        </p:nvGrpSpPr>
        <p:grpSpPr>
          <a:xfrm>
            <a:off x="1258888" y="1731963"/>
            <a:ext cx="5437187" cy="579437"/>
            <a:chOff x="793" y="1091"/>
            <a:chExt cx="3425" cy="365"/>
          </a:xfrm>
        </p:grpSpPr>
        <p:sp>
          <p:nvSpPr>
            <p:cNvPr id="23616" name="Text Box 66"/>
            <p:cNvSpPr txBox="1"/>
            <p:nvPr/>
          </p:nvSpPr>
          <p:spPr>
            <a:xfrm>
              <a:off x="838" y="1091"/>
              <a:ext cx="338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r>
                <a:rPr lang="en-US" altLang="zh-CN" sz="3200" b="1" dirty="0">
                  <a:solidFill>
                    <a:srgbClr val="008000"/>
                  </a:solidFill>
                  <a:latin typeface="幼圆" pitchFamily="49" charset="-122"/>
                  <a:ea typeface="幼圆" pitchFamily="49" charset="-122"/>
                </a:rPr>
                <a:t> </a:t>
              </a:r>
              <a:r>
                <a:rPr lang="zh-CN" altLang="en-US" sz="2800" dirty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前、后级静态工作点的相互影响</a:t>
              </a:r>
              <a:endParaRPr lang="zh-CN" altLang="en-US" sz="2800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graphicFrame>
          <p:nvGraphicFramePr>
            <p:cNvPr id="23617" name="Object 67"/>
            <p:cNvGraphicFramePr>
              <a:graphicFrameLocks noChangeAspect="1"/>
            </p:cNvGraphicFramePr>
            <p:nvPr/>
          </p:nvGraphicFramePr>
          <p:xfrm>
            <a:off x="793" y="1207"/>
            <a:ext cx="176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9525" imgH="9525" progId="CorelDraw.Graphic.8">
                    <p:embed/>
                  </p:oleObj>
                </mc:Choice>
                <mc:Fallback>
                  <p:oleObj name="" r:id="rId1" imgW="9525" imgH="9525" progId="CorelDraw.Graphic.8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3" y="1207"/>
                          <a:ext cx="176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18" name="Text Box 69"/>
          <p:cNvSpPr txBox="1"/>
          <p:nvPr/>
        </p:nvSpPr>
        <p:spPr>
          <a:xfrm>
            <a:off x="457200" y="381000"/>
            <a:ext cx="7010400" cy="1158875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）直接耦合：频率特性好、便于集成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直接耦合存在问题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7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Text Box 2"/>
          <p:cNvSpPr txBox="1"/>
          <p:nvPr/>
        </p:nvSpPr>
        <p:spPr>
          <a:xfrm>
            <a:off x="3810000" y="0"/>
            <a:ext cx="184150" cy="19224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en-US" altLang="zh-CN" sz="4800" i="1" dirty="0">
              <a:solidFill>
                <a:srgbClr val="FF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4800" i="1" dirty="0">
              <a:solidFill>
                <a:srgbClr val="FF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411" name="Text Box 3"/>
          <p:cNvSpPr txBox="1"/>
          <p:nvPr/>
        </p:nvSpPr>
        <p:spPr>
          <a:xfrm>
            <a:off x="468313" y="1557338"/>
            <a:ext cx="4319587" cy="24415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当放大器的输入电压 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= 0 </a:t>
            </a:r>
            <a:r>
              <a:rPr lang="zh-CN" altLang="en-US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时，其输出电压</a:t>
            </a:r>
            <a:r>
              <a:rPr lang="en-US" altLang="zh-CN" sz="2800" b="1" i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O</a:t>
            </a:r>
            <a:r>
              <a:rPr lang="zh-CN" altLang="en-US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往往不为</a:t>
            </a:r>
            <a:r>
              <a:rPr lang="zh-CN" altLang="en-US" sz="28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  <a:sym typeface="Symbol" panose="05050102010706020507" pitchFamily="18" charset="2"/>
              </a:rPr>
              <a:t>常数，称这种现象为放大器的零点漂移。</a:t>
            </a:r>
            <a:endParaRPr lang="zh-CN" altLang="en-US" sz="2800" b="1" dirty="0">
              <a:solidFill>
                <a:schemeClr val="bg1"/>
              </a:solidFill>
              <a:latin typeface="幼圆" pitchFamily="49" charset="-122"/>
              <a:ea typeface="幼圆" pitchFamily="49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solidFill>
                <a:schemeClr val="bg1"/>
              </a:solidFill>
              <a:latin typeface="幼圆" pitchFamily="49" charset="-122"/>
              <a:ea typeface="幼圆" pitchFamily="49" charset="-122"/>
              <a:sym typeface="Symbol" panose="05050102010706020507" pitchFamily="18" charset="2"/>
            </a:endParaRPr>
          </a:p>
        </p:txBody>
      </p:sp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323850" y="5834063"/>
            <a:ext cx="876300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en-US" altLang="zh-CN" sz="32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幼圆" pitchFamily="49" charset="-122"/>
                <a:ea typeface="幼圆" pitchFamily="49" charset="-122"/>
                <a:cs typeface="+mn-cs"/>
              </a:rPr>
              <a:t>    </a:t>
            </a:r>
            <a:r>
              <a:rPr lang="zh-CN" altLang="en-US" sz="32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幼圆" pitchFamily="49" charset="-122"/>
                <a:ea typeface="幼圆" pitchFamily="49" charset="-122"/>
                <a:cs typeface="+mn-cs"/>
              </a:rPr>
              <a:t>差分放大电路能很好地抑制零点漂移。</a:t>
            </a:r>
            <a:endParaRPr lang="zh-CN" altLang="en-US" sz="3200" b="1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24580" name="Group 5"/>
          <p:cNvGrpSpPr/>
          <p:nvPr/>
        </p:nvGrpSpPr>
        <p:grpSpPr>
          <a:xfrm>
            <a:off x="4716463" y="1052513"/>
            <a:ext cx="4143375" cy="3157537"/>
            <a:chOff x="2547" y="1195"/>
            <a:chExt cx="2846" cy="2205"/>
          </a:xfrm>
        </p:grpSpPr>
        <p:sp>
          <p:nvSpPr>
            <p:cNvPr id="273414" name="Line 6"/>
            <p:cNvSpPr>
              <a:spLocks noChangeShapeType="1"/>
            </p:cNvSpPr>
            <p:nvPr/>
          </p:nvSpPr>
          <p:spPr bwMode="auto">
            <a:xfrm>
              <a:off x="2971" y="3203"/>
              <a:ext cx="2208" cy="0"/>
            </a:xfrm>
            <a:prstGeom prst="line">
              <a:avLst/>
            </a:prstGeom>
            <a:noFill/>
            <a:ln w="28575">
              <a:solidFill>
                <a:srgbClr val="CCECF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3415" name="Line 7"/>
            <p:cNvSpPr>
              <a:spLocks noChangeShapeType="1"/>
            </p:cNvSpPr>
            <p:nvPr/>
          </p:nvSpPr>
          <p:spPr bwMode="auto">
            <a:xfrm flipV="1">
              <a:off x="2979" y="1483"/>
              <a:ext cx="0" cy="1728"/>
            </a:xfrm>
            <a:prstGeom prst="line">
              <a:avLst/>
            </a:prstGeom>
            <a:noFill/>
            <a:ln w="28575">
              <a:solidFill>
                <a:srgbClr val="CCECF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3416" name="Line 8"/>
            <p:cNvSpPr>
              <a:spLocks noChangeShapeType="1"/>
            </p:cNvSpPr>
            <p:nvPr/>
          </p:nvSpPr>
          <p:spPr bwMode="auto">
            <a:xfrm>
              <a:off x="2979" y="2203"/>
              <a:ext cx="2064" cy="0"/>
            </a:xfrm>
            <a:prstGeom prst="line">
              <a:avLst/>
            </a:prstGeom>
            <a:noFill/>
            <a:ln w="19050">
              <a:solidFill>
                <a:srgbClr val="CCEC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3417" name="Freeform 9"/>
            <p:cNvSpPr/>
            <p:nvPr/>
          </p:nvSpPr>
          <p:spPr bwMode="auto">
            <a:xfrm>
              <a:off x="2979" y="1879"/>
              <a:ext cx="1836" cy="576"/>
            </a:xfrm>
            <a:custGeom>
              <a:avLst/>
              <a:gdLst>
                <a:gd name="T0" fmla="*/ 0 w 1836"/>
                <a:gd name="T1" fmla="*/ 480 h 576"/>
                <a:gd name="T2" fmla="*/ 108 w 1836"/>
                <a:gd name="T3" fmla="*/ 468 h 576"/>
                <a:gd name="T4" fmla="*/ 156 w 1836"/>
                <a:gd name="T5" fmla="*/ 396 h 576"/>
                <a:gd name="T6" fmla="*/ 216 w 1836"/>
                <a:gd name="T7" fmla="*/ 312 h 576"/>
                <a:gd name="T8" fmla="*/ 288 w 1836"/>
                <a:gd name="T9" fmla="*/ 264 h 576"/>
                <a:gd name="T10" fmla="*/ 324 w 1836"/>
                <a:gd name="T11" fmla="*/ 240 h 576"/>
                <a:gd name="T12" fmla="*/ 576 w 1836"/>
                <a:gd name="T13" fmla="*/ 192 h 576"/>
                <a:gd name="T14" fmla="*/ 588 w 1836"/>
                <a:gd name="T15" fmla="*/ 120 h 576"/>
                <a:gd name="T16" fmla="*/ 636 w 1836"/>
                <a:gd name="T17" fmla="*/ 108 h 576"/>
                <a:gd name="T18" fmla="*/ 684 w 1836"/>
                <a:gd name="T19" fmla="*/ 24 h 576"/>
                <a:gd name="T20" fmla="*/ 828 w 1836"/>
                <a:gd name="T21" fmla="*/ 0 h 576"/>
                <a:gd name="T22" fmla="*/ 852 w 1836"/>
                <a:gd name="T23" fmla="*/ 216 h 576"/>
                <a:gd name="T24" fmla="*/ 924 w 1836"/>
                <a:gd name="T25" fmla="*/ 264 h 576"/>
                <a:gd name="T26" fmla="*/ 936 w 1836"/>
                <a:gd name="T27" fmla="*/ 300 h 576"/>
                <a:gd name="T28" fmla="*/ 948 w 1836"/>
                <a:gd name="T29" fmla="*/ 432 h 576"/>
                <a:gd name="T30" fmla="*/ 972 w 1836"/>
                <a:gd name="T31" fmla="*/ 468 h 576"/>
                <a:gd name="T32" fmla="*/ 996 w 1836"/>
                <a:gd name="T33" fmla="*/ 540 h 576"/>
                <a:gd name="T34" fmla="*/ 1080 w 1836"/>
                <a:gd name="T35" fmla="*/ 576 h 576"/>
                <a:gd name="T36" fmla="*/ 1140 w 1836"/>
                <a:gd name="T37" fmla="*/ 564 h 576"/>
                <a:gd name="T38" fmla="*/ 1212 w 1836"/>
                <a:gd name="T39" fmla="*/ 480 h 576"/>
                <a:gd name="T40" fmla="*/ 1296 w 1836"/>
                <a:gd name="T41" fmla="*/ 444 h 576"/>
                <a:gd name="T42" fmla="*/ 1320 w 1836"/>
                <a:gd name="T43" fmla="*/ 336 h 576"/>
                <a:gd name="T44" fmla="*/ 1392 w 1836"/>
                <a:gd name="T45" fmla="*/ 288 h 576"/>
                <a:gd name="T46" fmla="*/ 1524 w 1836"/>
                <a:gd name="T47" fmla="*/ 240 h 576"/>
                <a:gd name="T48" fmla="*/ 1596 w 1836"/>
                <a:gd name="T49" fmla="*/ 204 h 576"/>
                <a:gd name="T50" fmla="*/ 1620 w 1836"/>
                <a:gd name="T51" fmla="*/ 168 h 576"/>
                <a:gd name="T52" fmla="*/ 1656 w 1836"/>
                <a:gd name="T53" fmla="*/ 156 h 576"/>
                <a:gd name="T54" fmla="*/ 1680 w 1836"/>
                <a:gd name="T55" fmla="*/ 60 h 576"/>
                <a:gd name="T56" fmla="*/ 1716 w 1836"/>
                <a:gd name="T57" fmla="*/ 48 h 576"/>
                <a:gd name="T58" fmla="*/ 1752 w 1836"/>
                <a:gd name="T59" fmla="*/ 60 h 576"/>
                <a:gd name="T60" fmla="*/ 1800 w 1836"/>
                <a:gd name="T61" fmla="*/ 204 h 576"/>
                <a:gd name="T62" fmla="*/ 1836 w 1836"/>
                <a:gd name="T63" fmla="*/ 2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36" h="576">
                  <a:moveTo>
                    <a:pt x="0" y="480"/>
                  </a:moveTo>
                  <a:cubicBezTo>
                    <a:pt x="36" y="476"/>
                    <a:pt x="73" y="477"/>
                    <a:pt x="108" y="468"/>
                  </a:cubicBezTo>
                  <a:cubicBezTo>
                    <a:pt x="161" y="455"/>
                    <a:pt x="136" y="435"/>
                    <a:pt x="156" y="396"/>
                  </a:cubicBezTo>
                  <a:cubicBezTo>
                    <a:pt x="171" y="365"/>
                    <a:pt x="190" y="335"/>
                    <a:pt x="216" y="312"/>
                  </a:cubicBezTo>
                  <a:cubicBezTo>
                    <a:pt x="238" y="293"/>
                    <a:pt x="264" y="280"/>
                    <a:pt x="288" y="264"/>
                  </a:cubicBezTo>
                  <a:cubicBezTo>
                    <a:pt x="300" y="256"/>
                    <a:pt x="324" y="240"/>
                    <a:pt x="324" y="240"/>
                  </a:cubicBezTo>
                  <a:cubicBezTo>
                    <a:pt x="366" y="115"/>
                    <a:pt x="297" y="285"/>
                    <a:pt x="576" y="192"/>
                  </a:cubicBezTo>
                  <a:cubicBezTo>
                    <a:pt x="599" y="184"/>
                    <a:pt x="574" y="140"/>
                    <a:pt x="588" y="120"/>
                  </a:cubicBezTo>
                  <a:cubicBezTo>
                    <a:pt x="598" y="107"/>
                    <a:pt x="620" y="112"/>
                    <a:pt x="636" y="108"/>
                  </a:cubicBezTo>
                  <a:cubicBezTo>
                    <a:pt x="638" y="105"/>
                    <a:pt x="673" y="28"/>
                    <a:pt x="684" y="24"/>
                  </a:cubicBezTo>
                  <a:cubicBezTo>
                    <a:pt x="729" y="6"/>
                    <a:pt x="781" y="12"/>
                    <a:pt x="828" y="0"/>
                  </a:cubicBezTo>
                  <a:cubicBezTo>
                    <a:pt x="851" y="69"/>
                    <a:pt x="827" y="148"/>
                    <a:pt x="852" y="216"/>
                  </a:cubicBezTo>
                  <a:cubicBezTo>
                    <a:pt x="862" y="243"/>
                    <a:pt x="924" y="264"/>
                    <a:pt x="924" y="264"/>
                  </a:cubicBezTo>
                  <a:cubicBezTo>
                    <a:pt x="928" y="276"/>
                    <a:pt x="934" y="287"/>
                    <a:pt x="936" y="300"/>
                  </a:cubicBezTo>
                  <a:cubicBezTo>
                    <a:pt x="942" y="344"/>
                    <a:pt x="939" y="389"/>
                    <a:pt x="948" y="432"/>
                  </a:cubicBezTo>
                  <a:cubicBezTo>
                    <a:pt x="951" y="446"/>
                    <a:pt x="966" y="455"/>
                    <a:pt x="972" y="468"/>
                  </a:cubicBezTo>
                  <a:cubicBezTo>
                    <a:pt x="982" y="491"/>
                    <a:pt x="973" y="529"/>
                    <a:pt x="996" y="540"/>
                  </a:cubicBezTo>
                  <a:cubicBezTo>
                    <a:pt x="1055" y="570"/>
                    <a:pt x="1027" y="558"/>
                    <a:pt x="1080" y="576"/>
                  </a:cubicBezTo>
                  <a:cubicBezTo>
                    <a:pt x="1100" y="572"/>
                    <a:pt x="1122" y="574"/>
                    <a:pt x="1140" y="564"/>
                  </a:cubicBezTo>
                  <a:cubicBezTo>
                    <a:pt x="1205" y="528"/>
                    <a:pt x="1171" y="521"/>
                    <a:pt x="1212" y="480"/>
                  </a:cubicBezTo>
                  <a:cubicBezTo>
                    <a:pt x="1240" y="452"/>
                    <a:pt x="1259" y="453"/>
                    <a:pt x="1296" y="444"/>
                  </a:cubicBezTo>
                  <a:cubicBezTo>
                    <a:pt x="1308" y="409"/>
                    <a:pt x="1305" y="370"/>
                    <a:pt x="1320" y="336"/>
                  </a:cubicBezTo>
                  <a:cubicBezTo>
                    <a:pt x="1338" y="296"/>
                    <a:pt x="1360" y="302"/>
                    <a:pt x="1392" y="288"/>
                  </a:cubicBezTo>
                  <a:cubicBezTo>
                    <a:pt x="1434" y="270"/>
                    <a:pt x="1483" y="260"/>
                    <a:pt x="1524" y="240"/>
                  </a:cubicBezTo>
                  <a:cubicBezTo>
                    <a:pt x="1617" y="193"/>
                    <a:pt x="1506" y="234"/>
                    <a:pt x="1596" y="204"/>
                  </a:cubicBezTo>
                  <a:cubicBezTo>
                    <a:pt x="1604" y="192"/>
                    <a:pt x="1609" y="177"/>
                    <a:pt x="1620" y="168"/>
                  </a:cubicBezTo>
                  <a:cubicBezTo>
                    <a:pt x="1630" y="160"/>
                    <a:pt x="1647" y="165"/>
                    <a:pt x="1656" y="156"/>
                  </a:cubicBezTo>
                  <a:cubicBezTo>
                    <a:pt x="1679" y="133"/>
                    <a:pt x="1662" y="87"/>
                    <a:pt x="1680" y="60"/>
                  </a:cubicBezTo>
                  <a:cubicBezTo>
                    <a:pt x="1687" y="49"/>
                    <a:pt x="1704" y="52"/>
                    <a:pt x="1716" y="48"/>
                  </a:cubicBezTo>
                  <a:cubicBezTo>
                    <a:pt x="1728" y="52"/>
                    <a:pt x="1748" y="48"/>
                    <a:pt x="1752" y="60"/>
                  </a:cubicBezTo>
                  <a:cubicBezTo>
                    <a:pt x="1805" y="218"/>
                    <a:pt x="1711" y="174"/>
                    <a:pt x="1800" y="204"/>
                  </a:cubicBezTo>
                  <a:cubicBezTo>
                    <a:pt x="1815" y="263"/>
                    <a:pt x="1800" y="240"/>
                    <a:pt x="1836" y="276"/>
                  </a:cubicBezTo>
                </a:path>
              </a:pathLst>
            </a:custGeom>
            <a:noFill/>
            <a:ln w="38100" cap="flat" cmpd="sng">
              <a:solidFill>
                <a:srgbClr val="FCC7AC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5" name="Text Box 10"/>
            <p:cNvSpPr txBox="1"/>
            <p:nvPr/>
          </p:nvSpPr>
          <p:spPr>
            <a:xfrm>
              <a:off x="5189" y="2995"/>
              <a:ext cx="204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6" name="Text Box 11"/>
            <p:cNvSpPr txBox="1"/>
            <p:nvPr/>
          </p:nvSpPr>
          <p:spPr>
            <a:xfrm>
              <a:off x="2547" y="1195"/>
              <a:ext cx="436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4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44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Text Box 12"/>
            <p:cNvSpPr txBox="1"/>
            <p:nvPr/>
          </p:nvSpPr>
          <p:spPr>
            <a:xfrm>
              <a:off x="2739" y="3033"/>
              <a:ext cx="231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8" name="Rectangle 13"/>
            <p:cNvSpPr/>
            <p:nvPr/>
          </p:nvSpPr>
          <p:spPr>
            <a:xfrm>
              <a:off x="2720" y="1350"/>
              <a:ext cx="249" cy="36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422" name="Text Box 14"/>
          <p:cNvSpPr txBox="1"/>
          <p:nvPr/>
        </p:nvSpPr>
        <p:spPr>
          <a:xfrm>
            <a:off x="323850" y="3927475"/>
            <a:ext cx="8604250" cy="1800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sz="2800" b="1" dirty="0">
                <a:solidFill>
                  <a:srgbClr val="FFCCCC"/>
                </a:solidFill>
                <a:latin typeface="Times New Roman" panose="02020603050405020304" pitchFamily="18" charset="0"/>
                <a:ea typeface="幼圆" pitchFamily="49" charset="-122"/>
              </a:rPr>
              <a:t>        </a:t>
            </a:r>
            <a:r>
              <a:rPr lang="zh-CN" altLang="en-US" sz="2800" b="1" dirty="0">
                <a:solidFill>
                  <a:srgbClr val="FFCCCC"/>
                </a:solidFill>
                <a:latin typeface="Times New Roman" panose="02020603050405020304" pitchFamily="18" charset="0"/>
                <a:ea typeface="幼圆" pitchFamily="49" charset="-122"/>
              </a:rPr>
              <a:t>出现零点漂移的原因：</a:t>
            </a:r>
            <a:endParaRPr lang="zh-CN" altLang="en-US" sz="2800" b="1" dirty="0">
              <a:solidFill>
                <a:srgbClr val="FFCCCC"/>
              </a:solidFill>
              <a:latin typeface="Times New Roman" panose="02020603050405020304" pitchFamily="18" charset="0"/>
              <a:ea typeface="幼圆" pitchFamily="49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itchFamily="49" charset="-122"/>
              </a:rPr>
              <a:t>        多级直接耦合放大器的放大倍数很高。输入级由于管子特性、参数随温度变化等因素引起输出电压很大的变化，从而导致整个放大器无法正常工作。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幼圆" pitchFamily="49" charset="-122"/>
            </a:endParaRPr>
          </a:p>
        </p:txBody>
      </p:sp>
      <p:sp>
        <p:nvSpPr>
          <p:cNvPr id="273423" name="Line 15"/>
          <p:cNvSpPr>
            <a:spLocks noChangeShapeType="1"/>
          </p:cNvSpPr>
          <p:nvPr/>
        </p:nvSpPr>
        <p:spPr bwMode="auto">
          <a:xfrm>
            <a:off x="2700338" y="3357563"/>
            <a:ext cx="1368425" cy="0"/>
          </a:xfrm>
          <a:prstGeom prst="line">
            <a:avLst/>
          </a:prstGeom>
          <a:noFill/>
          <a:ln w="9525">
            <a:solidFill>
              <a:srgbClr val="FF99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591" name="Group 18"/>
          <p:cNvGrpSpPr/>
          <p:nvPr/>
        </p:nvGrpSpPr>
        <p:grpSpPr>
          <a:xfrm>
            <a:off x="1042988" y="557213"/>
            <a:ext cx="5338762" cy="612775"/>
            <a:chOff x="431" y="351"/>
            <a:chExt cx="3363" cy="386"/>
          </a:xfrm>
        </p:grpSpPr>
        <p:sp>
          <p:nvSpPr>
            <p:cNvPr id="24592" name="Text Box 19"/>
            <p:cNvSpPr txBox="1"/>
            <p:nvPr/>
          </p:nvSpPr>
          <p:spPr>
            <a:xfrm>
              <a:off x="607" y="351"/>
              <a:ext cx="3187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FFFF66"/>
                  </a:solidFill>
                  <a:latin typeface="Times New Roman" panose="02020603050405020304" pitchFamily="18" charset="0"/>
                  <a:ea typeface="隶书" pitchFamily="49" charset="-122"/>
                </a:rPr>
                <a:t>直接耦合放大器的零点漂移</a:t>
              </a:r>
              <a:endParaRPr lang="zh-CN" altLang="en-US" sz="3200" dirty="0">
                <a:solidFill>
                  <a:srgbClr val="FFFF66"/>
                </a:solidFill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graphicFrame>
          <p:nvGraphicFramePr>
            <p:cNvPr id="24593" name="Object 20"/>
            <p:cNvGraphicFramePr>
              <a:graphicFrameLocks noChangeAspect="1"/>
            </p:cNvGraphicFramePr>
            <p:nvPr/>
          </p:nvGraphicFramePr>
          <p:xfrm>
            <a:off x="431" y="482"/>
            <a:ext cx="176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9525" imgH="9525" progId="CorelDraw.Graphic.8">
                    <p:embed/>
                  </p:oleObj>
                </mc:Choice>
                <mc:Fallback>
                  <p:oleObj name="" r:id="rId1" imgW="9525" imgH="9525" progId="CorelDraw.Graphic.8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1" y="482"/>
                          <a:ext cx="176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/>
      <p:bldP spid="273412" grpId="0" bldLvl="0" animBg="1"/>
      <p:bldP spid="2734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Text Box 3"/>
          <p:cNvSpPr txBox="1"/>
          <p:nvPr/>
        </p:nvSpPr>
        <p:spPr>
          <a:xfrm>
            <a:off x="381000" y="331788"/>
            <a:ext cx="3470275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charset="-122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charset="-122"/>
              </a:rPr>
              <a:t>差分放大电路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4436" name="Text Box 4"/>
          <p:cNvSpPr txBox="1"/>
          <p:nvPr/>
        </p:nvSpPr>
        <p:spPr>
          <a:xfrm>
            <a:off x="609600" y="1219200"/>
            <a:ext cx="2209800" cy="5175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）结构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4437" name="Text Box 5"/>
          <p:cNvSpPr txBox="1"/>
          <p:nvPr/>
        </p:nvSpPr>
        <p:spPr>
          <a:xfrm>
            <a:off x="2667000" y="1219200"/>
            <a:ext cx="2473325" cy="57943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对称性结构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4438" name="Text Box 6"/>
          <p:cNvSpPr txBox="1"/>
          <p:nvPr/>
        </p:nvSpPr>
        <p:spPr>
          <a:xfrm>
            <a:off x="685800" y="2362200"/>
            <a:ext cx="3429000" cy="308451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 eaLnBrk="0" hangingPunct="0">
              <a:lnSpc>
                <a:spcPct val="14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即：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lang="en-US" altLang="zh-CN" sz="2800" b="1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U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=U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U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   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5605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13" y="1989138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  <p:sndAc>
      <p:stSnd>
        <p:snd r:embed="rId2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3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43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 build="p"/>
      <p:bldP spid="274437" grpId="0" build="p"/>
      <p:bldP spid="2744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8" name="Rectangle 2"/>
          <p:cNvSpPr/>
          <p:nvPr>
            <p:ph idx="1"/>
          </p:nvPr>
        </p:nvSpPr>
        <p:spPr>
          <a:xfrm>
            <a:off x="304800" y="914400"/>
            <a:ext cx="3962400" cy="2581275"/>
          </a:xfrm>
          <a:noFill/>
          <a:ln>
            <a:noFill/>
          </a:ln>
        </p:spPr>
        <p:txBody>
          <a:bodyPr anchor="t"/>
          <a:p>
            <a:pPr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a. </a:t>
            </a:r>
            <a:r>
              <a:rPr lang="zh-CN" altLang="en-US" sz="2400" b="1" dirty="0">
                <a:latin typeface="宋体" panose="02010600030101010101" pitchFamily="2" charset="-122"/>
              </a:rPr>
              <a:t>差分放大电路一般有两个输入端：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双端输入</a:t>
            </a:r>
            <a:r>
              <a:rPr lang="en-US" altLang="zh-CN" sz="2400" b="1" dirty="0"/>
              <a:t>——</a:t>
            </a:r>
            <a:r>
              <a:rPr lang="zh-CN" altLang="en-US" sz="2400" b="1" dirty="0">
                <a:latin typeface="宋体" panose="02010600030101010101" pitchFamily="2" charset="-122"/>
              </a:rPr>
              <a:t>从两输入端同时加信号。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单端输入</a:t>
            </a:r>
            <a:r>
              <a:rPr lang="en-US" altLang="zh-CN" sz="2400" b="1" dirty="0"/>
              <a:t>——</a:t>
            </a:r>
            <a:r>
              <a:rPr lang="zh-CN" altLang="en-US" sz="2400" b="1" dirty="0">
                <a:latin typeface="宋体" panose="02010600030101010101" pitchFamily="2" charset="-122"/>
              </a:rPr>
              <a:t>仅从一个输入端</a:t>
            </a:r>
            <a:r>
              <a:rPr lang="zh-CN" altLang="zh-CN" sz="2400" b="1" dirty="0">
                <a:latin typeface="宋体" panose="02010600030101010101" pitchFamily="2" charset="-122"/>
              </a:rPr>
              <a:t>对地</a:t>
            </a:r>
            <a:r>
              <a:rPr lang="zh-CN" altLang="en-US" sz="2400" b="1" dirty="0">
                <a:latin typeface="宋体" panose="02010600030101010101" pitchFamily="2" charset="-122"/>
              </a:rPr>
              <a:t>加信号。</a:t>
            </a: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  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5459" name="Text Box 3"/>
          <p:cNvSpPr txBox="1"/>
          <p:nvPr/>
        </p:nvSpPr>
        <p:spPr>
          <a:xfrm>
            <a:off x="304800" y="3581400"/>
            <a:ext cx="4648200" cy="23590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差分放大电路可以有两个输出端，一个是集电极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，另一个是集电极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双端输出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输出。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单端输出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14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对地输出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 Box 4"/>
          <p:cNvSpPr txBox="1"/>
          <p:nvPr/>
        </p:nvSpPr>
        <p:spPr>
          <a:xfrm>
            <a:off x="187325" y="228600"/>
            <a:ext cx="4241800" cy="5175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charset="-122"/>
              </a:rPr>
              <a:t>） 几个基本概念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2662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263" y="1641475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545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5458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5458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8" grpId="0" build="p"/>
      <p:bldP spid="2754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Text Box 2"/>
          <p:cNvSpPr txBox="1"/>
          <p:nvPr/>
        </p:nvSpPr>
        <p:spPr>
          <a:xfrm>
            <a:off x="1295400" y="228600"/>
            <a:ext cx="6324600" cy="641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endParaRPr lang="zh-CN" altLang="zh-CN" sz="36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50" name="Text Box 3"/>
          <p:cNvSpPr txBox="1"/>
          <p:nvPr/>
        </p:nvSpPr>
        <p:spPr>
          <a:xfrm>
            <a:off x="152400" y="152400"/>
            <a:ext cx="6248400" cy="5175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c.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差模信号、共模信号与输入信号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76484" name="Text Box 4"/>
          <p:cNvSpPr txBox="1"/>
          <p:nvPr/>
        </p:nvSpPr>
        <p:spPr>
          <a:xfrm>
            <a:off x="304800" y="685800"/>
            <a:ext cx="1814513" cy="603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差模信号：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485" name="Text Box 5"/>
          <p:cNvSpPr txBox="1"/>
          <p:nvPr/>
        </p:nvSpPr>
        <p:spPr>
          <a:xfrm>
            <a:off x="228600" y="1371600"/>
            <a:ext cx="1882775" cy="603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共模信号：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72" name="Group 92"/>
          <p:cNvGrpSpPr/>
          <p:nvPr/>
        </p:nvGrpSpPr>
        <p:grpSpPr>
          <a:xfrm>
            <a:off x="2903538" y="2540000"/>
            <a:ext cx="1279525" cy="920750"/>
            <a:chOff x="1829" y="1600"/>
            <a:chExt cx="806" cy="580"/>
          </a:xfrm>
        </p:grpSpPr>
        <p:sp>
          <p:nvSpPr>
            <p:cNvPr id="276486" name="Line 6"/>
            <p:cNvSpPr>
              <a:spLocks noChangeShapeType="1"/>
            </p:cNvSpPr>
            <p:nvPr/>
          </p:nvSpPr>
          <p:spPr bwMode="auto">
            <a:xfrm>
              <a:off x="2351" y="1873"/>
              <a:ext cx="284" cy="1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5" name="Rectangle 7"/>
            <p:cNvSpPr/>
            <p:nvPr/>
          </p:nvSpPr>
          <p:spPr>
            <a:xfrm>
              <a:off x="2507" y="2036"/>
              <a:ext cx="10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Rectangle 8"/>
            <p:cNvSpPr/>
            <p:nvPr/>
          </p:nvSpPr>
          <p:spPr>
            <a:xfrm>
              <a:off x="2497" y="1733"/>
              <a:ext cx="12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Rectangle 9"/>
            <p:cNvSpPr/>
            <p:nvPr/>
          </p:nvSpPr>
          <p:spPr>
            <a:xfrm>
              <a:off x="1943" y="1870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Rectangle 10"/>
            <p:cNvSpPr/>
            <p:nvPr/>
          </p:nvSpPr>
          <p:spPr>
            <a:xfrm>
              <a:off x="2218" y="1738"/>
              <a:ext cx="1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9" name="Rectangle 11"/>
            <p:cNvSpPr/>
            <p:nvPr/>
          </p:nvSpPr>
          <p:spPr>
            <a:xfrm>
              <a:off x="2416" y="1904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Rectangle 12"/>
            <p:cNvSpPr/>
            <p:nvPr/>
          </p:nvSpPr>
          <p:spPr>
            <a:xfrm>
              <a:off x="2402" y="1600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Rectangle 13"/>
            <p:cNvSpPr/>
            <p:nvPr/>
          </p:nvSpPr>
          <p:spPr>
            <a:xfrm>
              <a:off x="1829" y="1738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494" name="Text Box 14"/>
          <p:cNvSpPr txBox="1"/>
          <p:nvPr/>
        </p:nvSpPr>
        <p:spPr>
          <a:xfrm>
            <a:off x="304800" y="2667000"/>
            <a:ext cx="2209800" cy="603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差模电压增益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73" name="Group 93"/>
          <p:cNvGrpSpPr/>
          <p:nvPr/>
        </p:nvGrpSpPr>
        <p:grpSpPr>
          <a:xfrm>
            <a:off x="2827338" y="3454400"/>
            <a:ext cx="1250950" cy="920750"/>
            <a:chOff x="1781" y="2176"/>
            <a:chExt cx="788" cy="580"/>
          </a:xfrm>
        </p:grpSpPr>
        <p:sp>
          <p:nvSpPr>
            <p:cNvPr id="276495" name="Line 15"/>
            <p:cNvSpPr>
              <a:spLocks noChangeShapeType="1"/>
            </p:cNvSpPr>
            <p:nvPr/>
          </p:nvSpPr>
          <p:spPr bwMode="auto">
            <a:xfrm>
              <a:off x="2296" y="2449"/>
              <a:ext cx="273" cy="1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5" name="Rectangle 16"/>
            <p:cNvSpPr/>
            <p:nvPr/>
          </p:nvSpPr>
          <p:spPr>
            <a:xfrm>
              <a:off x="2455" y="2612"/>
              <a:ext cx="86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6" name="Rectangle 17"/>
            <p:cNvSpPr/>
            <p:nvPr/>
          </p:nvSpPr>
          <p:spPr>
            <a:xfrm>
              <a:off x="2444" y="2309"/>
              <a:ext cx="11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7" name="Rectangle 18"/>
            <p:cNvSpPr/>
            <p:nvPr/>
          </p:nvSpPr>
          <p:spPr>
            <a:xfrm>
              <a:off x="1892" y="2446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8" name="Rectangle 19"/>
            <p:cNvSpPr/>
            <p:nvPr/>
          </p:nvSpPr>
          <p:spPr>
            <a:xfrm>
              <a:off x="2162" y="2314"/>
              <a:ext cx="1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9" name="Rectangle 20"/>
            <p:cNvSpPr/>
            <p:nvPr/>
          </p:nvSpPr>
          <p:spPr>
            <a:xfrm>
              <a:off x="2361" y="2480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Rectangle 21"/>
            <p:cNvSpPr/>
            <p:nvPr/>
          </p:nvSpPr>
          <p:spPr>
            <a:xfrm>
              <a:off x="2346" y="2176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Rectangle 22"/>
            <p:cNvSpPr/>
            <p:nvPr/>
          </p:nvSpPr>
          <p:spPr>
            <a:xfrm>
              <a:off x="1781" y="2314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503" name="Text Box 23"/>
          <p:cNvSpPr txBox="1"/>
          <p:nvPr/>
        </p:nvSpPr>
        <p:spPr>
          <a:xfrm>
            <a:off x="228600" y="3505200"/>
            <a:ext cx="2209800" cy="603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共模电压增益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04" name="Text Box 24"/>
          <p:cNvSpPr txBox="1"/>
          <p:nvPr/>
        </p:nvSpPr>
        <p:spPr>
          <a:xfrm>
            <a:off x="228600" y="4267200"/>
            <a:ext cx="2057400" cy="603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总输出电压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6574" name="Group 94"/>
          <p:cNvGrpSpPr/>
          <p:nvPr/>
        </p:nvGrpSpPr>
        <p:grpSpPr>
          <a:xfrm>
            <a:off x="801688" y="4967288"/>
            <a:ext cx="4189412" cy="476250"/>
            <a:chOff x="505" y="3129"/>
            <a:chExt cx="2639" cy="300"/>
          </a:xfrm>
        </p:grpSpPr>
        <p:sp>
          <p:nvSpPr>
            <p:cNvPr id="27675" name="Rectangle 25"/>
            <p:cNvSpPr/>
            <p:nvPr/>
          </p:nvSpPr>
          <p:spPr>
            <a:xfrm>
              <a:off x="3058" y="3285"/>
              <a:ext cx="86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6" name="Rectangle 26"/>
            <p:cNvSpPr/>
            <p:nvPr/>
          </p:nvSpPr>
          <p:spPr>
            <a:xfrm>
              <a:off x="2771" y="3285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7" name="Rectangle 27"/>
            <p:cNvSpPr/>
            <p:nvPr/>
          </p:nvSpPr>
          <p:spPr>
            <a:xfrm>
              <a:off x="2287" y="3285"/>
              <a:ext cx="10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8" name="Rectangle 28"/>
            <p:cNvSpPr/>
            <p:nvPr/>
          </p:nvSpPr>
          <p:spPr>
            <a:xfrm>
              <a:off x="1998" y="3285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Rectangle 29"/>
            <p:cNvSpPr/>
            <p:nvPr/>
          </p:nvSpPr>
          <p:spPr>
            <a:xfrm>
              <a:off x="1483" y="3285"/>
              <a:ext cx="11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Rectangle 30"/>
            <p:cNvSpPr/>
            <p:nvPr/>
          </p:nvSpPr>
          <p:spPr>
            <a:xfrm>
              <a:off x="1014" y="3285"/>
              <a:ext cx="12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Rectangle 31"/>
            <p:cNvSpPr/>
            <p:nvPr/>
          </p:nvSpPr>
          <p:spPr>
            <a:xfrm>
              <a:off x="595" y="3285"/>
              <a:ext cx="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Rectangle 32"/>
            <p:cNvSpPr/>
            <p:nvPr/>
          </p:nvSpPr>
          <p:spPr>
            <a:xfrm>
              <a:off x="762" y="3153"/>
              <a:ext cx="1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Rectangle 33"/>
            <p:cNvSpPr/>
            <p:nvPr/>
          </p:nvSpPr>
          <p:spPr>
            <a:xfrm>
              <a:off x="2969" y="3153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4" name="Rectangle 34"/>
            <p:cNvSpPr/>
            <p:nvPr/>
          </p:nvSpPr>
          <p:spPr>
            <a:xfrm>
              <a:off x="2667" y="3153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5" name="Rectangle 35"/>
            <p:cNvSpPr/>
            <p:nvPr/>
          </p:nvSpPr>
          <p:spPr>
            <a:xfrm>
              <a:off x="2201" y="3153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6" name="Rectangle 36"/>
            <p:cNvSpPr/>
            <p:nvPr/>
          </p:nvSpPr>
          <p:spPr>
            <a:xfrm>
              <a:off x="1891" y="3153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7" name="Rectangle 37"/>
            <p:cNvSpPr/>
            <p:nvPr/>
          </p:nvSpPr>
          <p:spPr>
            <a:xfrm>
              <a:off x="1392" y="3153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8" name="Rectangle 38"/>
            <p:cNvSpPr/>
            <p:nvPr/>
          </p:nvSpPr>
          <p:spPr>
            <a:xfrm>
              <a:off x="925" y="3153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9" name="Rectangle 39"/>
            <p:cNvSpPr/>
            <p:nvPr/>
          </p:nvSpPr>
          <p:spPr>
            <a:xfrm>
              <a:off x="505" y="3153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Rectangle 40"/>
            <p:cNvSpPr/>
            <p:nvPr/>
          </p:nvSpPr>
          <p:spPr>
            <a:xfrm>
              <a:off x="2509" y="3129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691" name="Rectangle 41"/>
            <p:cNvSpPr/>
            <p:nvPr/>
          </p:nvSpPr>
          <p:spPr>
            <a:xfrm>
              <a:off x="1728" y="3129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692" name="Rectangle 42"/>
            <p:cNvSpPr/>
            <p:nvPr/>
          </p:nvSpPr>
          <p:spPr>
            <a:xfrm>
              <a:off x="1263" y="3129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grpSp>
        <p:nvGrpSpPr>
          <p:cNvPr id="276523" name="Group 43"/>
          <p:cNvGrpSpPr/>
          <p:nvPr/>
        </p:nvGrpSpPr>
        <p:grpSpPr>
          <a:xfrm>
            <a:off x="2743200" y="5637213"/>
            <a:ext cx="1839913" cy="992187"/>
            <a:chOff x="2836" y="3466"/>
            <a:chExt cx="1159" cy="625"/>
          </a:xfrm>
        </p:grpSpPr>
        <p:sp>
          <p:nvSpPr>
            <p:cNvPr id="276524" name="Line 44"/>
            <p:cNvSpPr>
              <a:spLocks noChangeShapeType="1"/>
            </p:cNvSpPr>
            <p:nvPr/>
          </p:nvSpPr>
          <p:spPr bwMode="auto">
            <a:xfrm>
              <a:off x="3570" y="3773"/>
              <a:ext cx="401" cy="1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25" name="Line 45"/>
            <p:cNvSpPr>
              <a:spLocks noChangeShapeType="1"/>
            </p:cNvSpPr>
            <p:nvPr/>
          </p:nvSpPr>
          <p:spPr bwMode="auto">
            <a:xfrm>
              <a:off x="3541" y="3466"/>
              <a:ext cx="1" cy="614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26" name="Line 46"/>
            <p:cNvSpPr>
              <a:spLocks noChangeShapeType="1"/>
            </p:cNvSpPr>
            <p:nvPr/>
          </p:nvSpPr>
          <p:spPr bwMode="auto">
            <a:xfrm>
              <a:off x="3994" y="3466"/>
              <a:ext cx="1" cy="614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97" name="Rectangle 47"/>
            <p:cNvSpPr/>
            <p:nvPr/>
          </p:nvSpPr>
          <p:spPr>
            <a:xfrm>
              <a:off x="3788" y="3947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8" name="Rectangle 48"/>
            <p:cNvSpPr/>
            <p:nvPr/>
          </p:nvSpPr>
          <p:spPr>
            <a:xfrm>
              <a:off x="3788" y="3630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9" name="Rectangle 49"/>
            <p:cNvSpPr/>
            <p:nvPr/>
          </p:nvSpPr>
          <p:spPr>
            <a:xfrm>
              <a:off x="3004" y="3776"/>
              <a:ext cx="28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CMR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0" name="Rectangle 50"/>
            <p:cNvSpPr/>
            <p:nvPr/>
          </p:nvSpPr>
          <p:spPr>
            <a:xfrm>
              <a:off x="3398" y="3634"/>
              <a:ext cx="12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1" name="Rectangle 51"/>
            <p:cNvSpPr/>
            <p:nvPr/>
          </p:nvSpPr>
          <p:spPr>
            <a:xfrm>
              <a:off x="3657" y="3804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2" name="Rectangle 52"/>
            <p:cNvSpPr/>
            <p:nvPr/>
          </p:nvSpPr>
          <p:spPr>
            <a:xfrm>
              <a:off x="3657" y="3487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3" name="Rectangle 53"/>
            <p:cNvSpPr/>
            <p:nvPr/>
          </p:nvSpPr>
          <p:spPr>
            <a:xfrm>
              <a:off x="2836" y="3634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534" name="Text Box 54"/>
          <p:cNvSpPr txBox="1"/>
          <p:nvPr/>
        </p:nvSpPr>
        <p:spPr>
          <a:xfrm>
            <a:off x="152400" y="5486400"/>
            <a:ext cx="2971800" cy="68897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lnSpc>
                <a:spcPct val="14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共模抑制比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6" name="AutoShape 56"/>
          <p:cNvSpPr>
            <a:spLocks noChangeAspect="1" noChangeArrowheads="1" noTextEdit="1"/>
          </p:cNvSpPr>
          <p:nvPr/>
        </p:nvSpPr>
        <p:spPr bwMode="auto">
          <a:xfrm>
            <a:off x="1752600" y="685800"/>
            <a:ext cx="2303463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6537" name="Group 57"/>
          <p:cNvGrpSpPr/>
          <p:nvPr/>
        </p:nvGrpSpPr>
        <p:grpSpPr>
          <a:xfrm>
            <a:off x="3505200" y="762000"/>
            <a:ext cx="1806575" cy="452438"/>
            <a:chOff x="2355" y="663"/>
            <a:chExt cx="1138" cy="285"/>
          </a:xfrm>
        </p:grpSpPr>
        <p:sp>
          <p:nvSpPr>
            <p:cNvPr id="27707" name="Rectangle 58"/>
            <p:cNvSpPr/>
            <p:nvPr/>
          </p:nvSpPr>
          <p:spPr>
            <a:xfrm>
              <a:off x="3400" y="804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8" name="Rectangle 59"/>
            <p:cNvSpPr/>
            <p:nvPr/>
          </p:nvSpPr>
          <p:spPr>
            <a:xfrm>
              <a:off x="2948" y="804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9" name="Rectangle 60"/>
            <p:cNvSpPr/>
            <p:nvPr/>
          </p:nvSpPr>
          <p:spPr>
            <a:xfrm>
              <a:off x="2467" y="804"/>
              <a:ext cx="10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id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0" name="Rectangle 61"/>
            <p:cNvSpPr/>
            <p:nvPr/>
          </p:nvSpPr>
          <p:spPr>
            <a:xfrm>
              <a:off x="2654" y="663"/>
              <a:ext cx="12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1" name="Rectangle 62"/>
            <p:cNvSpPr/>
            <p:nvPr/>
          </p:nvSpPr>
          <p:spPr>
            <a:xfrm>
              <a:off x="3288" y="663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2" name="Rectangle 63"/>
            <p:cNvSpPr/>
            <p:nvPr/>
          </p:nvSpPr>
          <p:spPr>
            <a:xfrm>
              <a:off x="2836" y="663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3" name="Rectangle 64"/>
            <p:cNvSpPr/>
            <p:nvPr/>
          </p:nvSpPr>
          <p:spPr>
            <a:xfrm>
              <a:off x="2355" y="663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4" name="Rectangle 65"/>
            <p:cNvSpPr/>
            <p:nvPr/>
          </p:nvSpPr>
          <p:spPr>
            <a:xfrm>
              <a:off x="3107" y="663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grpSp>
        <p:nvGrpSpPr>
          <p:cNvPr id="276546" name="Group 66"/>
          <p:cNvGrpSpPr/>
          <p:nvPr/>
        </p:nvGrpSpPr>
        <p:grpSpPr>
          <a:xfrm>
            <a:off x="1905000" y="762000"/>
            <a:ext cx="1187450" cy="452438"/>
            <a:chOff x="1156" y="709"/>
            <a:chExt cx="748" cy="285"/>
          </a:xfrm>
        </p:grpSpPr>
        <p:sp>
          <p:nvSpPr>
            <p:cNvPr id="27716" name="Rectangle 67"/>
            <p:cNvSpPr/>
            <p:nvPr/>
          </p:nvSpPr>
          <p:spPr>
            <a:xfrm>
              <a:off x="1811" y="845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7" name="Rectangle 68"/>
            <p:cNvSpPr/>
            <p:nvPr/>
          </p:nvSpPr>
          <p:spPr>
            <a:xfrm>
              <a:off x="1268" y="850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8" name="Rectangle 69"/>
            <p:cNvSpPr/>
            <p:nvPr/>
          </p:nvSpPr>
          <p:spPr>
            <a:xfrm>
              <a:off x="1708" y="709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9" name="Rectangle 70"/>
            <p:cNvSpPr/>
            <p:nvPr/>
          </p:nvSpPr>
          <p:spPr>
            <a:xfrm>
              <a:off x="1156" y="709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0" name="Rectangle 71"/>
            <p:cNvSpPr/>
            <p:nvPr/>
          </p:nvSpPr>
          <p:spPr>
            <a:xfrm>
              <a:off x="1397" y="709"/>
              <a:ext cx="24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=-</a:t>
              </a:r>
              <a:endPara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grpSp>
        <p:nvGrpSpPr>
          <p:cNvPr id="276570" name="Group 90"/>
          <p:cNvGrpSpPr/>
          <p:nvPr/>
        </p:nvGrpSpPr>
        <p:grpSpPr>
          <a:xfrm>
            <a:off x="1827213" y="1447800"/>
            <a:ext cx="1187450" cy="452438"/>
            <a:chOff x="1151" y="912"/>
            <a:chExt cx="748" cy="285"/>
          </a:xfrm>
        </p:grpSpPr>
        <p:sp>
          <p:nvSpPr>
            <p:cNvPr id="27722" name="Rectangle 72"/>
            <p:cNvSpPr/>
            <p:nvPr/>
          </p:nvSpPr>
          <p:spPr>
            <a:xfrm>
              <a:off x="1806" y="1048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3" name="Rectangle 73"/>
            <p:cNvSpPr/>
            <p:nvPr/>
          </p:nvSpPr>
          <p:spPr>
            <a:xfrm>
              <a:off x="1263" y="1053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4" name="Rectangle 74"/>
            <p:cNvSpPr/>
            <p:nvPr/>
          </p:nvSpPr>
          <p:spPr>
            <a:xfrm>
              <a:off x="1703" y="912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5" name="Rectangle 75"/>
            <p:cNvSpPr/>
            <p:nvPr/>
          </p:nvSpPr>
          <p:spPr>
            <a:xfrm>
              <a:off x="1151" y="912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6" name="Rectangle 76"/>
            <p:cNvSpPr/>
            <p:nvPr/>
          </p:nvSpPr>
          <p:spPr>
            <a:xfrm>
              <a:off x="1392" y="912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r>
                <a:rPr lang="en-US" altLang="zh-CN" sz="28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grpSp>
        <p:nvGrpSpPr>
          <p:cNvPr id="276571" name="Group 91"/>
          <p:cNvGrpSpPr/>
          <p:nvPr/>
        </p:nvGrpSpPr>
        <p:grpSpPr>
          <a:xfrm>
            <a:off x="763588" y="1905000"/>
            <a:ext cx="2409825" cy="884238"/>
            <a:chOff x="481" y="1200"/>
            <a:chExt cx="1518" cy="557"/>
          </a:xfrm>
        </p:grpSpPr>
        <p:sp>
          <p:nvSpPr>
            <p:cNvPr id="276557" name="Line 77"/>
            <p:cNvSpPr>
              <a:spLocks noChangeShapeType="1"/>
            </p:cNvSpPr>
            <p:nvPr/>
          </p:nvSpPr>
          <p:spPr bwMode="auto">
            <a:xfrm>
              <a:off x="917" y="1483"/>
              <a:ext cx="144" cy="1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29" name="Rectangle 78"/>
            <p:cNvSpPr/>
            <p:nvPr/>
          </p:nvSpPr>
          <p:spPr>
            <a:xfrm>
              <a:off x="1924" y="1344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0" name="Rectangle 79"/>
            <p:cNvSpPr/>
            <p:nvPr/>
          </p:nvSpPr>
          <p:spPr>
            <a:xfrm>
              <a:off x="1141" y="1344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1" name="Rectangle 80"/>
            <p:cNvSpPr/>
            <p:nvPr/>
          </p:nvSpPr>
          <p:spPr>
            <a:xfrm>
              <a:off x="960" y="1488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2" name="Rectangle 81"/>
            <p:cNvSpPr/>
            <p:nvPr/>
          </p:nvSpPr>
          <p:spPr>
            <a:xfrm>
              <a:off x="983" y="1200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3" name="Rectangle 82"/>
            <p:cNvSpPr/>
            <p:nvPr/>
          </p:nvSpPr>
          <p:spPr>
            <a:xfrm>
              <a:off x="779" y="1344"/>
              <a:ext cx="12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4" name="Rectangle 83"/>
            <p:cNvSpPr/>
            <p:nvPr/>
          </p:nvSpPr>
          <p:spPr>
            <a:xfrm>
              <a:off x="1775" y="1487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5" name="Rectangle 84"/>
            <p:cNvSpPr/>
            <p:nvPr/>
          </p:nvSpPr>
          <p:spPr>
            <a:xfrm>
              <a:off x="1320" y="1487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6" name="Rectangle 85"/>
            <p:cNvSpPr/>
            <p:nvPr/>
          </p:nvSpPr>
          <p:spPr>
            <a:xfrm>
              <a:off x="590" y="1487"/>
              <a:ext cx="86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7" name="Rectangle 86"/>
            <p:cNvSpPr/>
            <p:nvPr/>
          </p:nvSpPr>
          <p:spPr>
            <a:xfrm>
              <a:off x="1666" y="1344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8" name="Rectangle 87"/>
            <p:cNvSpPr/>
            <p:nvPr/>
          </p:nvSpPr>
          <p:spPr>
            <a:xfrm>
              <a:off x="1210" y="1344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9" name="Rectangle 88"/>
            <p:cNvSpPr/>
            <p:nvPr/>
          </p:nvSpPr>
          <p:spPr>
            <a:xfrm>
              <a:off x="481" y="1344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40" name="Rectangle 89"/>
            <p:cNvSpPr/>
            <p:nvPr/>
          </p:nvSpPr>
          <p:spPr>
            <a:xfrm>
              <a:off x="1523" y="1319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pic>
        <p:nvPicPr>
          <p:cNvPr id="27741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0" y="1670050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76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76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76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76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7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7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7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7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27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6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276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276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5" grpId="0"/>
      <p:bldP spid="276494" grpId="0"/>
      <p:bldP spid="276503" grpId="0"/>
      <p:bldP spid="276504" grpId="0"/>
      <p:bldP spid="2765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7507" name="Object 3"/>
          <p:cNvGraphicFramePr>
            <a:graphicFrameLocks noChangeAspect="1"/>
          </p:cNvGraphicFramePr>
          <p:nvPr/>
        </p:nvGraphicFramePr>
        <p:xfrm>
          <a:off x="912813" y="2389188"/>
          <a:ext cx="25955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180465" imgH="381000" progId="Equation.3">
                  <p:embed/>
                </p:oleObj>
              </mc:Choice>
              <mc:Fallback>
                <p:oleObj name="" r:id="rId1" imgW="1180465" imgH="381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2813" y="2389188"/>
                        <a:ext cx="2595562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>
                        <a:solidFill>
                          <a:srgbClr val="00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08" name="Rectangle 4"/>
          <p:cNvSpPr/>
          <p:nvPr>
            <p:ph type="title"/>
          </p:nvPr>
        </p:nvSpPr>
        <p:spPr>
          <a:xfrm>
            <a:off x="468313" y="71438"/>
            <a:ext cx="6264275" cy="549275"/>
          </a:xfrm>
          <a:noFill/>
          <a:ln>
            <a:noFill/>
          </a:ln>
        </p:spPr>
        <p:txBody>
          <a:bodyPr anchor="t"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(3)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差动放大电路的基本工作原理</a:t>
            </a:r>
            <a:endParaRPr lang="zh-CN" altLang="en-US" sz="2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7509" name="Rectangle 5"/>
          <p:cNvSpPr/>
          <p:nvPr>
            <p:ph idx="1"/>
          </p:nvPr>
        </p:nvSpPr>
        <p:spPr>
          <a:xfrm>
            <a:off x="228600" y="609600"/>
            <a:ext cx="4953000" cy="609600"/>
          </a:xfrm>
          <a:noFill/>
          <a:ln>
            <a:noFill/>
          </a:ln>
        </p:spPr>
        <p:txBody>
          <a:bodyPr anchor="t"/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</a:rPr>
              <a:t>    a</a:t>
            </a:r>
            <a:r>
              <a:rPr lang="en-US" altLang="zh-CN" sz="2800" b="1" dirty="0">
                <a:solidFill>
                  <a:schemeClr val="bg1"/>
                </a:solidFill>
              </a:rPr>
              <a:t>.  </a:t>
            </a:r>
            <a:r>
              <a:rPr lang="zh-CN" altLang="en-US" sz="2800" b="1" dirty="0">
                <a:solidFill>
                  <a:schemeClr val="bg1"/>
                </a:solidFill>
              </a:rPr>
              <a:t>静态工作点的计算：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77564" name="Group 60"/>
          <p:cNvGrpSpPr/>
          <p:nvPr/>
        </p:nvGrpSpPr>
        <p:grpSpPr>
          <a:xfrm>
            <a:off x="1106488" y="1231900"/>
            <a:ext cx="1597025" cy="477838"/>
            <a:chOff x="697" y="776"/>
            <a:chExt cx="1006" cy="301"/>
          </a:xfrm>
        </p:grpSpPr>
        <p:sp>
          <p:nvSpPr>
            <p:cNvPr id="28677" name="Rectangle 6"/>
            <p:cNvSpPr/>
            <p:nvPr/>
          </p:nvSpPr>
          <p:spPr>
            <a:xfrm>
              <a:off x="1599" y="801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Rectangle 7"/>
            <p:cNvSpPr/>
            <p:nvPr/>
          </p:nvSpPr>
          <p:spPr>
            <a:xfrm>
              <a:off x="977" y="801"/>
              <a:ext cx="1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Rectangle 8"/>
            <p:cNvSpPr/>
            <p:nvPr/>
          </p:nvSpPr>
          <p:spPr>
            <a:xfrm>
              <a:off x="1228" y="933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Rectangle 9"/>
            <p:cNvSpPr/>
            <p:nvPr/>
          </p:nvSpPr>
          <p:spPr>
            <a:xfrm>
              <a:off x="786" y="933"/>
              <a:ext cx="93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Rectangle 10"/>
            <p:cNvSpPr/>
            <p:nvPr/>
          </p:nvSpPr>
          <p:spPr>
            <a:xfrm>
              <a:off x="1451" y="776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682" name="Rectangle 11"/>
            <p:cNvSpPr/>
            <p:nvPr/>
          </p:nvSpPr>
          <p:spPr>
            <a:xfrm>
              <a:off x="1139" y="801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Rectangle 12"/>
            <p:cNvSpPr/>
            <p:nvPr/>
          </p:nvSpPr>
          <p:spPr>
            <a:xfrm>
              <a:off x="697" y="801"/>
              <a:ext cx="11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7517" name="Rectangle 13"/>
          <p:cNvSpPr/>
          <p:nvPr/>
        </p:nvSpPr>
        <p:spPr>
          <a:xfrm>
            <a:off x="152400" y="1676400"/>
            <a:ext cx="4953000" cy="609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忽略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有：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=0V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7566" name="Group 62"/>
          <p:cNvGrpSpPr/>
          <p:nvPr/>
        </p:nvGrpSpPr>
        <p:grpSpPr>
          <a:xfrm>
            <a:off x="1158875" y="4014788"/>
            <a:ext cx="1477963" cy="438150"/>
            <a:chOff x="730" y="2529"/>
            <a:chExt cx="931" cy="276"/>
          </a:xfrm>
        </p:grpSpPr>
        <p:sp>
          <p:nvSpPr>
            <p:cNvPr id="28686" name="Rectangle 27"/>
            <p:cNvSpPr/>
            <p:nvPr/>
          </p:nvSpPr>
          <p:spPr>
            <a:xfrm>
              <a:off x="1434" y="2661"/>
              <a:ext cx="22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28"/>
            <p:cNvSpPr/>
            <p:nvPr/>
          </p:nvSpPr>
          <p:spPr>
            <a:xfrm>
              <a:off x="848" y="2661"/>
              <a:ext cx="22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Rectangle 29"/>
            <p:cNvSpPr/>
            <p:nvPr/>
          </p:nvSpPr>
          <p:spPr>
            <a:xfrm>
              <a:off x="1169" y="2529"/>
              <a:ext cx="1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30"/>
            <p:cNvSpPr/>
            <p:nvPr/>
          </p:nvSpPr>
          <p:spPr>
            <a:xfrm>
              <a:off x="1317" y="2529"/>
              <a:ext cx="15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31"/>
            <p:cNvSpPr/>
            <p:nvPr/>
          </p:nvSpPr>
          <p:spPr>
            <a:xfrm>
              <a:off x="730" y="2529"/>
              <a:ext cx="15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7567" name="Group 63"/>
          <p:cNvGrpSpPr/>
          <p:nvPr/>
        </p:nvGrpSpPr>
        <p:grpSpPr>
          <a:xfrm>
            <a:off x="1246188" y="4510088"/>
            <a:ext cx="2970212" cy="476250"/>
            <a:chOff x="785" y="2841"/>
            <a:chExt cx="1871" cy="300"/>
          </a:xfrm>
        </p:grpSpPr>
        <p:sp>
          <p:nvSpPr>
            <p:cNvPr id="28692" name="Rectangle 32"/>
            <p:cNvSpPr/>
            <p:nvPr/>
          </p:nvSpPr>
          <p:spPr>
            <a:xfrm>
              <a:off x="2587" y="2865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33"/>
            <p:cNvSpPr/>
            <p:nvPr/>
          </p:nvSpPr>
          <p:spPr>
            <a:xfrm>
              <a:off x="2475" y="2865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34"/>
            <p:cNvSpPr/>
            <p:nvPr/>
          </p:nvSpPr>
          <p:spPr>
            <a:xfrm>
              <a:off x="2416" y="2865"/>
              <a:ext cx="5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35"/>
            <p:cNvSpPr/>
            <p:nvPr/>
          </p:nvSpPr>
          <p:spPr>
            <a:xfrm>
              <a:off x="2309" y="2865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Rectangle 36"/>
            <p:cNvSpPr/>
            <p:nvPr/>
          </p:nvSpPr>
          <p:spPr>
            <a:xfrm>
              <a:off x="2107" y="2865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Rectangle 37"/>
            <p:cNvSpPr/>
            <p:nvPr/>
          </p:nvSpPr>
          <p:spPr>
            <a:xfrm>
              <a:off x="1764" y="2997"/>
              <a:ext cx="8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Rectangle 38"/>
            <p:cNvSpPr/>
            <p:nvPr/>
          </p:nvSpPr>
          <p:spPr>
            <a:xfrm>
              <a:off x="1525" y="2997"/>
              <a:ext cx="8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Rectangle 39"/>
            <p:cNvSpPr/>
            <p:nvPr/>
          </p:nvSpPr>
          <p:spPr>
            <a:xfrm>
              <a:off x="1020" y="2997"/>
              <a:ext cx="174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Rectangle 40"/>
            <p:cNvSpPr/>
            <p:nvPr/>
          </p:nvSpPr>
          <p:spPr>
            <a:xfrm>
              <a:off x="2211" y="2841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01" name="Rectangle 41"/>
            <p:cNvSpPr/>
            <p:nvPr/>
          </p:nvSpPr>
          <p:spPr>
            <a:xfrm>
              <a:off x="1969" y="2841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02" name="Rectangle 42"/>
            <p:cNvSpPr/>
            <p:nvPr/>
          </p:nvSpPr>
          <p:spPr>
            <a:xfrm>
              <a:off x="1311" y="2841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03" name="Rectangle 43"/>
            <p:cNvSpPr/>
            <p:nvPr/>
          </p:nvSpPr>
          <p:spPr>
            <a:xfrm>
              <a:off x="785" y="2841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04" name="Rectangle 44"/>
            <p:cNvSpPr/>
            <p:nvPr/>
          </p:nvSpPr>
          <p:spPr>
            <a:xfrm>
              <a:off x="1653" y="2865"/>
              <a:ext cx="1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Rectangle 45"/>
            <p:cNvSpPr/>
            <p:nvPr/>
          </p:nvSpPr>
          <p:spPr>
            <a:xfrm>
              <a:off x="1453" y="2865"/>
              <a:ext cx="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Rectangle 46"/>
            <p:cNvSpPr/>
            <p:nvPr/>
          </p:nvSpPr>
          <p:spPr>
            <a:xfrm>
              <a:off x="905" y="2865"/>
              <a:ext cx="15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7568" name="Group 64"/>
          <p:cNvGrpSpPr/>
          <p:nvPr/>
        </p:nvGrpSpPr>
        <p:grpSpPr>
          <a:xfrm>
            <a:off x="1512888" y="5130800"/>
            <a:ext cx="1970087" cy="841375"/>
            <a:chOff x="953" y="3232"/>
            <a:chExt cx="1241" cy="530"/>
          </a:xfrm>
        </p:grpSpPr>
        <p:sp>
          <p:nvSpPr>
            <p:cNvPr id="277551" name="Line 47"/>
            <p:cNvSpPr>
              <a:spLocks noChangeShapeType="1"/>
            </p:cNvSpPr>
            <p:nvPr/>
          </p:nvSpPr>
          <p:spPr bwMode="auto">
            <a:xfrm>
              <a:off x="1955" y="3505"/>
              <a:ext cx="239" cy="1"/>
            </a:xfrm>
            <a:prstGeom prst="line">
              <a:avLst/>
            </a:prstGeom>
            <a:noFill/>
            <a:ln w="17463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9" name="Rectangle 48"/>
            <p:cNvSpPr/>
            <p:nvPr/>
          </p:nvSpPr>
          <p:spPr>
            <a:xfrm>
              <a:off x="2006" y="3512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b</a:t>
              </a:r>
              <a:endParaRPr lang="en-US" altLang="zh-CN" sz="2600" b="1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10" name="Rectangle 49"/>
            <p:cNvSpPr/>
            <p:nvPr/>
          </p:nvSpPr>
          <p:spPr>
            <a:xfrm>
              <a:off x="2027" y="3365"/>
              <a:ext cx="8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1" name="Rectangle 50"/>
            <p:cNvSpPr/>
            <p:nvPr/>
          </p:nvSpPr>
          <p:spPr>
            <a:xfrm>
              <a:off x="1526" y="3502"/>
              <a:ext cx="14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2" name="Rectangle 51"/>
            <p:cNvSpPr/>
            <p:nvPr/>
          </p:nvSpPr>
          <p:spPr>
            <a:xfrm>
              <a:off x="1038" y="3502"/>
              <a:ext cx="14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 sz="1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3" name="Rectangle 52"/>
            <p:cNvSpPr/>
            <p:nvPr/>
          </p:nvSpPr>
          <p:spPr>
            <a:xfrm>
              <a:off x="1986" y="3232"/>
              <a:ext cx="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Rectangle 53"/>
            <p:cNvSpPr/>
            <p:nvPr/>
          </p:nvSpPr>
          <p:spPr>
            <a:xfrm>
              <a:off x="1441" y="3370"/>
              <a:ext cx="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5" name="Rectangle 54"/>
            <p:cNvSpPr/>
            <p:nvPr/>
          </p:nvSpPr>
          <p:spPr>
            <a:xfrm>
              <a:off x="953" y="3370"/>
              <a:ext cx="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6" name="Rectangle 55"/>
            <p:cNvSpPr/>
            <p:nvPr/>
          </p:nvSpPr>
          <p:spPr>
            <a:xfrm>
              <a:off x="1778" y="3346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17" name="Rectangle 56"/>
            <p:cNvSpPr/>
            <p:nvPr/>
          </p:nvSpPr>
          <p:spPr>
            <a:xfrm>
              <a:off x="1290" y="3346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6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</p:grpSp>
      <p:grpSp>
        <p:nvGrpSpPr>
          <p:cNvPr id="277565" name="Group 61"/>
          <p:cNvGrpSpPr/>
          <p:nvPr/>
        </p:nvGrpSpPr>
        <p:grpSpPr>
          <a:xfrm>
            <a:off x="1117600" y="3230563"/>
            <a:ext cx="2706688" cy="823912"/>
            <a:chOff x="704" y="2035"/>
            <a:chExt cx="1705" cy="519"/>
          </a:xfrm>
        </p:grpSpPr>
        <p:sp>
          <p:nvSpPr>
            <p:cNvPr id="28719" name="Rectangle 14"/>
            <p:cNvSpPr/>
            <p:nvPr/>
          </p:nvSpPr>
          <p:spPr>
            <a:xfrm>
              <a:off x="2278" y="2283"/>
              <a:ext cx="13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</a:t>
              </a: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Rectangle 15"/>
            <p:cNvSpPr/>
            <p:nvPr/>
          </p:nvSpPr>
          <p:spPr>
            <a:xfrm>
              <a:off x="1703" y="2283"/>
              <a:ext cx="81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Rectangle 16"/>
            <p:cNvSpPr/>
            <p:nvPr/>
          </p:nvSpPr>
          <p:spPr>
            <a:xfrm>
              <a:off x="1242" y="2283"/>
              <a:ext cx="137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Rectangle 17"/>
            <p:cNvSpPr/>
            <p:nvPr/>
          </p:nvSpPr>
          <p:spPr>
            <a:xfrm>
              <a:off x="781" y="2283"/>
              <a:ext cx="137" cy="1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C1</a:t>
              </a: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Rectangle 18"/>
            <p:cNvSpPr/>
            <p:nvPr/>
          </p:nvSpPr>
          <p:spPr>
            <a:xfrm>
              <a:off x="2054" y="2314"/>
              <a:ext cx="10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Rectangle 19"/>
            <p:cNvSpPr/>
            <p:nvPr/>
          </p:nvSpPr>
          <p:spPr>
            <a:xfrm>
              <a:off x="2050" y="2035"/>
              <a:ext cx="10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Rectangle 20"/>
            <p:cNvSpPr/>
            <p:nvPr/>
          </p:nvSpPr>
          <p:spPr>
            <a:xfrm>
              <a:off x="997" y="2160"/>
              <a:ext cx="113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5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6" name="Rectangle 21"/>
            <p:cNvSpPr/>
            <p:nvPr/>
          </p:nvSpPr>
          <p:spPr>
            <a:xfrm>
              <a:off x="2201" y="2160"/>
              <a:ext cx="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5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7" name="Rectangle 22"/>
            <p:cNvSpPr/>
            <p:nvPr/>
          </p:nvSpPr>
          <p:spPr>
            <a:xfrm>
              <a:off x="1629" y="2160"/>
              <a:ext cx="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5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8" name="Rectangle 23"/>
            <p:cNvSpPr/>
            <p:nvPr/>
          </p:nvSpPr>
          <p:spPr>
            <a:xfrm>
              <a:off x="1165" y="2160"/>
              <a:ext cx="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5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9" name="Rectangle 24"/>
            <p:cNvSpPr/>
            <p:nvPr/>
          </p:nvSpPr>
          <p:spPr>
            <a:xfrm>
              <a:off x="704" y="2160"/>
              <a:ext cx="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5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0" name="Rectangle 25"/>
            <p:cNvSpPr/>
            <p:nvPr/>
          </p:nvSpPr>
          <p:spPr>
            <a:xfrm>
              <a:off x="1893" y="2137"/>
              <a:ext cx="11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5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8731" name="Rectangle 26"/>
            <p:cNvSpPr/>
            <p:nvPr/>
          </p:nvSpPr>
          <p:spPr>
            <a:xfrm>
              <a:off x="1488" y="2137"/>
              <a:ext cx="11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p>
              <a:pPr algn="ctr"/>
              <a:r>
                <a:rPr lang="en-US" altLang="zh-CN" sz="2500" b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2500" b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277563" name="Line 59"/>
            <p:cNvSpPr>
              <a:spLocks noChangeShapeType="1"/>
            </p:cNvSpPr>
            <p:nvPr/>
          </p:nvSpPr>
          <p:spPr bwMode="auto">
            <a:xfrm>
              <a:off x="2016" y="2304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8733" name="Picture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128713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105400" y="5311775"/>
            <a:ext cx="3138488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en-US" altLang="zh-CN" i="1" kern="1200" cap="none" spc="0" normalizeH="0" baseline="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i="1" kern="1200" cap="none" spc="0" normalizeH="0" baseline="-2500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en-US" altLang="zh-CN" i="1" kern="1200" cap="none" spc="0" normalizeH="0" baseline="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i="1" kern="1200" cap="none" spc="0" normalizeH="0" baseline="-2500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C1 </a:t>
            </a:r>
            <a:r>
              <a:rPr kumimoji="1" lang="en-US" altLang="zh-CN" i="1" kern="1200" cap="none" spc="0" normalizeH="0" baseline="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 V</a:t>
            </a:r>
            <a:r>
              <a:rPr kumimoji="1" lang="en-US" altLang="zh-CN" i="1" kern="1200" cap="none" spc="0" normalizeH="0" baseline="-2500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</a:t>
            </a:r>
            <a:r>
              <a:rPr kumimoji="1" lang="en-US" altLang="zh-CN" i="1" kern="1200" cap="none" spc="0" normalizeH="0" baseline="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=0V</a:t>
            </a:r>
            <a:endParaRPr kumimoji="1" lang="zh-CN" altLang="en-US" i="1" kern="1200" cap="none" spc="0" normalizeH="0" baseline="0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Tm="432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7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/>
      <p:bldP spid="277509" grpId="0"/>
      <p:bldP spid="277517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Text Box 2"/>
          <p:cNvSpPr txBox="1"/>
          <p:nvPr/>
        </p:nvSpPr>
        <p:spPr>
          <a:xfrm>
            <a:off x="457200" y="457200"/>
            <a:ext cx="3149600" cy="51752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抑制零漂的原理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8531" name="Text Box 3"/>
          <p:cNvSpPr txBox="1"/>
          <p:nvPr/>
        </p:nvSpPr>
        <p:spPr>
          <a:xfrm>
            <a:off x="457200" y="2743200"/>
            <a:ext cx="3292475" cy="58420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C1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-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C2</a:t>
            </a:r>
            <a:r>
              <a:rPr lang="en-US" altLang="zh-CN" sz="3200" b="1" baseline="-5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0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8532" name="Text Box 4"/>
          <p:cNvSpPr txBox="1"/>
          <p:nvPr/>
        </p:nvSpPr>
        <p:spPr>
          <a:xfrm>
            <a:off x="609600" y="4876800"/>
            <a:ext cx="7275513" cy="58420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(V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C1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C1 </a:t>
            </a:r>
            <a:r>
              <a:rPr lang="en-US" altLang="zh-CN" sz="3200" b="1" baseline="-5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 - (V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C2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C2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 = 0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8533" name="Text Box 5"/>
          <p:cNvSpPr txBox="1"/>
          <p:nvPr/>
        </p:nvSpPr>
        <p:spPr>
          <a:xfrm>
            <a:off x="457200" y="1295400"/>
            <a:ext cx="3656013" cy="57943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i1</a:t>
            </a:r>
            <a:r>
              <a:rPr lang="en-US" altLang="zh-CN" sz="3200" b="1" baseline="-5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3200" b="1" baseline="-5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r>
              <a:rPr lang="en-US" altLang="zh-CN" sz="3200" b="1" baseline="-5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0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8534" name="Text Box 6"/>
          <p:cNvSpPr txBox="1"/>
          <p:nvPr/>
        </p:nvSpPr>
        <p:spPr>
          <a:xfrm>
            <a:off x="381000" y="3352800"/>
            <a:ext cx="3225800" cy="57943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当温度变化时：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8535" name="Text Box 7"/>
          <p:cNvSpPr txBox="1"/>
          <p:nvPr/>
        </p:nvSpPr>
        <p:spPr>
          <a:xfrm>
            <a:off x="685800" y="1981200"/>
            <a:ext cx="1905000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C1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C2</a:t>
            </a:r>
            <a:endParaRPr lang="en-US" altLang="zh-CN" sz="3200" b="1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8536" name="Text Box 8"/>
          <p:cNvSpPr txBox="1"/>
          <p:nvPr/>
        </p:nvSpPr>
        <p:spPr>
          <a:xfrm>
            <a:off x="762000" y="4038600"/>
            <a:ext cx="2844800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C1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C2</a:t>
            </a:r>
            <a:endParaRPr lang="en-US" altLang="zh-CN" sz="3200" b="1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9704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836613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  <p:bldP spid="278532" grpId="0"/>
      <p:bldP spid="278533" grpId="0"/>
      <p:bldP spid="278534" grpId="0"/>
      <p:bldP spid="278535" grpId="0"/>
      <p:bldP spid="2785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/>
          <p:nvPr/>
        </p:nvSpPr>
        <p:spPr>
          <a:xfrm>
            <a:off x="609600" y="838200"/>
            <a:ext cx="3386138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● 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加入差模信号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9555" name="Rectangle 3"/>
          <p:cNvSpPr/>
          <p:nvPr/>
        </p:nvSpPr>
        <p:spPr>
          <a:xfrm>
            <a:off x="166688" y="1601788"/>
            <a:ext cx="4910137" cy="11525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设： 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i1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=-u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i2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/2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ic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=0V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sp>
        <p:nvSpPr>
          <p:cNvPr id="30723" name="Rectangle 4"/>
          <p:cNvSpPr/>
          <p:nvPr/>
        </p:nvSpPr>
        <p:spPr>
          <a:xfrm>
            <a:off x="457200" y="304800"/>
            <a:ext cx="3805238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电路的动态分析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9557" name="Text Box 5"/>
          <p:cNvSpPr txBox="1"/>
          <p:nvPr/>
        </p:nvSpPr>
        <p:spPr>
          <a:xfrm>
            <a:off x="304800" y="2667000"/>
            <a:ext cx="4476750" cy="12493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上电压恒定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恒定的电压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类似于工作点稳定电路射极旁路电容电压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对差模信号相当于短路</a:t>
            </a:r>
            <a:r>
              <a:rPr lang="en-US" altLang="zh-CN" b="1" dirty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.</a:t>
            </a:r>
            <a:endParaRPr lang="en-US" altLang="zh-CN" b="1" dirty="0">
              <a:solidFill>
                <a:schemeClr val="bg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79558" name="Text Box 6"/>
          <p:cNvSpPr txBox="1"/>
          <p:nvPr/>
        </p:nvSpPr>
        <p:spPr>
          <a:xfrm>
            <a:off x="457200" y="4419600"/>
            <a:ext cx="4419600" cy="18018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,u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i2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 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b1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,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b2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,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e2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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 = - 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e2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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Re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不变</a:t>
            </a:r>
            <a:r>
              <a:rPr lang="zh-CN" altLang="en-US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不变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072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163" y="990600"/>
            <a:ext cx="3486150" cy="360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955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955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955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955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955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955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955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955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955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955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955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>
                                            <p:txEl>
                                              <p:charRg st="2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9558">
                                            <p:txEl>
                                              <p:charRg st="28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>
                                            <p:txEl>
                                              <p:charRg st="60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9558">
                                            <p:txEl>
                                              <p:charRg st="60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/>
      <p:bldP spid="279557" grpId="0" build="p"/>
      <p:bldP spid="27955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0578" name="Object 2" descr="羊皮纸"/>
          <p:cNvGraphicFramePr>
            <a:graphicFrameLocks noChangeAspect="1"/>
          </p:cNvGraphicFramePr>
          <p:nvPr/>
        </p:nvGraphicFramePr>
        <p:xfrm>
          <a:off x="862013" y="5026025"/>
          <a:ext cx="263525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67765" imgH="546100" progId="Equation.3">
                  <p:embed/>
                </p:oleObj>
              </mc:Choice>
              <mc:Fallback>
                <p:oleObj name="" r:id="rId1" imgW="1167765" imgH="546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2013" y="5026025"/>
                        <a:ext cx="2635250" cy="1214438"/>
                      </a:xfrm>
                      <a:prstGeom prst="rect">
                        <a:avLst/>
                      </a:prstGeom>
                      <a:blipFill rotWithShape="0">
                        <a:blip r:embed="rId3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" name="Rectangle 3"/>
          <p:cNvSpPr/>
          <p:nvPr/>
        </p:nvSpPr>
        <p:spPr>
          <a:xfrm>
            <a:off x="609600" y="228600"/>
            <a:ext cx="3048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其等效电路为：</a:t>
            </a:r>
            <a:endParaRPr lang="zh-CN" altLang="en-US" sz="2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0580" name="Text Box 4"/>
          <p:cNvSpPr txBox="1"/>
          <p:nvPr/>
        </p:nvSpPr>
        <p:spPr>
          <a:xfrm>
            <a:off x="304800" y="914400"/>
            <a:ext cx="2667000" cy="519113"/>
          </a:xfrm>
          <a:prstGeom prst="rect">
            <a:avLst/>
          </a:prstGeom>
          <a:solidFill>
            <a:srgbClr val="2E2EB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- 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endParaRPr lang="en-US" altLang="zh-CN" sz="2800" b="1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80581" name="Group 5"/>
          <p:cNvGrpSpPr/>
          <p:nvPr/>
        </p:nvGrpSpPr>
        <p:grpSpPr>
          <a:xfrm>
            <a:off x="304800" y="1524000"/>
            <a:ext cx="4648200" cy="1739900"/>
            <a:chOff x="252" y="2532"/>
            <a:chExt cx="5232" cy="1557"/>
          </a:xfrm>
        </p:grpSpPr>
        <p:sp>
          <p:nvSpPr>
            <p:cNvPr id="31749" name="Text Box 6"/>
            <p:cNvSpPr txBox="1"/>
            <p:nvPr/>
          </p:nvSpPr>
          <p:spPr>
            <a:xfrm>
              <a:off x="252" y="2532"/>
              <a:ext cx="5232" cy="155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i1 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,u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i2 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  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o1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 ,u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o2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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由于电路对称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│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o1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│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│u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o2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│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o1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– 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o2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=-2u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o1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endPara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0583" name="Line 7"/>
            <p:cNvSpPr>
              <a:spLocks noChangeShapeType="1"/>
            </p:cNvSpPr>
            <p:nvPr/>
          </p:nvSpPr>
          <p:spPr bwMode="auto">
            <a:xfrm flipH="1">
              <a:off x="3456" y="2592"/>
              <a:ext cx="24" cy="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0584" name="Line 8"/>
            <p:cNvSpPr>
              <a:spLocks noChangeShapeType="1"/>
            </p:cNvSpPr>
            <p:nvPr/>
          </p:nvSpPr>
          <p:spPr bwMode="auto">
            <a:xfrm flipH="1">
              <a:off x="432" y="3012"/>
              <a:ext cx="24" cy="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0585" name="Line 9"/>
            <p:cNvSpPr>
              <a:spLocks noChangeShapeType="1"/>
            </p:cNvSpPr>
            <p:nvPr/>
          </p:nvSpPr>
          <p:spPr bwMode="auto">
            <a:xfrm flipH="1">
              <a:off x="1008" y="3408"/>
              <a:ext cx="24" cy="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0586" name="Line 10"/>
            <p:cNvSpPr>
              <a:spLocks noChangeShapeType="1"/>
            </p:cNvSpPr>
            <p:nvPr/>
          </p:nvSpPr>
          <p:spPr bwMode="auto">
            <a:xfrm flipH="1">
              <a:off x="1524" y="3444"/>
              <a:ext cx="12" cy="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0587" name="Text Box 11"/>
          <p:cNvSpPr txBox="1"/>
          <p:nvPr/>
        </p:nvSpPr>
        <p:spPr>
          <a:xfrm>
            <a:off x="304800" y="3429000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差模电压放大倍数 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0592" name="Text Box 16"/>
          <p:cNvSpPr txBox="1"/>
          <p:nvPr/>
        </p:nvSpPr>
        <p:spPr>
          <a:xfrm>
            <a:off x="4724400" y="42672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差模输入电阻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80593" name="Object 17"/>
          <p:cNvGraphicFramePr>
            <a:graphicFrameLocks noChangeAspect="1"/>
          </p:cNvGraphicFramePr>
          <p:nvPr/>
        </p:nvGraphicFramePr>
        <p:xfrm>
          <a:off x="5033963" y="4905375"/>
          <a:ext cx="20462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951865" imgH="203200" progId="Equation.3">
                  <p:embed/>
                </p:oleObj>
              </mc:Choice>
              <mc:Fallback>
                <p:oleObj name="" r:id="rId4" imgW="951865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3963" y="4905375"/>
                        <a:ext cx="2046287" cy="433388"/>
                      </a:xfrm>
                      <a:prstGeom prst="rect">
                        <a:avLst/>
                      </a:prstGeom>
                      <a:solidFill>
                        <a:srgbClr val="FBDDAD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4" name="Text Box 18"/>
          <p:cNvSpPr txBox="1"/>
          <p:nvPr/>
        </p:nvSpPr>
        <p:spPr>
          <a:xfrm>
            <a:off x="4800600" y="54102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输出电阻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80595" name="Object 19"/>
          <p:cNvGraphicFramePr>
            <a:graphicFrameLocks noChangeAspect="1"/>
          </p:cNvGraphicFramePr>
          <p:nvPr/>
        </p:nvGraphicFramePr>
        <p:xfrm>
          <a:off x="5181600" y="5867400"/>
          <a:ext cx="12192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6" imgW="508000" imgH="203200" progId="Equation.3">
                  <p:embed/>
                </p:oleObj>
              </mc:Choice>
              <mc:Fallback>
                <p:oleObj name="" r:id="rId6" imgW="508000" imgH="203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81600" y="5867400"/>
                        <a:ext cx="1219200" cy="487363"/>
                      </a:xfrm>
                      <a:prstGeom prst="rect">
                        <a:avLst/>
                      </a:prstGeom>
                      <a:solidFill>
                        <a:srgbClr val="FBDDAD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9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00" y="439738"/>
            <a:ext cx="3667125" cy="3333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618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650" y="4005263"/>
            <a:ext cx="1809750" cy="847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620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4400" y="4005263"/>
            <a:ext cx="93345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622" name="Picture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8800" y="3995738"/>
            <a:ext cx="723900" cy="866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 bldLvl="0" animBg="1"/>
      <p:bldP spid="280587" grpId="0"/>
      <p:bldP spid="280592" grpId="0"/>
      <p:bldP spid="28059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/>
          <p:nvPr/>
        </p:nvSpPr>
        <p:spPr>
          <a:xfrm>
            <a:off x="457200" y="457200"/>
            <a:ext cx="3106738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加入共模信号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1603" name="Rectangle 3"/>
          <p:cNvSpPr/>
          <p:nvPr/>
        </p:nvSpPr>
        <p:spPr>
          <a:xfrm>
            <a:off x="304800" y="1447800"/>
            <a:ext cx="4876800" cy="762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设： 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i1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i2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ic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800" b="1" baseline="-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1604" name="Text Box 4"/>
          <p:cNvSpPr txBox="1"/>
          <p:nvPr/>
        </p:nvSpPr>
        <p:spPr>
          <a:xfrm>
            <a:off x="228600" y="2362200"/>
            <a:ext cx="4953000" cy="22463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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，使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o1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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o2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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因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r>
              <a:rPr lang="zh-CN" altLang="en-US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o1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o2</a:t>
            </a:r>
            <a:endParaRPr lang="en-US" altLang="zh-CN" sz="2800" b="1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u</a:t>
            </a:r>
            <a:r>
              <a:rPr lang="en-US" altLang="zh-CN" sz="2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 0 (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理想化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1605" name="Text Box 5"/>
          <p:cNvSpPr txBox="1"/>
          <p:nvPr/>
        </p:nvSpPr>
        <p:spPr>
          <a:xfrm>
            <a:off x="250825" y="4652963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共模电压放大倍数 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81606" name="Object 6" descr="羊皮纸"/>
          <p:cNvGraphicFramePr>
            <a:graphicFrameLocks noChangeAspect="1"/>
          </p:cNvGraphicFramePr>
          <p:nvPr/>
        </p:nvGraphicFramePr>
        <p:xfrm>
          <a:off x="3492500" y="4581525"/>
          <a:ext cx="12620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419100" imgH="203200" progId="Equation.3">
                  <p:embed/>
                </p:oleObj>
              </mc:Choice>
              <mc:Fallback>
                <p:oleObj name="" r:id="rId1" imgW="419100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2500" y="4581525"/>
                        <a:ext cx="1262063" cy="603250"/>
                      </a:xfrm>
                      <a:prstGeom prst="rect">
                        <a:avLst/>
                      </a:prstGeom>
                      <a:blipFill rotWithShape="0">
                        <a:blip r:embed="rId3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2" name="Text Box 12"/>
          <p:cNvSpPr txBox="1"/>
          <p:nvPr/>
        </p:nvSpPr>
        <p:spPr>
          <a:xfrm>
            <a:off x="212725" y="5410200"/>
            <a:ext cx="5715000" cy="457200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越大、抑制共模信号的能力越强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277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163" y="981075"/>
            <a:ext cx="3657600" cy="355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/>
      <p:bldP spid="281604" grpId="0"/>
      <p:bldP spid="281605" grpId="0"/>
      <p:bldP spid="2816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4817" name="Group 2"/>
          <p:cNvGrpSpPr/>
          <p:nvPr/>
        </p:nvGrpSpPr>
        <p:grpSpPr>
          <a:xfrm>
            <a:off x="1447800" y="1219200"/>
            <a:ext cx="7439025" cy="4616450"/>
            <a:chOff x="587" y="346"/>
            <a:chExt cx="4686" cy="2380"/>
          </a:xfrm>
        </p:grpSpPr>
        <p:sp>
          <p:nvSpPr>
            <p:cNvPr id="34818" name="Text Box 3"/>
            <p:cNvSpPr txBox="1"/>
            <p:nvPr/>
          </p:nvSpPr>
          <p:spPr>
            <a:xfrm>
              <a:off x="4649" y="346"/>
              <a:ext cx="624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19" name="Text Box 4"/>
            <p:cNvSpPr txBox="1"/>
            <p:nvPr/>
          </p:nvSpPr>
          <p:spPr>
            <a:xfrm>
              <a:off x="3204" y="1836"/>
              <a:ext cx="353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0" name="Text Box 5"/>
            <p:cNvSpPr txBox="1"/>
            <p:nvPr/>
          </p:nvSpPr>
          <p:spPr>
            <a:xfrm>
              <a:off x="1111" y="845"/>
              <a:ext cx="353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1" name="Text Box 6"/>
            <p:cNvSpPr txBox="1"/>
            <p:nvPr/>
          </p:nvSpPr>
          <p:spPr>
            <a:xfrm>
              <a:off x="1668" y="1436"/>
              <a:ext cx="353" cy="15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2" name="Text Box 7"/>
            <p:cNvSpPr txBox="1"/>
            <p:nvPr/>
          </p:nvSpPr>
          <p:spPr>
            <a:xfrm>
              <a:off x="2851" y="828"/>
              <a:ext cx="353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14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3" name="Text Box 8"/>
            <p:cNvSpPr txBox="1"/>
            <p:nvPr/>
          </p:nvSpPr>
          <p:spPr>
            <a:xfrm>
              <a:off x="1927" y="436"/>
              <a:ext cx="353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4" name="Text Box 9"/>
            <p:cNvSpPr txBox="1"/>
            <p:nvPr/>
          </p:nvSpPr>
          <p:spPr>
            <a:xfrm>
              <a:off x="3742" y="436"/>
              <a:ext cx="353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5" name="Rectangle 10"/>
            <p:cNvSpPr/>
            <p:nvPr/>
          </p:nvSpPr>
          <p:spPr>
            <a:xfrm>
              <a:off x="2004" y="1068"/>
              <a:ext cx="30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6" name="Rectangle 11"/>
            <p:cNvSpPr/>
            <p:nvPr/>
          </p:nvSpPr>
          <p:spPr>
            <a:xfrm>
              <a:off x="3826" y="1080"/>
              <a:ext cx="30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7" name="Text Box 12"/>
            <p:cNvSpPr txBox="1"/>
            <p:nvPr/>
          </p:nvSpPr>
          <p:spPr>
            <a:xfrm>
              <a:off x="1597" y="651"/>
              <a:ext cx="30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 dirty="0">
                  <a:solidFill>
                    <a:srgbClr val="FF99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1" baseline="-25000" dirty="0">
                  <a:solidFill>
                    <a:srgbClr val="FF99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1" baseline="-25000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8" name="Text Box 13"/>
            <p:cNvSpPr txBox="1"/>
            <p:nvPr/>
          </p:nvSpPr>
          <p:spPr>
            <a:xfrm>
              <a:off x="4091" y="697"/>
              <a:ext cx="308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b="1" i="1" dirty="0">
                  <a:solidFill>
                    <a:srgbClr val="FF99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1" baseline="-25000" dirty="0">
                  <a:solidFill>
                    <a:srgbClr val="FF99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baseline="-25000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29" name="Rectangle 14"/>
            <p:cNvSpPr/>
            <p:nvPr/>
          </p:nvSpPr>
          <p:spPr>
            <a:xfrm>
              <a:off x="924" y="2115"/>
              <a:ext cx="358" cy="29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30" name="Rectangle 15"/>
            <p:cNvSpPr/>
            <p:nvPr/>
          </p:nvSpPr>
          <p:spPr>
            <a:xfrm>
              <a:off x="1020" y="2432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31" name="Rectangle 16"/>
            <p:cNvSpPr/>
            <p:nvPr/>
          </p:nvSpPr>
          <p:spPr>
            <a:xfrm>
              <a:off x="975" y="1933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4832" name="Group 17"/>
            <p:cNvGrpSpPr/>
            <p:nvPr/>
          </p:nvGrpSpPr>
          <p:grpSpPr>
            <a:xfrm>
              <a:off x="1111" y="1933"/>
              <a:ext cx="181" cy="182"/>
              <a:chOff x="5012" y="3339"/>
              <a:chExt cx="181" cy="182"/>
            </a:xfrm>
          </p:grpSpPr>
          <p:sp>
            <p:nvSpPr>
              <p:cNvPr id="283666" name="Line 18"/>
              <p:cNvSpPr>
                <a:spLocks noChangeShapeType="1"/>
              </p:cNvSpPr>
              <p:nvPr/>
            </p:nvSpPr>
            <p:spPr bwMode="auto">
              <a:xfrm>
                <a:off x="5103" y="3339"/>
                <a:ext cx="0" cy="181"/>
              </a:xfrm>
              <a:prstGeom prst="line">
                <a:avLst/>
              </a:prstGeom>
              <a:noFill/>
              <a:ln w="34925">
                <a:solidFill>
                  <a:srgbClr val="FBDDA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667" name="Line 19"/>
              <p:cNvSpPr>
                <a:spLocks noChangeShapeType="1"/>
              </p:cNvSpPr>
              <p:nvPr/>
            </p:nvSpPr>
            <p:spPr bwMode="auto">
              <a:xfrm>
                <a:off x="5012" y="3521"/>
                <a:ext cx="181" cy="0"/>
              </a:xfrm>
              <a:prstGeom prst="line">
                <a:avLst/>
              </a:prstGeom>
              <a:noFill/>
              <a:ln w="34925">
                <a:solidFill>
                  <a:srgbClr val="FBDDA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835" name="Rectangle 20"/>
            <p:cNvSpPr/>
            <p:nvPr/>
          </p:nvSpPr>
          <p:spPr>
            <a:xfrm>
              <a:off x="975" y="1661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669" name="Line 21"/>
            <p:cNvSpPr>
              <a:spLocks noChangeShapeType="1"/>
            </p:cNvSpPr>
            <p:nvPr/>
          </p:nvSpPr>
          <p:spPr bwMode="auto">
            <a:xfrm>
              <a:off x="3016" y="1706"/>
              <a:ext cx="0" cy="13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0" name="Line 22"/>
            <p:cNvSpPr>
              <a:spLocks noChangeShapeType="1"/>
            </p:cNvSpPr>
            <p:nvPr/>
          </p:nvSpPr>
          <p:spPr bwMode="auto">
            <a:xfrm>
              <a:off x="3016" y="1797"/>
              <a:ext cx="0" cy="136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1" name="Line 23"/>
            <p:cNvSpPr>
              <a:spLocks noChangeShapeType="1"/>
            </p:cNvSpPr>
            <p:nvPr/>
          </p:nvSpPr>
          <p:spPr bwMode="auto">
            <a:xfrm>
              <a:off x="2835" y="1933"/>
              <a:ext cx="0" cy="272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2" name="Line 24"/>
            <p:cNvSpPr>
              <a:spLocks noChangeShapeType="1"/>
            </p:cNvSpPr>
            <p:nvPr/>
          </p:nvSpPr>
          <p:spPr bwMode="auto">
            <a:xfrm flipV="1">
              <a:off x="2835" y="1933"/>
              <a:ext cx="181" cy="91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3" name="Line 25"/>
            <p:cNvSpPr>
              <a:spLocks noChangeShapeType="1"/>
            </p:cNvSpPr>
            <p:nvPr/>
          </p:nvSpPr>
          <p:spPr bwMode="auto">
            <a:xfrm>
              <a:off x="2835" y="2115"/>
              <a:ext cx="181" cy="9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4" name="Line 26"/>
            <p:cNvSpPr>
              <a:spLocks noChangeShapeType="1"/>
            </p:cNvSpPr>
            <p:nvPr/>
          </p:nvSpPr>
          <p:spPr bwMode="auto">
            <a:xfrm>
              <a:off x="3016" y="2205"/>
              <a:ext cx="0" cy="409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5" name="Line 27"/>
            <p:cNvSpPr>
              <a:spLocks noChangeShapeType="1"/>
            </p:cNvSpPr>
            <p:nvPr/>
          </p:nvSpPr>
          <p:spPr bwMode="auto">
            <a:xfrm flipH="1">
              <a:off x="1565" y="436"/>
              <a:ext cx="408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6" name="Line 28"/>
            <p:cNvSpPr>
              <a:spLocks noChangeShapeType="1"/>
            </p:cNvSpPr>
            <p:nvPr/>
          </p:nvSpPr>
          <p:spPr bwMode="auto">
            <a:xfrm>
              <a:off x="1565" y="436"/>
              <a:ext cx="0" cy="2178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7" name="Line 29"/>
            <p:cNvSpPr>
              <a:spLocks noChangeShapeType="1"/>
            </p:cNvSpPr>
            <p:nvPr/>
          </p:nvSpPr>
          <p:spPr bwMode="auto">
            <a:xfrm>
              <a:off x="1565" y="2614"/>
              <a:ext cx="1723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8" name="Rectangle 30"/>
            <p:cNvSpPr>
              <a:spLocks noChangeArrowheads="1"/>
            </p:cNvSpPr>
            <p:nvPr/>
          </p:nvSpPr>
          <p:spPr bwMode="auto">
            <a:xfrm>
              <a:off x="1519" y="618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79" name="Line 31"/>
            <p:cNvSpPr>
              <a:spLocks noChangeShapeType="1"/>
            </p:cNvSpPr>
            <p:nvPr/>
          </p:nvSpPr>
          <p:spPr bwMode="auto">
            <a:xfrm flipH="1">
              <a:off x="1565" y="2069"/>
              <a:ext cx="1270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0" name="AutoShape 32"/>
            <p:cNvSpPr>
              <a:spLocks noChangeArrowheads="1"/>
            </p:cNvSpPr>
            <p:nvPr/>
          </p:nvSpPr>
          <p:spPr bwMode="auto">
            <a:xfrm>
              <a:off x="1429" y="2251"/>
              <a:ext cx="272" cy="182"/>
            </a:xfrm>
            <a:prstGeom prst="flowChartExtract">
              <a:avLst/>
            </a:prstGeom>
            <a:noFill/>
            <a:ln w="34925">
              <a:solidFill>
                <a:srgbClr val="FBDDA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D785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1" name="Line 33"/>
            <p:cNvSpPr>
              <a:spLocks noChangeShapeType="1"/>
            </p:cNvSpPr>
            <p:nvPr/>
          </p:nvSpPr>
          <p:spPr bwMode="auto">
            <a:xfrm>
              <a:off x="1429" y="2251"/>
              <a:ext cx="272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2" name="Line 34"/>
            <p:cNvSpPr>
              <a:spLocks noChangeShapeType="1"/>
            </p:cNvSpPr>
            <p:nvPr/>
          </p:nvSpPr>
          <p:spPr bwMode="auto">
            <a:xfrm>
              <a:off x="1701" y="2251"/>
              <a:ext cx="0" cy="9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3" name="Oval 35"/>
            <p:cNvSpPr>
              <a:spLocks noChangeArrowheads="1"/>
            </p:cNvSpPr>
            <p:nvPr/>
          </p:nvSpPr>
          <p:spPr bwMode="auto">
            <a:xfrm>
              <a:off x="1541" y="2047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4" name="Oval 36"/>
            <p:cNvSpPr>
              <a:spLocks noChangeArrowheads="1"/>
            </p:cNvSpPr>
            <p:nvPr/>
          </p:nvSpPr>
          <p:spPr bwMode="auto">
            <a:xfrm>
              <a:off x="3243" y="2591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5" name="Oval 37"/>
            <p:cNvSpPr>
              <a:spLocks noChangeArrowheads="1"/>
            </p:cNvSpPr>
            <p:nvPr/>
          </p:nvSpPr>
          <p:spPr bwMode="auto">
            <a:xfrm>
              <a:off x="748" y="1162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6" name="Oval 38"/>
            <p:cNvSpPr>
              <a:spLocks noChangeArrowheads="1"/>
            </p:cNvSpPr>
            <p:nvPr/>
          </p:nvSpPr>
          <p:spPr bwMode="auto">
            <a:xfrm>
              <a:off x="906" y="1911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7" name="Oval 39"/>
            <p:cNvSpPr>
              <a:spLocks noChangeArrowheads="1"/>
            </p:cNvSpPr>
            <p:nvPr/>
          </p:nvSpPr>
          <p:spPr bwMode="auto">
            <a:xfrm>
              <a:off x="703" y="2681"/>
              <a:ext cx="44" cy="45"/>
            </a:xfrm>
            <a:prstGeom prst="ellipse">
              <a:avLst/>
            </a:prstGeom>
            <a:noFill/>
            <a:ln w="38100">
              <a:solidFill>
                <a:srgbClr val="FFCC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8" name="Line 40"/>
            <p:cNvSpPr>
              <a:spLocks noChangeShapeType="1"/>
            </p:cNvSpPr>
            <p:nvPr/>
          </p:nvSpPr>
          <p:spPr bwMode="auto">
            <a:xfrm>
              <a:off x="4241" y="1253"/>
              <a:ext cx="386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89" name="Line 41"/>
            <p:cNvSpPr>
              <a:spLocks noChangeShapeType="1"/>
            </p:cNvSpPr>
            <p:nvPr/>
          </p:nvSpPr>
          <p:spPr bwMode="auto">
            <a:xfrm>
              <a:off x="4626" y="1253"/>
              <a:ext cx="0" cy="1451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90" name="Line 42"/>
            <p:cNvSpPr>
              <a:spLocks noChangeShapeType="1"/>
            </p:cNvSpPr>
            <p:nvPr/>
          </p:nvSpPr>
          <p:spPr bwMode="auto">
            <a:xfrm flipH="1">
              <a:off x="725" y="2704"/>
              <a:ext cx="3901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91" name="Line 43"/>
            <p:cNvSpPr>
              <a:spLocks noChangeShapeType="1"/>
            </p:cNvSpPr>
            <p:nvPr/>
          </p:nvSpPr>
          <p:spPr bwMode="auto">
            <a:xfrm flipH="1">
              <a:off x="748" y="1183"/>
              <a:ext cx="998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692" name="Line 44"/>
            <p:cNvSpPr>
              <a:spLocks noChangeShapeType="1"/>
            </p:cNvSpPr>
            <p:nvPr/>
          </p:nvSpPr>
          <p:spPr bwMode="auto">
            <a:xfrm>
              <a:off x="930" y="1933"/>
              <a:ext cx="272" cy="0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0" name="Rectangle 45"/>
            <p:cNvSpPr/>
            <p:nvPr/>
          </p:nvSpPr>
          <p:spPr>
            <a:xfrm>
              <a:off x="657" y="1117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1" name="Rectangle 46"/>
            <p:cNvSpPr/>
            <p:nvPr/>
          </p:nvSpPr>
          <p:spPr>
            <a:xfrm>
              <a:off x="612" y="2478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2" name="Rectangle 47"/>
            <p:cNvSpPr/>
            <p:nvPr/>
          </p:nvSpPr>
          <p:spPr>
            <a:xfrm>
              <a:off x="587" y="1706"/>
              <a:ext cx="305" cy="29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3" name="Rectangle 48"/>
            <p:cNvSpPr/>
            <p:nvPr/>
          </p:nvSpPr>
          <p:spPr>
            <a:xfrm>
              <a:off x="924" y="1298"/>
              <a:ext cx="358" cy="29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4" name="Rectangle 49"/>
            <p:cNvSpPr/>
            <p:nvPr/>
          </p:nvSpPr>
          <p:spPr>
            <a:xfrm>
              <a:off x="975" y="1207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698" name="Line 50"/>
            <p:cNvSpPr>
              <a:spLocks noChangeShapeType="1"/>
            </p:cNvSpPr>
            <p:nvPr/>
          </p:nvSpPr>
          <p:spPr bwMode="auto">
            <a:xfrm>
              <a:off x="2109" y="2069"/>
              <a:ext cx="363" cy="0"/>
            </a:xfrm>
            <a:prstGeom prst="line">
              <a:avLst/>
            </a:prstGeom>
            <a:noFill/>
            <a:ln w="41275">
              <a:solidFill>
                <a:srgbClr val="FF99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6" name="Rectangle 51"/>
            <p:cNvSpPr/>
            <p:nvPr/>
          </p:nvSpPr>
          <p:spPr>
            <a:xfrm>
              <a:off x="1746" y="1979"/>
              <a:ext cx="225" cy="235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7" name="Rectangle 52"/>
            <p:cNvSpPr/>
            <p:nvPr/>
          </p:nvSpPr>
          <p:spPr>
            <a:xfrm>
              <a:off x="1722" y="2432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8" name="Rectangle 53"/>
            <p:cNvSpPr/>
            <p:nvPr/>
          </p:nvSpPr>
          <p:spPr>
            <a:xfrm>
              <a:off x="1746" y="2205"/>
              <a:ext cx="340" cy="235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69" name="Rectangle 54"/>
            <p:cNvSpPr/>
            <p:nvPr/>
          </p:nvSpPr>
          <p:spPr>
            <a:xfrm>
              <a:off x="3016" y="2296"/>
              <a:ext cx="308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0" name="Rectangle 55"/>
            <p:cNvSpPr/>
            <p:nvPr/>
          </p:nvSpPr>
          <p:spPr>
            <a:xfrm>
              <a:off x="2967" y="1979"/>
              <a:ext cx="308" cy="235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1" name="Text Box 56"/>
            <p:cNvSpPr txBox="1"/>
            <p:nvPr/>
          </p:nvSpPr>
          <p:spPr>
            <a:xfrm>
              <a:off x="1525" y="1811"/>
              <a:ext cx="260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2" name="Text Box 57"/>
            <p:cNvSpPr txBox="1"/>
            <p:nvPr/>
          </p:nvSpPr>
          <p:spPr>
            <a:xfrm>
              <a:off x="2187" y="1733"/>
              <a:ext cx="299" cy="26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endPara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3" name="Rectangle 58"/>
            <p:cNvSpPr/>
            <p:nvPr/>
          </p:nvSpPr>
          <p:spPr>
            <a:xfrm>
              <a:off x="3061" y="1661"/>
              <a:ext cx="299" cy="26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C3</a:t>
              </a:r>
              <a:endPara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4" name="Text Box 59"/>
            <p:cNvSpPr txBox="1"/>
            <p:nvPr/>
          </p:nvSpPr>
          <p:spPr>
            <a:xfrm>
              <a:off x="1280" y="2385"/>
              <a:ext cx="301" cy="204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b="1" baseline="-25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000" b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708" name="Oval 60"/>
            <p:cNvSpPr>
              <a:spLocks noChangeArrowheads="1"/>
            </p:cNvSpPr>
            <p:nvPr/>
          </p:nvSpPr>
          <p:spPr bwMode="auto">
            <a:xfrm flipV="1">
              <a:off x="2381" y="775"/>
              <a:ext cx="46" cy="59"/>
            </a:xfrm>
            <a:prstGeom prst="ellips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09" name="Oval 61"/>
            <p:cNvSpPr>
              <a:spLocks noChangeArrowheads="1"/>
            </p:cNvSpPr>
            <p:nvPr/>
          </p:nvSpPr>
          <p:spPr bwMode="auto">
            <a:xfrm flipV="1">
              <a:off x="3672" y="775"/>
              <a:ext cx="46" cy="59"/>
            </a:xfrm>
            <a:prstGeom prst="ellips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77" name="Rectangle 62"/>
            <p:cNvSpPr/>
            <p:nvPr/>
          </p:nvSpPr>
          <p:spPr>
            <a:xfrm>
              <a:off x="2290" y="845"/>
              <a:ext cx="386" cy="29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8" name="Rectangle 63"/>
            <p:cNvSpPr/>
            <p:nvPr/>
          </p:nvSpPr>
          <p:spPr>
            <a:xfrm>
              <a:off x="3515" y="845"/>
              <a:ext cx="386" cy="29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02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9" name="Rectangle 64"/>
            <p:cNvSpPr/>
            <p:nvPr/>
          </p:nvSpPr>
          <p:spPr>
            <a:xfrm>
              <a:off x="3606" y="754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0" name="Rectangle 65"/>
            <p:cNvSpPr/>
            <p:nvPr/>
          </p:nvSpPr>
          <p:spPr>
            <a:xfrm>
              <a:off x="2290" y="754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1" name="Rectangle 66"/>
            <p:cNvSpPr/>
            <p:nvPr/>
          </p:nvSpPr>
          <p:spPr>
            <a:xfrm>
              <a:off x="2290" y="1162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2" name="Rectangle 67"/>
            <p:cNvSpPr/>
            <p:nvPr/>
          </p:nvSpPr>
          <p:spPr>
            <a:xfrm>
              <a:off x="3606" y="1162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3" name="Text Box 68"/>
            <p:cNvSpPr txBox="1"/>
            <p:nvPr/>
          </p:nvSpPr>
          <p:spPr>
            <a:xfrm>
              <a:off x="2880" y="1434"/>
              <a:ext cx="214" cy="204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4" name="Rectangle 69"/>
            <p:cNvSpPr/>
            <p:nvPr/>
          </p:nvSpPr>
          <p:spPr>
            <a:xfrm>
              <a:off x="2517" y="527"/>
              <a:ext cx="225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5" name="Rectangle 70"/>
            <p:cNvSpPr/>
            <p:nvPr/>
          </p:nvSpPr>
          <p:spPr>
            <a:xfrm>
              <a:off x="3198" y="548"/>
              <a:ext cx="261" cy="18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6" name="Rectangle 71"/>
            <p:cNvSpPr/>
            <p:nvPr/>
          </p:nvSpPr>
          <p:spPr>
            <a:xfrm>
              <a:off x="2835" y="391"/>
              <a:ext cx="322" cy="299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7" name="Rectangle 72"/>
            <p:cNvSpPr/>
            <p:nvPr/>
          </p:nvSpPr>
          <p:spPr>
            <a:xfrm>
              <a:off x="3278" y="2432"/>
              <a:ext cx="570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EE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8" name="Rectangle 73"/>
            <p:cNvSpPr/>
            <p:nvPr/>
          </p:nvSpPr>
          <p:spPr>
            <a:xfrm>
              <a:off x="1248" y="572"/>
              <a:ext cx="308" cy="236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722" name="Line 74"/>
            <p:cNvSpPr>
              <a:spLocks noChangeShapeType="1"/>
            </p:cNvSpPr>
            <p:nvPr/>
          </p:nvSpPr>
          <p:spPr bwMode="auto">
            <a:xfrm>
              <a:off x="930" y="1162"/>
              <a:ext cx="0" cy="1542"/>
            </a:xfrm>
            <a:prstGeom prst="line">
              <a:avLst/>
            </a:prstGeom>
            <a:noFill/>
            <a:ln w="34925">
              <a:solidFill>
                <a:srgbClr val="FBDDA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0" name="Rectangle 75"/>
            <p:cNvSpPr/>
            <p:nvPr/>
          </p:nvSpPr>
          <p:spPr>
            <a:xfrm>
              <a:off x="703" y="1434"/>
              <a:ext cx="223" cy="204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1" name="Rectangle 76"/>
            <p:cNvSpPr/>
            <p:nvPr/>
          </p:nvSpPr>
          <p:spPr>
            <a:xfrm>
              <a:off x="707" y="2205"/>
              <a:ext cx="223" cy="204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725" name="Rectangle 77"/>
            <p:cNvSpPr>
              <a:spLocks noChangeArrowheads="1"/>
            </p:cNvSpPr>
            <p:nvPr/>
          </p:nvSpPr>
          <p:spPr bwMode="auto">
            <a:xfrm>
              <a:off x="4332" y="1207"/>
              <a:ext cx="182" cy="90"/>
            </a:xfrm>
            <a:prstGeom prst="rect">
              <a:avLst/>
            </a:prstGeom>
            <a:gradFill rotWithShape="1">
              <a:gsLst>
                <a:gs pos="0">
                  <a:srgbClr val="FBDDAD">
                    <a:gamma/>
                    <a:shade val="46275"/>
                    <a:invGamma/>
                  </a:srgbClr>
                </a:gs>
                <a:gs pos="50000">
                  <a:srgbClr val="FBDDAD"/>
                </a:gs>
                <a:gs pos="100000">
                  <a:srgbClr val="FBDDAD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93" name="Rectangle 78"/>
            <p:cNvSpPr/>
            <p:nvPr/>
          </p:nvSpPr>
          <p:spPr>
            <a:xfrm>
              <a:off x="4327" y="935"/>
              <a:ext cx="329" cy="2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3727" name="Line 79"/>
            <p:cNvSpPr>
              <a:spLocks noChangeShapeType="1"/>
            </p:cNvSpPr>
            <p:nvPr/>
          </p:nvSpPr>
          <p:spPr bwMode="auto">
            <a:xfrm>
              <a:off x="1926" y="436"/>
              <a:ext cx="0" cy="59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28" name="Line 80"/>
            <p:cNvSpPr>
              <a:spLocks noChangeShapeType="1"/>
            </p:cNvSpPr>
            <p:nvPr/>
          </p:nvSpPr>
          <p:spPr bwMode="auto">
            <a:xfrm flipV="1">
              <a:off x="1746" y="1026"/>
              <a:ext cx="181" cy="136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29" name="Line 81"/>
            <p:cNvSpPr>
              <a:spLocks noChangeShapeType="1"/>
            </p:cNvSpPr>
            <p:nvPr/>
          </p:nvSpPr>
          <p:spPr bwMode="auto">
            <a:xfrm>
              <a:off x="1746" y="1049"/>
              <a:ext cx="0" cy="273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30" name="Line 82"/>
            <p:cNvSpPr>
              <a:spLocks noChangeShapeType="1"/>
            </p:cNvSpPr>
            <p:nvPr/>
          </p:nvSpPr>
          <p:spPr bwMode="auto">
            <a:xfrm>
              <a:off x="1746" y="1253"/>
              <a:ext cx="227" cy="136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4898" name="Group 83"/>
            <p:cNvGrpSpPr/>
            <p:nvPr/>
          </p:nvGrpSpPr>
          <p:grpSpPr>
            <a:xfrm>
              <a:off x="4014" y="1071"/>
              <a:ext cx="227" cy="362"/>
              <a:chOff x="4921" y="1979"/>
              <a:chExt cx="227" cy="362"/>
            </a:xfrm>
          </p:grpSpPr>
          <p:sp>
            <p:nvSpPr>
              <p:cNvPr id="283732" name="Line 84"/>
              <p:cNvSpPr>
                <a:spLocks noChangeShapeType="1"/>
              </p:cNvSpPr>
              <p:nvPr/>
            </p:nvSpPr>
            <p:spPr bwMode="auto">
              <a:xfrm flipH="1" flipV="1">
                <a:off x="4967" y="1979"/>
                <a:ext cx="181" cy="136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33" name="Line 85"/>
              <p:cNvSpPr>
                <a:spLocks noChangeShapeType="1"/>
              </p:cNvSpPr>
              <p:nvPr/>
            </p:nvSpPr>
            <p:spPr bwMode="auto">
              <a:xfrm>
                <a:off x="5148" y="2024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34" name="Line 86"/>
              <p:cNvSpPr>
                <a:spLocks noChangeShapeType="1"/>
              </p:cNvSpPr>
              <p:nvPr/>
            </p:nvSpPr>
            <p:spPr bwMode="auto">
              <a:xfrm flipH="1">
                <a:off x="4921" y="2205"/>
                <a:ext cx="227" cy="136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3735" name="Line 87"/>
            <p:cNvSpPr>
              <a:spLocks noChangeShapeType="1"/>
            </p:cNvSpPr>
            <p:nvPr/>
          </p:nvSpPr>
          <p:spPr bwMode="auto">
            <a:xfrm>
              <a:off x="1927" y="1706"/>
              <a:ext cx="2087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36" name="Line 88"/>
            <p:cNvSpPr>
              <a:spLocks noChangeShapeType="1"/>
            </p:cNvSpPr>
            <p:nvPr/>
          </p:nvSpPr>
          <p:spPr bwMode="auto">
            <a:xfrm>
              <a:off x="1949" y="1389"/>
              <a:ext cx="0" cy="317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37" name="Line 89"/>
            <p:cNvSpPr>
              <a:spLocks noChangeShapeType="1"/>
            </p:cNvSpPr>
            <p:nvPr/>
          </p:nvSpPr>
          <p:spPr bwMode="auto">
            <a:xfrm>
              <a:off x="4014" y="1434"/>
              <a:ext cx="0" cy="272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38" name="Line 90"/>
            <p:cNvSpPr>
              <a:spLocks noChangeShapeType="1"/>
            </p:cNvSpPr>
            <p:nvPr/>
          </p:nvSpPr>
          <p:spPr bwMode="auto">
            <a:xfrm>
              <a:off x="1973" y="436"/>
              <a:ext cx="2631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39" name="Line 91"/>
            <p:cNvSpPr>
              <a:spLocks noChangeShapeType="1"/>
            </p:cNvSpPr>
            <p:nvPr/>
          </p:nvSpPr>
          <p:spPr bwMode="auto">
            <a:xfrm flipV="1">
              <a:off x="4059" y="436"/>
              <a:ext cx="0" cy="635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40" name="Line 92"/>
            <p:cNvSpPr>
              <a:spLocks noChangeShapeType="1"/>
            </p:cNvSpPr>
            <p:nvPr/>
          </p:nvSpPr>
          <p:spPr bwMode="auto">
            <a:xfrm>
              <a:off x="1926" y="800"/>
              <a:ext cx="2132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41" name="Oval 93"/>
            <p:cNvSpPr>
              <a:spLocks noChangeArrowheads="1"/>
            </p:cNvSpPr>
            <p:nvPr/>
          </p:nvSpPr>
          <p:spPr bwMode="auto">
            <a:xfrm>
              <a:off x="4604" y="412"/>
              <a:ext cx="48" cy="48"/>
            </a:xfrm>
            <a:prstGeom prst="ellipse">
              <a:avLst/>
            </a:prstGeom>
            <a:noFill/>
            <a:ln w="38100">
              <a:solidFill>
                <a:srgbClr val="FFD785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4909" name="Group 94"/>
            <p:cNvGrpSpPr/>
            <p:nvPr/>
          </p:nvGrpSpPr>
          <p:grpSpPr>
            <a:xfrm>
              <a:off x="2336" y="1344"/>
              <a:ext cx="136" cy="182"/>
              <a:chOff x="5103" y="1933"/>
              <a:chExt cx="136" cy="182"/>
            </a:xfrm>
          </p:grpSpPr>
          <p:sp>
            <p:nvSpPr>
              <p:cNvPr id="283743" name="Oval 95"/>
              <p:cNvSpPr>
                <a:spLocks noChangeArrowheads="1"/>
              </p:cNvSpPr>
              <p:nvPr/>
            </p:nvSpPr>
            <p:spPr bwMode="auto">
              <a:xfrm>
                <a:off x="5148" y="1933"/>
                <a:ext cx="48" cy="48"/>
              </a:xfrm>
              <a:prstGeom prst="ellipse">
                <a:avLst/>
              </a:prstGeom>
              <a:noFill/>
              <a:ln w="38100">
                <a:solidFill>
                  <a:srgbClr val="FFD785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44" name="Line 96"/>
              <p:cNvSpPr>
                <a:spLocks noChangeShapeType="1"/>
              </p:cNvSpPr>
              <p:nvPr/>
            </p:nvSpPr>
            <p:spPr bwMode="auto">
              <a:xfrm flipH="1">
                <a:off x="5171" y="1979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45" name="Line 97"/>
              <p:cNvSpPr>
                <a:spLocks noChangeShapeType="1"/>
              </p:cNvSpPr>
              <p:nvPr/>
            </p:nvSpPr>
            <p:spPr bwMode="auto">
              <a:xfrm>
                <a:off x="5103" y="2115"/>
                <a:ext cx="136" cy="0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4913" name="Group 98"/>
            <p:cNvGrpSpPr/>
            <p:nvPr/>
          </p:nvGrpSpPr>
          <p:grpSpPr>
            <a:xfrm>
              <a:off x="3651" y="1344"/>
              <a:ext cx="136" cy="182"/>
              <a:chOff x="5103" y="1933"/>
              <a:chExt cx="136" cy="182"/>
            </a:xfrm>
          </p:grpSpPr>
          <p:sp>
            <p:nvSpPr>
              <p:cNvPr id="283747" name="Oval 99"/>
              <p:cNvSpPr>
                <a:spLocks noChangeArrowheads="1"/>
              </p:cNvSpPr>
              <p:nvPr/>
            </p:nvSpPr>
            <p:spPr bwMode="auto">
              <a:xfrm>
                <a:off x="5148" y="1933"/>
                <a:ext cx="48" cy="48"/>
              </a:xfrm>
              <a:prstGeom prst="ellipse">
                <a:avLst/>
              </a:prstGeom>
              <a:noFill/>
              <a:ln w="38100">
                <a:solidFill>
                  <a:srgbClr val="FFD785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48" name="Line 100"/>
              <p:cNvSpPr>
                <a:spLocks noChangeShapeType="1"/>
              </p:cNvSpPr>
              <p:nvPr/>
            </p:nvSpPr>
            <p:spPr bwMode="auto">
              <a:xfrm flipH="1">
                <a:off x="5171" y="1979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3749" name="Line 101"/>
              <p:cNvSpPr>
                <a:spLocks noChangeShapeType="1"/>
              </p:cNvSpPr>
              <p:nvPr/>
            </p:nvSpPr>
            <p:spPr bwMode="auto">
              <a:xfrm>
                <a:off x="5103" y="2115"/>
                <a:ext cx="136" cy="0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3750" name="Rectangle 102"/>
            <p:cNvSpPr>
              <a:spLocks noChangeArrowheads="1"/>
            </p:cNvSpPr>
            <p:nvPr/>
          </p:nvSpPr>
          <p:spPr bwMode="auto">
            <a:xfrm>
              <a:off x="1247" y="1140"/>
              <a:ext cx="182" cy="90"/>
            </a:xfrm>
            <a:prstGeom prst="rect">
              <a:avLst/>
            </a:prstGeom>
            <a:gradFill rotWithShape="1">
              <a:gsLst>
                <a:gs pos="0">
                  <a:srgbClr val="FBDDAD">
                    <a:gamma/>
                    <a:shade val="46275"/>
                    <a:invGamma/>
                  </a:srgbClr>
                </a:gs>
                <a:gs pos="50000">
                  <a:srgbClr val="FBDDAD"/>
                </a:gs>
                <a:gs pos="100000">
                  <a:srgbClr val="FBDDAD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1" name="Rectangle 103"/>
            <p:cNvSpPr>
              <a:spLocks noChangeArrowheads="1"/>
            </p:cNvSpPr>
            <p:nvPr/>
          </p:nvSpPr>
          <p:spPr bwMode="auto">
            <a:xfrm>
              <a:off x="884" y="1434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2" name="Rectangle 104"/>
            <p:cNvSpPr>
              <a:spLocks noChangeArrowheads="1"/>
            </p:cNvSpPr>
            <p:nvPr/>
          </p:nvSpPr>
          <p:spPr bwMode="auto">
            <a:xfrm>
              <a:off x="884" y="2251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3" name="Rectangle 105"/>
            <p:cNvSpPr>
              <a:spLocks noChangeArrowheads="1"/>
            </p:cNvSpPr>
            <p:nvPr/>
          </p:nvSpPr>
          <p:spPr bwMode="auto">
            <a:xfrm>
              <a:off x="2971" y="2296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4" name="Rectangle 106"/>
            <p:cNvSpPr>
              <a:spLocks noChangeArrowheads="1"/>
            </p:cNvSpPr>
            <p:nvPr/>
          </p:nvSpPr>
          <p:spPr bwMode="auto">
            <a:xfrm>
              <a:off x="2835" y="7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BDDAD">
                    <a:gamma/>
                    <a:shade val="46275"/>
                    <a:invGamma/>
                  </a:srgbClr>
                </a:gs>
                <a:gs pos="50000">
                  <a:srgbClr val="FBDDAD"/>
                </a:gs>
                <a:gs pos="100000">
                  <a:srgbClr val="FBDDAD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5" name="Rectangle 107"/>
            <p:cNvSpPr>
              <a:spLocks noChangeArrowheads="1"/>
            </p:cNvSpPr>
            <p:nvPr/>
          </p:nvSpPr>
          <p:spPr bwMode="auto">
            <a:xfrm>
              <a:off x="1882" y="527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3756" name="Rectangle 108"/>
            <p:cNvSpPr>
              <a:spLocks noChangeArrowheads="1"/>
            </p:cNvSpPr>
            <p:nvPr/>
          </p:nvSpPr>
          <p:spPr bwMode="auto">
            <a:xfrm>
              <a:off x="4014" y="527"/>
              <a:ext cx="90" cy="227"/>
            </a:xfrm>
            <a:prstGeom prst="rect">
              <a:avLst/>
            </a:prstGeom>
            <a:gradFill rotWithShape="1">
              <a:gsLst>
                <a:gs pos="0">
                  <a:srgbClr val="FFD785">
                    <a:gamma/>
                    <a:shade val="46275"/>
                    <a:invGamma/>
                  </a:srgbClr>
                </a:gs>
                <a:gs pos="50000">
                  <a:srgbClr val="FFD785"/>
                </a:gs>
                <a:gs pos="100000">
                  <a:srgbClr val="FFD785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rgbClr val="FBDDA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D785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5AE"/>
                    </a:outerShdw>
                  </a:cont>
                  <a:cont type="tree" name="">
                    <a:effect ref="fillLine"/>
                    <a:outerShdw dist="38100" dir="2700000" algn="tl">
                      <a:srgbClr val="99804F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24" name="Text Box 109"/>
          <p:cNvSpPr txBox="1"/>
          <p:nvPr/>
        </p:nvSpPr>
        <p:spPr>
          <a:xfrm>
            <a:off x="762000" y="304800"/>
            <a:ext cx="3933825" cy="517525"/>
          </a:xfrm>
          <a:prstGeom prst="rect">
            <a:avLst/>
          </a:prstGeom>
          <a:noFill/>
          <a:ln w="38100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带恒流源差动放大器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4674" name="Text Box 2"/>
          <p:cNvSpPr txBox="1"/>
          <p:nvPr/>
        </p:nvSpPr>
        <p:spPr>
          <a:xfrm>
            <a:off x="0" y="5157788"/>
            <a:ext cx="3203575" cy="10048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单端输入</a:t>
            </a:r>
            <a:r>
              <a:rPr lang="en-US" altLang="zh-CN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单端输出</a:t>
            </a:r>
            <a:endParaRPr lang="zh-CN" altLang="en-US" b="1" dirty="0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注意放大倍数计算</a:t>
            </a:r>
            <a:endParaRPr lang="zh-CN" altLang="en-US" b="1" dirty="0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5842" name="Text Box 4"/>
          <p:cNvSpPr txBox="1"/>
          <p:nvPr/>
        </p:nvSpPr>
        <p:spPr>
          <a:xfrm>
            <a:off x="209550" y="608013"/>
            <a:ext cx="5946775" cy="51752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差分放大电路的输入－输出方式 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4677" name="Text Box 5"/>
          <p:cNvSpPr txBox="1"/>
          <p:nvPr/>
        </p:nvSpPr>
        <p:spPr>
          <a:xfrm>
            <a:off x="3132138" y="5157788"/>
            <a:ext cx="3203575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双端输入</a:t>
            </a:r>
            <a:r>
              <a:rPr lang="en-US" altLang="zh-CN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单端输出</a:t>
            </a:r>
            <a:endParaRPr lang="zh-CN" altLang="en-US" b="1" dirty="0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84678" name="Text Box 6"/>
          <p:cNvSpPr txBox="1"/>
          <p:nvPr/>
        </p:nvSpPr>
        <p:spPr>
          <a:xfrm>
            <a:off x="6227763" y="5157788"/>
            <a:ext cx="3203575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单端输入</a:t>
            </a:r>
            <a:r>
              <a:rPr lang="en-US" altLang="zh-CN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双端输出</a:t>
            </a:r>
            <a:endParaRPr lang="zh-CN" altLang="en-US" b="1" dirty="0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</p:txBody>
      </p:sp>
      <p:graphicFrame>
        <p:nvGraphicFramePr>
          <p:cNvPr id="35845" name="Object 8"/>
          <p:cNvGraphicFramePr>
            <a:graphicFrameLocks noChangeAspect="1"/>
          </p:cNvGraphicFramePr>
          <p:nvPr/>
        </p:nvGraphicFramePr>
        <p:xfrm>
          <a:off x="6450013" y="1484313"/>
          <a:ext cx="2693987" cy="288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8331200" imgH="3746500" progId="Photoshop.Image.7">
                  <p:embed/>
                </p:oleObj>
              </mc:Choice>
              <mc:Fallback>
                <p:oleObj name="" r:id="rId1" imgW="8331200" imgH="3746500" progId="Photoshop.Image.7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50013" y="1484313"/>
                        <a:ext cx="2693987" cy="2881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9"/>
          <p:cNvSpPr txBox="1"/>
          <p:nvPr/>
        </p:nvSpPr>
        <p:spPr>
          <a:xfrm>
            <a:off x="8170863" y="1125538"/>
            <a:ext cx="865187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7" name="Text Box 10"/>
          <p:cNvSpPr txBox="1"/>
          <p:nvPr/>
        </p:nvSpPr>
        <p:spPr>
          <a:xfrm>
            <a:off x="8212138" y="1790700"/>
            <a:ext cx="59213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8" name="Text Box 11"/>
          <p:cNvSpPr txBox="1"/>
          <p:nvPr/>
        </p:nvSpPr>
        <p:spPr>
          <a:xfrm>
            <a:off x="7051675" y="2614613"/>
            <a:ext cx="573088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9" name="Text Box 12"/>
          <p:cNvSpPr txBox="1"/>
          <p:nvPr/>
        </p:nvSpPr>
        <p:spPr>
          <a:xfrm>
            <a:off x="7888288" y="2614613"/>
            <a:ext cx="75723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50" name="Group 13"/>
          <p:cNvGrpSpPr/>
          <p:nvPr/>
        </p:nvGrpSpPr>
        <p:grpSpPr>
          <a:xfrm>
            <a:off x="6084888" y="2614613"/>
            <a:ext cx="649287" cy="1504950"/>
            <a:chOff x="3833" y="1647"/>
            <a:chExt cx="409" cy="948"/>
          </a:xfrm>
        </p:grpSpPr>
        <p:sp>
          <p:nvSpPr>
            <p:cNvPr id="35851" name="Text Box 14"/>
            <p:cNvSpPr txBox="1"/>
            <p:nvPr/>
          </p:nvSpPr>
          <p:spPr>
            <a:xfrm>
              <a:off x="3833" y="1647"/>
              <a:ext cx="224" cy="28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2" name="Text Box 15"/>
            <p:cNvSpPr txBox="1"/>
            <p:nvPr/>
          </p:nvSpPr>
          <p:spPr>
            <a:xfrm>
              <a:off x="3833" y="2307"/>
              <a:ext cx="212" cy="288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3" name="Rectangle 16"/>
            <p:cNvSpPr/>
            <p:nvPr/>
          </p:nvSpPr>
          <p:spPr>
            <a:xfrm>
              <a:off x="3955" y="1883"/>
              <a:ext cx="2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32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854" name="Group 17"/>
          <p:cNvGrpSpPr/>
          <p:nvPr/>
        </p:nvGrpSpPr>
        <p:grpSpPr>
          <a:xfrm>
            <a:off x="7524750" y="4098925"/>
            <a:ext cx="798513" cy="554038"/>
            <a:chOff x="3502" y="2173"/>
            <a:chExt cx="562" cy="336"/>
          </a:xfrm>
        </p:grpSpPr>
        <p:sp>
          <p:nvSpPr>
            <p:cNvPr id="35855" name="Text Box 18"/>
            <p:cNvSpPr txBox="1"/>
            <p:nvPr/>
          </p:nvSpPr>
          <p:spPr>
            <a:xfrm>
              <a:off x="3651" y="2268"/>
              <a:ext cx="413" cy="241"/>
            </a:xfrm>
            <a:prstGeom prst="rect">
              <a:avLst/>
            </a:prstGeom>
            <a:noFill/>
            <a:ln w="349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EE</a:t>
              </a:r>
              <a:endPara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6" name="Text Box 19"/>
            <p:cNvSpPr txBox="1"/>
            <p:nvPr/>
          </p:nvSpPr>
          <p:spPr>
            <a:xfrm>
              <a:off x="3502" y="2173"/>
              <a:ext cx="237" cy="277"/>
            </a:xfrm>
            <a:prstGeom prst="rect">
              <a:avLst/>
            </a:prstGeom>
            <a:noFill/>
            <a:ln w="34925">
              <a:noFill/>
            </a:ln>
          </p:spPr>
          <p:txBody>
            <a:bodyPr anchor="t">
              <a:spAutoFit/>
            </a:bodyPr>
            <a:p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857" name="Text Box 20"/>
          <p:cNvSpPr txBox="1"/>
          <p:nvPr/>
        </p:nvSpPr>
        <p:spPr>
          <a:xfrm>
            <a:off x="7759700" y="3511550"/>
            <a:ext cx="415925" cy="457200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8" name="Text Box 21"/>
          <p:cNvSpPr txBox="1"/>
          <p:nvPr/>
        </p:nvSpPr>
        <p:spPr>
          <a:xfrm>
            <a:off x="7196138" y="2168525"/>
            <a:ext cx="328612" cy="396875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9" name="Text Box 22"/>
          <p:cNvSpPr txBox="1"/>
          <p:nvPr/>
        </p:nvSpPr>
        <p:spPr>
          <a:xfrm>
            <a:off x="7932738" y="2024063"/>
            <a:ext cx="311150" cy="396875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0" name="Text Box 23"/>
          <p:cNvSpPr txBox="1"/>
          <p:nvPr/>
        </p:nvSpPr>
        <p:spPr>
          <a:xfrm>
            <a:off x="7442200" y="1839913"/>
            <a:ext cx="465138" cy="519112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1" name="Text Box 24"/>
          <p:cNvSpPr txBox="1"/>
          <p:nvPr/>
        </p:nvSpPr>
        <p:spPr>
          <a:xfrm>
            <a:off x="7442200" y="2389188"/>
            <a:ext cx="455613" cy="396875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2000" b="1" i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2" name="Text Box 25"/>
          <p:cNvSpPr txBox="1"/>
          <p:nvPr/>
        </p:nvSpPr>
        <p:spPr>
          <a:xfrm>
            <a:off x="6716713" y="1833563"/>
            <a:ext cx="59213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3" name="Text Box 26"/>
          <p:cNvSpPr txBox="1"/>
          <p:nvPr/>
        </p:nvSpPr>
        <p:spPr>
          <a:xfrm>
            <a:off x="6500813" y="2311400"/>
            <a:ext cx="59213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4" name="Text Box 27"/>
          <p:cNvSpPr txBox="1"/>
          <p:nvPr/>
        </p:nvSpPr>
        <p:spPr>
          <a:xfrm>
            <a:off x="8443913" y="2349500"/>
            <a:ext cx="592137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b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65" name="Group 28"/>
          <p:cNvGrpSpPr/>
          <p:nvPr/>
        </p:nvGrpSpPr>
        <p:grpSpPr>
          <a:xfrm>
            <a:off x="-36512" y="1125538"/>
            <a:ext cx="3078162" cy="3505200"/>
            <a:chOff x="-23" y="709"/>
            <a:chExt cx="1939" cy="2208"/>
          </a:xfrm>
        </p:grpSpPr>
        <p:grpSp>
          <p:nvGrpSpPr>
            <p:cNvPr id="35866" name="Group 29"/>
            <p:cNvGrpSpPr/>
            <p:nvPr/>
          </p:nvGrpSpPr>
          <p:grpSpPr>
            <a:xfrm>
              <a:off x="-23" y="709"/>
              <a:ext cx="1939" cy="2208"/>
              <a:chOff x="-23" y="709"/>
              <a:chExt cx="1939" cy="2208"/>
            </a:xfrm>
          </p:grpSpPr>
          <p:graphicFrame>
            <p:nvGraphicFramePr>
              <p:cNvPr id="35867" name="Object 30"/>
              <p:cNvGraphicFramePr>
                <a:graphicFrameLocks noChangeAspect="1"/>
              </p:cNvGraphicFramePr>
              <p:nvPr/>
            </p:nvGraphicFramePr>
            <p:xfrm>
              <a:off x="158" y="935"/>
              <a:ext cx="1697" cy="18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3" imgW="8331200" imgH="3746500" progId="Photoshop.Image.7">
                      <p:embed/>
                    </p:oleObj>
                  </mc:Choice>
                  <mc:Fallback>
                    <p:oleObj name="" r:id="rId3" imgW="8331200" imgH="3746500" progId="Photoshop.Image.7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8" y="935"/>
                            <a:ext cx="1697" cy="18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68" name="Text Box 31"/>
              <p:cNvSpPr txBox="1"/>
              <p:nvPr/>
            </p:nvSpPr>
            <p:spPr>
              <a:xfrm>
                <a:off x="793" y="1525"/>
                <a:ext cx="293" cy="327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869" name="Group 32"/>
              <p:cNvGrpSpPr/>
              <p:nvPr/>
            </p:nvGrpSpPr>
            <p:grpSpPr>
              <a:xfrm>
                <a:off x="-23" y="1691"/>
                <a:ext cx="287" cy="802"/>
                <a:chOff x="-23" y="1691"/>
                <a:chExt cx="287" cy="802"/>
              </a:xfrm>
            </p:grpSpPr>
            <p:sp>
              <p:nvSpPr>
                <p:cNvPr id="35870" name="Text Box 33"/>
                <p:cNvSpPr txBox="1"/>
                <p:nvPr/>
              </p:nvSpPr>
              <p:spPr>
                <a:xfrm>
                  <a:off x="0" y="1691"/>
                  <a:ext cx="224" cy="288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71" name="Text Box 34"/>
                <p:cNvSpPr txBox="1"/>
                <p:nvPr/>
              </p:nvSpPr>
              <p:spPr>
                <a:xfrm>
                  <a:off x="0" y="2205"/>
                  <a:ext cx="212" cy="288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_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72" name="Rectangle 35"/>
                <p:cNvSpPr/>
                <p:nvPr/>
              </p:nvSpPr>
              <p:spPr>
                <a:xfrm>
                  <a:off x="-23" y="1897"/>
                  <a:ext cx="287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>
                  <a:spAutoFit/>
                </a:bodyPr>
                <a:p>
                  <a:r>
                    <a:rPr lang="en-US" altLang="zh-CN" sz="32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sz="2000" b="1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</a:t>
                  </a:r>
                  <a:endPara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873" name="Text Box 36"/>
              <p:cNvSpPr txBox="1"/>
              <p:nvPr/>
            </p:nvSpPr>
            <p:spPr>
              <a:xfrm>
                <a:off x="793" y="1389"/>
                <a:ext cx="223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4" name="Text Box 37"/>
              <p:cNvSpPr txBox="1"/>
              <p:nvPr/>
            </p:nvSpPr>
            <p:spPr>
              <a:xfrm>
                <a:off x="793" y="1661"/>
                <a:ext cx="211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5" name="Text Box 38"/>
              <p:cNvSpPr txBox="1"/>
              <p:nvPr/>
            </p:nvSpPr>
            <p:spPr>
              <a:xfrm>
                <a:off x="340" y="1162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6" name="Text Box 39"/>
              <p:cNvSpPr txBox="1"/>
              <p:nvPr/>
            </p:nvSpPr>
            <p:spPr>
              <a:xfrm>
                <a:off x="1338" y="1162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7" name="Text Box 40"/>
              <p:cNvSpPr txBox="1"/>
              <p:nvPr/>
            </p:nvSpPr>
            <p:spPr>
              <a:xfrm>
                <a:off x="1292" y="709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8" name="Text Box 41"/>
              <p:cNvSpPr txBox="1"/>
              <p:nvPr/>
            </p:nvSpPr>
            <p:spPr>
              <a:xfrm>
                <a:off x="204" y="1456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9" name="Text Box 42"/>
              <p:cNvSpPr txBox="1"/>
              <p:nvPr/>
            </p:nvSpPr>
            <p:spPr>
              <a:xfrm>
                <a:off x="1429" y="1525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80" name="Text Box 43"/>
              <p:cNvSpPr txBox="1"/>
              <p:nvPr/>
            </p:nvSpPr>
            <p:spPr>
              <a:xfrm>
                <a:off x="1020" y="2205"/>
                <a:ext cx="262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881" name="Group 44"/>
              <p:cNvGrpSpPr/>
              <p:nvPr/>
            </p:nvGrpSpPr>
            <p:grpSpPr>
              <a:xfrm>
                <a:off x="839" y="2568"/>
                <a:ext cx="503" cy="349"/>
                <a:chOff x="3502" y="2173"/>
                <a:chExt cx="562" cy="336"/>
              </a:xfrm>
            </p:grpSpPr>
            <p:sp>
              <p:nvSpPr>
                <p:cNvPr id="35882" name="Text Box 45"/>
                <p:cNvSpPr txBox="1"/>
                <p:nvPr/>
              </p:nvSpPr>
              <p:spPr>
                <a:xfrm>
                  <a:off x="3651" y="2268"/>
                  <a:ext cx="413" cy="241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r>
                    <a:rPr lang="en-US" altLang="zh-CN" sz="20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sz="2000" b="1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EE</a:t>
                  </a:r>
                  <a:endPara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883" name="Text Box 46"/>
                <p:cNvSpPr txBox="1"/>
                <p:nvPr/>
              </p:nvSpPr>
              <p:spPr>
                <a:xfrm>
                  <a:off x="3502" y="2173"/>
                  <a:ext cx="237" cy="277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_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5884" name="Group 47"/>
            <p:cNvGrpSpPr/>
            <p:nvPr/>
          </p:nvGrpSpPr>
          <p:grpSpPr>
            <a:xfrm>
              <a:off x="884" y="2251"/>
              <a:ext cx="182" cy="181"/>
              <a:chOff x="2064" y="3249"/>
              <a:chExt cx="288" cy="277"/>
            </a:xfrm>
          </p:grpSpPr>
          <p:sp>
            <p:nvSpPr>
              <p:cNvPr id="284720" name="Oval 48"/>
              <p:cNvSpPr>
                <a:spLocks noChangeArrowheads="1"/>
              </p:cNvSpPr>
              <p:nvPr/>
            </p:nvSpPr>
            <p:spPr bwMode="auto">
              <a:xfrm rot="5400000">
                <a:off x="2062" y="3236"/>
                <a:ext cx="277" cy="288"/>
              </a:xfrm>
              <a:prstGeom prst="ellipse">
                <a:avLst/>
              </a:prstGeom>
              <a:gradFill rotWithShape="1">
                <a:gsLst>
                  <a:gs pos="0">
                    <a:srgbClr val="66FFCC">
                      <a:gamma/>
                      <a:shade val="46275"/>
                      <a:invGamma/>
                    </a:srgbClr>
                  </a:gs>
                  <a:gs pos="50000">
                    <a:srgbClr val="66FFCC"/>
                  </a:gs>
                  <a:gs pos="100000">
                    <a:srgbClr val="66FFCC">
                      <a:gamma/>
                      <a:shade val="46275"/>
                      <a:invGamma/>
                    </a:srgbClr>
                  </a:gs>
                </a:gsLst>
                <a:lin ang="18900000" scaled="1"/>
              </a:gradFill>
              <a:ln w="38100">
                <a:solidFill>
                  <a:srgbClr val="FFD3A7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rgbClr val="FFD3A7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4721" name="Line 49"/>
              <p:cNvSpPr>
                <a:spLocks noChangeShapeType="1"/>
              </p:cNvSpPr>
              <p:nvPr/>
            </p:nvSpPr>
            <p:spPr bwMode="auto">
              <a:xfrm>
                <a:off x="2064" y="3385"/>
                <a:ext cx="272" cy="0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84722" name="Oval 50"/>
          <p:cNvSpPr>
            <a:spLocks noChangeArrowheads="1"/>
          </p:cNvSpPr>
          <p:nvPr/>
        </p:nvSpPr>
        <p:spPr bwMode="auto">
          <a:xfrm rot="5400000">
            <a:off x="7596981" y="3572669"/>
            <a:ext cx="287338" cy="288925"/>
          </a:xfrm>
          <a:prstGeom prst="ellipse">
            <a:avLst/>
          </a:prstGeom>
          <a:gradFill rotWithShape="1">
            <a:gsLst>
              <a:gs pos="0">
                <a:srgbClr val="66FFCC">
                  <a:gamma/>
                  <a:shade val="46275"/>
                  <a:invGamma/>
                </a:srgbClr>
              </a:gs>
              <a:gs pos="50000">
                <a:srgbClr val="66FFCC"/>
              </a:gs>
              <a:gs pos="100000">
                <a:srgbClr val="66FFCC">
                  <a:gamma/>
                  <a:shade val="46275"/>
                  <a:invGamma/>
                </a:srgbClr>
              </a:gs>
            </a:gsLst>
            <a:lin ang="18900000" scaled="1"/>
          </a:gradFill>
          <a:ln w="38100">
            <a:solidFill>
              <a:srgbClr val="FFD3A7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FFD3A7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723" name="Line 51"/>
          <p:cNvSpPr>
            <a:spLocks noChangeShapeType="1"/>
          </p:cNvSpPr>
          <p:nvPr/>
        </p:nvSpPr>
        <p:spPr bwMode="auto">
          <a:xfrm>
            <a:off x="7596188" y="3714750"/>
            <a:ext cx="273050" cy="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889" name="Group 52"/>
          <p:cNvGrpSpPr/>
          <p:nvPr/>
        </p:nvGrpSpPr>
        <p:grpSpPr>
          <a:xfrm>
            <a:off x="3059113" y="1125538"/>
            <a:ext cx="3097212" cy="3505200"/>
            <a:chOff x="1927" y="709"/>
            <a:chExt cx="1951" cy="2208"/>
          </a:xfrm>
        </p:grpSpPr>
        <p:grpSp>
          <p:nvGrpSpPr>
            <p:cNvPr id="35890" name="Group 53"/>
            <p:cNvGrpSpPr/>
            <p:nvPr/>
          </p:nvGrpSpPr>
          <p:grpSpPr>
            <a:xfrm>
              <a:off x="1927" y="709"/>
              <a:ext cx="1951" cy="2208"/>
              <a:chOff x="1927" y="709"/>
              <a:chExt cx="1951" cy="2208"/>
            </a:xfrm>
          </p:grpSpPr>
          <p:graphicFrame>
            <p:nvGraphicFramePr>
              <p:cNvPr id="35891" name="Object 54"/>
              <p:cNvGraphicFramePr>
                <a:graphicFrameLocks noChangeAspect="1"/>
              </p:cNvGraphicFramePr>
              <p:nvPr/>
            </p:nvGraphicFramePr>
            <p:xfrm>
              <a:off x="2154" y="935"/>
              <a:ext cx="1697" cy="18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" r:id="rId5" imgW="8331200" imgH="3746500" progId="Photoshop.Image.7">
                      <p:embed/>
                    </p:oleObj>
                  </mc:Choice>
                  <mc:Fallback>
                    <p:oleObj name="" r:id="rId5" imgW="8331200" imgH="3746500" progId="Photoshop.Image.7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154" y="935"/>
                            <a:ext cx="1697" cy="18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92" name="Text Box 55"/>
              <p:cNvSpPr txBox="1"/>
              <p:nvPr/>
            </p:nvSpPr>
            <p:spPr>
              <a:xfrm>
                <a:off x="2768" y="1525"/>
                <a:ext cx="293" cy="327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3" name="Text Box 56"/>
              <p:cNvSpPr txBox="1"/>
              <p:nvPr/>
            </p:nvSpPr>
            <p:spPr>
              <a:xfrm>
                <a:off x="1973" y="1616"/>
                <a:ext cx="224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4" name="Text Box 57"/>
              <p:cNvSpPr txBox="1"/>
              <p:nvPr/>
            </p:nvSpPr>
            <p:spPr>
              <a:xfrm>
                <a:off x="1988" y="2235"/>
                <a:ext cx="212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5" name="Rectangle 58"/>
              <p:cNvSpPr/>
              <p:nvPr/>
            </p:nvSpPr>
            <p:spPr>
              <a:xfrm>
                <a:off x="1927" y="1888"/>
                <a:ext cx="28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32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6" name="Text Box 59"/>
              <p:cNvSpPr txBox="1"/>
              <p:nvPr/>
            </p:nvSpPr>
            <p:spPr>
              <a:xfrm>
                <a:off x="2326" y="1184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7" name="Text Box 60"/>
              <p:cNvSpPr txBox="1"/>
              <p:nvPr/>
            </p:nvSpPr>
            <p:spPr>
              <a:xfrm>
                <a:off x="3323" y="1162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8" name="Text Box 61"/>
              <p:cNvSpPr txBox="1"/>
              <p:nvPr/>
            </p:nvSpPr>
            <p:spPr>
              <a:xfrm>
                <a:off x="3254" y="709"/>
                <a:ext cx="6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CC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99" name="Text Box 62"/>
              <p:cNvSpPr txBox="1"/>
              <p:nvPr/>
            </p:nvSpPr>
            <p:spPr>
              <a:xfrm>
                <a:off x="2280" y="1480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0" name="Text Box 63"/>
              <p:cNvSpPr txBox="1"/>
              <p:nvPr/>
            </p:nvSpPr>
            <p:spPr>
              <a:xfrm>
                <a:off x="3369" y="1480"/>
                <a:ext cx="37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1" name="Text Box 64"/>
              <p:cNvSpPr txBox="1"/>
              <p:nvPr/>
            </p:nvSpPr>
            <p:spPr>
              <a:xfrm>
                <a:off x="3016" y="2205"/>
                <a:ext cx="262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endPara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902" name="Group 65"/>
              <p:cNvGrpSpPr/>
              <p:nvPr/>
            </p:nvGrpSpPr>
            <p:grpSpPr>
              <a:xfrm>
                <a:off x="2880" y="2568"/>
                <a:ext cx="503" cy="349"/>
                <a:chOff x="3502" y="2173"/>
                <a:chExt cx="562" cy="336"/>
              </a:xfrm>
            </p:grpSpPr>
            <p:sp>
              <p:nvSpPr>
                <p:cNvPr id="35903" name="Text Box 66"/>
                <p:cNvSpPr txBox="1"/>
                <p:nvPr/>
              </p:nvSpPr>
              <p:spPr>
                <a:xfrm>
                  <a:off x="3651" y="2268"/>
                  <a:ext cx="413" cy="241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r>
                    <a:rPr lang="en-US" altLang="zh-CN" sz="2000" b="1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r>
                    <a:rPr lang="en-US" altLang="zh-CN" sz="2000" b="1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EE</a:t>
                  </a:r>
                  <a:endParaRPr lang="en-US" altLang="zh-CN" sz="20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904" name="Text Box 67"/>
                <p:cNvSpPr txBox="1"/>
                <p:nvPr/>
              </p:nvSpPr>
              <p:spPr>
                <a:xfrm>
                  <a:off x="3502" y="2173"/>
                  <a:ext cx="237" cy="277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anchor="t">
                  <a:spAutoFit/>
                </a:bodyPr>
                <a:p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_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5905" name="Group 68"/>
            <p:cNvGrpSpPr/>
            <p:nvPr/>
          </p:nvGrpSpPr>
          <p:grpSpPr>
            <a:xfrm>
              <a:off x="2789" y="1285"/>
              <a:ext cx="161" cy="705"/>
              <a:chOff x="2789" y="1331"/>
              <a:chExt cx="161" cy="705"/>
            </a:xfrm>
          </p:grpSpPr>
          <p:sp>
            <p:nvSpPr>
              <p:cNvPr id="35906" name="Text Box 69"/>
              <p:cNvSpPr txBox="1"/>
              <p:nvPr/>
            </p:nvSpPr>
            <p:spPr>
              <a:xfrm>
                <a:off x="2834" y="1786"/>
                <a:ext cx="116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endParaRPr lang="en-US" altLang="zh-CN" sz="20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07" name="Text Box 70"/>
              <p:cNvSpPr txBox="1"/>
              <p:nvPr/>
            </p:nvSpPr>
            <p:spPr>
              <a:xfrm>
                <a:off x="2789" y="1331"/>
                <a:ext cx="116" cy="288"/>
              </a:xfrm>
              <a:prstGeom prst="rect">
                <a:avLst/>
              </a:prstGeom>
              <a:noFill/>
              <a:ln w="34925">
                <a:noFill/>
              </a:ln>
            </p:spPr>
            <p:txBody>
              <a:bodyPr wrap="none" anchor="t">
                <a:spAutoFit/>
              </a:bodyPr>
              <a:p>
                <a:endParaRPr lang="en-US" altLang="zh-CN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908" name="Group 71"/>
            <p:cNvGrpSpPr/>
            <p:nvPr/>
          </p:nvGrpSpPr>
          <p:grpSpPr>
            <a:xfrm>
              <a:off x="3288" y="1467"/>
              <a:ext cx="359" cy="705"/>
              <a:chOff x="3288" y="1467"/>
              <a:chExt cx="359" cy="705"/>
            </a:xfrm>
          </p:grpSpPr>
          <p:sp>
            <p:nvSpPr>
              <p:cNvPr id="35909" name="Rectangle 72"/>
              <p:cNvSpPr/>
              <p:nvPr/>
            </p:nvSpPr>
            <p:spPr>
              <a:xfrm>
                <a:off x="3448" y="1838"/>
                <a:ext cx="116" cy="19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endParaRPr lang="zh-CN" altLang="zh-CN" sz="14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910" name="Group 73"/>
              <p:cNvGrpSpPr/>
              <p:nvPr/>
            </p:nvGrpSpPr>
            <p:grpSpPr>
              <a:xfrm>
                <a:off x="3288" y="1467"/>
                <a:ext cx="359" cy="705"/>
                <a:chOff x="3288" y="1467"/>
                <a:chExt cx="359" cy="705"/>
              </a:xfrm>
            </p:grpSpPr>
            <p:sp>
              <p:nvSpPr>
                <p:cNvPr id="35911" name="Text Box 74"/>
                <p:cNvSpPr txBox="1"/>
                <p:nvPr/>
              </p:nvSpPr>
              <p:spPr>
                <a:xfrm>
                  <a:off x="3288" y="1922"/>
                  <a:ext cx="116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>
                  <a:spAutoFit/>
                </a:bodyPr>
                <a:p>
                  <a:pPr algn="ctr"/>
                  <a:endParaRPr lang="zh-CN" altLang="zh-CN" sz="20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912" name="Text Box 75"/>
                <p:cNvSpPr txBox="1"/>
                <p:nvPr/>
              </p:nvSpPr>
              <p:spPr>
                <a:xfrm>
                  <a:off x="3531" y="1467"/>
                  <a:ext cx="116" cy="288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endParaRPr lang="zh-CN" altLang="zh-CN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5913" name="Group 76"/>
            <p:cNvGrpSpPr/>
            <p:nvPr/>
          </p:nvGrpSpPr>
          <p:grpSpPr>
            <a:xfrm>
              <a:off x="2154" y="1559"/>
              <a:ext cx="389" cy="536"/>
              <a:chOff x="2154" y="1559"/>
              <a:chExt cx="389" cy="536"/>
            </a:xfrm>
          </p:grpSpPr>
          <p:sp>
            <p:nvSpPr>
              <p:cNvPr id="35914" name="Rectangle 77"/>
              <p:cNvSpPr/>
              <p:nvPr/>
            </p:nvSpPr>
            <p:spPr>
              <a:xfrm>
                <a:off x="2314" y="1838"/>
                <a:ext cx="116" cy="19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t">
                <a:spAutoFit/>
              </a:bodyPr>
              <a:p>
                <a:pPr algn="ctr"/>
                <a:endParaRPr lang="zh-CN" altLang="zh-CN" sz="14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915" name="Group 78"/>
              <p:cNvGrpSpPr/>
              <p:nvPr/>
            </p:nvGrpSpPr>
            <p:grpSpPr>
              <a:xfrm>
                <a:off x="2154" y="1559"/>
                <a:ext cx="389" cy="536"/>
                <a:chOff x="2199" y="1536"/>
                <a:chExt cx="389" cy="536"/>
              </a:xfrm>
            </p:grpSpPr>
            <p:sp>
              <p:nvSpPr>
                <p:cNvPr id="35916" name="Text Box 79"/>
                <p:cNvSpPr txBox="1"/>
                <p:nvPr/>
              </p:nvSpPr>
              <p:spPr>
                <a:xfrm>
                  <a:off x="2199" y="1536"/>
                  <a:ext cx="116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t">
                  <a:spAutoFit/>
                </a:bodyPr>
                <a:p>
                  <a:pPr algn="ctr"/>
                  <a:endParaRPr lang="zh-CN" altLang="zh-CN" sz="20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917" name="Text Box 80"/>
                <p:cNvSpPr txBox="1"/>
                <p:nvPr/>
              </p:nvSpPr>
              <p:spPr>
                <a:xfrm>
                  <a:off x="2472" y="1784"/>
                  <a:ext cx="116" cy="288"/>
                </a:xfrm>
                <a:prstGeom prst="rect">
                  <a:avLst/>
                </a:prstGeom>
                <a:noFill/>
                <a:ln w="34925">
                  <a:noFill/>
                </a:ln>
              </p:spPr>
              <p:txBody>
                <a:bodyPr wrap="none" anchor="t">
                  <a:spAutoFit/>
                </a:bodyPr>
                <a:p>
                  <a:endParaRPr lang="zh-CN" altLang="zh-CN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35918" name="Group 81"/>
            <p:cNvGrpSpPr/>
            <p:nvPr/>
          </p:nvGrpSpPr>
          <p:grpSpPr>
            <a:xfrm>
              <a:off x="2880" y="2251"/>
              <a:ext cx="182" cy="181"/>
              <a:chOff x="2064" y="3249"/>
              <a:chExt cx="288" cy="277"/>
            </a:xfrm>
          </p:grpSpPr>
          <p:sp>
            <p:nvSpPr>
              <p:cNvPr id="284754" name="Oval 82"/>
              <p:cNvSpPr>
                <a:spLocks noChangeArrowheads="1"/>
              </p:cNvSpPr>
              <p:nvPr/>
            </p:nvSpPr>
            <p:spPr bwMode="auto">
              <a:xfrm rot="5400000">
                <a:off x="2062" y="3236"/>
                <a:ext cx="277" cy="288"/>
              </a:xfrm>
              <a:prstGeom prst="ellipse">
                <a:avLst/>
              </a:prstGeom>
              <a:gradFill rotWithShape="1">
                <a:gsLst>
                  <a:gs pos="0">
                    <a:srgbClr val="66FFCC">
                      <a:gamma/>
                      <a:shade val="46275"/>
                      <a:invGamma/>
                    </a:srgbClr>
                  </a:gs>
                  <a:gs pos="50000">
                    <a:srgbClr val="66FFCC"/>
                  </a:gs>
                  <a:gs pos="100000">
                    <a:srgbClr val="66FFCC">
                      <a:gamma/>
                      <a:shade val="46275"/>
                      <a:invGamma/>
                    </a:srgbClr>
                  </a:gs>
                </a:gsLst>
                <a:lin ang="18900000" scaled="1"/>
              </a:gradFill>
              <a:ln w="38100">
                <a:solidFill>
                  <a:srgbClr val="FFD3A7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rgbClr val="FFD3A7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4755" name="Line 83"/>
              <p:cNvSpPr>
                <a:spLocks noChangeShapeType="1"/>
              </p:cNvSpPr>
              <p:nvPr/>
            </p:nvSpPr>
            <p:spPr bwMode="auto">
              <a:xfrm>
                <a:off x="2064" y="3385"/>
                <a:ext cx="272" cy="0"/>
              </a:xfrm>
              <a:prstGeom prst="line">
                <a:avLst/>
              </a:prstGeom>
              <a:noFill/>
              <a:ln w="38100">
                <a:solidFill>
                  <a:srgbClr val="FFCC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5921" name="Rectangle 84"/>
          <p:cNvSpPr/>
          <p:nvPr/>
        </p:nvSpPr>
        <p:spPr>
          <a:xfrm>
            <a:off x="4445000" y="2209800"/>
            <a:ext cx="355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22" name="Rectangle 85"/>
          <p:cNvSpPr/>
          <p:nvPr/>
        </p:nvSpPr>
        <p:spPr>
          <a:xfrm>
            <a:off x="4464050" y="2667000"/>
            <a:ext cx="33655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/>
      <p:bldP spid="284677" grpId="0"/>
      <p:bldP spid="28467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6865" name="Group 2"/>
          <p:cNvGrpSpPr/>
          <p:nvPr/>
        </p:nvGrpSpPr>
        <p:grpSpPr>
          <a:xfrm>
            <a:off x="250825" y="404813"/>
            <a:ext cx="7872413" cy="612775"/>
            <a:chOff x="158" y="210"/>
            <a:chExt cx="4959" cy="386"/>
          </a:xfrm>
        </p:grpSpPr>
        <p:sp>
          <p:nvSpPr>
            <p:cNvPr id="36866" name="Rectangle 3"/>
            <p:cNvSpPr/>
            <p:nvPr/>
          </p:nvSpPr>
          <p:spPr>
            <a:xfrm>
              <a:off x="158" y="210"/>
              <a:ext cx="2931" cy="386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t">
              <a:spAutoFit/>
            </a:bodyPr>
            <a:p>
              <a:r>
                <a:rPr lang="en-US" altLang="zh-CN" sz="3200" dirty="0">
                  <a:solidFill>
                    <a:srgbClr val="FBDDAD"/>
                  </a:solidFill>
                  <a:latin typeface="Times New Roman" panose="02020603050405020304" pitchFamily="18" charset="0"/>
                  <a:ea typeface="隶书" pitchFamily="49" charset="-122"/>
                </a:rPr>
                <a:t>3. </a:t>
              </a:r>
              <a:r>
                <a:rPr lang="en-US" altLang="en-US" sz="3200" dirty="0">
                  <a:solidFill>
                    <a:srgbClr val="FBDDAD"/>
                  </a:solidFill>
                  <a:latin typeface="Times New Roman" panose="02020603050405020304" pitchFamily="18" charset="0"/>
                  <a:ea typeface="隶书" pitchFamily="49" charset="-122"/>
                </a:rPr>
                <a:t>集成运放的</a:t>
              </a:r>
              <a:r>
                <a:rPr lang="zh-CN" altLang="en-US" sz="3200" dirty="0">
                  <a:solidFill>
                    <a:srgbClr val="FBDDAD"/>
                  </a:solidFill>
                  <a:latin typeface="Times New Roman" panose="02020603050405020304" pitchFamily="18" charset="0"/>
                  <a:ea typeface="隶书" pitchFamily="49" charset="-122"/>
                </a:rPr>
                <a:t>输出级电路</a:t>
              </a:r>
              <a:endParaRPr lang="zh-CN" altLang="en-US" sz="3200" dirty="0">
                <a:solidFill>
                  <a:srgbClr val="FBDDAD"/>
                </a:solidFill>
                <a:latin typeface="Times New Roman" panose="02020603050405020304" pitchFamily="18" charset="0"/>
                <a:ea typeface="隶书" pitchFamily="49" charset="-122"/>
              </a:endParaRPr>
            </a:p>
          </p:txBody>
        </p:sp>
        <p:grpSp>
          <p:nvGrpSpPr>
            <p:cNvPr id="36867" name="Group 4"/>
            <p:cNvGrpSpPr/>
            <p:nvPr/>
          </p:nvGrpSpPr>
          <p:grpSpPr>
            <a:xfrm>
              <a:off x="3157" y="229"/>
              <a:ext cx="1960" cy="365"/>
              <a:chOff x="3474" y="254"/>
              <a:chExt cx="1960" cy="365"/>
            </a:xfrm>
          </p:grpSpPr>
          <p:sp>
            <p:nvSpPr>
              <p:cNvPr id="285701" name="Line 5"/>
              <p:cNvSpPr>
                <a:spLocks noChangeShapeType="1"/>
              </p:cNvSpPr>
              <p:nvPr/>
            </p:nvSpPr>
            <p:spPr bwMode="auto">
              <a:xfrm>
                <a:off x="3474" y="437"/>
                <a:ext cx="227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869" name="Text Box 6"/>
              <p:cNvSpPr txBox="1"/>
              <p:nvPr/>
            </p:nvSpPr>
            <p:spPr>
              <a:xfrm>
                <a:off x="3776" y="254"/>
                <a:ext cx="165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3200" b="1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幼圆" pitchFamily="49" charset="-122"/>
                  </a:rPr>
                  <a:t>互补对称电路</a:t>
                </a:r>
                <a:endParaRPr lang="zh-CN" altLang="en-US" sz="32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幼圆" pitchFamily="49" charset="-122"/>
                </a:endParaRPr>
              </a:p>
            </p:txBody>
          </p:sp>
        </p:grpSp>
      </p:grpSp>
      <p:graphicFrame>
        <p:nvGraphicFramePr>
          <p:cNvPr id="36870" name="Object 7"/>
          <p:cNvGraphicFramePr>
            <a:graphicFrameLocks noChangeAspect="1"/>
          </p:cNvGraphicFramePr>
          <p:nvPr/>
        </p:nvGraphicFramePr>
        <p:xfrm>
          <a:off x="827088" y="1412875"/>
          <a:ext cx="3200400" cy="444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4292600" imgH="5067300" progId="Photoshop.Image.5">
                  <p:embed/>
                </p:oleObj>
              </mc:Choice>
              <mc:Fallback>
                <p:oleObj name="" r:id="rId1" imgW="4292600" imgH="5067300" progId="Photoshop.Image.5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412875"/>
                        <a:ext cx="3200400" cy="4440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8"/>
          <p:cNvSpPr/>
          <p:nvPr/>
        </p:nvSpPr>
        <p:spPr>
          <a:xfrm>
            <a:off x="2973388" y="1641475"/>
            <a:ext cx="8461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2" name="Rectangle 9"/>
          <p:cNvSpPr/>
          <p:nvPr/>
        </p:nvSpPr>
        <p:spPr>
          <a:xfrm>
            <a:off x="1214438" y="1790700"/>
            <a:ext cx="44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3" name="Rectangle 10"/>
          <p:cNvSpPr/>
          <p:nvPr/>
        </p:nvSpPr>
        <p:spPr>
          <a:xfrm>
            <a:off x="1181100" y="4930775"/>
            <a:ext cx="44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4" name="Rectangle 11"/>
          <p:cNvSpPr/>
          <p:nvPr/>
        </p:nvSpPr>
        <p:spPr>
          <a:xfrm>
            <a:off x="3278188" y="4003675"/>
            <a:ext cx="45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120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5" name="Rectangle 12"/>
          <p:cNvSpPr/>
          <p:nvPr/>
        </p:nvSpPr>
        <p:spPr>
          <a:xfrm>
            <a:off x="2363788" y="2098675"/>
            <a:ext cx="44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6" name="Rectangle 13"/>
          <p:cNvSpPr/>
          <p:nvPr/>
        </p:nvSpPr>
        <p:spPr>
          <a:xfrm>
            <a:off x="2419350" y="4206875"/>
            <a:ext cx="44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7" name="Rectangle 14"/>
          <p:cNvSpPr/>
          <p:nvPr/>
        </p:nvSpPr>
        <p:spPr>
          <a:xfrm>
            <a:off x="2486025" y="3406775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8" name="Rectangle 15"/>
          <p:cNvSpPr/>
          <p:nvPr/>
        </p:nvSpPr>
        <p:spPr>
          <a:xfrm>
            <a:off x="3049588" y="2327275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9" name="Rectangle 16"/>
          <p:cNvSpPr/>
          <p:nvPr/>
        </p:nvSpPr>
        <p:spPr>
          <a:xfrm>
            <a:off x="3105150" y="4622800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80" name="Rectangle 17"/>
          <p:cNvSpPr/>
          <p:nvPr/>
        </p:nvSpPr>
        <p:spPr>
          <a:xfrm>
            <a:off x="3949700" y="3962400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00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81" name="Rectangle 18"/>
          <p:cNvSpPr/>
          <p:nvPr/>
        </p:nvSpPr>
        <p:spPr>
          <a:xfrm>
            <a:off x="3190875" y="3179763"/>
            <a:ext cx="3921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82" name="Rectangle 19"/>
          <p:cNvSpPr/>
          <p:nvPr/>
        </p:nvSpPr>
        <p:spPr>
          <a:xfrm>
            <a:off x="3278188" y="5429250"/>
            <a:ext cx="9794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endParaRPr lang="en-US" altLang="zh-CN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16" name="Text Box 20"/>
          <p:cNvSpPr txBox="1"/>
          <p:nvPr/>
        </p:nvSpPr>
        <p:spPr>
          <a:xfrm>
            <a:off x="4716463" y="1341438"/>
            <a:ext cx="1249362" cy="549275"/>
          </a:xfrm>
          <a:prstGeom prst="rect">
            <a:avLst/>
          </a:prstGeom>
          <a:noFill/>
          <a:ln w="34925">
            <a:noFill/>
          </a:ln>
        </p:spPr>
        <p:txBody>
          <a:bodyPr wrap="none" anchor="t">
            <a:spAutoFit/>
          </a:bodyPr>
          <a:p>
            <a:r>
              <a:rPr lang="zh-CN" altLang="en-US" sz="2800" dirty="0">
                <a:solidFill>
                  <a:srgbClr val="FFCCFF"/>
                </a:solidFill>
                <a:latin typeface="Times New Roman" panose="02020603050405020304" pitchFamily="18" charset="0"/>
                <a:ea typeface="隶书" pitchFamily="49" charset="-122"/>
              </a:rPr>
              <a:t>特点：</a:t>
            </a:r>
            <a:endParaRPr lang="zh-CN" altLang="en-US" sz="2800" dirty="0">
              <a:solidFill>
                <a:srgbClr val="FFC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grpSp>
        <p:nvGrpSpPr>
          <p:cNvPr id="285717" name="Group 21"/>
          <p:cNvGrpSpPr/>
          <p:nvPr/>
        </p:nvGrpSpPr>
        <p:grpSpPr>
          <a:xfrm>
            <a:off x="4787900" y="1916113"/>
            <a:ext cx="4356100" cy="1187450"/>
            <a:chOff x="3016" y="1207"/>
            <a:chExt cx="2744" cy="748"/>
          </a:xfrm>
        </p:grpSpPr>
        <p:sp>
          <p:nvSpPr>
            <p:cNvPr id="36885" name="Text Box 22"/>
            <p:cNvSpPr txBox="1"/>
            <p:nvPr/>
          </p:nvSpPr>
          <p:spPr>
            <a:xfrm>
              <a:off x="3198" y="1207"/>
              <a:ext cx="2562" cy="748"/>
            </a:xfrm>
            <a:prstGeom prst="rect">
              <a:avLst/>
            </a:prstGeom>
            <a:noFill/>
            <a:ln w="349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1</a:t>
              </a:r>
              <a:r>
                <a:rPr lang="zh-CN" altLang="en-US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和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T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itchFamily="49" charset="-122"/>
                </a:rPr>
                <a:t>2</a:t>
              </a:r>
              <a:r>
                <a:rPr lang="zh-CN" altLang="en-US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两个晶体管特性相同且轮流导通，提高输出功率。</a:t>
              </a:r>
              <a:endPara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85719" name="Oval 23"/>
            <p:cNvSpPr>
              <a:spLocks noChangeArrowheads="1"/>
            </p:cNvSpPr>
            <p:nvPr/>
          </p:nvSpPr>
          <p:spPr bwMode="auto">
            <a:xfrm>
              <a:off x="3016" y="1298"/>
              <a:ext cx="91" cy="136"/>
            </a:xfrm>
            <a:prstGeom prst="ellipse">
              <a:avLst/>
            </a:prstGeom>
            <a:solidFill>
              <a:schemeClr val="accent1"/>
            </a:solidFill>
            <a:ln w="34925">
              <a:solidFill>
                <a:srgbClr val="FBDDA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5720" name="Group 24"/>
          <p:cNvGrpSpPr/>
          <p:nvPr/>
        </p:nvGrpSpPr>
        <p:grpSpPr>
          <a:xfrm>
            <a:off x="4787900" y="4221163"/>
            <a:ext cx="4356100" cy="1552575"/>
            <a:chOff x="3016" y="2659"/>
            <a:chExt cx="2744" cy="978"/>
          </a:xfrm>
        </p:grpSpPr>
        <p:sp>
          <p:nvSpPr>
            <p:cNvPr id="285721" name="Oval 25"/>
            <p:cNvSpPr>
              <a:spLocks noChangeArrowheads="1"/>
            </p:cNvSpPr>
            <p:nvPr/>
          </p:nvSpPr>
          <p:spPr bwMode="auto">
            <a:xfrm>
              <a:off x="3016" y="2750"/>
              <a:ext cx="91" cy="136"/>
            </a:xfrm>
            <a:prstGeom prst="ellipse">
              <a:avLst/>
            </a:prstGeom>
            <a:solidFill>
              <a:srgbClr val="3399FF"/>
            </a:solidFill>
            <a:ln w="34925">
              <a:solidFill>
                <a:srgbClr val="FBDDA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9" name="Rectangle 26"/>
            <p:cNvSpPr/>
            <p:nvPr/>
          </p:nvSpPr>
          <p:spPr>
            <a:xfrm>
              <a:off x="3107" y="2659"/>
              <a:ext cx="2653" cy="978"/>
            </a:xfrm>
            <a:prstGeom prst="rect">
              <a:avLst/>
            </a:prstGeom>
            <a:noFill/>
            <a:ln w="349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</a:t>
              </a:r>
              <a:r>
                <a:rPr lang="zh-CN" altLang="en-US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互补对称电路结构对称，采 用正负对称电源，静态时无直流电压输出，负载可直接接到发射极，实现了直接耦合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5723" name="Group 27"/>
          <p:cNvGrpSpPr/>
          <p:nvPr/>
        </p:nvGrpSpPr>
        <p:grpSpPr>
          <a:xfrm>
            <a:off x="4787900" y="2997200"/>
            <a:ext cx="4356100" cy="822325"/>
            <a:chOff x="3016" y="1888"/>
            <a:chExt cx="2744" cy="518"/>
          </a:xfrm>
        </p:grpSpPr>
        <p:sp>
          <p:nvSpPr>
            <p:cNvPr id="285724" name="Oval 28"/>
            <p:cNvSpPr>
              <a:spLocks noChangeArrowheads="1"/>
            </p:cNvSpPr>
            <p:nvPr/>
          </p:nvSpPr>
          <p:spPr bwMode="auto">
            <a:xfrm>
              <a:off x="3016" y="1979"/>
              <a:ext cx="91" cy="136"/>
            </a:xfrm>
            <a:prstGeom prst="ellipse">
              <a:avLst/>
            </a:prstGeom>
            <a:solidFill>
              <a:srgbClr val="E74423"/>
            </a:solidFill>
            <a:ln w="34925">
              <a:solidFill>
                <a:srgbClr val="FBDDA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92" name="Rectangle 29"/>
            <p:cNvSpPr/>
            <p:nvPr/>
          </p:nvSpPr>
          <p:spPr>
            <a:xfrm>
              <a:off x="3198" y="1888"/>
              <a:ext cx="2562" cy="518"/>
            </a:xfrm>
            <a:prstGeom prst="rect">
              <a:avLst/>
            </a:prstGeom>
            <a:noFill/>
            <a:ln w="349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电路为射级输出器，输出电阻小，带负载能力强。</a:t>
              </a:r>
              <a:endParaRPr lang="zh-CN" altLang="en-US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</p:grpSp>
      <p:sp>
        <p:nvSpPr>
          <p:cNvPr id="36893" name="Text Box 31">
            <a:hlinkClick r:id="" action="ppaction://hlinkshowjump?jump=previousslide"/>
          </p:cNvPr>
          <p:cNvSpPr txBox="1"/>
          <p:nvPr/>
        </p:nvSpPr>
        <p:spPr>
          <a:xfrm>
            <a:off x="5181600" y="62626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上页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6894" name="Text Box 32">
            <a:hlinkClick r:id="" action="ppaction://hlinkshowjump?jump=nextslide"/>
          </p:cNvPr>
          <p:cNvSpPr txBox="1"/>
          <p:nvPr/>
        </p:nvSpPr>
        <p:spPr>
          <a:xfrm>
            <a:off x="6477000" y="6262688"/>
            <a:ext cx="9906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下页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36895" name="Text Box 33"/>
          <p:cNvSpPr txBox="1"/>
          <p:nvPr/>
        </p:nvSpPr>
        <p:spPr>
          <a:xfrm>
            <a:off x="7696200" y="626268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CCECFF"/>
                </a:solidFill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800" dirty="0">
              <a:solidFill>
                <a:srgbClr val="CCECFF"/>
              </a:solidFill>
              <a:latin typeface="Times New Roman" panose="02020603050405020304" pitchFamily="18" charset="0"/>
              <a:ea typeface="隶书" pitchFamily="49" charset="-122"/>
            </a:endParaRPr>
          </a:p>
        </p:txBody>
      </p:sp>
      <p:sp>
        <p:nvSpPr>
          <p:cNvPr id="285731" name="Rectangle 35"/>
          <p:cNvSpPr>
            <a:spLocks noChangeArrowheads="1"/>
          </p:cNvSpPr>
          <p:nvPr/>
        </p:nvSpPr>
        <p:spPr bwMode="auto">
          <a:xfrm>
            <a:off x="827088" y="2565400"/>
            <a:ext cx="792163" cy="287338"/>
          </a:xfrm>
          <a:prstGeom prst="rect">
            <a:avLst/>
          </a:prstGeom>
          <a:solidFill>
            <a:srgbClr val="0E4DB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32" name="Rectangle 36"/>
          <p:cNvSpPr>
            <a:spLocks noChangeArrowheads="1"/>
          </p:cNvSpPr>
          <p:nvPr/>
        </p:nvSpPr>
        <p:spPr bwMode="auto">
          <a:xfrm>
            <a:off x="3779838" y="3860800"/>
            <a:ext cx="287338" cy="863600"/>
          </a:xfrm>
          <a:prstGeom prst="rect">
            <a:avLst/>
          </a:prstGeom>
          <a:solidFill>
            <a:srgbClr val="0E4DB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98" name="Rectangle 37"/>
          <p:cNvSpPr/>
          <p:nvPr/>
        </p:nvSpPr>
        <p:spPr>
          <a:xfrm>
            <a:off x="1144588" y="2784475"/>
            <a:ext cx="463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34" name="Rectangle 38"/>
          <p:cNvSpPr>
            <a:spLocks noChangeArrowheads="1"/>
          </p:cNvSpPr>
          <p:nvPr/>
        </p:nvSpPr>
        <p:spPr bwMode="auto">
          <a:xfrm>
            <a:off x="827088" y="2708275"/>
            <a:ext cx="1081088" cy="2016125"/>
          </a:xfrm>
          <a:prstGeom prst="rect">
            <a:avLst/>
          </a:prstGeom>
          <a:solidFill>
            <a:srgbClr val="0E4DB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35" name="Line 39"/>
          <p:cNvSpPr>
            <a:spLocks noChangeShapeType="1"/>
          </p:cNvSpPr>
          <p:nvPr/>
        </p:nvSpPr>
        <p:spPr bwMode="auto">
          <a:xfrm>
            <a:off x="1619250" y="2636838"/>
            <a:ext cx="0" cy="2087563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901" name="Rectangle 40"/>
          <p:cNvSpPr/>
          <p:nvPr/>
        </p:nvSpPr>
        <p:spPr>
          <a:xfrm>
            <a:off x="755650" y="3860800"/>
            <a:ext cx="431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37" name="AutoShape 41"/>
          <p:cNvSpPr>
            <a:spLocks noChangeArrowheads="1"/>
          </p:cNvSpPr>
          <p:nvPr/>
        </p:nvSpPr>
        <p:spPr bwMode="auto">
          <a:xfrm>
            <a:off x="1511300" y="3068638"/>
            <a:ext cx="215900" cy="287338"/>
          </a:xfrm>
          <a:prstGeom prst="flowChartMerge">
            <a:avLst/>
          </a:prstGeom>
          <a:noFill/>
          <a:ln w="38100">
            <a:solidFill>
              <a:srgbClr val="FFCC99"/>
            </a:solidFill>
            <a:miter lim="800000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38" name="Line 42"/>
          <p:cNvSpPr>
            <a:spLocks noChangeShapeType="1"/>
          </p:cNvSpPr>
          <p:nvPr/>
        </p:nvSpPr>
        <p:spPr bwMode="auto">
          <a:xfrm>
            <a:off x="1511300" y="3357563"/>
            <a:ext cx="215900" cy="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904" name="Rectangle 43"/>
          <p:cNvSpPr/>
          <p:nvPr/>
        </p:nvSpPr>
        <p:spPr>
          <a:xfrm>
            <a:off x="1220788" y="4537075"/>
            <a:ext cx="463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05" name="Rectangle 44"/>
          <p:cNvSpPr/>
          <p:nvPr/>
        </p:nvSpPr>
        <p:spPr>
          <a:xfrm>
            <a:off x="1290638" y="2251075"/>
            <a:ext cx="463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41" name="AutoShape 45"/>
          <p:cNvSpPr>
            <a:spLocks noChangeArrowheads="1"/>
          </p:cNvSpPr>
          <p:nvPr/>
        </p:nvSpPr>
        <p:spPr bwMode="auto">
          <a:xfrm>
            <a:off x="1474788" y="3933825"/>
            <a:ext cx="252413" cy="287338"/>
          </a:xfrm>
          <a:prstGeom prst="flowChartMerge">
            <a:avLst/>
          </a:prstGeom>
          <a:noFill/>
          <a:ln w="38100">
            <a:solidFill>
              <a:srgbClr val="FFCC99"/>
            </a:solidFill>
            <a:miter lim="800000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42" name="Line 46"/>
          <p:cNvSpPr>
            <a:spLocks noChangeShapeType="1"/>
          </p:cNvSpPr>
          <p:nvPr/>
        </p:nvSpPr>
        <p:spPr bwMode="auto">
          <a:xfrm>
            <a:off x="1511300" y="4221163"/>
            <a:ext cx="215900" cy="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43" name="Line 47"/>
          <p:cNvSpPr>
            <a:spLocks noChangeShapeType="1"/>
          </p:cNvSpPr>
          <p:nvPr/>
        </p:nvSpPr>
        <p:spPr bwMode="auto">
          <a:xfrm>
            <a:off x="971550" y="3644900"/>
            <a:ext cx="647700" cy="0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44" name="Oval 48"/>
          <p:cNvSpPr>
            <a:spLocks noChangeArrowheads="1"/>
          </p:cNvSpPr>
          <p:nvPr/>
        </p:nvSpPr>
        <p:spPr bwMode="auto">
          <a:xfrm>
            <a:off x="971550" y="3608388"/>
            <a:ext cx="71438" cy="71438"/>
          </a:xfrm>
          <a:prstGeom prst="ellips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45" name="Oval 49"/>
          <p:cNvSpPr>
            <a:spLocks noChangeArrowheads="1"/>
          </p:cNvSpPr>
          <p:nvPr/>
        </p:nvSpPr>
        <p:spPr bwMode="auto">
          <a:xfrm>
            <a:off x="935038" y="4652963"/>
            <a:ext cx="71438" cy="71438"/>
          </a:xfrm>
          <a:prstGeom prst="ellipse">
            <a:avLst/>
          </a:prstGeom>
          <a:noFill/>
          <a:ln w="38100">
            <a:solidFill>
              <a:srgbClr val="FFCC99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911" name="Rectangle 50"/>
          <p:cNvSpPr/>
          <p:nvPr/>
        </p:nvSpPr>
        <p:spPr>
          <a:xfrm>
            <a:off x="827088" y="3644900"/>
            <a:ext cx="355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2" name="Rectangle 51"/>
          <p:cNvSpPr/>
          <p:nvPr/>
        </p:nvSpPr>
        <p:spPr>
          <a:xfrm>
            <a:off x="3779838" y="3573463"/>
            <a:ext cx="3556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3" name="Rectangle 52"/>
          <p:cNvSpPr/>
          <p:nvPr/>
        </p:nvSpPr>
        <p:spPr>
          <a:xfrm>
            <a:off x="3733800" y="4560888"/>
            <a:ext cx="438150" cy="396875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4" name="Rectangle 53"/>
          <p:cNvSpPr/>
          <p:nvPr/>
        </p:nvSpPr>
        <p:spPr>
          <a:xfrm>
            <a:off x="793750" y="4370388"/>
            <a:ext cx="412750" cy="366712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algn="ctr"/>
            <a:r>
              <a: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5" name="Rectangle 54"/>
          <p:cNvSpPr/>
          <p:nvPr/>
        </p:nvSpPr>
        <p:spPr>
          <a:xfrm>
            <a:off x="1692275" y="2997200"/>
            <a:ext cx="481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6" name="Rectangle 55"/>
          <p:cNvSpPr/>
          <p:nvPr/>
        </p:nvSpPr>
        <p:spPr>
          <a:xfrm>
            <a:off x="1692275" y="3860800"/>
            <a:ext cx="481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/>
          <p:nvPr>
            <p:ph type="title"/>
          </p:nvPr>
        </p:nvSpPr>
        <p:spPr>
          <a:xfrm>
            <a:off x="184150" y="142875"/>
            <a:ext cx="7772400" cy="685800"/>
          </a:xfrm>
          <a:noFill/>
          <a:ln>
            <a:noFill/>
          </a:ln>
        </p:spPr>
        <p:txBody>
          <a:bodyPr anchor="t"/>
          <a:p>
            <a:r>
              <a:rPr lang="en-US" altLang="zh-CN" sz="3200" b="1" dirty="0">
                <a:solidFill>
                  <a:schemeClr val="bg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集成通用运放</a:t>
            </a:r>
            <a:r>
              <a:rPr lang="en-US" altLang="zh-CN" sz="3200" b="1" dirty="0">
                <a:solidFill>
                  <a:schemeClr val="tx1"/>
                </a:solidFill>
              </a:rPr>
              <a:t> F007</a:t>
            </a:r>
            <a:r>
              <a:rPr lang="zh-CN" altLang="en-US" sz="3200" b="1" dirty="0">
                <a:solidFill>
                  <a:schemeClr val="tx1"/>
                </a:solidFill>
              </a:rPr>
              <a:t>的放大电路部分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>
            <p:ph idx="1"/>
          </p:nvPr>
        </p:nvGraphicFramePr>
        <p:xfrm>
          <a:off x="544513" y="828675"/>
          <a:ext cx="7543800" cy="579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1193125" imgH="16297275" progId="MSPhotoEd.3">
                  <p:embed/>
                </p:oleObj>
              </mc:Choice>
              <mc:Fallback>
                <p:oleObj name="" r:id="rId1" imgW="21193125" imgH="16297275" progId="MSPhotoEd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4513" y="828675"/>
                        <a:ext cx="7543800" cy="579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271361"/>
          <p:cNvSpPr>
            <a:spLocks noGrp="1"/>
          </p:cNvSpPr>
          <p:nvPr>
            <p:ph type="title"/>
          </p:nvPr>
        </p:nvSpPr>
        <p:spPr>
          <a:xfrm>
            <a:off x="173038" y="209550"/>
            <a:ext cx="1006475" cy="579438"/>
          </a:xfrm>
          <a:noFill/>
          <a:ln>
            <a:noFill/>
          </a:ln>
        </p:spPr>
        <p:txBody>
          <a:bodyPr anchor="t"/>
          <a:p>
            <a:pPr algn="l"/>
            <a:r>
              <a:rPr lang="zh-CN" altLang="en-US" sz="2800" b="1" dirty="0">
                <a:solidFill>
                  <a:srgbClr val="000099"/>
                </a:solidFill>
              </a:rPr>
              <a:t>作业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sp>
        <p:nvSpPr>
          <p:cNvPr id="38914" name="文本框 4"/>
          <p:cNvSpPr txBox="1"/>
          <p:nvPr/>
        </p:nvSpPr>
        <p:spPr>
          <a:xfrm>
            <a:off x="173038" y="788988"/>
            <a:ext cx="573087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18.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右图所示电路，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电源电压和基本元件参数如图所示，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=0.7V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。试求：（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）静态工作点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；（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）画出微变等效电路，计算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o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（设信号源内阻为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）。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38915" name="对象 7"/>
          <p:cNvGraphicFramePr/>
          <p:nvPr/>
        </p:nvGraphicFramePr>
        <p:xfrm>
          <a:off x="6048375" y="430213"/>
          <a:ext cx="3030538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3028950" imgH="2943225" progId="Paint.Picture">
                  <p:embed/>
                </p:oleObj>
              </mc:Choice>
              <mc:Fallback>
                <p:oleObj name="" r:id="rId1" imgW="3028950" imgH="2943225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lum contrast="90000"/>
                      </a:blip>
                      <a:stretch>
                        <a:fillRect/>
                      </a:stretch>
                    </p:blipFill>
                    <p:spPr>
                      <a:xfrm>
                        <a:off x="6048375" y="430213"/>
                        <a:ext cx="3030538" cy="294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文本框 7"/>
          <p:cNvSpPr txBox="1"/>
          <p:nvPr/>
        </p:nvSpPr>
        <p:spPr>
          <a:xfrm>
            <a:off x="233363" y="3810000"/>
            <a:ext cx="5491162" cy="16300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19.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右图所示差分放大电路中，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=12V, 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=30kΩ, 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=3kΩ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=20kΩ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，β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=50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，稳压管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=6.7V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。试求：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静态时的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C3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，设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BE3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=0.7V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输出端不接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时的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;(3)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输出端接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=30kΩ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时的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8917" name="对象 3"/>
          <p:cNvGraphicFramePr/>
          <p:nvPr/>
        </p:nvGraphicFramePr>
        <p:xfrm>
          <a:off x="5775325" y="3657600"/>
          <a:ext cx="3298825" cy="292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3295650" imgH="2924175" progId="Paint.Picture">
                  <p:embed/>
                </p:oleObj>
              </mc:Choice>
              <mc:Fallback>
                <p:oleObj name="" r:id="rId3" imgW="3295650" imgH="292417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>
                        <a:lum contrast="66000"/>
                      </a:blip>
                      <a:stretch>
                        <a:fillRect/>
                      </a:stretch>
                    </p:blipFill>
                    <p:spPr>
                      <a:xfrm>
                        <a:off x="5775325" y="3657600"/>
                        <a:ext cx="3298825" cy="292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233363" y="242888"/>
            <a:ext cx="1773237" cy="527050"/>
          </a:xfrm>
          <a:noFill/>
          <a:ln>
            <a:noFill/>
          </a:ln>
        </p:spPr>
        <p:txBody>
          <a:bodyPr anchor="t"/>
          <a:p>
            <a:r>
              <a:rPr lang="zh-CN" altLang="en-US" sz="2800" b="1"/>
              <a:t>作业</a:t>
            </a:r>
            <a:r>
              <a:rPr lang="en-US" altLang="zh-CN" sz="2800" b="1"/>
              <a:t>(</a:t>
            </a:r>
            <a:r>
              <a:rPr lang="zh-CN" altLang="en-US" sz="2800" b="1"/>
              <a:t>续</a:t>
            </a:r>
            <a:r>
              <a:rPr lang="en-US" altLang="zh-CN" sz="2800" b="1"/>
              <a:t>)</a:t>
            </a:r>
            <a:r>
              <a:rPr lang="zh-CN" altLang="en-US" sz="2800" b="1"/>
              <a:t>：</a:t>
            </a:r>
            <a:endParaRPr lang="zh-CN" altLang="en-US" sz="2800" b="1"/>
          </a:p>
        </p:txBody>
      </p:sp>
      <p:graphicFrame>
        <p:nvGraphicFramePr>
          <p:cNvPr id="39938" name="对象 5"/>
          <p:cNvGraphicFramePr/>
          <p:nvPr/>
        </p:nvGraphicFramePr>
        <p:xfrm>
          <a:off x="6261100" y="877888"/>
          <a:ext cx="2744788" cy="27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743200" imgH="2752725" progId="Paint.Picture">
                  <p:embed/>
                </p:oleObj>
              </mc:Choice>
              <mc:Fallback>
                <p:oleObj name="" r:id="rId1" imgW="2743200" imgH="2752725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>
                        <a:lum contrast="66000"/>
                      </a:blip>
                      <a:stretch>
                        <a:fillRect/>
                      </a:stretch>
                    </p:blipFill>
                    <p:spPr>
                      <a:xfrm>
                        <a:off x="6261100" y="877888"/>
                        <a:ext cx="2744788" cy="2754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文本框 8"/>
          <p:cNvSpPr txBox="1"/>
          <p:nvPr/>
        </p:nvSpPr>
        <p:spPr>
          <a:xfrm>
            <a:off x="122238" y="877888"/>
            <a:ext cx="5738812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20.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右图所示的双端输入单端输出差分放大电路中，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中的电流可看做不变。已知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=10V, 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=4kΩ, 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=10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，β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β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=50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BE1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BE2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=0.7V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。试求：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T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静态工作点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差模电压放大倍数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d</a:t>
            </a:r>
            <a:r>
              <a:rPr lang="zh-CN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zh-CN" sz="200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D:\dzjs\演示文稿.pot</Template>
  <TotalTime>0</TotalTime>
  <Words>4076</Words>
  <Application>WPS 演示</Application>
  <PresentationFormat>在屏幕上显示</PresentationFormat>
  <Paragraphs>1419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84</vt:i4>
      </vt:variant>
      <vt:variant>
        <vt:lpstr>幻灯片标题</vt:lpstr>
      </vt:variant>
      <vt:variant>
        <vt:i4>36</vt:i4>
      </vt:variant>
    </vt:vector>
  </HeadingPairs>
  <TitlesOfParts>
    <vt:vector size="137" baseType="lpstr">
      <vt:lpstr>Arial</vt:lpstr>
      <vt:lpstr>宋体</vt:lpstr>
      <vt:lpstr>Wingdings</vt:lpstr>
      <vt:lpstr>Times New Roman</vt:lpstr>
      <vt:lpstr>Symbol</vt:lpstr>
      <vt:lpstr>楷体_GB2312</vt:lpstr>
      <vt:lpstr>新宋体</vt:lpstr>
      <vt:lpstr>长城楷体</vt:lpstr>
      <vt:lpstr>华文新魏</vt:lpstr>
      <vt:lpstr>方正琥珀繁体</vt:lpstr>
      <vt:lpstr>隶书</vt:lpstr>
      <vt:lpstr>微软雅黑</vt:lpstr>
      <vt:lpstr>幼圆</vt:lpstr>
      <vt:lpstr>Arial Unicode MS</vt:lpstr>
      <vt:lpstr>黑体</vt:lpstr>
      <vt:lpstr>方正综艺简体</vt:lpstr>
      <vt:lpstr>演示文稿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MSPhotoEd.3</vt:lpstr>
      <vt:lpstr>MSPhotoEd.3</vt:lpstr>
      <vt:lpstr>MSPhotoEd.3</vt:lpstr>
      <vt:lpstr>Equation.3</vt:lpstr>
      <vt:lpstr>CorelDraw.Graphic.8</vt:lpstr>
      <vt:lpstr>CorelDraw.Graphic.8</vt:lpstr>
      <vt:lpstr>Equation.3</vt:lpstr>
      <vt:lpstr>Equation.3</vt:lpstr>
      <vt:lpstr>Equation.3</vt:lpstr>
      <vt:lpstr>Equation.3</vt:lpstr>
      <vt:lpstr>Equation.3</vt:lpstr>
      <vt:lpstr>Photoshop.Image.7</vt:lpstr>
      <vt:lpstr>Photoshop.Image.7</vt:lpstr>
      <vt:lpstr>Photoshop.Image.7</vt:lpstr>
      <vt:lpstr>Equation.3</vt:lpstr>
      <vt:lpstr>Photoshop.Image.5</vt:lpstr>
      <vt:lpstr>MSPhotoEd.3</vt:lpstr>
      <vt:lpstr>Paint.Picture</vt:lpstr>
      <vt:lpstr>Paint.Picture</vt:lpstr>
      <vt:lpstr>Paint.Picture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xtw</dc:creator>
  <cp:lastModifiedBy>Administrator</cp:lastModifiedBy>
  <cp:revision>302</cp:revision>
  <dcterms:created xsi:type="dcterms:W3CDTF">2002-12-19T03:06:01Z</dcterms:created>
  <dcterms:modified xsi:type="dcterms:W3CDTF">2019-10-24T16:02:27Z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